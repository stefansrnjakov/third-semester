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7"/>
  </p:notesMasterIdLst>
  <p:handoutMasterIdLst>
    <p:handoutMasterId r:id="rId18"/>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0287000" cy="6858000" type="35mm"/>
  <p:notesSz cx="6858000" cy="9144000"/>
  <p:embeddedFontLst>
    <p:embeddedFont>
      <p:font typeface="Arial Black" panose="020B0A04020102020204" pitchFamily="34" charset="0"/>
      <p:bold r:id="rId19"/>
    </p:embeddedFont>
    <p:embeddedFont>
      <p:font typeface="Calibri" panose="020F0502020204030204" pitchFamily="34" charset="0"/>
      <p:regular r:id="rId20"/>
      <p:bold r:id="rId21"/>
      <p:italic r:id="rId22"/>
      <p:boldItalic r:id="rId23"/>
    </p:embeddedFont>
  </p:embeddedFontLst>
  <p:defaultTextStyle>
    <a:defPPr>
      <a:defRPr lang="nl-NL"/>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32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1721"/>
    <a:srgbClr val="C00000"/>
    <a:srgbClr val="DD6F11"/>
    <a:srgbClr val="C8B8A4"/>
    <a:srgbClr val="967B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9446" autoAdjust="0"/>
    <p:restoredTop sz="81197" autoAdjust="0"/>
  </p:normalViewPr>
  <p:slideViewPr>
    <p:cSldViewPr>
      <p:cViewPr varScale="1">
        <p:scale>
          <a:sx n="78" d="100"/>
          <a:sy n="78" d="100"/>
        </p:scale>
        <p:origin x="1050" y="78"/>
      </p:cViewPr>
      <p:guideLst>
        <p:guide orient="horz" pos="2160"/>
        <p:guide pos="32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nl-NL"/>
          </a:p>
        </p:txBody>
      </p:sp>
      <p:sp>
        <p:nvSpPr>
          <p:cNvPr id="3" name="Tijdelijke aanduiding voor datum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6390A742-422F-432A-ADFD-C3DAEE6C0A9E}" type="datetimeFigureOut">
              <a:rPr lang="nl-NL"/>
              <a:pPr>
                <a:defRPr/>
              </a:pPr>
              <a:t>8-11-2021</a:t>
            </a:fld>
            <a:endParaRPr lang="nl-NL"/>
          </a:p>
        </p:txBody>
      </p:sp>
      <p:sp>
        <p:nvSpPr>
          <p:cNvPr id="4" name="Tijdelijke aanduiding voor voettekst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nl-NL"/>
          </a:p>
        </p:txBody>
      </p:sp>
      <p:sp>
        <p:nvSpPr>
          <p:cNvPr id="5" name="Tijdelijke aanduiding voor dianumm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598D9904-23BC-4E17-8BD2-28D1479BA086}" type="slidenum">
              <a:rPr lang="nl-NL"/>
              <a:pPr>
                <a:defRPr/>
              </a:pPr>
              <a:t>‹#›</a:t>
            </a:fld>
            <a:endParaRPr lang="nl-NL"/>
          </a:p>
        </p:txBody>
      </p:sp>
    </p:spTree>
    <p:extLst>
      <p:ext uri="{BB962C8B-B14F-4D97-AF65-F5344CB8AC3E}">
        <p14:creationId xmlns:p14="http://schemas.microsoft.com/office/powerpoint/2010/main" val="3938267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nl-NL"/>
          </a:p>
        </p:txBody>
      </p:sp>
      <p:sp>
        <p:nvSpPr>
          <p:cNvPr id="3" name="Tijdelijke aanduiding voo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DA8A5310-0FCF-4B91-9704-D1EDB6DFB185}" type="datetimeFigureOut">
              <a:rPr lang="nl-NL"/>
              <a:pPr>
                <a:defRPr/>
              </a:pPr>
              <a:t>8-11-2021</a:t>
            </a:fld>
            <a:endParaRPr lang="nl-NL"/>
          </a:p>
        </p:txBody>
      </p:sp>
      <p:sp>
        <p:nvSpPr>
          <p:cNvPr id="4" name="Tijdelijke aanduiding voor dia-afbeelding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pPr lvl="0"/>
            <a:endParaRPr lang="nl-NL" noProof="0"/>
          </a:p>
        </p:txBody>
      </p:sp>
      <p:sp>
        <p:nvSpPr>
          <p:cNvPr id="5" name="Tijdelijke aanduiding voor notiti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p>
        </p:txBody>
      </p:sp>
      <p:sp>
        <p:nvSpPr>
          <p:cNvPr id="6" name="Tijdelijke aanduiding voor voetteks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nl-NL"/>
          </a:p>
        </p:txBody>
      </p:sp>
      <p:sp>
        <p:nvSpPr>
          <p:cNvPr id="7"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C607BB4E-F7F5-46B5-973A-1F7187CDF6BE}" type="slidenum">
              <a:rPr lang="nl-NL"/>
              <a:pPr>
                <a:defRPr/>
              </a:pPr>
              <a:t>‹#›</a:t>
            </a:fld>
            <a:endParaRPr lang="nl-NL"/>
          </a:p>
        </p:txBody>
      </p:sp>
    </p:spTree>
    <p:extLst>
      <p:ext uri="{BB962C8B-B14F-4D97-AF65-F5344CB8AC3E}">
        <p14:creationId xmlns:p14="http://schemas.microsoft.com/office/powerpoint/2010/main" val="38607205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Welcome to the Statistical Analysis Module.</a:t>
            </a:r>
          </a:p>
        </p:txBody>
      </p:sp>
      <p:sp>
        <p:nvSpPr>
          <p:cNvPr id="4" name="Slide Number Placeholder 3"/>
          <p:cNvSpPr>
            <a:spLocks noGrp="1"/>
          </p:cNvSpPr>
          <p:nvPr>
            <p:ph type="sldNum" sz="quarter" idx="10"/>
          </p:nvPr>
        </p:nvSpPr>
        <p:spPr/>
        <p:txBody>
          <a:bodyPr/>
          <a:lstStyle/>
          <a:p>
            <a:pPr>
              <a:defRPr/>
            </a:pPr>
            <a:fld id="{C607BB4E-F7F5-46B5-973A-1F7187CDF6BE}" type="slidenum">
              <a:rPr lang="nl-NL" smtClean="0"/>
              <a:pPr>
                <a:defRPr/>
              </a:pPr>
              <a:t>1</a:t>
            </a:fld>
            <a:endParaRPr lang="nl-NL"/>
          </a:p>
        </p:txBody>
      </p:sp>
    </p:spTree>
    <p:extLst>
      <p:ext uri="{BB962C8B-B14F-4D97-AF65-F5344CB8AC3E}">
        <p14:creationId xmlns:p14="http://schemas.microsoft.com/office/powerpoint/2010/main" val="280314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C607BB4E-F7F5-46B5-973A-1F7187CDF6BE}" type="slidenum">
              <a:rPr lang="nl-NL" smtClean="0"/>
              <a:pPr>
                <a:defRPr/>
              </a:pPr>
              <a:t>2</a:t>
            </a:fld>
            <a:endParaRPr lang="nl-NL"/>
          </a:p>
        </p:txBody>
      </p:sp>
    </p:spTree>
    <p:extLst>
      <p:ext uri="{BB962C8B-B14F-4D97-AF65-F5344CB8AC3E}">
        <p14:creationId xmlns:p14="http://schemas.microsoft.com/office/powerpoint/2010/main" val="3857860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p>
            <a:pPr defTabSz="873391"/>
            <a:fld id="{0F944239-BF58-4E81-82B2-A0C026CE615C}" type="slidenum">
              <a:rPr lang="en-US" smtClean="0"/>
              <a:pPr defTabSz="873391"/>
              <a:t>3</a:t>
            </a:fld>
            <a:endParaRPr lang="en-US" dirty="0"/>
          </a:p>
        </p:txBody>
      </p:sp>
      <p:sp>
        <p:nvSpPr>
          <p:cNvPr id="11267" name="Rectangle 2"/>
          <p:cNvSpPr>
            <a:spLocks noGrp="1" noRot="1" noChangeAspect="1" noChangeArrowheads="1" noTextEdit="1"/>
          </p:cNvSpPr>
          <p:nvPr>
            <p:ph type="sldImg"/>
          </p:nvPr>
        </p:nvSpPr>
        <p:spPr>
          <a:xfrm>
            <a:off x="857250" y="684213"/>
            <a:ext cx="5148263" cy="3433762"/>
          </a:xfrm>
          <a:ln/>
        </p:spPr>
      </p:sp>
      <p:sp>
        <p:nvSpPr>
          <p:cNvPr id="11268" name="Rectangle 3"/>
          <p:cNvSpPr>
            <a:spLocks noGrp="1" noChangeArrowheads="1"/>
          </p:cNvSpPr>
          <p:nvPr>
            <p:ph type="body" idx="1"/>
          </p:nvPr>
        </p:nvSpPr>
        <p:spPr>
          <a:xfrm>
            <a:off x="683960" y="4341521"/>
            <a:ext cx="5490081" cy="4118842"/>
          </a:xfrm>
          <a:noFill/>
          <a:ln/>
        </p:spPr>
        <p:txBody>
          <a:bodyPr/>
          <a:lstStyle/>
          <a:p>
            <a:pPr eaLnBrk="1" hangingPunct="1"/>
            <a:r>
              <a:rPr lang="en-GB" dirty="0"/>
              <a:t>Once we have determined the relationship between the variables with a regression analysis, we can then use correlation to look at the strength of this relationship. For a linear relationship we use the ‘Pearson correlation coefficient’. This assumes a value between -1 and +1, depending on the kind of relation between the variables. Here we can see different types of relations as depicted by clouds of points and the corresponding correlation coefficient. </a:t>
            </a:r>
          </a:p>
          <a:p>
            <a:pPr eaLnBrk="1" hangingPunct="1"/>
            <a:endParaRPr lang="en-US" dirty="0"/>
          </a:p>
        </p:txBody>
      </p:sp>
    </p:spTree>
    <p:extLst>
      <p:ext uri="{BB962C8B-B14F-4D97-AF65-F5344CB8AC3E}">
        <p14:creationId xmlns:p14="http://schemas.microsoft.com/office/powerpoint/2010/main" val="3903819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p:spPr>
        <p:txBody>
          <a:bodyPr/>
          <a:lstStyle/>
          <a:p>
            <a:pPr defTabSz="873391"/>
            <a:fld id="{2C060F7D-B239-4BF2-A0F9-FE3EA493C9D1}" type="slidenum">
              <a:rPr lang="en-US" smtClean="0"/>
              <a:pPr defTabSz="873391"/>
              <a:t>4</a:t>
            </a:fld>
            <a:endParaRPr lang="en-US" dirty="0"/>
          </a:p>
        </p:txBody>
      </p:sp>
      <p:sp>
        <p:nvSpPr>
          <p:cNvPr id="13315" name="Rectangle 2"/>
          <p:cNvSpPr>
            <a:spLocks noGrp="1" noRot="1" noChangeAspect="1" noChangeArrowheads="1" noTextEdit="1"/>
          </p:cNvSpPr>
          <p:nvPr>
            <p:ph type="sldImg"/>
          </p:nvPr>
        </p:nvSpPr>
        <p:spPr>
          <a:xfrm>
            <a:off x="857250" y="684213"/>
            <a:ext cx="5148263" cy="3433762"/>
          </a:xfrm>
          <a:ln/>
        </p:spPr>
      </p:sp>
      <p:sp>
        <p:nvSpPr>
          <p:cNvPr id="13316" name="Rectangle 3"/>
          <p:cNvSpPr>
            <a:spLocks noGrp="1" noChangeArrowheads="1"/>
          </p:cNvSpPr>
          <p:nvPr>
            <p:ph type="body" idx="1"/>
          </p:nvPr>
        </p:nvSpPr>
        <p:spPr>
          <a:xfrm>
            <a:off x="683960" y="4341521"/>
            <a:ext cx="5490081" cy="4118842"/>
          </a:xfrm>
          <a:noFill/>
          <a:ln/>
        </p:spPr>
        <p:txBody>
          <a:bodyPr/>
          <a:lstStyle/>
          <a:p>
            <a:pPr eaLnBrk="1" hangingPunct="1"/>
            <a:r>
              <a:rPr lang="en-GB" dirty="0"/>
              <a:t>As seen in the previous slide with the clouds of points, the correlation coefficient indicated the strength and the direction of the relation. If the correlation coefficient is zero, we can say that there is no relation between the variables. At the moment that all points lie on the line, the value will be -1 or +1. We call this a ‘directly proportional dependence’ when the value is +1 and an ‘inverse dependence’ when the value is -1.</a:t>
            </a:r>
          </a:p>
          <a:p>
            <a:pPr eaLnBrk="1" hangingPunct="1"/>
            <a:endParaRPr lang="en-US" dirty="0"/>
          </a:p>
        </p:txBody>
      </p:sp>
    </p:spTree>
    <p:extLst>
      <p:ext uri="{BB962C8B-B14F-4D97-AF65-F5344CB8AC3E}">
        <p14:creationId xmlns:p14="http://schemas.microsoft.com/office/powerpoint/2010/main" val="3223925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pPr defTabSz="873391"/>
            <a:fld id="{A63BE572-D006-4DB8-8C8C-33907C7EB962}" type="slidenum">
              <a:rPr lang="en-US" smtClean="0"/>
              <a:pPr defTabSz="873391"/>
              <a:t>5</a:t>
            </a:fld>
            <a:endParaRPr lang="en-US" dirty="0"/>
          </a:p>
        </p:txBody>
      </p:sp>
      <p:sp>
        <p:nvSpPr>
          <p:cNvPr id="23555" name="Rectangle 2"/>
          <p:cNvSpPr>
            <a:spLocks noGrp="1" noRot="1" noChangeAspect="1" noChangeArrowheads="1" noTextEdit="1"/>
          </p:cNvSpPr>
          <p:nvPr>
            <p:ph type="sldImg"/>
          </p:nvPr>
        </p:nvSpPr>
        <p:spPr>
          <a:xfrm>
            <a:off x="857250" y="684213"/>
            <a:ext cx="5148263" cy="3433762"/>
          </a:xfrm>
          <a:ln/>
        </p:spPr>
      </p:sp>
      <p:sp>
        <p:nvSpPr>
          <p:cNvPr id="23556" name="Rectangle 3"/>
          <p:cNvSpPr>
            <a:spLocks noGrp="1" noChangeArrowheads="1"/>
          </p:cNvSpPr>
          <p:nvPr>
            <p:ph type="body" idx="1"/>
          </p:nvPr>
        </p:nvSpPr>
        <p:spPr>
          <a:xfrm>
            <a:off x="683960" y="4341521"/>
            <a:ext cx="5490081" cy="4118842"/>
          </a:xfrm>
          <a:noFill/>
          <a:ln/>
        </p:spPr>
        <p:txBody>
          <a:bodyPr/>
          <a:lstStyle/>
          <a:p>
            <a:pPr eaLnBrk="1" hangingPunct="1"/>
            <a:r>
              <a:rPr lang="en-US" dirty="0"/>
              <a:t>Regression analysis investigates the relationship between cause and result</a:t>
            </a:r>
            <a:endParaRPr lang="sl-SI"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dirty="0"/>
              <a:t>Here we can see some response examples with corresponding factors. For instance, in a chemical reaction the speed of the process will be faster if we increase the temperature. It is important that there is a logical explanation for the relation between response and factor. If we want to use a regression analysis, there must be causality between response and factor. </a:t>
            </a:r>
          </a:p>
          <a:p>
            <a:pPr eaLnBrk="1" hangingPunct="1"/>
            <a:endParaRPr lang="en-US" dirty="0"/>
          </a:p>
        </p:txBody>
      </p:sp>
    </p:spTree>
    <p:extLst>
      <p:ext uri="{BB962C8B-B14F-4D97-AF65-F5344CB8AC3E}">
        <p14:creationId xmlns:p14="http://schemas.microsoft.com/office/powerpoint/2010/main" val="2439940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pPr defTabSz="873391"/>
            <a:fld id="{F2DE1D01-67B5-400D-A6E2-61778E730978}" type="slidenum">
              <a:rPr lang="en-US" smtClean="0"/>
              <a:pPr defTabSz="873391"/>
              <a:t>6</a:t>
            </a:fld>
            <a:endParaRPr lang="en-US" dirty="0"/>
          </a:p>
        </p:txBody>
      </p:sp>
      <p:sp>
        <p:nvSpPr>
          <p:cNvPr id="24579" name="Rectangle 2"/>
          <p:cNvSpPr>
            <a:spLocks noGrp="1" noRot="1" noChangeAspect="1" noChangeArrowheads="1" noTextEdit="1"/>
          </p:cNvSpPr>
          <p:nvPr>
            <p:ph type="sldImg"/>
          </p:nvPr>
        </p:nvSpPr>
        <p:spPr>
          <a:xfrm>
            <a:off x="857250" y="684213"/>
            <a:ext cx="5148263" cy="3433762"/>
          </a:xfrm>
          <a:ln/>
        </p:spPr>
      </p:sp>
      <p:sp>
        <p:nvSpPr>
          <p:cNvPr id="24580" name="Rectangle 3"/>
          <p:cNvSpPr>
            <a:spLocks noGrp="1" noChangeArrowheads="1"/>
          </p:cNvSpPr>
          <p:nvPr>
            <p:ph type="body" idx="1"/>
          </p:nvPr>
        </p:nvSpPr>
        <p:spPr>
          <a:xfrm>
            <a:off x="683960" y="4341521"/>
            <a:ext cx="5490081" cy="4118842"/>
          </a:xfrm>
          <a:noFill/>
          <a:ln/>
        </p:spPr>
        <p:txBody>
          <a:bodyPr/>
          <a:lstStyle/>
          <a:p>
            <a:pPr eaLnBrk="1" hangingPunct="1"/>
            <a:r>
              <a:rPr lang="en-GB" dirty="0"/>
              <a:t>The graph shows us the relationship between the variables and it also indicates if there is indeed a linear relationship between the X and Y variables. When using regression, we first try using singular linear regression. If we can see clearly in the graph that the relation is not linear, there are other forms of regression that we can possibly use, such as a quadratic relationship.</a:t>
            </a:r>
          </a:p>
          <a:p>
            <a:pPr eaLnBrk="1" hangingPunct="1"/>
            <a:endParaRPr lang="en-US" dirty="0"/>
          </a:p>
        </p:txBody>
      </p:sp>
    </p:spTree>
    <p:extLst>
      <p:ext uri="{BB962C8B-B14F-4D97-AF65-F5344CB8AC3E}">
        <p14:creationId xmlns:p14="http://schemas.microsoft.com/office/powerpoint/2010/main" val="3422906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mathematical formula for a singular linear relation is represented by the equation Y = AX + B. In the graph, this is shown as the Shear = 32 + 0.98 times the temperature. In the fitted line plot, we can also see how much of the variation of Y can be explained by the variation in X. This is shown as the value of ‘R squared’ or ‘R sq.’, which is 96.2%. If the R squared is 100%, then all of the variation of Y is explained by the variation in X.</a:t>
            </a:r>
          </a:p>
          <a:p>
            <a:endParaRPr lang="en-GB" dirty="0"/>
          </a:p>
        </p:txBody>
      </p:sp>
      <p:sp>
        <p:nvSpPr>
          <p:cNvPr id="4" name="Slide Number Placeholder 3"/>
          <p:cNvSpPr>
            <a:spLocks noGrp="1"/>
          </p:cNvSpPr>
          <p:nvPr>
            <p:ph type="sldNum" sz="quarter" idx="10"/>
          </p:nvPr>
        </p:nvSpPr>
        <p:spPr/>
        <p:txBody>
          <a:bodyPr/>
          <a:lstStyle/>
          <a:p>
            <a:pPr>
              <a:defRPr/>
            </a:pPr>
            <a:fld id="{C607BB4E-F7F5-46B5-973A-1F7187CDF6BE}" type="slidenum">
              <a:rPr lang="nl-NL" smtClean="0"/>
              <a:pPr>
                <a:defRPr/>
              </a:pPr>
              <a:t>7</a:t>
            </a:fld>
            <a:endParaRPr lang="nl-NL"/>
          </a:p>
        </p:txBody>
      </p:sp>
    </p:spTree>
    <p:extLst>
      <p:ext uri="{BB962C8B-B14F-4D97-AF65-F5344CB8AC3E}">
        <p14:creationId xmlns:p14="http://schemas.microsoft.com/office/powerpoint/2010/main" val="3827679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Welcome to the Hypothesis Testing module</a:t>
            </a:r>
          </a:p>
        </p:txBody>
      </p:sp>
      <p:sp>
        <p:nvSpPr>
          <p:cNvPr id="4" name="Slide Number Placeholder 3"/>
          <p:cNvSpPr>
            <a:spLocks noGrp="1"/>
          </p:cNvSpPr>
          <p:nvPr>
            <p:ph type="sldNum" sz="quarter" idx="10"/>
          </p:nvPr>
        </p:nvSpPr>
        <p:spPr/>
        <p:txBody>
          <a:bodyPr/>
          <a:lstStyle/>
          <a:p>
            <a:pPr>
              <a:defRPr/>
            </a:pPr>
            <a:fld id="{C607BB4E-F7F5-46B5-973A-1F7187CDF6BE}" type="slidenum">
              <a:rPr lang="nl-NL" smtClean="0"/>
              <a:pPr>
                <a:defRPr/>
              </a:pPr>
              <a:t>8</a:t>
            </a:fld>
            <a:endParaRPr lang="nl-NL"/>
          </a:p>
        </p:txBody>
      </p:sp>
    </p:spTree>
    <p:extLst>
      <p:ext uri="{BB962C8B-B14F-4D97-AF65-F5344CB8AC3E}">
        <p14:creationId xmlns:p14="http://schemas.microsoft.com/office/powerpoint/2010/main" val="4067719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EA2B53A5-F39F-422B-B591-17B4ABC5E71B}" type="slidenum">
              <a:rPr lang="en-US" smtClean="0"/>
              <a:pPr/>
              <a:t>9</a:t>
            </a:fld>
            <a:endParaRPr lang="en-US" dirty="0"/>
          </a:p>
        </p:txBody>
      </p:sp>
      <p:sp>
        <p:nvSpPr>
          <p:cNvPr id="25603" name="Rectangle 2"/>
          <p:cNvSpPr>
            <a:spLocks noGrp="1" noRot="1" noChangeAspect="1" noChangeArrowheads="1" noTextEdit="1"/>
          </p:cNvSpPr>
          <p:nvPr>
            <p:ph type="sldImg"/>
          </p:nvPr>
        </p:nvSpPr>
        <p:spPr>
          <a:xfrm>
            <a:off x="857250" y="685800"/>
            <a:ext cx="5143500" cy="3429000"/>
          </a:xfrm>
          <a:ln/>
        </p:spPr>
      </p:sp>
      <p:sp>
        <p:nvSpPr>
          <p:cNvPr id="25604" name="Rectangle 3"/>
          <p:cNvSpPr>
            <a:spLocks noGrp="1" noChangeArrowheads="1"/>
          </p:cNvSpPr>
          <p:nvPr>
            <p:ph type="body" idx="1"/>
          </p:nvPr>
        </p:nvSpPr>
        <p:spPr>
          <a:noFill/>
          <a:ln/>
        </p:spPr>
        <p:txBody>
          <a:bodyPr/>
          <a:lstStyle/>
          <a:p>
            <a:r>
              <a:rPr lang="en-GB" dirty="0"/>
              <a:t>Testing of a hypothesis can be compared to the justice system. We have a certain null-hypothesis, which we could compare to an innocent suspect. We use the alternative hypothesis to show a difference. With projects for instance, the null-hypothesis is the situation in the beginning of the project and the alternative hypothesis describes the improved situation after the project. We must then prove beyond reasonable doubt that the situation is indeed improved.</a:t>
            </a:r>
          </a:p>
          <a:p>
            <a:endParaRPr lang="en-US" dirty="0"/>
          </a:p>
        </p:txBody>
      </p:sp>
    </p:spTree>
    <p:extLst>
      <p:ext uri="{BB962C8B-B14F-4D97-AF65-F5344CB8AC3E}">
        <p14:creationId xmlns:p14="http://schemas.microsoft.com/office/powerpoint/2010/main" val="3264960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EA2B53A5-F39F-422B-B591-17B4ABC5E71B}" type="slidenum">
              <a:rPr lang="en-US" smtClean="0"/>
              <a:pPr/>
              <a:t>10</a:t>
            </a:fld>
            <a:endParaRPr lang="en-US" dirty="0"/>
          </a:p>
        </p:txBody>
      </p:sp>
      <p:sp>
        <p:nvSpPr>
          <p:cNvPr id="25603" name="Rectangle 2"/>
          <p:cNvSpPr>
            <a:spLocks noGrp="1" noRot="1" noChangeAspect="1" noChangeArrowheads="1" noTextEdit="1"/>
          </p:cNvSpPr>
          <p:nvPr>
            <p:ph type="sldImg"/>
          </p:nvPr>
        </p:nvSpPr>
        <p:spPr>
          <a:xfrm>
            <a:off x="857250" y="685800"/>
            <a:ext cx="5143500" cy="3429000"/>
          </a:xfrm>
          <a:ln/>
        </p:spPr>
      </p:sp>
      <p:sp>
        <p:nvSpPr>
          <p:cNvPr id="25604" name="Rectangle 3"/>
          <p:cNvSpPr>
            <a:spLocks noGrp="1" noChangeArrowheads="1"/>
          </p:cNvSpPr>
          <p:nvPr>
            <p:ph type="body" idx="1"/>
          </p:nvPr>
        </p:nvSpPr>
        <p:spPr>
          <a:noFill/>
          <a:ln/>
        </p:spPr>
        <p:txBody>
          <a:bodyPr/>
          <a:lstStyle/>
          <a:p>
            <a:r>
              <a:rPr lang="en-US" dirty="0"/>
              <a:t>In processes we do not want to react to common cause variation for example in the meal example in the elderly care home there is no point replacing the oven when the variation in meal temperature was caused by inefficient delivery routes.</a:t>
            </a:r>
          </a:p>
        </p:txBody>
      </p:sp>
    </p:spTree>
    <p:extLst>
      <p:ext uri="{BB962C8B-B14F-4D97-AF65-F5344CB8AC3E}">
        <p14:creationId xmlns:p14="http://schemas.microsoft.com/office/powerpoint/2010/main" val="1700605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pPr defTabSz="987425"/>
            <a:fld id="{783F0BDA-9334-4BA2-AFF1-4183D8C29FB3}" type="slidenum">
              <a:rPr lang="en-US" smtClean="0"/>
              <a:pPr defTabSz="987425"/>
              <a:t>11</a:t>
            </a:fld>
            <a:endParaRPr lang="en-US" dirty="0"/>
          </a:p>
        </p:txBody>
      </p:sp>
      <p:sp>
        <p:nvSpPr>
          <p:cNvPr id="26627" name="Rectangle 2"/>
          <p:cNvSpPr>
            <a:spLocks noGrp="1" noRot="1" noChangeAspect="1" noChangeArrowheads="1" noTextEdit="1"/>
          </p:cNvSpPr>
          <p:nvPr>
            <p:ph type="sldImg"/>
          </p:nvPr>
        </p:nvSpPr>
        <p:spPr>
          <a:xfrm>
            <a:off x="857250" y="685800"/>
            <a:ext cx="5143500" cy="3429000"/>
          </a:xfrm>
          <a:ln/>
        </p:spPr>
      </p:sp>
      <p:sp>
        <p:nvSpPr>
          <p:cNvPr id="26628" name="Rectangle 3"/>
          <p:cNvSpPr>
            <a:spLocks noGrp="1" noChangeArrowheads="1"/>
          </p:cNvSpPr>
          <p:nvPr>
            <p:ph type="body" idx="1"/>
          </p:nvPr>
        </p:nvSpPr>
        <p:spPr>
          <a:noFill/>
          <a:ln/>
        </p:spPr>
        <p:txBody>
          <a:bodyPr/>
          <a:lstStyle/>
          <a:p>
            <a:pPr eaLnBrk="1" hangingPunct="1"/>
            <a:r>
              <a:rPr lang="en-GB" dirty="0"/>
              <a:t>Here we compare the testing of a hypothesis with the judgment in court. The null-hypothesis is that the suspect is innocent. But there exists a small chance that the suspect is convicted anyway, which we call a Type 1 error. The chance that this occurs is called the ‘alpha risk con’. In hypothesis testing, this risk is often set at 5%. The consequence is that a court convicts an innocent suspect.</a:t>
            </a:r>
          </a:p>
          <a:p>
            <a:pPr eaLnBrk="1" hangingPunct="1"/>
            <a:endParaRPr lang="en-US" dirty="0"/>
          </a:p>
        </p:txBody>
      </p:sp>
    </p:spTree>
    <p:extLst>
      <p:ext uri="{BB962C8B-B14F-4D97-AF65-F5344CB8AC3E}">
        <p14:creationId xmlns:p14="http://schemas.microsoft.com/office/powerpoint/2010/main" val="1561924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pPr defTabSz="987425"/>
            <a:fld id="{A20DB4BE-7EB5-4C72-8FCB-E9C3666871F8}" type="slidenum">
              <a:rPr lang="en-US" smtClean="0"/>
              <a:pPr defTabSz="987425"/>
              <a:t>12</a:t>
            </a:fld>
            <a:endParaRPr lang="en-US" dirty="0"/>
          </a:p>
        </p:txBody>
      </p:sp>
      <p:sp>
        <p:nvSpPr>
          <p:cNvPr id="27651" name="Rectangle 2"/>
          <p:cNvSpPr>
            <a:spLocks noGrp="1" noRot="1" noChangeAspect="1" noChangeArrowheads="1" noTextEdit="1"/>
          </p:cNvSpPr>
          <p:nvPr>
            <p:ph type="sldImg"/>
          </p:nvPr>
        </p:nvSpPr>
        <p:spPr>
          <a:xfrm>
            <a:off x="857250" y="685800"/>
            <a:ext cx="5143500" cy="3429000"/>
          </a:xfrm>
          <a:ln/>
        </p:spPr>
      </p:sp>
      <p:sp>
        <p:nvSpPr>
          <p:cNvPr id="27652" name="Rectangle 3"/>
          <p:cNvSpPr>
            <a:spLocks noGrp="1" noChangeArrowheads="1"/>
          </p:cNvSpPr>
          <p:nvPr>
            <p:ph type="body" idx="1"/>
          </p:nvPr>
        </p:nvSpPr>
        <p:spPr>
          <a:noFill/>
          <a:ln/>
        </p:spPr>
        <p:txBody>
          <a:bodyPr/>
          <a:lstStyle/>
          <a:p>
            <a:pPr eaLnBrk="1" hangingPunct="1"/>
            <a:r>
              <a:rPr lang="en-US" dirty="0"/>
              <a:t>The benefits of hypothesis testing is that it helps handle uncertainties, and helps when making risky decisions.</a:t>
            </a:r>
          </a:p>
        </p:txBody>
      </p:sp>
    </p:spTree>
    <p:extLst>
      <p:ext uri="{BB962C8B-B14F-4D97-AF65-F5344CB8AC3E}">
        <p14:creationId xmlns:p14="http://schemas.microsoft.com/office/powerpoint/2010/main" val="35695737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pPr defTabSz="987425"/>
            <a:fld id="{2DB77FB9-3F62-4B7B-8DCF-EE6C38117282}" type="slidenum">
              <a:rPr lang="en-US" smtClean="0"/>
              <a:pPr defTabSz="987425"/>
              <a:t>13</a:t>
            </a:fld>
            <a:endParaRPr lang="en-US"/>
          </a:p>
        </p:txBody>
      </p:sp>
      <p:sp>
        <p:nvSpPr>
          <p:cNvPr id="23555" name="Rectangle 2"/>
          <p:cNvSpPr>
            <a:spLocks noGrp="1" noRot="1" noChangeAspect="1" noChangeArrowheads="1" noTextEdit="1"/>
          </p:cNvSpPr>
          <p:nvPr>
            <p:ph type="sldImg"/>
          </p:nvPr>
        </p:nvSpPr>
        <p:spPr>
          <a:xfrm>
            <a:off x="676275" y="768350"/>
            <a:ext cx="5756275" cy="3838575"/>
          </a:xfrm>
          <a:ln/>
        </p:spPr>
      </p:sp>
      <p:sp>
        <p:nvSpPr>
          <p:cNvPr id="23556" name="Rectangle 3"/>
          <p:cNvSpPr>
            <a:spLocks noGrp="1" noChangeArrowheads="1"/>
          </p:cNvSpPr>
          <p:nvPr>
            <p:ph type="body" idx="1"/>
          </p:nvPr>
        </p:nvSpPr>
        <p:spPr>
          <a:xfrm>
            <a:off x="709613" y="4859338"/>
            <a:ext cx="5680075" cy="4606925"/>
          </a:xfrm>
          <a:noFill/>
          <a:ln/>
        </p:spPr>
        <p:txBody>
          <a:bodyPr/>
          <a:lstStyle/>
          <a:p>
            <a:pPr eaLnBrk="1" hangingPunct="1"/>
            <a:r>
              <a:rPr lang="en-GB" dirty="0"/>
              <a:t>If a sample is taken, the next step is to calculate the mean of the sample in the same way as for the population: the sum of all elements of the sample divided by the number of elements called small ‘n’. The mean of the sample is called X-bar. The standard deviation of the sample is the root from the squared distance of the elements to the mean of the sample, but in this case divided by n minus 1. We need to divide by n minus 1, because one degree of freedom is already used in calculating the mean of the sample. When we’re talking about samples, we are talking about an estimation of the population.</a:t>
            </a:r>
          </a:p>
          <a:p>
            <a:pPr eaLnBrk="1" hangingPunct="1"/>
            <a:endParaRPr lang="en-US" dirty="0"/>
          </a:p>
        </p:txBody>
      </p:sp>
    </p:spTree>
    <p:extLst>
      <p:ext uri="{BB962C8B-B14F-4D97-AF65-F5344CB8AC3E}">
        <p14:creationId xmlns:p14="http://schemas.microsoft.com/office/powerpoint/2010/main" val="2727582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4021138" y="9721850"/>
            <a:ext cx="3076575" cy="511175"/>
          </a:xfrm>
          <a:prstGeom prst="rect">
            <a:avLst/>
          </a:prstGeom>
          <a:noFill/>
          <a:ln w="9525">
            <a:noFill/>
            <a:miter lim="800000"/>
            <a:headEnd/>
            <a:tailEnd/>
          </a:ln>
        </p:spPr>
        <p:txBody>
          <a:bodyPr lIns="99048" tIns="49524" rIns="99048" bIns="49524" anchor="b"/>
          <a:lstStyle/>
          <a:p>
            <a:pPr algn="r" defTabSz="987425"/>
            <a:fld id="{90FFD8BC-B25C-4B17-A0DB-21CBFF820A40}" type="slidenum">
              <a:rPr lang="en-US" sz="1300"/>
              <a:pPr algn="r" defTabSz="987425"/>
              <a:t>14</a:t>
            </a:fld>
            <a:endParaRPr lang="en-US" sz="1300"/>
          </a:p>
        </p:txBody>
      </p:sp>
      <p:sp>
        <p:nvSpPr>
          <p:cNvPr id="24579" name="Rectangle 2"/>
          <p:cNvSpPr>
            <a:spLocks noGrp="1" noRot="1" noChangeAspect="1" noChangeArrowheads="1" noTextEdit="1"/>
          </p:cNvSpPr>
          <p:nvPr>
            <p:ph type="sldImg"/>
          </p:nvPr>
        </p:nvSpPr>
        <p:spPr>
          <a:xfrm>
            <a:off x="674688" y="768350"/>
            <a:ext cx="5757862" cy="3838575"/>
          </a:xfrm>
          <a:ln/>
        </p:spPr>
      </p:sp>
      <p:sp>
        <p:nvSpPr>
          <p:cNvPr id="24580" name="Rectangle 3"/>
          <p:cNvSpPr>
            <a:spLocks noGrp="1" noChangeArrowheads="1"/>
          </p:cNvSpPr>
          <p:nvPr>
            <p:ph type="body" idx="1"/>
          </p:nvPr>
        </p:nvSpPr>
        <p:spPr>
          <a:xfrm>
            <a:off x="709613" y="4859338"/>
            <a:ext cx="5680075" cy="4606925"/>
          </a:xfrm>
          <a:noFill/>
          <a:ln/>
        </p:spPr>
        <p:txBody>
          <a:bodyPr/>
          <a:lstStyle/>
          <a:p>
            <a:pPr eaLnBrk="1" hangingPunct="1"/>
            <a:r>
              <a:rPr lang="en-GB" dirty="0"/>
              <a:t>The statistical variables X-bar and small ‘s’ of the sample are not the true values of the population and will vary from sample to sample. The confidence interval, here visualized for a confidence level of 95%, indicates the borders between which we expect the location of the actual mean of the population. The probability that the actual mean lies outside the lower or upper limit is 2.5% for each limit.</a:t>
            </a:r>
          </a:p>
          <a:p>
            <a:pPr eaLnBrk="1" hangingPunct="1"/>
            <a:endParaRPr lang="en-US" dirty="0"/>
          </a:p>
        </p:txBody>
      </p:sp>
    </p:spTree>
    <p:extLst>
      <p:ext uri="{BB962C8B-B14F-4D97-AF65-F5344CB8AC3E}">
        <p14:creationId xmlns:p14="http://schemas.microsoft.com/office/powerpoint/2010/main" val="2002994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we can see the influence of the sample size shown as a test with a sample sizes of between 1 and 16. The confidence interval is depicted under the histogram. The scale is different however than the scale of the histogram. With a confidence level of 95%, the width of the confidence interval is clearly smaller with a sample size of 16 as compared to a sample size of 1</a:t>
            </a:r>
            <a:r>
              <a:rPr lang="en-GB"/>
              <a:t>.. </a:t>
            </a:r>
            <a:endParaRPr lang="en-GB" dirty="0"/>
          </a:p>
        </p:txBody>
      </p:sp>
      <p:sp>
        <p:nvSpPr>
          <p:cNvPr id="4" name="Slide Number Placeholder 3"/>
          <p:cNvSpPr>
            <a:spLocks noGrp="1"/>
          </p:cNvSpPr>
          <p:nvPr>
            <p:ph type="sldNum" sz="quarter" idx="10"/>
          </p:nvPr>
        </p:nvSpPr>
        <p:spPr/>
        <p:txBody>
          <a:bodyPr/>
          <a:lstStyle/>
          <a:p>
            <a:pPr>
              <a:defRPr/>
            </a:pPr>
            <a:fld id="{C607BB4E-F7F5-46B5-973A-1F7187CDF6BE}" type="slidenum">
              <a:rPr lang="nl-NL" smtClean="0"/>
              <a:pPr>
                <a:defRPr/>
              </a:pPr>
              <a:t>15</a:t>
            </a:fld>
            <a:endParaRPr lang="nl-NL"/>
          </a:p>
        </p:txBody>
      </p:sp>
    </p:spTree>
    <p:extLst>
      <p:ext uri="{BB962C8B-B14F-4D97-AF65-F5344CB8AC3E}">
        <p14:creationId xmlns:p14="http://schemas.microsoft.com/office/powerpoint/2010/main" val="32317916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hyperlink" Target="http://www.wgvoost.nl/" TargetMode="External"/><Relationship Id="rId3" Type="http://schemas.openxmlformats.org/officeDocument/2006/relationships/hyperlink" Target="http://www.iscn.com/" TargetMode="External"/><Relationship Id="rId7" Type="http://schemas.openxmlformats.org/officeDocument/2006/relationships/hyperlink" Target="http://www.utwente.nl/" TargetMode="External"/><Relationship Id="rId2" Type="http://schemas.openxmlformats.org/officeDocument/2006/relationships/hyperlink" Target="http://www.symbolbv.nl/" TargetMode="External"/><Relationship Id="rId1" Type="http://schemas.openxmlformats.org/officeDocument/2006/relationships/slideMaster" Target="../slideMasters/slideMaster1.xml"/><Relationship Id="rId6" Type="http://schemas.openxmlformats.org/officeDocument/2006/relationships/hyperlink" Target="http://www.ul.ie/" TargetMode="External"/><Relationship Id="rId5" Type="http://schemas.openxmlformats.org/officeDocument/2006/relationships/hyperlink" Target="http://www.lssa.eu/" TargetMode="External"/><Relationship Id="rId4" Type="http://schemas.openxmlformats.org/officeDocument/2006/relationships/hyperlink" Target="http://www.rocvantwente.nl/" TargetMode="External"/><Relationship Id="rId9"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spTree>
      <p:nvGrpSpPr>
        <p:cNvPr id="1" name=""/>
        <p:cNvGrpSpPr/>
        <p:nvPr/>
      </p:nvGrpSpPr>
      <p:grpSpPr>
        <a:xfrm>
          <a:off x="0" y="0"/>
          <a:ext cx="0" cy="0"/>
          <a:chOff x="0" y="0"/>
          <a:chExt cx="0" cy="0"/>
        </a:xfrm>
      </p:grpSpPr>
      <p:pic>
        <p:nvPicPr>
          <p:cNvPr id="6" name="Afbeelding 9"/>
          <p:cNvPicPr>
            <a:picLocks noChangeAspect="1"/>
          </p:cNvPicPr>
          <p:nvPr/>
        </p:nvPicPr>
        <p:blipFill>
          <a:blip r:embed="rId2" cstate="print"/>
          <a:srcRect/>
          <a:stretch>
            <a:fillRect/>
          </a:stretch>
        </p:blipFill>
        <p:spPr bwMode="auto">
          <a:xfrm>
            <a:off x="0" y="2286001"/>
            <a:ext cx="10287000" cy="3419475"/>
          </a:xfrm>
          <a:prstGeom prst="rect">
            <a:avLst/>
          </a:prstGeom>
          <a:noFill/>
          <a:ln w="9525">
            <a:noFill/>
            <a:miter lim="800000"/>
            <a:headEnd/>
            <a:tailEnd/>
          </a:ln>
        </p:spPr>
      </p:pic>
      <p:pic>
        <p:nvPicPr>
          <p:cNvPr id="7" name="Picture 2" descr="EU_flag_LLP_EN-01"/>
          <p:cNvPicPr>
            <a:picLocks noChangeAspect="1" noChangeArrowheads="1"/>
          </p:cNvPicPr>
          <p:nvPr/>
        </p:nvPicPr>
        <p:blipFill>
          <a:blip r:embed="rId3" cstate="print"/>
          <a:srcRect/>
          <a:stretch>
            <a:fillRect/>
          </a:stretch>
        </p:blipFill>
        <p:spPr bwMode="auto">
          <a:xfrm>
            <a:off x="364332" y="5876926"/>
            <a:ext cx="2348508" cy="815975"/>
          </a:xfrm>
          <a:prstGeom prst="rect">
            <a:avLst/>
          </a:prstGeom>
          <a:noFill/>
          <a:ln w="9525">
            <a:noFill/>
            <a:miter lim="800000"/>
            <a:headEnd/>
            <a:tailEnd/>
          </a:ln>
        </p:spPr>
      </p:pic>
      <p:pic>
        <p:nvPicPr>
          <p:cNvPr id="8" name="Afbeelding 12"/>
          <p:cNvPicPr>
            <a:picLocks noChangeAspect="1"/>
          </p:cNvPicPr>
          <p:nvPr/>
        </p:nvPicPr>
        <p:blipFill>
          <a:blip r:embed="rId4" cstate="print"/>
          <a:srcRect/>
          <a:stretch>
            <a:fillRect/>
          </a:stretch>
        </p:blipFill>
        <p:spPr bwMode="auto">
          <a:xfrm>
            <a:off x="6515101" y="609600"/>
            <a:ext cx="3175397" cy="1079500"/>
          </a:xfrm>
          <a:prstGeom prst="rect">
            <a:avLst/>
          </a:prstGeom>
          <a:noFill/>
          <a:ln w="9525">
            <a:noFill/>
            <a:miter lim="800000"/>
            <a:headEnd/>
            <a:tailEnd/>
          </a:ln>
        </p:spPr>
      </p:pic>
      <p:sp>
        <p:nvSpPr>
          <p:cNvPr id="2" name="Titel 1"/>
          <p:cNvSpPr>
            <a:spLocks noGrp="1"/>
          </p:cNvSpPr>
          <p:nvPr>
            <p:ph type="ctrTitle"/>
          </p:nvPr>
        </p:nvSpPr>
        <p:spPr>
          <a:xfrm>
            <a:off x="688005" y="2422800"/>
            <a:ext cx="9073008" cy="579600"/>
          </a:xfrm>
        </p:spPr>
        <p:txBody>
          <a:bodyPr anchor="t"/>
          <a:lstStyle>
            <a:lvl1pPr algn="l">
              <a:defRPr sz="3200" b="1">
                <a:solidFill>
                  <a:schemeClr val="tx1"/>
                </a:solidFill>
              </a:defRPr>
            </a:lvl1pPr>
          </a:lstStyle>
          <a:p>
            <a:r>
              <a:rPr lang="nl-NL"/>
              <a:t>Klik om de stijl te bewerken</a:t>
            </a:r>
            <a:endParaRPr lang="nl-NL" dirty="0"/>
          </a:p>
        </p:txBody>
      </p:sp>
      <p:sp>
        <p:nvSpPr>
          <p:cNvPr id="3" name="Ondertitel 2"/>
          <p:cNvSpPr>
            <a:spLocks noGrp="1"/>
          </p:cNvSpPr>
          <p:nvPr>
            <p:ph type="subTitle" idx="1"/>
          </p:nvPr>
        </p:nvSpPr>
        <p:spPr>
          <a:xfrm>
            <a:off x="688005" y="3808800"/>
            <a:ext cx="7695000" cy="1548000"/>
          </a:xfrm>
        </p:spPr>
        <p:txBody>
          <a:bodyPr anchor="ctr" anchorCtr="1">
            <a:normAutofit/>
          </a:bodyPr>
          <a:lstStyle>
            <a:lvl1pPr marL="0" indent="0" algn="ctr">
              <a:buNone/>
              <a:defRPr sz="1600" b="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om de ondertitelstijl van het model te bewerken</a:t>
            </a:r>
          </a:p>
        </p:txBody>
      </p:sp>
      <p:sp>
        <p:nvSpPr>
          <p:cNvPr id="10" name="Tijdelijke aanduiding voor tekst 9"/>
          <p:cNvSpPr>
            <a:spLocks noGrp="1"/>
          </p:cNvSpPr>
          <p:nvPr>
            <p:ph type="body" sz="quarter" idx="13"/>
          </p:nvPr>
        </p:nvSpPr>
        <p:spPr>
          <a:xfrm>
            <a:off x="4122899" y="6011999"/>
            <a:ext cx="5917050" cy="687600"/>
          </a:xfrm>
        </p:spPr>
        <p:txBody>
          <a:bodyPr/>
          <a:lstStyle>
            <a:lvl1pPr algn="r">
              <a:defRPr sz="3600" b="1">
                <a:solidFill>
                  <a:srgbClr val="C80F00"/>
                </a:solidFill>
                <a:latin typeface="Arial" pitchFamily="34" charset="0"/>
                <a:cs typeface="Arial" pitchFamily="34" charset="0"/>
              </a:defRPr>
            </a:lvl1pPr>
            <a:lvl2pPr algn="r">
              <a:defRPr sz="3600" b="1">
                <a:solidFill>
                  <a:srgbClr val="C80F00"/>
                </a:solidFill>
                <a:latin typeface="Arial Black" pitchFamily="34" charset="0"/>
              </a:defRPr>
            </a:lvl2pPr>
            <a:lvl3pPr algn="r">
              <a:defRPr sz="3600" b="1">
                <a:solidFill>
                  <a:srgbClr val="C80F00"/>
                </a:solidFill>
                <a:latin typeface="Arial Black" pitchFamily="34" charset="0"/>
              </a:defRPr>
            </a:lvl3pPr>
            <a:lvl4pPr algn="r">
              <a:defRPr sz="3600" b="1">
                <a:solidFill>
                  <a:srgbClr val="C80F00"/>
                </a:solidFill>
                <a:latin typeface="Arial Black" pitchFamily="34" charset="0"/>
              </a:defRPr>
            </a:lvl4pPr>
            <a:lvl5pPr algn="r">
              <a:defRPr sz="3600" b="1">
                <a:solidFill>
                  <a:srgbClr val="C80F00"/>
                </a:solidFill>
                <a:latin typeface="Arial Black" pitchFamily="34" charset="0"/>
              </a:defRPr>
            </a:lvl5pPr>
          </a:lstStyle>
          <a:p>
            <a:pPr lvl="0"/>
            <a:r>
              <a:rPr lang="nl-NL"/>
              <a:t>Klik om de modelstijlen te bewerken</a:t>
            </a:r>
          </a:p>
        </p:txBody>
      </p:sp>
      <p:sp>
        <p:nvSpPr>
          <p:cNvPr id="12" name="Tijdelijke aanduiding voor inhoud 11"/>
          <p:cNvSpPr>
            <a:spLocks noGrp="1"/>
          </p:cNvSpPr>
          <p:nvPr>
            <p:ph sz="quarter" idx="17"/>
          </p:nvPr>
        </p:nvSpPr>
        <p:spPr>
          <a:xfrm>
            <a:off x="1017718" y="2998800"/>
            <a:ext cx="8743295" cy="431800"/>
          </a:xfrm>
        </p:spPr>
        <p:txBody>
          <a:bodyPr/>
          <a:lstStyle>
            <a:lvl1pPr>
              <a:defRPr sz="1600">
                <a:solidFill>
                  <a:schemeClr val="tx1"/>
                </a:solidFill>
              </a:defRPr>
            </a:lvl1pPr>
          </a:lstStyle>
          <a:p>
            <a:pPr lvl="0"/>
            <a:r>
              <a:rPr lang="nl-NL"/>
              <a:t>Klik om de modelstijlen te bewerken</a:t>
            </a:r>
          </a:p>
        </p:txBody>
      </p:sp>
      <p:sp>
        <p:nvSpPr>
          <p:cNvPr id="9" name="Tijdelijke aanduiding voor voettekst 4"/>
          <p:cNvSpPr>
            <a:spLocks noGrp="1"/>
          </p:cNvSpPr>
          <p:nvPr>
            <p:ph type="ftr" sz="quarter" idx="18"/>
          </p:nvPr>
        </p:nvSpPr>
        <p:spPr/>
        <p:txBody>
          <a:bodyPr/>
          <a:lstStyle>
            <a:lvl1pPr>
              <a:defRPr/>
            </a:lvl1pPr>
          </a:lstStyle>
          <a:p>
            <a:pPr>
              <a:defRPr/>
            </a:pPr>
            <a:endParaRPr lang="nl-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idx="1"/>
          </p:nvPr>
        </p:nvSpPr>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12602" y="4406901"/>
            <a:ext cx="8743950" cy="1362075"/>
          </a:xfrm>
        </p:spPr>
        <p:txBody>
          <a:bodyPr anchor="t"/>
          <a:lstStyle>
            <a:lvl1pPr algn="l">
              <a:defRPr sz="3600" b="1" cap="all">
                <a:solidFill>
                  <a:schemeClr val="tx1"/>
                </a:solidFill>
              </a:defRPr>
            </a:lvl1pPr>
          </a:lstStyle>
          <a:p>
            <a:r>
              <a:rPr lang="nl-NL"/>
              <a:t>Klik om de stijl te bewerken</a:t>
            </a:r>
            <a:endParaRPr lang="nl-NL" dirty="0"/>
          </a:p>
        </p:txBody>
      </p:sp>
      <p:sp>
        <p:nvSpPr>
          <p:cNvPr id="3" name="Tijdelijke aanduiding voor tekst 2"/>
          <p:cNvSpPr>
            <a:spLocks noGrp="1"/>
          </p:cNvSpPr>
          <p:nvPr>
            <p:ph type="body" idx="1"/>
          </p:nvPr>
        </p:nvSpPr>
        <p:spPr>
          <a:xfrm>
            <a:off x="812602" y="2906713"/>
            <a:ext cx="8743950" cy="1500187"/>
          </a:xfrm>
        </p:spPr>
        <p:txBody>
          <a:bodyPr anchor="b"/>
          <a:lstStyle>
            <a:lvl1pPr marL="0" indent="0">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l-NL"/>
              <a:t>Klik om de modelstijlen te bewerken</a:t>
            </a:r>
          </a:p>
        </p:txBody>
      </p:sp>
      <p:sp>
        <p:nvSpPr>
          <p:cNvPr id="4"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sz="half" idx="1"/>
          </p:nvPr>
        </p:nvSpPr>
        <p:spPr>
          <a:xfrm>
            <a:off x="514350" y="1440000"/>
            <a:ext cx="4543425" cy="5040000"/>
          </a:xfrm>
        </p:spPr>
        <p:txBody>
          <a:bodyPr/>
          <a:lstStyle>
            <a:lvl1pPr>
              <a:defRPr sz="24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4" name="Tijdelijke aanduiding voor inhoud 3"/>
          <p:cNvSpPr>
            <a:spLocks noGrp="1"/>
          </p:cNvSpPr>
          <p:nvPr>
            <p:ph sz="half" idx="2"/>
          </p:nvPr>
        </p:nvSpPr>
        <p:spPr>
          <a:xfrm>
            <a:off x="5229225" y="1440000"/>
            <a:ext cx="4543425" cy="5040000"/>
          </a:xfrm>
        </p:spPr>
        <p:txBody>
          <a:bodyPr/>
          <a:lstStyle>
            <a:lvl1pPr>
              <a:defRPr sz="24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5"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nl-NL"/>
              <a:t>Klik om de stijl te bewerken</a:t>
            </a:r>
          </a:p>
        </p:txBody>
      </p:sp>
      <p:sp>
        <p:nvSpPr>
          <p:cNvPr id="3" name="Tijdelijke aanduiding voor tekst 2"/>
          <p:cNvSpPr>
            <a:spLocks noGrp="1"/>
          </p:cNvSpPr>
          <p:nvPr>
            <p:ph type="body" idx="1"/>
          </p:nvPr>
        </p:nvSpPr>
        <p:spPr>
          <a:xfrm>
            <a:off x="514350" y="1535113"/>
            <a:ext cx="454521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4" name="Tijdelijke aanduiding voor inhoud 3"/>
          <p:cNvSpPr>
            <a:spLocks noGrp="1"/>
          </p:cNvSpPr>
          <p:nvPr>
            <p:ph sz="half" idx="2"/>
          </p:nvPr>
        </p:nvSpPr>
        <p:spPr>
          <a:xfrm>
            <a:off x="514350" y="2174875"/>
            <a:ext cx="4545212" cy="3951288"/>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5" name="Tijdelijke aanduiding voor tekst 4"/>
          <p:cNvSpPr>
            <a:spLocks noGrp="1"/>
          </p:cNvSpPr>
          <p:nvPr>
            <p:ph type="body" sz="quarter" idx="3"/>
          </p:nvPr>
        </p:nvSpPr>
        <p:spPr>
          <a:xfrm>
            <a:off x="5225654" y="1535113"/>
            <a:ext cx="454699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6" name="Tijdelijke aanduiding voor inhoud 5"/>
          <p:cNvSpPr>
            <a:spLocks noGrp="1"/>
          </p:cNvSpPr>
          <p:nvPr>
            <p:ph sz="quarter" idx="4"/>
          </p:nvPr>
        </p:nvSpPr>
        <p:spPr>
          <a:xfrm>
            <a:off x="5225654" y="2174875"/>
            <a:ext cx="4546997" cy="3951288"/>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7"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fsluitdia">
    <p:spTree>
      <p:nvGrpSpPr>
        <p:cNvPr id="1" name=""/>
        <p:cNvGrpSpPr/>
        <p:nvPr/>
      </p:nvGrpSpPr>
      <p:grpSpPr>
        <a:xfrm>
          <a:off x="0" y="0"/>
          <a:ext cx="0" cy="0"/>
          <a:chOff x="0" y="0"/>
          <a:chExt cx="0" cy="0"/>
        </a:xfrm>
      </p:grpSpPr>
      <p:sp>
        <p:nvSpPr>
          <p:cNvPr id="2" name="Tekstvak 9"/>
          <p:cNvSpPr txBox="1">
            <a:spLocks noChangeAspect="1"/>
          </p:cNvSpPr>
          <p:nvPr/>
        </p:nvSpPr>
        <p:spPr bwMode="auto">
          <a:xfrm>
            <a:off x="689372" y="238126"/>
            <a:ext cx="72884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defRPr/>
            </a:pPr>
            <a:r>
              <a:rPr lang="sl-SI" altLang="nl-NL" sz="2800" b="1">
                <a:solidFill>
                  <a:srgbClr val="000000"/>
                </a:solidFill>
                <a:latin typeface="Arial" charset="0"/>
              </a:rPr>
              <a:t>Reference to Authors</a:t>
            </a:r>
            <a:endParaRPr lang="en-GB" altLang="nl-NL"/>
          </a:p>
        </p:txBody>
      </p:sp>
      <p:sp>
        <p:nvSpPr>
          <p:cNvPr id="3" name="Rechthoek 11"/>
          <p:cNvSpPr>
            <a:spLocks noChangeArrowheads="1"/>
          </p:cNvSpPr>
          <p:nvPr/>
        </p:nvSpPr>
        <p:spPr bwMode="auto">
          <a:xfrm>
            <a:off x="810816" y="1439863"/>
            <a:ext cx="8910043"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Calibri" pitchFamily="34" charset="0"/>
                <a:cs typeface="Arial" charset="0"/>
              </a:defRPr>
            </a:lvl1pPr>
            <a:lvl2pPr marL="447675" indent="-266700" eaLnBrk="0" hangingPunct="0">
              <a:defRPr>
                <a:solidFill>
                  <a:schemeClr val="tx1"/>
                </a:solidFill>
                <a:latin typeface="Calibri" pitchFamily="34" charset="0"/>
                <a:cs typeface="Arial" charset="0"/>
              </a:defRPr>
            </a:lvl2pPr>
            <a:lvl3pPr marL="985838" indent="-2667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lvl="1" eaLnBrk="1" hangingPunct="1">
              <a:spcBef>
                <a:spcPct val="20000"/>
              </a:spcBef>
              <a:buClr>
                <a:srgbClr val="C80F00"/>
              </a:buClr>
              <a:buSzPct val="120000"/>
              <a:buFont typeface="Arial" charset="0"/>
              <a:buChar char="•"/>
              <a:defRPr/>
            </a:pPr>
            <a:r>
              <a:rPr lang="en-US" altLang="nl-NL" sz="1600" b="1">
                <a:solidFill>
                  <a:srgbClr val="000000"/>
                </a:solidFill>
                <a:latin typeface="Arial" charset="0"/>
              </a:rPr>
              <a:t>This Training Material has been certified according to the rules of the ‘ECQA – European Certification and Qualification Association’</a:t>
            </a:r>
          </a:p>
          <a:p>
            <a:pPr lvl="1" eaLnBrk="1" hangingPunct="1">
              <a:spcBef>
                <a:spcPct val="20000"/>
              </a:spcBef>
              <a:buClr>
                <a:srgbClr val="C80F00"/>
              </a:buClr>
              <a:buSzPct val="120000"/>
              <a:buFont typeface="Arial" charset="0"/>
              <a:buChar char="•"/>
              <a:defRPr/>
            </a:pPr>
            <a:endParaRPr lang="en-US" altLang="nl-NL" sz="1600" b="1">
              <a:solidFill>
                <a:srgbClr val="000000"/>
              </a:solidFill>
              <a:latin typeface="Arial" charset="0"/>
            </a:endParaRPr>
          </a:p>
          <a:p>
            <a:pPr lvl="1" eaLnBrk="1" hangingPunct="1">
              <a:spcBef>
                <a:spcPct val="20000"/>
              </a:spcBef>
              <a:buClr>
                <a:srgbClr val="C80F00"/>
              </a:buClr>
              <a:buSzPct val="120000"/>
              <a:buFont typeface="Arial" charset="0"/>
              <a:buChar char="•"/>
              <a:defRPr/>
            </a:pPr>
            <a:r>
              <a:rPr lang="en-US" altLang="nl-NL" sz="1600" b="1">
                <a:solidFill>
                  <a:srgbClr val="000000"/>
                </a:solidFill>
                <a:latin typeface="Arial" charset="0"/>
              </a:rPr>
              <a:t>The Training Material was developed within the international consortium ‘LSSH – Lean Six Sigma for Healthcare’</a:t>
            </a:r>
          </a:p>
          <a:p>
            <a:pPr lvl="1" eaLnBrk="1" hangingPunct="1">
              <a:spcBef>
                <a:spcPct val="20000"/>
              </a:spcBef>
              <a:buClr>
                <a:srgbClr val="C80F00"/>
              </a:buClr>
              <a:buSzPct val="120000"/>
              <a:buFont typeface="Arial" charset="0"/>
              <a:buChar char="•"/>
              <a:defRPr/>
            </a:pPr>
            <a:endParaRPr lang="en-US" altLang="nl-NL" sz="1600" b="1">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a:solidFill>
                  <a:srgbClr val="000000"/>
                </a:solidFill>
                <a:latin typeface="Arial" charset="0"/>
              </a:rPr>
              <a:t>Symbol BV		Netherlands		</a:t>
            </a:r>
            <a:r>
              <a:rPr lang="en-US" altLang="nl-NL" sz="1200">
                <a:solidFill>
                  <a:srgbClr val="000000"/>
                </a:solidFill>
                <a:latin typeface="Arial" charset="0"/>
                <a:hlinkClick r:id="rId2"/>
              </a:rPr>
              <a:t>www.symbolbv.nl</a:t>
            </a:r>
            <a:endParaRPr lang="en-US" altLang="nl-NL" sz="120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a:solidFill>
                  <a:srgbClr val="000000"/>
                </a:solidFill>
                <a:latin typeface="Arial" charset="0"/>
              </a:rPr>
              <a:t>ISCN Ltd./Ges.m.b.H, 	Ireland/Austria	</a:t>
            </a:r>
            <a:r>
              <a:rPr lang="en-US" altLang="nl-NL" sz="1200">
                <a:solidFill>
                  <a:srgbClr val="000000"/>
                </a:solidFill>
                <a:latin typeface="Arial" charset="0"/>
                <a:hlinkClick r:id="rId3"/>
              </a:rPr>
              <a:t>www.iscn.com</a:t>
            </a:r>
            <a:endParaRPr lang="en-US" altLang="nl-NL" sz="120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a:solidFill>
                  <a:srgbClr val="000000"/>
                </a:solidFill>
                <a:latin typeface="Arial" charset="0"/>
              </a:rPr>
              <a:t>ROC of Twente	Netherlands		</a:t>
            </a:r>
            <a:r>
              <a:rPr lang="en-US" altLang="nl-NL" sz="1200">
                <a:solidFill>
                  <a:srgbClr val="000000"/>
                </a:solidFill>
                <a:latin typeface="Arial" charset="0"/>
                <a:hlinkClick r:id="rId4"/>
              </a:rPr>
              <a:t>www.rocvantwente.nl</a:t>
            </a:r>
            <a:r>
              <a:rPr lang="en-US" altLang="nl-NL" sz="1200">
                <a:solidFill>
                  <a:srgbClr val="000000"/>
                </a:solidFill>
                <a:latin typeface="Arial" charset="0"/>
              </a:rPr>
              <a:t> </a:t>
            </a:r>
          </a:p>
          <a:p>
            <a:pPr lvl="2" eaLnBrk="1" hangingPunct="1">
              <a:spcBef>
                <a:spcPct val="20000"/>
              </a:spcBef>
              <a:buClr>
                <a:srgbClr val="C80F00"/>
              </a:buClr>
              <a:buSzPct val="120000"/>
              <a:buFont typeface="Arial" charset="0"/>
              <a:buChar char="•"/>
              <a:defRPr/>
            </a:pPr>
            <a:r>
              <a:rPr lang="en-US" altLang="nl-NL" sz="1200">
                <a:solidFill>
                  <a:srgbClr val="000000"/>
                </a:solidFill>
                <a:latin typeface="Arial" charset="0"/>
              </a:rPr>
              <a:t>LSSA BV		Netherlands		</a:t>
            </a:r>
            <a:r>
              <a:rPr lang="en-US" altLang="nl-NL" sz="1200">
                <a:solidFill>
                  <a:srgbClr val="000000"/>
                </a:solidFill>
                <a:latin typeface="Arial" charset="0"/>
                <a:hlinkClick r:id="rId5"/>
              </a:rPr>
              <a:t>www.lssa.eu</a:t>
            </a:r>
            <a:endParaRPr lang="en-US" altLang="nl-NL" sz="120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a:solidFill>
                  <a:srgbClr val="000000"/>
                </a:solidFill>
                <a:latin typeface="Arial" charset="0"/>
              </a:rPr>
              <a:t>University of Limerick	Ireland		</a:t>
            </a:r>
            <a:r>
              <a:rPr lang="en-US" altLang="nl-NL" sz="1200">
                <a:solidFill>
                  <a:srgbClr val="000000"/>
                </a:solidFill>
                <a:latin typeface="Arial" charset="0"/>
                <a:hlinkClick r:id="rId6"/>
              </a:rPr>
              <a:t>www.ul.ie</a:t>
            </a:r>
            <a:endParaRPr lang="en-US" altLang="nl-NL" sz="120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a:solidFill>
                  <a:srgbClr val="000000"/>
                </a:solidFill>
                <a:latin typeface="Arial" charset="0"/>
              </a:rPr>
              <a:t>University of Twente	Netherlands		</a:t>
            </a:r>
            <a:r>
              <a:rPr lang="en-US" altLang="nl-NL" sz="1200">
                <a:solidFill>
                  <a:srgbClr val="000000"/>
                </a:solidFill>
                <a:latin typeface="Arial" charset="0"/>
                <a:hlinkClick r:id="rId7"/>
              </a:rPr>
              <a:t>www.utwente.nl</a:t>
            </a:r>
            <a:endParaRPr lang="en-US" altLang="nl-NL" sz="120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a:solidFill>
                  <a:srgbClr val="000000"/>
                </a:solidFill>
                <a:latin typeface="Arial" charset="0"/>
              </a:rPr>
              <a:t>WGV Oost		Netherlands		</a:t>
            </a:r>
            <a:r>
              <a:rPr lang="en-US" altLang="nl-NL" sz="1200">
                <a:solidFill>
                  <a:srgbClr val="000000"/>
                </a:solidFill>
                <a:latin typeface="Arial" charset="0"/>
                <a:hlinkClick r:id="rId8"/>
              </a:rPr>
              <a:t>www.wgvoost.nl</a:t>
            </a:r>
            <a:endParaRPr lang="en-US" altLang="nl-NL" sz="1200">
              <a:solidFill>
                <a:srgbClr val="000000"/>
              </a:solidFill>
              <a:latin typeface="Arial" charset="0"/>
            </a:endParaRPr>
          </a:p>
          <a:p>
            <a:pPr lvl="1" eaLnBrk="1" hangingPunct="1">
              <a:spcBef>
                <a:spcPct val="20000"/>
              </a:spcBef>
              <a:buClr>
                <a:srgbClr val="C80F00"/>
              </a:buClr>
              <a:buSzPct val="120000"/>
              <a:buFont typeface="Arial" charset="0"/>
              <a:buChar char="•"/>
              <a:defRPr/>
            </a:pPr>
            <a:endParaRPr lang="en-US" altLang="nl-NL" sz="1600" b="1">
              <a:solidFill>
                <a:srgbClr val="000000"/>
              </a:solidFill>
              <a:latin typeface="Arial" charset="0"/>
            </a:endParaRPr>
          </a:p>
        </p:txBody>
      </p:sp>
      <p:pic>
        <p:nvPicPr>
          <p:cNvPr id="4" name="Picture 2" descr="EU_flag_LLP_EN-01"/>
          <p:cNvPicPr>
            <a:picLocks noChangeAspect="1" noChangeArrowheads="1"/>
          </p:cNvPicPr>
          <p:nvPr/>
        </p:nvPicPr>
        <p:blipFill>
          <a:blip r:embed="rId9" cstate="print"/>
          <a:srcRect/>
          <a:stretch>
            <a:fillRect/>
          </a:stretch>
        </p:blipFill>
        <p:spPr bwMode="auto">
          <a:xfrm>
            <a:off x="1092995" y="5249864"/>
            <a:ext cx="2348508" cy="815975"/>
          </a:xfrm>
          <a:prstGeom prst="rect">
            <a:avLst/>
          </a:prstGeom>
          <a:noFill/>
          <a:ln w="9525">
            <a:noFill/>
            <a:miter lim="800000"/>
            <a:headEnd/>
            <a:tailEnd/>
          </a:ln>
        </p:spPr>
      </p:pic>
      <p:sp>
        <p:nvSpPr>
          <p:cNvPr id="5" name="Tekstvak 13"/>
          <p:cNvSpPr txBox="1">
            <a:spLocks noChangeArrowheads="1"/>
          </p:cNvSpPr>
          <p:nvPr/>
        </p:nvSpPr>
        <p:spPr bwMode="auto">
          <a:xfrm>
            <a:off x="3361135" y="5249864"/>
            <a:ext cx="6318647"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en-US" altLang="nl-NL" sz="1200" i="1"/>
              <a:t>This project has been funded with support from the European Commission under agreement EAC-2012-0635. This publication/communication reflects the views only of the author, and the Commission cannot be held responsible for any use which may be made of the information contained therein.</a:t>
            </a:r>
          </a:p>
          <a:p>
            <a:pPr eaLnBrk="1" hangingPunct="1">
              <a:defRPr/>
            </a:pPr>
            <a:endParaRPr lang="en-US" altLang="nl-NL" sz="1200" i="1"/>
          </a:p>
          <a:p>
            <a:pPr eaLnBrk="1" hangingPunct="1">
              <a:defRPr/>
            </a:pPr>
            <a:r>
              <a:rPr lang="en-US" altLang="nl-NL" sz="1200"/>
              <a:t>This publication reflects the views only of the author</a:t>
            </a:r>
            <a:r>
              <a:rPr lang="sl-SI" altLang="nl-NL" sz="1200"/>
              <a:t>s</a:t>
            </a:r>
            <a:r>
              <a:rPr lang="en-US" altLang="nl-NL" sz="1200"/>
              <a:t>, and the Commission cannot be held responsible for any use which may be made of the information contained therein.</a:t>
            </a:r>
          </a:p>
        </p:txBody>
      </p:sp>
      <p:sp>
        <p:nvSpPr>
          <p:cNvPr id="6" name="Tijdelijke aanduiding voor voettekst 2"/>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hthoek 1"/>
          <p:cNvSpPr/>
          <p:nvPr/>
        </p:nvSpPr>
        <p:spPr>
          <a:xfrm>
            <a:off x="10716" y="6696076"/>
            <a:ext cx="10287000" cy="180975"/>
          </a:xfrm>
          <a:prstGeom prst="rect">
            <a:avLst/>
          </a:prstGeom>
          <a:solidFill>
            <a:srgbClr val="C8B8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chemeClr val="tx1"/>
              </a:solidFill>
            </a:endParaRPr>
          </a:p>
        </p:txBody>
      </p:sp>
      <p:sp>
        <p:nvSpPr>
          <p:cNvPr id="1027" name="Tijdelijke aanduiding voor titel 1"/>
          <p:cNvSpPr>
            <a:spLocks noGrp="1"/>
          </p:cNvSpPr>
          <p:nvPr>
            <p:ph type="title"/>
          </p:nvPr>
        </p:nvSpPr>
        <p:spPr bwMode="auto">
          <a:xfrm>
            <a:off x="687587" y="238126"/>
            <a:ext cx="7290197" cy="6000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nl-NL" altLang="nl-NL"/>
              <a:t>Klik om de stijl te bewerken</a:t>
            </a:r>
          </a:p>
        </p:txBody>
      </p:sp>
      <p:sp>
        <p:nvSpPr>
          <p:cNvPr id="1028" name="Tijdelijke aanduiding voor tekst 2"/>
          <p:cNvSpPr>
            <a:spLocks noGrp="1"/>
          </p:cNvSpPr>
          <p:nvPr>
            <p:ph type="body" idx="1"/>
          </p:nvPr>
        </p:nvSpPr>
        <p:spPr bwMode="auto">
          <a:xfrm>
            <a:off x="810816" y="1439863"/>
            <a:ext cx="8910043" cy="5040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nl-NL" altLang="nl-NL"/>
              <a:t>Klik om de modelstijlen te bewerken</a:t>
            </a:r>
          </a:p>
          <a:p>
            <a:pPr lvl="1"/>
            <a:r>
              <a:rPr lang="nl-NL" altLang="nl-NL"/>
              <a:t>Tweede niveau</a:t>
            </a:r>
          </a:p>
          <a:p>
            <a:pPr lvl="2"/>
            <a:r>
              <a:rPr lang="nl-NL" altLang="nl-NL"/>
              <a:t>Derde niveau</a:t>
            </a:r>
          </a:p>
          <a:p>
            <a:pPr lvl="3"/>
            <a:r>
              <a:rPr lang="nl-NL" altLang="nl-NL"/>
              <a:t>Vierde niveau</a:t>
            </a:r>
          </a:p>
          <a:p>
            <a:pPr lvl="4"/>
            <a:r>
              <a:rPr lang="nl-NL" altLang="nl-NL"/>
              <a:t>Vijfde niveau</a:t>
            </a:r>
          </a:p>
        </p:txBody>
      </p:sp>
      <p:sp>
        <p:nvSpPr>
          <p:cNvPr id="5" name="Tijdelijke aanduiding voor voettekst 4"/>
          <p:cNvSpPr>
            <a:spLocks noGrp="1"/>
          </p:cNvSpPr>
          <p:nvPr>
            <p:ph type="ftr" sz="quarter" idx="3"/>
          </p:nvPr>
        </p:nvSpPr>
        <p:spPr>
          <a:xfrm>
            <a:off x="1468040" y="6702426"/>
            <a:ext cx="1459112" cy="161925"/>
          </a:xfrm>
          <a:prstGeom prst="rect">
            <a:avLst/>
          </a:prstGeom>
        </p:spPr>
        <p:txBody>
          <a:bodyPr vert="horz" lIns="91440" tIns="45720" rIns="91440" bIns="45720" rtlCol="0" anchor="ctr"/>
          <a:lstStyle>
            <a:lvl1pPr algn="l" fontAlgn="auto">
              <a:spcBef>
                <a:spcPts val="0"/>
              </a:spcBef>
              <a:spcAft>
                <a:spcPts val="0"/>
              </a:spcAft>
              <a:defRPr sz="1000">
                <a:solidFill>
                  <a:schemeClr val="tx1"/>
                </a:solidFill>
                <a:latin typeface="+mn-lt"/>
                <a:cs typeface="+mn-cs"/>
              </a:defRPr>
            </a:lvl1pPr>
          </a:lstStyle>
          <a:p>
            <a:pPr>
              <a:defRPr/>
            </a:pPr>
            <a:endParaRPr lang="nl-NL"/>
          </a:p>
        </p:txBody>
      </p:sp>
      <p:sp>
        <p:nvSpPr>
          <p:cNvPr id="1032" name="Rectangle 9"/>
          <p:cNvSpPr>
            <a:spLocks noChangeArrowheads="1"/>
          </p:cNvSpPr>
          <p:nvPr/>
        </p:nvSpPr>
        <p:spPr bwMode="auto">
          <a:xfrm>
            <a:off x="9636919" y="6702425"/>
            <a:ext cx="66079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defRPr/>
            </a:pPr>
            <a:fld id="{6A512875-7BE3-4181-83E2-66BC593D61BD}" type="slidenum">
              <a:rPr lang="nl-NL" altLang="nl-NL" sz="1000" smtClean="0"/>
              <a:pPr algn="ctr" eaLnBrk="1" hangingPunct="1">
                <a:defRPr/>
              </a:pPr>
              <a:t>‹#›</a:t>
            </a:fld>
            <a:endParaRPr lang="nl-NL" altLang="nl-NL" sz="1000"/>
          </a:p>
        </p:txBody>
      </p:sp>
      <p:sp>
        <p:nvSpPr>
          <p:cNvPr id="1036" name="Text Box 20"/>
          <p:cNvSpPr txBox="1">
            <a:spLocks noChangeArrowheads="1"/>
          </p:cNvSpPr>
          <p:nvPr/>
        </p:nvSpPr>
        <p:spPr bwMode="auto">
          <a:xfrm>
            <a:off x="10716" y="6677026"/>
            <a:ext cx="14573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tIns="0" bIns="0" anchor="b"/>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spcBef>
                <a:spcPct val="20000"/>
              </a:spcBef>
              <a:buClr>
                <a:srgbClr val="0000FF"/>
              </a:buClr>
              <a:buSzPct val="125000"/>
              <a:defRPr/>
            </a:pPr>
            <a:r>
              <a:rPr lang="en-US" sz="1000" dirty="0"/>
              <a:t>© LSSH 2014</a:t>
            </a:r>
          </a:p>
        </p:txBody>
      </p:sp>
      <p:cxnSp>
        <p:nvCxnSpPr>
          <p:cNvPr id="11" name="Rechte verbindingslijn 10"/>
          <p:cNvCxnSpPr/>
          <p:nvPr/>
        </p:nvCxnSpPr>
        <p:spPr>
          <a:xfrm>
            <a:off x="0" y="1052514"/>
            <a:ext cx="10287000" cy="1587"/>
          </a:xfrm>
          <a:prstGeom prst="line">
            <a:avLst/>
          </a:prstGeom>
          <a:ln>
            <a:solidFill>
              <a:srgbClr val="C41721"/>
            </a:solidFill>
          </a:ln>
        </p:spPr>
        <p:style>
          <a:lnRef idx="1">
            <a:schemeClr val="accent1"/>
          </a:lnRef>
          <a:fillRef idx="0">
            <a:schemeClr val="accent1"/>
          </a:fillRef>
          <a:effectRef idx="0">
            <a:schemeClr val="accent1"/>
          </a:effectRef>
          <a:fontRef idx="minor">
            <a:schemeClr val="tx1"/>
          </a:fontRef>
        </p:style>
      </p:cxnSp>
      <p:pic>
        <p:nvPicPr>
          <p:cNvPr id="1033" name="Afbeelding 6"/>
          <p:cNvPicPr>
            <a:picLocks noChangeAspect="1"/>
          </p:cNvPicPr>
          <p:nvPr/>
        </p:nvPicPr>
        <p:blipFill>
          <a:blip r:embed="rId10" cstate="print"/>
          <a:srcRect/>
          <a:stretch>
            <a:fillRect/>
          </a:stretch>
        </p:blipFill>
        <p:spPr bwMode="auto">
          <a:xfrm>
            <a:off x="8017074" y="220663"/>
            <a:ext cx="1905595" cy="6477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07" r:id="rId1"/>
    <p:sldLayoutId id="2147483701" r:id="rId2"/>
    <p:sldLayoutId id="2147483702" r:id="rId3"/>
    <p:sldLayoutId id="2147483703" r:id="rId4"/>
    <p:sldLayoutId id="2147483704" r:id="rId5"/>
    <p:sldLayoutId id="2147483705" r:id="rId6"/>
    <p:sldLayoutId id="2147483706" r:id="rId7"/>
    <p:sldLayoutId id="2147483708" r:id="rId8"/>
  </p:sldLayoutIdLst>
  <p:hf sldNum="0" hdr="0" dt="0"/>
  <p:txStyles>
    <p:titleStyle>
      <a:lvl1pPr algn="ctr" rtl="0" eaLnBrk="0" fontAlgn="base" hangingPunct="0">
        <a:spcBef>
          <a:spcPct val="0"/>
        </a:spcBef>
        <a:spcAft>
          <a:spcPct val="0"/>
        </a:spcAft>
        <a:defRPr lang="nl-NL" sz="28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2800" b="1">
          <a:solidFill>
            <a:schemeClr val="tx1"/>
          </a:solidFill>
          <a:latin typeface="Arial" charset="0"/>
          <a:cs typeface="Arial" charset="0"/>
        </a:defRPr>
      </a:lvl2pPr>
      <a:lvl3pPr algn="ctr" rtl="0" eaLnBrk="0" fontAlgn="base" hangingPunct="0">
        <a:spcBef>
          <a:spcPct val="0"/>
        </a:spcBef>
        <a:spcAft>
          <a:spcPct val="0"/>
        </a:spcAft>
        <a:defRPr sz="2800" b="1">
          <a:solidFill>
            <a:schemeClr val="tx1"/>
          </a:solidFill>
          <a:latin typeface="Arial" charset="0"/>
          <a:cs typeface="Arial" charset="0"/>
        </a:defRPr>
      </a:lvl3pPr>
      <a:lvl4pPr algn="ctr" rtl="0" eaLnBrk="0" fontAlgn="base" hangingPunct="0">
        <a:spcBef>
          <a:spcPct val="0"/>
        </a:spcBef>
        <a:spcAft>
          <a:spcPct val="0"/>
        </a:spcAft>
        <a:defRPr sz="2800" b="1">
          <a:solidFill>
            <a:schemeClr val="tx1"/>
          </a:solidFill>
          <a:latin typeface="Arial" charset="0"/>
          <a:cs typeface="Arial" charset="0"/>
        </a:defRPr>
      </a:lvl4pPr>
      <a:lvl5pPr algn="ctr" rtl="0" eaLnBrk="0" fontAlgn="base" hangingPunct="0">
        <a:spcBef>
          <a:spcPct val="0"/>
        </a:spcBef>
        <a:spcAft>
          <a:spcPct val="0"/>
        </a:spcAft>
        <a:defRPr sz="2800" b="1">
          <a:solidFill>
            <a:schemeClr val="tx1"/>
          </a:solidFill>
          <a:latin typeface="Arial" charset="0"/>
          <a:cs typeface="Arial" charset="0"/>
        </a:defRPr>
      </a:lvl5pPr>
      <a:lvl6pPr marL="457200" algn="ctr" rtl="0" eaLnBrk="1" fontAlgn="base" hangingPunct="1">
        <a:spcBef>
          <a:spcPct val="0"/>
        </a:spcBef>
        <a:spcAft>
          <a:spcPct val="0"/>
        </a:spcAft>
        <a:defRPr sz="2800" b="1">
          <a:solidFill>
            <a:srgbClr val="FEF6D6"/>
          </a:solidFill>
          <a:latin typeface="Arial" charset="0"/>
          <a:cs typeface="Arial" charset="0"/>
        </a:defRPr>
      </a:lvl6pPr>
      <a:lvl7pPr marL="914400" algn="ctr" rtl="0" eaLnBrk="1" fontAlgn="base" hangingPunct="1">
        <a:spcBef>
          <a:spcPct val="0"/>
        </a:spcBef>
        <a:spcAft>
          <a:spcPct val="0"/>
        </a:spcAft>
        <a:defRPr sz="2800" b="1">
          <a:solidFill>
            <a:srgbClr val="FEF6D6"/>
          </a:solidFill>
          <a:latin typeface="Arial" charset="0"/>
          <a:cs typeface="Arial" charset="0"/>
        </a:defRPr>
      </a:lvl7pPr>
      <a:lvl8pPr marL="1371600" algn="ctr" rtl="0" eaLnBrk="1" fontAlgn="base" hangingPunct="1">
        <a:spcBef>
          <a:spcPct val="0"/>
        </a:spcBef>
        <a:spcAft>
          <a:spcPct val="0"/>
        </a:spcAft>
        <a:defRPr sz="2800" b="1">
          <a:solidFill>
            <a:srgbClr val="FEF6D6"/>
          </a:solidFill>
          <a:latin typeface="Arial" charset="0"/>
          <a:cs typeface="Arial" charset="0"/>
        </a:defRPr>
      </a:lvl8pPr>
      <a:lvl9pPr marL="1828800" algn="ctr" rtl="0" eaLnBrk="1" fontAlgn="base" hangingPunct="1">
        <a:spcBef>
          <a:spcPct val="0"/>
        </a:spcBef>
        <a:spcAft>
          <a:spcPct val="0"/>
        </a:spcAft>
        <a:defRPr sz="2800" b="1">
          <a:solidFill>
            <a:srgbClr val="FEF6D6"/>
          </a:solidFill>
          <a:latin typeface="Arial" charset="0"/>
          <a:cs typeface="Arial" charset="0"/>
        </a:defRPr>
      </a:lvl9pPr>
    </p:titleStyle>
    <p:bodyStyle>
      <a:lvl1pPr algn="l" rtl="0" eaLnBrk="0" fontAlgn="base" hangingPunct="0">
        <a:spcBef>
          <a:spcPct val="20000"/>
        </a:spcBef>
        <a:spcAft>
          <a:spcPct val="0"/>
        </a:spcAft>
        <a:buClr>
          <a:srgbClr val="C41721"/>
        </a:buClr>
        <a:buSzPct val="100000"/>
        <a:buFont typeface="Arial" charset="0"/>
        <a:defRPr sz="2400" b="1" kern="1200">
          <a:solidFill>
            <a:schemeClr val="tx1"/>
          </a:solidFill>
          <a:latin typeface="Arial" pitchFamily="34" charset="0"/>
          <a:ea typeface="+mn-ea"/>
          <a:cs typeface="Arial" pitchFamily="34" charset="0"/>
        </a:defRPr>
      </a:lvl1pPr>
      <a:lvl2pPr marL="447675" indent="-266700" algn="l" rtl="0" eaLnBrk="0" fontAlgn="base" hangingPunct="0">
        <a:spcBef>
          <a:spcPct val="20000"/>
        </a:spcBef>
        <a:spcAft>
          <a:spcPct val="0"/>
        </a:spcAft>
        <a:buClr>
          <a:srgbClr val="C41721"/>
        </a:buClr>
        <a:buSzPct val="100000"/>
        <a:buFont typeface="Arial" charset="0"/>
        <a:buChar char="•"/>
        <a:defRPr sz="1600" b="1" kern="1200">
          <a:solidFill>
            <a:schemeClr val="tx1"/>
          </a:solidFill>
          <a:latin typeface="Arial" pitchFamily="34" charset="0"/>
          <a:ea typeface="+mn-ea"/>
          <a:cs typeface="Arial" pitchFamily="34" charset="0"/>
        </a:defRPr>
      </a:lvl2pPr>
      <a:lvl3pPr marL="985838" indent="-266700" algn="l" rtl="0" eaLnBrk="0" fontAlgn="base" hangingPunct="0">
        <a:spcBef>
          <a:spcPct val="20000"/>
        </a:spcBef>
        <a:spcAft>
          <a:spcPct val="0"/>
        </a:spcAft>
        <a:buClr>
          <a:srgbClr val="C41721"/>
        </a:buClr>
        <a:buSzPct val="100000"/>
        <a:buFont typeface="Arial" charset="0"/>
        <a:buChar char="•"/>
        <a:defRPr sz="1600" kern="1200">
          <a:solidFill>
            <a:schemeClr val="tx1"/>
          </a:solidFill>
          <a:latin typeface="Arial" pitchFamily="34" charset="0"/>
          <a:ea typeface="+mn-ea"/>
          <a:cs typeface="Arial" pitchFamily="34" charset="0"/>
        </a:defRPr>
      </a:lvl3pPr>
      <a:lvl4pPr marL="1524000" indent="-266700" algn="l" rtl="0" eaLnBrk="0" fontAlgn="base" hangingPunct="0">
        <a:spcBef>
          <a:spcPct val="20000"/>
        </a:spcBef>
        <a:spcAft>
          <a:spcPct val="0"/>
        </a:spcAft>
        <a:buClr>
          <a:srgbClr val="C41721"/>
        </a:buClr>
        <a:buSzPct val="100000"/>
        <a:buFont typeface="Arial" charset="0"/>
        <a:buChar char="•"/>
        <a:defRPr sz="1400" kern="1200">
          <a:solidFill>
            <a:schemeClr val="tx1"/>
          </a:solidFill>
          <a:latin typeface="Arial" pitchFamily="34" charset="0"/>
          <a:ea typeface="+mn-ea"/>
          <a:cs typeface="Arial" pitchFamily="34" charset="0"/>
        </a:defRPr>
      </a:lvl4pPr>
      <a:lvl5pPr marL="2062163" indent="-266700" algn="l" rtl="0" eaLnBrk="0" fontAlgn="base" hangingPunct="0">
        <a:spcBef>
          <a:spcPct val="20000"/>
        </a:spcBef>
        <a:spcAft>
          <a:spcPct val="0"/>
        </a:spcAft>
        <a:buClr>
          <a:srgbClr val="C41721"/>
        </a:buClr>
        <a:buSzPct val="100000"/>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tags" Target="../tags/tag6.xml"/><Relationship Id="rId7" Type="http://schemas.openxmlformats.org/officeDocument/2006/relationships/image" Target="../media/image5.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7.xml"/></Relationships>
</file>

<file path=ppt/slides/_rels/slide4.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6"/>
          <p:cNvSpPr>
            <a:spLocks noGrp="1"/>
          </p:cNvSpPr>
          <p:nvPr>
            <p:ph type="ctrTitle"/>
          </p:nvPr>
        </p:nvSpPr>
        <p:spPr/>
        <p:txBody>
          <a:bodyPr/>
          <a:lstStyle/>
          <a:p>
            <a:r>
              <a:rPr lang="en-US"/>
              <a:t>Statistical Analysis</a:t>
            </a:r>
            <a:br>
              <a:rPr lang="en-US" dirty="0"/>
            </a:br>
            <a:br>
              <a:rPr lang="en-US" dirty="0"/>
            </a:br>
            <a:endParaRPr lang="nl-NL" dirty="0"/>
          </a:p>
        </p:txBody>
      </p:sp>
      <p:sp>
        <p:nvSpPr>
          <p:cNvPr id="4" name="Tijdelijke aanduiding voor tekst 3"/>
          <p:cNvSpPr>
            <a:spLocks noGrp="1"/>
          </p:cNvSpPr>
          <p:nvPr>
            <p:ph type="subTitle" idx="1"/>
          </p:nvPr>
        </p:nvSpPr>
        <p:spPr/>
        <p:txBody>
          <a:bodyPr/>
          <a:lstStyle/>
          <a:p>
            <a:r>
              <a:rPr lang="en-US"/>
              <a:t>The element ‘Exploratory Data Analysis’ describes the predictive models using regression techniques to determine the relation between factors on a response. This element also covers process performance metrics and the method for determining the capability of a process to meet specifications.</a:t>
            </a:r>
            <a:endParaRPr lang="nl-NL" dirty="0"/>
          </a:p>
        </p:txBody>
      </p:sp>
      <p:sp>
        <p:nvSpPr>
          <p:cNvPr id="3" name="Tijdelijke aanduiding voor tekst 2"/>
          <p:cNvSpPr>
            <a:spLocks noGrp="1"/>
          </p:cNvSpPr>
          <p:nvPr>
            <p:ph type="body" sz="quarter" idx="13"/>
          </p:nvPr>
        </p:nvSpPr>
        <p:spPr/>
        <p:txBody>
          <a:bodyPr/>
          <a:lstStyle/>
          <a:p>
            <a:r>
              <a:rPr lang="nl-NL"/>
              <a:t>Yellow Belt</a:t>
            </a:r>
            <a:endParaRPr lang="nl-NL" dirty="0"/>
          </a:p>
        </p:txBody>
      </p:sp>
      <p:sp>
        <p:nvSpPr>
          <p:cNvPr id="2" name="Tijdelijke aanduiding voor inhoud 1"/>
          <p:cNvSpPr>
            <a:spLocks noGrp="1"/>
          </p:cNvSpPr>
          <p:nvPr>
            <p:ph sz="quarter" idx="17"/>
          </p:nvPr>
        </p:nvSpPr>
        <p:spPr/>
        <p:txBody>
          <a:bodyPr/>
          <a:lstStyle/>
          <a:p>
            <a:r>
              <a:rPr lang="nl-NL"/>
              <a:t>U5 – Analyse</a:t>
            </a:r>
          </a:p>
          <a:p>
            <a:r>
              <a:rPr lang="nl-NL"/>
              <a:t>E1 – Exploratory Data Analysis</a:t>
            </a:r>
            <a:endParaRPr lang="nl-NL" dirty="0"/>
          </a:p>
        </p:txBody>
      </p:sp>
    </p:spTree>
    <p:extLst>
      <p:ext uri="{BB962C8B-B14F-4D97-AF65-F5344CB8AC3E}">
        <p14:creationId xmlns:p14="http://schemas.microsoft.com/office/powerpoint/2010/main" val="4047685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el 1"/>
          <p:cNvSpPr>
            <a:spLocks noGrp="1"/>
          </p:cNvSpPr>
          <p:nvPr>
            <p:ph type="title"/>
            <p:custDataLst>
              <p:tags r:id="rId2"/>
            </p:custDataLst>
          </p:nvPr>
        </p:nvSpPr>
        <p:spPr/>
        <p:txBody>
          <a:bodyPr/>
          <a:lstStyle/>
          <a:p>
            <a:pPr eaLnBrk="1" hangingPunct="1"/>
            <a:r>
              <a:rPr dirty="0">
                <a:latin typeface="Arial" charset="0"/>
                <a:cs typeface="Arial" charset="0"/>
              </a:rPr>
              <a:t>Statistical Analysis</a:t>
            </a:r>
          </a:p>
        </p:txBody>
      </p:sp>
      <p:sp>
        <p:nvSpPr>
          <p:cNvPr id="3075" name="Tijdelijke aanduiding voor inhoud 2"/>
          <p:cNvSpPr>
            <a:spLocks noGrp="1"/>
          </p:cNvSpPr>
          <p:nvPr>
            <p:ph idx="1"/>
            <p:custDataLst>
              <p:tags r:id="rId3"/>
            </p:custDataLst>
          </p:nvPr>
        </p:nvSpPr>
        <p:spPr/>
        <p:txBody>
          <a:bodyPr/>
          <a:lstStyle/>
          <a:p>
            <a:pPr marL="0" indent="0" eaLnBrk="1" hangingPunct="1"/>
            <a:r>
              <a:rPr lang="en-US" dirty="0">
                <a:latin typeface="Arial" charset="0"/>
                <a:cs typeface="Arial" charset="0"/>
              </a:rPr>
              <a:t>Correlation analysis</a:t>
            </a:r>
            <a:endParaRPr lang="nl-NL" dirty="0">
              <a:latin typeface="Arial" charset="0"/>
              <a:cs typeface="Arial" charset="0"/>
            </a:endParaRPr>
          </a:p>
          <a:p>
            <a:pPr lvl="1" eaLnBrk="1" hangingPunct="1">
              <a:buClrTx/>
            </a:pPr>
            <a:endParaRPr lang="nl-NL" dirty="0">
              <a:latin typeface="Arial" charset="0"/>
              <a:cs typeface="Arial" charset="0"/>
            </a:endParaRPr>
          </a:p>
          <a:p>
            <a:pPr marL="180975" lvl="1" indent="-88900" eaLnBrk="1" hangingPunct="1">
              <a:buClrTx/>
              <a:buNone/>
            </a:pPr>
            <a:r>
              <a:rPr lang="en-US" sz="1800" dirty="0">
                <a:latin typeface="Arial" charset="0"/>
                <a:cs typeface="Arial" charset="0"/>
              </a:rPr>
              <a:t>Correlation studies the degree of correlation between two variables</a:t>
            </a:r>
            <a:endParaRPr lang="nl-NL" sz="1800" dirty="0">
              <a:latin typeface="Arial" charset="0"/>
              <a:cs typeface="Arial" charset="0"/>
            </a:endParaRPr>
          </a:p>
          <a:p>
            <a:pPr marL="180975" lvl="1" indent="-88900" eaLnBrk="1" hangingPunct="1">
              <a:buClrTx/>
              <a:buNone/>
            </a:pPr>
            <a:r>
              <a:rPr lang="en-US" sz="1800" dirty="0">
                <a:latin typeface="Arial" charset="0"/>
                <a:cs typeface="Arial" charset="0"/>
              </a:rPr>
              <a:t>Correlation does not mean that there is a cause and effect relation</a:t>
            </a:r>
            <a:endParaRPr lang="nl-NL" sz="1800" dirty="0">
              <a:latin typeface="Arial" charset="0"/>
              <a:cs typeface="Arial" charset="0"/>
            </a:endParaRPr>
          </a:p>
          <a:p>
            <a:pPr lvl="1" eaLnBrk="1" hangingPunct="1">
              <a:buClrTx/>
            </a:pPr>
            <a:endParaRPr lang="nl-NL" dirty="0">
              <a:latin typeface="Arial" charset="0"/>
              <a:cs typeface="Arial" charset="0"/>
            </a:endParaRPr>
          </a:p>
          <a:p>
            <a:pPr lvl="1" eaLnBrk="1" hangingPunct="1">
              <a:buClrTx/>
            </a:pPr>
            <a:endParaRPr lang="nl-NL" dirty="0">
              <a:latin typeface="Arial" charset="0"/>
              <a:cs typeface="Arial" charset="0"/>
            </a:endParaRPr>
          </a:p>
          <a:p>
            <a:pPr lvl="1" indent="-355600" eaLnBrk="1" hangingPunct="1">
              <a:buClrTx/>
              <a:buFontTx/>
              <a:buNone/>
            </a:pPr>
            <a:r>
              <a:rPr lang="en-US" sz="1800" dirty="0">
                <a:latin typeface="Arial" charset="0"/>
                <a:cs typeface="Arial" charset="0"/>
              </a:rPr>
              <a:t>Example:</a:t>
            </a:r>
            <a:endParaRPr lang="nl-NL" sz="1800" dirty="0">
              <a:latin typeface="Arial" charset="0"/>
              <a:cs typeface="Arial" charset="0"/>
            </a:endParaRPr>
          </a:p>
          <a:p>
            <a:pPr lvl="1" eaLnBrk="1" hangingPunct="1">
              <a:buClrTx/>
            </a:pPr>
            <a:r>
              <a:rPr lang="en-GB" dirty="0">
                <a:latin typeface="Arial" charset="0"/>
                <a:cs typeface="Arial" charset="0"/>
              </a:rPr>
              <a:t>Is there a correlation between the age of the patient and efficiency of the </a:t>
            </a:r>
            <a:r>
              <a:rPr lang="en-GB" dirty="0" err="1">
                <a:latin typeface="Arial" charset="0"/>
                <a:cs typeface="Arial" charset="0"/>
              </a:rPr>
              <a:t>administred</a:t>
            </a:r>
            <a:r>
              <a:rPr lang="en-GB">
                <a:latin typeface="Arial" charset="0"/>
                <a:cs typeface="Arial" charset="0"/>
              </a:rPr>
              <a:t> drug?</a:t>
            </a:r>
          </a:p>
          <a:p>
            <a:pPr marL="0" indent="0" eaLnBrk="1" hangingPunct="1"/>
            <a:endParaRPr lang="nl-NL" dirty="0">
              <a:latin typeface="Arial" charset="0"/>
              <a:cs typeface="Arial" charset="0"/>
            </a:endParaRPr>
          </a:p>
          <a:p>
            <a:pPr marL="0" indent="0" eaLnBrk="1" hangingPunct="1"/>
            <a:endParaRPr lang="nl-NL" dirty="0">
              <a:latin typeface="Arial" charset="0"/>
              <a:cs typeface="Arial"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title"/>
            <p:custDataLst>
              <p:tags r:id="rId2"/>
            </p:custDataLst>
          </p:nvPr>
        </p:nvSpPr>
        <p:spPr/>
        <p:txBody>
          <a:bodyPr/>
          <a:lstStyle/>
          <a:p>
            <a:pPr eaLnBrk="1" hangingPunct="1"/>
            <a:r>
              <a:rPr lang="en-GB" dirty="0">
                <a:latin typeface="Arial" charset="0"/>
                <a:cs typeface="Arial" charset="0"/>
              </a:rPr>
              <a:t>Statistical Analysis</a:t>
            </a:r>
          </a:p>
        </p:txBody>
      </p:sp>
      <p:sp>
        <p:nvSpPr>
          <p:cNvPr id="6" name="Tijdelijke aanduiding voor inhoud 5"/>
          <p:cNvSpPr>
            <a:spLocks noGrp="1"/>
          </p:cNvSpPr>
          <p:nvPr>
            <p:ph idx="1"/>
            <p:custDataLst>
              <p:tags r:id="rId3"/>
            </p:custDataLst>
          </p:nvPr>
        </p:nvSpPr>
        <p:spPr/>
        <p:txBody>
          <a:bodyPr/>
          <a:lstStyle/>
          <a:p>
            <a:pPr eaLnBrk="1" hangingPunct="1">
              <a:defRPr/>
            </a:pPr>
            <a:r>
              <a:rPr lang="en-GB" dirty="0"/>
              <a:t>Correlation coefficient</a:t>
            </a:r>
          </a:p>
          <a:p>
            <a:pPr lvl="1" eaLnBrk="1" hangingPunct="1">
              <a:defRPr/>
            </a:pPr>
            <a:endParaRPr lang="en-GB" sz="1800" dirty="0"/>
          </a:p>
          <a:p>
            <a:pPr lvl="1" eaLnBrk="1" hangingPunct="1">
              <a:buClrTx/>
              <a:defRPr/>
            </a:pPr>
            <a:r>
              <a:rPr lang="en-GB" dirty="0"/>
              <a:t>The Pearson correlation coefficient is used to measure the strength of the linear relationship between two variables</a:t>
            </a:r>
          </a:p>
          <a:p>
            <a:pPr lvl="1" eaLnBrk="1" hangingPunct="1">
              <a:buClrTx/>
              <a:defRPr/>
            </a:pPr>
            <a:endParaRPr lang="en-GB" dirty="0"/>
          </a:p>
          <a:p>
            <a:pPr lvl="1" eaLnBrk="1" hangingPunct="1">
              <a:buClrTx/>
              <a:defRPr/>
            </a:pPr>
            <a:r>
              <a:rPr lang="en-GB" dirty="0"/>
              <a:t>The correlation coefficient assumes a value between -1 and +1</a:t>
            </a:r>
          </a:p>
          <a:p>
            <a:pPr lvl="1" eaLnBrk="1" hangingPunct="1">
              <a:defRPr/>
            </a:pPr>
            <a:endParaRPr lang="en-GB" dirty="0"/>
          </a:p>
          <a:p>
            <a:pPr lvl="1" eaLnBrk="1" hangingPunct="1">
              <a:defRPr/>
            </a:pPr>
            <a:endParaRPr lang="en-GB" dirty="0"/>
          </a:p>
        </p:txBody>
      </p:sp>
      <p:pic>
        <p:nvPicPr>
          <p:cNvPr id="4100" name="Picture 8"/>
          <p:cNvPicPr>
            <a:picLocks noChangeAspect="1" noChangeArrowheads="1"/>
          </p:cNvPicPr>
          <p:nvPr>
            <p:custDataLst>
              <p:tags r:id="rId4"/>
            </p:custDataLst>
          </p:nvPr>
        </p:nvPicPr>
        <p:blipFill>
          <a:blip r:embed="rId7" cstate="print"/>
          <a:srcRect/>
          <a:stretch>
            <a:fillRect/>
          </a:stretch>
        </p:blipFill>
        <p:spPr bwMode="auto">
          <a:xfrm>
            <a:off x="1417086" y="4508600"/>
            <a:ext cx="7629525" cy="936625"/>
          </a:xfrm>
          <a:prstGeom prst="rect">
            <a:avLst/>
          </a:prstGeom>
          <a:noFill/>
          <a:ln w="9525">
            <a:solidFill>
              <a:schemeClr val="tx1"/>
            </a:solidFill>
            <a:miter lim="800000"/>
            <a:headEnd/>
            <a:tailEnd/>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title"/>
            <p:custDataLst>
              <p:tags r:id="rId2"/>
            </p:custDataLst>
          </p:nvPr>
        </p:nvSpPr>
        <p:spPr/>
        <p:txBody>
          <a:bodyPr/>
          <a:lstStyle/>
          <a:p>
            <a:pPr eaLnBrk="1" hangingPunct="1"/>
            <a:r>
              <a:rPr lang="en-GB" dirty="0">
                <a:latin typeface="Arial" charset="0"/>
                <a:cs typeface="Arial" charset="0"/>
              </a:rPr>
              <a:t>Statistical Analysis</a:t>
            </a:r>
            <a:endParaRPr sz="2400" dirty="0">
              <a:latin typeface="Arial" charset="0"/>
              <a:cs typeface="Arial" charset="0"/>
            </a:endParaRPr>
          </a:p>
        </p:txBody>
      </p:sp>
      <p:sp>
        <p:nvSpPr>
          <p:cNvPr id="6147" name="Rectangle 8"/>
          <p:cNvSpPr>
            <a:spLocks noGrp="1" noChangeArrowheads="1"/>
          </p:cNvSpPr>
          <p:nvPr>
            <p:ph idx="1"/>
            <p:custDataLst>
              <p:tags r:id="rId3"/>
            </p:custDataLst>
          </p:nvPr>
        </p:nvSpPr>
        <p:spPr/>
        <p:txBody>
          <a:bodyPr/>
          <a:lstStyle/>
          <a:p>
            <a:pPr marL="0" indent="0" eaLnBrk="1" hangingPunct="1"/>
            <a:r>
              <a:rPr lang="en-GB" dirty="0">
                <a:latin typeface="Arial" charset="0"/>
                <a:cs typeface="Arial" charset="0"/>
              </a:rPr>
              <a:t>Correlation coefficient</a:t>
            </a:r>
          </a:p>
          <a:p>
            <a:pPr marL="0" indent="0" eaLnBrk="1" hangingPunct="1"/>
            <a:endParaRPr lang="en-GB" sz="1800" dirty="0">
              <a:latin typeface="Arial" charset="0"/>
              <a:cs typeface="Arial" charset="0"/>
            </a:endParaRPr>
          </a:p>
          <a:p>
            <a:pPr lvl="1" indent="-355600" eaLnBrk="1" hangingPunct="1">
              <a:buClrTx/>
              <a:buFont typeface="Arial" charset="0"/>
              <a:buNone/>
            </a:pPr>
            <a:r>
              <a:rPr lang="en-US" sz="1800" dirty="0">
                <a:latin typeface="Arial" charset="0"/>
                <a:cs typeface="Arial" charset="0"/>
              </a:rPr>
              <a:t>The correlation coefficient (R) lies between -1 and +1</a:t>
            </a:r>
            <a:endParaRPr lang="en-GB" sz="1800" dirty="0">
              <a:latin typeface="Arial" charset="0"/>
              <a:cs typeface="Arial" charset="0"/>
            </a:endParaRPr>
          </a:p>
          <a:p>
            <a:pPr lvl="1" eaLnBrk="1" hangingPunct="1">
              <a:buClrTx/>
            </a:pPr>
            <a:r>
              <a:rPr lang="en-US" dirty="0">
                <a:latin typeface="Arial" charset="0"/>
                <a:cs typeface="Arial" charset="0"/>
              </a:rPr>
              <a:t>‘-1’ depicts complete inverse (negative) dependence</a:t>
            </a:r>
            <a:endParaRPr lang="en-GB" dirty="0">
              <a:latin typeface="Arial" charset="0"/>
              <a:cs typeface="Arial" charset="0"/>
            </a:endParaRPr>
          </a:p>
          <a:p>
            <a:pPr lvl="1" eaLnBrk="1" hangingPunct="1">
              <a:buClrTx/>
            </a:pPr>
            <a:r>
              <a:rPr lang="en-GB" dirty="0">
                <a:latin typeface="Arial" charset="0"/>
                <a:cs typeface="Arial" charset="0"/>
              </a:rPr>
              <a:t> </a:t>
            </a:r>
            <a:r>
              <a:rPr lang="en-US" dirty="0">
                <a:latin typeface="Arial" charset="0"/>
                <a:cs typeface="Arial" charset="0"/>
              </a:rPr>
              <a:t>‘0’ depicts complete independence</a:t>
            </a:r>
            <a:endParaRPr lang="en-GB" dirty="0">
              <a:latin typeface="Arial" charset="0"/>
              <a:cs typeface="Arial" charset="0"/>
            </a:endParaRPr>
          </a:p>
          <a:p>
            <a:pPr lvl="1" eaLnBrk="1" hangingPunct="1">
              <a:buClrTx/>
            </a:pPr>
            <a:r>
              <a:rPr lang="en-US" dirty="0">
                <a:latin typeface="Arial" charset="0"/>
                <a:cs typeface="Arial" charset="0"/>
              </a:rPr>
              <a:t>‘+1’ depicts complete direct (positive) dependence</a:t>
            </a:r>
            <a:endParaRPr lang="en-GB" dirty="0">
              <a:latin typeface="Arial" charset="0"/>
              <a:cs typeface="Arial" charset="0"/>
            </a:endParaRPr>
          </a:p>
          <a:p>
            <a:pPr lvl="1" eaLnBrk="1" hangingPunct="1">
              <a:buClrTx/>
            </a:pPr>
            <a:endParaRPr lang="en-GB" dirty="0">
              <a:latin typeface="Arial" charset="0"/>
              <a:cs typeface="Arial" charset="0"/>
            </a:endParaRPr>
          </a:p>
          <a:p>
            <a:pPr lvl="1" eaLnBrk="1" hangingPunct="1">
              <a:buClrTx/>
            </a:pPr>
            <a:endParaRPr lang="en-GB" dirty="0">
              <a:latin typeface="Arial" charset="0"/>
              <a:cs typeface="Arial" charset="0"/>
            </a:endParaRPr>
          </a:p>
          <a:p>
            <a:pPr lvl="1" indent="-355600" eaLnBrk="1" hangingPunct="1">
              <a:buClrTx/>
              <a:buFont typeface="Arial" charset="0"/>
              <a:buNone/>
            </a:pPr>
            <a:r>
              <a:rPr lang="en-US" sz="1800" dirty="0">
                <a:latin typeface="Arial" charset="0"/>
                <a:cs typeface="Arial" charset="0"/>
              </a:rPr>
              <a:t>General Rules</a:t>
            </a:r>
            <a:endParaRPr lang="en-GB" sz="1800" dirty="0">
              <a:latin typeface="Arial" charset="0"/>
              <a:cs typeface="Arial" charset="0"/>
            </a:endParaRPr>
          </a:p>
          <a:p>
            <a:pPr lvl="1" eaLnBrk="1" hangingPunct="1">
              <a:buClrTx/>
            </a:pPr>
            <a:r>
              <a:rPr lang="en-GB" dirty="0">
                <a:latin typeface="Arial" charset="0"/>
                <a:cs typeface="Arial" charset="0"/>
              </a:rPr>
              <a:t>Strong :	correlation coefficient	|R| &gt; 0.8</a:t>
            </a:r>
          </a:p>
          <a:p>
            <a:pPr lvl="1" eaLnBrk="1" hangingPunct="1">
              <a:buClrTx/>
            </a:pPr>
            <a:r>
              <a:rPr lang="en-GB" dirty="0">
                <a:latin typeface="Arial" charset="0"/>
                <a:cs typeface="Arial" charset="0"/>
              </a:rPr>
              <a:t>Moderate :	correlation coefficient 	0.5 &lt; |R| &lt; 0.8</a:t>
            </a:r>
          </a:p>
          <a:p>
            <a:pPr lvl="1" eaLnBrk="1" hangingPunct="1">
              <a:buClrTx/>
            </a:pPr>
            <a:r>
              <a:rPr lang="en-GB" dirty="0">
                <a:latin typeface="Arial" charset="0"/>
                <a:cs typeface="Arial" charset="0"/>
              </a:rPr>
              <a:t>Weak :	correlation coefficient 	|R| &lt; 0.5</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noChangeArrowheads="1"/>
          </p:cNvSpPr>
          <p:nvPr>
            <p:ph type="title"/>
          </p:nvPr>
        </p:nvSpPr>
        <p:spPr/>
        <p:txBody>
          <a:bodyPr/>
          <a:lstStyle/>
          <a:p>
            <a:pPr eaLnBrk="1" hangingPunct="1"/>
            <a:r>
              <a:rPr lang="en-GB" dirty="0">
                <a:latin typeface="Arial" charset="0"/>
                <a:cs typeface="Arial" charset="0"/>
              </a:rPr>
              <a:t>Statistical Analysis</a:t>
            </a:r>
            <a:endParaRPr lang="en-GB" sz="2400" dirty="0">
              <a:latin typeface="Arial" charset="0"/>
              <a:cs typeface="Arial" charset="0"/>
            </a:endParaRPr>
          </a:p>
        </p:txBody>
      </p:sp>
      <p:sp>
        <p:nvSpPr>
          <p:cNvPr id="10243" name="Rectangle 6"/>
          <p:cNvSpPr>
            <a:spLocks noGrp="1" noChangeArrowheads="1"/>
          </p:cNvSpPr>
          <p:nvPr>
            <p:ph idx="1"/>
          </p:nvPr>
        </p:nvSpPr>
        <p:spPr/>
        <p:txBody>
          <a:bodyPr/>
          <a:lstStyle/>
          <a:p>
            <a:pPr marL="0" indent="0" eaLnBrk="1" hangingPunct="1"/>
            <a:r>
              <a:rPr lang="en-GB" dirty="0">
                <a:latin typeface="Arial" charset="0"/>
                <a:cs typeface="Arial" charset="0"/>
              </a:rPr>
              <a:t>Regression Analysis</a:t>
            </a:r>
          </a:p>
          <a:p>
            <a:pPr lvl="1" eaLnBrk="1" hangingPunct="1"/>
            <a:endParaRPr lang="en-GB" dirty="0">
              <a:latin typeface="Arial" charset="0"/>
              <a:cs typeface="Arial" charset="0"/>
            </a:endParaRPr>
          </a:p>
          <a:p>
            <a:pPr marL="92075" lvl="1" indent="0" eaLnBrk="1" hangingPunct="1">
              <a:buClrTx/>
              <a:buNone/>
            </a:pPr>
            <a:r>
              <a:rPr lang="en-GB" sz="1800" dirty="0">
                <a:latin typeface="Arial" charset="0"/>
                <a:cs typeface="Arial" charset="0"/>
              </a:rPr>
              <a:t>Regression analysis investigates the relationship between cause and result</a:t>
            </a:r>
          </a:p>
          <a:p>
            <a:pPr lvl="1" eaLnBrk="1" hangingPunct="1">
              <a:buClrTx/>
            </a:pPr>
            <a:endParaRPr lang="en-GB" dirty="0">
              <a:latin typeface="Arial" charset="0"/>
              <a:cs typeface="Arial" charset="0"/>
            </a:endParaRPr>
          </a:p>
          <a:p>
            <a:pPr lvl="1" eaLnBrk="1" hangingPunct="1">
              <a:buClrTx/>
            </a:pPr>
            <a:endParaRPr lang="en-GB" dirty="0">
              <a:latin typeface="Arial" charset="0"/>
              <a:cs typeface="Arial" charset="0"/>
            </a:endParaRPr>
          </a:p>
          <a:p>
            <a:pPr lvl="1" indent="-355600" eaLnBrk="1" hangingPunct="1">
              <a:buClrTx/>
              <a:buFontTx/>
              <a:buNone/>
            </a:pPr>
            <a:r>
              <a:rPr lang="en-GB" sz="1800" dirty="0">
                <a:latin typeface="Arial" charset="0"/>
                <a:cs typeface="Arial" charset="0"/>
              </a:rPr>
              <a:t>Examples:</a:t>
            </a:r>
          </a:p>
          <a:p>
            <a:pPr lvl="1" eaLnBrk="1" hangingPunct="1">
              <a:buClrTx/>
            </a:pPr>
            <a:r>
              <a:rPr lang="en-GB" dirty="0">
                <a:latin typeface="Arial" charset="0"/>
                <a:cs typeface="Arial" charset="0"/>
              </a:rPr>
              <a:t>When temperature increases, the process runs faster</a:t>
            </a:r>
          </a:p>
          <a:p>
            <a:pPr lvl="1" eaLnBrk="1" hangingPunct="1">
              <a:buClrTx/>
            </a:pPr>
            <a:endParaRPr lang="en-GB" dirty="0">
              <a:latin typeface="Arial" charset="0"/>
              <a:cs typeface="Arial" charset="0"/>
            </a:endParaRPr>
          </a:p>
          <a:p>
            <a:pPr lvl="1" eaLnBrk="1" hangingPunct="1">
              <a:buClrTx/>
            </a:pPr>
            <a:r>
              <a:rPr lang="en-GB" dirty="0">
                <a:latin typeface="Arial" charset="0"/>
                <a:cs typeface="Arial" charset="0"/>
              </a:rPr>
              <a:t>As you get older, more accidents happen</a:t>
            </a:r>
          </a:p>
          <a:p>
            <a:pPr lvl="1" eaLnBrk="1" hangingPunct="1">
              <a:buClrTx/>
            </a:pPr>
            <a:endParaRPr lang="en-GB" dirty="0">
              <a:latin typeface="Arial" charset="0"/>
              <a:cs typeface="Arial" charset="0"/>
            </a:endParaRPr>
          </a:p>
          <a:p>
            <a:pPr lvl="1" eaLnBrk="1" hangingPunct="1">
              <a:buClrTx/>
            </a:pPr>
            <a:r>
              <a:rPr lang="en-GB" dirty="0">
                <a:latin typeface="Arial" charset="0"/>
                <a:cs typeface="Arial" charset="0"/>
              </a:rPr>
              <a:t>The warmer it gets, the more ice-cream people eat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title"/>
          </p:nvPr>
        </p:nvSpPr>
        <p:spPr/>
        <p:txBody>
          <a:bodyPr/>
          <a:lstStyle/>
          <a:p>
            <a:pPr eaLnBrk="1" hangingPunct="1"/>
            <a:r>
              <a:rPr lang="en-GB" dirty="0">
                <a:latin typeface="Arial" charset="0"/>
                <a:cs typeface="Arial" charset="0"/>
              </a:rPr>
              <a:t>Statistical Analysis</a:t>
            </a:r>
            <a:endParaRPr lang="en-GB" sz="2400" dirty="0">
              <a:latin typeface="Arial" charset="0"/>
              <a:cs typeface="Arial" charset="0"/>
            </a:endParaRPr>
          </a:p>
        </p:txBody>
      </p:sp>
      <p:sp>
        <p:nvSpPr>
          <p:cNvPr id="11267" name="Rectangle 6"/>
          <p:cNvSpPr>
            <a:spLocks noGrp="1" noChangeArrowheads="1"/>
          </p:cNvSpPr>
          <p:nvPr>
            <p:ph idx="1"/>
          </p:nvPr>
        </p:nvSpPr>
        <p:spPr/>
        <p:txBody>
          <a:bodyPr/>
          <a:lstStyle/>
          <a:p>
            <a:pPr marL="0" indent="0" eaLnBrk="1" hangingPunct="1"/>
            <a:r>
              <a:rPr lang="en-GB" dirty="0">
                <a:latin typeface="Arial" charset="0"/>
                <a:cs typeface="Arial" charset="0"/>
              </a:rPr>
              <a:t>Factor and response</a:t>
            </a:r>
          </a:p>
          <a:p>
            <a:pPr lvl="1" eaLnBrk="1" hangingPunct="1"/>
            <a:endParaRPr lang="en-GB" dirty="0">
              <a:latin typeface="Arial" charset="0"/>
              <a:cs typeface="Arial" charset="0"/>
            </a:endParaRPr>
          </a:p>
          <a:p>
            <a:pPr lvl="1" eaLnBrk="1" hangingPunct="1">
              <a:buClrTx/>
            </a:pPr>
            <a:r>
              <a:rPr lang="en-GB" dirty="0">
                <a:latin typeface="Arial" charset="0"/>
                <a:cs typeface="Arial" charset="0"/>
              </a:rPr>
              <a:t>The ‘Factor’ is the independent variable X</a:t>
            </a:r>
          </a:p>
          <a:p>
            <a:pPr lvl="1" eaLnBrk="1" hangingPunct="1">
              <a:buClrTx/>
            </a:pPr>
            <a:endParaRPr lang="en-GB" dirty="0">
              <a:latin typeface="Arial" charset="0"/>
              <a:cs typeface="Arial" charset="0"/>
            </a:endParaRPr>
          </a:p>
          <a:p>
            <a:pPr lvl="1" eaLnBrk="1" hangingPunct="1">
              <a:buClrTx/>
            </a:pPr>
            <a:r>
              <a:rPr lang="en-GB" dirty="0">
                <a:latin typeface="Arial" charset="0"/>
                <a:cs typeface="Arial" charset="0"/>
              </a:rPr>
              <a:t>The ‘Response‘ is the value that changes as a result of a changing ‘Factor’</a:t>
            </a:r>
          </a:p>
          <a:p>
            <a:pPr lvl="1" eaLnBrk="1" hangingPunct="1">
              <a:buClrTx/>
            </a:pPr>
            <a:endParaRPr lang="en-GB" dirty="0">
              <a:latin typeface="Arial" charset="0"/>
              <a:cs typeface="Arial" charset="0"/>
            </a:endParaRPr>
          </a:p>
          <a:p>
            <a:pPr lvl="1" eaLnBrk="1" hangingPunct="1">
              <a:buClrTx/>
            </a:pPr>
            <a:r>
              <a:rPr lang="en-GB" dirty="0">
                <a:latin typeface="Arial" charset="0"/>
                <a:cs typeface="Arial" charset="0"/>
              </a:rPr>
              <a:t>The ‘Response’ is the dependent variable Y</a:t>
            </a:r>
          </a:p>
        </p:txBody>
      </p:sp>
      <p:pic>
        <p:nvPicPr>
          <p:cNvPr id="5" name="Picture 8"/>
          <p:cNvPicPr>
            <a:picLocks noChangeAspect="1" noChangeArrowheads="1"/>
          </p:cNvPicPr>
          <p:nvPr/>
        </p:nvPicPr>
        <p:blipFill>
          <a:blip r:embed="rId3" cstate="print"/>
          <a:srcRect/>
          <a:stretch>
            <a:fillRect/>
          </a:stretch>
        </p:blipFill>
        <p:spPr bwMode="auto">
          <a:xfrm>
            <a:off x="3171826" y="4149726"/>
            <a:ext cx="3927277" cy="2327275"/>
          </a:xfrm>
          <a:prstGeom prst="rect">
            <a:avLst/>
          </a:prstGeom>
          <a:ln>
            <a:noFill/>
          </a:ln>
          <a:effectLst>
            <a:outerShdw blurRad="292100" dist="139700" dir="2700000" algn="tl" rotWithShape="0">
              <a:srgbClr val="333333">
                <a:alpha val="65000"/>
              </a:srgbClr>
            </a:outerShdw>
          </a:effectLst>
        </p:spPr>
      </p:pic>
      <p:sp>
        <p:nvSpPr>
          <p:cNvPr id="11269" name="Tekstvak 5"/>
          <p:cNvSpPr txBox="1">
            <a:spLocks noChangeArrowheads="1"/>
          </p:cNvSpPr>
          <p:nvPr/>
        </p:nvSpPr>
        <p:spPr bwMode="auto">
          <a:xfrm>
            <a:off x="7629525" y="5715001"/>
            <a:ext cx="1005403" cy="584775"/>
          </a:xfrm>
          <a:prstGeom prst="rect">
            <a:avLst/>
          </a:prstGeom>
          <a:noFill/>
          <a:ln w="9525">
            <a:noFill/>
            <a:miter lim="800000"/>
            <a:headEnd/>
            <a:tailEnd/>
          </a:ln>
        </p:spPr>
        <p:txBody>
          <a:bodyPr wrap="none">
            <a:spAutoFit/>
          </a:bodyPr>
          <a:lstStyle/>
          <a:p>
            <a:r>
              <a:rPr lang="en-US" sz="1600" b="1">
                <a:latin typeface="Arial" panose="020B0604020202020204" pitchFamily="34" charset="0"/>
                <a:cs typeface="Arial" panose="020B0604020202020204" pitchFamily="34" charset="0"/>
              </a:rPr>
              <a:t>Factor X</a:t>
            </a:r>
          </a:p>
          <a:p>
            <a:r>
              <a:rPr lang="en-US" sz="1600">
                <a:latin typeface="Arial" panose="020B0604020202020204" pitchFamily="34" charset="0"/>
                <a:cs typeface="Arial" panose="020B0604020202020204" pitchFamily="34" charset="0"/>
              </a:rPr>
              <a:t>(Cause)</a:t>
            </a:r>
            <a:endParaRPr lang="nl-NL" sz="1600">
              <a:latin typeface="Arial" panose="020B0604020202020204" pitchFamily="34" charset="0"/>
              <a:cs typeface="Arial" panose="020B0604020202020204" pitchFamily="34" charset="0"/>
            </a:endParaRPr>
          </a:p>
        </p:txBody>
      </p:sp>
      <p:sp>
        <p:nvSpPr>
          <p:cNvPr id="11270" name="Tekstvak 6"/>
          <p:cNvSpPr txBox="1">
            <a:spLocks noChangeArrowheads="1"/>
          </p:cNvSpPr>
          <p:nvPr/>
        </p:nvSpPr>
        <p:spPr bwMode="auto">
          <a:xfrm>
            <a:off x="771525" y="4648201"/>
            <a:ext cx="1352743" cy="584775"/>
          </a:xfrm>
          <a:prstGeom prst="rect">
            <a:avLst/>
          </a:prstGeom>
          <a:noFill/>
          <a:ln w="9525">
            <a:noFill/>
            <a:miter lim="800000"/>
            <a:headEnd/>
            <a:tailEnd/>
          </a:ln>
        </p:spPr>
        <p:txBody>
          <a:bodyPr wrap="none">
            <a:spAutoFit/>
          </a:bodyPr>
          <a:lstStyle/>
          <a:p>
            <a:r>
              <a:rPr lang="en-US" sz="1600" b="1" dirty="0">
                <a:latin typeface="Arial" panose="020B0604020202020204" pitchFamily="34" charset="0"/>
                <a:cs typeface="Arial" panose="020B0604020202020204" pitchFamily="34" charset="0"/>
              </a:rPr>
              <a:t>Response Y</a:t>
            </a:r>
          </a:p>
          <a:p>
            <a:r>
              <a:rPr lang="en-US" sz="1600" dirty="0">
                <a:latin typeface="Arial" panose="020B0604020202020204" pitchFamily="34" charset="0"/>
                <a:cs typeface="Arial" panose="020B0604020202020204" pitchFamily="34" charset="0"/>
              </a:rPr>
              <a:t>(Effect)</a:t>
            </a:r>
            <a:endParaRPr lang="nl-NL" sz="1600" dirty="0">
              <a:latin typeface="Arial" panose="020B0604020202020204" pitchFamily="34" charset="0"/>
              <a:cs typeface="Arial" panose="020B0604020202020204" pitchFamily="34" charset="0"/>
            </a:endParaRPr>
          </a:p>
        </p:txBody>
      </p:sp>
      <p:cxnSp>
        <p:nvCxnSpPr>
          <p:cNvPr id="11271" name="Rechte verbindingslijn met pijl 8"/>
          <p:cNvCxnSpPr>
            <a:cxnSpLocks noChangeShapeType="1"/>
            <a:stCxn id="11270" idx="3"/>
          </p:cNvCxnSpPr>
          <p:nvPr/>
        </p:nvCxnSpPr>
        <p:spPr bwMode="auto">
          <a:xfrm>
            <a:off x="2124268" y="4940589"/>
            <a:ext cx="1038628" cy="412462"/>
          </a:xfrm>
          <a:prstGeom prst="straightConnector1">
            <a:avLst/>
          </a:prstGeom>
          <a:noFill/>
          <a:ln w="9525" algn="ctr">
            <a:solidFill>
              <a:schemeClr val="tx1"/>
            </a:solidFill>
            <a:round/>
            <a:headEnd/>
            <a:tailEnd type="arrow" w="med" len="med"/>
          </a:ln>
        </p:spPr>
      </p:cxnSp>
      <p:cxnSp>
        <p:nvCxnSpPr>
          <p:cNvPr id="11272" name="Rechte verbindingslijn met pijl 10"/>
          <p:cNvCxnSpPr>
            <a:cxnSpLocks noChangeShapeType="1"/>
          </p:cNvCxnSpPr>
          <p:nvPr/>
        </p:nvCxnSpPr>
        <p:spPr bwMode="auto">
          <a:xfrm rot="10800000" flipV="1">
            <a:off x="5143500" y="5867400"/>
            <a:ext cx="2400300" cy="457200"/>
          </a:xfrm>
          <a:prstGeom prst="straightConnector1">
            <a:avLst/>
          </a:prstGeom>
          <a:noFill/>
          <a:ln w="9525" algn="ctr">
            <a:solidFill>
              <a:schemeClr val="tx1"/>
            </a:solidFill>
            <a:round/>
            <a:headEnd/>
            <a:tailEnd type="arrow"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el 1"/>
          <p:cNvSpPr>
            <a:spLocks noGrp="1"/>
          </p:cNvSpPr>
          <p:nvPr>
            <p:ph type="title"/>
          </p:nvPr>
        </p:nvSpPr>
        <p:spPr/>
        <p:txBody>
          <a:bodyPr/>
          <a:lstStyle/>
          <a:p>
            <a:pPr eaLnBrk="1" hangingPunct="1"/>
            <a:r>
              <a:rPr lang="en-GB">
                <a:latin typeface="Arial" charset="0"/>
                <a:cs typeface="Arial" charset="0"/>
              </a:rPr>
              <a:t>Statistical </a:t>
            </a:r>
            <a:r>
              <a:rPr lang="en-GB" dirty="0">
                <a:latin typeface="Arial" charset="0"/>
                <a:cs typeface="Arial" charset="0"/>
              </a:rPr>
              <a:t>Analysis</a:t>
            </a:r>
          </a:p>
        </p:txBody>
      </p:sp>
      <p:sp>
        <p:nvSpPr>
          <p:cNvPr id="1028" name="Tijdelijke aanduiding voor inhoud 2"/>
          <p:cNvSpPr>
            <a:spLocks noGrp="1"/>
          </p:cNvSpPr>
          <p:nvPr>
            <p:ph idx="1"/>
          </p:nvPr>
        </p:nvSpPr>
        <p:spPr/>
        <p:txBody>
          <a:bodyPr/>
          <a:lstStyle/>
          <a:p>
            <a:pPr eaLnBrk="1" hangingPunct="1"/>
            <a:r>
              <a:rPr lang="en-GB" dirty="0">
                <a:latin typeface="Arial" charset="0"/>
                <a:cs typeface="Arial" charset="0"/>
              </a:rPr>
              <a:t>Mathematical context</a:t>
            </a:r>
          </a:p>
          <a:p>
            <a:pPr lvl="1" eaLnBrk="1" hangingPunct="1"/>
            <a:endParaRPr lang="en-GB" dirty="0">
              <a:latin typeface="Arial" charset="0"/>
              <a:cs typeface="Arial" charset="0"/>
            </a:endParaRPr>
          </a:p>
          <a:p>
            <a:pPr lvl="1" eaLnBrk="1" hangingPunct="1">
              <a:buClrTx/>
            </a:pPr>
            <a:r>
              <a:rPr lang="en-GB" dirty="0">
                <a:latin typeface="Arial" charset="0"/>
                <a:cs typeface="Arial" charset="0"/>
              </a:rPr>
              <a:t>Regression analysis indicates the relation between the dependent Response (Y) and the independent Factor (X) </a:t>
            </a:r>
          </a:p>
          <a:p>
            <a:pPr lvl="1" eaLnBrk="1" hangingPunct="1">
              <a:buClrTx/>
            </a:pPr>
            <a:endParaRPr lang="en-GB" dirty="0">
              <a:latin typeface="Arial" charset="0"/>
              <a:cs typeface="Arial" charset="0"/>
            </a:endParaRPr>
          </a:p>
          <a:p>
            <a:pPr lvl="1" eaLnBrk="1" hangingPunct="1">
              <a:buClrTx/>
            </a:pPr>
            <a:r>
              <a:rPr lang="en-GB" dirty="0">
                <a:latin typeface="Arial" charset="0"/>
                <a:cs typeface="Arial" charset="0"/>
              </a:rPr>
              <a:t>Singular Linear Regression investigates the relation between </a:t>
            </a:r>
          </a:p>
          <a:p>
            <a:pPr lvl="1" eaLnBrk="1" hangingPunct="1">
              <a:buClrTx/>
              <a:buFontTx/>
              <a:buNone/>
            </a:pPr>
            <a:r>
              <a:rPr lang="en-GB" dirty="0">
                <a:latin typeface="Arial" charset="0"/>
                <a:cs typeface="Arial" charset="0"/>
              </a:rPr>
              <a:t>	one continuous Y and one continuous X</a:t>
            </a:r>
          </a:p>
        </p:txBody>
      </p:sp>
      <p:pic>
        <p:nvPicPr>
          <p:cNvPr id="6" name="Picture 8"/>
          <p:cNvPicPr>
            <a:picLocks noChangeAspect="1" noChangeArrowheads="1"/>
          </p:cNvPicPr>
          <p:nvPr/>
        </p:nvPicPr>
        <p:blipFill>
          <a:blip r:embed="rId3" cstate="print"/>
          <a:srcRect/>
          <a:stretch>
            <a:fillRect/>
          </a:stretch>
        </p:blipFill>
        <p:spPr bwMode="auto">
          <a:xfrm>
            <a:off x="4972051" y="4114801"/>
            <a:ext cx="3927277" cy="2327275"/>
          </a:xfrm>
          <a:prstGeom prst="rect">
            <a:avLst/>
          </a:prstGeom>
          <a:ln>
            <a:noFill/>
          </a:ln>
          <a:effectLst>
            <a:outerShdw blurRad="292100" dist="139700" dir="2700000" algn="tl" rotWithShape="0">
              <a:srgbClr val="333333">
                <a:alpha val="65000"/>
              </a:srgbClr>
            </a:outerShdw>
          </a:effectLst>
        </p:spPr>
      </p:pic>
      <p:cxnSp>
        <p:nvCxnSpPr>
          <p:cNvPr id="1030" name="Rechte verbindingslijn met pijl 9"/>
          <p:cNvCxnSpPr>
            <a:cxnSpLocks noChangeShapeType="1"/>
          </p:cNvCxnSpPr>
          <p:nvPr/>
        </p:nvCxnSpPr>
        <p:spPr bwMode="auto">
          <a:xfrm>
            <a:off x="3343275" y="4953000"/>
            <a:ext cx="3171825" cy="457200"/>
          </a:xfrm>
          <a:prstGeom prst="straightConnector1">
            <a:avLst/>
          </a:prstGeom>
          <a:noFill/>
          <a:ln w="9525" algn="ctr">
            <a:solidFill>
              <a:schemeClr val="tx1"/>
            </a:solidFill>
            <a:round/>
            <a:headEnd/>
            <a:tailEnd type="arrow" w="med" len="med"/>
          </a:ln>
        </p:spPr>
      </p:cxnSp>
      <p:sp>
        <p:nvSpPr>
          <p:cNvPr id="1031" name="Tekstvak 11"/>
          <p:cNvSpPr txBox="1">
            <a:spLocks noChangeArrowheads="1"/>
          </p:cNvSpPr>
          <p:nvPr/>
        </p:nvSpPr>
        <p:spPr bwMode="auto">
          <a:xfrm>
            <a:off x="1417086" y="4724400"/>
            <a:ext cx="1595309" cy="338554"/>
          </a:xfrm>
          <a:prstGeom prst="rect">
            <a:avLst/>
          </a:prstGeom>
          <a:noFill/>
          <a:ln w="9525">
            <a:noFill/>
            <a:miter lim="800000"/>
            <a:headEnd/>
            <a:tailEnd/>
          </a:ln>
        </p:spPr>
        <p:txBody>
          <a:bodyPr wrap="none">
            <a:spAutoFit/>
          </a:bodyPr>
          <a:lstStyle/>
          <a:p>
            <a:r>
              <a:rPr lang="en-US" sz="1600" dirty="0">
                <a:latin typeface="Arial" panose="020B0604020202020204" pitchFamily="34" charset="0"/>
                <a:cs typeface="Arial" panose="020B0604020202020204" pitchFamily="34" charset="0"/>
              </a:rPr>
              <a:t>Regression line</a:t>
            </a:r>
            <a:endParaRPr lang="nl-NL" sz="1600"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6"/>
          <p:cNvSpPr>
            <a:spLocks noGrp="1"/>
          </p:cNvSpPr>
          <p:nvPr>
            <p:ph type="ctrTitle"/>
          </p:nvPr>
        </p:nvSpPr>
        <p:spPr/>
        <p:txBody>
          <a:bodyPr/>
          <a:lstStyle/>
          <a:p>
            <a:r>
              <a:rPr lang="en-US"/>
              <a:t>Hypothesis Testing</a:t>
            </a:r>
            <a:br>
              <a:rPr lang="en-US"/>
            </a:br>
            <a:br>
              <a:rPr lang="en-US"/>
            </a:br>
            <a:endParaRPr lang="nl-NL" dirty="0"/>
          </a:p>
        </p:txBody>
      </p:sp>
      <p:sp>
        <p:nvSpPr>
          <p:cNvPr id="4" name="Tijdelijke aanduiding voor tekst 3"/>
          <p:cNvSpPr>
            <a:spLocks noGrp="1"/>
          </p:cNvSpPr>
          <p:nvPr>
            <p:ph type="subTitle" idx="1"/>
          </p:nvPr>
        </p:nvSpPr>
        <p:spPr/>
        <p:txBody>
          <a:bodyPr/>
          <a:lstStyle/>
          <a:p>
            <a:r>
              <a:rPr lang="en-US"/>
              <a:t>The element ‘Hypothesis testing’ reviews test methods that are used to test a hypothesis. This element also discusses Confidence Intervals that indicate the reliability of test conclusions.</a:t>
            </a:r>
            <a:endParaRPr lang="en-US" dirty="0"/>
          </a:p>
        </p:txBody>
      </p:sp>
      <p:sp>
        <p:nvSpPr>
          <p:cNvPr id="3" name="Tijdelijke aanduiding voor tekst 2"/>
          <p:cNvSpPr>
            <a:spLocks noGrp="1"/>
          </p:cNvSpPr>
          <p:nvPr>
            <p:ph type="body" sz="quarter" idx="13"/>
          </p:nvPr>
        </p:nvSpPr>
        <p:spPr/>
        <p:txBody>
          <a:bodyPr/>
          <a:lstStyle/>
          <a:p>
            <a:r>
              <a:rPr lang="nl-NL"/>
              <a:t>Yellow Belt</a:t>
            </a:r>
            <a:endParaRPr lang="nl-NL" dirty="0"/>
          </a:p>
        </p:txBody>
      </p:sp>
      <p:sp>
        <p:nvSpPr>
          <p:cNvPr id="2" name="Tijdelijke aanduiding voor inhoud 1"/>
          <p:cNvSpPr>
            <a:spLocks noGrp="1"/>
          </p:cNvSpPr>
          <p:nvPr>
            <p:ph sz="quarter" idx="17"/>
          </p:nvPr>
        </p:nvSpPr>
        <p:spPr/>
        <p:txBody>
          <a:bodyPr/>
          <a:lstStyle/>
          <a:p>
            <a:r>
              <a:rPr lang="nl-NL"/>
              <a:t>U5 – Analyse</a:t>
            </a:r>
          </a:p>
          <a:p>
            <a:r>
              <a:rPr lang="nl-NL"/>
              <a:t>E2 – Hypothesis Testing</a:t>
            </a:r>
            <a:endParaRPr lang="nl-NL"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GB" noProof="0" dirty="0">
                <a:latin typeface="Arial" charset="0"/>
                <a:cs typeface="Arial" charset="0"/>
              </a:rPr>
              <a:t>Hypothesis Testing</a:t>
            </a:r>
            <a:endParaRPr lang="en-GB" sz="2400" noProof="0" dirty="0">
              <a:latin typeface="Arial" charset="0"/>
              <a:cs typeface="Arial" charset="0"/>
            </a:endParaRPr>
          </a:p>
        </p:txBody>
      </p:sp>
      <p:sp>
        <p:nvSpPr>
          <p:cNvPr id="435203" name="Rectangle 3"/>
          <p:cNvSpPr>
            <a:spLocks noGrp="1" noChangeArrowheads="1"/>
          </p:cNvSpPr>
          <p:nvPr>
            <p:ph idx="1"/>
          </p:nvPr>
        </p:nvSpPr>
        <p:spPr/>
        <p:txBody>
          <a:bodyPr/>
          <a:lstStyle/>
          <a:p>
            <a:pPr eaLnBrk="1" hangingPunct="1"/>
            <a:r>
              <a:rPr lang="en-GB" noProof="0" dirty="0">
                <a:latin typeface="Arial" charset="0"/>
                <a:cs typeface="Arial" charset="0"/>
              </a:rPr>
              <a:t>Hypothesis </a:t>
            </a:r>
          </a:p>
          <a:p>
            <a:pPr lvl="1" eaLnBrk="1" hangingPunct="1"/>
            <a:endParaRPr lang="en-GB" sz="1800" noProof="0" dirty="0">
              <a:latin typeface="Arial" charset="0"/>
              <a:cs typeface="Arial" charset="0"/>
            </a:endParaRPr>
          </a:p>
          <a:p>
            <a:pPr indent="-250825" eaLnBrk="1" hangingPunct="1"/>
            <a:r>
              <a:rPr lang="en-GB" sz="1800" noProof="0" dirty="0">
                <a:latin typeface="Arial" charset="0"/>
                <a:cs typeface="Arial" charset="0"/>
              </a:rPr>
              <a:t>A hypothesis is a statement that something is true:</a:t>
            </a:r>
          </a:p>
          <a:p>
            <a:pPr lvl="1" eaLnBrk="1" hangingPunct="1"/>
            <a:endParaRPr lang="en-GB" noProof="0" dirty="0">
              <a:latin typeface="Arial" charset="0"/>
              <a:cs typeface="Arial" charset="0"/>
            </a:endParaRPr>
          </a:p>
          <a:p>
            <a:pPr lvl="1" eaLnBrk="1" hangingPunct="1">
              <a:buClrTx/>
            </a:pPr>
            <a:r>
              <a:rPr lang="en-GB" noProof="0" dirty="0">
                <a:latin typeface="Arial" charset="0"/>
                <a:cs typeface="Arial" charset="0"/>
              </a:rPr>
              <a:t>Based on this hypothesis, we predict the expected outcomes of the test</a:t>
            </a:r>
          </a:p>
          <a:p>
            <a:pPr lvl="1" eaLnBrk="1" hangingPunct="1">
              <a:buClrTx/>
            </a:pPr>
            <a:endParaRPr lang="en-GB" noProof="0" dirty="0">
              <a:latin typeface="Arial" charset="0"/>
              <a:cs typeface="Arial" charset="0"/>
            </a:endParaRPr>
          </a:p>
          <a:p>
            <a:pPr lvl="1" eaLnBrk="1" hangingPunct="1">
              <a:buClrTx/>
            </a:pPr>
            <a:r>
              <a:rPr lang="en-GB" noProof="0" dirty="0">
                <a:latin typeface="Arial" charset="0"/>
                <a:cs typeface="Arial" charset="0"/>
              </a:rPr>
              <a:t>If the outcome of the test has a low probability (unlikely), we will reject the hypothesis</a:t>
            </a:r>
          </a:p>
          <a:p>
            <a:pPr lvl="1" eaLnBrk="1" hangingPunct="1">
              <a:buClrTx/>
            </a:pPr>
            <a:endParaRPr lang="en-GB" noProof="0" dirty="0">
              <a:latin typeface="Arial" charset="0"/>
              <a:cs typeface="Arial" charset="0"/>
            </a:endParaRPr>
          </a:p>
          <a:p>
            <a:pPr lvl="1" eaLnBrk="1" hangingPunct="1">
              <a:buClrTx/>
            </a:pPr>
            <a:r>
              <a:rPr lang="en-GB" noProof="0" dirty="0">
                <a:latin typeface="Arial" charset="0"/>
                <a:cs typeface="Arial" charset="0"/>
              </a:rPr>
              <a:t>However, there will always be a chance that we reject a true hypothesis</a:t>
            </a:r>
          </a:p>
          <a:p>
            <a:pPr lvl="1" eaLnBrk="1" hangingPunct="1"/>
            <a:endParaRPr lang="en-GB" noProof="0" dirty="0">
              <a:latin typeface="Arial" charset="0"/>
              <a:cs typeface="Arial" charset="0"/>
            </a:endParaRPr>
          </a:p>
          <a:p>
            <a:pPr eaLnBrk="1" hangingPunct="1"/>
            <a:endParaRPr lang="en-GB" sz="1800" noProof="0" dirty="0">
              <a:latin typeface="Arial" charset="0"/>
              <a:cs typeface="Arial" charset="0"/>
            </a:endParaRPr>
          </a:p>
        </p:txBody>
      </p:sp>
    </p:spTree>
    <p:extLst>
      <p:ext uri="{BB962C8B-B14F-4D97-AF65-F5344CB8AC3E}">
        <p14:creationId xmlns:p14="http://schemas.microsoft.com/office/powerpoint/2010/main" val="33929579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43520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520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520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520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520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GB" noProof="0" dirty="0">
                <a:latin typeface="Arial" charset="0"/>
                <a:cs typeface="Arial" charset="0"/>
              </a:rPr>
              <a:t>Hypothesis Testing</a:t>
            </a:r>
            <a:endParaRPr lang="en-GB" sz="2400" noProof="0" dirty="0">
              <a:latin typeface="Arial" charset="0"/>
              <a:cs typeface="Arial" charset="0"/>
            </a:endParaRPr>
          </a:p>
        </p:txBody>
      </p:sp>
      <p:sp>
        <p:nvSpPr>
          <p:cNvPr id="435203" name="Rectangle 3"/>
          <p:cNvSpPr>
            <a:spLocks noGrp="1" noChangeArrowheads="1"/>
          </p:cNvSpPr>
          <p:nvPr>
            <p:ph idx="1"/>
          </p:nvPr>
        </p:nvSpPr>
        <p:spPr/>
        <p:txBody>
          <a:bodyPr/>
          <a:lstStyle/>
          <a:p>
            <a:pPr eaLnBrk="1" hangingPunct="1"/>
            <a:r>
              <a:rPr lang="en-GB" noProof="0" dirty="0">
                <a:latin typeface="Arial" charset="0"/>
                <a:cs typeface="Arial" charset="0"/>
              </a:rPr>
              <a:t>Hypothesis testing</a:t>
            </a:r>
          </a:p>
          <a:p>
            <a:pPr lvl="1" eaLnBrk="1" hangingPunct="1"/>
            <a:endParaRPr lang="en-GB" sz="1800" noProof="0" dirty="0">
              <a:latin typeface="Arial" charset="0"/>
              <a:cs typeface="Arial" charset="0"/>
            </a:endParaRPr>
          </a:p>
          <a:p>
            <a:pPr indent="-250825" eaLnBrk="1" hangingPunct="1"/>
            <a:r>
              <a:rPr lang="en-GB" sz="1800" noProof="0" dirty="0">
                <a:latin typeface="Arial" charset="0"/>
                <a:cs typeface="Arial" charset="0"/>
              </a:rPr>
              <a:t>In processes, we test hypotheses in the same way:</a:t>
            </a:r>
          </a:p>
          <a:p>
            <a:pPr lvl="1" eaLnBrk="1" hangingPunct="1"/>
            <a:endParaRPr lang="en-GB" noProof="0" dirty="0">
              <a:latin typeface="Arial" charset="0"/>
              <a:cs typeface="Arial" charset="0"/>
            </a:endParaRPr>
          </a:p>
          <a:p>
            <a:pPr lvl="1" eaLnBrk="1" hangingPunct="1">
              <a:buClrTx/>
            </a:pPr>
            <a:r>
              <a:rPr lang="en-GB" noProof="0" dirty="0">
                <a:latin typeface="Arial" charset="0"/>
                <a:cs typeface="Arial" charset="0"/>
              </a:rPr>
              <a:t>We do not want to react to common cause variation</a:t>
            </a:r>
          </a:p>
          <a:p>
            <a:pPr lvl="1" eaLnBrk="1" hangingPunct="1">
              <a:buClrTx/>
            </a:pPr>
            <a:r>
              <a:rPr lang="en-GB" noProof="0" dirty="0">
                <a:latin typeface="Arial" charset="0"/>
                <a:cs typeface="Arial" charset="0"/>
              </a:rPr>
              <a:t>We only want to react to uncommon (special cause) </a:t>
            </a:r>
            <a:r>
              <a:rPr lang="en-GB" dirty="0">
                <a:latin typeface="Arial" charset="0"/>
                <a:cs typeface="Arial" charset="0"/>
              </a:rPr>
              <a:t>variation</a:t>
            </a:r>
          </a:p>
          <a:p>
            <a:pPr lvl="1" eaLnBrk="1" hangingPunct="1">
              <a:buClrTx/>
            </a:pPr>
            <a:endParaRPr lang="en-GB" dirty="0">
              <a:latin typeface="Arial" charset="0"/>
              <a:cs typeface="Arial" charset="0"/>
            </a:endParaRPr>
          </a:p>
          <a:p>
            <a:pPr lvl="1" eaLnBrk="1" hangingPunct="1">
              <a:buClrTx/>
            </a:pPr>
            <a:endParaRPr lang="en-GB" dirty="0">
              <a:latin typeface="Arial" charset="0"/>
              <a:cs typeface="Arial" charset="0"/>
            </a:endParaRPr>
          </a:p>
          <a:p>
            <a:pPr marL="180975" lvl="1" indent="-88900" eaLnBrk="1" hangingPunct="1">
              <a:buClrTx/>
              <a:buNone/>
            </a:pPr>
            <a:r>
              <a:rPr lang="en-GB" sz="1800" dirty="0">
                <a:latin typeface="Arial" charset="0"/>
                <a:cs typeface="Arial" charset="0"/>
              </a:rPr>
              <a:t>In our example of the Elderly home centre:</a:t>
            </a:r>
          </a:p>
          <a:p>
            <a:pPr marL="180975" lvl="1" indent="0" eaLnBrk="1" hangingPunct="1">
              <a:buClrTx/>
              <a:buNone/>
            </a:pPr>
            <a:endParaRPr lang="en-GB" dirty="0">
              <a:latin typeface="Arial" charset="0"/>
              <a:cs typeface="Arial" charset="0"/>
            </a:endParaRPr>
          </a:p>
          <a:p>
            <a:pPr lvl="1" eaLnBrk="1" hangingPunct="1">
              <a:buClrTx/>
            </a:pPr>
            <a:r>
              <a:rPr lang="en-GB" dirty="0">
                <a:latin typeface="Arial" charset="0"/>
                <a:cs typeface="Arial" charset="0"/>
              </a:rPr>
              <a:t>We do not want to replace the stove when the variation was caused by not efficient walking routes </a:t>
            </a:r>
          </a:p>
          <a:p>
            <a:pPr lvl="1" eaLnBrk="1" hangingPunct="1">
              <a:buClrTx/>
            </a:pPr>
            <a:endParaRPr lang="en-GB" dirty="0">
              <a:latin typeface="Arial" charset="0"/>
              <a:cs typeface="Arial" charset="0"/>
            </a:endParaRPr>
          </a:p>
          <a:p>
            <a:pPr lvl="1" eaLnBrk="1" hangingPunct="1">
              <a:buClrTx/>
            </a:pPr>
            <a:r>
              <a:rPr lang="en-GB" dirty="0">
                <a:latin typeface="Arial" charset="0"/>
                <a:cs typeface="Arial" charset="0"/>
              </a:rPr>
              <a:t>We do want to replace the stove when this was the cause of the high variation in the temperature of the meals</a:t>
            </a:r>
          </a:p>
          <a:p>
            <a:pPr lvl="1" eaLnBrk="1" hangingPunct="1"/>
            <a:endParaRPr lang="en-GB" noProof="0" dirty="0">
              <a:latin typeface="Arial" charset="0"/>
              <a:cs typeface="Arial" charset="0"/>
            </a:endParaRPr>
          </a:p>
          <a:p>
            <a:pPr eaLnBrk="1" hangingPunct="1"/>
            <a:endParaRPr lang="en-GB" sz="1800" noProof="0" dirty="0">
              <a:latin typeface="Arial" charset="0"/>
              <a:cs typeface="Arial" charset="0"/>
            </a:endParaRPr>
          </a:p>
        </p:txBody>
      </p:sp>
    </p:spTree>
    <p:extLst>
      <p:ext uri="{BB962C8B-B14F-4D97-AF65-F5344CB8AC3E}">
        <p14:creationId xmlns:p14="http://schemas.microsoft.com/office/powerpoint/2010/main" val="32634088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43520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520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520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520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520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520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520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Afbeelding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06707" y="4799517"/>
            <a:ext cx="2932551" cy="1737808"/>
          </a:xfrm>
          <a:prstGeom prst="rect">
            <a:avLst/>
          </a:prstGeom>
        </p:spPr>
      </p:pic>
      <p:sp>
        <p:nvSpPr>
          <p:cNvPr id="11267" name="Rectangle 4"/>
          <p:cNvSpPr>
            <a:spLocks noGrp="1" noChangeArrowheads="1"/>
          </p:cNvSpPr>
          <p:nvPr>
            <p:ph type="title"/>
          </p:nvPr>
        </p:nvSpPr>
        <p:spPr/>
        <p:txBody>
          <a:bodyPr/>
          <a:lstStyle/>
          <a:p>
            <a:pPr eaLnBrk="1" hangingPunct="1"/>
            <a:r>
              <a:rPr lang="en-GB" noProof="0" dirty="0">
                <a:latin typeface="Arial" charset="0"/>
                <a:cs typeface="Arial" charset="0"/>
              </a:rPr>
              <a:t>Hypothesis Testing</a:t>
            </a:r>
            <a:endParaRPr lang="en-GB" sz="2400" noProof="0" dirty="0">
              <a:latin typeface="Arial" charset="0"/>
              <a:cs typeface="Arial" charset="0"/>
            </a:endParaRPr>
          </a:p>
        </p:txBody>
      </p:sp>
      <p:sp>
        <p:nvSpPr>
          <p:cNvPr id="11268" name="Tijdelijke aanduiding voor inhoud 6"/>
          <p:cNvSpPr>
            <a:spLocks noGrp="1"/>
          </p:cNvSpPr>
          <p:nvPr>
            <p:ph idx="1"/>
          </p:nvPr>
        </p:nvSpPr>
        <p:spPr/>
        <p:txBody>
          <a:bodyPr/>
          <a:lstStyle/>
          <a:p>
            <a:pPr eaLnBrk="1" hangingPunct="1"/>
            <a:r>
              <a:rPr lang="en-GB" noProof="0" dirty="0">
                <a:latin typeface="Arial" charset="0"/>
                <a:cs typeface="Arial" charset="0"/>
              </a:rPr>
              <a:t>Hypothesis </a:t>
            </a:r>
            <a:r>
              <a:rPr lang="en-GB" dirty="0">
                <a:latin typeface="Arial" charset="0"/>
                <a:cs typeface="Arial" charset="0"/>
              </a:rPr>
              <a:t>t</a:t>
            </a:r>
            <a:r>
              <a:rPr lang="en-GB" noProof="0" dirty="0" err="1">
                <a:latin typeface="Arial" charset="0"/>
                <a:cs typeface="Arial" charset="0"/>
              </a:rPr>
              <a:t>esting</a:t>
            </a:r>
            <a:endParaRPr lang="en-GB" noProof="0" dirty="0">
              <a:latin typeface="Arial" charset="0"/>
              <a:cs typeface="Arial" charset="0"/>
            </a:endParaRPr>
          </a:p>
          <a:p>
            <a:pPr eaLnBrk="1" hangingPunct="1"/>
            <a:endParaRPr lang="en-GB" sz="1800" dirty="0">
              <a:latin typeface="Arial" charset="0"/>
              <a:cs typeface="Arial" charset="0"/>
            </a:endParaRPr>
          </a:p>
          <a:p>
            <a:pPr indent="-250825" eaLnBrk="1" hangingPunct="1"/>
            <a:r>
              <a:rPr lang="en-GB" sz="1800" noProof="0" dirty="0">
                <a:latin typeface="Arial" charset="0"/>
                <a:cs typeface="Arial" charset="0"/>
              </a:rPr>
              <a:t>‘One is presumed innocent until proven guilty’</a:t>
            </a:r>
          </a:p>
          <a:p>
            <a:pPr lvl="1" eaLnBrk="1" hangingPunct="1"/>
            <a:endParaRPr lang="en-GB" noProof="0" dirty="0">
              <a:latin typeface="Arial" charset="0"/>
              <a:cs typeface="Arial" charset="0"/>
            </a:endParaRPr>
          </a:p>
          <a:p>
            <a:pPr lvl="1" indent="-355600" eaLnBrk="1" hangingPunct="1">
              <a:buFont typeface="Arial" charset="0"/>
              <a:buNone/>
            </a:pPr>
            <a:r>
              <a:rPr lang="en-GB" sz="1800" noProof="0" dirty="0">
                <a:latin typeface="Arial" charset="0"/>
                <a:cs typeface="Arial" charset="0"/>
              </a:rPr>
              <a:t>This also applies to hypothesis testing:</a:t>
            </a:r>
          </a:p>
          <a:p>
            <a:pPr lvl="1" eaLnBrk="1" hangingPunct="1">
              <a:buClrTx/>
            </a:pPr>
            <a:endParaRPr lang="en-GB" noProof="0" dirty="0">
              <a:latin typeface="Arial" charset="0"/>
              <a:cs typeface="Arial" charset="0"/>
            </a:endParaRPr>
          </a:p>
          <a:p>
            <a:pPr lvl="1" eaLnBrk="1" hangingPunct="1">
              <a:buClrTx/>
            </a:pPr>
            <a:r>
              <a:rPr lang="en-GB" noProof="0" dirty="0">
                <a:latin typeface="Arial" charset="0"/>
                <a:cs typeface="Arial" charset="0"/>
              </a:rPr>
              <a:t>The null-hypothesis (H</a:t>
            </a:r>
            <a:r>
              <a:rPr lang="en-GB" baseline="-25000" noProof="0" dirty="0">
                <a:latin typeface="Arial" charset="0"/>
                <a:cs typeface="Arial" charset="0"/>
              </a:rPr>
              <a:t>0</a:t>
            </a:r>
            <a:r>
              <a:rPr lang="en-GB" noProof="0" dirty="0">
                <a:latin typeface="Arial" charset="0"/>
                <a:cs typeface="Arial" charset="0"/>
              </a:rPr>
              <a:t>) always assumes there is no difference</a:t>
            </a:r>
          </a:p>
          <a:p>
            <a:pPr lvl="1" eaLnBrk="1" hangingPunct="1">
              <a:buClrTx/>
              <a:buFont typeface="Arial" charset="0"/>
              <a:buNone/>
            </a:pPr>
            <a:r>
              <a:rPr lang="en-GB" b="0" noProof="0" dirty="0">
                <a:latin typeface="Arial" charset="0"/>
                <a:cs typeface="Arial" charset="0"/>
              </a:rPr>
              <a:t>	Even when we suspect that there actually is a difference!</a:t>
            </a:r>
          </a:p>
          <a:p>
            <a:pPr lvl="1" eaLnBrk="1" hangingPunct="1">
              <a:buClrTx/>
            </a:pPr>
            <a:endParaRPr lang="en-GB" noProof="0" dirty="0">
              <a:latin typeface="Arial" charset="0"/>
              <a:cs typeface="Arial" charset="0"/>
            </a:endParaRPr>
          </a:p>
          <a:p>
            <a:pPr lvl="1" eaLnBrk="1" hangingPunct="1">
              <a:buClrTx/>
            </a:pPr>
            <a:r>
              <a:rPr lang="en-GB" noProof="0" dirty="0">
                <a:latin typeface="Arial" charset="0"/>
                <a:cs typeface="Arial" charset="0"/>
              </a:rPr>
              <a:t>The alternative hypothesis (H</a:t>
            </a:r>
            <a:r>
              <a:rPr lang="en-GB" baseline="-25000" noProof="0" dirty="0">
                <a:latin typeface="Arial" charset="0"/>
                <a:cs typeface="Arial" charset="0"/>
              </a:rPr>
              <a:t>a</a:t>
            </a:r>
            <a:r>
              <a:rPr lang="en-GB" noProof="0" dirty="0">
                <a:latin typeface="Arial" charset="0"/>
                <a:cs typeface="Arial" charset="0"/>
              </a:rPr>
              <a:t>) describes the difference</a:t>
            </a:r>
          </a:p>
          <a:p>
            <a:pPr lvl="1" eaLnBrk="1" hangingPunct="1">
              <a:buClrTx/>
              <a:buFont typeface="Arial" charset="0"/>
              <a:buNone/>
            </a:pPr>
            <a:r>
              <a:rPr lang="en-GB" b="0" noProof="0" dirty="0">
                <a:latin typeface="Arial" charset="0"/>
                <a:cs typeface="Arial" charset="0"/>
              </a:rPr>
              <a:t>	This is an assumption that must be reviewed and proven</a:t>
            </a:r>
          </a:p>
        </p:txBody>
      </p:sp>
      <p:sp>
        <p:nvSpPr>
          <p:cNvPr id="11270" name="WordArt 9"/>
          <p:cNvSpPr>
            <a:spLocks noChangeArrowheads="1" noChangeShapeType="1" noTextEdit="1"/>
          </p:cNvSpPr>
          <p:nvPr/>
        </p:nvSpPr>
        <p:spPr bwMode="auto">
          <a:xfrm>
            <a:off x="8611791" y="1497014"/>
            <a:ext cx="267891" cy="504825"/>
          </a:xfrm>
          <a:prstGeom prst="rect">
            <a:avLst/>
          </a:prstGeom>
        </p:spPr>
        <p:txBody>
          <a:bodyPr wrap="none" fromWordArt="1">
            <a:prstTxWarp prst="textPlain">
              <a:avLst>
                <a:gd name="adj" fmla="val 50000"/>
              </a:avLst>
            </a:prstTxWarp>
          </a:bodyPr>
          <a:lstStyle/>
          <a:p>
            <a:pPr algn="ctr"/>
            <a:endParaRPr lang="nl-NL" sz="4800" kern="10" dirty="0">
              <a:ln w="19050">
                <a:solidFill>
                  <a:srgbClr val="99CCFF"/>
                </a:solidFill>
                <a:round/>
                <a:headEnd/>
                <a:tailEnd/>
              </a:ln>
              <a:solidFill>
                <a:srgbClr val="0066CC"/>
              </a:solidFill>
              <a:effectLst>
                <a:outerShdw dist="35921" dir="2700000" algn="ctr" rotWithShape="0">
                  <a:srgbClr val="990000"/>
                </a:outerShdw>
              </a:effectLst>
              <a:latin typeface="18thCentury"/>
            </a:endParaRPr>
          </a:p>
        </p:txBody>
      </p:sp>
      <p:sp>
        <p:nvSpPr>
          <p:cNvPr id="2" name="AutoShape 2" descr="data:image/jpeg;base64,/9j/4AAQSkZJRgABAQAAAQABAAD/2wCEAAkGBhQRERUUEhQVFRUWFxQYGRcWFxgZFxQdHBcVFxYXFxcYHCYfFxkkGRUXHy8gIycpLCwsHR4xNTAqNSYrLCkBCQoKDgwOGg8PGiwkHyQsLCwsLCwsLCwsLCwsKSwsLCwsLCwsLCwsLCwsLCwsKSwsLCwpLCwsKSwsKSwpLCwsKf/AABEIALcBEwMBIgACEQEDEQH/xAAcAAEAAgMBAQEAAAAAAAAAAAAABQYDBAcBAgj/xABDEAABAwEFBQYDBAkDAwUAAAABAAIRAwQFEiExBkFRYXEHEyKBkaEyQrEUUsHhI2JygpKi0fDxQ1OyFjOTFSREY4P/xAAYAQEBAQEBAAAAAAAAAAAAAAAAAQIDBP/EAB8RAQEBAAMAAwEBAQAAAAAAAAABEQIhMQMSQVETBP/aAAwDAQACEQMRAD8A7iiIgIiICLyVTNrO1Oy2IFrT3tY5NpszM888h6IluLoof/qWm60ts9PxuMlxGjQAZPPOB5rk15dpNpqw01A0umWNgMYOBj4vMnz0WvcO2X2E1KjWitVqQ0vOWEaw0nI58tw4K4n2d5RcSt23l4B1OpVeaNN5a5rRhlzMUFxy+EwRuncuyWa8GVHOax2ItDSY0h2bc+YUXWyiIiiIiAiIgIiICLxeoCIiAi8leoCIiAiirftNZ6FTu6tQMdlrpnpmpGlWDwHNMgiQeIQZEREBERAREQEREBeNcDmDK17ytYpUalQ/IxzvQEhcquLtAdY7LWNQY85pic8ZOYMxkZnyKJbjqF7X3RsrMdZ7WDdJEnpK5xf3bW2TTsbMR/3XfC3OJjeuV7TbVm0VC+11HVH7qbdGcsvC33KibPtNTYxze6JDokYo03y0ArWMbbXSb07YgbJ9nNWp3meKqwAvdJJIAMBozA6Bc5s942YP7w1K+LP4msMzrm05L4sNxOtbpZSexv35GFvWQJ8s1abt2BpRiANRwzkVAGg9IJjqt5InSEo211R5FlqNjWO7g8zJ1V62a7NbxrNBqGmGTI79uu8eHCTHWFtXfcNlaDVbTYXCA40yHEZfd0+kqy3HtM5gDKNZtRojwHVg5SZA5ZLNv8Xe1K7SLxbWtrgT3ZptFENc2GHA5wJa4EwDMgEaRmrX2U3w5tTuKjc6jRnvljcs+GEKH282TqW2q6s0MGMNkAwcYGEnoWhu/VvNfHZWH0rbTo1ZDmmsA1wILT3ZlpnTLP6aqfifrtqIiy6iIiAiIgIiICIiAiIgIiIMVptApsLzo0SYWK77zp12h1NwcOW7qvL2qhtCo52gY8n0K5f2QXnNqrU9xp4gOjhn/MiW9vvtrsAJpv1GElzRmTDpbluEgCVWLL2mVMdmc04KQpsp4cwBgnFInU6TvyXQdrm0zbpq5sZZaznA6fC9o93COcLgl6ODWVmU/wDTc1wPAExB9Fmesc++n6i2Z2iZbaIqMyzIImY/JS64/wBhm0VPu30XuDXw1wnIEEbp6rr4dOi03PHqIiKIiICIiCmdp97mlZXUm/FUHmAHsn8QuM3n4abYGIu1kgNYBnjcDMRJj/C6D2u1j9pY3d3IM/8A6On6LlV/Wd9R3dgw2dSWgOPScwD7qztzstquWipTxnAMe9ziIGvytHwjqrrdlmpWOi18NNd0Oe7AH4ZzwZ/CeQUfcNhoWembRXgta7C1nxYnDjBgxrlvhTrb6ZamxQc1juggnnIkLfK6tqWse0lFzJc4sfGkEtO/T8lD39tVUMd0C5um6TziQB0C+X2T7Ox1S0hjnx4WtMj1P0UTZL/bUkGg4cCAI91lM3xJ3XtS6mIc2HRBkET5/QqT/wCpy4HunYDkHEtYPdrRi9Fhu26GHVgnI7/xW+6ws0DRrwCpk1K3Hbqwb+kqNe0xDgf+XLRT9jtzGWuk54hzZhxg5EEObO/WR+ZVXbY6gIFNzQ0N+HA2D1yWxaKzgXd6zEIaQ4D4TEERuEj3PBGczx2RjgRIzBXqq/Z/anOs7g6TheYmdDnAnnPqrQsOsuiIiKIiICIiAiIgIiICIiCI2tq4bFXP/wBbh6+H8VxXZq+H2S00qgGjiC3IYmwQ4emc8gu2bVUsVjrj9Q+2f4LgVesWEnhi1PLSVYxyWna6/wBtetVqNa4B1NjfEMogTmMjmAuU3/FNpFNxl7pqTBDuG7QKyX/aHChSOhw4nAHTFnE8pWlTuNrmtqOzdkRnkT05LJneq/Z3voupFpLXEHFrAE4tBpC/QnY/eletRf3ubGwGmZz3rjv/AKVLgGHxOcATvP8ARfozZG4BY7Myn80S7qdVVkTSIiNCIiAiIg5V2x1MNSlI8JpOz5NcXPHmIHmuJWCibRVGMn9I8SG5SAC4tG4ZCB1Xfu28gWBhgT3oaXb2tLXFwndOELkGzvcYW1/EXtqPawHISGt8WWZgOgZjP2Snkra2isrW4BVDKFJgwsZ8W/MhupPM+a07DcdGo4OpVRi6xPoQo7aO/Zd4mh751eJDd0AcVp3c7vSTha3mzwjlI6rUiTxZbyYymcLntc/dJJAjzJPRZrksjXZwB13cSq7d93AOmJJnM5qz2e7ahb+jWd2t2fXinm2hlOS2HO5mB/Vate/gHDvKWX3qTgfUED6qs2uwVwcyCZ4E/wAsiR6qLr22oDhc0NMyYESJggtkgEEgyFv1yy+11SwW5jiHMdLSPTqNykbQMQI4gqibH1CXAbnK2229W2eo1jgXEgmG6gcY3qsfq59m9N7bO8O+EVCG8wGtnyVuVW7OqT22VxdOF1Wo5k72mIPSZVpXN1ngiIiiIiAiIgIiICr+1O04soDWAGo4Tno0cTx6KwKlbZbIPtVZtWm5owhjXNcSJwnE1wIB+9EdEFdqX3aahLu8qn9kuAH8OQW7de2lekfGe8bwdr5O1nrK6FYLGKVNlNujWgcJgZnqdVp3xs3RtIONsO3PbAePP5hyMhB8UL2p2uz1O7OZY4OafibIIzH4r837SiC4PJADjPiiciCDxBiF0+8LFWsFbCTEg4HtybUboctxzEtOmWogqn7RbO/aSSIGKZ8zxSXUs7Re0QApUxwpN16ADrvWlZrwikP74KZ2quwlgwS4CAeUDKOShdlNla9qrNs7Wk4jJOgaN5PIf3uU3IZ2tvZ1s462Wpp0ZTIfUdyByaDxJEdJ4LvqidmdnKdhoNo0hpm473HeT9OillVEREBERAREQUbtdsve2IMiZdI5EDL2kea5Hc2z4NFj2kjA6rMa5iHATlI47jHBdt7Q2n7LI0Ds+WRDT/FC4lelrrMpzAFNzAG5eKT4nlvUkoiDtt30nFwY5roJzkEt3Zlx91is9ABksgtmOMwNSeC17PYu9D2EAOObJid8weKlbosbhZy1zWgtOoIM66xotErPZIAGinrut4A1VcxxGS22MMLHH115zYsFuZTr65GNRkVqMuIlwxDHE4TG4gg9fyWtZnZ5lS9G3lo8OZiB9Ftws6x93VdApEctP6rzbOuaVazvAMvaW8vCQcxH6/EaL5p7VUWASKhdvGE5HfKnbitlK8K9Gm8ZMqBx4HIkNnmQFb0xN10646OCz0mkQRTZI4GAT7kreRFh2EREBERAREQEREBVzaBjjaLO9riG06tMOaCYfjJHiAI+EARIPxKxqBvl82V1TXxsqDPcHtgzn8ueXpmpRPIgWC22sUmFzt3udwVFf25YyrR7o5OkODhEsI+Ej8RvBI3rmjS9uT2mRlIBLTzB3Dkc1b70theXE8fXooOs2Vr6uX3uollYPLm72mCD0BB6EFdA7Nrupsp1KgLTUcYInNrRplukkn0VCN2vqV2dyJe4hhbMB41Ge4jMz1UrUuS1UfEaVRuH5mgmP3mrn5e3XqzXXAvVzq4Nu6lMhtcmoz73zN8/m881f7JbGVWB7HBzTvH95FaGZERAREQEREEPtZbadKyVDWaXsLS3C3VxIyAO7PfuX5qvq96veGXQMgGFvhAGQHKBku59p+09OhRFMuh5IMDUiDH7IkjPlly4XaLZTaS+MbnHQ/1OqsRDXjeRbVlmRGGDuGhgBb9G9q73BpcGtJzIAz5TqtWpVfVcSGiOG9o3+6l7PYS3NwAJIAG/03ZBW3K3OMzW0bIQJOm4jevttUDqtiq6cpggSeeWfJRYa855Run81jMrUuztJUapnNbb71ZRwl0ZmFEtqGYOSn7LZSaTsMYsoPotRz5MdovKhXIaHkHfqNNc1btj7CG2mixggNeDlwALp9lQrR3zcrRTbUYXBoLRDmk/MDqNF1Pssshd3lR4zZ4M9x/wPdGZMdEREUaEREBERAREQEREGteDyKbo1PhHVxwj3KxXlY8VnqUxvpuaN/ykDqslobiqMG5pLz5CG+7p8lskINa66+OhTf8Aepsd6tBVb2ivPvHBrfhBz8vzWc3iKVlZTafhGA8RhcWRoOHD2zUDXdmrxc+daFtqj6qIr2qPxW/bKgAIGahrQ0x1W2ItvZzYu8ruqnSm3L9p0j6By6Qq3sBdnc2NpI8VQl56H4fYT5qyLm7RA37sjRtALowVIye0Zz+sPnHXPgQqxsxbKljtRo1pbOThq0/de07wY16g5iB0VVzbO5+8pd8wfpaMuEaubq9noJHMDiVm9dtLGii9nr3baKLXAgkASFKLSCIiAiIg5r2x7PNqMpVsmkHu3O5HNnuCPNcKvKnNYUwSSTAP0ML9a3pdlO00nUqrcTHiCPcEHcQYIK4re+yVGwWk021DVc6C57mjEwH5ctcsycpySbKlVCwXT3DRA8bjBcBMDruzynopxliDWAmOU+56rKbSwtfDTIAAH3swB5wtW1XgDkWlobAmZHQ8FP3tZ4jL1bMkSMsvzVdtV4PEB0wBkRxVtdDsuIyUNabuDiZC1rUV9tucIId/T/KsV1bQVWiCGjmTpAUPbLhIiDlH5r4p2R2LMA8Bnh6la6/GbF82evwV3YHjIkDlO7zXbtjrt7mzCRBqEvPnp/KAuVdmXZ5VrltesS2i1wIB/wBSNQ0bhqMS7gAs1HqIvCVFeoq7s1flS1V7QYigxzW08syc8RnflB8wrEgIiICIiAiLDa64psc8/KCesDRB8WV2Jz3c8I/d1/mLvRLfbBTYXb9w5r2x0u7ptDtQPEeerj6yqxfd4947LTd0Vk1LcQl31jNaXSe/qmMsph/viJ81jtVZatCvhrVxGppvHm3CT6tXla0LUceXrTtInNeXdYTaK7KQ+YgHkN58gCVitVfn+SuHZtdfx13D9RvsXH/iPVS1vjF5p0w0AAQAAAOAGQX0iLLoLHXbLXA7wR7LIvHnIoKZsTs1aLLXqGtGAtwiHTJBb4gNwgHWDmrooi5WOY5we9zi+XjEZw5wWtk5NEt9dVLqTwERFQREQQ4v9rqBeMn5tDdSDGRjhnK5nfFRrHElpNRxOpJJzOcxmYGasdF2Jsg68cwFr2qgJzMHcSAR5HVpjmjndUC1WojES3DBaYgjWdVsDBVaDPiiOvXkrXWuhjxDmDOd5PpKhbbsw1mbSWDhEgfiAkqoG03bgMtBB5EweOX9F4WcRM8Bn6b1Musrx8WYG9ufqtR75MgSNDxamRqckNUs2eYkOIgjT2W/ZbkBe0AfEQOu4fVZnWdzdwLZg5x0IPJWLZGyudbKEkQHzpwBI38QquuuWOzCnTYxogMa1ojkIWZEUBQG2N69zQIBgvBHlv8ArHqp4lc6ve0/bbbTYJLC9oA3YQZJPXMozyq17GWHurHTnV4xn97MfywpteNbAgaL1GhERAREQFpW84nU6f3nYj+yzxH+bAPNbqom1naZZrBWqB5NSq1rWNps3fM4uccm6tEZnw6ISantoL2Df0Y1PxR6wqrabTnkubXn2xV6riadGm2d7i5x9iPooir2j2x3+1/4z/VPtIX4efL8dCqV4tHJ1M/yukexXxXramc1zdm29dz2lzGEtkCMTcjqNenop+ybVNqZOBY48TLT+9u8wn3hy+HlMTFkpOq1WtaCSSABxJMAeq7Zc92iz0WUhnhGZ4k5uPmSVROzC5C5zrQ8fCYbP3iMz5Ax58l0hEElERRYLY+GOjXQdTkNx48FnWvaxOAcXtP8Mu+rUGpRafC4GAKtUGIzBc5uf7waVJrTpsmkQNTjjXXESOeq2LPVxNDuIB6ZaKDIiIqCIiDk103iG5P4x58VI1nAE6H5s94ORBPWCq/ZjIcN4Kle/wATWO5QfoZ9j5KeseVmrFzACATTOvFvUfivHOxCWHGBq0/EObTv/vVZmWwsZH3QYkTpoOiwUnMeQaT2tdqWg5ExnG8b8lUaVWzOIx0sMHUucfPIBa5otfnkXZYsMefVb1qe+m4vpjxavp7n8XN5/VeU3CsMdF4/WpuAMdDq3yMJiajbZZCGugSM8xp+Skdjnf8AuqJ3SR6ghYalIMM4S3jAJJ9B7leWO0CnUa/RzXAiPUEx+SsrTr6KpVNsXn4GMAjUuJJPAADT3Ue/bG0eIkDCB8oBjiTvEf3yY1bizbUXh3Vndh+J/hb5jM+k+yqOwdmx2t9TdTaWjgTkPxKibyvB5DnOqPqakF50LtABuAX3sy5uCMsRzzkEEjE32ICMbt11hFSrq2ie15Y50xJwn+uoUnU2kduaBw3pjX2iwkrTtN8UmaunkM1UzfbqjodPLl1Gi+XunfvlX6peeJ9+0w+Vh8z+C0q+1DoJybygSVFPrAZhYn2kQrjH3tSD75fUaZc4SOhEj6riW1GytooPqVKs1WEl3etBzkyS8Zlpz/NdS+3gZLA+8hms8uOt8Od43XFGUgNPZePpzuXRrxuqyvkmkGniwlvsDHsoO07N0iQGEjjLvoIXkvw899e6f9HG+6q1MRuVj2f2dqW17KdNvic6MUeEDe49OS17PYKbKrmhuMtMCZOuYMab4XfNgtl/slAOeP0zwCf1BqGDhxPPorx+Lvusc/m3xPXTdrbPRp0WfCxobJ1MauPMnNbaIvS84iIgLA8TUH6rSd28gddxWdatFxLqhO6GjyEz/Mg+rB/228xPrn+KWWBib90n38Q3c1ks7YY0cAPosDjhrD9dpHm0yPZzvRBtoi8hB6iIg4hYK8ufPED2/IqRuysCC07gQq5ZrRhtFVvPPyJCkrLV8c6D81J0zYsdhqlwz0GRO+dx9I91s2y6adVucg8RkfOFHUbRDoGhAHXf9fqjL3/Sd3mII139TGmf1WsZ1I0bC5rcDjjA+F+jhydxHNRNou5zXGrS8NQTiZufzA4qx2asC0dNVhrUAcxqND+HNO2ZiHZWFqp/o3GnUHqOWeoUcKTgDiJcW6yBiI3gZey27ysxpu76ll94D3Ky1aramGqzfk4cDz8lGmpSwhrizDuJzMTxg6blu1KkeMZOgZjfyK+GgYXN1EFa9qpNDwG5QATGg8un4JF5eNC+62EBup+Ix7D6+qzvsxpUadanqA3GOP8AgGFo0G9/Xz0kE8hIH0UtQcG1KlnOYIlvQ6fVajl+M1OqalVlanm1wAdxad8qUs1rxNBOSqVzT42yRgcfPCpNtuhgGhHvw9lb6SdVLOrgTCwvtwCg7RecjJRtW8BxOipO07a71jRadS91EPt+SibReBOQyUtb48dWC1XnnkfRRrr1OeqjO8J0P5L2z2F9WoGU2uqPOQa0Erna7TjG1WthOhlZ7BYKtd+Ci11R53NExzJOQHM5K7bNdkTnQ+2OwjXumHM/tO0HlPULpN23TSs7MFGm1jeDRrzJ1ceZTupkUTYLsxNmqutFrwF/hwMaS4NI+Z2UF0xEZCJXR0RUEREBERAWtSqRTLv2nfWN3ABZLVVwsc7g0n0C1bW4U6BBIADIk6CAAdUG83RalvY6abm/LUE9CC0nyxStsLFbGOcxwaYJBAPBBmC8WKx1sdNrjqQJ5HePWVmQEREH5nsluDrTUj/O4fipYWuSYOkKn3DaMdWq6dXEDoMRHspW77QSXGeJ65H8VqxmLW68TPpCz262gtxnVrQ4dAc8+QOnDPcoRteQCdRkvp9qyAOYBII34TIPnD1PxM7W67LwmGzrP4qUp2qRmZGWfGQVQrmtrw+HDxNfGW8ZDFPAjNS9lvItOGcp/qtMZlWG2ERnmHAg8OY9FXrOAys+iTDagwtM6H5SpIWsPlvAE/RQt9N8NOoNQYP9+iz5Ws2JanXgNxCCA5rxwI1UfbbRhYSTm8n03+2S2rVXD2N4uiY15qDvm0eMNGjB7nM/gPJSdJe+kzsfYMfeVCYzDRz1J+oWbaCxOY6nWGrHQ79lxy9HfVbezv6OgyNT4j5yfpCkq2F4IcJB3HMEcCFYX+KXTcG2msBoTI6OZK1bwtfjI4AfQKRvG5nUq5ewksdAz1YQIAJOogGD5Kr2qricSN86+ytpxjNUtnstV1UnNYMRJy9slO3VsDbLTGGk5rfvVPA3rnmfIFS8nScUMap3mF7YLA+vUDKVN1Vx3NBJ9tBzK6lcvYxSbBtNU1D92n4W9MR8R9lfLruajZmYKFNtNv6o16nVx5lY7rUyOabP9kNR8Otb+7H+3TguPIu0b5SukXRcNCytw0KbWDeQPE79pxzPmpBFcNERFUEREBERAXhK9XxWoh7S12jgQehEFByzbftmp08VGyM70jI1HGGZGfCNXjKNy51e/bDedbJtYUxwpsaPcgn3Vs2t7Ha1IOdZf07JnD/qgcMOj/LPkud2m730zDmOYRqHNLSPJ2a8/L5LOser4+PDNb1HtCvI62uv/Hl9FM3d2pXlT/8AkYxwqMY4eZADvdU80CdIU1cmxNttTgKNB5BPxulrG8y9wj0krn/rXS/Hw9dh7Pe0v7ZU+z1qYp1jic0sksfvcADm06mJO/NdBVJ2K7M2WCp376hq1sGHQCmyYxFo1nIiSdCcgrsvVx3O3j5ZvQiItMvyLs+zDRceIef5YUjZagbPIBEWqN6pa4E8AvaFrJ1+afxH4hEUWxN3W+XjEZJ7s+RDY1WNtphxPMjp/cIisc+USd0PON2erAfWCluJdRczfPviARFKnFtUzgE7mj1gSfVVczUqZwS948pP5oii8PV1oVYbHBxHkJAWd9cwegRFqM17Uh7HNO8Eeu9b90dkVnAa6tUqVZAMCGNzE83e6Is2N8VvuzZmzWf/ALNFjT96Jd/EZPupNERoREQEREBERAREQEREBERAWOrQa74mh3UA/VEQY6dgptzbTYDya0fQLYREwEREBERB/9k="/>
          <p:cNvSpPr>
            <a:spLocks noChangeAspect="1" noChangeArrowheads="1"/>
          </p:cNvSpPr>
          <p:nvPr/>
        </p:nvSpPr>
        <p:spPr bwMode="auto">
          <a:xfrm>
            <a:off x="-35719" y="-136525"/>
            <a:ext cx="3429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nl-NL"/>
          </a:p>
        </p:txBody>
      </p:sp>
    </p:spTree>
    <p:extLst>
      <p:ext uri="{BB962C8B-B14F-4D97-AF65-F5344CB8AC3E}">
        <p14:creationId xmlns:p14="http://schemas.microsoft.com/office/powerpoint/2010/main" val="943329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4"/>
          <p:cNvSpPr>
            <a:spLocks noGrp="1" noChangeArrowheads="1"/>
          </p:cNvSpPr>
          <p:nvPr>
            <p:ph type="title"/>
          </p:nvPr>
        </p:nvSpPr>
        <p:spPr/>
        <p:txBody>
          <a:bodyPr/>
          <a:lstStyle/>
          <a:p>
            <a:pPr eaLnBrk="1" hangingPunct="1"/>
            <a:r>
              <a:rPr lang="en-GB" noProof="0" dirty="0">
                <a:latin typeface="Arial" charset="0"/>
                <a:cs typeface="Arial" charset="0"/>
              </a:rPr>
              <a:t>Hypothesis Testing</a:t>
            </a:r>
            <a:endParaRPr lang="en-GB" sz="2400" noProof="0" dirty="0">
              <a:latin typeface="Arial" charset="0"/>
              <a:cs typeface="Arial" charset="0"/>
            </a:endParaRPr>
          </a:p>
        </p:txBody>
      </p:sp>
      <p:sp>
        <p:nvSpPr>
          <p:cNvPr id="12292" name="Tijdelijke aanduiding voor inhoud 6"/>
          <p:cNvSpPr>
            <a:spLocks noGrp="1"/>
          </p:cNvSpPr>
          <p:nvPr>
            <p:ph idx="1"/>
          </p:nvPr>
        </p:nvSpPr>
        <p:spPr/>
        <p:txBody>
          <a:bodyPr/>
          <a:lstStyle/>
          <a:p>
            <a:pPr eaLnBrk="1" hangingPunct="1"/>
            <a:r>
              <a:rPr lang="en-GB" noProof="0" dirty="0">
                <a:latin typeface="Arial" charset="0"/>
                <a:cs typeface="Arial" charset="0"/>
              </a:rPr>
              <a:t>Benefits of hypothesis testing </a:t>
            </a:r>
          </a:p>
          <a:p>
            <a:pPr eaLnBrk="1" hangingPunct="1"/>
            <a:endParaRPr lang="en-GB" sz="1800" noProof="0" dirty="0">
              <a:latin typeface="Arial" charset="0"/>
              <a:cs typeface="Arial" charset="0"/>
            </a:endParaRPr>
          </a:p>
          <a:p>
            <a:pPr lvl="1" eaLnBrk="1" hangingPunct="1">
              <a:buClrTx/>
            </a:pPr>
            <a:r>
              <a:rPr lang="en-GB" noProof="0" dirty="0">
                <a:latin typeface="Arial" charset="0"/>
                <a:cs typeface="Arial" charset="0"/>
              </a:rPr>
              <a:t>Helps to carefully handle uncertainties</a:t>
            </a:r>
          </a:p>
          <a:p>
            <a:pPr lvl="1" eaLnBrk="1" hangingPunct="1">
              <a:buClrTx/>
            </a:pPr>
            <a:endParaRPr lang="en-GB" noProof="0" dirty="0">
              <a:latin typeface="Arial" charset="0"/>
              <a:cs typeface="Arial" charset="0"/>
            </a:endParaRPr>
          </a:p>
          <a:p>
            <a:pPr lvl="1" eaLnBrk="1" hangingPunct="1">
              <a:buClrTx/>
            </a:pPr>
            <a:r>
              <a:rPr lang="en-GB" noProof="0" dirty="0">
                <a:latin typeface="Arial" charset="0"/>
                <a:cs typeface="Arial" charset="0"/>
              </a:rPr>
              <a:t>Prevents subjective interpretations</a:t>
            </a:r>
          </a:p>
          <a:p>
            <a:pPr lvl="1" eaLnBrk="1" hangingPunct="1">
              <a:buClrTx/>
            </a:pPr>
            <a:endParaRPr lang="en-GB" noProof="0" dirty="0">
              <a:latin typeface="Arial" charset="0"/>
              <a:cs typeface="Arial" charset="0"/>
            </a:endParaRPr>
          </a:p>
          <a:p>
            <a:pPr lvl="1" eaLnBrk="1" hangingPunct="1">
              <a:buClrTx/>
            </a:pPr>
            <a:r>
              <a:rPr lang="en-GB" noProof="0" dirty="0">
                <a:latin typeface="Arial" charset="0"/>
                <a:cs typeface="Arial" charset="0"/>
              </a:rPr>
              <a:t>Helps when making risky decisions</a:t>
            </a:r>
          </a:p>
          <a:p>
            <a:pPr lvl="1" eaLnBrk="1" hangingPunct="1">
              <a:buClrTx/>
            </a:pPr>
            <a:endParaRPr lang="en-GB" noProof="0" dirty="0">
              <a:latin typeface="Arial" charset="0"/>
              <a:cs typeface="Arial" charset="0"/>
            </a:endParaRPr>
          </a:p>
          <a:p>
            <a:pPr lvl="1" eaLnBrk="1" hangingPunct="1">
              <a:buClrTx/>
            </a:pPr>
            <a:r>
              <a:rPr lang="en-GB" noProof="0" dirty="0">
                <a:latin typeface="Arial" charset="0"/>
                <a:cs typeface="Arial" charset="0"/>
              </a:rPr>
              <a:t>Statistically quantifies the uncertainty</a:t>
            </a:r>
          </a:p>
          <a:p>
            <a:pPr lvl="1" eaLnBrk="1" hangingPunct="1"/>
            <a:endParaRPr lang="en-GB" noProof="0" dirty="0">
              <a:latin typeface="Arial" charset="0"/>
              <a:cs typeface="Arial" charset="0"/>
            </a:endParaRPr>
          </a:p>
        </p:txBody>
      </p:sp>
      <p:pic>
        <p:nvPicPr>
          <p:cNvPr id="7" name="Afbeelding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06707" y="4799517"/>
            <a:ext cx="2932551" cy="1737808"/>
          </a:xfrm>
          <a:prstGeom prst="rect">
            <a:avLst/>
          </a:prstGeom>
        </p:spPr>
      </p:pic>
    </p:spTree>
    <p:extLst>
      <p:ext uri="{BB962C8B-B14F-4D97-AF65-F5344CB8AC3E}">
        <p14:creationId xmlns:p14="http://schemas.microsoft.com/office/powerpoint/2010/main" val="2160457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Text Box 2"/>
          <p:cNvSpPr txBox="1">
            <a:spLocks noChangeArrowheads="1"/>
          </p:cNvSpPr>
          <p:nvPr/>
        </p:nvSpPr>
        <p:spPr bwMode="auto">
          <a:xfrm>
            <a:off x="1114425" y="3124200"/>
            <a:ext cx="3914854" cy="2031325"/>
          </a:xfrm>
          <a:prstGeom prst="rect">
            <a:avLst/>
          </a:prstGeom>
          <a:noFill/>
          <a:ln w="9525">
            <a:noFill/>
            <a:miter lim="800000"/>
            <a:headEnd/>
            <a:tailEnd/>
          </a:ln>
        </p:spPr>
        <p:txBody>
          <a:bodyPr wrap="none">
            <a:spAutoFit/>
          </a:bodyPr>
          <a:lstStyle/>
          <a:p>
            <a:endParaRPr lang="en-GB" b="1" dirty="0">
              <a:latin typeface="Arial" panose="020B0604020202020204" pitchFamily="34" charset="0"/>
              <a:cs typeface="Arial" panose="020B0604020202020204" pitchFamily="34" charset="0"/>
            </a:endParaRPr>
          </a:p>
          <a:p>
            <a:endParaRPr lang="en-GB" b="1" dirty="0">
              <a:latin typeface="Arial" panose="020B0604020202020204" pitchFamily="34" charset="0"/>
              <a:cs typeface="Arial" panose="020B0604020202020204" pitchFamily="34" charset="0"/>
            </a:endParaRPr>
          </a:p>
          <a:p>
            <a:endParaRPr lang="en-GB" b="1" dirty="0">
              <a:latin typeface="Arial" panose="020B06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Population parameters</a:t>
            </a:r>
          </a:p>
          <a:p>
            <a:endParaRPr lang="en-GB" dirty="0">
              <a:latin typeface="Arial" panose="020B06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µ = Population mean</a:t>
            </a:r>
          </a:p>
          <a:p>
            <a:r>
              <a:rPr lang="en-GB" b="1" dirty="0">
                <a:latin typeface="Arial" panose="020B0604020202020204" pitchFamily="34" charset="0"/>
                <a:cs typeface="Arial" panose="020B0604020202020204" pitchFamily="34" charset="0"/>
              </a:rPr>
              <a:t>σ = Population standard deviation</a:t>
            </a:r>
          </a:p>
        </p:txBody>
      </p:sp>
      <p:sp>
        <p:nvSpPr>
          <p:cNvPr id="1031" name="Text Box 3"/>
          <p:cNvSpPr txBox="1">
            <a:spLocks noChangeArrowheads="1"/>
          </p:cNvSpPr>
          <p:nvPr/>
        </p:nvSpPr>
        <p:spPr bwMode="auto">
          <a:xfrm>
            <a:off x="6009680" y="3124200"/>
            <a:ext cx="3512500" cy="2031325"/>
          </a:xfrm>
          <a:prstGeom prst="rect">
            <a:avLst/>
          </a:prstGeom>
          <a:noFill/>
          <a:ln w="9525">
            <a:noFill/>
            <a:miter lim="800000"/>
            <a:headEnd/>
            <a:tailEnd/>
          </a:ln>
        </p:spPr>
        <p:txBody>
          <a:bodyPr wrap="none">
            <a:spAutoFit/>
          </a:bodyPr>
          <a:lstStyle/>
          <a:p>
            <a:endParaRPr lang="en-GB" b="1" dirty="0">
              <a:latin typeface="Arial" panose="020B0604020202020204" pitchFamily="34" charset="0"/>
              <a:cs typeface="Arial" panose="020B0604020202020204" pitchFamily="34" charset="0"/>
            </a:endParaRPr>
          </a:p>
          <a:p>
            <a:endParaRPr lang="en-GB" b="1" dirty="0">
              <a:latin typeface="Arial" panose="020B0604020202020204" pitchFamily="34" charset="0"/>
              <a:cs typeface="Arial" panose="020B0604020202020204" pitchFamily="34" charset="0"/>
            </a:endParaRPr>
          </a:p>
          <a:p>
            <a:endParaRPr lang="en-GB" b="1" dirty="0">
              <a:latin typeface="Arial" panose="020B06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Sample statistics</a:t>
            </a:r>
          </a:p>
          <a:p>
            <a:endParaRPr lang="en-GB" dirty="0">
              <a:latin typeface="Arial" panose="020B0604020202020204" pitchFamily="34" charset="0"/>
              <a:cs typeface="Arial" panose="020B0604020202020204" pitchFamily="34" charset="0"/>
            </a:endParaRPr>
          </a:p>
          <a:p>
            <a:r>
              <a:rPr lang="en-GB" b="1" dirty="0">
                <a:latin typeface="Arial" panose="020B0604020202020204" pitchFamily="34" charset="0"/>
                <a:cs typeface="Arial" panose="020B0604020202020204" pitchFamily="34" charset="0"/>
              </a:rPr>
              <a:t>x̅ = Sample mean</a:t>
            </a:r>
          </a:p>
          <a:p>
            <a:r>
              <a:rPr lang="en-GB" b="1" dirty="0">
                <a:latin typeface="Arial" panose="020B0604020202020204" pitchFamily="34" charset="0"/>
                <a:cs typeface="Arial" panose="020B0604020202020204" pitchFamily="34" charset="0"/>
              </a:rPr>
              <a:t>s = Sample standard deviation</a:t>
            </a:r>
          </a:p>
        </p:txBody>
      </p:sp>
      <p:sp>
        <p:nvSpPr>
          <p:cNvPr id="1032" name="Rectangle 9"/>
          <p:cNvSpPr>
            <a:spLocks noGrp="1" noChangeArrowheads="1"/>
          </p:cNvSpPr>
          <p:nvPr>
            <p:ph type="title"/>
          </p:nvPr>
        </p:nvSpPr>
        <p:spPr/>
        <p:txBody>
          <a:bodyPr/>
          <a:lstStyle/>
          <a:p>
            <a:pPr eaLnBrk="1" hangingPunct="1"/>
            <a:r>
              <a:rPr lang="en-GB">
                <a:latin typeface="Arial" charset="0"/>
                <a:cs typeface="Arial" charset="0"/>
              </a:rPr>
              <a:t>Hypothesis Testing</a:t>
            </a:r>
            <a:endParaRPr sz="2400">
              <a:latin typeface="Arial" charset="0"/>
              <a:cs typeface="Arial" charset="0"/>
              <a:sym typeface="Symbol" pitchFamily="18" charset="2"/>
            </a:endParaRPr>
          </a:p>
        </p:txBody>
      </p:sp>
      <p:grpSp>
        <p:nvGrpSpPr>
          <p:cNvPr id="2" name="Group 11"/>
          <p:cNvGrpSpPr>
            <a:grpSpLocks/>
          </p:cNvGrpSpPr>
          <p:nvPr/>
        </p:nvGrpSpPr>
        <p:grpSpPr bwMode="auto">
          <a:xfrm>
            <a:off x="1114425" y="1968624"/>
            <a:ext cx="7372350" cy="1676400"/>
            <a:chOff x="576" y="1200"/>
            <a:chExt cx="4128" cy="1056"/>
          </a:xfrm>
        </p:grpSpPr>
        <p:sp>
          <p:nvSpPr>
            <p:cNvPr id="1038" name="Rectangle 12"/>
            <p:cNvSpPr>
              <a:spLocks noChangeArrowheads="1"/>
            </p:cNvSpPr>
            <p:nvPr/>
          </p:nvSpPr>
          <p:spPr bwMode="auto">
            <a:xfrm>
              <a:off x="576" y="1200"/>
              <a:ext cx="1680" cy="1056"/>
            </a:xfrm>
            <a:prstGeom prst="rect">
              <a:avLst/>
            </a:prstGeom>
            <a:solidFill>
              <a:schemeClr val="accent1"/>
            </a:solidFill>
            <a:ln w="9525">
              <a:solidFill>
                <a:schemeClr val="tx1"/>
              </a:solidFill>
              <a:miter lim="800000"/>
              <a:headEnd/>
              <a:tailEnd/>
            </a:ln>
          </p:spPr>
          <p:txBody>
            <a:bodyPr wrap="none" anchor="ctr"/>
            <a:lstStyle/>
            <a:p>
              <a:pPr algn="ctr"/>
              <a:r>
                <a:rPr lang="en-GB" b="1">
                  <a:latin typeface="Arial" panose="020B0604020202020204" pitchFamily="34" charset="0"/>
                  <a:cs typeface="Arial" panose="020B0604020202020204" pitchFamily="34" charset="0"/>
                </a:rPr>
                <a:t>Population</a:t>
              </a:r>
            </a:p>
          </p:txBody>
        </p:sp>
        <p:sp>
          <p:nvSpPr>
            <p:cNvPr id="1039" name="Rectangle 13"/>
            <p:cNvSpPr>
              <a:spLocks noChangeArrowheads="1"/>
            </p:cNvSpPr>
            <p:nvPr/>
          </p:nvSpPr>
          <p:spPr bwMode="auto">
            <a:xfrm>
              <a:off x="1536" y="1968"/>
              <a:ext cx="528" cy="192"/>
            </a:xfrm>
            <a:prstGeom prst="rect">
              <a:avLst/>
            </a:prstGeom>
            <a:solidFill>
              <a:schemeClr val="accent1"/>
            </a:solidFill>
            <a:ln w="9525">
              <a:solidFill>
                <a:schemeClr val="tx1"/>
              </a:solidFill>
              <a:miter lim="800000"/>
              <a:headEnd/>
              <a:tailEnd/>
            </a:ln>
          </p:spPr>
          <p:txBody>
            <a:bodyPr wrap="none" anchor="ctr"/>
            <a:lstStyle/>
            <a:p>
              <a:pPr algn="ctr"/>
              <a:r>
                <a:rPr lang="en-GB" sz="1200" b="1">
                  <a:latin typeface="Arial" panose="020B0604020202020204" pitchFamily="34" charset="0"/>
                  <a:cs typeface="Arial" panose="020B0604020202020204" pitchFamily="34" charset="0"/>
                </a:rPr>
                <a:t>Sample</a:t>
              </a:r>
            </a:p>
          </p:txBody>
        </p:sp>
        <p:sp>
          <p:nvSpPr>
            <p:cNvPr id="1040" name="Line 14"/>
            <p:cNvSpPr>
              <a:spLocks noChangeShapeType="1"/>
            </p:cNvSpPr>
            <p:nvPr/>
          </p:nvSpPr>
          <p:spPr bwMode="auto">
            <a:xfrm flipV="1">
              <a:off x="1536" y="1200"/>
              <a:ext cx="2064" cy="768"/>
            </a:xfrm>
            <a:prstGeom prst="line">
              <a:avLst/>
            </a:prstGeom>
            <a:noFill/>
            <a:ln w="9525">
              <a:solidFill>
                <a:schemeClr val="tx1"/>
              </a:solidFill>
              <a:round/>
              <a:headEnd/>
              <a:tailEnd/>
            </a:ln>
          </p:spPr>
          <p:txBody>
            <a:bodyPr/>
            <a:lstStyle/>
            <a:p>
              <a:endParaRPr lang="nl-NL">
                <a:latin typeface="Arial" panose="020B0604020202020204" pitchFamily="34" charset="0"/>
                <a:cs typeface="Arial" panose="020B0604020202020204" pitchFamily="34" charset="0"/>
              </a:endParaRPr>
            </a:p>
          </p:txBody>
        </p:sp>
        <p:sp>
          <p:nvSpPr>
            <p:cNvPr id="1041" name="Line 15"/>
            <p:cNvSpPr>
              <a:spLocks noChangeShapeType="1"/>
            </p:cNvSpPr>
            <p:nvPr/>
          </p:nvSpPr>
          <p:spPr bwMode="auto">
            <a:xfrm flipV="1">
              <a:off x="2064" y="1515"/>
              <a:ext cx="1542" cy="453"/>
            </a:xfrm>
            <a:prstGeom prst="line">
              <a:avLst/>
            </a:prstGeom>
            <a:noFill/>
            <a:ln w="9525">
              <a:solidFill>
                <a:schemeClr val="tx1"/>
              </a:solidFill>
              <a:round/>
              <a:headEnd/>
              <a:tailEnd/>
            </a:ln>
          </p:spPr>
          <p:txBody>
            <a:bodyPr/>
            <a:lstStyle/>
            <a:p>
              <a:endParaRPr lang="nl-NL">
                <a:latin typeface="Arial" panose="020B0604020202020204" pitchFamily="34" charset="0"/>
                <a:cs typeface="Arial" panose="020B0604020202020204" pitchFamily="34" charset="0"/>
              </a:endParaRPr>
            </a:p>
          </p:txBody>
        </p:sp>
        <p:sp>
          <p:nvSpPr>
            <p:cNvPr id="1042" name="Line 16"/>
            <p:cNvSpPr>
              <a:spLocks noChangeShapeType="1"/>
            </p:cNvSpPr>
            <p:nvPr/>
          </p:nvSpPr>
          <p:spPr bwMode="auto">
            <a:xfrm flipV="1">
              <a:off x="2064" y="1824"/>
              <a:ext cx="2640" cy="336"/>
            </a:xfrm>
            <a:prstGeom prst="line">
              <a:avLst/>
            </a:prstGeom>
            <a:noFill/>
            <a:ln w="9525">
              <a:solidFill>
                <a:schemeClr val="tx1"/>
              </a:solidFill>
              <a:round/>
              <a:headEnd/>
              <a:tailEnd/>
            </a:ln>
          </p:spPr>
          <p:txBody>
            <a:bodyPr/>
            <a:lstStyle/>
            <a:p>
              <a:endParaRPr lang="nl-NL">
                <a:latin typeface="Arial" panose="020B0604020202020204" pitchFamily="34" charset="0"/>
                <a:cs typeface="Arial" panose="020B0604020202020204" pitchFamily="34" charset="0"/>
              </a:endParaRPr>
            </a:p>
          </p:txBody>
        </p:sp>
        <p:sp>
          <p:nvSpPr>
            <p:cNvPr id="1043" name="Line 17"/>
            <p:cNvSpPr>
              <a:spLocks noChangeShapeType="1"/>
            </p:cNvSpPr>
            <p:nvPr/>
          </p:nvSpPr>
          <p:spPr bwMode="auto">
            <a:xfrm flipV="1">
              <a:off x="1536" y="1824"/>
              <a:ext cx="2064" cy="336"/>
            </a:xfrm>
            <a:prstGeom prst="line">
              <a:avLst/>
            </a:prstGeom>
            <a:noFill/>
            <a:ln w="9525">
              <a:solidFill>
                <a:schemeClr val="tx1"/>
              </a:solidFill>
              <a:round/>
              <a:headEnd/>
              <a:tailEnd/>
            </a:ln>
          </p:spPr>
          <p:txBody>
            <a:bodyPr/>
            <a:lstStyle/>
            <a:p>
              <a:endParaRPr lang="nl-NL">
                <a:latin typeface="Arial" panose="020B0604020202020204" pitchFamily="34" charset="0"/>
                <a:cs typeface="Arial" panose="020B0604020202020204" pitchFamily="34" charset="0"/>
              </a:endParaRPr>
            </a:p>
          </p:txBody>
        </p:sp>
        <p:sp>
          <p:nvSpPr>
            <p:cNvPr id="1044" name="Rectangle 18"/>
            <p:cNvSpPr>
              <a:spLocks noChangeArrowheads="1"/>
            </p:cNvSpPr>
            <p:nvPr/>
          </p:nvSpPr>
          <p:spPr bwMode="auto">
            <a:xfrm>
              <a:off x="3600" y="1200"/>
              <a:ext cx="1104" cy="624"/>
            </a:xfrm>
            <a:prstGeom prst="rect">
              <a:avLst/>
            </a:prstGeom>
            <a:solidFill>
              <a:schemeClr val="accent1">
                <a:alpha val="59999"/>
              </a:schemeClr>
            </a:solidFill>
            <a:ln w="9525">
              <a:solidFill>
                <a:schemeClr val="tx1"/>
              </a:solidFill>
              <a:miter lim="800000"/>
              <a:headEnd/>
              <a:tailEnd/>
            </a:ln>
          </p:spPr>
          <p:txBody>
            <a:bodyPr wrap="none" anchor="ctr"/>
            <a:lstStyle/>
            <a:p>
              <a:pPr algn="ctr"/>
              <a:r>
                <a:rPr lang="en-GB" b="1">
                  <a:latin typeface="Arial" panose="020B0604020202020204" pitchFamily="34" charset="0"/>
                  <a:cs typeface="Arial" panose="020B0604020202020204" pitchFamily="34" charset="0"/>
                </a:rPr>
                <a:t>Sample</a:t>
              </a:r>
            </a:p>
          </p:txBody>
        </p:sp>
      </p:grpSp>
      <p:sp>
        <p:nvSpPr>
          <p:cNvPr id="1036" name="Rectangle 20"/>
          <p:cNvSpPr>
            <a:spLocks noChangeArrowheads="1"/>
          </p:cNvSpPr>
          <p:nvPr/>
        </p:nvSpPr>
        <p:spPr bwMode="auto">
          <a:xfrm>
            <a:off x="769740" y="1412876"/>
            <a:ext cx="8906470" cy="5038725"/>
          </a:xfrm>
          <a:prstGeom prst="rect">
            <a:avLst/>
          </a:prstGeom>
          <a:noFill/>
          <a:ln w="9525">
            <a:noFill/>
            <a:miter lim="800000"/>
            <a:headEnd/>
            <a:tailEnd/>
          </a:ln>
        </p:spPr>
        <p:txBody>
          <a:bodyPr/>
          <a:lstStyle/>
          <a:p>
            <a:pPr>
              <a:spcBef>
                <a:spcPct val="20000"/>
              </a:spcBef>
              <a:buFont typeface="Arial" charset="0"/>
              <a:buNone/>
            </a:pPr>
            <a:r>
              <a:rPr lang="nl-NL" sz="2400" b="1"/>
              <a:t>	</a:t>
            </a:r>
          </a:p>
        </p:txBody>
      </p:sp>
      <p:sp>
        <p:nvSpPr>
          <p:cNvPr id="1037" name="Rectangle 20"/>
          <p:cNvSpPr>
            <a:spLocks noChangeArrowheads="1"/>
          </p:cNvSpPr>
          <p:nvPr/>
        </p:nvSpPr>
        <p:spPr bwMode="auto">
          <a:xfrm>
            <a:off x="1051918" y="1654176"/>
            <a:ext cx="8906470" cy="5038725"/>
          </a:xfrm>
          <a:prstGeom prst="rect">
            <a:avLst/>
          </a:prstGeom>
          <a:noFill/>
          <a:ln w="9525">
            <a:noFill/>
            <a:miter lim="800000"/>
            <a:headEnd/>
            <a:tailEnd/>
          </a:ln>
        </p:spPr>
        <p:txBody>
          <a:bodyPr/>
          <a:lstStyle/>
          <a:p>
            <a:pPr>
              <a:spcBef>
                <a:spcPct val="20000"/>
              </a:spcBef>
              <a:buFont typeface="Arial" charset="0"/>
              <a:buNone/>
            </a:pPr>
            <a:r>
              <a:rPr lang="nl-NL" sz="2400" b="1"/>
              <a:t>	</a:t>
            </a:r>
          </a:p>
        </p:txBody>
      </p:sp>
    </p:spTree>
    <p:extLst>
      <p:ext uri="{BB962C8B-B14F-4D97-AF65-F5344CB8AC3E}">
        <p14:creationId xmlns:p14="http://schemas.microsoft.com/office/powerpoint/2010/main" val="4120655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7" name="Picture 5"/>
          <p:cNvPicPr>
            <a:picLocks noChangeAspect="1" noChangeArrowheads="1"/>
          </p:cNvPicPr>
          <p:nvPr/>
        </p:nvPicPr>
        <p:blipFill>
          <a:blip r:embed="rId3" cstate="print"/>
          <a:srcRect/>
          <a:stretch>
            <a:fillRect/>
          </a:stretch>
        </p:blipFill>
        <p:spPr bwMode="auto">
          <a:xfrm>
            <a:off x="5305518" y="3944578"/>
            <a:ext cx="4250490" cy="2721938"/>
          </a:xfrm>
          <a:prstGeom prst="rect">
            <a:avLst/>
          </a:prstGeom>
          <a:noFill/>
          <a:ln w="9525">
            <a:noFill/>
            <a:miter lim="800000"/>
            <a:headEnd/>
            <a:tailEnd/>
          </a:ln>
        </p:spPr>
      </p:pic>
      <p:sp>
        <p:nvSpPr>
          <p:cNvPr id="8194" name="Titel 6"/>
          <p:cNvSpPr>
            <a:spLocks noGrp="1"/>
          </p:cNvSpPr>
          <p:nvPr>
            <p:ph type="title" idx="4294967295"/>
          </p:nvPr>
        </p:nvSpPr>
        <p:spPr/>
        <p:txBody>
          <a:bodyPr/>
          <a:lstStyle/>
          <a:p>
            <a:pPr eaLnBrk="1" hangingPunct="1"/>
            <a:r>
              <a:rPr lang="en-GB" dirty="0">
                <a:latin typeface="Arial" charset="0"/>
                <a:cs typeface="Arial" charset="0"/>
              </a:rPr>
              <a:t>Hypothesis Testing</a:t>
            </a:r>
            <a:endParaRPr dirty="0">
              <a:latin typeface="Arial" charset="0"/>
              <a:cs typeface="Arial" charset="0"/>
            </a:endParaRPr>
          </a:p>
        </p:txBody>
      </p:sp>
      <p:sp>
        <p:nvSpPr>
          <p:cNvPr id="8195" name="Tijdelijke aanduiding voor inhoud 7"/>
          <p:cNvSpPr>
            <a:spLocks noGrp="1"/>
          </p:cNvSpPr>
          <p:nvPr>
            <p:ph idx="4294967295"/>
          </p:nvPr>
        </p:nvSpPr>
        <p:spPr>
          <a:xfrm>
            <a:off x="810816" y="1439863"/>
            <a:ext cx="8910043" cy="5229225"/>
          </a:xfrm>
        </p:spPr>
        <p:txBody>
          <a:bodyPr/>
          <a:lstStyle/>
          <a:p>
            <a:pPr eaLnBrk="1" hangingPunct="1"/>
            <a:r>
              <a:rPr lang="en-GB" dirty="0">
                <a:latin typeface="Arial" charset="0"/>
                <a:cs typeface="Arial" charset="0"/>
              </a:rPr>
              <a:t>Confidence interval</a:t>
            </a:r>
          </a:p>
          <a:p>
            <a:pPr lvl="1" eaLnBrk="1" hangingPunct="1">
              <a:buClrTx/>
            </a:pPr>
            <a:endParaRPr lang="en-GB" dirty="0">
              <a:latin typeface="Arial" charset="0"/>
              <a:cs typeface="Arial" charset="0"/>
            </a:endParaRPr>
          </a:p>
          <a:p>
            <a:pPr lvl="1" eaLnBrk="1" hangingPunct="1">
              <a:buClrTx/>
            </a:pPr>
            <a:r>
              <a:rPr lang="en-GB" dirty="0">
                <a:latin typeface="Arial" charset="0"/>
                <a:cs typeface="Arial" charset="0"/>
              </a:rPr>
              <a:t>Statistics such as the average ( X̅ ) and standard deviation (s) of the sample are only estimators, not the real values!</a:t>
            </a:r>
          </a:p>
          <a:p>
            <a:pPr lvl="1" eaLnBrk="1" hangingPunct="1">
              <a:buClrTx/>
            </a:pPr>
            <a:endParaRPr lang="en-GB" dirty="0">
              <a:latin typeface="Arial" charset="0"/>
              <a:cs typeface="Arial" charset="0"/>
            </a:endParaRPr>
          </a:p>
          <a:p>
            <a:pPr lvl="1" eaLnBrk="1" hangingPunct="1">
              <a:buClrTx/>
            </a:pPr>
            <a:r>
              <a:rPr lang="en-GB" dirty="0">
                <a:latin typeface="Arial" charset="0"/>
                <a:cs typeface="Arial" charset="0"/>
              </a:rPr>
              <a:t>From sample to sample these estimates will differ</a:t>
            </a:r>
          </a:p>
          <a:p>
            <a:pPr lvl="1" eaLnBrk="1" hangingPunct="1">
              <a:buClrTx/>
            </a:pPr>
            <a:endParaRPr lang="en-GB" dirty="0">
              <a:latin typeface="Arial" charset="0"/>
              <a:cs typeface="Arial" charset="0"/>
            </a:endParaRPr>
          </a:p>
          <a:p>
            <a:pPr lvl="1" eaLnBrk="1" hangingPunct="1">
              <a:buClrTx/>
            </a:pPr>
            <a:r>
              <a:rPr lang="en-GB" dirty="0">
                <a:latin typeface="Arial" charset="0"/>
                <a:cs typeface="Arial" charset="0"/>
              </a:rPr>
              <a:t>A so-called confidence interval indicates how reliable the estimate is</a:t>
            </a:r>
          </a:p>
          <a:p>
            <a:pPr lvl="1" eaLnBrk="1" hangingPunct="1">
              <a:buClrTx/>
            </a:pPr>
            <a:endParaRPr lang="en-GB" dirty="0">
              <a:latin typeface="Arial" charset="0"/>
              <a:cs typeface="Arial" charset="0"/>
            </a:endParaRPr>
          </a:p>
          <a:p>
            <a:pPr lvl="1" eaLnBrk="1" hangingPunct="1">
              <a:buClrTx/>
            </a:pPr>
            <a:r>
              <a:rPr lang="en-GB" dirty="0">
                <a:latin typeface="Arial" charset="0"/>
                <a:cs typeface="Arial" charset="0"/>
              </a:rPr>
              <a:t>95% is often used as confidence level</a:t>
            </a:r>
          </a:p>
        </p:txBody>
      </p:sp>
    </p:spTree>
    <p:extLst>
      <p:ext uri="{BB962C8B-B14F-4D97-AF65-F5344CB8AC3E}">
        <p14:creationId xmlns:p14="http://schemas.microsoft.com/office/powerpoint/2010/main" val="3906988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GB" altLang="nl-NL" dirty="0"/>
              <a:t>Hypothesis Testing</a:t>
            </a:r>
            <a:endParaRPr altLang="nl-NL" dirty="0"/>
          </a:p>
        </p:txBody>
      </p:sp>
      <p:sp>
        <p:nvSpPr>
          <p:cNvPr id="8195" name="Rectangle 3"/>
          <p:cNvSpPr>
            <a:spLocks noGrp="1" noChangeArrowheads="1"/>
          </p:cNvSpPr>
          <p:nvPr>
            <p:ph idx="1"/>
          </p:nvPr>
        </p:nvSpPr>
        <p:spPr/>
        <p:txBody>
          <a:bodyPr/>
          <a:lstStyle/>
          <a:p>
            <a:pPr marL="0" indent="0" eaLnBrk="1" hangingPunct="1"/>
            <a:r>
              <a:rPr lang="en-GB" altLang="nl-NL" dirty="0"/>
              <a:t>Influence of the sample size</a:t>
            </a:r>
          </a:p>
          <a:p>
            <a:pPr lvl="1" eaLnBrk="1" hangingPunct="1"/>
            <a:endParaRPr lang="nl-NL" altLang="nl-NL" dirty="0"/>
          </a:p>
          <a:p>
            <a:pPr lvl="1" eaLnBrk="1" hangingPunct="1"/>
            <a:endParaRPr lang="nl-NL" altLang="nl-NL" dirty="0"/>
          </a:p>
          <a:p>
            <a:pPr lvl="1" eaLnBrk="1" hangingPunct="1"/>
            <a:endParaRPr lang="nl-NL" altLang="nl-NL" dirty="0"/>
          </a:p>
          <a:p>
            <a:pPr lvl="1" eaLnBrk="1" hangingPunct="1"/>
            <a:endParaRPr lang="nl-NL" altLang="nl-NL" dirty="0"/>
          </a:p>
          <a:p>
            <a:pPr lvl="1" eaLnBrk="1" hangingPunct="1"/>
            <a:endParaRPr lang="nl-NL" altLang="nl-NL" dirty="0"/>
          </a:p>
          <a:p>
            <a:pPr lvl="1" eaLnBrk="1" hangingPunct="1"/>
            <a:endParaRPr lang="nl-NL" altLang="nl-NL" dirty="0"/>
          </a:p>
          <a:p>
            <a:pPr lvl="1" eaLnBrk="1" hangingPunct="1"/>
            <a:endParaRPr lang="nl-NL" altLang="nl-NL" dirty="0"/>
          </a:p>
          <a:p>
            <a:pPr lvl="1" eaLnBrk="1" hangingPunct="1"/>
            <a:endParaRPr lang="nl-NL" altLang="nl-NL" dirty="0"/>
          </a:p>
          <a:p>
            <a:pPr lvl="1" eaLnBrk="1" hangingPunct="1"/>
            <a:endParaRPr lang="nl-NL" altLang="nl-NL" dirty="0"/>
          </a:p>
          <a:p>
            <a:pPr lvl="1" eaLnBrk="1" hangingPunct="1"/>
            <a:endParaRPr lang="nl-NL" altLang="nl-NL" dirty="0"/>
          </a:p>
          <a:p>
            <a:pPr lvl="1" eaLnBrk="1" hangingPunct="1"/>
            <a:endParaRPr lang="nl-NL" altLang="nl-NL" dirty="0"/>
          </a:p>
          <a:p>
            <a:pPr lvl="1" eaLnBrk="1" hangingPunct="1"/>
            <a:endParaRPr lang="nl-NL" altLang="nl-NL" dirty="0"/>
          </a:p>
          <a:p>
            <a:pPr lvl="1" eaLnBrk="1" hangingPunct="1"/>
            <a:endParaRPr lang="nl-NL" altLang="nl-NL" dirty="0"/>
          </a:p>
          <a:p>
            <a:pPr lvl="1" eaLnBrk="1" hangingPunct="1"/>
            <a:endParaRPr lang="nl-NL" altLang="nl-NL" dirty="0"/>
          </a:p>
        </p:txBody>
      </p:sp>
      <p:pic>
        <p:nvPicPr>
          <p:cNvPr id="599044" name="Picture 4"/>
          <p:cNvPicPr>
            <a:picLocks noChangeAspect="1" noChangeArrowheads="1"/>
          </p:cNvPicPr>
          <p:nvPr/>
        </p:nvPicPr>
        <p:blipFill>
          <a:blip r:embed="rId3" cstate="print"/>
          <a:srcRect/>
          <a:stretch>
            <a:fillRect/>
          </a:stretch>
        </p:blipFill>
        <p:spPr bwMode="auto">
          <a:xfrm>
            <a:off x="1336077" y="1916833"/>
            <a:ext cx="7776864" cy="458328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335671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VSECTIONID" val="OexwmimBGgFmZuVmeHyQtd"/>
</p:tagLst>
</file>

<file path=ppt/tags/tag2.xml><?xml version="1.0" encoding="utf-8"?>
<p:tagLst xmlns:a="http://schemas.openxmlformats.org/drawingml/2006/main" xmlns:r="http://schemas.openxmlformats.org/officeDocument/2006/relationships" xmlns:p="http://schemas.openxmlformats.org/presentationml/2006/main">
  <p:tag name="DVSHAPEID" val="mNdtzLtTcuZmHjjk4mqTci"/>
</p:tagLst>
</file>

<file path=ppt/tags/tag3.xml><?xml version="1.0" encoding="utf-8"?>
<p:tagLst xmlns:a="http://schemas.openxmlformats.org/drawingml/2006/main" xmlns:r="http://schemas.openxmlformats.org/officeDocument/2006/relationships" xmlns:p="http://schemas.openxmlformats.org/presentationml/2006/main">
  <p:tag name="DVSHAPEID" val="iSx0OYRkN9eWKwEuAehIcl"/>
</p:tagLst>
</file>

<file path=ppt/tags/tag4.xml><?xml version="1.0" encoding="utf-8"?>
<p:tagLst xmlns:a="http://schemas.openxmlformats.org/drawingml/2006/main" xmlns:r="http://schemas.openxmlformats.org/officeDocument/2006/relationships" xmlns:p="http://schemas.openxmlformats.org/presentationml/2006/main">
  <p:tag name="DVSECTIONID" val="GWFgfdy7iYQEgM3c47XXfu"/>
</p:tagLst>
</file>

<file path=ppt/tags/tag5.xml><?xml version="1.0" encoding="utf-8"?>
<p:tagLst xmlns:a="http://schemas.openxmlformats.org/drawingml/2006/main" xmlns:r="http://schemas.openxmlformats.org/officeDocument/2006/relationships" xmlns:p="http://schemas.openxmlformats.org/presentationml/2006/main">
  <p:tag name="DVSHAPEID" val="WEbIorXV29v3ukWyWu2RGP"/>
</p:tagLst>
</file>

<file path=ppt/tags/tag6.xml><?xml version="1.0" encoding="utf-8"?>
<p:tagLst xmlns:a="http://schemas.openxmlformats.org/drawingml/2006/main" xmlns:r="http://schemas.openxmlformats.org/officeDocument/2006/relationships" xmlns:p="http://schemas.openxmlformats.org/presentationml/2006/main">
  <p:tag name="DVSHAPEID" val="7LzNGAMbBu5XWSP6zqnR65"/>
</p:tagLst>
</file>

<file path=ppt/tags/tag7.xml><?xml version="1.0" encoding="utf-8"?>
<p:tagLst xmlns:a="http://schemas.openxmlformats.org/drawingml/2006/main" xmlns:r="http://schemas.openxmlformats.org/officeDocument/2006/relationships" xmlns:p="http://schemas.openxmlformats.org/presentationml/2006/main">
  <p:tag name="DVSHAPEID" val="qG1jy1iMGlE6wp8BKn9Rx1"/>
</p:tagLst>
</file>

<file path=ppt/tags/tag8.xml><?xml version="1.0" encoding="utf-8"?>
<p:tagLst xmlns:a="http://schemas.openxmlformats.org/drawingml/2006/main" xmlns:r="http://schemas.openxmlformats.org/officeDocument/2006/relationships" xmlns:p="http://schemas.openxmlformats.org/presentationml/2006/main">
  <p:tag name="DVSECTIONID" val="vld8j1CrTwXbbeTZCCV9Yo"/>
</p:tagLst>
</file>

<file path=ppt/tags/tag9.xml><?xml version="1.0" encoding="utf-8"?>
<p:tagLst xmlns:a="http://schemas.openxmlformats.org/drawingml/2006/main" xmlns:r="http://schemas.openxmlformats.org/officeDocument/2006/relationships" xmlns:p="http://schemas.openxmlformats.org/presentationml/2006/main">
  <p:tag name="DVSHAPEID" val="tV9iqvsqYKUttSlH7gEjgQ"/>
</p:tagLst>
</file>

<file path=ppt/tags/tag10.xml><?xml version="1.0" encoding="utf-8"?>
<p:tagLst xmlns:a="http://schemas.openxmlformats.org/drawingml/2006/main" xmlns:r="http://schemas.openxmlformats.org/officeDocument/2006/relationships" xmlns:p="http://schemas.openxmlformats.org/presentationml/2006/main">
  <p:tag name="DVSHAPEID" val="cwenPYBT7nHS086xXPVyJs"/>
</p:tagLst>
</file>

<file path=ppt/theme/theme1.xml><?xml version="1.0" encoding="utf-8"?>
<a:theme xmlns:a="http://schemas.openxmlformats.org/drawingml/2006/main" name="LSSH">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rgbClr val="C4172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557</TotalTime>
  <Words>1675</Words>
  <Application>Microsoft Office PowerPoint</Application>
  <PresentationFormat>35-mm diapozitivi</PresentationFormat>
  <Paragraphs>190</Paragraphs>
  <Slides>15</Slides>
  <Notes>15</Notes>
  <HiddenSlides>0</HiddenSlides>
  <MMClips>0</MMClips>
  <ScaleCrop>false</ScaleCrop>
  <HeadingPairs>
    <vt:vector size="6" baseType="variant">
      <vt:variant>
        <vt:lpstr>Uporabljene pisave</vt:lpstr>
      </vt:variant>
      <vt:variant>
        <vt:i4>4</vt:i4>
      </vt:variant>
      <vt:variant>
        <vt:lpstr>Tema</vt:lpstr>
      </vt:variant>
      <vt:variant>
        <vt:i4>1</vt:i4>
      </vt:variant>
      <vt:variant>
        <vt:lpstr>Naslovi diapozitivov</vt:lpstr>
      </vt:variant>
      <vt:variant>
        <vt:i4>15</vt:i4>
      </vt:variant>
    </vt:vector>
  </HeadingPairs>
  <TitlesOfParts>
    <vt:vector size="20" baseType="lpstr">
      <vt:lpstr>18thCentury</vt:lpstr>
      <vt:lpstr>Arial Black</vt:lpstr>
      <vt:lpstr>Calibri</vt:lpstr>
      <vt:lpstr>Arial</vt:lpstr>
      <vt:lpstr>LSSH</vt:lpstr>
      <vt:lpstr>Statistical Analysis  </vt:lpstr>
      <vt:lpstr>Statistical Analysis</vt:lpstr>
      <vt:lpstr>Statistical Analysis</vt:lpstr>
      <vt:lpstr>Statistical Analysis</vt:lpstr>
      <vt:lpstr>Statistical Analysis</vt:lpstr>
      <vt:lpstr>Statistical Analysis</vt:lpstr>
      <vt:lpstr>Statistical Analysis</vt:lpstr>
      <vt:lpstr>Hypothesis Testing  </vt:lpstr>
      <vt:lpstr>Hypothesis Testing</vt:lpstr>
      <vt:lpstr>Hypothesis Testing</vt:lpstr>
      <vt:lpstr>Hypothesis Testing</vt:lpstr>
      <vt:lpstr>Hypothesis Testing</vt:lpstr>
      <vt:lpstr>Hypothesis Testing</vt:lpstr>
      <vt:lpstr>Hypothesis Testing</vt:lpstr>
      <vt:lpstr>Hypothesis Testing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33.YB.UH.U5.E1+E2 Statistical Analysis</dc:title>
  <dc:subject/>
  <dc:creator>Paulien</dc:creator>
  <cp:lastModifiedBy>Milan Zorman</cp:lastModifiedBy>
  <cp:revision>25</cp:revision>
  <dcterms:created xsi:type="dcterms:W3CDTF">2014-02-17T10:18:21Z</dcterms:created>
  <dcterms:modified xsi:type="dcterms:W3CDTF">2021-11-08T07:29:23Z</dcterms:modified>
</cp:coreProperties>
</file>