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6"/>
  </p:notesMasterIdLst>
  <p:handoutMasterIdLst>
    <p:handoutMasterId r:id="rId27"/>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0287000" cy="6858000" type="35mm"/>
  <p:notesSz cx="6858000" cy="9144000"/>
  <p:embeddedFontLst>
    <p:embeddedFont>
      <p:font typeface="Calibri" panose="020F0502020204030204" pitchFamily="34" charset="0"/>
      <p:regular r:id="rId28"/>
      <p:bold r:id="rId29"/>
      <p:italic r:id="rId30"/>
      <p:boldItalic r:id="rId31"/>
    </p:embeddedFont>
    <p:embeddedFont>
      <p:font typeface="Verdana" panose="020B0604030504040204" pitchFamily="34" charset="0"/>
      <p:regular r:id="rId32"/>
      <p:bold r:id="rId33"/>
      <p:italic r:id="rId34"/>
      <p:boldItalic r:id="rId35"/>
    </p:embeddedFont>
    <p:embeddedFont>
      <p:font typeface="Arial Black" panose="020B0A04020102020204" pitchFamily="34" charset="0"/>
      <p:bold r:id="rId36"/>
    </p:embeddedFont>
  </p:embeddedFontLst>
  <p:defaultTextStyle>
    <a:defPPr>
      <a:defRPr lang="nl-NL"/>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1721"/>
    <a:srgbClr val="C00000"/>
    <a:srgbClr val="DD6F11"/>
    <a:srgbClr val="C8B8A4"/>
    <a:srgbClr val="967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46" autoAdjust="0"/>
    <p:restoredTop sz="61248" autoAdjust="0"/>
  </p:normalViewPr>
  <p:slideViewPr>
    <p:cSldViewPr>
      <p:cViewPr>
        <p:scale>
          <a:sx n="80" d="100"/>
          <a:sy n="80" d="100"/>
        </p:scale>
        <p:origin x="1716" y="-990"/>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8989A4C-2693-4C70-B60A-12D3AE94B826}" type="datetimeFigureOut">
              <a:rPr lang="nl-NL"/>
              <a:pPr>
                <a:defRPr/>
              </a:pPr>
              <a:t>7-5-2014</a:t>
            </a:fld>
            <a:endParaRPr lang="nl-NL"/>
          </a:p>
        </p:txBody>
      </p:sp>
      <p:sp>
        <p:nvSpPr>
          <p:cNvPr id="4" name="Tijdelijke aanduiding voor voettekst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5" name="Tijdelijke aanduiding voor dianumm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AB972E82-848F-4C2B-9E9C-92F0F8B0ED52}" type="slidenum">
              <a:rPr lang="nl-NL"/>
              <a:pPr>
                <a:defRPr/>
              </a:pPr>
              <a:t>‹#›</a:t>
            </a:fld>
            <a:endParaRPr lang="nl-NL"/>
          </a:p>
        </p:txBody>
      </p:sp>
    </p:spTree>
    <p:extLst>
      <p:ext uri="{BB962C8B-B14F-4D97-AF65-F5344CB8AC3E}">
        <p14:creationId xmlns:p14="http://schemas.microsoft.com/office/powerpoint/2010/main" val="16558764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A1BCC177-9119-4E9B-9A65-5B95C4B1F579}" type="datetimeFigureOut">
              <a:rPr lang="nl-NL"/>
              <a:pPr>
                <a:defRPr/>
              </a:pPr>
              <a:t>7-5-2014</a:t>
            </a:fld>
            <a:endParaRPr lang="nl-NL"/>
          </a:p>
        </p:txBody>
      </p:sp>
      <p:sp>
        <p:nvSpPr>
          <p:cNvPr id="4" name="Tijdelijke aanduiding voor dia-afbeelding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pPr lvl="0"/>
            <a:endParaRPr lang="nl-NL" noProof="0" smtClean="0"/>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noProof="0" smtClean="0"/>
              <a:t>Klik om de modelstijlen te bewerken</a:t>
            </a:r>
          </a:p>
          <a:p>
            <a:pPr lvl="1"/>
            <a:r>
              <a:rPr lang="nl-NL" noProof="0" smtClean="0"/>
              <a:t>Tweede niveau</a:t>
            </a:r>
          </a:p>
          <a:p>
            <a:pPr lvl="2"/>
            <a:r>
              <a:rPr lang="nl-NL" noProof="0" smtClean="0"/>
              <a:t>Derde niveau</a:t>
            </a:r>
          </a:p>
          <a:p>
            <a:pPr lvl="3"/>
            <a:r>
              <a:rPr lang="nl-NL" noProof="0" smtClean="0"/>
              <a:t>Vierde niveau</a:t>
            </a:r>
          </a:p>
          <a:p>
            <a:pPr lvl="4"/>
            <a:r>
              <a:rPr lang="nl-NL" noProof="0" smtClean="0"/>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62DA2CDB-494A-4A0D-A441-D4B23A9DC47C}" type="slidenum">
              <a:rPr lang="nl-NL"/>
              <a:pPr>
                <a:defRPr/>
              </a:pPr>
              <a:t>‹#›</a:t>
            </a:fld>
            <a:endParaRPr lang="nl-NL"/>
          </a:p>
        </p:txBody>
      </p:sp>
    </p:spTree>
    <p:extLst>
      <p:ext uri="{BB962C8B-B14F-4D97-AF65-F5344CB8AC3E}">
        <p14:creationId xmlns:p14="http://schemas.microsoft.com/office/powerpoint/2010/main" val="10438343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Welcome to this Lean Six Sigma Academy Yellow Belt training module.</a:t>
            </a:r>
          </a:p>
          <a:p>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1</a:t>
            </a:fld>
            <a:endParaRPr lang="nl-NL"/>
          </a:p>
        </p:txBody>
      </p:sp>
    </p:spTree>
    <p:extLst>
      <p:ext uri="{BB962C8B-B14F-4D97-AF65-F5344CB8AC3E}">
        <p14:creationId xmlns:p14="http://schemas.microsoft.com/office/powerpoint/2010/main" val="3558854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 Process Flow chart schematically illustrates the different process steps. It uses standard symbols for the activities and the decision points within a process. Arrows are used to indicate the direction of the flow. There is also a separate symbol for the start and end point, both of which should be clearly defined. </a:t>
            </a:r>
          </a:p>
          <a:p>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2</a:t>
            </a:fld>
            <a:endParaRPr lang="nl-NL"/>
          </a:p>
        </p:txBody>
      </p:sp>
    </p:spTree>
    <p:extLst>
      <p:ext uri="{BB962C8B-B14F-4D97-AF65-F5344CB8AC3E}">
        <p14:creationId xmlns:p14="http://schemas.microsoft.com/office/powerpoint/2010/main" val="2261073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Process thinking is important for understanding of how work is done and how work is connected in an organisation</a:t>
            </a:r>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3</a:t>
            </a:fld>
            <a:endParaRPr lang="nl-NL"/>
          </a:p>
        </p:txBody>
      </p:sp>
    </p:spTree>
    <p:extLst>
      <p:ext uri="{BB962C8B-B14F-4D97-AF65-F5344CB8AC3E}">
        <p14:creationId xmlns:p14="http://schemas.microsoft.com/office/powerpoint/2010/main" val="39360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disadvantage of thinking within your area or department is that is gives you an “island” mentality and you don’t recognise what is happening outside of your area and how it affects the overall process or customer</a:t>
            </a:r>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4</a:t>
            </a:fld>
            <a:endParaRPr lang="nl-NL"/>
          </a:p>
        </p:txBody>
      </p:sp>
    </p:spTree>
    <p:extLst>
      <p:ext uri="{BB962C8B-B14F-4D97-AF65-F5344CB8AC3E}">
        <p14:creationId xmlns:p14="http://schemas.microsoft.com/office/powerpoint/2010/main" val="2835066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857250" y="685800"/>
            <a:ext cx="5143500" cy="3429000"/>
          </a:xfrm>
        </p:spPr>
      </p:sp>
      <p:sp>
        <p:nvSpPr>
          <p:cNvPr id="3" name="Tijdelijke aanduiding voor notities 2"/>
          <p:cNvSpPr>
            <a:spLocks noGrp="1"/>
          </p:cNvSpPr>
          <p:nvPr>
            <p:ph type="body" idx="1"/>
          </p:nvPr>
        </p:nvSpPr>
        <p:spPr/>
        <p:txBody>
          <a:bodyPr/>
          <a:lstStyle/>
          <a:p>
            <a:r>
              <a:rPr lang="nl-NL" sz="600" dirty="0" smtClean="0"/>
              <a:t>Process Mapping has many uses –its explains the process visually, helps communicate and define the process. It is also an important tool for documentationn and standardisation of the process to help identify opoortunities for improvement.</a:t>
            </a:r>
            <a:endParaRPr lang="nl-NL" sz="600" dirty="0"/>
          </a:p>
        </p:txBody>
      </p:sp>
      <p:sp>
        <p:nvSpPr>
          <p:cNvPr id="4" name="Tijdelijke aanduiding voor dianummer 3"/>
          <p:cNvSpPr>
            <a:spLocks noGrp="1"/>
          </p:cNvSpPr>
          <p:nvPr>
            <p:ph type="sldNum" sz="quarter" idx="10"/>
          </p:nvPr>
        </p:nvSpPr>
        <p:spPr/>
        <p:txBody>
          <a:bodyPr/>
          <a:lstStyle/>
          <a:p>
            <a:pPr>
              <a:defRPr/>
            </a:pPr>
            <a:fld id="{E9D184C5-EB61-465C-B372-106E597215A9}" type="slidenum">
              <a:rPr lang="en-US" smtClean="0"/>
              <a:pPr>
                <a:defRPr/>
              </a:pPr>
              <a:t>5</a:t>
            </a:fld>
            <a:endParaRPr lang="en-US" dirty="0"/>
          </a:p>
        </p:txBody>
      </p:sp>
    </p:spTree>
    <p:extLst>
      <p:ext uri="{BB962C8B-B14F-4D97-AF65-F5344CB8AC3E}">
        <p14:creationId xmlns:p14="http://schemas.microsoft.com/office/powerpoint/2010/main" val="1993512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jdelijke aanduiding voor dia-afbeelding 1"/>
          <p:cNvSpPr>
            <a:spLocks noGrp="1" noRot="1" noChangeAspect="1" noTextEdit="1"/>
          </p:cNvSpPr>
          <p:nvPr>
            <p:ph type="sldImg"/>
          </p:nvPr>
        </p:nvSpPr>
        <p:spPr>
          <a:xfrm>
            <a:off x="857250" y="685800"/>
            <a:ext cx="5143500" cy="3429000"/>
          </a:xfrm>
          <a:ln/>
        </p:spPr>
      </p:sp>
      <p:sp>
        <p:nvSpPr>
          <p:cNvPr id="39939"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smtClean="0"/>
              <a:t>A Process Flow chart schematically illustrates the different process steps. It uses standard symbols for the activities and the decision points within a process. Arrows are used to indicate the direction of the flow. There is also a separate symbol for the start and end point, both of which should be clearly defined. </a:t>
            </a:r>
          </a:p>
          <a:p>
            <a:endParaRPr lang="en-GB" dirty="0" smtClean="0"/>
          </a:p>
          <a:p>
            <a:endParaRPr lang="nl-NL" dirty="0" smtClean="0"/>
          </a:p>
        </p:txBody>
      </p:sp>
      <p:sp>
        <p:nvSpPr>
          <p:cNvPr id="39940" name="Tijdelijke aanduiding voor dia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a:solidFill>
                  <a:schemeClr val="tx1"/>
                </a:solidFill>
                <a:latin typeface="Arial" charset="0"/>
                <a:cs typeface="Arial" charset="0"/>
              </a:defRPr>
            </a:lvl1pPr>
            <a:lvl2pPr marL="742950" indent="-285750" defTabSz="954088" eaLnBrk="0" hangingPunct="0">
              <a:defRPr>
                <a:solidFill>
                  <a:schemeClr val="tx1"/>
                </a:solidFill>
                <a:latin typeface="Arial" charset="0"/>
                <a:cs typeface="Arial" charset="0"/>
              </a:defRPr>
            </a:lvl2pPr>
            <a:lvl3pPr marL="1143000" indent="-228600" defTabSz="954088" eaLnBrk="0" hangingPunct="0">
              <a:defRPr>
                <a:solidFill>
                  <a:schemeClr val="tx1"/>
                </a:solidFill>
                <a:latin typeface="Arial" charset="0"/>
                <a:cs typeface="Arial" charset="0"/>
              </a:defRPr>
            </a:lvl3pPr>
            <a:lvl4pPr marL="1600200" indent="-228600" defTabSz="954088" eaLnBrk="0" hangingPunct="0">
              <a:defRPr>
                <a:solidFill>
                  <a:schemeClr val="tx1"/>
                </a:solidFill>
                <a:latin typeface="Arial" charset="0"/>
                <a:cs typeface="Arial" charset="0"/>
              </a:defRPr>
            </a:lvl4pPr>
            <a:lvl5pPr marL="2057400" indent="-228600" defTabSz="954088" eaLnBrk="0" hangingPunct="0">
              <a:defRPr>
                <a:solidFill>
                  <a:schemeClr val="tx1"/>
                </a:solidFill>
                <a:latin typeface="Arial" charset="0"/>
                <a:cs typeface="Arial" charset="0"/>
              </a:defRPr>
            </a:lvl5pPr>
            <a:lvl6pPr marL="2514600" indent="-228600" defTabSz="954088" eaLnBrk="0" fontAlgn="base" hangingPunct="0">
              <a:spcBef>
                <a:spcPct val="0"/>
              </a:spcBef>
              <a:spcAft>
                <a:spcPct val="0"/>
              </a:spcAft>
              <a:defRPr>
                <a:solidFill>
                  <a:schemeClr val="tx1"/>
                </a:solidFill>
                <a:latin typeface="Arial" charset="0"/>
                <a:cs typeface="Arial" charset="0"/>
              </a:defRPr>
            </a:lvl6pPr>
            <a:lvl7pPr marL="2971800" indent="-228600" defTabSz="954088" eaLnBrk="0" fontAlgn="base" hangingPunct="0">
              <a:spcBef>
                <a:spcPct val="0"/>
              </a:spcBef>
              <a:spcAft>
                <a:spcPct val="0"/>
              </a:spcAft>
              <a:defRPr>
                <a:solidFill>
                  <a:schemeClr val="tx1"/>
                </a:solidFill>
                <a:latin typeface="Arial" charset="0"/>
                <a:cs typeface="Arial" charset="0"/>
              </a:defRPr>
            </a:lvl7pPr>
            <a:lvl8pPr marL="3429000" indent="-228600" defTabSz="954088" eaLnBrk="0" fontAlgn="base" hangingPunct="0">
              <a:spcBef>
                <a:spcPct val="0"/>
              </a:spcBef>
              <a:spcAft>
                <a:spcPct val="0"/>
              </a:spcAft>
              <a:defRPr>
                <a:solidFill>
                  <a:schemeClr val="tx1"/>
                </a:solidFill>
                <a:latin typeface="Arial" charset="0"/>
                <a:cs typeface="Arial" charset="0"/>
              </a:defRPr>
            </a:lvl8pPr>
            <a:lvl9pPr marL="3886200" indent="-228600" defTabSz="954088" eaLnBrk="0" fontAlgn="base" hangingPunct="0">
              <a:spcBef>
                <a:spcPct val="0"/>
              </a:spcBef>
              <a:spcAft>
                <a:spcPct val="0"/>
              </a:spcAft>
              <a:defRPr>
                <a:solidFill>
                  <a:schemeClr val="tx1"/>
                </a:solidFill>
                <a:latin typeface="Arial" charset="0"/>
                <a:cs typeface="Arial" charset="0"/>
              </a:defRPr>
            </a:lvl9pPr>
          </a:lstStyle>
          <a:p>
            <a:pPr eaLnBrk="1" hangingPunct="1"/>
            <a:fld id="{6D98A883-A212-468C-AB03-BCB3FF24AF34}" type="slidenum">
              <a:rPr lang="en-US" smtClean="0"/>
              <a:pPr eaLnBrk="1" hangingPunct="1"/>
              <a:t>6</a:t>
            </a:fld>
            <a:endParaRPr lang="en-US" dirty="0" smtClean="0"/>
          </a:p>
        </p:txBody>
      </p:sp>
    </p:spTree>
    <p:extLst>
      <p:ext uri="{BB962C8B-B14F-4D97-AF65-F5344CB8AC3E}">
        <p14:creationId xmlns:p14="http://schemas.microsoft.com/office/powerpoint/2010/main" val="871231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jdelijke aanduiding voor dia-afbeelding 1"/>
          <p:cNvSpPr>
            <a:spLocks noGrp="1" noRot="1" noChangeAspect="1" noTextEdit="1"/>
          </p:cNvSpPr>
          <p:nvPr>
            <p:ph type="sldImg"/>
          </p:nvPr>
        </p:nvSpPr>
        <p:spPr>
          <a:xfrm>
            <a:off x="857250" y="685800"/>
            <a:ext cx="5143500" cy="3429000"/>
          </a:xfrm>
          <a:ln/>
        </p:spPr>
      </p:sp>
      <p:sp>
        <p:nvSpPr>
          <p:cNvPr id="40963"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dirty="0" smtClean="0"/>
              <a:t>There are 3 ways you can interpret a process; the process you think it is (few steps), the process as it actually is (several more steps) or the process as it should be (the least steps).  </a:t>
            </a:r>
            <a:endParaRPr lang="nl-NL" dirty="0" smtClean="0"/>
          </a:p>
        </p:txBody>
      </p:sp>
      <p:sp>
        <p:nvSpPr>
          <p:cNvPr id="40964" name="Tijdelijke aanduiding voor dia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a:solidFill>
                  <a:schemeClr val="tx1"/>
                </a:solidFill>
                <a:latin typeface="Arial" charset="0"/>
                <a:cs typeface="Arial" charset="0"/>
              </a:defRPr>
            </a:lvl1pPr>
            <a:lvl2pPr marL="742950" indent="-285750" defTabSz="954088" eaLnBrk="0" hangingPunct="0">
              <a:defRPr>
                <a:solidFill>
                  <a:schemeClr val="tx1"/>
                </a:solidFill>
                <a:latin typeface="Arial" charset="0"/>
                <a:cs typeface="Arial" charset="0"/>
              </a:defRPr>
            </a:lvl2pPr>
            <a:lvl3pPr marL="1143000" indent="-228600" defTabSz="954088" eaLnBrk="0" hangingPunct="0">
              <a:defRPr>
                <a:solidFill>
                  <a:schemeClr val="tx1"/>
                </a:solidFill>
                <a:latin typeface="Arial" charset="0"/>
                <a:cs typeface="Arial" charset="0"/>
              </a:defRPr>
            </a:lvl3pPr>
            <a:lvl4pPr marL="1600200" indent="-228600" defTabSz="954088" eaLnBrk="0" hangingPunct="0">
              <a:defRPr>
                <a:solidFill>
                  <a:schemeClr val="tx1"/>
                </a:solidFill>
                <a:latin typeface="Arial" charset="0"/>
                <a:cs typeface="Arial" charset="0"/>
              </a:defRPr>
            </a:lvl4pPr>
            <a:lvl5pPr marL="2057400" indent="-228600" defTabSz="954088" eaLnBrk="0" hangingPunct="0">
              <a:defRPr>
                <a:solidFill>
                  <a:schemeClr val="tx1"/>
                </a:solidFill>
                <a:latin typeface="Arial" charset="0"/>
                <a:cs typeface="Arial" charset="0"/>
              </a:defRPr>
            </a:lvl5pPr>
            <a:lvl6pPr marL="2514600" indent="-228600" defTabSz="954088" eaLnBrk="0" fontAlgn="base" hangingPunct="0">
              <a:spcBef>
                <a:spcPct val="0"/>
              </a:spcBef>
              <a:spcAft>
                <a:spcPct val="0"/>
              </a:spcAft>
              <a:defRPr>
                <a:solidFill>
                  <a:schemeClr val="tx1"/>
                </a:solidFill>
                <a:latin typeface="Arial" charset="0"/>
                <a:cs typeface="Arial" charset="0"/>
              </a:defRPr>
            </a:lvl6pPr>
            <a:lvl7pPr marL="2971800" indent="-228600" defTabSz="954088" eaLnBrk="0" fontAlgn="base" hangingPunct="0">
              <a:spcBef>
                <a:spcPct val="0"/>
              </a:spcBef>
              <a:spcAft>
                <a:spcPct val="0"/>
              </a:spcAft>
              <a:defRPr>
                <a:solidFill>
                  <a:schemeClr val="tx1"/>
                </a:solidFill>
                <a:latin typeface="Arial" charset="0"/>
                <a:cs typeface="Arial" charset="0"/>
              </a:defRPr>
            </a:lvl7pPr>
            <a:lvl8pPr marL="3429000" indent="-228600" defTabSz="954088" eaLnBrk="0" fontAlgn="base" hangingPunct="0">
              <a:spcBef>
                <a:spcPct val="0"/>
              </a:spcBef>
              <a:spcAft>
                <a:spcPct val="0"/>
              </a:spcAft>
              <a:defRPr>
                <a:solidFill>
                  <a:schemeClr val="tx1"/>
                </a:solidFill>
                <a:latin typeface="Arial" charset="0"/>
                <a:cs typeface="Arial" charset="0"/>
              </a:defRPr>
            </a:lvl8pPr>
            <a:lvl9pPr marL="3886200" indent="-228600" defTabSz="954088" eaLnBrk="0" fontAlgn="base" hangingPunct="0">
              <a:spcBef>
                <a:spcPct val="0"/>
              </a:spcBef>
              <a:spcAft>
                <a:spcPct val="0"/>
              </a:spcAft>
              <a:defRPr>
                <a:solidFill>
                  <a:schemeClr val="tx1"/>
                </a:solidFill>
                <a:latin typeface="Arial" charset="0"/>
                <a:cs typeface="Arial" charset="0"/>
              </a:defRPr>
            </a:lvl9pPr>
          </a:lstStyle>
          <a:p>
            <a:pPr eaLnBrk="1" hangingPunct="1"/>
            <a:fld id="{EB6851C2-D30C-4FDF-AD67-5291CF20EF45}" type="slidenum">
              <a:rPr lang="en-US" smtClean="0"/>
              <a:pPr eaLnBrk="1" hangingPunct="1"/>
              <a:t>7</a:t>
            </a:fld>
            <a:endParaRPr lang="en-US" dirty="0" smtClean="0"/>
          </a:p>
        </p:txBody>
      </p:sp>
    </p:spTree>
    <p:extLst>
      <p:ext uri="{BB962C8B-B14F-4D97-AF65-F5344CB8AC3E}">
        <p14:creationId xmlns:p14="http://schemas.microsoft.com/office/powerpoint/2010/main" val="2349937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xfrm>
            <a:off x="857250" y="685800"/>
            <a:ext cx="5143500" cy="3429000"/>
          </a:xfrm>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Visiting an outpatient clinic is a good example of creating a process flow……..there are over 12 steps in this potentially simple task.</a:t>
            </a:r>
            <a:endParaRPr lang="en-US" dirty="0" smtClean="0"/>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a:solidFill>
                  <a:schemeClr val="tx1"/>
                </a:solidFill>
                <a:latin typeface="Arial" charset="0"/>
                <a:cs typeface="Arial" charset="0"/>
              </a:defRPr>
            </a:lvl1pPr>
            <a:lvl2pPr marL="742950" indent="-285750" defTabSz="954088" eaLnBrk="0" hangingPunct="0">
              <a:defRPr>
                <a:solidFill>
                  <a:schemeClr val="tx1"/>
                </a:solidFill>
                <a:latin typeface="Arial" charset="0"/>
                <a:cs typeface="Arial" charset="0"/>
              </a:defRPr>
            </a:lvl2pPr>
            <a:lvl3pPr marL="1143000" indent="-228600" defTabSz="954088" eaLnBrk="0" hangingPunct="0">
              <a:defRPr>
                <a:solidFill>
                  <a:schemeClr val="tx1"/>
                </a:solidFill>
                <a:latin typeface="Arial" charset="0"/>
                <a:cs typeface="Arial" charset="0"/>
              </a:defRPr>
            </a:lvl3pPr>
            <a:lvl4pPr marL="1600200" indent="-228600" defTabSz="954088" eaLnBrk="0" hangingPunct="0">
              <a:defRPr>
                <a:solidFill>
                  <a:schemeClr val="tx1"/>
                </a:solidFill>
                <a:latin typeface="Arial" charset="0"/>
                <a:cs typeface="Arial" charset="0"/>
              </a:defRPr>
            </a:lvl4pPr>
            <a:lvl5pPr marL="2057400" indent="-228600" defTabSz="954088" eaLnBrk="0" hangingPunct="0">
              <a:defRPr>
                <a:solidFill>
                  <a:schemeClr val="tx1"/>
                </a:solidFill>
                <a:latin typeface="Arial" charset="0"/>
                <a:cs typeface="Arial" charset="0"/>
              </a:defRPr>
            </a:lvl5pPr>
            <a:lvl6pPr marL="2514600" indent="-228600" defTabSz="954088" eaLnBrk="0" fontAlgn="base" hangingPunct="0">
              <a:spcBef>
                <a:spcPct val="0"/>
              </a:spcBef>
              <a:spcAft>
                <a:spcPct val="0"/>
              </a:spcAft>
              <a:defRPr>
                <a:solidFill>
                  <a:schemeClr val="tx1"/>
                </a:solidFill>
                <a:latin typeface="Arial" charset="0"/>
                <a:cs typeface="Arial" charset="0"/>
              </a:defRPr>
            </a:lvl6pPr>
            <a:lvl7pPr marL="2971800" indent="-228600" defTabSz="954088" eaLnBrk="0" fontAlgn="base" hangingPunct="0">
              <a:spcBef>
                <a:spcPct val="0"/>
              </a:spcBef>
              <a:spcAft>
                <a:spcPct val="0"/>
              </a:spcAft>
              <a:defRPr>
                <a:solidFill>
                  <a:schemeClr val="tx1"/>
                </a:solidFill>
                <a:latin typeface="Arial" charset="0"/>
                <a:cs typeface="Arial" charset="0"/>
              </a:defRPr>
            </a:lvl7pPr>
            <a:lvl8pPr marL="3429000" indent="-228600" defTabSz="954088" eaLnBrk="0" fontAlgn="base" hangingPunct="0">
              <a:spcBef>
                <a:spcPct val="0"/>
              </a:spcBef>
              <a:spcAft>
                <a:spcPct val="0"/>
              </a:spcAft>
              <a:defRPr>
                <a:solidFill>
                  <a:schemeClr val="tx1"/>
                </a:solidFill>
                <a:latin typeface="Arial" charset="0"/>
                <a:cs typeface="Arial" charset="0"/>
              </a:defRPr>
            </a:lvl8pPr>
            <a:lvl9pPr marL="3886200" indent="-228600" defTabSz="954088" eaLnBrk="0" fontAlgn="base" hangingPunct="0">
              <a:spcBef>
                <a:spcPct val="0"/>
              </a:spcBef>
              <a:spcAft>
                <a:spcPct val="0"/>
              </a:spcAft>
              <a:defRPr>
                <a:solidFill>
                  <a:schemeClr val="tx1"/>
                </a:solidFill>
                <a:latin typeface="Arial" charset="0"/>
                <a:cs typeface="Arial" charset="0"/>
              </a:defRPr>
            </a:lvl9pPr>
          </a:lstStyle>
          <a:p>
            <a:pPr eaLnBrk="1" hangingPunct="1"/>
            <a:fld id="{5AAD1A8E-415B-44E6-BEF9-3BDA507F2B51}" type="slidenum">
              <a:rPr lang="en-US" smtClean="0"/>
              <a:pPr eaLnBrk="1" hangingPunct="1"/>
              <a:t>8</a:t>
            </a:fld>
            <a:endParaRPr lang="en-US" dirty="0" smtClean="0"/>
          </a:p>
        </p:txBody>
      </p:sp>
    </p:spTree>
    <p:extLst>
      <p:ext uri="{BB962C8B-B14F-4D97-AF65-F5344CB8AC3E}">
        <p14:creationId xmlns:p14="http://schemas.microsoft.com/office/powerpoint/2010/main" val="2749023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857250" y="685800"/>
            <a:ext cx="5143500" cy="3429000"/>
          </a:xfrm>
        </p:spPr>
      </p:sp>
      <p:sp>
        <p:nvSpPr>
          <p:cNvPr id="3" name="Tijdelijke aanduiding voor notities 2"/>
          <p:cNvSpPr>
            <a:spLocks noGrp="1"/>
          </p:cNvSpPr>
          <p:nvPr>
            <p:ph type="body" idx="1"/>
          </p:nvPr>
        </p:nvSpPr>
        <p:spPr/>
        <p:txBody>
          <a:bodyPr/>
          <a:lstStyle/>
          <a:p>
            <a:r>
              <a:rPr lang="nl-NL" dirty="0" smtClean="0"/>
              <a:t>When process mapping it is important to create a high level flow of activities this can then be broken down and the area of concern analysed</a:t>
            </a:r>
            <a:endParaRPr lang="nl-NL" dirty="0"/>
          </a:p>
        </p:txBody>
      </p:sp>
      <p:sp>
        <p:nvSpPr>
          <p:cNvPr id="4" name="Tijdelijke aanduiding voor dianummer 3"/>
          <p:cNvSpPr>
            <a:spLocks noGrp="1"/>
          </p:cNvSpPr>
          <p:nvPr>
            <p:ph type="sldNum" sz="quarter" idx="10"/>
          </p:nvPr>
        </p:nvSpPr>
        <p:spPr/>
        <p:txBody>
          <a:bodyPr/>
          <a:lstStyle/>
          <a:p>
            <a:pPr>
              <a:defRPr/>
            </a:pPr>
            <a:fld id="{E9D184C5-EB61-465C-B372-106E597215A9}" type="slidenum">
              <a:rPr lang="en-US" smtClean="0"/>
              <a:pPr>
                <a:defRPr/>
              </a:pPr>
              <a:t>9</a:t>
            </a:fld>
            <a:endParaRPr lang="en-US" dirty="0"/>
          </a:p>
        </p:txBody>
      </p:sp>
    </p:spTree>
    <p:extLst>
      <p:ext uri="{BB962C8B-B14F-4D97-AF65-F5344CB8AC3E}">
        <p14:creationId xmlns:p14="http://schemas.microsoft.com/office/powerpoint/2010/main" val="450441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857250" y="685800"/>
            <a:ext cx="5143500" cy="3429000"/>
          </a:xfrm>
        </p:spPr>
      </p:sp>
      <p:sp>
        <p:nvSpPr>
          <p:cNvPr id="3" name="Tijdelijke aanduiding voor notities 2"/>
          <p:cNvSpPr>
            <a:spLocks noGrp="1"/>
          </p:cNvSpPr>
          <p:nvPr>
            <p:ph type="body" idx="1"/>
          </p:nvPr>
        </p:nvSpPr>
        <p:spPr/>
        <p:txBody>
          <a:bodyPr/>
          <a:lstStyle/>
          <a:p>
            <a:r>
              <a:rPr lang="en-GB" dirty="0" smtClean="0"/>
              <a:t>A </a:t>
            </a:r>
            <a:r>
              <a:rPr lang="en-GB" dirty="0" smtClean="0"/>
              <a:t>spaghetti diagram is made by observing actual movements. These movements could be those of operators or parts on the shop floor or of papers in the office. Each movement is recorded as a separate line; the resulting diagram therefore shows how often a movement occurs. It is also important to note why the movement was made. The spaghetti diagram is a great tool that can be used to identify potential improvements in the layout of </a:t>
            </a:r>
            <a:r>
              <a:rPr lang="en-GB" dirty="0" smtClean="0"/>
              <a:t>an administration area or </a:t>
            </a:r>
            <a:r>
              <a:rPr lang="en-GB" dirty="0" smtClean="0"/>
              <a:t>an </a:t>
            </a:r>
            <a:r>
              <a:rPr lang="en-GB" dirty="0" smtClean="0"/>
              <a:t>office or a lab.</a:t>
            </a:r>
            <a:endParaRPr lang="en-GB" dirty="0" smtClean="0"/>
          </a:p>
          <a:p>
            <a:endParaRPr lang="en-GB" dirty="0" smtClean="0"/>
          </a:p>
          <a:p>
            <a:endParaRPr lang="nl-NL" dirty="0"/>
          </a:p>
        </p:txBody>
      </p:sp>
      <p:sp>
        <p:nvSpPr>
          <p:cNvPr id="4" name="Tijdelijke aanduiding voor dianummer 3"/>
          <p:cNvSpPr>
            <a:spLocks noGrp="1"/>
          </p:cNvSpPr>
          <p:nvPr>
            <p:ph type="sldNum" sz="quarter" idx="10"/>
          </p:nvPr>
        </p:nvSpPr>
        <p:spPr/>
        <p:txBody>
          <a:bodyPr/>
          <a:lstStyle/>
          <a:p>
            <a:pPr>
              <a:defRPr/>
            </a:pPr>
            <a:fld id="{E9D184C5-EB61-465C-B372-106E597215A9}" type="slidenum">
              <a:rPr lang="en-US" smtClean="0"/>
              <a:pPr>
                <a:defRPr/>
              </a:pPr>
              <a:t>10</a:t>
            </a:fld>
            <a:endParaRPr lang="en-US" dirty="0"/>
          </a:p>
        </p:txBody>
      </p:sp>
    </p:spTree>
    <p:extLst>
      <p:ext uri="{BB962C8B-B14F-4D97-AF65-F5344CB8AC3E}">
        <p14:creationId xmlns:p14="http://schemas.microsoft.com/office/powerpoint/2010/main" val="841511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857250" y="685800"/>
            <a:ext cx="5143500" cy="3429000"/>
          </a:xfrm>
        </p:spPr>
      </p:sp>
      <p:sp>
        <p:nvSpPr>
          <p:cNvPr id="3" name="Tijdelijke aanduiding voor notities 2"/>
          <p:cNvSpPr>
            <a:spLocks noGrp="1"/>
          </p:cNvSpPr>
          <p:nvPr>
            <p:ph type="body" idx="1"/>
          </p:nvPr>
        </p:nvSpPr>
        <p:spPr/>
        <p:txBody>
          <a:bodyPr/>
          <a:lstStyle/>
          <a:p>
            <a:r>
              <a:rPr lang="nl-NL" dirty="0" smtClean="0"/>
              <a:t>A high level process map called a “swimlane” is shown here. For example a swimlane of a patient MRI shows the different areas or processes that a patient goes through when receiving an MRI.</a:t>
            </a:r>
            <a:endParaRPr lang="nl-NL" dirty="0"/>
          </a:p>
        </p:txBody>
      </p:sp>
      <p:sp>
        <p:nvSpPr>
          <p:cNvPr id="4" name="Tijdelijke aanduiding voor dianummer 3"/>
          <p:cNvSpPr>
            <a:spLocks noGrp="1"/>
          </p:cNvSpPr>
          <p:nvPr>
            <p:ph type="sldNum" sz="quarter" idx="10"/>
          </p:nvPr>
        </p:nvSpPr>
        <p:spPr/>
        <p:txBody>
          <a:bodyPr/>
          <a:lstStyle/>
          <a:p>
            <a:pPr>
              <a:defRPr/>
            </a:pPr>
            <a:fld id="{E9D184C5-EB61-465C-B372-106E597215A9}" type="slidenum">
              <a:rPr lang="en-US" smtClean="0"/>
              <a:pPr>
                <a:defRPr/>
              </a:pPr>
              <a:t>11</a:t>
            </a:fld>
            <a:endParaRPr lang="en-US" dirty="0"/>
          </a:p>
        </p:txBody>
      </p:sp>
    </p:spTree>
    <p:extLst>
      <p:ext uri="{BB962C8B-B14F-4D97-AF65-F5344CB8AC3E}">
        <p14:creationId xmlns:p14="http://schemas.microsoft.com/office/powerpoint/2010/main" val="1376467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Welcome to the Value Stream Mapping module </a:t>
            </a:r>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12</a:t>
            </a:fld>
            <a:endParaRPr lang="nl-NL"/>
          </a:p>
        </p:txBody>
      </p:sp>
    </p:spTree>
    <p:extLst>
      <p:ext uri="{BB962C8B-B14F-4D97-AF65-F5344CB8AC3E}">
        <p14:creationId xmlns:p14="http://schemas.microsoft.com/office/powerpoint/2010/main" val="866982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Value is defined as: an activity for which the customer is willing to pay. This means that trying to add value to a product through an activity within the organization is only important if it is in the interest of the customer. The customer must see the activity as being value adding and be willing to pay for performing this activity.</a:t>
            </a:r>
          </a:p>
          <a:p>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13</a:t>
            </a:fld>
            <a:endParaRPr lang="nl-NL"/>
          </a:p>
        </p:txBody>
      </p:sp>
    </p:spTree>
    <p:extLst>
      <p:ext uri="{BB962C8B-B14F-4D97-AF65-F5344CB8AC3E}">
        <p14:creationId xmlns:p14="http://schemas.microsoft.com/office/powerpoint/2010/main" val="4158610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These activities can be classified into three different categories: value adding activities (or VA for short), non-value adding activities (or NVA for short) and necessary activities, also called enabling activities. What can be observed in many companies, is that only a very small proportion of all activities add value to the product. By creating a value stream map of a company, we can differentiate between all of these value adding and non-value adding activities. </a:t>
            </a:r>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14</a:t>
            </a:fld>
            <a:endParaRPr lang="nl-NL"/>
          </a:p>
        </p:txBody>
      </p:sp>
    </p:spTree>
    <p:extLst>
      <p:ext uri="{BB962C8B-B14F-4D97-AF65-F5344CB8AC3E}">
        <p14:creationId xmlns:p14="http://schemas.microsoft.com/office/powerpoint/2010/main" val="19447360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With this information, we can now start to create a value stream map. The total value stream of a company consists of all the activities that are necessary to create the product or deliver the service. To begin with value stream mapping, we normally start with our most important product or product group. In general, we start from receiving the raw materials and end with delivery of the product to the customer, the door-to-door concept</a:t>
            </a:r>
            <a:r>
              <a:rPr lang="en-GB" dirty="0" smtClean="0"/>
              <a:t>. </a:t>
            </a:r>
            <a:r>
              <a:rPr lang="en-GB" dirty="0" smtClean="0"/>
              <a:t>A value stream map can also be made for the service industry. </a:t>
            </a:r>
          </a:p>
          <a:p>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15</a:t>
            </a:fld>
            <a:endParaRPr lang="nl-NL"/>
          </a:p>
        </p:txBody>
      </p:sp>
    </p:spTree>
    <p:extLst>
      <p:ext uri="{BB962C8B-B14F-4D97-AF65-F5344CB8AC3E}">
        <p14:creationId xmlns:p14="http://schemas.microsoft.com/office/powerpoint/2010/main" val="2879681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To construct a current state map –one should walk the process from “door to door”. Determine actual times taken to perform steps. Finally draw the value stream map.</a:t>
            </a:r>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16</a:t>
            </a:fld>
            <a:endParaRPr lang="nl-NL"/>
          </a:p>
        </p:txBody>
      </p:sp>
    </p:spTree>
    <p:extLst>
      <p:ext uri="{BB962C8B-B14F-4D97-AF65-F5344CB8AC3E}">
        <p14:creationId xmlns:p14="http://schemas.microsoft.com/office/powerpoint/2010/main" val="2132118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900" dirty="0" smtClean="0"/>
              <a:t>Visually you can add information and data to the map. You can also draw arrows to </a:t>
            </a:r>
            <a:r>
              <a:rPr lang="en-GB" sz="800" dirty="0" smtClean="0"/>
              <a:t>demonstrate</a:t>
            </a:r>
            <a:r>
              <a:rPr lang="en-GB" sz="900" dirty="0" smtClean="0"/>
              <a:t> interactions and flows of information.</a:t>
            </a:r>
            <a:endParaRPr lang="en-GB" sz="900"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17</a:t>
            </a:fld>
            <a:endParaRPr lang="nl-NL"/>
          </a:p>
        </p:txBody>
      </p:sp>
    </p:spTree>
    <p:extLst>
      <p:ext uri="{BB962C8B-B14F-4D97-AF65-F5344CB8AC3E}">
        <p14:creationId xmlns:p14="http://schemas.microsoft.com/office/powerpoint/2010/main" val="3480134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Here we can see an example of a current value stream map for a blood supply to a hospital. In this case, products are delivered to the customer (hospital) on a daily basis. If we look at the value adding activities, we see that they only take 30 minutes. But the total time to deliver the product to the customer takes 18 days. A lot of time is lost waiting and on processing between steps as well as in inventory. </a:t>
            </a:r>
          </a:p>
          <a:p>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18</a:t>
            </a:fld>
            <a:endParaRPr lang="nl-NL"/>
          </a:p>
        </p:txBody>
      </p:sp>
    </p:spTree>
    <p:extLst>
      <p:ext uri="{BB962C8B-B14F-4D97-AF65-F5344CB8AC3E}">
        <p14:creationId xmlns:p14="http://schemas.microsoft.com/office/powerpoint/2010/main" val="37444002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This VSM looks at an emergency department process. The entire processing time for a patient is over 400 minutes. There are a lot of wastes identified within the map –waiting times, transport, </a:t>
            </a:r>
            <a:r>
              <a:rPr lang="en-GB" dirty="0" err="1" smtClean="0"/>
              <a:t>overprocessing</a:t>
            </a:r>
            <a:r>
              <a:rPr lang="en-GB" dirty="0" smtClean="0"/>
              <a:t> </a:t>
            </a:r>
            <a:r>
              <a:rPr lang="en-GB" dirty="0" err="1" smtClean="0"/>
              <a:t>etc</a:t>
            </a:r>
            <a:endParaRPr lang="en-GB" dirty="0" smtClean="0"/>
          </a:p>
          <a:p>
            <a:r>
              <a:rPr lang="en-GB" dirty="0" smtClean="0"/>
              <a:t>The value add times are minimal. </a:t>
            </a:r>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19</a:t>
            </a:fld>
            <a:endParaRPr lang="nl-NL"/>
          </a:p>
        </p:txBody>
      </p:sp>
    </p:spTree>
    <p:extLst>
      <p:ext uri="{BB962C8B-B14F-4D97-AF65-F5344CB8AC3E}">
        <p14:creationId xmlns:p14="http://schemas.microsoft.com/office/powerpoint/2010/main" val="12032465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800" dirty="0" smtClean="0"/>
              <a:t>To work out the value added time in the first example: add 12 min plus 33 plus 234 min to give 279 </a:t>
            </a:r>
            <a:r>
              <a:rPr lang="en-GB" sz="800" dirty="0" err="1" smtClean="0"/>
              <a:t>mins</a:t>
            </a:r>
            <a:r>
              <a:rPr lang="en-GB" sz="800" dirty="0" smtClean="0"/>
              <a:t>.</a:t>
            </a:r>
          </a:p>
          <a:p>
            <a:r>
              <a:rPr lang="en-GB" sz="800" dirty="0" smtClean="0"/>
              <a:t>The Lead time is 16 +12+138+33+234 = 433 min.</a:t>
            </a:r>
          </a:p>
          <a:p>
            <a:r>
              <a:rPr lang="en-GB" sz="800" dirty="0" smtClean="0"/>
              <a:t>The Value adding time % is 279/433 = 64%.</a:t>
            </a:r>
          </a:p>
          <a:p>
            <a:r>
              <a:rPr lang="en-GB" sz="800" dirty="0" smtClean="0"/>
              <a:t>This means 36% of the process is waste or non value added time</a:t>
            </a:r>
            <a:endParaRPr lang="en-GB" sz="800"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20</a:t>
            </a:fld>
            <a:endParaRPr lang="nl-NL"/>
          </a:p>
        </p:txBody>
      </p:sp>
    </p:spTree>
    <p:extLst>
      <p:ext uri="{BB962C8B-B14F-4D97-AF65-F5344CB8AC3E}">
        <p14:creationId xmlns:p14="http://schemas.microsoft.com/office/powerpoint/2010/main" val="16574927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From example 2:</a:t>
            </a:r>
          </a:p>
          <a:p>
            <a:r>
              <a:rPr lang="en-GB" dirty="0" smtClean="0"/>
              <a:t>The Vale added time is 30 </a:t>
            </a:r>
            <a:r>
              <a:rPr lang="en-GB" dirty="0" err="1" smtClean="0"/>
              <a:t>mins</a:t>
            </a:r>
            <a:r>
              <a:rPr lang="en-GB" dirty="0" smtClean="0"/>
              <a:t>.</a:t>
            </a:r>
          </a:p>
          <a:p>
            <a:r>
              <a:rPr lang="en-GB" dirty="0" smtClean="0"/>
              <a:t>The lead time is 2 days plus 15 days plus 30 min plus 1 day =18 days</a:t>
            </a:r>
          </a:p>
          <a:p>
            <a:r>
              <a:rPr lang="en-GB" dirty="0" smtClean="0"/>
              <a:t>The Vale adding time % is 18*24*0/30*100% =0.12%</a:t>
            </a:r>
          </a:p>
          <a:p>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21</a:t>
            </a:fld>
            <a:endParaRPr lang="nl-NL"/>
          </a:p>
        </p:txBody>
      </p:sp>
    </p:spTree>
    <p:extLst>
      <p:ext uri="{BB962C8B-B14F-4D97-AF65-F5344CB8AC3E}">
        <p14:creationId xmlns:p14="http://schemas.microsoft.com/office/powerpoint/2010/main" val="33450194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2DE89506-987A-4272-A511-EABE9D46D3EA}" type="slidenum">
              <a:rPr lang="en-US" smtClean="0">
                <a:latin typeface="Arial" pitchFamily="34" charset="0"/>
                <a:cs typeface="Arial" pitchFamily="34" charset="0"/>
              </a:rPr>
              <a:pPr/>
              <a:t>22</a:t>
            </a:fld>
            <a:endParaRPr lang="en-US" dirty="0" smtClean="0">
              <a:latin typeface="Arial" pitchFamily="34" charset="0"/>
              <a:cs typeface="Arial" pitchFamily="34" charset="0"/>
            </a:endParaRPr>
          </a:p>
        </p:txBody>
      </p:sp>
      <p:sp>
        <p:nvSpPr>
          <p:cNvPr id="47107" name="Rectangle 2"/>
          <p:cNvSpPr>
            <a:spLocks noGrp="1" noRot="1" noChangeAspect="1" noChangeArrowheads="1" noTextEdit="1"/>
          </p:cNvSpPr>
          <p:nvPr>
            <p:ph type="sldImg"/>
          </p:nvPr>
        </p:nvSpPr>
        <p:spPr>
          <a:xfrm>
            <a:off x="857250" y="685800"/>
            <a:ext cx="5143500" cy="3429000"/>
          </a:xfrm>
          <a:ln/>
        </p:spPr>
      </p:sp>
      <p:sp>
        <p:nvSpPr>
          <p:cNvPr id="47108" name="Rectangle 3"/>
          <p:cNvSpPr>
            <a:spLocks noGrp="1" noChangeArrowheads="1"/>
          </p:cNvSpPr>
          <p:nvPr>
            <p:ph type="body" idx="1"/>
          </p:nvPr>
        </p:nvSpPr>
        <p:spPr>
          <a:noFill/>
          <a:ln/>
        </p:spPr>
        <p:txBody>
          <a:bodyPr/>
          <a:lstStyle/>
          <a:p>
            <a:pPr eaLnBrk="1" hangingPunct="1"/>
            <a:r>
              <a:rPr lang="en-GB" dirty="0" smtClean="0">
                <a:latin typeface="Arial" pitchFamily="34" charset="0"/>
                <a:cs typeface="Arial" pitchFamily="34" charset="0"/>
              </a:rPr>
              <a:t>If we made a future state value stream map of </a:t>
            </a:r>
            <a:r>
              <a:rPr lang="en-GB" dirty="0" smtClean="0">
                <a:latin typeface="Arial" pitchFamily="34" charset="0"/>
                <a:cs typeface="Arial" pitchFamily="34" charset="0"/>
              </a:rPr>
              <a:t>the blood supply process -the </a:t>
            </a:r>
            <a:r>
              <a:rPr lang="en-GB" dirty="0" smtClean="0">
                <a:latin typeface="Arial" pitchFamily="34" charset="0"/>
                <a:cs typeface="Arial" pitchFamily="34" charset="0"/>
              </a:rPr>
              <a:t>company would still deliver on a daily basis to the company, but from a structured inventory or Kanban. The actual value added activities would </a:t>
            </a:r>
            <a:r>
              <a:rPr lang="en-GB" dirty="0" smtClean="0">
                <a:latin typeface="Arial" pitchFamily="34" charset="0"/>
                <a:cs typeface="Arial" pitchFamily="34" charset="0"/>
              </a:rPr>
              <a:t>be increased with a significant </a:t>
            </a:r>
            <a:r>
              <a:rPr lang="en-GB" dirty="0" smtClean="0">
                <a:latin typeface="Arial" pitchFamily="34" charset="0"/>
                <a:cs typeface="Arial" pitchFamily="34" charset="0"/>
              </a:rPr>
              <a:t>reduction of waiting time and intermediate inventories would be achieved</a:t>
            </a:r>
            <a:r>
              <a:rPr lang="en-GB" dirty="0" smtClean="0">
                <a:latin typeface="Arial" pitchFamily="34" charset="0"/>
                <a:cs typeface="Arial" pitchFamily="34" charset="0"/>
              </a:rPr>
              <a:t>.  </a:t>
            </a:r>
            <a:r>
              <a:rPr lang="en-GB" dirty="0" smtClean="0">
                <a:latin typeface="Arial" pitchFamily="34" charset="0"/>
                <a:cs typeface="Arial" pitchFamily="34" charset="0"/>
              </a:rPr>
              <a:t>Of course we can only realize these improvements by executing a large number of projects. This can be done using Kaizen </a:t>
            </a:r>
            <a:r>
              <a:rPr lang="en-GB" dirty="0" smtClean="0">
                <a:latin typeface="Arial" pitchFamily="34" charset="0"/>
                <a:cs typeface="Arial" pitchFamily="34" charset="0"/>
              </a:rPr>
              <a:t>events. </a:t>
            </a:r>
            <a:endParaRPr lang="en-US" dirty="0" smtClean="0">
              <a:latin typeface="Arial" pitchFamily="34" charset="0"/>
              <a:cs typeface="Arial" pitchFamily="34" charset="0"/>
            </a:endParaRPr>
          </a:p>
        </p:txBody>
      </p:sp>
    </p:spTree>
    <p:extLst>
      <p:ext uri="{BB962C8B-B14F-4D97-AF65-F5344CB8AC3E}">
        <p14:creationId xmlns:p14="http://schemas.microsoft.com/office/powerpoint/2010/main" val="2499179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 comparison of a current value stream map v’s a future map demonstrates a more streamlined process with less waste and process steps.</a:t>
            </a:r>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23</a:t>
            </a:fld>
            <a:endParaRPr lang="nl-NL"/>
          </a:p>
        </p:txBody>
      </p:sp>
    </p:spTree>
    <p:extLst>
      <p:ext uri="{BB962C8B-B14F-4D97-AF65-F5344CB8AC3E}">
        <p14:creationId xmlns:p14="http://schemas.microsoft.com/office/powerpoint/2010/main" val="29418341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An example of a future VSM for a hospital patient appointment schedule is shown.</a:t>
            </a:r>
          </a:p>
          <a:p>
            <a:r>
              <a:rPr lang="en-GB" dirty="0" smtClean="0"/>
              <a:t>There is a centralised process with definite cycle times set up to issue appointment. The lead time is no more than 3 days.</a:t>
            </a:r>
            <a:endParaRPr lang="en-GB" dirty="0"/>
          </a:p>
        </p:txBody>
      </p:sp>
      <p:sp>
        <p:nvSpPr>
          <p:cNvPr id="4" name="Slide Number Placeholder 3"/>
          <p:cNvSpPr>
            <a:spLocks noGrp="1"/>
          </p:cNvSpPr>
          <p:nvPr>
            <p:ph type="sldNum" sz="quarter" idx="10"/>
          </p:nvPr>
        </p:nvSpPr>
        <p:spPr/>
        <p:txBody>
          <a:bodyPr/>
          <a:lstStyle/>
          <a:p>
            <a:pPr>
              <a:defRPr/>
            </a:pPr>
            <a:fld id="{62DA2CDB-494A-4A0D-A441-D4B23A9DC47C}" type="slidenum">
              <a:rPr lang="nl-NL" smtClean="0"/>
              <a:pPr>
                <a:defRPr/>
              </a:pPr>
              <a:t>24</a:t>
            </a:fld>
            <a:endParaRPr lang="nl-NL"/>
          </a:p>
        </p:txBody>
      </p:sp>
    </p:spTree>
    <p:extLst>
      <p:ext uri="{BB962C8B-B14F-4D97-AF65-F5344CB8AC3E}">
        <p14:creationId xmlns:p14="http://schemas.microsoft.com/office/powerpoint/2010/main" val="13259723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hyperlink" Target="http://www.wgvoost.nl/" TargetMode="External"/><Relationship Id="rId3" Type="http://schemas.openxmlformats.org/officeDocument/2006/relationships/hyperlink" Target="http://www.iscn.com/" TargetMode="External"/><Relationship Id="rId7" Type="http://schemas.openxmlformats.org/officeDocument/2006/relationships/hyperlink" Target="http://www.utwente.nl/" TargetMode="External"/><Relationship Id="rId2" Type="http://schemas.openxmlformats.org/officeDocument/2006/relationships/hyperlink" Target="http://www.symbolbv.nl/" TargetMode="External"/><Relationship Id="rId1" Type="http://schemas.openxmlformats.org/officeDocument/2006/relationships/slideMaster" Target="../slideMasters/slideMaster1.xml"/><Relationship Id="rId6" Type="http://schemas.openxmlformats.org/officeDocument/2006/relationships/hyperlink" Target="http://www.ul.ie/" TargetMode="External"/><Relationship Id="rId5" Type="http://schemas.openxmlformats.org/officeDocument/2006/relationships/hyperlink" Target="http://www.lssa.eu/" TargetMode="External"/><Relationship Id="rId4" Type="http://schemas.openxmlformats.org/officeDocument/2006/relationships/hyperlink" Target="http://www.rocvantwente.nl/" TargetMode="External"/><Relationship Id="rId9"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spTree>
      <p:nvGrpSpPr>
        <p:cNvPr id="1" name=""/>
        <p:cNvGrpSpPr/>
        <p:nvPr/>
      </p:nvGrpSpPr>
      <p:grpSpPr>
        <a:xfrm>
          <a:off x="0" y="0"/>
          <a:ext cx="0" cy="0"/>
          <a:chOff x="0" y="0"/>
          <a:chExt cx="0" cy="0"/>
        </a:xfrm>
      </p:grpSpPr>
      <p:pic>
        <p:nvPicPr>
          <p:cNvPr id="6" name="Afbeelding 9"/>
          <p:cNvPicPr>
            <a:picLocks noChangeAspect="1"/>
          </p:cNvPicPr>
          <p:nvPr/>
        </p:nvPicPr>
        <p:blipFill>
          <a:blip r:embed="rId2" cstate="print"/>
          <a:srcRect/>
          <a:stretch>
            <a:fillRect/>
          </a:stretch>
        </p:blipFill>
        <p:spPr bwMode="auto">
          <a:xfrm>
            <a:off x="0" y="2286001"/>
            <a:ext cx="10287000" cy="3419475"/>
          </a:xfrm>
          <a:prstGeom prst="rect">
            <a:avLst/>
          </a:prstGeom>
          <a:noFill/>
          <a:ln w="9525">
            <a:noFill/>
            <a:miter lim="800000"/>
            <a:headEnd/>
            <a:tailEnd/>
          </a:ln>
        </p:spPr>
      </p:pic>
      <p:pic>
        <p:nvPicPr>
          <p:cNvPr id="7" name="Picture 2" descr="EU_flag_LLP_EN-01"/>
          <p:cNvPicPr>
            <a:picLocks noChangeAspect="1" noChangeArrowheads="1"/>
          </p:cNvPicPr>
          <p:nvPr/>
        </p:nvPicPr>
        <p:blipFill>
          <a:blip r:embed="rId3" cstate="print"/>
          <a:srcRect/>
          <a:stretch>
            <a:fillRect/>
          </a:stretch>
        </p:blipFill>
        <p:spPr bwMode="auto">
          <a:xfrm>
            <a:off x="364332" y="5876926"/>
            <a:ext cx="2348508" cy="815975"/>
          </a:xfrm>
          <a:prstGeom prst="rect">
            <a:avLst/>
          </a:prstGeom>
          <a:noFill/>
          <a:ln w="9525">
            <a:noFill/>
            <a:miter lim="800000"/>
            <a:headEnd/>
            <a:tailEnd/>
          </a:ln>
        </p:spPr>
      </p:pic>
      <p:pic>
        <p:nvPicPr>
          <p:cNvPr id="8" name="Afbeelding 12"/>
          <p:cNvPicPr>
            <a:picLocks noChangeAspect="1"/>
          </p:cNvPicPr>
          <p:nvPr/>
        </p:nvPicPr>
        <p:blipFill>
          <a:blip r:embed="rId4" cstate="print"/>
          <a:srcRect/>
          <a:stretch>
            <a:fillRect/>
          </a:stretch>
        </p:blipFill>
        <p:spPr bwMode="auto">
          <a:xfrm>
            <a:off x="6515101" y="609600"/>
            <a:ext cx="3175397" cy="1079500"/>
          </a:xfrm>
          <a:prstGeom prst="rect">
            <a:avLst/>
          </a:prstGeom>
          <a:noFill/>
          <a:ln w="9525">
            <a:noFill/>
            <a:miter lim="800000"/>
            <a:headEnd/>
            <a:tailEnd/>
          </a:ln>
        </p:spPr>
      </p:pic>
      <p:sp>
        <p:nvSpPr>
          <p:cNvPr id="2" name="Titel 1"/>
          <p:cNvSpPr>
            <a:spLocks noGrp="1"/>
          </p:cNvSpPr>
          <p:nvPr>
            <p:ph type="ctrTitle"/>
          </p:nvPr>
        </p:nvSpPr>
        <p:spPr>
          <a:xfrm>
            <a:off x="688005" y="2422800"/>
            <a:ext cx="9073008" cy="579600"/>
          </a:xfrm>
        </p:spPr>
        <p:txBody>
          <a:bodyPr anchor="t"/>
          <a:lstStyle>
            <a:lvl1pPr algn="l">
              <a:defRPr sz="3200" b="1">
                <a:solidFill>
                  <a:schemeClr val="tx1"/>
                </a:solidFill>
              </a:defRPr>
            </a:lvl1pPr>
          </a:lstStyle>
          <a:p>
            <a:r>
              <a:rPr lang="nl-NL" smtClean="0"/>
              <a:t>Klik om de stijl te bewerken</a:t>
            </a:r>
            <a:endParaRPr lang="nl-NL" dirty="0"/>
          </a:p>
        </p:txBody>
      </p:sp>
      <p:sp>
        <p:nvSpPr>
          <p:cNvPr id="3" name="Ondertitel 2"/>
          <p:cNvSpPr>
            <a:spLocks noGrp="1"/>
          </p:cNvSpPr>
          <p:nvPr>
            <p:ph type="subTitle" idx="1"/>
          </p:nvPr>
        </p:nvSpPr>
        <p:spPr>
          <a:xfrm>
            <a:off x="688005" y="3808800"/>
            <a:ext cx="7695000" cy="1548000"/>
          </a:xfrm>
        </p:spPr>
        <p:txBody>
          <a:bodyPr anchor="ctr" anchorCtr="1">
            <a:normAutofit/>
          </a:bodyPr>
          <a:lstStyle>
            <a:lvl1pPr marL="0" indent="0" algn="ctr">
              <a:buNone/>
              <a:defRPr sz="1600"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smtClean="0"/>
              <a:t>Klik om de ondertitelstijl van het model te bewerken</a:t>
            </a:r>
            <a:endParaRPr lang="nl-NL"/>
          </a:p>
        </p:txBody>
      </p:sp>
      <p:sp>
        <p:nvSpPr>
          <p:cNvPr id="10" name="Tijdelijke aanduiding voor tekst 9"/>
          <p:cNvSpPr>
            <a:spLocks noGrp="1"/>
          </p:cNvSpPr>
          <p:nvPr>
            <p:ph type="body" sz="quarter" idx="13"/>
          </p:nvPr>
        </p:nvSpPr>
        <p:spPr>
          <a:xfrm>
            <a:off x="4122899" y="6011999"/>
            <a:ext cx="5917050" cy="687600"/>
          </a:xfrm>
        </p:spPr>
        <p:txBody>
          <a:bodyPr/>
          <a:lstStyle>
            <a:lvl1pPr algn="r">
              <a:defRPr sz="3600" b="1">
                <a:solidFill>
                  <a:srgbClr val="C80F00"/>
                </a:solidFill>
                <a:latin typeface="Arial" pitchFamily="34" charset="0"/>
                <a:cs typeface="Arial" pitchFamily="34" charset="0"/>
              </a:defRPr>
            </a:lvl1pPr>
            <a:lvl2pPr algn="r">
              <a:defRPr sz="3600" b="1">
                <a:solidFill>
                  <a:srgbClr val="C80F00"/>
                </a:solidFill>
                <a:latin typeface="Arial Black" pitchFamily="34" charset="0"/>
              </a:defRPr>
            </a:lvl2pPr>
            <a:lvl3pPr algn="r">
              <a:defRPr sz="3600" b="1">
                <a:solidFill>
                  <a:srgbClr val="C80F00"/>
                </a:solidFill>
                <a:latin typeface="Arial Black" pitchFamily="34" charset="0"/>
              </a:defRPr>
            </a:lvl3pPr>
            <a:lvl4pPr algn="r">
              <a:defRPr sz="3600" b="1">
                <a:solidFill>
                  <a:srgbClr val="C80F00"/>
                </a:solidFill>
                <a:latin typeface="Arial Black" pitchFamily="34" charset="0"/>
              </a:defRPr>
            </a:lvl4pPr>
            <a:lvl5pPr algn="r">
              <a:defRPr sz="3600" b="1">
                <a:solidFill>
                  <a:srgbClr val="C80F00"/>
                </a:solidFill>
                <a:latin typeface="Arial Black" pitchFamily="34" charset="0"/>
              </a:defRPr>
            </a:lvl5pPr>
          </a:lstStyle>
          <a:p>
            <a:pPr lvl="0"/>
            <a:r>
              <a:rPr lang="nl-NL" smtClean="0"/>
              <a:t>Klik om de modelstijlen te bewerken</a:t>
            </a:r>
          </a:p>
        </p:txBody>
      </p:sp>
      <p:sp>
        <p:nvSpPr>
          <p:cNvPr id="12" name="Tijdelijke aanduiding voor inhoud 11"/>
          <p:cNvSpPr>
            <a:spLocks noGrp="1"/>
          </p:cNvSpPr>
          <p:nvPr>
            <p:ph sz="quarter" idx="17"/>
          </p:nvPr>
        </p:nvSpPr>
        <p:spPr>
          <a:xfrm>
            <a:off x="1017718" y="2998800"/>
            <a:ext cx="8743295" cy="431800"/>
          </a:xfrm>
        </p:spPr>
        <p:txBody>
          <a:bodyPr/>
          <a:lstStyle>
            <a:lvl1pPr>
              <a:defRPr sz="1600">
                <a:solidFill>
                  <a:schemeClr val="tx1"/>
                </a:solidFill>
              </a:defRPr>
            </a:lvl1pPr>
          </a:lstStyle>
          <a:p>
            <a:pPr lvl="0"/>
            <a:r>
              <a:rPr lang="nl-NL" smtClean="0"/>
              <a:t>Klik om de modelstijlen te bewerken</a:t>
            </a:r>
          </a:p>
        </p:txBody>
      </p:sp>
      <p:sp>
        <p:nvSpPr>
          <p:cNvPr id="9" name="Tijdelijke aanduiding voor voettekst 4"/>
          <p:cNvSpPr>
            <a:spLocks noGrp="1"/>
          </p:cNvSpPr>
          <p:nvPr>
            <p:ph type="ftr" sz="quarter" idx="18"/>
          </p:nvPr>
        </p:nvSpPr>
        <p:spPr/>
        <p:txBody>
          <a:bodyPr/>
          <a:lstStyle>
            <a:lvl1pPr>
              <a:defRPr/>
            </a:lvl1pPr>
          </a:lstStyle>
          <a:p>
            <a:pPr>
              <a:defRPr/>
            </a:pPr>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idx="1"/>
          </p:nvPr>
        </p:nvSpPr>
        <p:spPr/>
        <p:txBody>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12602" y="4406901"/>
            <a:ext cx="8743950" cy="1362075"/>
          </a:xfrm>
        </p:spPr>
        <p:txBody>
          <a:bodyPr anchor="t"/>
          <a:lstStyle>
            <a:lvl1pPr algn="l">
              <a:defRPr sz="3600" b="1" cap="all">
                <a:solidFill>
                  <a:schemeClr val="tx1"/>
                </a:solidFill>
              </a:defRPr>
            </a:lvl1pPr>
          </a:lstStyle>
          <a:p>
            <a:r>
              <a:rPr lang="nl-NL" smtClean="0"/>
              <a:t>Klik om de stijl te bewerken</a:t>
            </a:r>
            <a:endParaRPr lang="nl-NL" dirty="0"/>
          </a:p>
        </p:txBody>
      </p:sp>
      <p:sp>
        <p:nvSpPr>
          <p:cNvPr id="3" name="Tijdelijke aanduiding voor tekst 2"/>
          <p:cNvSpPr>
            <a:spLocks noGrp="1"/>
          </p:cNvSpPr>
          <p:nvPr>
            <p:ph type="body" idx="1"/>
          </p:nvPr>
        </p:nvSpPr>
        <p:spPr>
          <a:xfrm>
            <a:off x="812602" y="2906713"/>
            <a:ext cx="8743950" cy="1500187"/>
          </a:xfrm>
        </p:spPr>
        <p:txBody>
          <a:bodyPr anchor="b"/>
          <a:lstStyle>
            <a:lvl1pPr marL="0" indent="0">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smtClean="0"/>
              <a:t>Klik om de modelstijlen te bewerken</a:t>
            </a:r>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sz="half" idx="1"/>
          </p:nvPr>
        </p:nvSpPr>
        <p:spPr>
          <a:xfrm>
            <a:off x="514350"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4" name="Tijdelijke aanduiding voor inhoud 3"/>
          <p:cNvSpPr>
            <a:spLocks noGrp="1"/>
          </p:cNvSpPr>
          <p:nvPr>
            <p:ph sz="half" idx="2"/>
          </p:nvPr>
        </p:nvSpPr>
        <p:spPr>
          <a:xfrm>
            <a:off x="5229225"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5"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smtClean="0"/>
              <a:t>Klik om de stijl te bewerken</a:t>
            </a:r>
            <a:endParaRPr lang="nl-NL"/>
          </a:p>
        </p:txBody>
      </p:sp>
      <p:sp>
        <p:nvSpPr>
          <p:cNvPr id="3" name="Tijdelijke aanduiding voor tekst 2"/>
          <p:cNvSpPr>
            <a:spLocks noGrp="1"/>
          </p:cNvSpPr>
          <p:nvPr>
            <p:ph type="body" idx="1"/>
          </p:nvPr>
        </p:nvSpPr>
        <p:spPr>
          <a:xfrm>
            <a:off x="514350" y="1535113"/>
            <a:ext cx="454521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4" name="Tijdelijke aanduiding voor inhoud 3"/>
          <p:cNvSpPr>
            <a:spLocks noGrp="1"/>
          </p:cNvSpPr>
          <p:nvPr>
            <p:ph sz="half" idx="2"/>
          </p:nvPr>
        </p:nvSpPr>
        <p:spPr>
          <a:xfrm>
            <a:off x="514350" y="2174875"/>
            <a:ext cx="4545212"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5" name="Tijdelijke aanduiding voor tekst 4"/>
          <p:cNvSpPr>
            <a:spLocks noGrp="1"/>
          </p:cNvSpPr>
          <p:nvPr>
            <p:ph type="body" sz="quarter" idx="3"/>
          </p:nvPr>
        </p:nvSpPr>
        <p:spPr>
          <a:xfrm>
            <a:off x="5225654" y="1535113"/>
            <a:ext cx="454699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6" name="Tijdelijke aanduiding voor inhoud 5"/>
          <p:cNvSpPr>
            <a:spLocks noGrp="1"/>
          </p:cNvSpPr>
          <p:nvPr>
            <p:ph sz="quarter" idx="4"/>
          </p:nvPr>
        </p:nvSpPr>
        <p:spPr>
          <a:xfrm>
            <a:off x="5225654" y="2174875"/>
            <a:ext cx="4546997"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7"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fsluitdia">
    <p:spTree>
      <p:nvGrpSpPr>
        <p:cNvPr id="1" name=""/>
        <p:cNvGrpSpPr/>
        <p:nvPr/>
      </p:nvGrpSpPr>
      <p:grpSpPr>
        <a:xfrm>
          <a:off x="0" y="0"/>
          <a:ext cx="0" cy="0"/>
          <a:chOff x="0" y="0"/>
          <a:chExt cx="0" cy="0"/>
        </a:xfrm>
      </p:grpSpPr>
      <p:sp>
        <p:nvSpPr>
          <p:cNvPr id="2" name="Tekstvak 9"/>
          <p:cNvSpPr txBox="1">
            <a:spLocks noChangeAspect="1"/>
          </p:cNvSpPr>
          <p:nvPr/>
        </p:nvSpPr>
        <p:spPr bwMode="auto">
          <a:xfrm>
            <a:off x="689372" y="238126"/>
            <a:ext cx="7288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r>
              <a:rPr lang="sl-SI" altLang="nl-NL" sz="2800" b="1" smtClean="0">
                <a:solidFill>
                  <a:srgbClr val="000000"/>
                </a:solidFill>
                <a:latin typeface="Arial" charset="0"/>
              </a:rPr>
              <a:t>Reference to Authors</a:t>
            </a:r>
            <a:endParaRPr lang="en-GB" altLang="nl-NL" smtClean="0"/>
          </a:p>
        </p:txBody>
      </p:sp>
      <p:sp>
        <p:nvSpPr>
          <p:cNvPr id="3" name="Rechthoek 11"/>
          <p:cNvSpPr>
            <a:spLocks noChangeArrowheads="1"/>
          </p:cNvSpPr>
          <p:nvPr/>
        </p:nvSpPr>
        <p:spPr bwMode="auto">
          <a:xfrm>
            <a:off x="810816" y="1439863"/>
            <a:ext cx="891004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itchFamily="34" charset="0"/>
                <a:cs typeface="Arial" charset="0"/>
              </a:defRPr>
            </a:lvl1pPr>
            <a:lvl2pPr marL="447675" indent="-266700" eaLnBrk="0" hangingPunct="0">
              <a:defRPr>
                <a:solidFill>
                  <a:schemeClr val="tx1"/>
                </a:solidFill>
                <a:latin typeface="Calibri" pitchFamily="34" charset="0"/>
                <a:cs typeface="Arial" charset="0"/>
              </a:defRPr>
            </a:lvl2pPr>
            <a:lvl3pPr marL="985838" indent="-2667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lvl="1" eaLnBrk="1" hangingPunct="1">
              <a:spcBef>
                <a:spcPct val="20000"/>
              </a:spcBef>
              <a:buClr>
                <a:srgbClr val="C80F00"/>
              </a:buClr>
              <a:buSzPct val="120000"/>
              <a:buFont typeface="Arial" charset="0"/>
              <a:buChar char="•"/>
              <a:defRPr/>
            </a:pPr>
            <a:r>
              <a:rPr lang="en-US" altLang="nl-NL" sz="1600" b="1" smtClean="0">
                <a:solidFill>
                  <a:srgbClr val="000000"/>
                </a:solidFill>
                <a:latin typeface="Arial" charset="0"/>
              </a:rPr>
              <a:t>This Training Material has been certified according to the rules of the ‘ECQA – European Certification and Qualification Association’</a:t>
            </a: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a:p>
            <a:pPr lvl="1" eaLnBrk="1" hangingPunct="1">
              <a:spcBef>
                <a:spcPct val="20000"/>
              </a:spcBef>
              <a:buClr>
                <a:srgbClr val="C80F00"/>
              </a:buClr>
              <a:buSzPct val="120000"/>
              <a:buFont typeface="Arial" charset="0"/>
              <a:buChar char="•"/>
              <a:defRPr/>
            </a:pPr>
            <a:r>
              <a:rPr lang="en-US" altLang="nl-NL" sz="1600" b="1" smtClean="0">
                <a:solidFill>
                  <a:srgbClr val="000000"/>
                </a:solidFill>
                <a:latin typeface="Arial" charset="0"/>
              </a:rPr>
              <a:t>The Training Material was developed within the international consortium ‘LSSH – Lean Six Sigma for Healthcare’</a:t>
            </a: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Symbol BV		Netherlands		</a:t>
            </a:r>
            <a:r>
              <a:rPr lang="en-US" altLang="nl-NL" sz="1200" smtClean="0">
                <a:solidFill>
                  <a:srgbClr val="000000"/>
                </a:solidFill>
                <a:latin typeface="Arial" charset="0"/>
                <a:hlinkClick r:id="rId2"/>
              </a:rPr>
              <a:t>www.symbolbv.nl</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ISCN Ltd./Ges.m.b.H, 	Ireland/Austria	</a:t>
            </a:r>
            <a:r>
              <a:rPr lang="en-US" altLang="nl-NL" sz="1200" smtClean="0">
                <a:solidFill>
                  <a:srgbClr val="000000"/>
                </a:solidFill>
                <a:latin typeface="Arial" charset="0"/>
                <a:hlinkClick r:id="rId3"/>
              </a:rPr>
              <a:t>www.iscn.com</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ROC of Twente	Netherlands		</a:t>
            </a:r>
            <a:r>
              <a:rPr lang="en-US" altLang="nl-NL" sz="1200" smtClean="0">
                <a:solidFill>
                  <a:srgbClr val="000000"/>
                </a:solidFill>
                <a:latin typeface="Arial" charset="0"/>
                <a:hlinkClick r:id="rId4"/>
              </a:rPr>
              <a:t>www.rocvantwente.nl</a:t>
            </a:r>
            <a:r>
              <a:rPr lang="en-US" altLang="nl-NL" sz="1200" smtClean="0">
                <a:solidFill>
                  <a:srgbClr val="000000"/>
                </a:solidFill>
                <a:latin typeface="Arial" charset="0"/>
              </a:rPr>
              <a:t> </a:t>
            </a: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LSSA BV		Netherlands		</a:t>
            </a:r>
            <a:r>
              <a:rPr lang="en-US" altLang="nl-NL" sz="1200" smtClean="0">
                <a:solidFill>
                  <a:srgbClr val="000000"/>
                </a:solidFill>
                <a:latin typeface="Arial" charset="0"/>
                <a:hlinkClick r:id="rId5"/>
              </a:rPr>
              <a:t>www.lssa.eu</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University of Limerick	Ireland		</a:t>
            </a:r>
            <a:r>
              <a:rPr lang="en-US" altLang="nl-NL" sz="1200" smtClean="0">
                <a:solidFill>
                  <a:srgbClr val="000000"/>
                </a:solidFill>
                <a:latin typeface="Arial" charset="0"/>
                <a:hlinkClick r:id="rId6"/>
              </a:rPr>
              <a:t>www.ul.ie</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University of Twente	Netherlands		</a:t>
            </a:r>
            <a:r>
              <a:rPr lang="en-US" altLang="nl-NL" sz="1200" smtClean="0">
                <a:solidFill>
                  <a:srgbClr val="000000"/>
                </a:solidFill>
                <a:latin typeface="Arial" charset="0"/>
                <a:hlinkClick r:id="rId7"/>
              </a:rPr>
              <a:t>www.utwente.nl</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WGV Oost		Netherlands		</a:t>
            </a:r>
            <a:r>
              <a:rPr lang="en-US" altLang="nl-NL" sz="1200" smtClean="0">
                <a:solidFill>
                  <a:srgbClr val="000000"/>
                </a:solidFill>
                <a:latin typeface="Arial" charset="0"/>
                <a:hlinkClick r:id="rId8"/>
              </a:rPr>
              <a:t>www.wgvoost.nl</a:t>
            </a:r>
            <a:endParaRPr lang="en-US" altLang="nl-NL" sz="1200" smtClean="0">
              <a:solidFill>
                <a:srgbClr val="000000"/>
              </a:solidFill>
              <a:latin typeface="Arial" charset="0"/>
            </a:endParaRP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p:txBody>
      </p:sp>
      <p:pic>
        <p:nvPicPr>
          <p:cNvPr id="4" name="Picture 2" descr="EU_flag_LLP_EN-01"/>
          <p:cNvPicPr>
            <a:picLocks noChangeAspect="1" noChangeArrowheads="1"/>
          </p:cNvPicPr>
          <p:nvPr/>
        </p:nvPicPr>
        <p:blipFill>
          <a:blip r:embed="rId9" cstate="print"/>
          <a:srcRect/>
          <a:stretch>
            <a:fillRect/>
          </a:stretch>
        </p:blipFill>
        <p:spPr bwMode="auto">
          <a:xfrm>
            <a:off x="1092995" y="5249864"/>
            <a:ext cx="2348508" cy="815975"/>
          </a:xfrm>
          <a:prstGeom prst="rect">
            <a:avLst/>
          </a:prstGeom>
          <a:noFill/>
          <a:ln w="9525">
            <a:noFill/>
            <a:miter lim="800000"/>
            <a:headEnd/>
            <a:tailEnd/>
          </a:ln>
        </p:spPr>
      </p:pic>
      <p:sp>
        <p:nvSpPr>
          <p:cNvPr id="5" name="Tekstvak 13"/>
          <p:cNvSpPr txBox="1">
            <a:spLocks noChangeArrowheads="1"/>
          </p:cNvSpPr>
          <p:nvPr/>
        </p:nvSpPr>
        <p:spPr bwMode="auto">
          <a:xfrm>
            <a:off x="3361135" y="5249864"/>
            <a:ext cx="6318647"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nl-NL" sz="1200" i="1" smtClean="0"/>
              <a:t>This project has been funded with support from the European Commission under agreement EAC-2012-0635. This publication/communication reflects the views only of the author, and the Commission cannot be held responsible for any use which may be made of the information contained therein.</a:t>
            </a:r>
          </a:p>
          <a:p>
            <a:pPr eaLnBrk="1" hangingPunct="1">
              <a:defRPr/>
            </a:pPr>
            <a:endParaRPr lang="en-US" altLang="nl-NL" sz="1200" i="1" smtClean="0"/>
          </a:p>
          <a:p>
            <a:pPr eaLnBrk="1" hangingPunct="1">
              <a:defRPr/>
            </a:pPr>
            <a:r>
              <a:rPr lang="en-US" altLang="nl-NL" sz="1200" smtClean="0"/>
              <a:t>This publication reflects the views only of the author</a:t>
            </a:r>
            <a:r>
              <a:rPr lang="sl-SI" altLang="nl-NL" sz="1200" smtClean="0"/>
              <a:t>s</a:t>
            </a:r>
            <a:r>
              <a:rPr lang="en-US" altLang="nl-NL" sz="1200" smtClean="0"/>
              <a:t>, and the Commission cannot be held responsible for any use which may be made of the information contained therein.</a:t>
            </a:r>
          </a:p>
        </p:txBody>
      </p:sp>
      <p:sp>
        <p:nvSpPr>
          <p:cNvPr id="6" name="Tijdelijke aanduiding voor voettekst 2"/>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hthoek 1"/>
          <p:cNvSpPr/>
          <p:nvPr/>
        </p:nvSpPr>
        <p:spPr>
          <a:xfrm>
            <a:off x="10716" y="6696076"/>
            <a:ext cx="10287000" cy="180975"/>
          </a:xfrm>
          <a:prstGeom prst="rect">
            <a:avLst/>
          </a:prstGeom>
          <a:solidFill>
            <a:srgbClr val="C8B8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chemeClr val="tx1"/>
              </a:solidFill>
            </a:endParaRPr>
          </a:p>
        </p:txBody>
      </p:sp>
      <p:sp>
        <p:nvSpPr>
          <p:cNvPr id="1027" name="Tijdelijke aanduiding voor titel 1"/>
          <p:cNvSpPr>
            <a:spLocks noGrp="1"/>
          </p:cNvSpPr>
          <p:nvPr>
            <p:ph type="title"/>
          </p:nvPr>
        </p:nvSpPr>
        <p:spPr bwMode="auto">
          <a:xfrm>
            <a:off x="687587" y="238126"/>
            <a:ext cx="7290197" cy="6000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nl-NL" altLang="nl-NL" smtClean="0"/>
              <a:t>Klik om de stijl te bewerken</a:t>
            </a:r>
          </a:p>
        </p:txBody>
      </p:sp>
      <p:sp>
        <p:nvSpPr>
          <p:cNvPr id="1028" name="Tijdelijke aanduiding voor tekst 2"/>
          <p:cNvSpPr>
            <a:spLocks noGrp="1"/>
          </p:cNvSpPr>
          <p:nvPr>
            <p:ph type="body" idx="1"/>
          </p:nvPr>
        </p:nvSpPr>
        <p:spPr bwMode="auto">
          <a:xfrm>
            <a:off x="810816" y="1439863"/>
            <a:ext cx="8910043"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ltLang="nl-NL" smtClean="0"/>
              <a:t>Klik om de modelstijlen te bewerken</a:t>
            </a:r>
          </a:p>
          <a:p>
            <a:pPr lvl="1"/>
            <a:r>
              <a:rPr lang="nl-NL" altLang="nl-NL" smtClean="0"/>
              <a:t>Tweede niveau</a:t>
            </a:r>
          </a:p>
          <a:p>
            <a:pPr lvl="2"/>
            <a:r>
              <a:rPr lang="nl-NL" altLang="nl-NL" smtClean="0"/>
              <a:t>Derde niveau</a:t>
            </a:r>
          </a:p>
          <a:p>
            <a:pPr lvl="3"/>
            <a:r>
              <a:rPr lang="nl-NL" altLang="nl-NL" smtClean="0"/>
              <a:t>Vierde niveau</a:t>
            </a:r>
          </a:p>
          <a:p>
            <a:pPr lvl="4"/>
            <a:r>
              <a:rPr lang="nl-NL" altLang="nl-NL" smtClean="0"/>
              <a:t>Vijfde niveau</a:t>
            </a:r>
          </a:p>
        </p:txBody>
      </p:sp>
      <p:sp>
        <p:nvSpPr>
          <p:cNvPr id="5" name="Tijdelijke aanduiding voor voettekst 4"/>
          <p:cNvSpPr>
            <a:spLocks noGrp="1"/>
          </p:cNvSpPr>
          <p:nvPr>
            <p:ph type="ftr" sz="quarter" idx="3"/>
          </p:nvPr>
        </p:nvSpPr>
        <p:spPr>
          <a:xfrm>
            <a:off x="1468040" y="6702426"/>
            <a:ext cx="1459112" cy="161925"/>
          </a:xfrm>
          <a:prstGeom prst="rect">
            <a:avLst/>
          </a:prstGeom>
        </p:spPr>
        <p:txBody>
          <a:bodyPr vert="horz" lIns="91440" tIns="45720" rIns="91440" bIns="45720" rtlCol="0" anchor="ctr"/>
          <a:lstStyle>
            <a:lvl1pPr algn="l" fontAlgn="auto">
              <a:spcBef>
                <a:spcPts val="0"/>
              </a:spcBef>
              <a:spcAft>
                <a:spcPts val="0"/>
              </a:spcAft>
              <a:defRPr sz="1000">
                <a:solidFill>
                  <a:schemeClr val="tx1"/>
                </a:solidFill>
                <a:latin typeface="+mn-lt"/>
                <a:cs typeface="+mn-cs"/>
              </a:defRPr>
            </a:lvl1pPr>
          </a:lstStyle>
          <a:p>
            <a:pPr>
              <a:defRPr/>
            </a:pPr>
            <a:endParaRPr lang="nl-NL"/>
          </a:p>
        </p:txBody>
      </p:sp>
      <p:sp>
        <p:nvSpPr>
          <p:cNvPr id="1032" name="Rectangle 9"/>
          <p:cNvSpPr>
            <a:spLocks noChangeArrowheads="1"/>
          </p:cNvSpPr>
          <p:nvPr/>
        </p:nvSpPr>
        <p:spPr bwMode="auto">
          <a:xfrm>
            <a:off x="9636919" y="6702425"/>
            <a:ext cx="66079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fld id="{E538EC28-10E3-4072-AA01-B7813A0B4E3D}" type="slidenum">
              <a:rPr lang="nl-NL" altLang="nl-NL" sz="1000" smtClean="0"/>
              <a:pPr algn="ctr" eaLnBrk="1" hangingPunct="1">
                <a:defRPr/>
              </a:pPr>
              <a:t>‹#›</a:t>
            </a:fld>
            <a:endParaRPr lang="nl-NL" altLang="nl-NL" sz="1000" smtClean="0"/>
          </a:p>
        </p:txBody>
      </p:sp>
      <p:sp>
        <p:nvSpPr>
          <p:cNvPr id="1036" name="Text Box 20"/>
          <p:cNvSpPr txBox="1">
            <a:spLocks noChangeArrowheads="1"/>
          </p:cNvSpPr>
          <p:nvPr/>
        </p:nvSpPr>
        <p:spPr bwMode="auto">
          <a:xfrm>
            <a:off x="10716" y="6677026"/>
            <a:ext cx="14573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0" bIns="0" anchor="b"/>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spcBef>
                <a:spcPct val="20000"/>
              </a:spcBef>
              <a:buClr>
                <a:srgbClr val="0000FF"/>
              </a:buClr>
              <a:buSzPct val="125000"/>
              <a:defRPr/>
            </a:pPr>
            <a:r>
              <a:rPr lang="en-US" sz="1000" dirty="0" smtClean="0"/>
              <a:t>© LSSH 2014</a:t>
            </a:r>
          </a:p>
        </p:txBody>
      </p:sp>
      <p:cxnSp>
        <p:nvCxnSpPr>
          <p:cNvPr id="11" name="Rechte verbindingslijn 10"/>
          <p:cNvCxnSpPr/>
          <p:nvPr/>
        </p:nvCxnSpPr>
        <p:spPr>
          <a:xfrm>
            <a:off x="0" y="1052514"/>
            <a:ext cx="10287000" cy="1587"/>
          </a:xfrm>
          <a:prstGeom prst="line">
            <a:avLst/>
          </a:prstGeom>
          <a:ln>
            <a:solidFill>
              <a:srgbClr val="C41721"/>
            </a:solidFill>
          </a:ln>
        </p:spPr>
        <p:style>
          <a:lnRef idx="1">
            <a:schemeClr val="accent1"/>
          </a:lnRef>
          <a:fillRef idx="0">
            <a:schemeClr val="accent1"/>
          </a:fillRef>
          <a:effectRef idx="0">
            <a:schemeClr val="accent1"/>
          </a:effectRef>
          <a:fontRef idx="minor">
            <a:schemeClr val="tx1"/>
          </a:fontRef>
        </p:style>
      </p:cxnSp>
      <p:pic>
        <p:nvPicPr>
          <p:cNvPr id="1033" name="Afbeelding 6"/>
          <p:cNvPicPr>
            <a:picLocks noChangeAspect="1"/>
          </p:cNvPicPr>
          <p:nvPr/>
        </p:nvPicPr>
        <p:blipFill>
          <a:blip r:embed="rId10" cstate="print"/>
          <a:srcRect/>
          <a:stretch>
            <a:fillRect/>
          </a:stretch>
        </p:blipFill>
        <p:spPr bwMode="auto">
          <a:xfrm>
            <a:off x="8017074" y="220663"/>
            <a:ext cx="1905595" cy="6477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07" r:id="rId1"/>
    <p:sldLayoutId id="2147483701" r:id="rId2"/>
    <p:sldLayoutId id="2147483702" r:id="rId3"/>
    <p:sldLayoutId id="2147483703" r:id="rId4"/>
    <p:sldLayoutId id="2147483704" r:id="rId5"/>
    <p:sldLayoutId id="2147483705" r:id="rId6"/>
    <p:sldLayoutId id="2147483706" r:id="rId7"/>
    <p:sldLayoutId id="2147483708" r:id="rId8"/>
  </p:sldLayoutIdLst>
  <p:timing>
    <p:tnLst>
      <p:par>
        <p:cTn id="1" dur="indefinite" restart="never" nodeType="tmRoot"/>
      </p:par>
    </p:tnLst>
  </p:timing>
  <p:hf sldNum="0" hdr="0" dt="0"/>
  <p:txStyles>
    <p:titleStyle>
      <a:lvl1pPr algn="ctr" rtl="0" eaLnBrk="0" fontAlgn="base" hangingPunct="0">
        <a:spcBef>
          <a:spcPct val="0"/>
        </a:spcBef>
        <a:spcAft>
          <a:spcPct val="0"/>
        </a:spcAft>
        <a:defRPr lang="nl-NL" sz="28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b="1">
          <a:solidFill>
            <a:schemeClr val="tx1"/>
          </a:solidFill>
          <a:latin typeface="Arial" charset="0"/>
          <a:cs typeface="Arial" charset="0"/>
        </a:defRPr>
      </a:lvl2pPr>
      <a:lvl3pPr algn="ctr" rtl="0" eaLnBrk="0" fontAlgn="base" hangingPunct="0">
        <a:spcBef>
          <a:spcPct val="0"/>
        </a:spcBef>
        <a:spcAft>
          <a:spcPct val="0"/>
        </a:spcAft>
        <a:defRPr sz="2800" b="1">
          <a:solidFill>
            <a:schemeClr val="tx1"/>
          </a:solidFill>
          <a:latin typeface="Arial" charset="0"/>
          <a:cs typeface="Arial" charset="0"/>
        </a:defRPr>
      </a:lvl3pPr>
      <a:lvl4pPr algn="ctr" rtl="0" eaLnBrk="0" fontAlgn="base" hangingPunct="0">
        <a:spcBef>
          <a:spcPct val="0"/>
        </a:spcBef>
        <a:spcAft>
          <a:spcPct val="0"/>
        </a:spcAft>
        <a:defRPr sz="2800" b="1">
          <a:solidFill>
            <a:schemeClr val="tx1"/>
          </a:solidFill>
          <a:latin typeface="Arial" charset="0"/>
          <a:cs typeface="Arial" charset="0"/>
        </a:defRPr>
      </a:lvl4pPr>
      <a:lvl5pPr algn="ctr" rtl="0" eaLnBrk="0" fontAlgn="base" hangingPunct="0">
        <a:spcBef>
          <a:spcPct val="0"/>
        </a:spcBef>
        <a:spcAft>
          <a:spcPct val="0"/>
        </a:spcAft>
        <a:defRPr sz="2800" b="1">
          <a:solidFill>
            <a:schemeClr val="tx1"/>
          </a:solidFill>
          <a:latin typeface="Arial" charset="0"/>
          <a:cs typeface="Arial" charset="0"/>
        </a:defRPr>
      </a:lvl5pPr>
      <a:lvl6pPr marL="457200" algn="ctr" rtl="0" eaLnBrk="1" fontAlgn="base" hangingPunct="1">
        <a:spcBef>
          <a:spcPct val="0"/>
        </a:spcBef>
        <a:spcAft>
          <a:spcPct val="0"/>
        </a:spcAft>
        <a:defRPr sz="2800" b="1">
          <a:solidFill>
            <a:srgbClr val="FEF6D6"/>
          </a:solidFill>
          <a:latin typeface="Arial" charset="0"/>
          <a:cs typeface="Arial" charset="0"/>
        </a:defRPr>
      </a:lvl6pPr>
      <a:lvl7pPr marL="914400" algn="ctr" rtl="0" eaLnBrk="1" fontAlgn="base" hangingPunct="1">
        <a:spcBef>
          <a:spcPct val="0"/>
        </a:spcBef>
        <a:spcAft>
          <a:spcPct val="0"/>
        </a:spcAft>
        <a:defRPr sz="2800" b="1">
          <a:solidFill>
            <a:srgbClr val="FEF6D6"/>
          </a:solidFill>
          <a:latin typeface="Arial" charset="0"/>
          <a:cs typeface="Arial" charset="0"/>
        </a:defRPr>
      </a:lvl7pPr>
      <a:lvl8pPr marL="1371600" algn="ctr" rtl="0" eaLnBrk="1" fontAlgn="base" hangingPunct="1">
        <a:spcBef>
          <a:spcPct val="0"/>
        </a:spcBef>
        <a:spcAft>
          <a:spcPct val="0"/>
        </a:spcAft>
        <a:defRPr sz="2800" b="1">
          <a:solidFill>
            <a:srgbClr val="FEF6D6"/>
          </a:solidFill>
          <a:latin typeface="Arial" charset="0"/>
          <a:cs typeface="Arial" charset="0"/>
        </a:defRPr>
      </a:lvl8pPr>
      <a:lvl9pPr marL="1828800" algn="ctr" rtl="0" eaLnBrk="1" fontAlgn="base" hangingPunct="1">
        <a:spcBef>
          <a:spcPct val="0"/>
        </a:spcBef>
        <a:spcAft>
          <a:spcPct val="0"/>
        </a:spcAft>
        <a:defRPr sz="2800" b="1">
          <a:solidFill>
            <a:srgbClr val="FEF6D6"/>
          </a:solidFill>
          <a:latin typeface="Arial" charset="0"/>
          <a:cs typeface="Arial" charset="0"/>
        </a:defRPr>
      </a:lvl9pPr>
    </p:titleStyle>
    <p:bodyStyle>
      <a:lvl1pPr algn="l" rtl="0" eaLnBrk="0" fontAlgn="base" hangingPunct="0">
        <a:spcBef>
          <a:spcPct val="20000"/>
        </a:spcBef>
        <a:spcAft>
          <a:spcPct val="0"/>
        </a:spcAft>
        <a:buClr>
          <a:srgbClr val="C41721"/>
        </a:buClr>
        <a:buSzPct val="100000"/>
        <a:buFont typeface="Arial" charset="0"/>
        <a:defRPr sz="2400" b="1" kern="1200">
          <a:solidFill>
            <a:schemeClr val="tx1"/>
          </a:solidFill>
          <a:latin typeface="Arial" pitchFamily="34" charset="0"/>
          <a:ea typeface="+mn-ea"/>
          <a:cs typeface="Arial" pitchFamily="34" charset="0"/>
        </a:defRPr>
      </a:lvl1pPr>
      <a:lvl2pPr marL="447675" indent="-266700" algn="l" rtl="0" eaLnBrk="0" fontAlgn="base" hangingPunct="0">
        <a:spcBef>
          <a:spcPct val="20000"/>
        </a:spcBef>
        <a:spcAft>
          <a:spcPct val="0"/>
        </a:spcAft>
        <a:buClr>
          <a:srgbClr val="C41721"/>
        </a:buClr>
        <a:buSzPct val="100000"/>
        <a:buFont typeface="Arial" charset="0"/>
        <a:buChar char="•"/>
        <a:defRPr sz="1600" b="1" kern="1200">
          <a:solidFill>
            <a:schemeClr val="tx1"/>
          </a:solidFill>
          <a:latin typeface="Arial" pitchFamily="34" charset="0"/>
          <a:ea typeface="+mn-ea"/>
          <a:cs typeface="Arial" pitchFamily="34" charset="0"/>
        </a:defRPr>
      </a:lvl2pPr>
      <a:lvl3pPr marL="985838" indent="-266700" algn="l" rtl="0" eaLnBrk="0" fontAlgn="base" hangingPunct="0">
        <a:spcBef>
          <a:spcPct val="20000"/>
        </a:spcBef>
        <a:spcAft>
          <a:spcPct val="0"/>
        </a:spcAft>
        <a:buClr>
          <a:srgbClr val="C41721"/>
        </a:buClr>
        <a:buSzPct val="100000"/>
        <a:buFont typeface="Arial" charset="0"/>
        <a:buChar char="•"/>
        <a:defRPr sz="1600" kern="1200">
          <a:solidFill>
            <a:schemeClr val="tx1"/>
          </a:solidFill>
          <a:latin typeface="Arial" pitchFamily="34" charset="0"/>
          <a:ea typeface="+mn-ea"/>
          <a:cs typeface="Arial" pitchFamily="34" charset="0"/>
        </a:defRPr>
      </a:lvl3pPr>
      <a:lvl4pPr marL="1524000"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4pPr>
      <a:lvl5pPr marL="2062163"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6"/>
          <p:cNvSpPr>
            <a:spLocks noGrp="1"/>
          </p:cNvSpPr>
          <p:nvPr>
            <p:ph type="ctrTitle"/>
          </p:nvPr>
        </p:nvSpPr>
        <p:spPr/>
        <p:txBody>
          <a:bodyPr/>
          <a:lstStyle/>
          <a:p>
            <a:r>
              <a:rPr lang="en-US" dirty="0" smtClean="0"/>
              <a:t>Process Mapping</a:t>
            </a:r>
            <a:endParaRPr lang="nl-NL" dirty="0" smtClean="0"/>
          </a:p>
        </p:txBody>
      </p:sp>
      <p:sp>
        <p:nvSpPr>
          <p:cNvPr id="5" name="Tijdelijke aanduiding voor tekst 4"/>
          <p:cNvSpPr>
            <a:spLocks noGrp="1"/>
          </p:cNvSpPr>
          <p:nvPr>
            <p:ph type="subTitle" idx="1"/>
          </p:nvPr>
        </p:nvSpPr>
        <p:spPr/>
        <p:txBody>
          <a:bodyPr/>
          <a:lstStyle/>
          <a:p>
            <a:r>
              <a:rPr lang="en-US" smtClean="0"/>
              <a:t>The element ‘Process Mapping &amp; Data Collection’ sets out the different ways of process mapping to visualize the process. This element also covers types of data and the accuracy and integrity of data.</a:t>
            </a:r>
            <a:endParaRPr lang="en-US" dirty="0"/>
          </a:p>
        </p:txBody>
      </p:sp>
      <p:sp>
        <p:nvSpPr>
          <p:cNvPr id="3" name="Tijdelijke aanduiding voor tekst 2"/>
          <p:cNvSpPr>
            <a:spLocks noGrp="1"/>
          </p:cNvSpPr>
          <p:nvPr>
            <p:ph type="body" sz="quarter" idx="13"/>
          </p:nvPr>
        </p:nvSpPr>
        <p:spPr/>
        <p:txBody>
          <a:bodyPr/>
          <a:lstStyle/>
          <a:p>
            <a:r>
              <a:rPr lang="nl-NL" smtClean="0"/>
              <a:t>Yellow Belt</a:t>
            </a:r>
            <a:endParaRPr lang="nl-NL" dirty="0"/>
          </a:p>
        </p:txBody>
      </p:sp>
      <p:sp>
        <p:nvSpPr>
          <p:cNvPr id="2" name="Tijdelijke aanduiding voor inhoud 1"/>
          <p:cNvSpPr>
            <a:spLocks noGrp="1"/>
          </p:cNvSpPr>
          <p:nvPr>
            <p:ph sz="quarter" idx="17"/>
          </p:nvPr>
        </p:nvSpPr>
        <p:spPr/>
        <p:txBody>
          <a:bodyPr/>
          <a:lstStyle/>
          <a:p>
            <a:r>
              <a:rPr lang="en-US" smtClean="0"/>
              <a:t>U4 – Measure</a:t>
            </a:r>
          </a:p>
          <a:p>
            <a:r>
              <a:rPr lang="en-US" smtClean="0"/>
              <a:t>E1 – Process Mapping &amp; Data Collection</a:t>
            </a:r>
            <a:endParaRPr lang="nl-NL"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nl-NL" smtClean="0"/>
              <a:t>Process Mapping</a:t>
            </a:r>
            <a:endParaRPr lang="nl-NL" dirty="0"/>
          </a:p>
        </p:txBody>
      </p:sp>
      <p:sp>
        <p:nvSpPr>
          <p:cNvPr id="5" name="Tijdelijke aanduiding voor tekst 4"/>
          <p:cNvSpPr>
            <a:spLocks noGrp="1"/>
          </p:cNvSpPr>
          <p:nvPr>
            <p:ph idx="1"/>
          </p:nvPr>
        </p:nvSpPr>
        <p:spPr>
          <a:xfrm>
            <a:off x="810815" y="1439863"/>
            <a:ext cx="8950199" cy="5040312"/>
          </a:xfrm>
        </p:spPr>
        <p:txBody>
          <a:bodyPr/>
          <a:lstStyle/>
          <a:p>
            <a:r>
              <a:rPr lang="nl-NL" dirty="0" err="1" smtClean="0"/>
              <a:t>Process</a:t>
            </a:r>
            <a:r>
              <a:rPr lang="nl-NL" dirty="0" smtClean="0"/>
              <a:t>-thinking</a:t>
            </a:r>
          </a:p>
          <a:p>
            <a:pPr lvl="1">
              <a:buClrTx/>
            </a:pPr>
            <a:endParaRPr lang="nl-NL" dirty="0" smtClean="0"/>
          </a:p>
          <a:p>
            <a:pPr indent="-257175"/>
            <a:r>
              <a:rPr lang="en-GB" sz="1800" dirty="0" smtClean="0"/>
              <a:t>Process: systematic </a:t>
            </a:r>
            <a:r>
              <a:rPr lang="en-GB" sz="1800" dirty="0"/>
              <a:t>series of activities required to achieve a </a:t>
            </a:r>
            <a:r>
              <a:rPr lang="en-GB" sz="1800" dirty="0" smtClean="0"/>
              <a:t>goal</a:t>
            </a:r>
            <a:endParaRPr lang="en-GB" sz="1800" dirty="0"/>
          </a:p>
          <a:p>
            <a:pPr indent="-160338"/>
            <a:endParaRPr lang="nl-NL" sz="1800" dirty="0" smtClean="0"/>
          </a:p>
          <a:p>
            <a:pPr marL="177800" indent="-92075"/>
            <a:r>
              <a:rPr lang="nl-NL" sz="1800" dirty="0" err="1" smtClean="0"/>
              <a:t>To</a:t>
            </a:r>
            <a:r>
              <a:rPr lang="nl-NL" sz="1800" dirty="0" smtClean="0"/>
              <a:t> </a:t>
            </a:r>
            <a:r>
              <a:rPr lang="nl-NL" sz="1800" dirty="0" err="1" smtClean="0"/>
              <a:t>find</a:t>
            </a:r>
            <a:r>
              <a:rPr lang="nl-NL" sz="1800" dirty="0" smtClean="0"/>
              <a:t> </a:t>
            </a:r>
            <a:r>
              <a:rPr lang="nl-NL" sz="1800" dirty="0" err="1" smtClean="0"/>
              <a:t>and</a:t>
            </a:r>
            <a:r>
              <a:rPr lang="nl-NL" sz="1800" dirty="0" smtClean="0"/>
              <a:t> </a:t>
            </a:r>
            <a:r>
              <a:rPr lang="nl-NL" sz="1800" dirty="0" err="1" smtClean="0"/>
              <a:t>reduce</a:t>
            </a:r>
            <a:r>
              <a:rPr lang="nl-NL" sz="1800" dirty="0" smtClean="0"/>
              <a:t> waste in </a:t>
            </a:r>
            <a:r>
              <a:rPr lang="nl-NL" sz="1800" dirty="0" err="1" smtClean="0"/>
              <a:t>your</a:t>
            </a:r>
            <a:r>
              <a:rPr lang="nl-NL" sz="1800" dirty="0" smtClean="0"/>
              <a:t> </a:t>
            </a:r>
            <a:r>
              <a:rPr lang="nl-NL" sz="1800" dirty="0" err="1" smtClean="0"/>
              <a:t>processes</a:t>
            </a:r>
            <a:r>
              <a:rPr lang="nl-NL" sz="1800" dirty="0" smtClean="0"/>
              <a:t> the </a:t>
            </a:r>
            <a:r>
              <a:rPr lang="nl-NL" sz="1800" dirty="0" err="1" smtClean="0"/>
              <a:t>following</a:t>
            </a:r>
            <a:r>
              <a:rPr lang="nl-NL" sz="1800" dirty="0" smtClean="0"/>
              <a:t> is important:</a:t>
            </a:r>
          </a:p>
          <a:p>
            <a:pPr lvl="1">
              <a:buClrTx/>
            </a:pPr>
            <a:r>
              <a:rPr lang="nl-NL" dirty="0" err="1" smtClean="0"/>
              <a:t>Know</a:t>
            </a:r>
            <a:r>
              <a:rPr lang="nl-NL" dirty="0" smtClean="0"/>
              <a:t> </a:t>
            </a:r>
            <a:r>
              <a:rPr lang="nl-NL" dirty="0" err="1" smtClean="0"/>
              <a:t>what</a:t>
            </a:r>
            <a:r>
              <a:rPr lang="nl-NL" dirty="0" smtClean="0"/>
              <a:t> </a:t>
            </a:r>
            <a:r>
              <a:rPr lang="nl-NL" dirty="0" err="1" smtClean="0"/>
              <a:t>your</a:t>
            </a:r>
            <a:r>
              <a:rPr lang="nl-NL" dirty="0" smtClean="0"/>
              <a:t> </a:t>
            </a:r>
            <a:r>
              <a:rPr lang="nl-NL" dirty="0" err="1" smtClean="0"/>
              <a:t>processes</a:t>
            </a:r>
            <a:r>
              <a:rPr lang="nl-NL" dirty="0" smtClean="0"/>
              <a:t> are</a:t>
            </a:r>
          </a:p>
          <a:p>
            <a:pPr lvl="1">
              <a:buClrTx/>
            </a:pPr>
            <a:r>
              <a:rPr lang="nl-NL" dirty="0" err="1" smtClean="0"/>
              <a:t>Know</a:t>
            </a:r>
            <a:r>
              <a:rPr lang="nl-NL" dirty="0" smtClean="0"/>
              <a:t> </a:t>
            </a:r>
            <a:r>
              <a:rPr lang="nl-NL" dirty="0" err="1" smtClean="0"/>
              <a:t>how</a:t>
            </a:r>
            <a:r>
              <a:rPr lang="nl-NL" dirty="0" smtClean="0"/>
              <a:t> </a:t>
            </a:r>
            <a:r>
              <a:rPr lang="nl-NL" dirty="0" err="1" smtClean="0"/>
              <a:t>your</a:t>
            </a:r>
            <a:r>
              <a:rPr lang="nl-NL" dirty="0" smtClean="0"/>
              <a:t> </a:t>
            </a:r>
            <a:r>
              <a:rPr lang="nl-NL" dirty="0" err="1" smtClean="0"/>
              <a:t>processes</a:t>
            </a:r>
            <a:r>
              <a:rPr lang="nl-NL" dirty="0" smtClean="0"/>
              <a:t> flow </a:t>
            </a:r>
            <a:r>
              <a:rPr lang="nl-NL" dirty="0" err="1" smtClean="0"/>
              <a:t>through</a:t>
            </a:r>
            <a:r>
              <a:rPr lang="nl-NL" dirty="0" smtClean="0"/>
              <a:t> </a:t>
            </a:r>
            <a:r>
              <a:rPr lang="nl-NL" dirty="0" err="1" smtClean="0"/>
              <a:t>your</a:t>
            </a:r>
            <a:r>
              <a:rPr lang="nl-NL" dirty="0" smtClean="0"/>
              <a:t>  </a:t>
            </a:r>
            <a:r>
              <a:rPr lang="nl-NL" dirty="0" err="1" smtClean="0"/>
              <a:t>organisation</a:t>
            </a:r>
            <a:endParaRPr lang="nl-NL" dirty="0" smtClean="0"/>
          </a:p>
          <a:p>
            <a:pPr lvl="1"/>
            <a:endParaRPr lang="nl-NL" b="0" dirty="0" smtClean="0"/>
          </a:p>
          <a:p>
            <a:pPr lvl="2" indent="-900113">
              <a:buNone/>
            </a:pPr>
            <a:r>
              <a:rPr lang="nl-NL" sz="1800" b="1" dirty="0" smtClean="0">
                <a:latin typeface="Arial" charset="0"/>
                <a:cs typeface="Arial" charset="0"/>
              </a:rPr>
              <a:t>Tool: </a:t>
            </a:r>
            <a:r>
              <a:rPr lang="nl-NL" sz="1800" b="1" dirty="0" err="1" smtClean="0">
                <a:latin typeface="Arial" charset="0"/>
                <a:cs typeface="Arial" charset="0"/>
              </a:rPr>
              <a:t>process</a:t>
            </a:r>
            <a:r>
              <a:rPr lang="nl-NL" sz="1800" b="1" dirty="0" smtClean="0">
                <a:latin typeface="Arial" charset="0"/>
                <a:cs typeface="Arial" charset="0"/>
              </a:rPr>
              <a:t> </a:t>
            </a:r>
            <a:r>
              <a:rPr lang="nl-NL" sz="1800" b="1" dirty="0" err="1" smtClean="0">
                <a:latin typeface="Arial" charset="0"/>
                <a:cs typeface="Arial" charset="0"/>
              </a:rPr>
              <a:t>mapping</a:t>
            </a:r>
            <a:endParaRPr lang="nl-NL" sz="1800" b="1" dirty="0" smtClean="0"/>
          </a:p>
          <a:p>
            <a:endParaRPr lang="nl-NL" dirty="0"/>
          </a:p>
        </p:txBody>
      </p:sp>
      <p:pic>
        <p:nvPicPr>
          <p:cNvPr id="2053" name="Picture 5"/>
          <p:cNvPicPr>
            <a:picLocks noChangeAspect="1" noChangeArrowheads="1"/>
          </p:cNvPicPr>
          <p:nvPr/>
        </p:nvPicPr>
        <p:blipFill>
          <a:blip r:embed="rId3" cstate="print"/>
          <a:srcRect/>
          <a:stretch>
            <a:fillRect/>
          </a:stretch>
        </p:blipFill>
        <p:spPr bwMode="auto">
          <a:xfrm>
            <a:off x="7108254" y="4005064"/>
            <a:ext cx="2705868" cy="2592288"/>
          </a:xfrm>
          <a:prstGeom prst="rect">
            <a:avLst/>
          </a:prstGeom>
          <a:noFill/>
          <a:ln w="9525">
            <a:noFill/>
            <a:miter lim="800000"/>
            <a:headEnd/>
            <a:tailEnd/>
          </a:ln>
          <a:effectLst/>
        </p:spPr>
      </p:pic>
    </p:spTree>
    <p:extLst>
      <p:ext uri="{BB962C8B-B14F-4D97-AF65-F5344CB8AC3E}">
        <p14:creationId xmlns:p14="http://schemas.microsoft.com/office/powerpoint/2010/main" val="45289564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Process Mapping</a:t>
            </a:r>
            <a:endParaRPr lang="nl-NL" dirty="0"/>
          </a:p>
        </p:txBody>
      </p:sp>
      <p:sp>
        <p:nvSpPr>
          <p:cNvPr id="3" name="Tijdelijke aanduiding voor inhoud 2"/>
          <p:cNvSpPr>
            <a:spLocks noGrp="1"/>
          </p:cNvSpPr>
          <p:nvPr>
            <p:ph idx="1"/>
          </p:nvPr>
        </p:nvSpPr>
        <p:spPr/>
        <p:txBody>
          <a:bodyPr/>
          <a:lstStyle/>
          <a:p>
            <a:r>
              <a:rPr lang="nl-NL" dirty="0" err="1" smtClean="0"/>
              <a:t>Why</a:t>
            </a:r>
            <a:r>
              <a:rPr lang="nl-NL" dirty="0" smtClean="0"/>
              <a:t> is </a:t>
            </a:r>
            <a:r>
              <a:rPr lang="nl-NL" dirty="0" err="1" smtClean="0"/>
              <a:t>process</a:t>
            </a:r>
            <a:r>
              <a:rPr lang="nl-NL" dirty="0"/>
              <a:t>-</a:t>
            </a:r>
            <a:r>
              <a:rPr lang="nl-NL" dirty="0" smtClean="0"/>
              <a:t>thinking important?</a:t>
            </a:r>
          </a:p>
          <a:p>
            <a:pPr lvl="1"/>
            <a:endParaRPr lang="nl-NL" dirty="0" smtClean="0"/>
          </a:p>
          <a:p>
            <a:pPr lvl="1">
              <a:buClrTx/>
            </a:pPr>
            <a:r>
              <a:rPr lang="nl-NL" dirty="0" err="1" smtClean="0"/>
              <a:t>To</a:t>
            </a:r>
            <a:r>
              <a:rPr lang="nl-NL" dirty="0" smtClean="0"/>
              <a:t> </a:t>
            </a:r>
            <a:r>
              <a:rPr lang="nl-NL" dirty="0" err="1" smtClean="0"/>
              <a:t>understand</a:t>
            </a:r>
            <a:r>
              <a:rPr lang="nl-NL" dirty="0" smtClean="0"/>
              <a:t> </a:t>
            </a:r>
            <a:r>
              <a:rPr lang="nl-NL" dirty="0" err="1" smtClean="0"/>
              <a:t>how</a:t>
            </a:r>
            <a:r>
              <a:rPr lang="nl-NL" dirty="0" smtClean="0"/>
              <a:t> </a:t>
            </a:r>
            <a:r>
              <a:rPr lang="nl-NL" dirty="0" err="1" smtClean="0"/>
              <a:t>all</a:t>
            </a:r>
            <a:r>
              <a:rPr lang="nl-NL" dirty="0" smtClean="0"/>
              <a:t> the </a:t>
            </a:r>
            <a:r>
              <a:rPr lang="nl-NL" dirty="0" err="1" smtClean="0"/>
              <a:t>work</a:t>
            </a:r>
            <a:r>
              <a:rPr lang="nl-NL" dirty="0" smtClean="0"/>
              <a:t> is </a:t>
            </a:r>
            <a:r>
              <a:rPr lang="nl-NL" dirty="0" err="1" smtClean="0"/>
              <a:t>done</a:t>
            </a:r>
            <a:r>
              <a:rPr lang="nl-NL" dirty="0" smtClean="0"/>
              <a:t> (</a:t>
            </a:r>
            <a:r>
              <a:rPr lang="nl-NL" dirty="0" err="1" smtClean="0"/>
              <a:t>and</a:t>
            </a:r>
            <a:r>
              <a:rPr lang="nl-NL" dirty="0" smtClean="0"/>
              <a:t> in </a:t>
            </a:r>
            <a:r>
              <a:rPr lang="nl-NL" dirty="0" err="1" smtClean="0"/>
              <a:t>which</a:t>
            </a:r>
            <a:r>
              <a:rPr lang="nl-NL" dirty="0" smtClean="0"/>
              <a:t> order)</a:t>
            </a:r>
          </a:p>
          <a:p>
            <a:pPr lvl="1">
              <a:buClrTx/>
            </a:pPr>
            <a:endParaRPr lang="nl-NL" dirty="0"/>
          </a:p>
          <a:p>
            <a:pPr lvl="1">
              <a:buClrTx/>
            </a:pPr>
            <a:r>
              <a:rPr lang="nl-NL" dirty="0" err="1" smtClean="0"/>
              <a:t>To</a:t>
            </a:r>
            <a:r>
              <a:rPr lang="nl-NL" dirty="0" smtClean="0"/>
              <a:t> </a:t>
            </a:r>
            <a:r>
              <a:rPr lang="nl-NL" dirty="0" err="1" smtClean="0"/>
              <a:t>understand</a:t>
            </a:r>
            <a:r>
              <a:rPr lang="nl-NL" dirty="0" smtClean="0"/>
              <a:t> </a:t>
            </a:r>
            <a:r>
              <a:rPr lang="nl-NL" dirty="0" err="1" smtClean="0"/>
              <a:t>interdependencies</a:t>
            </a:r>
            <a:endParaRPr lang="nl-NL" dirty="0" smtClean="0"/>
          </a:p>
          <a:p>
            <a:pPr lvl="1">
              <a:buClrTx/>
            </a:pPr>
            <a:endParaRPr lang="nl-NL" dirty="0" smtClean="0"/>
          </a:p>
          <a:p>
            <a:pPr lvl="1">
              <a:buClrTx/>
            </a:pPr>
            <a:r>
              <a:rPr lang="nl-NL" dirty="0" err="1" smtClean="0"/>
              <a:t>To</a:t>
            </a:r>
            <a:r>
              <a:rPr lang="nl-NL" dirty="0" smtClean="0"/>
              <a:t> get a </a:t>
            </a:r>
            <a:r>
              <a:rPr lang="nl-NL" dirty="0" err="1" smtClean="0"/>
              <a:t>clear</a:t>
            </a:r>
            <a:r>
              <a:rPr lang="nl-NL" dirty="0" smtClean="0"/>
              <a:t> view of </a:t>
            </a:r>
            <a:r>
              <a:rPr lang="nl-NL" dirty="0" err="1" smtClean="0"/>
              <a:t>what</a:t>
            </a:r>
            <a:r>
              <a:rPr lang="nl-NL" dirty="0" smtClean="0"/>
              <a:t> is </a:t>
            </a:r>
            <a:r>
              <a:rPr lang="nl-NL" dirty="0" err="1" smtClean="0"/>
              <a:t>actually</a:t>
            </a:r>
            <a:r>
              <a:rPr lang="nl-NL" dirty="0" smtClean="0"/>
              <a:t> happening in the </a:t>
            </a:r>
            <a:r>
              <a:rPr lang="nl-NL" dirty="0" err="1" smtClean="0"/>
              <a:t>organisation</a:t>
            </a:r>
            <a:endParaRPr lang="nl-NL" dirty="0" smtClean="0"/>
          </a:p>
          <a:p>
            <a:pPr lvl="1">
              <a:buClrTx/>
            </a:pPr>
            <a:endParaRPr lang="nl-NL" dirty="0"/>
          </a:p>
          <a:p>
            <a:pPr lvl="1">
              <a:buClrTx/>
            </a:pPr>
            <a:r>
              <a:rPr lang="nl-NL" dirty="0" smtClean="0"/>
              <a:t> </a:t>
            </a:r>
            <a:r>
              <a:rPr lang="nl-NL" dirty="0" err="1" smtClean="0"/>
              <a:t>Blame</a:t>
            </a:r>
            <a:r>
              <a:rPr lang="nl-NL" dirty="0" smtClean="0"/>
              <a:t> the </a:t>
            </a:r>
            <a:r>
              <a:rPr lang="nl-NL" dirty="0" err="1" smtClean="0"/>
              <a:t>process</a:t>
            </a:r>
            <a:r>
              <a:rPr lang="nl-NL" dirty="0" smtClean="0"/>
              <a:t>, </a:t>
            </a:r>
            <a:r>
              <a:rPr lang="nl-NL" dirty="0" err="1" smtClean="0"/>
              <a:t>not</a:t>
            </a:r>
            <a:r>
              <a:rPr lang="nl-NL" dirty="0" smtClean="0"/>
              <a:t> the </a:t>
            </a:r>
            <a:r>
              <a:rPr lang="nl-NL" dirty="0" err="1" smtClean="0"/>
              <a:t>people</a:t>
            </a:r>
            <a:endParaRPr lang="nl-NL" dirty="0" smtClean="0"/>
          </a:p>
          <a:p>
            <a:pPr lvl="1">
              <a:buNone/>
            </a:pPr>
            <a:endParaRPr lang="nl-NL" dirty="0" smtClean="0"/>
          </a:p>
          <a:p>
            <a:endParaRPr lang="nl-NL" dirty="0"/>
          </a:p>
        </p:txBody>
      </p:sp>
    </p:spTree>
    <p:extLst>
      <p:ext uri="{BB962C8B-B14F-4D97-AF65-F5344CB8AC3E}">
        <p14:creationId xmlns:p14="http://schemas.microsoft.com/office/powerpoint/2010/main" val="306387741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en-GB" dirty="0"/>
              <a:t>Process Mapping</a:t>
            </a:r>
            <a:endParaRPr lang="nl-NL" dirty="0"/>
          </a:p>
        </p:txBody>
      </p:sp>
      <p:sp>
        <p:nvSpPr>
          <p:cNvPr id="3" name="Tijdelijke aanduiding voor inhoud 2"/>
          <p:cNvSpPr>
            <a:spLocks noGrp="1"/>
          </p:cNvSpPr>
          <p:nvPr>
            <p:ph idx="1"/>
          </p:nvPr>
        </p:nvSpPr>
        <p:spPr/>
        <p:txBody>
          <a:bodyPr/>
          <a:lstStyle/>
          <a:p>
            <a:r>
              <a:rPr lang="nl-NL" dirty="0" smtClean="0"/>
              <a:t>Disadvantage of thinking in </a:t>
            </a:r>
            <a:r>
              <a:rPr lang="nl-NL" dirty="0" err="1" smtClean="0"/>
              <a:t>departments</a:t>
            </a:r>
            <a:endParaRPr lang="nl-NL" dirty="0" smtClean="0"/>
          </a:p>
          <a:p>
            <a:pPr lvl="1"/>
            <a:endParaRPr lang="nl-NL" dirty="0" smtClean="0"/>
          </a:p>
          <a:p>
            <a:pPr lvl="1"/>
            <a:r>
              <a:rPr lang="nl-NL" dirty="0" err="1" smtClean="0"/>
              <a:t>Throwing</a:t>
            </a:r>
            <a:r>
              <a:rPr lang="nl-NL" dirty="0" smtClean="0"/>
              <a:t> </a:t>
            </a:r>
            <a:r>
              <a:rPr lang="nl-NL" dirty="0" err="1" smtClean="0"/>
              <a:t>work</a:t>
            </a:r>
            <a:r>
              <a:rPr lang="nl-NL" dirty="0" smtClean="0"/>
              <a:t> (</a:t>
            </a:r>
            <a:r>
              <a:rPr lang="nl-NL" dirty="0" err="1" smtClean="0"/>
              <a:t>work</a:t>
            </a:r>
            <a:r>
              <a:rPr lang="nl-NL" dirty="0" smtClean="0"/>
              <a:t> in </a:t>
            </a:r>
            <a:r>
              <a:rPr lang="nl-NL" dirty="0" err="1" smtClean="0"/>
              <a:t>progress</a:t>
            </a:r>
            <a:r>
              <a:rPr lang="nl-NL" dirty="0" smtClean="0"/>
              <a:t>: WIP) over the </a:t>
            </a:r>
            <a:r>
              <a:rPr lang="nl-NL" dirty="0" err="1" smtClean="0"/>
              <a:t>fence</a:t>
            </a:r>
            <a:endParaRPr lang="nl-NL" dirty="0" smtClean="0"/>
          </a:p>
          <a:p>
            <a:endParaRPr lang="nl-NL" dirty="0"/>
          </a:p>
        </p:txBody>
      </p:sp>
      <p:sp>
        <p:nvSpPr>
          <p:cNvPr id="4" name="Tijdelijke aanduiding voor voettekst 3"/>
          <p:cNvSpPr>
            <a:spLocks noGrp="1"/>
          </p:cNvSpPr>
          <p:nvPr>
            <p:ph type="ftr" sz="quarter" idx="4294967295"/>
          </p:nvPr>
        </p:nvSpPr>
        <p:spPr>
          <a:xfrm>
            <a:off x="4334471" y="6710364"/>
            <a:ext cx="1619845" cy="161925"/>
          </a:xfrm>
          <a:prstGeom prst="rect">
            <a:avLst/>
          </a:prstGeom>
        </p:spPr>
        <p:txBody>
          <a:bodyPr/>
          <a:lstStyle/>
          <a:p>
            <a:endParaRPr lang="nl-NL"/>
          </a:p>
        </p:txBody>
      </p:sp>
      <p:graphicFrame>
        <p:nvGraphicFramePr>
          <p:cNvPr id="139268" name="Object 4"/>
          <p:cNvGraphicFramePr>
            <a:graphicFrameLocks noChangeAspect="1"/>
          </p:cNvGraphicFramePr>
          <p:nvPr/>
        </p:nvGraphicFramePr>
        <p:xfrm>
          <a:off x="1632347" y="2643188"/>
          <a:ext cx="7022306" cy="3784600"/>
        </p:xfrm>
        <a:graphic>
          <a:graphicData uri="http://schemas.openxmlformats.org/presentationml/2006/ole">
            <mc:AlternateContent xmlns:mc="http://schemas.openxmlformats.org/markup-compatibility/2006">
              <mc:Choice xmlns:v="urn:schemas-microsoft-com:vml" Requires="v">
                <p:oleObj spid="_x0000_s16390" name="Visio" r:id="rId4" imgW="4474896" imgH="2710744" progId="">
                  <p:embed/>
                </p:oleObj>
              </mc:Choice>
              <mc:Fallback>
                <p:oleObj name="Visio" r:id="rId4" imgW="4474896" imgH="2710744"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2347" y="2643188"/>
                        <a:ext cx="7022306" cy="378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Ovaal 1"/>
          <p:cNvSpPr/>
          <p:nvPr/>
        </p:nvSpPr>
        <p:spPr>
          <a:xfrm>
            <a:off x="4334472" y="2643188"/>
            <a:ext cx="1052056" cy="8578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smtClean="0"/>
              <a:t>WIP</a:t>
            </a:r>
            <a:endParaRPr lang="nl-NL" dirty="0"/>
          </a:p>
        </p:txBody>
      </p:sp>
    </p:spTree>
    <p:extLst>
      <p:ext uri="{BB962C8B-B14F-4D97-AF65-F5344CB8AC3E}">
        <p14:creationId xmlns:p14="http://schemas.microsoft.com/office/powerpoint/2010/main" val="22640509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el 1"/>
          <p:cNvSpPr>
            <a:spLocks noGrp="1"/>
          </p:cNvSpPr>
          <p:nvPr>
            <p:ph type="title"/>
          </p:nvPr>
        </p:nvSpPr>
        <p:spPr/>
        <p:txBody>
          <a:bodyPr/>
          <a:lstStyle/>
          <a:p>
            <a:r>
              <a:rPr lang="en-GB" noProof="0" smtClean="0"/>
              <a:t>Process Mapping</a:t>
            </a:r>
            <a:endParaRPr lang="en-GB" noProof="0" dirty="0" smtClean="0"/>
          </a:p>
        </p:txBody>
      </p:sp>
      <p:sp>
        <p:nvSpPr>
          <p:cNvPr id="3" name="Tijdelijke aanduiding voor inhoud 2"/>
          <p:cNvSpPr>
            <a:spLocks noGrp="1"/>
          </p:cNvSpPr>
          <p:nvPr>
            <p:ph idx="1"/>
          </p:nvPr>
        </p:nvSpPr>
        <p:spPr/>
        <p:txBody>
          <a:bodyPr/>
          <a:lstStyle/>
          <a:p>
            <a:r>
              <a:rPr lang="en-GB" noProof="0" dirty="0" smtClean="0"/>
              <a:t>Why should you make a process map?</a:t>
            </a:r>
          </a:p>
          <a:p>
            <a:pPr lvl="1"/>
            <a:endParaRPr lang="en-GB" noProof="0" dirty="0" smtClean="0"/>
          </a:p>
          <a:p>
            <a:pPr lvl="1">
              <a:buClrTx/>
            </a:pPr>
            <a:r>
              <a:rPr lang="en-GB" noProof="0" dirty="0" smtClean="0"/>
              <a:t>To communicate the processes</a:t>
            </a:r>
          </a:p>
          <a:p>
            <a:pPr lvl="1">
              <a:buClrTx/>
            </a:pPr>
            <a:r>
              <a:rPr lang="en-GB" noProof="0" dirty="0" smtClean="0"/>
              <a:t>To define the scope of a project</a:t>
            </a:r>
          </a:p>
          <a:p>
            <a:pPr lvl="1">
              <a:buClrTx/>
            </a:pPr>
            <a:r>
              <a:rPr lang="en-GB" noProof="0" dirty="0" smtClean="0"/>
              <a:t>To describe and understand the processes</a:t>
            </a:r>
          </a:p>
          <a:p>
            <a:pPr lvl="1">
              <a:buClrTx/>
            </a:pPr>
            <a:r>
              <a:rPr lang="en-GB" noProof="0" dirty="0" smtClean="0"/>
              <a:t>To document and standardise the processes (ISO 9000)</a:t>
            </a:r>
          </a:p>
          <a:p>
            <a:pPr lvl="1">
              <a:buClrTx/>
            </a:pPr>
            <a:r>
              <a:rPr lang="en-GB" noProof="0" dirty="0" smtClean="0"/>
              <a:t>To define responsibilities and competencies</a:t>
            </a:r>
          </a:p>
          <a:p>
            <a:pPr lvl="1">
              <a:buClrTx/>
            </a:pPr>
            <a:r>
              <a:rPr lang="en-GB" noProof="0" dirty="0" smtClean="0"/>
              <a:t>To analyse the processes / problems</a:t>
            </a:r>
          </a:p>
          <a:p>
            <a:pPr lvl="1">
              <a:buClrTx/>
            </a:pPr>
            <a:r>
              <a:rPr lang="en-GB" noProof="0" dirty="0" smtClean="0"/>
              <a:t>To identify improvement opportunities</a:t>
            </a:r>
          </a:p>
          <a:p>
            <a:pPr marL="180975" lvl="1" indent="0">
              <a:buNone/>
            </a:pPr>
            <a:endParaRPr lang="en-GB" noProof="0" dirty="0" smtClean="0"/>
          </a:p>
          <a:p>
            <a:pPr marL="180975" lvl="1" indent="0">
              <a:buNone/>
            </a:pPr>
            <a:endParaRPr lang="en-GB" noProof="0" dirty="0" smtClean="0"/>
          </a:p>
        </p:txBody>
      </p:sp>
      <p:pic>
        <p:nvPicPr>
          <p:cNvPr id="2050" name="Picture 2" descr="https://encrypted-tbn2.gstatic.com/images?q=tbn:ANd9GcSLWP4AyzfXAoQd1zMh0vV9hIiL2ZrrA04fdRcppKOiSvBwp8M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6617" y="4247927"/>
            <a:ext cx="3773778" cy="22322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GB" noProof="0" smtClean="0"/>
              <a:t>Process Mapping</a:t>
            </a:r>
            <a:endParaRPr lang="en-GB" noProof="0" dirty="0" smtClean="0"/>
          </a:p>
        </p:txBody>
      </p:sp>
      <p:sp>
        <p:nvSpPr>
          <p:cNvPr id="13315" name="Rectangle 3"/>
          <p:cNvSpPr>
            <a:spLocks noGrp="1" noChangeArrowheads="1"/>
          </p:cNvSpPr>
          <p:nvPr>
            <p:ph idx="1"/>
          </p:nvPr>
        </p:nvSpPr>
        <p:spPr/>
        <p:txBody>
          <a:bodyPr/>
          <a:lstStyle/>
          <a:p>
            <a:r>
              <a:rPr lang="en-GB" noProof="0" dirty="0" smtClean="0"/>
              <a:t>Process flow or flowchart</a:t>
            </a:r>
          </a:p>
          <a:p>
            <a:endParaRPr lang="en-GB" sz="1600" noProof="0" dirty="0" smtClean="0"/>
          </a:p>
          <a:p>
            <a:pPr lvl="1">
              <a:buClrTx/>
            </a:pPr>
            <a:r>
              <a:rPr lang="en-GB" noProof="0" dirty="0" smtClean="0"/>
              <a:t>Schematic representation of the current/ suggested process flow</a:t>
            </a:r>
          </a:p>
          <a:p>
            <a:pPr lvl="1">
              <a:buClrTx/>
            </a:pPr>
            <a:r>
              <a:rPr lang="en-GB" noProof="0" dirty="0" smtClean="0"/>
              <a:t>Overview of activities and decision points</a:t>
            </a:r>
          </a:p>
          <a:p>
            <a:pPr lvl="1">
              <a:buClrTx/>
            </a:pPr>
            <a:r>
              <a:rPr lang="en-GB" noProof="0" dirty="0" smtClean="0"/>
              <a:t>Has a clear beginning (start) and end (stop)</a:t>
            </a:r>
          </a:p>
          <a:p>
            <a:pPr lvl="1"/>
            <a:endParaRPr lang="en-GB" noProof="0" dirty="0" smtClean="0"/>
          </a:p>
          <a:p>
            <a:pPr indent="-165100"/>
            <a:r>
              <a:rPr lang="en-GB" sz="1800" dirty="0" smtClean="0"/>
              <a:t>Process map symbols (examples)</a:t>
            </a:r>
          </a:p>
          <a:p>
            <a:endParaRPr lang="en-GB" noProof="0" dirty="0" smtClean="0"/>
          </a:p>
        </p:txBody>
      </p:sp>
      <p:grpSp>
        <p:nvGrpSpPr>
          <p:cNvPr id="2" name="Group 36"/>
          <p:cNvGrpSpPr>
            <a:grpSpLocks/>
          </p:cNvGrpSpPr>
          <p:nvPr/>
        </p:nvGrpSpPr>
        <p:grpSpPr bwMode="auto">
          <a:xfrm>
            <a:off x="8188905" y="2541551"/>
            <a:ext cx="1853135" cy="3959846"/>
            <a:chOff x="3922" y="891"/>
            <a:chExt cx="1462" cy="3038"/>
          </a:xfrm>
        </p:grpSpPr>
        <p:sp>
          <p:nvSpPr>
            <p:cNvPr id="13317" name="AutoShape 9"/>
            <p:cNvSpPr>
              <a:spLocks noChangeArrowheads="1"/>
            </p:cNvSpPr>
            <p:nvPr/>
          </p:nvSpPr>
          <p:spPr bwMode="auto">
            <a:xfrm>
              <a:off x="3923" y="891"/>
              <a:ext cx="544" cy="227"/>
            </a:xfrm>
            <a:prstGeom prst="flowChartTerminator">
              <a:avLst/>
            </a:prstGeom>
            <a:solidFill>
              <a:schemeClr val="accent2"/>
            </a:solidFill>
            <a:ln w="9525">
              <a:solidFill>
                <a:schemeClr val="tx1"/>
              </a:solidFill>
              <a:miter lim="800000"/>
              <a:headEnd/>
              <a:tailEnd/>
            </a:ln>
          </p:spPr>
          <p:txBody>
            <a:bodyPr wrap="none" anchor="ctr"/>
            <a:lstStyle/>
            <a:p>
              <a:pPr algn="ctr"/>
              <a:r>
                <a:rPr lang="nl-NL" sz="1600" b="1" dirty="0">
                  <a:solidFill>
                    <a:schemeClr val="accent6"/>
                  </a:solidFill>
                </a:rPr>
                <a:t>Start</a:t>
              </a:r>
            </a:p>
          </p:txBody>
        </p:sp>
        <p:sp>
          <p:nvSpPr>
            <p:cNvPr id="13318" name="AutoShape 10"/>
            <p:cNvSpPr>
              <a:spLocks noChangeArrowheads="1"/>
            </p:cNvSpPr>
            <p:nvPr/>
          </p:nvSpPr>
          <p:spPr bwMode="auto">
            <a:xfrm>
              <a:off x="3923" y="1254"/>
              <a:ext cx="545" cy="227"/>
            </a:xfrm>
            <a:prstGeom prst="flowChartProcess">
              <a:avLst/>
            </a:prstGeom>
            <a:solidFill>
              <a:schemeClr val="accent2"/>
            </a:solidFill>
            <a:ln w="9525">
              <a:solidFill>
                <a:schemeClr val="tx1"/>
              </a:solidFill>
              <a:miter lim="800000"/>
              <a:headEnd/>
              <a:tailEnd/>
            </a:ln>
          </p:spPr>
          <p:txBody>
            <a:bodyPr wrap="none" anchor="ctr"/>
            <a:lstStyle/>
            <a:p>
              <a:pPr algn="ctr"/>
              <a:r>
                <a:rPr lang="nl-NL" sz="1600" b="1" dirty="0">
                  <a:solidFill>
                    <a:schemeClr val="accent6"/>
                  </a:solidFill>
                </a:rPr>
                <a:t>Step 1</a:t>
              </a:r>
            </a:p>
          </p:txBody>
        </p:sp>
        <p:sp>
          <p:nvSpPr>
            <p:cNvPr id="13319" name="AutoShape 17"/>
            <p:cNvSpPr>
              <a:spLocks noChangeArrowheads="1"/>
            </p:cNvSpPr>
            <p:nvPr/>
          </p:nvSpPr>
          <p:spPr bwMode="auto">
            <a:xfrm>
              <a:off x="3922" y="1707"/>
              <a:ext cx="545" cy="272"/>
            </a:xfrm>
            <a:prstGeom prst="flowChartProcess">
              <a:avLst/>
            </a:prstGeom>
            <a:solidFill>
              <a:schemeClr val="accent2"/>
            </a:solidFill>
            <a:ln w="9525">
              <a:solidFill>
                <a:schemeClr val="tx1"/>
              </a:solidFill>
              <a:miter lim="800000"/>
              <a:headEnd/>
              <a:tailEnd/>
            </a:ln>
          </p:spPr>
          <p:txBody>
            <a:bodyPr wrap="none" anchor="ctr"/>
            <a:lstStyle/>
            <a:p>
              <a:pPr algn="ctr"/>
              <a:r>
                <a:rPr lang="nl-NL" sz="1600" b="1" dirty="0">
                  <a:solidFill>
                    <a:schemeClr val="accent6"/>
                  </a:solidFill>
                </a:rPr>
                <a:t>Step 2</a:t>
              </a:r>
            </a:p>
          </p:txBody>
        </p:sp>
        <p:sp>
          <p:nvSpPr>
            <p:cNvPr id="13320" name="AutoShape 18"/>
            <p:cNvSpPr>
              <a:spLocks noChangeArrowheads="1"/>
            </p:cNvSpPr>
            <p:nvPr/>
          </p:nvSpPr>
          <p:spPr bwMode="auto">
            <a:xfrm>
              <a:off x="3934" y="2161"/>
              <a:ext cx="521" cy="363"/>
            </a:xfrm>
            <a:prstGeom prst="flowChartDecision">
              <a:avLst/>
            </a:prstGeom>
            <a:solidFill>
              <a:schemeClr val="accent2"/>
            </a:solidFill>
            <a:ln w="9525">
              <a:solidFill>
                <a:schemeClr val="tx1"/>
              </a:solidFill>
              <a:miter lim="800000"/>
              <a:headEnd/>
              <a:tailEnd/>
            </a:ln>
          </p:spPr>
          <p:txBody>
            <a:bodyPr wrap="none" anchor="ctr"/>
            <a:lstStyle/>
            <a:p>
              <a:pPr algn="ctr"/>
              <a:r>
                <a:rPr lang="nl-NL" b="1" dirty="0">
                  <a:solidFill>
                    <a:schemeClr val="accent6"/>
                  </a:solidFill>
                </a:rPr>
                <a:t>?</a:t>
              </a:r>
            </a:p>
          </p:txBody>
        </p:sp>
        <p:sp>
          <p:nvSpPr>
            <p:cNvPr id="13321" name="AutoShape 19"/>
            <p:cNvSpPr>
              <a:spLocks noChangeArrowheads="1"/>
            </p:cNvSpPr>
            <p:nvPr/>
          </p:nvSpPr>
          <p:spPr bwMode="auto">
            <a:xfrm>
              <a:off x="3922" y="2705"/>
              <a:ext cx="545" cy="272"/>
            </a:xfrm>
            <a:prstGeom prst="flowChartProcess">
              <a:avLst/>
            </a:prstGeom>
            <a:solidFill>
              <a:schemeClr val="accent2"/>
            </a:solidFill>
            <a:ln w="9525">
              <a:solidFill>
                <a:schemeClr val="tx1"/>
              </a:solidFill>
              <a:miter lim="800000"/>
              <a:headEnd/>
              <a:tailEnd/>
            </a:ln>
          </p:spPr>
          <p:txBody>
            <a:bodyPr wrap="none" anchor="ctr"/>
            <a:lstStyle/>
            <a:p>
              <a:pPr algn="ctr"/>
              <a:r>
                <a:rPr lang="nl-NL" sz="1600" b="1" dirty="0">
                  <a:solidFill>
                    <a:schemeClr val="accent6"/>
                  </a:solidFill>
                </a:rPr>
                <a:t>Step 3</a:t>
              </a:r>
            </a:p>
          </p:txBody>
        </p:sp>
        <p:sp>
          <p:nvSpPr>
            <p:cNvPr id="13322" name="AutoShape 20"/>
            <p:cNvSpPr>
              <a:spLocks noChangeArrowheads="1"/>
            </p:cNvSpPr>
            <p:nvPr/>
          </p:nvSpPr>
          <p:spPr bwMode="auto">
            <a:xfrm>
              <a:off x="3922" y="3204"/>
              <a:ext cx="545" cy="272"/>
            </a:xfrm>
            <a:prstGeom prst="flowChartProcess">
              <a:avLst/>
            </a:prstGeom>
            <a:solidFill>
              <a:schemeClr val="accent2"/>
            </a:solidFill>
            <a:ln w="9525">
              <a:solidFill>
                <a:schemeClr val="tx1"/>
              </a:solidFill>
              <a:miter lim="800000"/>
              <a:headEnd/>
              <a:tailEnd/>
            </a:ln>
          </p:spPr>
          <p:txBody>
            <a:bodyPr wrap="none" anchor="ctr"/>
            <a:lstStyle/>
            <a:p>
              <a:pPr algn="ctr"/>
              <a:r>
                <a:rPr lang="nl-NL" sz="1600" b="1" dirty="0">
                  <a:solidFill>
                    <a:schemeClr val="accent6"/>
                  </a:solidFill>
                </a:rPr>
                <a:t>Step 4</a:t>
              </a:r>
            </a:p>
          </p:txBody>
        </p:sp>
        <p:sp>
          <p:nvSpPr>
            <p:cNvPr id="13323" name="AutoShape 21"/>
            <p:cNvSpPr>
              <a:spLocks noChangeArrowheads="1"/>
            </p:cNvSpPr>
            <p:nvPr/>
          </p:nvSpPr>
          <p:spPr bwMode="auto">
            <a:xfrm>
              <a:off x="3923" y="3702"/>
              <a:ext cx="544" cy="227"/>
            </a:xfrm>
            <a:prstGeom prst="flowChartTerminator">
              <a:avLst/>
            </a:prstGeom>
            <a:solidFill>
              <a:schemeClr val="accent2"/>
            </a:solidFill>
            <a:ln w="9525">
              <a:solidFill>
                <a:schemeClr val="tx1"/>
              </a:solidFill>
              <a:miter lim="800000"/>
              <a:headEnd/>
              <a:tailEnd/>
            </a:ln>
          </p:spPr>
          <p:txBody>
            <a:bodyPr wrap="none" anchor="ctr"/>
            <a:lstStyle/>
            <a:p>
              <a:pPr algn="ctr"/>
              <a:r>
                <a:rPr lang="nl-NL" sz="1600" b="1" dirty="0">
                  <a:solidFill>
                    <a:schemeClr val="accent6"/>
                  </a:solidFill>
                </a:rPr>
                <a:t>Stop</a:t>
              </a:r>
            </a:p>
          </p:txBody>
        </p:sp>
        <p:sp>
          <p:nvSpPr>
            <p:cNvPr id="13324" name="AutoShape 22"/>
            <p:cNvSpPr>
              <a:spLocks noChangeArrowheads="1"/>
            </p:cNvSpPr>
            <p:nvPr/>
          </p:nvSpPr>
          <p:spPr bwMode="auto">
            <a:xfrm>
              <a:off x="4839" y="2205"/>
              <a:ext cx="545" cy="272"/>
            </a:xfrm>
            <a:prstGeom prst="flowChartProcess">
              <a:avLst/>
            </a:prstGeom>
            <a:solidFill>
              <a:schemeClr val="accent2"/>
            </a:solidFill>
            <a:ln w="9525">
              <a:solidFill>
                <a:schemeClr val="tx1"/>
              </a:solidFill>
              <a:miter lim="800000"/>
              <a:headEnd/>
              <a:tailEnd/>
            </a:ln>
          </p:spPr>
          <p:txBody>
            <a:bodyPr wrap="none" anchor="ctr"/>
            <a:lstStyle/>
            <a:p>
              <a:pPr algn="ctr"/>
              <a:r>
                <a:rPr lang="nl-NL" sz="1600" b="1" dirty="0">
                  <a:solidFill>
                    <a:schemeClr val="accent6"/>
                  </a:solidFill>
                </a:rPr>
                <a:t>Step 5</a:t>
              </a:r>
            </a:p>
          </p:txBody>
        </p:sp>
        <p:sp>
          <p:nvSpPr>
            <p:cNvPr id="13325" name="AutoShape 23"/>
            <p:cNvSpPr>
              <a:spLocks noChangeArrowheads="1"/>
            </p:cNvSpPr>
            <p:nvPr/>
          </p:nvSpPr>
          <p:spPr bwMode="auto">
            <a:xfrm>
              <a:off x="4830" y="2705"/>
              <a:ext cx="545" cy="272"/>
            </a:xfrm>
            <a:prstGeom prst="flowChartProcess">
              <a:avLst/>
            </a:prstGeom>
            <a:solidFill>
              <a:schemeClr val="accent2"/>
            </a:solidFill>
            <a:ln w="9525">
              <a:solidFill>
                <a:schemeClr val="tx1"/>
              </a:solidFill>
              <a:miter lim="800000"/>
              <a:headEnd/>
              <a:tailEnd/>
            </a:ln>
          </p:spPr>
          <p:txBody>
            <a:bodyPr wrap="none" anchor="ctr"/>
            <a:lstStyle/>
            <a:p>
              <a:pPr algn="ctr"/>
              <a:r>
                <a:rPr lang="nl-NL" sz="1600" b="1" dirty="0">
                  <a:solidFill>
                    <a:schemeClr val="accent6"/>
                  </a:solidFill>
                </a:rPr>
                <a:t>Step 6</a:t>
              </a:r>
            </a:p>
          </p:txBody>
        </p:sp>
        <p:cxnSp>
          <p:nvCxnSpPr>
            <p:cNvPr id="13326" name="AutoShape 24"/>
            <p:cNvCxnSpPr>
              <a:cxnSpLocks noChangeShapeType="1"/>
              <a:stCxn id="13317" idx="2"/>
              <a:endCxn id="13318" idx="0"/>
            </p:cNvCxnSpPr>
            <p:nvPr/>
          </p:nvCxnSpPr>
          <p:spPr bwMode="auto">
            <a:xfrm>
              <a:off x="4195" y="1118"/>
              <a:ext cx="1" cy="13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27" name="AutoShape 25"/>
            <p:cNvCxnSpPr>
              <a:cxnSpLocks noChangeShapeType="1"/>
              <a:stCxn id="13318" idx="2"/>
              <a:endCxn id="13319" idx="0"/>
            </p:cNvCxnSpPr>
            <p:nvPr/>
          </p:nvCxnSpPr>
          <p:spPr bwMode="auto">
            <a:xfrm flipH="1">
              <a:off x="4195" y="1481"/>
              <a:ext cx="1" cy="22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28" name="AutoShape 26"/>
            <p:cNvCxnSpPr>
              <a:cxnSpLocks noChangeShapeType="1"/>
              <a:stCxn id="13319" idx="2"/>
              <a:endCxn id="13320" idx="0"/>
            </p:cNvCxnSpPr>
            <p:nvPr/>
          </p:nvCxnSpPr>
          <p:spPr bwMode="auto">
            <a:xfrm>
              <a:off x="4195" y="1979"/>
              <a:ext cx="0" cy="18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29" name="AutoShape 27"/>
            <p:cNvCxnSpPr>
              <a:cxnSpLocks noChangeShapeType="1"/>
              <a:stCxn id="13320" idx="2"/>
              <a:endCxn id="13321" idx="0"/>
            </p:cNvCxnSpPr>
            <p:nvPr/>
          </p:nvCxnSpPr>
          <p:spPr bwMode="auto">
            <a:xfrm>
              <a:off x="4195" y="2524"/>
              <a:ext cx="0" cy="1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30" name="AutoShape 28"/>
            <p:cNvCxnSpPr>
              <a:cxnSpLocks noChangeShapeType="1"/>
              <a:stCxn id="13321" idx="2"/>
              <a:endCxn id="13322" idx="0"/>
            </p:cNvCxnSpPr>
            <p:nvPr/>
          </p:nvCxnSpPr>
          <p:spPr bwMode="auto">
            <a:xfrm>
              <a:off x="4195" y="2977"/>
              <a:ext cx="0" cy="22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31" name="AutoShape 29"/>
            <p:cNvCxnSpPr>
              <a:cxnSpLocks noChangeShapeType="1"/>
              <a:stCxn id="13322" idx="2"/>
              <a:endCxn id="13323" idx="0"/>
            </p:cNvCxnSpPr>
            <p:nvPr/>
          </p:nvCxnSpPr>
          <p:spPr bwMode="auto">
            <a:xfrm>
              <a:off x="4195" y="3476"/>
              <a:ext cx="1" cy="22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32" name="AutoShape 30"/>
            <p:cNvCxnSpPr>
              <a:cxnSpLocks noChangeShapeType="1"/>
              <a:stCxn id="13320" idx="3"/>
              <a:endCxn id="13324" idx="1"/>
            </p:cNvCxnSpPr>
            <p:nvPr/>
          </p:nvCxnSpPr>
          <p:spPr bwMode="auto">
            <a:xfrm flipV="1">
              <a:off x="4455" y="2341"/>
              <a:ext cx="384" cy="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33" name="AutoShape 31"/>
            <p:cNvCxnSpPr>
              <a:cxnSpLocks noChangeShapeType="1"/>
              <a:stCxn id="13324" idx="2"/>
              <a:endCxn id="13325" idx="0"/>
            </p:cNvCxnSpPr>
            <p:nvPr/>
          </p:nvCxnSpPr>
          <p:spPr bwMode="auto">
            <a:xfrm flipH="1">
              <a:off x="5103" y="2477"/>
              <a:ext cx="9" cy="22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34" name="AutoShape 33"/>
            <p:cNvCxnSpPr>
              <a:cxnSpLocks noChangeShapeType="1"/>
              <a:stCxn id="13325" idx="2"/>
              <a:endCxn id="13322" idx="0"/>
            </p:cNvCxnSpPr>
            <p:nvPr/>
          </p:nvCxnSpPr>
          <p:spPr bwMode="auto">
            <a:xfrm rot="5400000">
              <a:off x="4535" y="2636"/>
              <a:ext cx="227" cy="908"/>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3335" name="Text Box 34"/>
            <p:cNvSpPr txBox="1">
              <a:spLocks noChangeArrowheads="1"/>
            </p:cNvSpPr>
            <p:nvPr/>
          </p:nvSpPr>
          <p:spPr bwMode="auto">
            <a:xfrm>
              <a:off x="4411" y="2190"/>
              <a:ext cx="30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nl-NL" sz="1200" b="1" dirty="0"/>
                <a:t>No</a:t>
              </a:r>
            </a:p>
          </p:txBody>
        </p:sp>
        <p:sp>
          <p:nvSpPr>
            <p:cNvPr id="13336" name="Text Box 35"/>
            <p:cNvSpPr txBox="1">
              <a:spLocks noChangeArrowheads="1"/>
            </p:cNvSpPr>
            <p:nvPr/>
          </p:nvSpPr>
          <p:spPr bwMode="auto">
            <a:xfrm>
              <a:off x="4168" y="2504"/>
              <a:ext cx="35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200" b="1" dirty="0"/>
                <a:t>Yes</a:t>
              </a:r>
              <a:endParaRPr lang="nl-NL" sz="1200" b="1" dirty="0"/>
            </a:p>
          </p:txBody>
        </p:sp>
      </p:grpSp>
      <p:sp>
        <p:nvSpPr>
          <p:cNvPr id="43" name="AutoShape 18"/>
          <p:cNvSpPr>
            <a:spLocks noChangeArrowheads="1"/>
          </p:cNvSpPr>
          <p:nvPr/>
        </p:nvSpPr>
        <p:spPr bwMode="auto">
          <a:xfrm>
            <a:off x="948431" y="3938341"/>
            <a:ext cx="1114425" cy="457200"/>
          </a:xfrm>
          <a:prstGeom prst="flowChartProcess">
            <a:avLst/>
          </a:prstGeom>
          <a:solidFill>
            <a:schemeClr val="accent2"/>
          </a:solidFill>
          <a:ln w="9525">
            <a:solidFill>
              <a:schemeClr val="tx1"/>
            </a:solidFill>
            <a:miter lim="800000"/>
            <a:headEnd/>
            <a:tailEnd/>
          </a:ln>
        </p:spPr>
        <p:txBody>
          <a:bodyPr wrap="none" anchor="ctr"/>
          <a:lstStyle/>
          <a:p>
            <a:pPr algn="ctr"/>
            <a:r>
              <a:rPr lang="nl-NL" dirty="0">
                <a:solidFill>
                  <a:schemeClr val="accent6"/>
                </a:solidFill>
              </a:rPr>
              <a:t>Step A</a:t>
            </a:r>
          </a:p>
        </p:txBody>
      </p:sp>
      <p:sp>
        <p:nvSpPr>
          <p:cNvPr id="44" name="AutoShape 17"/>
          <p:cNvSpPr>
            <a:spLocks noChangeArrowheads="1"/>
          </p:cNvSpPr>
          <p:nvPr/>
        </p:nvSpPr>
        <p:spPr bwMode="auto">
          <a:xfrm>
            <a:off x="776981" y="4683382"/>
            <a:ext cx="1543050" cy="685800"/>
          </a:xfrm>
          <a:prstGeom prst="flowChartDecision">
            <a:avLst/>
          </a:prstGeom>
          <a:solidFill>
            <a:schemeClr val="accent2"/>
          </a:solidFill>
          <a:ln w="9525">
            <a:solidFill>
              <a:schemeClr val="tx1"/>
            </a:solidFill>
            <a:miter lim="800000"/>
            <a:headEnd/>
            <a:tailEnd/>
          </a:ln>
        </p:spPr>
        <p:txBody>
          <a:bodyPr wrap="none" anchor="ctr"/>
          <a:lstStyle/>
          <a:p>
            <a:pPr algn="ctr"/>
            <a:r>
              <a:rPr lang="en-US" dirty="0">
                <a:solidFill>
                  <a:schemeClr val="accent6"/>
                </a:solidFill>
              </a:rPr>
              <a:t>Decide</a:t>
            </a:r>
            <a:endParaRPr lang="nl-NL" dirty="0">
              <a:solidFill>
                <a:schemeClr val="accent6"/>
              </a:solidFill>
            </a:endParaRPr>
          </a:p>
        </p:txBody>
      </p:sp>
      <p:sp>
        <p:nvSpPr>
          <p:cNvPr id="45" name="Line 10"/>
          <p:cNvSpPr>
            <a:spLocks noChangeShapeType="1"/>
          </p:cNvSpPr>
          <p:nvPr/>
        </p:nvSpPr>
        <p:spPr bwMode="auto">
          <a:xfrm>
            <a:off x="1205606" y="5551383"/>
            <a:ext cx="60007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nl-NL" dirty="0"/>
          </a:p>
        </p:txBody>
      </p:sp>
      <p:sp>
        <p:nvSpPr>
          <p:cNvPr id="46" name="AutoShape 15"/>
          <p:cNvSpPr>
            <a:spLocks noChangeArrowheads="1"/>
          </p:cNvSpPr>
          <p:nvPr/>
        </p:nvSpPr>
        <p:spPr bwMode="auto">
          <a:xfrm>
            <a:off x="1034156" y="5956126"/>
            <a:ext cx="1028700" cy="457200"/>
          </a:xfrm>
          <a:prstGeom prst="flowChartTerminator">
            <a:avLst/>
          </a:prstGeom>
          <a:solidFill>
            <a:schemeClr val="accent2"/>
          </a:solidFill>
          <a:ln w="9525">
            <a:solidFill>
              <a:schemeClr val="tx1"/>
            </a:solidFill>
            <a:miter lim="800000"/>
            <a:headEnd/>
            <a:tailEnd/>
          </a:ln>
        </p:spPr>
        <p:txBody>
          <a:bodyPr wrap="none" anchor="ctr"/>
          <a:lstStyle/>
          <a:p>
            <a:pPr algn="ctr"/>
            <a:r>
              <a:rPr lang="nl-NL" dirty="0">
                <a:solidFill>
                  <a:schemeClr val="accent6"/>
                </a:solidFill>
              </a:rPr>
              <a:t>Start</a:t>
            </a:r>
          </a:p>
        </p:txBody>
      </p:sp>
      <p:sp>
        <p:nvSpPr>
          <p:cNvPr id="47" name="Text Box 4"/>
          <p:cNvSpPr txBox="1">
            <a:spLocks noChangeArrowheads="1"/>
          </p:cNvSpPr>
          <p:nvPr/>
        </p:nvSpPr>
        <p:spPr bwMode="blackWhite">
          <a:xfrm>
            <a:off x="2465906" y="3872171"/>
            <a:ext cx="317182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436" tIns="45718" rIns="91436" bIns="45718"/>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30000"/>
              </a:spcBef>
            </a:pPr>
            <a:r>
              <a:rPr lang="en-US" sz="1100" b="1" dirty="0"/>
              <a:t>Activity</a:t>
            </a:r>
            <a:r>
              <a:rPr lang="en-US" sz="1100" dirty="0"/>
              <a:t> </a:t>
            </a:r>
          </a:p>
          <a:p>
            <a:pPr>
              <a:spcBef>
                <a:spcPct val="30000"/>
              </a:spcBef>
            </a:pPr>
            <a:r>
              <a:rPr lang="en-US" sz="1100" dirty="0"/>
              <a:t>Should start with a verb</a:t>
            </a:r>
          </a:p>
        </p:txBody>
      </p:sp>
      <p:sp>
        <p:nvSpPr>
          <p:cNvPr id="48" name="Text Box 5"/>
          <p:cNvSpPr txBox="1">
            <a:spLocks noChangeArrowheads="1"/>
          </p:cNvSpPr>
          <p:nvPr/>
        </p:nvSpPr>
        <p:spPr bwMode="blackWhite">
          <a:xfrm>
            <a:off x="2465905" y="4623057"/>
            <a:ext cx="4135757"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436" tIns="45718" rIns="91436" bIns="45718"/>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30000"/>
              </a:spcBef>
            </a:pPr>
            <a:r>
              <a:rPr lang="en-US" sz="1100" b="1" dirty="0"/>
              <a:t>Decision Point</a:t>
            </a:r>
            <a:endParaRPr lang="en-US" sz="1100" dirty="0"/>
          </a:p>
          <a:p>
            <a:pPr>
              <a:spcBef>
                <a:spcPct val="30000"/>
              </a:spcBef>
            </a:pPr>
            <a:r>
              <a:rPr lang="en-US" sz="1100" dirty="0"/>
              <a:t>At least two paths emerge from a decision point. Usually: Yes and No</a:t>
            </a:r>
          </a:p>
        </p:txBody>
      </p:sp>
      <p:sp>
        <p:nvSpPr>
          <p:cNvPr id="49" name="Text Box 8"/>
          <p:cNvSpPr txBox="1">
            <a:spLocks noChangeArrowheads="1"/>
          </p:cNvSpPr>
          <p:nvPr/>
        </p:nvSpPr>
        <p:spPr bwMode="blackWhite">
          <a:xfrm>
            <a:off x="2448043" y="5346020"/>
            <a:ext cx="4153618"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436" tIns="45718" rIns="91436" bIns="45718"/>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30000"/>
              </a:spcBef>
            </a:pPr>
            <a:r>
              <a:rPr lang="en-US" sz="1100" b="1" dirty="0"/>
              <a:t>Direction </a:t>
            </a:r>
          </a:p>
          <a:p>
            <a:pPr>
              <a:spcBef>
                <a:spcPct val="30000"/>
              </a:spcBef>
            </a:pPr>
            <a:r>
              <a:rPr lang="en-US" sz="1100" dirty="0"/>
              <a:t>Shows connection and direction of flow</a:t>
            </a:r>
          </a:p>
        </p:txBody>
      </p:sp>
      <p:sp>
        <p:nvSpPr>
          <p:cNvPr id="50" name="Text Box 6"/>
          <p:cNvSpPr txBox="1">
            <a:spLocks noChangeArrowheads="1"/>
          </p:cNvSpPr>
          <p:nvPr/>
        </p:nvSpPr>
        <p:spPr bwMode="blackWhite">
          <a:xfrm>
            <a:off x="2479417" y="6013276"/>
            <a:ext cx="24860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436" tIns="45718" rIns="91436" bIns="45718"/>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30000"/>
              </a:spcBef>
            </a:pPr>
            <a:r>
              <a:rPr lang="en-US" sz="1100" b="1" dirty="0"/>
              <a:t>Start / End</a:t>
            </a:r>
          </a:p>
          <a:p>
            <a:pPr>
              <a:spcBef>
                <a:spcPct val="30000"/>
              </a:spcBef>
            </a:pPr>
            <a:r>
              <a:rPr lang="en-US" sz="1100" dirty="0"/>
              <a:t>Start or end of a process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0923" y="2436814"/>
            <a:ext cx="7127677" cy="397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87" name="Rectangle 2"/>
          <p:cNvSpPr>
            <a:spLocks noGrp="1" noChangeArrowheads="1"/>
          </p:cNvSpPr>
          <p:nvPr>
            <p:ph type="title"/>
          </p:nvPr>
        </p:nvSpPr>
        <p:spPr/>
        <p:txBody>
          <a:bodyPr/>
          <a:lstStyle/>
          <a:p>
            <a:r>
              <a:rPr lang="en-GB" noProof="0" smtClean="0"/>
              <a:t>Process Mapping</a:t>
            </a:r>
            <a:endParaRPr lang="en-GB" noProof="0" dirty="0" smtClean="0"/>
          </a:p>
        </p:txBody>
      </p:sp>
      <p:sp>
        <p:nvSpPr>
          <p:cNvPr id="16388" name="Rectangle 3"/>
          <p:cNvSpPr>
            <a:spLocks noGrp="1" noChangeArrowheads="1"/>
          </p:cNvSpPr>
          <p:nvPr>
            <p:ph idx="1"/>
          </p:nvPr>
        </p:nvSpPr>
        <p:spPr/>
        <p:txBody>
          <a:bodyPr/>
          <a:lstStyle/>
          <a:p>
            <a:r>
              <a:rPr lang="en-GB" noProof="0" dirty="0" smtClean="0"/>
              <a:t>Three interpretations of a process</a:t>
            </a:r>
          </a:p>
          <a:p>
            <a:pPr marL="0" indent="0"/>
            <a:endParaRPr lang="en-GB" sz="1600" dirty="0" smtClean="0"/>
          </a:p>
          <a:p>
            <a:pPr lvl="1">
              <a:buClrTx/>
            </a:pPr>
            <a:r>
              <a:rPr lang="en-GB" sz="1600" dirty="0" smtClean="0"/>
              <a:t>The process as you THINK it is:</a:t>
            </a:r>
          </a:p>
          <a:p>
            <a:pPr marL="441325" indent="-258763">
              <a:buFont typeface="Arial" panose="020B0604020202020204" pitchFamily="34" charset="0"/>
              <a:buChar char="•"/>
            </a:pPr>
            <a:endParaRPr lang="en-GB" sz="1600" dirty="0"/>
          </a:p>
          <a:p>
            <a:pPr marL="441325" indent="-258763">
              <a:buFont typeface="Arial" panose="020B0604020202020204" pitchFamily="34" charset="0"/>
              <a:buChar char="•"/>
            </a:pPr>
            <a:endParaRPr lang="en-GB" sz="1600" dirty="0" smtClean="0"/>
          </a:p>
          <a:p>
            <a:pPr marL="441325" indent="-258763">
              <a:buFont typeface="Arial" panose="020B0604020202020204" pitchFamily="34" charset="0"/>
              <a:buChar char="•"/>
            </a:pPr>
            <a:endParaRPr lang="en-GB" sz="1600" dirty="0"/>
          </a:p>
          <a:p>
            <a:pPr lvl="1">
              <a:buClrTx/>
            </a:pPr>
            <a:r>
              <a:rPr lang="en-GB" sz="1600" dirty="0" smtClean="0"/>
              <a:t>The process as it ACTUALLY is:</a:t>
            </a:r>
          </a:p>
          <a:p>
            <a:pPr lvl="1">
              <a:buClrTx/>
            </a:pPr>
            <a:endParaRPr lang="en-GB" dirty="0"/>
          </a:p>
          <a:p>
            <a:pPr lvl="1">
              <a:buClrTx/>
            </a:pPr>
            <a:endParaRPr lang="en-GB" sz="1600" dirty="0" smtClean="0"/>
          </a:p>
          <a:p>
            <a:pPr marL="441325" indent="-258763">
              <a:buFont typeface="Arial" panose="020B0604020202020204" pitchFamily="34" charset="0"/>
              <a:buChar char="•"/>
            </a:pPr>
            <a:endParaRPr lang="en-GB" sz="1600" dirty="0"/>
          </a:p>
          <a:p>
            <a:pPr marL="441325" indent="-258763">
              <a:buFont typeface="Arial" panose="020B0604020202020204" pitchFamily="34" charset="0"/>
              <a:buChar char="•"/>
            </a:pPr>
            <a:endParaRPr lang="en-GB" sz="1600" dirty="0" smtClean="0"/>
          </a:p>
          <a:p>
            <a:pPr marL="441325" indent="-258763">
              <a:buFont typeface="Arial" panose="020B0604020202020204" pitchFamily="34" charset="0"/>
              <a:buChar char="•"/>
            </a:pPr>
            <a:endParaRPr lang="en-GB" sz="1600" dirty="0"/>
          </a:p>
          <a:p>
            <a:pPr lvl="1">
              <a:buClrTx/>
            </a:pPr>
            <a:r>
              <a:rPr lang="en-GB" sz="1600" dirty="0" smtClean="0"/>
              <a:t>The process as it SHOULD be:</a:t>
            </a:r>
            <a:endParaRPr lang="en-GB" sz="1600" dirty="0"/>
          </a:p>
          <a:p>
            <a:pPr marL="0" indent="0"/>
            <a:endParaRPr lang="en-GB" dirty="0"/>
          </a:p>
          <a:p>
            <a:endParaRPr lang="en-GB" noProof="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noProof="0" smtClean="0"/>
              <a:t>Process Mapping</a:t>
            </a:r>
            <a:endParaRPr lang="en-GB" noProof="0" dirty="0" smtClean="0"/>
          </a:p>
        </p:txBody>
      </p:sp>
      <p:sp>
        <p:nvSpPr>
          <p:cNvPr id="18435" name="Rectangle 3"/>
          <p:cNvSpPr>
            <a:spLocks noGrp="1" noChangeArrowheads="1"/>
          </p:cNvSpPr>
          <p:nvPr>
            <p:ph idx="1"/>
          </p:nvPr>
        </p:nvSpPr>
        <p:spPr>
          <a:xfrm>
            <a:off x="810815" y="1439863"/>
            <a:ext cx="9274233" cy="5040312"/>
          </a:xfrm>
        </p:spPr>
        <p:txBody>
          <a:bodyPr/>
          <a:lstStyle/>
          <a:p>
            <a:r>
              <a:rPr lang="en-GB" noProof="0" dirty="0" smtClean="0"/>
              <a:t>Example creating a </a:t>
            </a:r>
            <a:r>
              <a:rPr lang="en-GB" dirty="0" smtClean="0"/>
              <a:t>flowchart</a:t>
            </a:r>
            <a:r>
              <a:rPr lang="en-GB" noProof="0" dirty="0" smtClean="0"/>
              <a:t>: visiting outpatient clinic</a:t>
            </a:r>
          </a:p>
          <a:p>
            <a:endParaRPr lang="en-GB" sz="1800" dirty="0" smtClean="0"/>
          </a:p>
          <a:p>
            <a:pPr marL="182562" indent="0"/>
            <a:r>
              <a:rPr lang="en-GB" sz="1800" noProof="0" dirty="0" smtClean="0"/>
              <a:t>Identify the borders of the process</a:t>
            </a:r>
          </a:p>
          <a:p>
            <a:pPr lvl="1">
              <a:buClrTx/>
            </a:pPr>
            <a:r>
              <a:rPr lang="en-GB" noProof="0" dirty="0" smtClean="0"/>
              <a:t>Start: patient checks in</a:t>
            </a:r>
          </a:p>
          <a:p>
            <a:pPr lvl="1">
              <a:buClrTx/>
            </a:pPr>
            <a:r>
              <a:rPr lang="en-GB" noProof="0" dirty="0" smtClean="0"/>
              <a:t>End : patient leaves</a:t>
            </a:r>
          </a:p>
          <a:p>
            <a:pPr marL="180975" lvl="1" indent="0">
              <a:buClrTx/>
              <a:buNone/>
            </a:pPr>
            <a:r>
              <a:rPr lang="en-IE" dirty="0" smtClean="0"/>
              <a:t>							</a:t>
            </a:r>
          </a:p>
          <a:p>
            <a:pPr marL="0" indent="182563"/>
            <a:r>
              <a:rPr lang="en-GB" sz="1800" noProof="0" dirty="0" smtClean="0"/>
              <a:t>Describe the primary purpose and activities</a:t>
            </a:r>
          </a:p>
          <a:p>
            <a:pPr lvl="1">
              <a:buClrTx/>
            </a:pPr>
            <a:r>
              <a:rPr lang="en-GB" noProof="0" dirty="0" smtClean="0"/>
              <a:t> Operational definition</a:t>
            </a:r>
          </a:p>
          <a:p>
            <a:pPr lvl="1">
              <a:buClrTx/>
            </a:pPr>
            <a:endParaRPr lang="en-GB" noProof="0" dirty="0" smtClean="0"/>
          </a:p>
          <a:p>
            <a:pPr marL="0" indent="182563"/>
            <a:r>
              <a:rPr lang="en-GB" sz="1800" noProof="0" dirty="0" smtClean="0"/>
              <a:t>Process Activities</a:t>
            </a:r>
          </a:p>
          <a:p>
            <a:pPr marL="180975" lvl="1" indent="0">
              <a:buClrTx/>
              <a:buNone/>
            </a:pPr>
            <a:r>
              <a:rPr lang="en-GB" noProof="0" dirty="0" smtClean="0"/>
              <a:t>Patient at </a:t>
            </a:r>
            <a:r>
              <a:rPr lang="en-GB" dirty="0" smtClean="0"/>
              <a:t>check in desk </a:t>
            </a:r>
            <a:r>
              <a:rPr lang="en-GB" dirty="0">
                <a:sym typeface="Wingdings" pitchFamily="2" charset="2"/>
              </a:rPr>
              <a:t> </a:t>
            </a:r>
            <a:r>
              <a:rPr lang="en-GB" noProof="0" dirty="0" smtClean="0"/>
              <a:t>Secretary enters patient into system </a:t>
            </a:r>
            <a:r>
              <a:rPr lang="en-GB" noProof="0" dirty="0" smtClean="0">
                <a:sym typeface="Wingdings" pitchFamily="2" charset="2"/>
              </a:rPr>
              <a:t> Secretary takes chart to nurse</a:t>
            </a:r>
            <a:r>
              <a:rPr lang="en-GB" noProof="0" dirty="0" smtClean="0"/>
              <a:t> </a:t>
            </a:r>
            <a:r>
              <a:rPr lang="en-GB" noProof="0" dirty="0" smtClean="0">
                <a:sym typeface="Wingdings" pitchFamily="2" charset="2"/>
              </a:rPr>
              <a:t> Patient taken to room</a:t>
            </a:r>
            <a:r>
              <a:rPr lang="en-GB" noProof="0" dirty="0" smtClean="0"/>
              <a:t> </a:t>
            </a:r>
            <a:r>
              <a:rPr lang="en-GB" noProof="0" dirty="0" smtClean="0">
                <a:sym typeface="Wingdings" pitchFamily="2" charset="2"/>
              </a:rPr>
              <a:t> Visits taken</a:t>
            </a:r>
            <a:r>
              <a:rPr lang="en-GB" noProof="0" dirty="0" smtClean="0"/>
              <a:t> </a:t>
            </a:r>
            <a:r>
              <a:rPr lang="en-GB" noProof="0" dirty="0" smtClean="0">
                <a:sym typeface="Wingdings" pitchFamily="2" charset="2"/>
              </a:rPr>
              <a:t> Chart to doctor  Doctor reviews chart  Doctor </a:t>
            </a:r>
            <a:r>
              <a:rPr lang="en-GB" dirty="0" smtClean="0">
                <a:sym typeface="Wingdings" pitchFamily="2" charset="2"/>
              </a:rPr>
              <a:t>sees patient  Consult with attendant physician  Doctor revisits patient  Patient to check out  Patient leaves clinic  </a:t>
            </a:r>
            <a:endParaRPr lang="en-GB" noProof="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4"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942" y="1905252"/>
            <a:ext cx="9694486" cy="875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8" name="Titel 1"/>
          <p:cNvSpPr>
            <a:spLocks noGrp="1"/>
          </p:cNvSpPr>
          <p:nvPr>
            <p:ph type="title"/>
          </p:nvPr>
        </p:nvSpPr>
        <p:spPr/>
        <p:txBody>
          <a:bodyPr/>
          <a:lstStyle/>
          <a:p>
            <a:r>
              <a:rPr lang="en-GB" noProof="0" smtClean="0"/>
              <a:t>Process Mapping</a:t>
            </a:r>
            <a:endParaRPr lang="en-GB" noProof="0" dirty="0" smtClean="0"/>
          </a:p>
        </p:txBody>
      </p:sp>
      <p:sp>
        <p:nvSpPr>
          <p:cNvPr id="19459" name="Tijdelijke aanduiding voor inhoud 2"/>
          <p:cNvSpPr>
            <a:spLocks noGrp="1"/>
          </p:cNvSpPr>
          <p:nvPr>
            <p:ph idx="1"/>
          </p:nvPr>
        </p:nvSpPr>
        <p:spPr/>
        <p:txBody>
          <a:bodyPr/>
          <a:lstStyle/>
          <a:p>
            <a:r>
              <a:rPr lang="en-GB" noProof="0" dirty="0" smtClean="0"/>
              <a:t>First, create a global process map of main activities</a:t>
            </a:r>
          </a:p>
          <a:p>
            <a:pPr lvl="1"/>
            <a:endParaRPr lang="en-GB" noProof="0" dirty="0" smtClean="0"/>
          </a:p>
          <a:p>
            <a:pPr lvl="1"/>
            <a:endParaRPr lang="en-GB" noProof="0" dirty="0" smtClean="0"/>
          </a:p>
          <a:p>
            <a:pPr lvl="1"/>
            <a:endParaRPr lang="en-GB" dirty="0" smtClean="0"/>
          </a:p>
          <a:p>
            <a:pPr lvl="1"/>
            <a:endParaRPr lang="en-GB" noProof="0" dirty="0" smtClean="0"/>
          </a:p>
          <a:p>
            <a:pPr lvl="1">
              <a:buClrTx/>
            </a:pPr>
            <a:r>
              <a:rPr lang="en-GB" noProof="0" dirty="0" smtClean="0"/>
              <a:t>When a ‘higher level’ process map is established, a more detailed map can then be created from the area we want to focus on.</a:t>
            </a:r>
          </a:p>
          <a:p>
            <a:pPr lvl="1">
              <a:buClrTx/>
            </a:pPr>
            <a:r>
              <a:rPr lang="en-IE" dirty="0" smtClean="0"/>
              <a:t>Select the area that represents the problem &amp; create a detailed process map of this area</a:t>
            </a:r>
            <a:endParaRPr lang="en-GB" noProof="0" dirty="0" smtClean="0"/>
          </a:p>
        </p:txBody>
      </p:sp>
      <p:sp>
        <p:nvSpPr>
          <p:cNvPr id="5" name="Rectangle 5"/>
          <p:cNvSpPr>
            <a:spLocks noChangeArrowheads="1"/>
          </p:cNvSpPr>
          <p:nvPr/>
        </p:nvSpPr>
        <p:spPr bwMode="auto">
          <a:xfrm>
            <a:off x="3860083" y="1895674"/>
            <a:ext cx="3563699" cy="957263"/>
          </a:xfrm>
          <a:prstGeom prst="rect">
            <a:avLst/>
          </a:prstGeom>
          <a:noFill/>
          <a:ln w="19050">
            <a:solidFill>
              <a:schemeClr val="accent2"/>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pic>
        <p:nvPicPr>
          <p:cNvPr id="512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4111" y="4169675"/>
            <a:ext cx="9371316" cy="2265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26654" y="6363544"/>
            <a:ext cx="5597128"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el 1"/>
          <p:cNvSpPr>
            <a:spLocks noGrp="1"/>
          </p:cNvSpPr>
          <p:nvPr>
            <p:ph type="title"/>
          </p:nvPr>
        </p:nvSpPr>
        <p:spPr/>
        <p:txBody>
          <a:bodyPr/>
          <a:lstStyle/>
          <a:p>
            <a:r>
              <a:rPr lang="en-GB" noProof="0" smtClean="0"/>
              <a:t>Process Mapping</a:t>
            </a:r>
            <a:endParaRPr lang="en-GB" noProof="0" dirty="0" smtClean="0"/>
          </a:p>
        </p:txBody>
      </p:sp>
      <p:sp>
        <p:nvSpPr>
          <p:cNvPr id="6147" name="Tijdelijke aanduiding voor inhoud 2"/>
          <p:cNvSpPr>
            <a:spLocks noGrp="1"/>
          </p:cNvSpPr>
          <p:nvPr>
            <p:ph idx="1"/>
          </p:nvPr>
        </p:nvSpPr>
        <p:spPr>
          <a:xfrm>
            <a:off x="810814" y="1439863"/>
            <a:ext cx="9355244" cy="5040312"/>
          </a:xfrm>
        </p:spPr>
        <p:txBody>
          <a:bodyPr/>
          <a:lstStyle/>
          <a:p>
            <a:r>
              <a:rPr lang="en-GB" noProof="0" dirty="0" smtClean="0"/>
              <a:t>Spaghetti diagram</a:t>
            </a:r>
          </a:p>
          <a:p>
            <a:pPr marL="182563" indent="0"/>
            <a:r>
              <a:rPr lang="en-GB" sz="1800" dirty="0" smtClean="0"/>
              <a:t>Re-organisation of laboratory based on mapping of motion within the lab:</a:t>
            </a:r>
            <a:endParaRPr lang="en-GB" sz="1800" noProof="0" dirty="0" smtClean="0"/>
          </a:p>
          <a:p>
            <a:endParaRPr lang="en-GB" sz="1800" noProof="0" dirty="0" smtClean="0"/>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5159" y="2483951"/>
            <a:ext cx="6480720" cy="41458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GB" noProof="0" smtClean="0"/>
              <a:t>Process Mapping</a:t>
            </a:r>
            <a:endParaRPr lang="en-GB" noProof="0" dirty="0" smtClean="0"/>
          </a:p>
        </p:txBody>
      </p:sp>
      <p:sp>
        <p:nvSpPr>
          <p:cNvPr id="22531" name="Rectangle 3"/>
          <p:cNvSpPr>
            <a:spLocks noGrp="1" noChangeArrowheads="1"/>
          </p:cNvSpPr>
          <p:nvPr>
            <p:ph idx="1"/>
          </p:nvPr>
        </p:nvSpPr>
        <p:spPr/>
        <p:txBody>
          <a:bodyPr/>
          <a:lstStyle/>
          <a:p>
            <a:r>
              <a:rPr lang="en-GB" noProof="0" smtClean="0"/>
              <a:t>Swimlane – Patient MRI</a:t>
            </a:r>
            <a:endParaRPr lang="en-GB" noProof="0" dirty="0" smtClean="0"/>
          </a:p>
        </p:txBody>
      </p:sp>
      <p:sp>
        <p:nvSpPr>
          <p:cNvPr id="22533" name="Tekstvak 6"/>
          <p:cNvSpPr txBox="1">
            <a:spLocks noChangeArrowheads="1"/>
          </p:cNvSpPr>
          <p:nvPr/>
        </p:nvSpPr>
        <p:spPr bwMode="auto">
          <a:xfrm>
            <a:off x="7168754" y="1557339"/>
            <a:ext cx="1847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nl-NL" sz="1200" i="1" dirty="0"/>
          </a:p>
        </p:txBody>
      </p:sp>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032" y="1911893"/>
            <a:ext cx="7695855" cy="47169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6"/>
          <p:cNvSpPr>
            <a:spLocks noGrp="1"/>
          </p:cNvSpPr>
          <p:nvPr>
            <p:ph type="ctrTitle"/>
          </p:nvPr>
        </p:nvSpPr>
        <p:spPr/>
        <p:txBody>
          <a:bodyPr/>
          <a:lstStyle/>
          <a:p>
            <a:r>
              <a:rPr lang="en-US" smtClean="0"/>
              <a:t>VSM – Value Stream Mapping</a:t>
            </a:r>
            <a:br>
              <a:rPr lang="en-US" smtClean="0"/>
            </a:br>
            <a:r>
              <a:rPr lang="en-US" smtClean="0"/>
              <a:t/>
            </a:r>
            <a:br>
              <a:rPr lang="en-US" smtClean="0"/>
            </a:br>
            <a:endParaRPr lang="nl-NL" dirty="0" smtClean="0"/>
          </a:p>
        </p:txBody>
      </p:sp>
      <p:sp>
        <p:nvSpPr>
          <p:cNvPr id="4" name="Tijdelijke aanduiding voor tekst 3"/>
          <p:cNvSpPr>
            <a:spLocks noGrp="1"/>
          </p:cNvSpPr>
          <p:nvPr>
            <p:ph type="subTitle" idx="1"/>
          </p:nvPr>
        </p:nvSpPr>
        <p:spPr/>
        <p:txBody>
          <a:bodyPr/>
          <a:lstStyle/>
          <a:p>
            <a:r>
              <a:rPr lang="en-US" smtClean="0"/>
              <a:t>The element ‘Analytical Methods’ describes the tools that can be used for risk analysis, root cause analysis and waste identification.</a:t>
            </a:r>
            <a:endParaRPr lang="nl-NL" dirty="0"/>
          </a:p>
        </p:txBody>
      </p:sp>
      <p:sp>
        <p:nvSpPr>
          <p:cNvPr id="3" name="Tijdelijke aanduiding voor tekst 2"/>
          <p:cNvSpPr>
            <a:spLocks noGrp="1"/>
          </p:cNvSpPr>
          <p:nvPr>
            <p:ph type="body" sz="quarter" idx="13"/>
          </p:nvPr>
        </p:nvSpPr>
        <p:spPr/>
        <p:txBody>
          <a:bodyPr/>
          <a:lstStyle/>
          <a:p>
            <a:r>
              <a:rPr lang="nl-NL" smtClean="0"/>
              <a:t>Yellow Belt</a:t>
            </a:r>
            <a:endParaRPr lang="nl-NL" dirty="0"/>
          </a:p>
        </p:txBody>
      </p:sp>
      <p:sp>
        <p:nvSpPr>
          <p:cNvPr id="2" name="Tijdelijke aanduiding voor inhoud 1"/>
          <p:cNvSpPr>
            <a:spLocks noGrp="1"/>
          </p:cNvSpPr>
          <p:nvPr>
            <p:ph sz="quarter" idx="17"/>
          </p:nvPr>
        </p:nvSpPr>
        <p:spPr/>
        <p:txBody>
          <a:bodyPr/>
          <a:lstStyle/>
          <a:p>
            <a:r>
              <a:rPr lang="nl-NL" smtClean="0"/>
              <a:t>U5 – Analyse</a:t>
            </a:r>
          </a:p>
          <a:p>
            <a:r>
              <a:rPr lang="nl-NL" smtClean="0"/>
              <a:t>E3 – Analytical Methods</a:t>
            </a:r>
            <a:endParaRPr lang="nl-NL"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smtClean="0"/>
              <a:t>VSM Current State</a:t>
            </a:r>
            <a:endParaRPr lang="en-GB" dirty="0"/>
          </a:p>
        </p:txBody>
      </p:sp>
      <p:sp>
        <p:nvSpPr>
          <p:cNvPr id="3" name="Tijdelijke aanduiding voor inhoud 2"/>
          <p:cNvSpPr>
            <a:spLocks noGrp="1"/>
          </p:cNvSpPr>
          <p:nvPr>
            <p:ph idx="1"/>
          </p:nvPr>
        </p:nvSpPr>
        <p:spPr/>
        <p:txBody>
          <a:bodyPr/>
          <a:lstStyle/>
          <a:p>
            <a:r>
              <a:rPr lang="en-GB" dirty="0" smtClean="0"/>
              <a:t>What is ‘Value’?</a:t>
            </a:r>
          </a:p>
          <a:p>
            <a:pPr lvl="1">
              <a:buClrTx/>
            </a:pPr>
            <a:endParaRPr lang="en-GB" dirty="0" smtClean="0"/>
          </a:p>
          <a:p>
            <a:pPr lvl="1">
              <a:buClrTx/>
            </a:pPr>
            <a:r>
              <a:rPr lang="en-GB" dirty="0" smtClean="0"/>
              <a:t>If we want to use the concept ‘Waste’, we first need to understand ‘Value’</a:t>
            </a:r>
          </a:p>
          <a:p>
            <a:pPr lvl="1">
              <a:buClrTx/>
            </a:pPr>
            <a:endParaRPr lang="en-GB" dirty="0" smtClean="0"/>
          </a:p>
          <a:p>
            <a:pPr lvl="1">
              <a:buClrTx/>
            </a:pPr>
            <a:endParaRPr lang="en-GB" dirty="0" smtClean="0"/>
          </a:p>
          <a:p>
            <a:pPr lvl="1">
              <a:buClrTx/>
            </a:pPr>
            <a:endParaRPr lang="en-GB" dirty="0" smtClean="0"/>
          </a:p>
          <a:p>
            <a:pPr lvl="1">
              <a:buClrTx/>
            </a:pPr>
            <a:endParaRPr lang="en-GB" dirty="0" smtClean="0"/>
          </a:p>
          <a:p>
            <a:pPr lvl="1">
              <a:buClrTx/>
            </a:pPr>
            <a:endParaRPr lang="en-GB" dirty="0" smtClean="0"/>
          </a:p>
          <a:p>
            <a:pPr lvl="1">
              <a:buClrTx/>
            </a:pPr>
            <a:endParaRPr lang="en-GB" dirty="0" smtClean="0"/>
          </a:p>
          <a:p>
            <a:pPr lvl="1">
              <a:buClrTx/>
            </a:pPr>
            <a:endParaRPr lang="en-GB" dirty="0" smtClean="0"/>
          </a:p>
          <a:p>
            <a:pPr lvl="1">
              <a:buClrTx/>
            </a:pPr>
            <a:endParaRPr lang="en-GB" dirty="0" smtClean="0"/>
          </a:p>
          <a:p>
            <a:pPr lvl="1">
              <a:buClrTx/>
            </a:pPr>
            <a:endParaRPr lang="en-GB" dirty="0" smtClean="0"/>
          </a:p>
          <a:p>
            <a:pPr lvl="1">
              <a:buClrTx/>
            </a:pPr>
            <a:endParaRPr lang="en-GB" dirty="0" smtClean="0"/>
          </a:p>
          <a:p>
            <a:pPr lvl="1">
              <a:buClrTx/>
            </a:pPr>
            <a:endParaRPr lang="en-GB" dirty="0" smtClean="0"/>
          </a:p>
          <a:p>
            <a:pPr lvl="1">
              <a:buClrTx/>
            </a:pPr>
            <a:endParaRPr lang="en-GB" dirty="0" smtClean="0"/>
          </a:p>
          <a:p>
            <a:pPr lvl="1">
              <a:buClrTx/>
            </a:pPr>
            <a:r>
              <a:rPr lang="en-GB" dirty="0" smtClean="0"/>
              <a:t>Not all activities in your process contribute to ‘Value’</a:t>
            </a:r>
            <a:endParaRPr lang="en-GB" dirty="0"/>
          </a:p>
        </p:txBody>
      </p:sp>
      <p:sp>
        <p:nvSpPr>
          <p:cNvPr id="4" name="Rectangle 4"/>
          <p:cNvSpPr>
            <a:spLocks noChangeArrowheads="1"/>
          </p:cNvSpPr>
          <p:nvPr/>
        </p:nvSpPr>
        <p:spPr bwMode="auto">
          <a:xfrm>
            <a:off x="1174059" y="2852937"/>
            <a:ext cx="4150523" cy="2448272"/>
          </a:xfrm>
          <a:prstGeom prst="rect">
            <a:avLst/>
          </a:prstGeom>
          <a:solidFill>
            <a:srgbClr val="FEF6D6"/>
          </a:solidFill>
          <a:ln w="9525">
            <a:solidFill>
              <a:srgbClr val="002060"/>
            </a:solidFill>
            <a:miter lim="800000"/>
            <a:headEnd/>
            <a:tailEnd/>
          </a:ln>
          <a:effectLst>
            <a:outerShdw dist="107763" dir="2700000" algn="ctr" rotWithShape="0">
              <a:schemeClr val="bg2">
                <a:alpha val="50000"/>
              </a:schemeClr>
            </a:outerShdw>
          </a:effectLst>
        </p:spPr>
        <p:txBody>
          <a:bodyPr wrap="none" anchor="ctr"/>
          <a:lstStyle/>
          <a:p>
            <a:pPr algn="ctr">
              <a:defRPr/>
            </a:pPr>
            <a:r>
              <a:rPr lang="en-GB" sz="4400" b="1" i="1" dirty="0" smtClean="0">
                <a:solidFill>
                  <a:srgbClr val="C00000"/>
                </a:solidFill>
                <a:latin typeface="Arial" panose="020B0604020202020204" pitchFamily="34" charset="0"/>
                <a:cs typeface="Arial" panose="020B0604020202020204" pitchFamily="34" charset="0"/>
              </a:rPr>
              <a:t>Value </a:t>
            </a:r>
          </a:p>
          <a:p>
            <a:pPr algn="ctr">
              <a:defRPr/>
            </a:pPr>
            <a:endParaRPr lang="en-GB" i="1" dirty="0" smtClean="0">
              <a:latin typeface="Arial" panose="020B0604020202020204" pitchFamily="34" charset="0"/>
              <a:cs typeface="Arial" panose="020B0604020202020204" pitchFamily="34" charset="0"/>
            </a:endParaRPr>
          </a:p>
          <a:p>
            <a:pPr algn="ctr">
              <a:defRPr/>
            </a:pPr>
            <a:r>
              <a:rPr lang="en-GB" i="1" dirty="0" smtClean="0">
                <a:latin typeface="Arial" panose="020B0604020202020204" pitchFamily="34" charset="0"/>
                <a:cs typeface="Arial" panose="020B0604020202020204" pitchFamily="34" charset="0"/>
              </a:rPr>
              <a:t>The activities that customers are </a:t>
            </a:r>
          </a:p>
          <a:p>
            <a:pPr algn="ctr">
              <a:defRPr/>
            </a:pPr>
            <a:r>
              <a:rPr lang="en-GB" i="1" dirty="0" smtClean="0">
                <a:latin typeface="Arial" panose="020B0604020202020204" pitchFamily="34" charset="0"/>
                <a:cs typeface="Arial" panose="020B0604020202020204" pitchFamily="34" charset="0"/>
              </a:rPr>
              <a:t>willing to pay for</a:t>
            </a:r>
            <a:endParaRPr lang="en-GB" i="1" dirty="0">
              <a:latin typeface="Arial" panose="020B0604020202020204" pitchFamily="34" charset="0"/>
              <a:cs typeface="Arial" panose="020B0604020202020204" pitchFamily="34" charset="0"/>
            </a:endParaRPr>
          </a:p>
        </p:txBody>
      </p:sp>
      <p:sp>
        <p:nvSpPr>
          <p:cNvPr id="5" name="Rectangle 4"/>
          <p:cNvSpPr/>
          <p:nvPr/>
        </p:nvSpPr>
        <p:spPr>
          <a:xfrm>
            <a:off x="8075712" y="5786037"/>
            <a:ext cx="1227130" cy="215444"/>
          </a:xfrm>
          <a:prstGeom prst="rect">
            <a:avLst/>
          </a:prstGeom>
        </p:spPr>
        <p:txBody>
          <a:bodyPr wrap="square">
            <a:spAutoFit/>
          </a:bodyPr>
          <a:lstStyle/>
          <a:p>
            <a:r>
              <a:rPr lang="en-IE" sz="800" dirty="0" smtClean="0"/>
              <a:t>123RF </a:t>
            </a:r>
            <a:r>
              <a:rPr lang="en-IE" sz="800" dirty="0"/>
              <a:t>Stock </a:t>
            </a:r>
            <a:r>
              <a:rPr lang="en-IE" sz="800" dirty="0" smtClean="0"/>
              <a:t>Photo</a:t>
            </a:r>
            <a:endParaRPr lang="en-IE" sz="900" dirty="0"/>
          </a:p>
        </p:txBody>
      </p:sp>
      <p:pic>
        <p:nvPicPr>
          <p:cNvPr id="19458" name="Picture 2" descr="C:\Users\Olivia.Mcdermott\AppData\Local\Microsoft\Windows\Temporary Internet Files\Content.IE5\WJ9I3TRL\18736117_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4675" y="2636912"/>
            <a:ext cx="2358167" cy="3144222"/>
          </a:xfrm>
          <a:prstGeom prst="rect">
            <a:avLst/>
          </a:prstGeom>
          <a:noFill/>
          <a:extLst>
            <a:ext uri="{909E8E84-426E-40DD-AFC4-6F175D3DCCD1}">
              <a14:hiddenFill xmlns:a14="http://schemas.microsoft.com/office/drawing/2010/main">
                <a:solidFill>
                  <a:srgbClr val="FFFFFF"/>
                </a:solidFill>
              </a14:hiddenFill>
            </a:ext>
          </a:extLst>
        </p:spPr>
      </p:pic>
      <p:sp>
        <p:nvSpPr>
          <p:cNvPr id="6" name="Right Arrow 5"/>
          <p:cNvSpPr/>
          <p:nvPr/>
        </p:nvSpPr>
        <p:spPr>
          <a:xfrm>
            <a:off x="5629554" y="3717032"/>
            <a:ext cx="1053117" cy="720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70995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smtClean="0"/>
              <a:t>VSM Current State</a:t>
            </a:r>
            <a:endParaRPr lang="en-GB" dirty="0"/>
          </a:p>
        </p:txBody>
      </p:sp>
      <p:sp>
        <p:nvSpPr>
          <p:cNvPr id="3" name="Tijdelijke aanduiding voor inhoud 2"/>
          <p:cNvSpPr>
            <a:spLocks noGrp="1"/>
          </p:cNvSpPr>
          <p:nvPr>
            <p:ph idx="1"/>
          </p:nvPr>
        </p:nvSpPr>
        <p:spPr>
          <a:xfrm>
            <a:off x="810000" y="1440000"/>
            <a:ext cx="9477000" cy="5040000"/>
          </a:xfrm>
        </p:spPr>
        <p:txBody>
          <a:bodyPr/>
          <a:lstStyle/>
          <a:p>
            <a:r>
              <a:rPr lang="en-GB" dirty="0" smtClean="0"/>
              <a:t>Types of activities</a:t>
            </a:r>
          </a:p>
          <a:p>
            <a:pPr lvl="1"/>
            <a:endParaRPr lang="en-GB" dirty="0" smtClean="0"/>
          </a:p>
          <a:p>
            <a:pPr marL="179387" lvl="1" indent="0">
              <a:buClrTx/>
              <a:buNone/>
            </a:pPr>
            <a:r>
              <a:rPr lang="en-GB" sz="1800" dirty="0" smtClean="0"/>
              <a:t>Every activity in your process can be classified as:</a:t>
            </a:r>
          </a:p>
          <a:p>
            <a:pPr lvl="1">
              <a:buClrTx/>
            </a:pPr>
            <a:endParaRPr lang="en-GB" dirty="0" smtClean="0"/>
          </a:p>
          <a:p>
            <a:pPr marL="522287" lvl="1" indent="-342900" defTabSz="668338">
              <a:buClrTx/>
              <a:buFont typeface="+mj-lt"/>
              <a:buAutoNum type="arabicPeriod"/>
            </a:pPr>
            <a:r>
              <a:rPr lang="en-GB" dirty="0" smtClean="0"/>
              <a:t>Value adding activity		Customer wants to pay for this</a:t>
            </a:r>
          </a:p>
          <a:p>
            <a:pPr marL="179387" lvl="1" indent="0" defTabSz="668338">
              <a:buClrTx/>
              <a:buNone/>
            </a:pPr>
            <a:r>
              <a:rPr lang="en-GB" dirty="0" smtClean="0"/>
              <a:t>                                 		It must be done right first time</a:t>
            </a:r>
          </a:p>
          <a:p>
            <a:pPr marL="179387" lvl="1" indent="0" defTabSz="668338">
              <a:buClrTx/>
              <a:buNone/>
            </a:pPr>
            <a:r>
              <a:rPr lang="en-GB" dirty="0" smtClean="0"/>
              <a:t>					The activity must change the product or service	</a:t>
            </a:r>
          </a:p>
          <a:p>
            <a:pPr marL="179387" lvl="1" indent="0" defTabSz="668338">
              <a:buClrTx/>
              <a:buNone/>
            </a:pPr>
            <a:endParaRPr lang="en-GB" dirty="0" smtClean="0"/>
          </a:p>
          <a:p>
            <a:pPr marL="522287" lvl="1" indent="-342900" defTabSz="668338">
              <a:buClrTx/>
              <a:buFont typeface="+mj-lt"/>
              <a:buAutoNum type="arabicPeriod" startAt="2"/>
            </a:pPr>
            <a:r>
              <a:rPr lang="en-GB" dirty="0" smtClean="0"/>
              <a:t>Non-Value adding activity	Customer doesn’t want to pay for this</a:t>
            </a:r>
          </a:p>
          <a:p>
            <a:pPr marL="522287" lvl="1" indent="-342900" defTabSz="668338">
              <a:buClrTx/>
              <a:buFont typeface="+mj-lt"/>
              <a:buAutoNum type="arabicPeriod" startAt="2"/>
            </a:pPr>
            <a:endParaRPr lang="en-GB" dirty="0" smtClean="0"/>
          </a:p>
          <a:p>
            <a:pPr marL="522287" lvl="1" indent="-342900" defTabSz="668338">
              <a:buClrTx/>
              <a:buFont typeface="+mj-lt"/>
              <a:buAutoNum type="arabicPeriod" startAt="2"/>
            </a:pPr>
            <a:r>
              <a:rPr lang="en-GB" dirty="0" smtClean="0"/>
              <a:t>Enabling activity		Necessary for the process</a:t>
            </a:r>
          </a:p>
          <a:p>
            <a:pPr marL="522287" lvl="1" indent="-342900" defTabSz="668338">
              <a:buFont typeface="+mj-lt"/>
              <a:buAutoNum type="arabicPeriod" startAt="2"/>
            </a:pPr>
            <a:endParaRPr lang="en-GB" dirty="0" smtClean="0"/>
          </a:p>
          <a:p>
            <a:pPr lvl="1"/>
            <a:endParaRPr lang="en-GB" dirty="0"/>
          </a:p>
        </p:txBody>
      </p:sp>
    </p:spTree>
    <p:extLst>
      <p:ext uri="{BB962C8B-B14F-4D97-AF65-F5344CB8AC3E}">
        <p14:creationId xmlns:p14="http://schemas.microsoft.com/office/powerpoint/2010/main" val="40243032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jdelijke aanduiding voor inhoud 17"/>
          <p:cNvSpPr>
            <a:spLocks noGrp="1"/>
          </p:cNvSpPr>
          <p:nvPr>
            <p:ph idx="1"/>
          </p:nvPr>
        </p:nvSpPr>
        <p:spPr/>
        <p:txBody>
          <a:bodyPr/>
          <a:lstStyle/>
          <a:p>
            <a:r>
              <a:rPr lang="en-GB" dirty="0" smtClean="0">
                <a:latin typeface="Arial" charset="0"/>
                <a:cs typeface="Arial" charset="0"/>
              </a:rPr>
              <a:t>Value stream mapping is a management tool</a:t>
            </a:r>
          </a:p>
          <a:p>
            <a:pPr lvl="1"/>
            <a:endParaRPr lang="en-GB" dirty="0" smtClean="0">
              <a:latin typeface="Arial" charset="0"/>
              <a:cs typeface="Arial" charset="0"/>
            </a:endParaRPr>
          </a:p>
          <a:p>
            <a:pPr lvl="1">
              <a:buClrTx/>
            </a:pPr>
            <a:r>
              <a:rPr lang="en-GB" dirty="0" smtClean="0">
                <a:latin typeface="Arial" charset="0"/>
                <a:cs typeface="Arial" charset="0"/>
              </a:rPr>
              <a:t>Many improvement activities simply focus on single processes, rather than accounting for possible connections with other processes</a:t>
            </a:r>
          </a:p>
          <a:p>
            <a:pPr lvl="1">
              <a:buClrTx/>
            </a:pPr>
            <a:endParaRPr lang="en-GB" dirty="0" smtClean="0">
              <a:latin typeface="Arial" charset="0"/>
              <a:cs typeface="Arial" charset="0"/>
            </a:endParaRPr>
          </a:p>
          <a:p>
            <a:pPr lvl="1">
              <a:buClrTx/>
            </a:pPr>
            <a:r>
              <a:rPr lang="en-GB" dirty="0" smtClean="0">
                <a:latin typeface="Arial" charset="0"/>
                <a:cs typeface="Arial" charset="0"/>
              </a:rPr>
              <a:t>By making a ‘door-to-door’ value stream, you can examine the bigger picture and account for the connections between all processes</a:t>
            </a:r>
          </a:p>
          <a:p>
            <a:endParaRPr lang="en-GB" dirty="0" smtClean="0">
              <a:latin typeface="Arial" charset="0"/>
              <a:cs typeface="Arial" charset="0"/>
            </a:endParaRPr>
          </a:p>
        </p:txBody>
      </p:sp>
      <p:sp>
        <p:nvSpPr>
          <p:cNvPr id="8195" name="Rectangle 2"/>
          <p:cNvSpPr>
            <a:spLocks noGrp="1" noChangeArrowheads="1"/>
          </p:cNvSpPr>
          <p:nvPr>
            <p:ph type="title"/>
          </p:nvPr>
        </p:nvSpPr>
        <p:spPr/>
        <p:txBody>
          <a:bodyPr/>
          <a:lstStyle/>
          <a:p>
            <a:r>
              <a:rPr lang="en-GB" dirty="0" smtClean="0">
                <a:latin typeface="Arial" charset="0"/>
                <a:cs typeface="Arial" charset="0"/>
              </a:rPr>
              <a:t>VSM Current State</a:t>
            </a:r>
          </a:p>
        </p:txBody>
      </p:sp>
      <p:grpSp>
        <p:nvGrpSpPr>
          <p:cNvPr id="2" name="Groep 1"/>
          <p:cNvGrpSpPr/>
          <p:nvPr/>
        </p:nvGrpSpPr>
        <p:grpSpPr>
          <a:xfrm>
            <a:off x="1660113" y="4121622"/>
            <a:ext cx="6885765" cy="1971675"/>
            <a:chOff x="1575520" y="4581525"/>
            <a:chExt cx="6120680" cy="1971675"/>
          </a:xfrm>
        </p:grpSpPr>
        <p:sp>
          <p:nvSpPr>
            <p:cNvPr id="8196" name="Freeform 4"/>
            <p:cNvSpPr>
              <a:spLocks/>
            </p:cNvSpPr>
            <p:nvPr/>
          </p:nvSpPr>
          <p:spPr bwMode="auto">
            <a:xfrm>
              <a:off x="2095500" y="4945063"/>
              <a:ext cx="941388" cy="500062"/>
            </a:xfrm>
            <a:custGeom>
              <a:avLst/>
              <a:gdLst>
                <a:gd name="T0" fmla="*/ 0 w 1344"/>
                <a:gd name="T1" fmla="*/ 2147483647 h 912"/>
                <a:gd name="T2" fmla="*/ 0 w 1344"/>
                <a:gd name="T3" fmla="*/ 2147483647 h 912"/>
                <a:gd name="T4" fmla="*/ 2147483647 w 1344"/>
                <a:gd name="T5" fmla="*/ 0 h 912"/>
                <a:gd name="T6" fmla="*/ 2147483647 w 1344"/>
                <a:gd name="T7" fmla="*/ 2147483647 h 912"/>
                <a:gd name="T8" fmla="*/ 2147483647 w 1344"/>
                <a:gd name="T9" fmla="*/ 0 h 912"/>
                <a:gd name="T10" fmla="*/ 2147483647 w 1344"/>
                <a:gd name="T11" fmla="*/ 2147483647 h 912"/>
                <a:gd name="T12" fmla="*/ 2147483647 w 1344"/>
                <a:gd name="T13" fmla="*/ 0 h 912"/>
                <a:gd name="T14" fmla="*/ 2147483647 w 1344"/>
                <a:gd name="T15" fmla="*/ 2147483647 h 912"/>
                <a:gd name="T16" fmla="*/ 0 w 1344"/>
                <a:gd name="T17" fmla="*/ 2147483647 h 9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4"/>
                <a:gd name="T28" fmla="*/ 0 h 912"/>
                <a:gd name="T29" fmla="*/ 1344 w 1344"/>
                <a:gd name="T30" fmla="*/ 912 h 9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4" h="912">
                  <a:moveTo>
                    <a:pt x="0" y="912"/>
                  </a:moveTo>
                  <a:lnTo>
                    <a:pt x="0" y="336"/>
                  </a:lnTo>
                  <a:lnTo>
                    <a:pt x="432" y="0"/>
                  </a:lnTo>
                  <a:lnTo>
                    <a:pt x="432" y="336"/>
                  </a:lnTo>
                  <a:lnTo>
                    <a:pt x="912" y="0"/>
                  </a:lnTo>
                  <a:lnTo>
                    <a:pt x="912" y="336"/>
                  </a:lnTo>
                  <a:lnTo>
                    <a:pt x="1344" y="0"/>
                  </a:lnTo>
                  <a:lnTo>
                    <a:pt x="1344" y="912"/>
                  </a:lnTo>
                  <a:lnTo>
                    <a:pt x="0" y="912"/>
                  </a:lnTo>
                  <a:close/>
                </a:path>
              </a:pathLst>
            </a:custGeom>
            <a:noFill/>
            <a:ln w="38100" cmpd="sng">
              <a:solidFill>
                <a:schemeClr val="tx1"/>
              </a:solidFill>
              <a:round/>
              <a:headEnd/>
              <a:tailEnd/>
            </a:ln>
          </p:spPr>
          <p:txBody>
            <a:bodyPr/>
            <a:lstStyle/>
            <a:p>
              <a:endParaRPr lang="nl-NL" dirty="0"/>
            </a:p>
          </p:txBody>
        </p:sp>
        <p:sp>
          <p:nvSpPr>
            <p:cNvPr id="8197" name="Freeform 5"/>
            <p:cNvSpPr>
              <a:spLocks/>
            </p:cNvSpPr>
            <p:nvPr/>
          </p:nvSpPr>
          <p:spPr bwMode="auto">
            <a:xfrm>
              <a:off x="3986213" y="4941888"/>
              <a:ext cx="941387" cy="500062"/>
            </a:xfrm>
            <a:custGeom>
              <a:avLst/>
              <a:gdLst>
                <a:gd name="T0" fmla="*/ 0 w 1344"/>
                <a:gd name="T1" fmla="*/ 2147483647 h 912"/>
                <a:gd name="T2" fmla="*/ 0 w 1344"/>
                <a:gd name="T3" fmla="*/ 2147483647 h 912"/>
                <a:gd name="T4" fmla="*/ 2147483647 w 1344"/>
                <a:gd name="T5" fmla="*/ 0 h 912"/>
                <a:gd name="T6" fmla="*/ 2147483647 w 1344"/>
                <a:gd name="T7" fmla="*/ 2147483647 h 912"/>
                <a:gd name="T8" fmla="*/ 2147483647 w 1344"/>
                <a:gd name="T9" fmla="*/ 0 h 912"/>
                <a:gd name="T10" fmla="*/ 2147483647 w 1344"/>
                <a:gd name="T11" fmla="*/ 2147483647 h 912"/>
                <a:gd name="T12" fmla="*/ 2147483647 w 1344"/>
                <a:gd name="T13" fmla="*/ 0 h 912"/>
                <a:gd name="T14" fmla="*/ 2147483647 w 1344"/>
                <a:gd name="T15" fmla="*/ 2147483647 h 912"/>
                <a:gd name="T16" fmla="*/ 0 w 1344"/>
                <a:gd name="T17" fmla="*/ 2147483647 h 9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4"/>
                <a:gd name="T28" fmla="*/ 0 h 912"/>
                <a:gd name="T29" fmla="*/ 1344 w 1344"/>
                <a:gd name="T30" fmla="*/ 912 h 9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4" h="912">
                  <a:moveTo>
                    <a:pt x="0" y="912"/>
                  </a:moveTo>
                  <a:lnTo>
                    <a:pt x="0" y="336"/>
                  </a:lnTo>
                  <a:lnTo>
                    <a:pt x="432" y="0"/>
                  </a:lnTo>
                  <a:lnTo>
                    <a:pt x="432" y="336"/>
                  </a:lnTo>
                  <a:lnTo>
                    <a:pt x="912" y="0"/>
                  </a:lnTo>
                  <a:lnTo>
                    <a:pt x="912" y="336"/>
                  </a:lnTo>
                  <a:lnTo>
                    <a:pt x="1344" y="0"/>
                  </a:lnTo>
                  <a:lnTo>
                    <a:pt x="1344" y="912"/>
                  </a:lnTo>
                  <a:lnTo>
                    <a:pt x="0" y="912"/>
                  </a:lnTo>
                  <a:close/>
                </a:path>
              </a:pathLst>
            </a:custGeom>
            <a:noFill/>
            <a:ln w="38100" cmpd="sng">
              <a:solidFill>
                <a:schemeClr val="tx1"/>
              </a:solidFill>
              <a:round/>
              <a:headEnd/>
              <a:tailEnd/>
            </a:ln>
          </p:spPr>
          <p:txBody>
            <a:bodyPr/>
            <a:lstStyle/>
            <a:p>
              <a:endParaRPr lang="nl-NL" dirty="0"/>
            </a:p>
          </p:txBody>
        </p:sp>
        <p:sp>
          <p:nvSpPr>
            <p:cNvPr id="8198" name="Freeform 6"/>
            <p:cNvSpPr>
              <a:spLocks/>
            </p:cNvSpPr>
            <p:nvPr/>
          </p:nvSpPr>
          <p:spPr bwMode="auto">
            <a:xfrm>
              <a:off x="6007100" y="4941888"/>
              <a:ext cx="941388" cy="500062"/>
            </a:xfrm>
            <a:custGeom>
              <a:avLst/>
              <a:gdLst>
                <a:gd name="T0" fmla="*/ 0 w 1344"/>
                <a:gd name="T1" fmla="*/ 2147483647 h 912"/>
                <a:gd name="T2" fmla="*/ 0 w 1344"/>
                <a:gd name="T3" fmla="*/ 2147483647 h 912"/>
                <a:gd name="T4" fmla="*/ 2147483647 w 1344"/>
                <a:gd name="T5" fmla="*/ 0 h 912"/>
                <a:gd name="T6" fmla="*/ 2147483647 w 1344"/>
                <a:gd name="T7" fmla="*/ 2147483647 h 912"/>
                <a:gd name="T8" fmla="*/ 2147483647 w 1344"/>
                <a:gd name="T9" fmla="*/ 0 h 912"/>
                <a:gd name="T10" fmla="*/ 2147483647 w 1344"/>
                <a:gd name="T11" fmla="*/ 2147483647 h 912"/>
                <a:gd name="T12" fmla="*/ 2147483647 w 1344"/>
                <a:gd name="T13" fmla="*/ 0 h 912"/>
                <a:gd name="T14" fmla="*/ 2147483647 w 1344"/>
                <a:gd name="T15" fmla="*/ 2147483647 h 912"/>
                <a:gd name="T16" fmla="*/ 0 w 1344"/>
                <a:gd name="T17" fmla="*/ 2147483647 h 9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4"/>
                <a:gd name="T28" fmla="*/ 0 h 912"/>
                <a:gd name="T29" fmla="*/ 1344 w 1344"/>
                <a:gd name="T30" fmla="*/ 912 h 9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4" h="912">
                  <a:moveTo>
                    <a:pt x="0" y="912"/>
                  </a:moveTo>
                  <a:lnTo>
                    <a:pt x="0" y="336"/>
                  </a:lnTo>
                  <a:lnTo>
                    <a:pt x="432" y="0"/>
                  </a:lnTo>
                  <a:lnTo>
                    <a:pt x="432" y="336"/>
                  </a:lnTo>
                  <a:lnTo>
                    <a:pt x="912" y="0"/>
                  </a:lnTo>
                  <a:lnTo>
                    <a:pt x="912" y="336"/>
                  </a:lnTo>
                  <a:lnTo>
                    <a:pt x="1344" y="0"/>
                  </a:lnTo>
                  <a:lnTo>
                    <a:pt x="1344" y="912"/>
                  </a:lnTo>
                  <a:lnTo>
                    <a:pt x="0" y="912"/>
                  </a:lnTo>
                  <a:close/>
                </a:path>
              </a:pathLst>
            </a:custGeom>
            <a:noFill/>
            <a:ln w="38100" cmpd="sng">
              <a:solidFill>
                <a:schemeClr val="tx1"/>
              </a:solidFill>
              <a:round/>
              <a:headEnd/>
              <a:tailEnd/>
            </a:ln>
          </p:spPr>
          <p:txBody>
            <a:bodyPr/>
            <a:lstStyle/>
            <a:p>
              <a:endParaRPr lang="nl-NL" dirty="0"/>
            </a:p>
          </p:txBody>
        </p:sp>
        <p:sp>
          <p:nvSpPr>
            <p:cNvPr id="8199" name="Line 7"/>
            <p:cNvSpPr>
              <a:spLocks noChangeShapeType="1"/>
            </p:cNvSpPr>
            <p:nvPr/>
          </p:nvSpPr>
          <p:spPr bwMode="auto">
            <a:xfrm>
              <a:off x="3492500" y="4581525"/>
              <a:ext cx="0" cy="1223963"/>
            </a:xfrm>
            <a:prstGeom prst="line">
              <a:avLst/>
            </a:prstGeom>
            <a:noFill/>
            <a:ln w="19050">
              <a:solidFill>
                <a:schemeClr val="tx1"/>
              </a:solidFill>
              <a:prstDash val="dash"/>
              <a:round/>
              <a:headEnd/>
              <a:tailEnd/>
            </a:ln>
          </p:spPr>
          <p:txBody>
            <a:bodyPr anchor="ctr"/>
            <a:lstStyle/>
            <a:p>
              <a:endParaRPr lang="nl-NL" dirty="0"/>
            </a:p>
          </p:txBody>
        </p:sp>
        <p:sp>
          <p:nvSpPr>
            <p:cNvPr id="8200" name="Line 8"/>
            <p:cNvSpPr>
              <a:spLocks noChangeShapeType="1"/>
            </p:cNvSpPr>
            <p:nvPr/>
          </p:nvSpPr>
          <p:spPr bwMode="auto">
            <a:xfrm>
              <a:off x="5508625" y="4581525"/>
              <a:ext cx="0" cy="1223963"/>
            </a:xfrm>
            <a:prstGeom prst="line">
              <a:avLst/>
            </a:prstGeom>
            <a:noFill/>
            <a:ln w="19050">
              <a:solidFill>
                <a:schemeClr val="tx1"/>
              </a:solidFill>
              <a:prstDash val="dash"/>
              <a:round/>
              <a:headEnd/>
              <a:tailEnd/>
            </a:ln>
          </p:spPr>
          <p:txBody>
            <a:bodyPr anchor="ctr"/>
            <a:lstStyle/>
            <a:p>
              <a:endParaRPr lang="nl-NL" dirty="0"/>
            </a:p>
          </p:txBody>
        </p:sp>
        <p:sp>
          <p:nvSpPr>
            <p:cNvPr id="8201" name="Line 9"/>
            <p:cNvSpPr>
              <a:spLocks noChangeShapeType="1"/>
            </p:cNvSpPr>
            <p:nvPr/>
          </p:nvSpPr>
          <p:spPr bwMode="auto">
            <a:xfrm>
              <a:off x="3203575" y="5229225"/>
              <a:ext cx="576263" cy="0"/>
            </a:xfrm>
            <a:prstGeom prst="line">
              <a:avLst/>
            </a:prstGeom>
            <a:noFill/>
            <a:ln w="38100">
              <a:solidFill>
                <a:srgbClr val="C0C0C0"/>
              </a:solidFill>
              <a:round/>
              <a:headEnd/>
              <a:tailEnd type="triangle" w="med" len="med"/>
            </a:ln>
          </p:spPr>
          <p:txBody>
            <a:bodyPr anchor="ctr"/>
            <a:lstStyle/>
            <a:p>
              <a:endParaRPr lang="nl-NL" dirty="0"/>
            </a:p>
          </p:txBody>
        </p:sp>
        <p:sp>
          <p:nvSpPr>
            <p:cNvPr id="8202" name="Line 10"/>
            <p:cNvSpPr>
              <a:spLocks noChangeShapeType="1"/>
            </p:cNvSpPr>
            <p:nvPr/>
          </p:nvSpPr>
          <p:spPr bwMode="auto">
            <a:xfrm>
              <a:off x="5219700" y="5229225"/>
              <a:ext cx="576263" cy="0"/>
            </a:xfrm>
            <a:prstGeom prst="line">
              <a:avLst/>
            </a:prstGeom>
            <a:noFill/>
            <a:ln w="38100">
              <a:solidFill>
                <a:srgbClr val="C0C0C0"/>
              </a:solidFill>
              <a:round/>
              <a:headEnd/>
              <a:tailEnd type="triangle" w="med" len="med"/>
            </a:ln>
          </p:spPr>
          <p:txBody>
            <a:bodyPr anchor="ctr"/>
            <a:lstStyle/>
            <a:p>
              <a:endParaRPr lang="nl-NL" dirty="0"/>
            </a:p>
          </p:txBody>
        </p:sp>
        <p:sp>
          <p:nvSpPr>
            <p:cNvPr id="8203" name="Text Box 11"/>
            <p:cNvSpPr txBox="1">
              <a:spLocks noChangeArrowheads="1"/>
            </p:cNvSpPr>
            <p:nvPr/>
          </p:nvSpPr>
          <p:spPr bwMode="auto">
            <a:xfrm>
              <a:off x="1575520" y="5546725"/>
              <a:ext cx="1684508" cy="338554"/>
            </a:xfrm>
            <a:prstGeom prst="rect">
              <a:avLst/>
            </a:prstGeom>
            <a:noFill/>
            <a:ln w="9525">
              <a:noFill/>
              <a:miter lim="800000"/>
              <a:headEnd/>
              <a:tailEnd/>
            </a:ln>
          </p:spPr>
          <p:txBody>
            <a:bodyPr wrap="none">
              <a:spAutoFit/>
            </a:bodyPr>
            <a:lstStyle/>
            <a:p>
              <a:r>
                <a:rPr lang="en-GB" sz="1600" dirty="0" smtClean="0">
                  <a:latin typeface="Arial" panose="020B0604020202020204" pitchFamily="34" charset="0"/>
                  <a:cs typeface="Arial" panose="020B0604020202020204" pitchFamily="34" charset="0"/>
                </a:rPr>
                <a:t>Partners/ suppliers</a:t>
              </a:r>
              <a:endParaRPr lang="en-GB" sz="1600" dirty="0">
                <a:latin typeface="Arial" panose="020B0604020202020204" pitchFamily="34" charset="0"/>
                <a:cs typeface="Arial" panose="020B0604020202020204" pitchFamily="34" charset="0"/>
              </a:endParaRPr>
            </a:p>
          </p:txBody>
        </p:sp>
        <p:sp>
          <p:nvSpPr>
            <p:cNvPr id="8204" name="Text Box 12"/>
            <p:cNvSpPr txBox="1">
              <a:spLocks noChangeArrowheads="1"/>
            </p:cNvSpPr>
            <p:nvPr/>
          </p:nvSpPr>
          <p:spPr bwMode="auto">
            <a:xfrm>
              <a:off x="3663752" y="5562600"/>
              <a:ext cx="1575132" cy="338554"/>
            </a:xfrm>
            <a:prstGeom prst="rect">
              <a:avLst/>
            </a:prstGeom>
            <a:noFill/>
            <a:ln w="9525">
              <a:noFill/>
              <a:miter lim="800000"/>
              <a:headEnd/>
              <a:tailEnd/>
            </a:ln>
          </p:spPr>
          <p:txBody>
            <a:bodyPr wrap="none">
              <a:spAutoFit/>
            </a:bodyPr>
            <a:lstStyle/>
            <a:p>
              <a:r>
                <a:rPr lang="en-GB" sz="1600" dirty="0" smtClean="0">
                  <a:latin typeface="Arial" panose="020B0604020202020204" pitchFamily="34" charset="0"/>
                  <a:cs typeface="Arial" panose="020B0604020202020204" pitchFamily="34" charset="0"/>
                </a:rPr>
                <a:t>Your organisation</a:t>
              </a:r>
              <a:endParaRPr lang="en-GB" sz="1600" dirty="0">
                <a:latin typeface="Arial" panose="020B0604020202020204" pitchFamily="34" charset="0"/>
                <a:cs typeface="Arial" panose="020B0604020202020204" pitchFamily="34" charset="0"/>
              </a:endParaRPr>
            </a:p>
          </p:txBody>
        </p:sp>
        <p:sp>
          <p:nvSpPr>
            <p:cNvPr id="8205" name="Text Box 13"/>
            <p:cNvSpPr txBox="1">
              <a:spLocks noChangeArrowheads="1"/>
            </p:cNvSpPr>
            <p:nvPr/>
          </p:nvSpPr>
          <p:spPr bwMode="auto">
            <a:xfrm>
              <a:off x="5823992" y="5562600"/>
              <a:ext cx="1604713" cy="338554"/>
            </a:xfrm>
            <a:prstGeom prst="rect">
              <a:avLst/>
            </a:prstGeom>
            <a:noFill/>
            <a:ln w="9525">
              <a:noFill/>
              <a:miter lim="800000"/>
              <a:headEnd/>
              <a:tailEnd/>
            </a:ln>
          </p:spPr>
          <p:txBody>
            <a:bodyPr wrap="none">
              <a:spAutoFit/>
            </a:bodyPr>
            <a:lstStyle/>
            <a:p>
              <a:r>
                <a:rPr lang="en-GB" sz="1600" dirty="0" smtClean="0">
                  <a:latin typeface="Arial" panose="020B0604020202020204" pitchFamily="34" charset="0"/>
                  <a:cs typeface="Arial" panose="020B0604020202020204" pitchFamily="34" charset="0"/>
                </a:rPr>
                <a:t>Customer/ patient</a:t>
              </a:r>
              <a:endParaRPr lang="en-GB" sz="1600" dirty="0">
                <a:latin typeface="Arial" panose="020B0604020202020204" pitchFamily="34" charset="0"/>
                <a:cs typeface="Arial" panose="020B0604020202020204" pitchFamily="34" charset="0"/>
              </a:endParaRPr>
            </a:p>
          </p:txBody>
        </p:sp>
        <p:sp>
          <p:nvSpPr>
            <p:cNvPr id="40" name="AutoShape 14"/>
            <p:cNvSpPr>
              <a:spLocks noChangeArrowheads="1"/>
            </p:cNvSpPr>
            <p:nvPr/>
          </p:nvSpPr>
          <p:spPr bwMode="auto">
            <a:xfrm>
              <a:off x="1752600" y="6096000"/>
              <a:ext cx="5943600" cy="457200"/>
            </a:xfrm>
            <a:prstGeom prst="rightArrow">
              <a:avLst>
                <a:gd name="adj1" fmla="val 50000"/>
                <a:gd name="adj2" fmla="val 204870"/>
              </a:avLst>
            </a:prstGeom>
            <a:solidFill>
              <a:schemeClr val="tx1">
                <a:lumMod val="50000"/>
                <a:lumOff val="50000"/>
              </a:schemeClr>
            </a:solidFill>
            <a:ln w="9525">
              <a:solidFill>
                <a:schemeClr val="tx1"/>
              </a:solidFill>
              <a:miter lim="800000"/>
              <a:headEnd/>
              <a:tailEnd/>
            </a:ln>
            <a:effectLst/>
          </p:spPr>
          <p:txBody>
            <a:bodyPr wrap="none" anchor="ctr"/>
            <a:lstStyle/>
            <a:p>
              <a:pPr algn="ctr">
                <a:defRPr/>
              </a:pPr>
              <a:r>
                <a:rPr lang="en-GB" dirty="0">
                  <a:solidFill>
                    <a:schemeClr val="bg1"/>
                  </a:solidFill>
                  <a:latin typeface="Arial" panose="020B0604020202020204" pitchFamily="34" charset="0"/>
                  <a:cs typeface="Arial" panose="020B0604020202020204" pitchFamily="34" charset="0"/>
                </a:rPr>
                <a:t>Adding Value</a:t>
              </a: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GB" smtClean="0"/>
              <a:t>VSM Current State</a:t>
            </a:r>
            <a:endParaRPr lang="en-GB" dirty="0" smtClean="0"/>
          </a:p>
        </p:txBody>
      </p:sp>
      <p:sp>
        <p:nvSpPr>
          <p:cNvPr id="10243" name="Tijdelijke aanduiding voor inhoud 3"/>
          <p:cNvSpPr>
            <a:spLocks noGrp="1"/>
          </p:cNvSpPr>
          <p:nvPr>
            <p:ph idx="1"/>
          </p:nvPr>
        </p:nvSpPr>
        <p:spPr/>
        <p:txBody>
          <a:bodyPr/>
          <a:lstStyle/>
          <a:p>
            <a:r>
              <a:rPr lang="en-GB" dirty="0" smtClean="0"/>
              <a:t>Construction of a current state map</a:t>
            </a:r>
          </a:p>
          <a:p>
            <a:pPr lvl="1"/>
            <a:endParaRPr lang="en-GB" dirty="0" smtClean="0"/>
          </a:p>
          <a:p>
            <a:pPr lvl="1">
              <a:buClrTx/>
            </a:pPr>
            <a:r>
              <a:rPr lang="en-GB" dirty="0" smtClean="0"/>
              <a:t>Start with a walk along the whole ‘door-to-door’ value stream</a:t>
            </a:r>
          </a:p>
          <a:p>
            <a:pPr lvl="1">
              <a:buClrTx/>
            </a:pPr>
            <a:endParaRPr lang="en-GB" dirty="0" smtClean="0"/>
          </a:p>
          <a:p>
            <a:pPr lvl="1">
              <a:buClrTx/>
            </a:pPr>
            <a:r>
              <a:rPr lang="en-GB" dirty="0" smtClean="0"/>
              <a:t>Begin at the end of the value stream and move up the stream</a:t>
            </a:r>
          </a:p>
          <a:p>
            <a:pPr lvl="1">
              <a:buClrTx/>
            </a:pPr>
            <a:endParaRPr lang="en-GB" dirty="0" smtClean="0"/>
          </a:p>
          <a:p>
            <a:pPr lvl="1">
              <a:buClrTx/>
            </a:pPr>
            <a:r>
              <a:rPr lang="en-GB" dirty="0" smtClean="0"/>
              <a:t>Use a stopwatch: don’t look at standard times, determine the actual times</a:t>
            </a:r>
          </a:p>
          <a:p>
            <a:pPr lvl="1">
              <a:buClrTx/>
            </a:pPr>
            <a:endParaRPr lang="en-GB" dirty="0" smtClean="0"/>
          </a:p>
          <a:p>
            <a:pPr lvl="1">
              <a:buClrTx/>
            </a:pPr>
            <a:r>
              <a:rPr lang="en-GB" dirty="0" smtClean="0"/>
              <a:t>Bring the entire value stream map together: draw the value stream map</a:t>
            </a:r>
          </a:p>
          <a:p>
            <a:pPr lvl="1">
              <a:buClrTx/>
            </a:pPr>
            <a:endParaRPr lang="en-GB" dirty="0" smtClean="0"/>
          </a:p>
          <a:p>
            <a:pPr lvl="1">
              <a:buClrTx/>
            </a:pPr>
            <a:r>
              <a:rPr lang="en-GB" dirty="0" smtClean="0"/>
              <a:t>Collect current state information by following existing roads of information and documents flows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smtClean="0"/>
              <a:t>VSM Current State</a:t>
            </a:r>
            <a:endParaRPr lang="en-GB" dirty="0" smtClean="0"/>
          </a:p>
        </p:txBody>
      </p:sp>
      <p:sp>
        <p:nvSpPr>
          <p:cNvPr id="2" name="Tijdelijke aanduiding voor inhoud 1"/>
          <p:cNvSpPr>
            <a:spLocks noGrp="1"/>
          </p:cNvSpPr>
          <p:nvPr>
            <p:ph idx="1"/>
          </p:nvPr>
        </p:nvSpPr>
        <p:spPr/>
        <p:txBody>
          <a:bodyPr/>
          <a:lstStyle/>
          <a:p>
            <a:r>
              <a:rPr lang="en-GB" dirty="0" smtClean="0"/>
              <a:t>Construction of a current state map</a:t>
            </a:r>
          </a:p>
          <a:p>
            <a:endParaRPr lang="en-GB" dirty="0"/>
          </a:p>
        </p:txBody>
      </p:sp>
      <p:sp>
        <p:nvSpPr>
          <p:cNvPr id="3" name="Tekstvak 2"/>
          <p:cNvSpPr txBox="1"/>
          <p:nvPr/>
        </p:nvSpPr>
        <p:spPr>
          <a:xfrm>
            <a:off x="7163311" y="5556845"/>
            <a:ext cx="2145664" cy="923330"/>
          </a:xfrm>
          <a:prstGeom prst="rect">
            <a:avLst/>
          </a:prstGeom>
          <a:solidFill>
            <a:schemeClr val="bg1"/>
          </a:solidFill>
        </p:spPr>
        <p:txBody>
          <a:bodyPr wrap="square" rtlCol="0">
            <a:spAutoFit/>
          </a:bodyPr>
          <a:lstStyle/>
          <a:p>
            <a:endParaRPr lang="nl-NL" dirty="0" smtClean="0"/>
          </a:p>
          <a:p>
            <a:endParaRPr lang="nl-NL" dirty="0"/>
          </a:p>
          <a:p>
            <a:endParaRPr lang="nl-NL" dirty="0"/>
          </a:p>
        </p:txBody>
      </p:sp>
      <p:pic>
        <p:nvPicPr>
          <p:cNvPr id="6" name="Picture 4" descr="http://www.lean.org/images/officeandservic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0816" y="2078416"/>
            <a:ext cx="6318813" cy="3763206"/>
          </a:xfrm>
          <a:prstGeom prst="rect">
            <a:avLst/>
          </a:prstGeom>
          <a:noFill/>
          <a:extLst>
            <a:ext uri="{909E8E84-426E-40DD-AFC4-6F175D3DCCD1}">
              <a14:hiddenFill xmlns:a14="http://schemas.microsoft.com/office/drawing/2010/main">
                <a:solidFill>
                  <a:srgbClr val="FFFFFF"/>
                </a:solidFill>
              </a14:hiddenFill>
            </a:ext>
          </a:extLst>
        </p:spPr>
      </p:pic>
      <p:pic>
        <p:nvPicPr>
          <p:cNvPr id="22530" name="Picture 2" descr="http://www.danielpenn.com/wp-content/uploads/value-stream-mapping-0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5609" y="3939431"/>
            <a:ext cx="3846536" cy="2564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31783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smtClean="0"/>
              <a:t>VSM Current State</a:t>
            </a:r>
            <a:endParaRPr lang="en-GB" dirty="0" smtClean="0"/>
          </a:p>
        </p:txBody>
      </p:sp>
      <p:sp>
        <p:nvSpPr>
          <p:cNvPr id="2" name="Tijdelijke aanduiding voor inhoud 1"/>
          <p:cNvSpPr>
            <a:spLocks noGrp="1"/>
          </p:cNvSpPr>
          <p:nvPr>
            <p:ph idx="1"/>
          </p:nvPr>
        </p:nvSpPr>
        <p:spPr/>
        <p:txBody>
          <a:bodyPr/>
          <a:lstStyle/>
          <a:p>
            <a:r>
              <a:rPr lang="en-GB" dirty="0" smtClean="0"/>
              <a:t>Example 1 current state</a:t>
            </a:r>
          </a:p>
          <a:p>
            <a:endParaRPr lang="en-GB" dirty="0"/>
          </a:p>
        </p:txBody>
      </p:sp>
      <p:pic>
        <p:nvPicPr>
          <p:cNvPr id="20482" name="Picture 2" descr="http://wc1.smartdraw.com/specials/images/examples/value-stream-mapping-example-production-contro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2042" y="1945205"/>
            <a:ext cx="8100899" cy="4534971"/>
          </a:xfrm>
          <a:prstGeom prst="rect">
            <a:avLst/>
          </a:prstGeom>
          <a:noFill/>
          <a:extLst>
            <a:ext uri="{909E8E84-426E-40DD-AFC4-6F175D3DCCD1}">
              <a14:hiddenFill xmlns:a14="http://schemas.microsoft.com/office/drawing/2010/main">
                <a:solidFill>
                  <a:srgbClr val="FFFFFF"/>
                </a:solidFill>
              </a14:hiddenFill>
            </a:ext>
          </a:extLst>
        </p:spPr>
      </p:pic>
      <p:sp>
        <p:nvSpPr>
          <p:cNvPr id="3" name="Tekstvak 2"/>
          <p:cNvSpPr txBox="1"/>
          <p:nvPr/>
        </p:nvSpPr>
        <p:spPr>
          <a:xfrm>
            <a:off x="7163311" y="5556845"/>
            <a:ext cx="2145664" cy="923330"/>
          </a:xfrm>
          <a:prstGeom prst="rect">
            <a:avLst/>
          </a:prstGeom>
          <a:solidFill>
            <a:schemeClr val="bg1"/>
          </a:solidFill>
        </p:spPr>
        <p:txBody>
          <a:bodyPr wrap="square" rtlCol="0">
            <a:spAutoFit/>
          </a:bodyPr>
          <a:lstStyle/>
          <a:p>
            <a:endParaRPr lang="nl-NL" dirty="0" smtClean="0"/>
          </a:p>
          <a:p>
            <a:endParaRPr lang="nl-NL" dirty="0"/>
          </a:p>
          <a:p>
            <a:endParaRPr lang="nl-NL" dirty="0"/>
          </a:p>
        </p:txBody>
      </p:sp>
    </p:spTree>
    <p:extLst>
      <p:ext uri="{BB962C8B-B14F-4D97-AF65-F5344CB8AC3E}">
        <p14:creationId xmlns:p14="http://schemas.microsoft.com/office/powerpoint/2010/main" val="26472239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smtClean="0"/>
              <a:t>VSM Current State</a:t>
            </a:r>
            <a:endParaRPr lang="en-GB" dirty="0" smtClean="0"/>
          </a:p>
        </p:txBody>
      </p:sp>
      <p:sp>
        <p:nvSpPr>
          <p:cNvPr id="2" name="Tijdelijke aanduiding voor inhoud 1"/>
          <p:cNvSpPr>
            <a:spLocks noGrp="1"/>
          </p:cNvSpPr>
          <p:nvPr>
            <p:ph idx="1"/>
          </p:nvPr>
        </p:nvSpPr>
        <p:spPr/>
        <p:txBody>
          <a:bodyPr/>
          <a:lstStyle/>
          <a:p>
            <a:r>
              <a:rPr lang="en-GB" dirty="0" smtClean="0"/>
              <a:t>Example 2 </a:t>
            </a:r>
            <a:r>
              <a:rPr lang="en-GB" dirty="0"/>
              <a:t>c</a:t>
            </a:r>
            <a:r>
              <a:rPr lang="en-GB" dirty="0" smtClean="0"/>
              <a:t>urrent state</a:t>
            </a:r>
          </a:p>
          <a:p>
            <a:endParaRPr lang="en-GB" dirty="0"/>
          </a:p>
        </p:txBody>
      </p:sp>
      <p:pic>
        <p:nvPicPr>
          <p:cNvPr id="19458" name="Picture 2" descr="http://www.emeraldinsight.com/content_images/fig/4370010304001.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1360"/>
          <a:stretch/>
        </p:blipFill>
        <p:spPr bwMode="auto">
          <a:xfrm>
            <a:off x="1012042" y="2132856"/>
            <a:ext cx="8048483" cy="38884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GB" smtClean="0"/>
              <a:t>VSM Current State</a:t>
            </a:r>
            <a:endParaRPr lang="en-GB" dirty="0" smtClean="0"/>
          </a:p>
        </p:txBody>
      </p:sp>
      <p:sp>
        <p:nvSpPr>
          <p:cNvPr id="21507" name="Rectangle 3"/>
          <p:cNvSpPr>
            <a:spLocks noGrp="1" noChangeArrowheads="1"/>
          </p:cNvSpPr>
          <p:nvPr>
            <p:ph idx="1"/>
          </p:nvPr>
        </p:nvSpPr>
        <p:spPr>
          <a:xfrm>
            <a:off x="810815" y="1439864"/>
            <a:ext cx="9355242" cy="4077369"/>
          </a:xfrm>
        </p:spPr>
        <p:txBody>
          <a:bodyPr/>
          <a:lstStyle/>
          <a:p>
            <a:r>
              <a:rPr lang="en-GB" dirty="0" smtClean="0"/>
              <a:t>Value adding time %</a:t>
            </a:r>
          </a:p>
          <a:p>
            <a:endParaRPr lang="en-GB" sz="1800" dirty="0" smtClean="0"/>
          </a:p>
          <a:p>
            <a:pPr indent="-257175"/>
            <a:r>
              <a:rPr lang="en-GB" sz="1800" dirty="0"/>
              <a:t>Value adding time % = value added time/ lead time * 100%         </a:t>
            </a:r>
          </a:p>
          <a:p>
            <a:endParaRPr lang="en-GB" sz="1800" dirty="0"/>
          </a:p>
          <a:p>
            <a:pPr indent="-257175"/>
            <a:r>
              <a:rPr lang="en-GB" sz="1800" dirty="0" smtClean="0"/>
              <a:t>In example 1:</a:t>
            </a:r>
            <a:endParaRPr lang="en-GB" sz="1800" dirty="0"/>
          </a:p>
          <a:p>
            <a:endParaRPr lang="en-GB" sz="1800" dirty="0"/>
          </a:p>
          <a:p>
            <a:pPr indent="-257175"/>
            <a:endParaRPr lang="en-GB" sz="1800" dirty="0" smtClean="0"/>
          </a:p>
          <a:p>
            <a:pPr indent="-257175"/>
            <a:endParaRPr lang="en-GB" sz="1800" dirty="0"/>
          </a:p>
          <a:p>
            <a:pPr indent="-257175"/>
            <a:r>
              <a:rPr lang="en-GB" sz="1800" dirty="0" smtClean="0"/>
              <a:t>Value adding time:  12 min + 33 min + 234 min = 279 min</a:t>
            </a:r>
          </a:p>
          <a:p>
            <a:pPr indent="-257175"/>
            <a:endParaRPr lang="en-GB" sz="1800" dirty="0" smtClean="0"/>
          </a:p>
          <a:p>
            <a:pPr indent="-257175"/>
            <a:r>
              <a:rPr lang="en-GB" sz="1800" dirty="0" smtClean="0"/>
              <a:t>Lead time: 16 min </a:t>
            </a:r>
            <a:r>
              <a:rPr lang="en-GB" sz="1800" dirty="0"/>
              <a:t>+ 12 min + </a:t>
            </a:r>
            <a:r>
              <a:rPr lang="en-GB" sz="1800" dirty="0" smtClean="0"/>
              <a:t>138 + 33 </a:t>
            </a:r>
            <a:r>
              <a:rPr lang="en-GB" sz="1800" dirty="0"/>
              <a:t>min + 234 min </a:t>
            </a:r>
            <a:r>
              <a:rPr lang="en-GB" sz="1800" dirty="0" smtClean="0"/>
              <a:t>= 433 min</a:t>
            </a:r>
          </a:p>
          <a:p>
            <a:pPr indent="-257175"/>
            <a:endParaRPr lang="en-GB" sz="1800" dirty="0"/>
          </a:p>
          <a:p>
            <a:pPr indent="-257175"/>
            <a:r>
              <a:rPr lang="en-GB" sz="1800" dirty="0" smtClean="0"/>
              <a:t>Value adding time %</a:t>
            </a:r>
            <a:endParaRPr lang="en-GB" dirty="0"/>
          </a:p>
          <a:p>
            <a:pPr indent="-257175" algn="ctr"/>
            <a:endParaRPr lang="en-GB" sz="1800" dirty="0" smtClean="0"/>
          </a:p>
          <a:p>
            <a:pPr indent="-257175"/>
            <a:endParaRPr lang="en-GB" sz="1800" dirty="0" smtClean="0"/>
          </a:p>
          <a:p>
            <a:pPr indent="-257175"/>
            <a:endParaRPr lang="en-GB" sz="1800" dirty="0" smtClean="0"/>
          </a:p>
          <a:p>
            <a:pPr indent="-257175"/>
            <a:r>
              <a:rPr lang="en-GB" sz="1800" dirty="0"/>
              <a:t>	</a:t>
            </a:r>
            <a:r>
              <a:rPr lang="en-GB" sz="1800" dirty="0" smtClean="0"/>
              <a:t>			</a:t>
            </a:r>
          </a:p>
        </p:txBody>
      </p:sp>
      <p:pic>
        <p:nvPicPr>
          <p:cNvPr id="7" name="Picture 2" descr="http://www.emeraldinsight.com/content_images/fig/4370010304001.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70735" b="11885"/>
          <a:stretch/>
        </p:blipFill>
        <p:spPr bwMode="auto">
          <a:xfrm>
            <a:off x="1336077" y="3284985"/>
            <a:ext cx="7371819" cy="720081"/>
          </a:xfrm>
          <a:prstGeom prst="rect">
            <a:avLst/>
          </a:prstGeom>
          <a:noFill/>
          <a:extLst>
            <a:ext uri="{909E8E84-426E-40DD-AFC4-6F175D3DCCD1}">
              <a14:hiddenFill xmlns:a14="http://schemas.microsoft.com/office/drawing/2010/main">
                <a:solidFill>
                  <a:srgbClr val="FFFFFF"/>
                </a:solidFill>
              </a14:hiddenFill>
            </a:ext>
          </a:extLst>
        </p:spPr>
      </p:pic>
      <p:sp>
        <p:nvSpPr>
          <p:cNvPr id="3" name="Tekstvak 2"/>
          <p:cNvSpPr txBox="1"/>
          <p:nvPr/>
        </p:nvSpPr>
        <p:spPr>
          <a:xfrm>
            <a:off x="3523320" y="5518974"/>
            <a:ext cx="3969441" cy="646331"/>
          </a:xfrm>
          <a:prstGeom prst="rect">
            <a:avLst/>
          </a:prstGeom>
          <a:noFill/>
        </p:spPr>
        <p:txBody>
          <a:bodyPr wrap="square" rtlCol="0">
            <a:spAutoFit/>
          </a:bodyPr>
          <a:lstStyle/>
          <a:p>
            <a:r>
              <a:rPr lang="nl-NL" b="1" dirty="0" smtClean="0">
                <a:latin typeface="Arial" panose="020B0604020202020204" pitchFamily="34" charset="0"/>
                <a:ea typeface="Verdana" panose="020B0604030504040204" pitchFamily="34" charset="0"/>
                <a:cs typeface="Arial" panose="020B0604020202020204" pitchFamily="34" charset="0"/>
              </a:rPr>
              <a:t>= 279/ 433 * 100%</a:t>
            </a:r>
          </a:p>
          <a:p>
            <a:r>
              <a:rPr lang="nl-NL" b="1" dirty="0" smtClean="0">
                <a:latin typeface="Arial" panose="020B0604020202020204" pitchFamily="34" charset="0"/>
                <a:ea typeface="Verdana" panose="020B0604030504040204" pitchFamily="34" charset="0"/>
                <a:cs typeface="Arial" panose="020B0604020202020204" pitchFamily="34" charset="0"/>
              </a:rPr>
              <a:t>= 64%  </a:t>
            </a:r>
            <a:endParaRPr lang="nl-NL" b="1" dirty="0">
              <a:latin typeface="Arial" panose="020B0604020202020204" pitchFamily="34" charset="0"/>
              <a:ea typeface="Verdana" panose="020B060403050404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GB" smtClean="0"/>
              <a:t>VSM Current State</a:t>
            </a:r>
            <a:endParaRPr lang="en-GB" dirty="0" smtClean="0"/>
          </a:p>
        </p:txBody>
      </p:sp>
      <p:sp>
        <p:nvSpPr>
          <p:cNvPr id="21507" name="Rectangle 3"/>
          <p:cNvSpPr>
            <a:spLocks noGrp="1" noChangeArrowheads="1"/>
          </p:cNvSpPr>
          <p:nvPr>
            <p:ph idx="1"/>
          </p:nvPr>
        </p:nvSpPr>
        <p:spPr>
          <a:xfrm>
            <a:off x="810815" y="1439864"/>
            <a:ext cx="9355242" cy="4077369"/>
          </a:xfrm>
        </p:spPr>
        <p:txBody>
          <a:bodyPr/>
          <a:lstStyle/>
          <a:p>
            <a:r>
              <a:rPr lang="en-GB" dirty="0" smtClean="0"/>
              <a:t>Value adding time %</a:t>
            </a:r>
          </a:p>
          <a:p>
            <a:endParaRPr lang="en-GB" sz="1800" dirty="0" smtClean="0"/>
          </a:p>
          <a:p>
            <a:endParaRPr lang="en-GB" sz="1800" dirty="0" smtClean="0"/>
          </a:p>
          <a:p>
            <a:endParaRPr lang="en-GB" sz="1800" dirty="0"/>
          </a:p>
          <a:p>
            <a:pPr indent="-257175"/>
            <a:r>
              <a:rPr lang="en-GB" sz="1800" dirty="0" smtClean="0"/>
              <a:t>In example 2:</a:t>
            </a:r>
            <a:endParaRPr lang="en-GB" sz="1800" dirty="0"/>
          </a:p>
          <a:p>
            <a:endParaRPr lang="en-GB" sz="1800" dirty="0"/>
          </a:p>
          <a:p>
            <a:pPr indent="-257175"/>
            <a:endParaRPr lang="en-GB" sz="1800" dirty="0" smtClean="0"/>
          </a:p>
          <a:p>
            <a:pPr indent="-257175"/>
            <a:endParaRPr lang="en-GB" sz="1800" dirty="0"/>
          </a:p>
          <a:p>
            <a:pPr indent="-257175"/>
            <a:r>
              <a:rPr lang="en-GB" sz="1800" dirty="0" smtClean="0"/>
              <a:t>Value adding time: = 30 min</a:t>
            </a:r>
          </a:p>
          <a:p>
            <a:pPr indent="-257175"/>
            <a:endParaRPr lang="en-GB" sz="1800" dirty="0" smtClean="0"/>
          </a:p>
          <a:p>
            <a:pPr indent="-257175"/>
            <a:r>
              <a:rPr lang="en-GB" sz="1800" dirty="0" smtClean="0"/>
              <a:t>Lead time: 2 days + 15 days + 30 min + 1 day = 18 days</a:t>
            </a:r>
          </a:p>
          <a:p>
            <a:pPr indent="-257175"/>
            <a:endParaRPr lang="en-GB" sz="1800" dirty="0"/>
          </a:p>
          <a:p>
            <a:pPr indent="-257175"/>
            <a:r>
              <a:rPr lang="en-GB" sz="1800" dirty="0" smtClean="0"/>
              <a:t>Value adding time %</a:t>
            </a:r>
            <a:endParaRPr lang="en-GB" dirty="0"/>
          </a:p>
          <a:p>
            <a:pPr indent="-257175" algn="ctr"/>
            <a:endParaRPr lang="en-GB" sz="1800" dirty="0" smtClean="0"/>
          </a:p>
          <a:p>
            <a:pPr indent="-257175"/>
            <a:endParaRPr lang="en-GB" sz="1800" dirty="0" smtClean="0"/>
          </a:p>
          <a:p>
            <a:pPr indent="-257175"/>
            <a:endParaRPr lang="en-GB" sz="1800" dirty="0" smtClean="0"/>
          </a:p>
          <a:p>
            <a:pPr indent="-257175"/>
            <a:r>
              <a:rPr lang="en-GB" sz="1800" dirty="0"/>
              <a:t>	</a:t>
            </a:r>
            <a:r>
              <a:rPr lang="en-GB" sz="1800" dirty="0" smtClean="0"/>
              <a:t>			</a:t>
            </a:r>
          </a:p>
        </p:txBody>
      </p:sp>
      <p:sp>
        <p:nvSpPr>
          <p:cNvPr id="3" name="Tekstvak 2"/>
          <p:cNvSpPr txBox="1"/>
          <p:nvPr/>
        </p:nvSpPr>
        <p:spPr>
          <a:xfrm>
            <a:off x="3523320" y="5518974"/>
            <a:ext cx="3969441" cy="646331"/>
          </a:xfrm>
          <a:prstGeom prst="rect">
            <a:avLst/>
          </a:prstGeom>
          <a:noFill/>
        </p:spPr>
        <p:txBody>
          <a:bodyPr wrap="square" rtlCol="0">
            <a:spAutoFit/>
          </a:bodyPr>
          <a:lstStyle/>
          <a:p>
            <a:r>
              <a:rPr lang="nl-NL" b="1" dirty="0" smtClean="0">
                <a:latin typeface="Arial" panose="020B0604020202020204" pitchFamily="34" charset="0"/>
                <a:ea typeface="Verdana" panose="020B0604030504040204" pitchFamily="34" charset="0"/>
                <a:cs typeface="Arial" panose="020B0604020202020204" pitchFamily="34" charset="0"/>
              </a:rPr>
              <a:t>= 18 * 24 * 60/ 30 * 100%</a:t>
            </a:r>
          </a:p>
          <a:p>
            <a:r>
              <a:rPr lang="nl-NL" b="1" dirty="0" smtClean="0">
                <a:latin typeface="Arial" panose="020B0604020202020204" pitchFamily="34" charset="0"/>
                <a:ea typeface="Verdana" panose="020B0604030504040204" pitchFamily="34" charset="0"/>
                <a:cs typeface="Arial" panose="020B0604020202020204" pitchFamily="34" charset="0"/>
              </a:rPr>
              <a:t>= 0,12%  </a:t>
            </a:r>
            <a:endParaRPr lang="nl-NL" b="1" dirty="0">
              <a:latin typeface="Arial" panose="020B0604020202020204" pitchFamily="34" charset="0"/>
              <a:ea typeface="Verdana" panose="020B0604030504040204" pitchFamily="34" charset="0"/>
              <a:cs typeface="Arial" panose="020B0604020202020204" pitchFamily="34" charset="0"/>
            </a:endParaRPr>
          </a:p>
        </p:txBody>
      </p:sp>
      <p:pic>
        <p:nvPicPr>
          <p:cNvPr id="6" name="Picture 2" descr="http://wc1.smartdraw.com/specials/images/examples/value-stream-mapping-example-production-control.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78766" r="22000"/>
          <a:stretch/>
        </p:blipFill>
        <p:spPr bwMode="auto">
          <a:xfrm>
            <a:off x="1741122" y="3140969"/>
            <a:ext cx="6318702" cy="962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90928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GB" noProof="0" smtClean="0"/>
              <a:t>VSM Future State</a:t>
            </a:r>
            <a:endParaRPr lang="en-GB" noProof="0" dirty="0" smtClean="0"/>
          </a:p>
        </p:txBody>
      </p:sp>
      <p:sp>
        <p:nvSpPr>
          <p:cNvPr id="6147" name="Tijdelijke aanduiding voor inhoud 3"/>
          <p:cNvSpPr>
            <a:spLocks noGrp="1"/>
          </p:cNvSpPr>
          <p:nvPr>
            <p:ph idx="1"/>
          </p:nvPr>
        </p:nvSpPr>
        <p:spPr/>
        <p:txBody>
          <a:bodyPr/>
          <a:lstStyle/>
          <a:p>
            <a:r>
              <a:rPr lang="en-GB" noProof="0" dirty="0" smtClean="0"/>
              <a:t>Construction of </a:t>
            </a:r>
            <a:r>
              <a:rPr lang="en-GB" noProof="0" smtClean="0"/>
              <a:t>a future </a:t>
            </a:r>
            <a:r>
              <a:rPr lang="en-GB" noProof="0" dirty="0" smtClean="0"/>
              <a:t>state map</a:t>
            </a:r>
          </a:p>
          <a:p>
            <a:pPr lvl="1"/>
            <a:endParaRPr lang="en-GB" sz="1800" noProof="0" dirty="0" smtClean="0"/>
          </a:p>
          <a:p>
            <a:pPr marL="471488" lvl="1" indent="-285750">
              <a:buClrTx/>
              <a:buSzPct val="110000"/>
            </a:pPr>
            <a:r>
              <a:rPr lang="en-GB" noProof="0" dirty="0" smtClean="0"/>
              <a:t>Use the customer needs as a starting point, including quality demands and lead time</a:t>
            </a:r>
          </a:p>
          <a:p>
            <a:pPr marL="442913" lvl="1" indent="-357188">
              <a:buClrTx/>
              <a:buSzPct val="110000"/>
            </a:pPr>
            <a:endParaRPr lang="en-GB" noProof="0" dirty="0" smtClean="0"/>
          </a:p>
          <a:p>
            <a:pPr marL="471488" lvl="1" indent="-285750">
              <a:buClrTx/>
              <a:buSzPct val="110000"/>
            </a:pPr>
            <a:r>
              <a:rPr lang="en-GB" noProof="0" dirty="0" smtClean="0"/>
              <a:t>Implement flow to get the right quality and quantity at the correct time at the customer</a:t>
            </a:r>
          </a:p>
          <a:p>
            <a:pPr marL="442913" lvl="1" indent="-357188">
              <a:buClrTx/>
              <a:buSzPct val="110000"/>
            </a:pPr>
            <a:endParaRPr lang="en-GB" noProof="0" dirty="0" smtClean="0"/>
          </a:p>
          <a:p>
            <a:pPr marL="471488" lvl="1" indent="-285750">
              <a:buClrTx/>
              <a:buSzPct val="110000"/>
            </a:pPr>
            <a:r>
              <a:rPr lang="en-GB" noProof="0" dirty="0" smtClean="0"/>
              <a:t>Spread the work evenly, in order to reduce waiting time and use smaller work units</a:t>
            </a:r>
          </a:p>
          <a:p>
            <a:pPr lvl="1"/>
            <a:endParaRPr lang="en-GB" noProof="0" dirty="0" smtClean="0"/>
          </a:p>
          <a:p>
            <a:pPr lvl="1"/>
            <a:endParaRPr lang="en-GB" noProof="0" dirty="0" smtClean="0"/>
          </a:p>
          <a:p>
            <a:pPr marL="85725" lvl="1" indent="0">
              <a:buNone/>
            </a:pPr>
            <a:r>
              <a:rPr lang="en-GB" sz="1800" noProof="0" dirty="0" smtClean="0"/>
              <a:t>At the end of these steps an important part of the waste in the process will be reduced or removed!</a:t>
            </a:r>
          </a:p>
          <a:p>
            <a:pPr lvl="1"/>
            <a:endParaRPr lang="en-GB" noProof="0" dirty="0" smtClean="0"/>
          </a:p>
          <a:p>
            <a:pPr lvl="1"/>
            <a:endParaRPr lang="en-GB" noProof="0" dirty="0" smtClean="0"/>
          </a:p>
        </p:txBody>
      </p:sp>
    </p:spTree>
    <p:extLst>
      <p:ext uri="{BB962C8B-B14F-4D97-AF65-F5344CB8AC3E}">
        <p14:creationId xmlns:p14="http://schemas.microsoft.com/office/powerpoint/2010/main" val="33741246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noProof="0" smtClean="0"/>
              <a:t>VSM Future State</a:t>
            </a:r>
            <a:endParaRPr lang="en-GB" noProof="0" dirty="0"/>
          </a:p>
        </p:txBody>
      </p:sp>
      <p:sp>
        <p:nvSpPr>
          <p:cNvPr id="3" name="Tijdelijke aanduiding voor inhoud 2"/>
          <p:cNvSpPr>
            <a:spLocks noGrp="1"/>
          </p:cNvSpPr>
          <p:nvPr>
            <p:ph idx="1"/>
          </p:nvPr>
        </p:nvSpPr>
        <p:spPr/>
        <p:txBody>
          <a:bodyPr/>
          <a:lstStyle/>
          <a:p>
            <a:r>
              <a:rPr lang="en-GB" noProof="0" dirty="0" smtClean="0"/>
              <a:t>Construction of a future state map</a:t>
            </a:r>
            <a:endParaRPr lang="en-GB" noProof="0" dirty="0"/>
          </a:p>
        </p:txBody>
      </p:sp>
      <p:pic>
        <p:nvPicPr>
          <p:cNvPr id="19458" name="Picture 2" descr="https://www.cfmc.org/integratingcare/images/vsm.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9312"/>
          <a:stretch/>
        </p:blipFill>
        <p:spPr bwMode="auto">
          <a:xfrm>
            <a:off x="4273777" y="3730079"/>
            <a:ext cx="5990034" cy="27809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www.cfmc.org/integratingcare/images/vsm.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52751"/>
          <a:stretch/>
        </p:blipFill>
        <p:spPr bwMode="auto">
          <a:xfrm>
            <a:off x="1" y="1916832"/>
            <a:ext cx="5990034" cy="2592288"/>
          </a:xfrm>
          <a:prstGeom prst="rect">
            <a:avLst/>
          </a:prstGeom>
          <a:noFill/>
          <a:extLst>
            <a:ext uri="{909E8E84-426E-40DD-AFC4-6F175D3DCCD1}">
              <a14:hiddenFill xmlns:a14="http://schemas.microsoft.com/office/drawing/2010/main">
                <a:solidFill>
                  <a:srgbClr val="FFFFFF"/>
                </a:solidFill>
              </a14:hiddenFill>
            </a:ext>
          </a:extLst>
        </p:spPr>
      </p:pic>
      <p:cxnSp>
        <p:nvCxnSpPr>
          <p:cNvPr id="5" name="Rechte verbindingslijn 4"/>
          <p:cNvCxnSpPr/>
          <p:nvPr/>
        </p:nvCxnSpPr>
        <p:spPr>
          <a:xfrm>
            <a:off x="6196617" y="2564904"/>
            <a:ext cx="1944216"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8" name="Rechte verbindingslijn met pijl 7"/>
          <p:cNvCxnSpPr/>
          <p:nvPr/>
        </p:nvCxnSpPr>
        <p:spPr>
          <a:xfrm>
            <a:off x="8140833" y="2564904"/>
            <a:ext cx="0" cy="100811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005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endParaRPr lang="nl-NL"/>
          </a:p>
        </p:txBody>
      </p:sp>
      <p:pic>
        <p:nvPicPr>
          <p:cNvPr id="20482" name="Picture 2"/>
          <p:cNvPicPr>
            <a:picLocks noGrp="1" noChangeAspect="1" noChangeArrowheads="1"/>
          </p:cNvPicPr>
          <p:nvPr>
            <p:ph idx="1"/>
          </p:nvPr>
        </p:nvPicPr>
        <p:blipFill rotWithShape="1">
          <a:blip r:embed="rId3" cstate="print">
            <a:extLst>
              <a:ext uri="{28A0092B-C50C-407E-A947-70E740481C1C}">
                <a14:useLocalDpi xmlns:a14="http://schemas.microsoft.com/office/drawing/2010/main" val="0"/>
              </a:ext>
            </a:extLst>
          </a:blip>
          <a:srcRect b="3262"/>
          <a:stretch/>
        </p:blipFill>
        <p:spPr bwMode="auto">
          <a:xfrm>
            <a:off x="1449965" y="1596754"/>
            <a:ext cx="10255264" cy="507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jdelijke aanduiding voor inhoud 2"/>
          <p:cNvSpPr txBox="1">
            <a:spLocks/>
          </p:cNvSpPr>
          <p:nvPr/>
        </p:nvSpPr>
        <p:spPr bwMode="auto">
          <a:xfrm>
            <a:off x="810816" y="1439864"/>
            <a:ext cx="8910043" cy="25652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defRPr sz="2400" b="1" kern="1200">
                <a:solidFill>
                  <a:schemeClr val="tx1"/>
                </a:solidFill>
                <a:latin typeface="Arial" pitchFamily="34" charset="0"/>
                <a:ea typeface="+mn-ea"/>
                <a:cs typeface="Arial" pitchFamily="34" charset="0"/>
              </a:defRPr>
            </a:lvl1pPr>
            <a:lvl2pPr marL="447675" indent="-266700" algn="l" rtl="0" eaLnBrk="0" fontAlgn="base" hangingPunct="0">
              <a:spcBef>
                <a:spcPct val="20000"/>
              </a:spcBef>
              <a:spcAft>
                <a:spcPct val="0"/>
              </a:spcAft>
              <a:buClr>
                <a:srgbClr val="C80F00"/>
              </a:buClr>
              <a:buSzPct val="120000"/>
              <a:buFont typeface="Arial" charset="0"/>
              <a:buChar char="•"/>
              <a:defRPr sz="1600" b="1" kern="1200">
                <a:solidFill>
                  <a:schemeClr val="tx1"/>
                </a:solidFill>
                <a:latin typeface="Arial" pitchFamily="34" charset="0"/>
                <a:ea typeface="+mn-ea"/>
                <a:cs typeface="Arial" pitchFamily="34" charset="0"/>
              </a:defRPr>
            </a:lvl2pPr>
            <a:lvl3pPr marL="985838" indent="-266700" algn="l" rtl="0" eaLnBrk="0" fontAlgn="base" hangingPunct="0">
              <a:spcBef>
                <a:spcPct val="20000"/>
              </a:spcBef>
              <a:spcAft>
                <a:spcPct val="0"/>
              </a:spcAft>
              <a:buClr>
                <a:srgbClr val="C80F00"/>
              </a:buClr>
              <a:buSzPct val="120000"/>
              <a:buFont typeface="Arial" charset="0"/>
              <a:buChar char="•"/>
              <a:defRPr sz="1600" kern="1200">
                <a:solidFill>
                  <a:schemeClr val="tx1"/>
                </a:solidFill>
                <a:latin typeface="Arial" pitchFamily="34" charset="0"/>
                <a:ea typeface="+mn-ea"/>
                <a:cs typeface="Arial" pitchFamily="34" charset="0"/>
              </a:defRPr>
            </a:lvl3pPr>
            <a:lvl4pPr marL="1524000" indent="-266700" algn="l" rtl="0" eaLnBrk="0" fontAlgn="base" hangingPunct="0">
              <a:spcBef>
                <a:spcPct val="20000"/>
              </a:spcBef>
              <a:spcAft>
                <a:spcPct val="0"/>
              </a:spcAft>
              <a:buClr>
                <a:srgbClr val="C80F00"/>
              </a:buClr>
              <a:buSzPct val="120000"/>
              <a:buFont typeface="Arial" charset="0"/>
              <a:buChar char="•"/>
              <a:defRPr sz="1400" kern="1200">
                <a:solidFill>
                  <a:schemeClr val="tx1"/>
                </a:solidFill>
                <a:latin typeface="Arial" pitchFamily="34" charset="0"/>
                <a:ea typeface="+mn-ea"/>
                <a:cs typeface="Arial" pitchFamily="34" charset="0"/>
              </a:defRPr>
            </a:lvl4pPr>
            <a:lvl5pPr marL="2062163" indent="-266700" algn="l" rtl="0" eaLnBrk="0" fontAlgn="base" hangingPunct="0">
              <a:spcBef>
                <a:spcPct val="20000"/>
              </a:spcBef>
              <a:spcAft>
                <a:spcPct val="0"/>
              </a:spcAft>
              <a:buClr>
                <a:srgbClr val="C80F00"/>
              </a:buClr>
              <a:buSzPct val="120000"/>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smtClean="0"/>
              <a:t>Example future state</a:t>
            </a:r>
            <a:endParaRPr lang="en-GB" dirty="0"/>
          </a:p>
        </p:txBody>
      </p:sp>
      <p:sp>
        <p:nvSpPr>
          <p:cNvPr id="7" name="Titel 1"/>
          <p:cNvSpPr>
            <a:spLocks noGrp="1"/>
          </p:cNvSpPr>
          <p:nvPr>
            <p:ph type="title"/>
          </p:nvPr>
        </p:nvSpPr>
        <p:spPr>
          <a:xfrm>
            <a:off x="2227065" y="238126"/>
            <a:ext cx="7290197" cy="600075"/>
          </a:xfrm>
        </p:spPr>
        <p:txBody>
          <a:bodyPr/>
          <a:lstStyle/>
          <a:p>
            <a:r>
              <a:rPr lang="en-GB" noProof="0" dirty="0" smtClean="0"/>
              <a:t>VSM Future State</a:t>
            </a:r>
            <a:endParaRPr lang="en-GB" noProof="0" dirty="0"/>
          </a:p>
        </p:txBody>
      </p:sp>
    </p:spTree>
    <p:extLst>
      <p:ext uri="{BB962C8B-B14F-4D97-AF65-F5344CB8AC3E}">
        <p14:creationId xmlns:p14="http://schemas.microsoft.com/office/powerpoint/2010/main" val="405688741"/>
      </p:ext>
    </p:extLst>
  </p:cSld>
  <p:clrMapOvr>
    <a:masterClrMapping/>
  </p:clrMapOvr>
  <p:timing>
    <p:tnLst>
      <p:par>
        <p:cTn id="1" dur="indefinite" restart="never" nodeType="tmRoot"/>
      </p:par>
    </p:tnLst>
  </p:timing>
</p:sld>
</file>

<file path=ppt/theme/theme1.xml><?xml version="1.0" encoding="utf-8"?>
<a:theme xmlns:a="http://schemas.openxmlformats.org/drawingml/2006/main" name="LSSH">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C4172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524</TotalTime>
  <Words>2090</Words>
  <Application>Microsoft Office PowerPoint</Application>
  <PresentationFormat>35mm Slides</PresentationFormat>
  <Paragraphs>289</Paragraphs>
  <Slides>24</Slides>
  <Notes>24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1" baseType="lpstr">
      <vt:lpstr>Calibri</vt:lpstr>
      <vt:lpstr>Wingdings</vt:lpstr>
      <vt:lpstr>Arial</vt:lpstr>
      <vt:lpstr>Verdana</vt:lpstr>
      <vt:lpstr>Arial Black</vt:lpstr>
      <vt:lpstr>LSSH</vt:lpstr>
      <vt:lpstr>Visio</vt:lpstr>
      <vt:lpstr>Process Mapping</vt:lpstr>
      <vt:lpstr>Process Mapping</vt:lpstr>
      <vt:lpstr>Process Mapping</vt:lpstr>
      <vt:lpstr>Process Mapping</vt:lpstr>
      <vt:lpstr>Process Mapping</vt:lpstr>
      <vt:lpstr>Process Mapping</vt:lpstr>
      <vt:lpstr>Process Mapping</vt:lpstr>
      <vt:lpstr>Process Mapping</vt:lpstr>
      <vt:lpstr>Process Mapping</vt:lpstr>
      <vt:lpstr>Process Mapping</vt:lpstr>
      <vt:lpstr>Process Mapping</vt:lpstr>
      <vt:lpstr>VSM – Value Stream Mapping  </vt:lpstr>
      <vt:lpstr>VSM Current State</vt:lpstr>
      <vt:lpstr>VSM Current State</vt:lpstr>
      <vt:lpstr>VSM Current State</vt:lpstr>
      <vt:lpstr>VSM Current State</vt:lpstr>
      <vt:lpstr>VSM Current State</vt:lpstr>
      <vt:lpstr>VSM Current State</vt:lpstr>
      <vt:lpstr>VSM Current State</vt:lpstr>
      <vt:lpstr>VSM Current State</vt:lpstr>
      <vt:lpstr>VSM Current State</vt:lpstr>
      <vt:lpstr>VSM Future State</vt:lpstr>
      <vt:lpstr>VSM Future State</vt:lpstr>
      <vt:lpstr>VSM Future State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21.YB.UH.U4.E1 - Process &amp; Value Stream Mapping</dc:title>
  <dc:subject/>
  <dc:creator>Paulien</dc:creator>
  <cp:lastModifiedBy>olivia hayes</cp:lastModifiedBy>
  <cp:revision>25</cp:revision>
  <dcterms:created xsi:type="dcterms:W3CDTF">2014-02-17T10:18:21Z</dcterms:created>
  <dcterms:modified xsi:type="dcterms:W3CDTF">2014-05-07T15:47:17Z</dcterms:modified>
</cp:coreProperties>
</file>