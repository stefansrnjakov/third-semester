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2.xml" ContentType="application/vnd.openxmlformats-officedocument.presentationml.tags+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7"/>
  </p:notesMasterIdLst>
  <p:handoutMasterIdLst>
    <p:handoutMasterId r:id="rId28"/>
  </p:handoutMasterIdLst>
  <p:sldIdLst>
    <p:sldId id="295" r:id="rId2"/>
    <p:sldId id="322" r:id="rId3"/>
    <p:sldId id="321" r:id="rId4"/>
    <p:sldId id="324" r:id="rId5"/>
    <p:sldId id="325" r:id="rId6"/>
    <p:sldId id="326" r:id="rId7"/>
    <p:sldId id="327" r:id="rId8"/>
    <p:sldId id="328" r:id="rId9"/>
    <p:sldId id="329" r:id="rId10"/>
    <p:sldId id="330" r:id="rId11"/>
    <p:sldId id="331" r:id="rId12"/>
    <p:sldId id="332" r:id="rId13"/>
    <p:sldId id="333" r:id="rId14"/>
    <p:sldId id="334" r:id="rId15"/>
    <p:sldId id="335" r:id="rId16"/>
    <p:sldId id="336" r:id="rId17"/>
    <p:sldId id="337" r:id="rId18"/>
    <p:sldId id="338" r:id="rId19"/>
    <p:sldId id="339" r:id="rId20"/>
    <p:sldId id="340" r:id="rId21"/>
    <p:sldId id="341" r:id="rId22"/>
    <p:sldId id="342" r:id="rId23"/>
    <p:sldId id="343" r:id="rId24"/>
    <p:sldId id="317" r:id="rId25"/>
    <p:sldId id="323" r:id="rId26"/>
  </p:sldIdLst>
  <p:sldSz cx="9144000" cy="6858000" type="screen4x3"/>
  <p:notesSz cx="6858000" cy="9144000"/>
  <p:embeddedFontLst>
    <p:embeddedFont>
      <p:font typeface="Cambria Math" panose="02040503050406030204" pitchFamily="18" charset="0"/>
      <p:regular r:id="rId29"/>
    </p:embeddedFont>
    <p:embeddedFont>
      <p:font typeface="Tw Cen MT" panose="020B0602020104020603" pitchFamily="34" charset="-18"/>
      <p:regular r:id="rId30"/>
      <p:bold r:id="rId31"/>
      <p:italic r:id="rId32"/>
      <p:boldItalic r:id="rId33"/>
    </p:embeddedFont>
  </p:embeddedFontLst>
  <p:custDataLst>
    <p:tags r:id="rId34"/>
  </p:custDataLst>
  <p:defaultTextStyle>
    <a:defPPr>
      <a:defRPr lang="nl-NL"/>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ran Rodič" initials="MR"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56" autoAdjust="0"/>
    <p:restoredTop sz="64041" autoAdjust="0"/>
  </p:normalViewPr>
  <p:slideViewPr>
    <p:cSldViewPr>
      <p:cViewPr varScale="1">
        <p:scale>
          <a:sx n="67" d="100"/>
          <a:sy n="67" d="100"/>
        </p:scale>
        <p:origin x="2076" y="4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70" d="100"/>
          <a:sy n="70" d="100"/>
        </p:scale>
        <p:origin x="2767" y="2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8" name="Tijdelijke aanduiding voor datum 2"/>
          <p:cNvSpPr>
            <a:spLocks noGrp="1"/>
          </p:cNvSpPr>
          <p:nvPr>
            <p:ph type="dt" sz="quarter" idx="1"/>
          </p:nvPr>
        </p:nvSpPr>
        <p:spPr>
          <a:xfrm>
            <a:off x="3773834" y="0"/>
            <a:ext cx="3076363" cy="513508"/>
          </a:xfrm>
          <a:prstGeom prst="rect">
            <a:avLst/>
          </a:prstGeom>
        </p:spPr>
        <p:txBody>
          <a:bodyPr vert="horz" lIns="99048" tIns="49524" rIns="99048" bIns="49524" rtlCol="0"/>
          <a:lstStyle>
            <a:lvl1pPr algn="r">
              <a:defRPr sz="1300"/>
            </a:lvl1pPr>
          </a:lstStyle>
          <a:p>
            <a:fld id="{E2D57F30-67A7-406E-BCA5-0EC578CCC6B0}" type="datetimeFigureOut">
              <a:rPr lang="nl-NL" smtClean="0"/>
              <a:t>30-11-2025</a:t>
            </a:fld>
            <a:endParaRPr lang="nl-NL" dirty="0"/>
          </a:p>
        </p:txBody>
      </p:sp>
      <p:sp>
        <p:nvSpPr>
          <p:cNvPr id="9" name="Tijdelijke aanduiding voor dianummer 4"/>
          <p:cNvSpPr>
            <a:spLocks noGrp="1"/>
          </p:cNvSpPr>
          <p:nvPr>
            <p:ph type="sldNum" sz="quarter" idx="3"/>
          </p:nvPr>
        </p:nvSpPr>
        <p:spPr>
          <a:xfrm>
            <a:off x="3774560" y="8630493"/>
            <a:ext cx="3076363" cy="513507"/>
          </a:xfrm>
          <a:prstGeom prst="rect">
            <a:avLst/>
          </a:prstGeom>
        </p:spPr>
        <p:txBody>
          <a:bodyPr vert="horz" lIns="99048" tIns="49524" rIns="99048" bIns="49524" rtlCol="0" anchor="b"/>
          <a:lstStyle>
            <a:lvl1pPr algn="r">
              <a:defRPr sz="1300"/>
            </a:lvl1pPr>
          </a:lstStyle>
          <a:p>
            <a:fld id="{A13B2997-F370-467F-842B-5544EBC8E7A9}" type="slidenum">
              <a:rPr lang="nl-NL" smtClean="0"/>
              <a:t>‹#›</a:t>
            </a:fld>
            <a:endParaRPr lang="nl-NL"/>
          </a:p>
        </p:txBody>
      </p:sp>
    </p:spTree>
    <p:extLst>
      <p:ext uri="{BB962C8B-B14F-4D97-AF65-F5344CB8AC3E}">
        <p14:creationId xmlns:p14="http://schemas.microsoft.com/office/powerpoint/2010/main" val="39061181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Tijdelijke aanduiding voor dia-afbeelding 3"/>
          <p:cNvSpPr>
            <a:spLocks noGrp="1" noRot="1" noChangeAspect="1"/>
          </p:cNvSpPr>
          <p:nvPr>
            <p:ph type="sldImg" idx="2"/>
          </p:nvPr>
        </p:nvSpPr>
        <p:spPr>
          <a:xfrm>
            <a:off x="993775" y="768350"/>
            <a:ext cx="5114925" cy="3836988"/>
          </a:xfrm>
          <a:prstGeom prst="rect">
            <a:avLst/>
          </a:prstGeom>
          <a:noFill/>
          <a:ln w="12700">
            <a:solidFill>
              <a:prstClr val="black"/>
            </a:solidFill>
          </a:ln>
        </p:spPr>
        <p:txBody>
          <a:bodyPr vert="horz" lIns="99066" tIns="49533" rIns="99066" bIns="49533" rtlCol="0" anchor="ctr"/>
          <a:lstStyle/>
          <a:p>
            <a:pPr lvl="0"/>
            <a:endParaRPr lang="nl-NL" noProof="0"/>
          </a:p>
        </p:txBody>
      </p:sp>
      <p:sp>
        <p:nvSpPr>
          <p:cNvPr id="7" name="Tijdelijke aanduiding voor notities 4"/>
          <p:cNvSpPr>
            <a:spLocks noGrp="1"/>
          </p:cNvSpPr>
          <p:nvPr>
            <p:ph type="body" sz="quarter" idx="3"/>
          </p:nvPr>
        </p:nvSpPr>
        <p:spPr>
          <a:xfrm>
            <a:off x="710248" y="4861441"/>
            <a:ext cx="5681980" cy="3959031"/>
          </a:xfrm>
          <a:prstGeom prst="rect">
            <a:avLst/>
          </a:prstGeom>
        </p:spPr>
        <p:txBody>
          <a:bodyPr vert="horz" lIns="99066" tIns="49533" rIns="99066" bIns="49533" rtlCol="0"/>
          <a:lstStyle/>
          <a:p>
            <a:pPr lvl="0"/>
            <a:r>
              <a:rPr lang="nl-NL" noProof="0"/>
              <a:t>Klik om de modelstijlen te bewerken</a:t>
            </a:r>
          </a:p>
          <a:p>
            <a:pPr lvl="1"/>
            <a:r>
              <a:rPr lang="nl-NL" noProof="0"/>
              <a:t>Tweede niveau</a:t>
            </a:r>
          </a:p>
          <a:p>
            <a:pPr lvl="2"/>
            <a:r>
              <a:rPr lang="nl-NL" noProof="0"/>
              <a:t>Derde niveau</a:t>
            </a:r>
          </a:p>
          <a:p>
            <a:pPr lvl="3"/>
            <a:r>
              <a:rPr lang="nl-NL" noProof="0"/>
              <a:t>Vierde niveau</a:t>
            </a:r>
          </a:p>
          <a:p>
            <a:pPr lvl="4"/>
            <a:r>
              <a:rPr lang="nl-NL" noProof="0"/>
              <a:t>Vijfde niveau</a:t>
            </a:r>
          </a:p>
        </p:txBody>
      </p:sp>
      <p:sp>
        <p:nvSpPr>
          <p:cNvPr id="9" name="Rectangle 9"/>
          <p:cNvSpPr>
            <a:spLocks noChangeArrowheads="1"/>
          </p:cNvSpPr>
          <p:nvPr/>
        </p:nvSpPr>
        <p:spPr bwMode="auto">
          <a:xfrm>
            <a:off x="3861048" y="8892480"/>
            <a:ext cx="2952327" cy="2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66" tIns="0" rIns="99066"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0" marR="0" lvl="0" indent="0" algn="r" defTabSz="990661" eaLnBrk="1" fontAlgn="auto" latinLnBrk="0" hangingPunct="1">
              <a:lnSpc>
                <a:spcPct val="100000"/>
              </a:lnSpc>
              <a:spcBef>
                <a:spcPts val="0"/>
              </a:spcBef>
              <a:spcAft>
                <a:spcPts val="0"/>
              </a:spcAft>
              <a:buClrTx/>
              <a:buSzTx/>
              <a:buFontTx/>
              <a:buNone/>
              <a:tabLst/>
              <a:defRPr/>
            </a:pPr>
            <a:r>
              <a:rPr kumimoji="0" lang="nl-NL" altLang="nl-NL" sz="1300" b="1" i="0" u="none" strike="noStrike" kern="0" cap="none" spc="0" normalizeH="0" baseline="0" noProof="0" dirty="0">
                <a:ln>
                  <a:noFill/>
                </a:ln>
                <a:solidFill>
                  <a:srgbClr val="002060"/>
                </a:solidFill>
                <a:effectLst/>
                <a:uLnTx/>
                <a:uFillTx/>
                <a:latin typeface="Calibri" pitchFamily="34" charset="0"/>
                <a:cs typeface="Arial" charset="0"/>
              </a:rPr>
              <a:t>U4.E2-SIXSIGMA-</a:t>
            </a:r>
            <a:fld id="{583DABBC-1C65-4A90-A85E-E309129F042D}" type="slidenum">
              <a:rPr kumimoji="0" lang="nl-NL" altLang="nl-NL" sz="1300" b="1" i="0" u="none" strike="noStrike" kern="0" cap="none" spc="0" normalizeH="0" baseline="0" noProof="0" smtClean="0">
                <a:ln>
                  <a:noFill/>
                </a:ln>
                <a:solidFill>
                  <a:srgbClr val="002060"/>
                </a:solidFill>
                <a:effectLst/>
                <a:uLnTx/>
                <a:uFillTx/>
                <a:latin typeface="Calibri" pitchFamily="34" charset="0"/>
                <a:cs typeface="Arial" charset="0"/>
              </a:rPr>
              <a:pPr marL="0" marR="0" lvl="0" indent="0" algn="r" defTabSz="990661" eaLnBrk="1" fontAlgn="auto" latinLnBrk="0" hangingPunct="1">
                <a:lnSpc>
                  <a:spcPct val="100000"/>
                </a:lnSpc>
                <a:spcBef>
                  <a:spcPts val="0"/>
                </a:spcBef>
                <a:spcAft>
                  <a:spcPts val="0"/>
                </a:spcAft>
                <a:buClrTx/>
                <a:buSzTx/>
                <a:buFontTx/>
                <a:buNone/>
                <a:tabLst/>
                <a:defRPr/>
              </a:pPr>
              <a:t>‹#›</a:t>
            </a:fld>
            <a:endParaRPr kumimoji="0" lang="nl-NL" altLang="nl-NL" sz="1300" b="1" i="0" u="none" strike="noStrike" kern="0" cap="none" spc="0" normalizeH="0" baseline="0" noProof="0" dirty="0">
              <a:ln>
                <a:noFill/>
              </a:ln>
              <a:solidFill>
                <a:srgbClr val="002060"/>
              </a:solidFill>
              <a:effectLst/>
              <a:uLnTx/>
              <a:uFillTx/>
              <a:latin typeface="Calibri" pitchFamily="34" charset="0"/>
              <a:cs typeface="Arial" charset="0"/>
            </a:endParaRPr>
          </a:p>
        </p:txBody>
      </p:sp>
    </p:spTree>
    <p:extLst>
      <p:ext uri="{BB962C8B-B14F-4D97-AF65-F5344CB8AC3E}">
        <p14:creationId xmlns:p14="http://schemas.microsoft.com/office/powerpoint/2010/main" val="67194208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Rot="1" noChangeAspect="1" noChangeArrowheads="1" noTextEdit="1"/>
          </p:cNvSpPr>
          <p:nvPr>
            <p:ph type="sldImg"/>
          </p:nvPr>
        </p:nvSpPr>
        <p:spPr>
          <a:xfrm>
            <a:off x="1143000" y="685800"/>
            <a:ext cx="4572000" cy="3429000"/>
          </a:xfrm>
          <a:prstGeom prst="rect">
            <a:avLst/>
          </a:prstGeom>
          <a:ln/>
        </p:spPr>
      </p:sp>
      <p:sp>
        <p:nvSpPr>
          <p:cNvPr id="11268" name="Rectangle 3"/>
          <p:cNvSpPr>
            <a:spLocks noGrp="1" noChangeArrowheads="1"/>
          </p:cNvSpPr>
          <p:nvPr>
            <p:ph type="body" idx="1"/>
          </p:nvPr>
        </p:nvSpPr>
        <p:spPr>
          <a:xfrm>
            <a:off x="685800" y="4343400"/>
            <a:ext cx="5486400" cy="4114800"/>
          </a:xfrm>
          <a:prstGeom prst="rect">
            <a:avLst/>
          </a:prstGeom>
          <a:noFill/>
          <a:ln/>
        </p:spPr>
        <p:txBody>
          <a:bodyPr/>
          <a:lstStyle/>
          <a:p>
            <a:pPr>
              <a:spcBef>
                <a:spcPts val="0"/>
              </a:spcBef>
            </a:pPr>
            <a:r>
              <a:rPr lang="fr-FR" sz="1050" dirty="0">
                <a:latin typeface="Arial" pitchFamily="34" charset="0"/>
              </a:rPr>
              <a:t>To učno gradivo je bilo certificirano v skladu s pravili </a:t>
            </a:r>
            <a:r>
              <a:rPr lang="fr-FR" sz="1050" b="1" dirty="0">
                <a:latin typeface="Arial" pitchFamily="34" charset="0"/>
              </a:rPr>
              <a:t>ECQA – Evropskega združenja za certificiranje in kvalificiranje</a:t>
            </a:r>
            <a:r>
              <a:rPr lang="fr-FR" sz="1050" dirty="0">
                <a:latin typeface="Arial" pitchFamily="34" charset="0"/>
              </a:rPr>
              <a:t>.</a:t>
            </a:r>
          </a:p>
          <a:p>
            <a:pPr>
              <a:spcBef>
                <a:spcPts val="0"/>
              </a:spcBef>
            </a:pPr>
            <a:r>
              <a:rPr lang="fr-FR" sz="1050" dirty="0">
                <a:latin typeface="Arial" pitchFamily="34" charset="0"/>
              </a:rPr>
              <a:t>Učno gradivo je bilo usklajeno med univerzami in  industrijo v okviru mednarodnega</a:t>
            </a:r>
            <a:r>
              <a:rPr lang="fr-FR" sz="1050" baseline="0" dirty="0">
                <a:latin typeface="Arial" pitchFamily="34" charset="0"/>
              </a:rPr>
              <a:t> konzorcija projekta </a:t>
            </a:r>
            <a:br>
              <a:rPr lang="fr-FR" sz="1050" dirty="0"/>
            </a:br>
            <a:r>
              <a:rPr lang="fr-FR" sz="1050" b="1" dirty="0">
                <a:latin typeface="Arial" pitchFamily="34" charset="0"/>
              </a:rPr>
              <a:t>“</a:t>
            </a:r>
            <a:r>
              <a:rPr lang="fr-FR" sz="1050" b="1" dirty="0">
                <a:solidFill>
                  <a:srgbClr val="000099"/>
                </a:solidFill>
                <a:latin typeface="Tw Cen MT" pitchFamily="34" charset="0"/>
              </a:rPr>
              <a:t>Automotive Quality Universities – AutoUniverse (AQU)</a:t>
            </a:r>
            <a:r>
              <a:rPr lang="fr-FR" sz="1050" b="1" dirty="0">
                <a:latin typeface="Arial" pitchFamily="34" charset="0"/>
              </a:rPr>
              <a:t>”:</a:t>
            </a:r>
          </a:p>
          <a:p>
            <a:pPr>
              <a:spcBef>
                <a:spcPts val="0"/>
              </a:spcBef>
            </a:pPr>
            <a:endParaRPr lang="sl-SI" sz="1050" b="1" dirty="0">
              <a:latin typeface="Arial" pitchFamily="34" charset="0"/>
              <a:cs typeface="Arial" pitchFamily="34" charset="0"/>
            </a:endParaRPr>
          </a:p>
          <a:p>
            <a:pPr>
              <a:spcBef>
                <a:spcPts val="0"/>
              </a:spcBef>
            </a:pPr>
            <a:r>
              <a:rPr lang="fr-FR" sz="1050" b="1" dirty="0">
                <a:latin typeface="Arial" pitchFamily="34" charset="0"/>
                <a:cs typeface="Arial" pitchFamily="34" charset="0"/>
              </a:rPr>
              <a:t>VSB – Technical University of Ostrava</a:t>
            </a:r>
            <a:r>
              <a:rPr lang="fr-FR" sz="1050" dirty="0">
                <a:latin typeface="Arial" pitchFamily="34" charset="0"/>
                <a:cs typeface="Arial" pitchFamily="34" charset="0"/>
              </a:rPr>
              <a:t>, Faculty of Electrical Engineering and Computer Science, Češka, www.fei.vsb.cz/en</a:t>
            </a:r>
          </a:p>
          <a:p>
            <a:pPr>
              <a:spcBef>
                <a:spcPts val="0"/>
              </a:spcBef>
            </a:pPr>
            <a:r>
              <a:rPr lang="fr-FR" sz="1050" b="1" dirty="0">
                <a:latin typeface="Arial" pitchFamily="34" charset="0"/>
                <a:cs typeface="Arial" pitchFamily="34" charset="0"/>
              </a:rPr>
              <a:t>Graz University of Technology</a:t>
            </a:r>
            <a:r>
              <a:rPr lang="fr-FR" sz="1050" dirty="0">
                <a:latin typeface="Arial" pitchFamily="34" charset="0"/>
                <a:cs typeface="Arial" pitchFamily="34" charset="0"/>
              </a:rPr>
              <a:t>, Institute for Technical Informatics, Avstrija, www.iti.tugraz.at</a:t>
            </a:r>
          </a:p>
          <a:p>
            <a:pPr defTabSz="990478">
              <a:spcBef>
                <a:spcPts val="0"/>
              </a:spcBef>
              <a:defRPr/>
            </a:pPr>
            <a:r>
              <a:rPr lang="fr-FR" sz="1050" b="1" dirty="0"/>
              <a:t>University of Applied Sciences </a:t>
            </a:r>
            <a:r>
              <a:rPr lang="fr-FR" sz="1050" b="1" dirty="0">
                <a:latin typeface="Arial" pitchFamily="34" charset="0"/>
                <a:cs typeface="Arial" pitchFamily="34" charset="0"/>
              </a:rPr>
              <a:t>JOANNEUM</a:t>
            </a:r>
            <a:r>
              <a:rPr lang="fr-FR" sz="1050" b="1" dirty="0"/>
              <a:t>, </a:t>
            </a:r>
            <a:r>
              <a:rPr lang="fr-FR" sz="1050" dirty="0"/>
              <a:t>Institute for Automotive Engineering, Graz, </a:t>
            </a:r>
            <a:r>
              <a:rPr lang="fr-FR" sz="1050" dirty="0">
                <a:latin typeface="Arial" pitchFamily="34" charset="0"/>
                <a:cs typeface="Arial" pitchFamily="34" charset="0"/>
              </a:rPr>
              <a:t>Avstrija</a:t>
            </a:r>
            <a:r>
              <a:rPr lang="fr-FR" sz="1050" dirty="0"/>
              <a:t>, https://www.fh-joanneum.at/en/institut/automotive-engineering/</a:t>
            </a:r>
          </a:p>
          <a:p>
            <a:pPr defTabSz="990478">
              <a:spcBef>
                <a:spcPts val="0"/>
              </a:spcBef>
              <a:defRPr/>
            </a:pPr>
            <a:r>
              <a:rPr lang="fr-FR" sz="1050" b="1" dirty="0">
                <a:latin typeface="Arial" pitchFamily="34" charset="0"/>
                <a:cs typeface="Arial" pitchFamily="34" charset="0"/>
              </a:rPr>
              <a:t>EMIRAcle – European Manufacturing and Innovation Research</a:t>
            </a:r>
            <a:r>
              <a:rPr lang="fr-FR" sz="1050" b="1" baseline="0" dirty="0">
                <a:latin typeface="Arial" pitchFamily="34" charset="0"/>
                <a:cs typeface="Arial" pitchFamily="34" charset="0"/>
              </a:rPr>
              <a:t> Association</a:t>
            </a:r>
            <a:r>
              <a:rPr lang="fr-FR" sz="1050" dirty="0">
                <a:latin typeface="Arial" pitchFamily="34" charset="0"/>
                <a:cs typeface="Arial" pitchFamily="34" charset="0"/>
              </a:rPr>
              <a:t>, Belgija, http://www.emiracle.eu/</a:t>
            </a:r>
          </a:p>
          <a:p>
            <a:pPr defTabSz="990478">
              <a:spcBef>
                <a:spcPts val="0"/>
              </a:spcBef>
              <a:defRPr/>
            </a:pPr>
            <a:r>
              <a:rPr lang="fr-FR" sz="1050" b="1" dirty="0"/>
              <a:t>Univerza v Mariboru,</a:t>
            </a:r>
            <a:r>
              <a:rPr lang="fr-FR" sz="1050" dirty="0"/>
              <a:t> Fakulteta za elektrotehniko, računalništvo</a:t>
            </a:r>
            <a:r>
              <a:rPr lang="fr-FR" sz="1050" baseline="0" dirty="0"/>
              <a:t> in informatiko</a:t>
            </a:r>
            <a:r>
              <a:rPr lang="fr-FR" sz="1050" dirty="0"/>
              <a:t>, Slovenija, https://feri.um.si/</a:t>
            </a:r>
            <a:endParaRPr lang="fr-FR" sz="1050" dirty="0">
              <a:latin typeface="Arial" pitchFamily="34" charset="0"/>
              <a:cs typeface="Arial" pitchFamily="34" charset="0"/>
            </a:endParaRPr>
          </a:p>
          <a:p>
            <a:pPr>
              <a:spcBef>
                <a:spcPts val="0"/>
              </a:spcBef>
            </a:pPr>
            <a:r>
              <a:rPr lang="fr-FR" sz="1050" b="1" dirty="0">
                <a:latin typeface="Arial" pitchFamily="34" charset="0"/>
                <a:cs typeface="Arial" pitchFamily="34" charset="0"/>
              </a:rPr>
              <a:t>ISCN Ltd./Ges.m.b.H</a:t>
            </a:r>
            <a:r>
              <a:rPr lang="fr-FR" sz="1050" dirty="0">
                <a:latin typeface="Arial" pitchFamily="34" charset="0"/>
                <a:cs typeface="Arial" pitchFamily="34" charset="0"/>
              </a:rPr>
              <a:t>, Irska/Avstrija, www.iscn.com</a:t>
            </a:r>
          </a:p>
          <a:p>
            <a:pPr>
              <a:spcBef>
                <a:spcPts val="0"/>
              </a:spcBef>
            </a:pPr>
            <a:r>
              <a:rPr lang="fr-FR" sz="1050" b="1" dirty="0">
                <a:latin typeface="Arial" pitchFamily="34" charset="0"/>
                <a:cs typeface="Arial" pitchFamily="34" charset="0"/>
              </a:rPr>
              <a:t>ECQA – European Certification and Qualification Association</a:t>
            </a:r>
            <a:r>
              <a:rPr lang="fr-FR" sz="1050" dirty="0">
                <a:latin typeface="Arial" pitchFamily="34" charset="0"/>
                <a:cs typeface="Arial" pitchFamily="34" charset="0"/>
              </a:rPr>
              <a:t>, Avstrija, www.ecqa.org</a:t>
            </a:r>
          </a:p>
          <a:p>
            <a:pPr>
              <a:lnSpc>
                <a:spcPct val="80000"/>
              </a:lnSpc>
            </a:pPr>
            <a:endParaRPr lang="fr-FR" sz="1050" dirty="0">
              <a:latin typeface="Arial" pitchFamily="34" charset="0"/>
              <a:cs typeface="Arial" pitchFamily="34" charset="0"/>
            </a:endParaRPr>
          </a:p>
          <a:p>
            <a:pPr>
              <a:spcBef>
                <a:spcPts val="0"/>
              </a:spcBef>
            </a:pPr>
            <a:r>
              <a:rPr lang="fr-FR" sz="1050" dirty="0">
                <a:latin typeface="Arial" pitchFamily="34" charset="0"/>
              </a:rPr>
              <a:t>Ta projekt je bil financiran s podporo programa </a:t>
            </a:r>
            <a:r>
              <a:rPr lang="fr-FR" sz="1050" dirty="0"/>
              <a:t>Erasmus+</a:t>
            </a:r>
            <a:r>
              <a:rPr lang="fr-FR" sz="1050" dirty="0">
                <a:latin typeface="Arial" pitchFamily="34" charset="0"/>
              </a:rPr>
              <a:t> Evropske komisije po pogodbi </a:t>
            </a:r>
            <a:r>
              <a:rPr lang="fr-FR" sz="1050" dirty="0"/>
              <a:t>2015-1-CZ01-KA203-013986 - 2015 – 2017</a:t>
            </a:r>
            <a:r>
              <a:rPr lang="fr-FR" sz="1050" dirty="0">
                <a:latin typeface="Arial" pitchFamily="34" charset="0"/>
              </a:rPr>
              <a:t>.</a:t>
            </a:r>
          </a:p>
          <a:p>
            <a:pPr marL="0" marR="0" lvl="0" indent="0" algn="l" defTabSz="914400" rtl="0" eaLnBrk="0" fontAlgn="base" latinLnBrk="0" hangingPunct="0">
              <a:lnSpc>
                <a:spcPct val="100000"/>
              </a:lnSpc>
              <a:spcBef>
                <a:spcPts val="0"/>
              </a:spcBef>
              <a:spcAft>
                <a:spcPct val="0"/>
              </a:spcAft>
              <a:buClrTx/>
              <a:buSzTx/>
              <a:buFontTx/>
              <a:buNone/>
              <a:tabLst/>
              <a:defRPr/>
            </a:pPr>
            <a:r>
              <a:rPr lang="fr-FR" sz="1050" dirty="0">
                <a:latin typeface="Arial" pitchFamily="34" charset="0"/>
                <a:cs typeface="Arial" pitchFamily="34" charset="0"/>
              </a:rPr>
              <a:t>AQUA – Zavezništvo znanja za kakovost usposabljanja in odličnost v avtomobilski industriji je vzpostavilo</a:t>
            </a:r>
            <a:r>
              <a:rPr lang="fr-FR" sz="1050" baseline="0" dirty="0">
                <a:latin typeface="Arial" pitchFamily="34" charset="0"/>
                <a:cs typeface="Arial" pitchFamily="34" charset="0"/>
              </a:rPr>
              <a:t> zavezništvo za kakovost </a:t>
            </a:r>
            <a:r>
              <a:rPr lang="fr-FR" sz="1050" dirty="0"/>
              <a:t>– LLP projekt </a:t>
            </a:r>
            <a:r>
              <a:rPr lang="fr-FR" sz="1050" dirty="0">
                <a:latin typeface="Arial" pitchFamily="34" charset="0"/>
                <a:cs typeface="Arial" pitchFamily="34" charset="0"/>
              </a:rPr>
              <a:t>EAC-2012-0635 -</a:t>
            </a:r>
            <a:r>
              <a:rPr lang="fr-FR" sz="1050" dirty="0"/>
              <a:t> 2013 – 2014.</a:t>
            </a:r>
          </a:p>
          <a:p>
            <a:pPr defTabSz="844083">
              <a:spcBef>
                <a:spcPts val="0"/>
              </a:spcBef>
            </a:pPr>
            <a:r>
              <a:rPr lang="fr-FR" sz="1050" dirty="0">
                <a:solidFill>
                  <a:srgbClr val="000099"/>
                </a:solidFill>
                <a:latin typeface="Arial" pitchFamily="34" charset="0"/>
              </a:rPr>
              <a:t>Ta publikacija/sporočilo odraža stališče avtorjev in Komisija ne prevzema odgovornosti za kakršnokoli uporabo informacij, ki jih vsebuje. </a:t>
            </a:r>
          </a:p>
        </p:txBody>
      </p:sp>
    </p:spTree>
    <p:extLst>
      <p:ext uri="{BB962C8B-B14F-4D97-AF65-F5344CB8AC3E}">
        <p14:creationId xmlns:p14="http://schemas.microsoft.com/office/powerpoint/2010/main" val="2863604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a:xfrm>
            <a:off x="992188" y="768350"/>
            <a:ext cx="5114925" cy="3836988"/>
          </a:xfrm>
          <a:prstGeom prst="rect">
            <a:avLst/>
          </a:prstGeom>
        </p:spPr>
      </p:sp>
      <p:sp>
        <p:nvSpPr>
          <p:cNvPr id="3" name="Zástupný symbol pro poznámky 2"/>
          <p:cNvSpPr>
            <a:spLocks noGrp="1"/>
          </p:cNvSpPr>
          <p:nvPr>
            <p:ph type="body" idx="1"/>
          </p:nvPr>
        </p:nvSpPr>
        <p:spPr>
          <a:xfrm>
            <a:off x="709930" y="4861441"/>
            <a:ext cx="5679440" cy="4605576"/>
          </a:xfrm>
          <a:prstGeom prst="rect">
            <a:avLst/>
          </a:prstGeom>
        </p:spPr>
        <p:txBody>
          <a:bodyPr/>
          <a:lstStyle/>
          <a:p>
            <a:pPr>
              <a:spcBef>
                <a:spcPts val="0"/>
              </a:spcBef>
            </a:pPr>
            <a:r>
              <a:rPr lang="fr-FR" sz="1100" dirty="0">
                <a:latin typeface="Arial" pitchFamily="34" charset="0"/>
              </a:rPr>
              <a:t>To učno gradivo je bilo certificirano v skladu s pravili </a:t>
            </a:r>
            <a:r>
              <a:rPr lang="fr-FR" sz="1100" b="1" dirty="0">
                <a:latin typeface="Arial" pitchFamily="34" charset="0"/>
              </a:rPr>
              <a:t>ECQA – Evropskega združenja za certificiranje in kvalificiranje</a:t>
            </a:r>
            <a:r>
              <a:rPr lang="fr-FR" sz="1100" dirty="0">
                <a:latin typeface="Arial" pitchFamily="34" charset="0"/>
              </a:rPr>
              <a:t>.</a:t>
            </a:r>
          </a:p>
          <a:p>
            <a:pPr>
              <a:spcBef>
                <a:spcPts val="0"/>
              </a:spcBef>
            </a:pPr>
            <a:r>
              <a:rPr lang="fr-FR" sz="1100" dirty="0">
                <a:latin typeface="Arial" pitchFamily="34" charset="0"/>
              </a:rPr>
              <a:t>Učno gradivo je bilo usklajeno med univerzami in  industrijo v okviru mednarodnega</a:t>
            </a:r>
            <a:r>
              <a:rPr lang="fr-FR" sz="1100" baseline="0" dirty="0">
                <a:latin typeface="Arial" pitchFamily="34" charset="0"/>
              </a:rPr>
              <a:t> konzorcija projekta </a:t>
            </a:r>
            <a:br>
              <a:rPr lang="fr-FR" sz="1100" dirty="0"/>
            </a:br>
            <a:r>
              <a:rPr lang="fr-FR" sz="1100" b="1" dirty="0">
                <a:latin typeface="Arial" pitchFamily="34" charset="0"/>
              </a:rPr>
              <a:t>“</a:t>
            </a:r>
            <a:r>
              <a:rPr lang="fr-FR" sz="1100" b="1" dirty="0">
                <a:solidFill>
                  <a:srgbClr val="000099"/>
                </a:solidFill>
                <a:latin typeface="Tw Cen MT" pitchFamily="34" charset="0"/>
              </a:rPr>
              <a:t>Automotive Quality Universities – AutoUniverse (AQU)</a:t>
            </a:r>
            <a:r>
              <a:rPr lang="fr-FR" sz="1100" b="1" dirty="0">
                <a:latin typeface="Arial" pitchFamily="34" charset="0"/>
              </a:rPr>
              <a:t>”:</a:t>
            </a:r>
          </a:p>
          <a:p>
            <a:pPr>
              <a:spcBef>
                <a:spcPts val="0"/>
              </a:spcBef>
            </a:pPr>
            <a:endParaRPr lang="sl-SI" sz="1100" b="1" dirty="0">
              <a:latin typeface="Arial" pitchFamily="34" charset="0"/>
              <a:cs typeface="Arial" pitchFamily="34" charset="0"/>
            </a:endParaRPr>
          </a:p>
          <a:p>
            <a:pPr>
              <a:spcBef>
                <a:spcPts val="0"/>
              </a:spcBef>
            </a:pPr>
            <a:r>
              <a:rPr lang="fr-FR" sz="1100" b="1" dirty="0">
                <a:latin typeface="Arial" pitchFamily="34" charset="0"/>
                <a:cs typeface="Arial" pitchFamily="34" charset="0"/>
              </a:rPr>
              <a:t>VSB – Technical University of Ostrava</a:t>
            </a:r>
            <a:r>
              <a:rPr lang="fr-FR" sz="1100" dirty="0">
                <a:latin typeface="Arial" pitchFamily="34" charset="0"/>
                <a:cs typeface="Arial" pitchFamily="34" charset="0"/>
              </a:rPr>
              <a:t>, Faculty of Electrical Engineering and Computer Science, Češka, www.fei.vsb.cz/en</a:t>
            </a:r>
          </a:p>
          <a:p>
            <a:pPr>
              <a:spcBef>
                <a:spcPts val="0"/>
              </a:spcBef>
            </a:pPr>
            <a:r>
              <a:rPr lang="fr-FR" sz="1100" b="1" dirty="0">
                <a:latin typeface="Arial" pitchFamily="34" charset="0"/>
                <a:cs typeface="Arial" pitchFamily="34" charset="0"/>
              </a:rPr>
              <a:t>Graz University of Technology</a:t>
            </a:r>
            <a:r>
              <a:rPr lang="fr-FR" sz="1100" dirty="0">
                <a:latin typeface="Arial" pitchFamily="34" charset="0"/>
                <a:cs typeface="Arial" pitchFamily="34" charset="0"/>
              </a:rPr>
              <a:t>, Institute for Technical Informatics, Avstrija, www.iti.tugraz.at</a:t>
            </a:r>
          </a:p>
          <a:p>
            <a:pPr defTabSz="990478">
              <a:spcBef>
                <a:spcPts val="0"/>
              </a:spcBef>
              <a:defRPr/>
            </a:pPr>
            <a:r>
              <a:rPr lang="fr-FR" sz="1100" b="1" dirty="0"/>
              <a:t>University of Applied Sciences </a:t>
            </a:r>
            <a:r>
              <a:rPr lang="fr-FR" sz="1100" b="1" dirty="0">
                <a:latin typeface="Arial" pitchFamily="34" charset="0"/>
                <a:cs typeface="Arial" pitchFamily="34" charset="0"/>
              </a:rPr>
              <a:t>JOANNEUM</a:t>
            </a:r>
            <a:r>
              <a:rPr lang="fr-FR" sz="1100" b="1" dirty="0"/>
              <a:t>, </a:t>
            </a:r>
            <a:r>
              <a:rPr lang="fr-FR" sz="1100" dirty="0"/>
              <a:t>Institute for Automotive Engineering, Graz, </a:t>
            </a:r>
            <a:r>
              <a:rPr lang="fr-FR" sz="1100" dirty="0">
                <a:latin typeface="Arial" pitchFamily="34" charset="0"/>
                <a:cs typeface="Arial" pitchFamily="34" charset="0"/>
              </a:rPr>
              <a:t>Avstrija</a:t>
            </a:r>
            <a:r>
              <a:rPr lang="fr-FR" sz="1100" dirty="0"/>
              <a:t>, https://www.fh-joanneum.at/en/institut/automotive-engineering/</a:t>
            </a:r>
          </a:p>
          <a:p>
            <a:pPr defTabSz="990478">
              <a:spcBef>
                <a:spcPts val="0"/>
              </a:spcBef>
              <a:defRPr/>
            </a:pPr>
            <a:r>
              <a:rPr lang="fr-FR" sz="1100" b="1" dirty="0">
                <a:latin typeface="Arial" pitchFamily="34" charset="0"/>
                <a:cs typeface="Arial" pitchFamily="34" charset="0"/>
              </a:rPr>
              <a:t>EMIRAcle – European Manufacturing and Innovation Research</a:t>
            </a:r>
            <a:r>
              <a:rPr lang="fr-FR" sz="1100" b="1" baseline="0" dirty="0">
                <a:latin typeface="Arial" pitchFamily="34" charset="0"/>
                <a:cs typeface="Arial" pitchFamily="34" charset="0"/>
              </a:rPr>
              <a:t> Association</a:t>
            </a:r>
            <a:r>
              <a:rPr lang="fr-FR" sz="1100" dirty="0">
                <a:latin typeface="Arial" pitchFamily="34" charset="0"/>
                <a:cs typeface="Arial" pitchFamily="34" charset="0"/>
              </a:rPr>
              <a:t>, Belgija, http://www.emiracle.eu/</a:t>
            </a:r>
          </a:p>
          <a:p>
            <a:pPr defTabSz="990478">
              <a:spcBef>
                <a:spcPts val="0"/>
              </a:spcBef>
              <a:defRPr/>
            </a:pPr>
            <a:r>
              <a:rPr lang="fr-FR" sz="1100" b="1" dirty="0"/>
              <a:t>Univerza v Mariboru,</a:t>
            </a:r>
            <a:r>
              <a:rPr lang="fr-FR" sz="1100" dirty="0"/>
              <a:t> Fakulteta za elektrotehniko, računalništvo</a:t>
            </a:r>
            <a:r>
              <a:rPr lang="fr-FR" sz="1100" baseline="0" dirty="0"/>
              <a:t> in informatiko</a:t>
            </a:r>
            <a:r>
              <a:rPr lang="fr-FR" sz="1100" dirty="0"/>
              <a:t>, Slovenija, https://feri.um.si/</a:t>
            </a:r>
            <a:endParaRPr lang="fr-FR" sz="1100" dirty="0">
              <a:latin typeface="Arial" pitchFamily="34" charset="0"/>
              <a:cs typeface="Arial" pitchFamily="34" charset="0"/>
            </a:endParaRPr>
          </a:p>
          <a:p>
            <a:pPr>
              <a:spcBef>
                <a:spcPts val="0"/>
              </a:spcBef>
            </a:pPr>
            <a:r>
              <a:rPr lang="fr-FR" sz="1100" b="1" dirty="0">
                <a:latin typeface="Arial" pitchFamily="34" charset="0"/>
                <a:cs typeface="Arial" pitchFamily="34" charset="0"/>
              </a:rPr>
              <a:t>ISCN Ltd./Ges.m.b.H</a:t>
            </a:r>
            <a:r>
              <a:rPr lang="fr-FR" sz="1100" dirty="0">
                <a:latin typeface="Arial" pitchFamily="34" charset="0"/>
                <a:cs typeface="Arial" pitchFamily="34" charset="0"/>
              </a:rPr>
              <a:t>, Irska/Avstrija, www.iscn.com</a:t>
            </a:r>
          </a:p>
          <a:p>
            <a:pPr>
              <a:spcBef>
                <a:spcPts val="0"/>
              </a:spcBef>
            </a:pPr>
            <a:r>
              <a:rPr lang="fr-FR" sz="1100" b="1" dirty="0">
                <a:latin typeface="Arial" pitchFamily="34" charset="0"/>
                <a:cs typeface="Arial" pitchFamily="34" charset="0"/>
              </a:rPr>
              <a:t>ECQA – European Certification and Qualification Association</a:t>
            </a:r>
            <a:r>
              <a:rPr lang="fr-FR" sz="1100" dirty="0">
                <a:latin typeface="Arial" pitchFamily="34" charset="0"/>
                <a:cs typeface="Arial" pitchFamily="34" charset="0"/>
              </a:rPr>
              <a:t>, Avstrija, www.ecqa.org</a:t>
            </a:r>
          </a:p>
          <a:p>
            <a:pPr>
              <a:lnSpc>
                <a:spcPct val="80000"/>
              </a:lnSpc>
            </a:pPr>
            <a:endParaRPr lang="fr-FR" sz="1100" dirty="0">
              <a:latin typeface="Arial" pitchFamily="34" charset="0"/>
              <a:cs typeface="Arial" pitchFamily="34" charset="0"/>
            </a:endParaRPr>
          </a:p>
          <a:p>
            <a:pPr>
              <a:spcBef>
                <a:spcPts val="0"/>
              </a:spcBef>
            </a:pPr>
            <a:r>
              <a:rPr lang="fr-FR" sz="1100" dirty="0">
                <a:latin typeface="Arial" pitchFamily="34" charset="0"/>
              </a:rPr>
              <a:t>Ta projekt je bil financiran s podporo programa </a:t>
            </a:r>
            <a:r>
              <a:rPr lang="fr-FR" sz="1100" dirty="0"/>
              <a:t>Erasmus+</a:t>
            </a:r>
            <a:r>
              <a:rPr lang="fr-FR" sz="1100" dirty="0">
                <a:latin typeface="Arial" pitchFamily="34" charset="0"/>
              </a:rPr>
              <a:t> Evropske komisije po pogodbi </a:t>
            </a:r>
            <a:r>
              <a:rPr lang="fr-FR" sz="1100" dirty="0"/>
              <a:t>2015-1-CZ01-KA203-013986 - 2015 – 2017</a:t>
            </a:r>
            <a:r>
              <a:rPr lang="fr-FR" sz="1100" dirty="0">
                <a:latin typeface="Arial" pitchFamily="34" charset="0"/>
              </a:rPr>
              <a:t>.</a:t>
            </a:r>
          </a:p>
          <a:p>
            <a:pPr marL="0" marR="0" lvl="0" indent="0" algn="l" defTabSz="914400" rtl="0" eaLnBrk="0" fontAlgn="base" latinLnBrk="0" hangingPunct="0">
              <a:lnSpc>
                <a:spcPct val="100000"/>
              </a:lnSpc>
              <a:spcBef>
                <a:spcPts val="0"/>
              </a:spcBef>
              <a:spcAft>
                <a:spcPct val="0"/>
              </a:spcAft>
              <a:buClrTx/>
              <a:buSzTx/>
              <a:buFontTx/>
              <a:buNone/>
              <a:tabLst/>
              <a:defRPr/>
            </a:pPr>
            <a:r>
              <a:rPr lang="fr-FR" sz="1100" dirty="0">
                <a:latin typeface="Arial" pitchFamily="34" charset="0"/>
                <a:cs typeface="Arial" pitchFamily="34" charset="0"/>
              </a:rPr>
              <a:t>AQUA – Zavezništvo znanja za kakovost usposabljanja in odličnost v avtomobilski industriji je vzpostavilo</a:t>
            </a:r>
            <a:r>
              <a:rPr lang="fr-FR" sz="1100" baseline="0" dirty="0">
                <a:latin typeface="Arial" pitchFamily="34" charset="0"/>
                <a:cs typeface="Arial" pitchFamily="34" charset="0"/>
              </a:rPr>
              <a:t> zavezništvo za kakovost </a:t>
            </a:r>
            <a:r>
              <a:rPr lang="fr-FR" sz="1100" dirty="0"/>
              <a:t>– LLP projekt </a:t>
            </a:r>
            <a:r>
              <a:rPr lang="fr-FR" sz="1100" dirty="0">
                <a:latin typeface="Arial" pitchFamily="34" charset="0"/>
                <a:cs typeface="Arial" pitchFamily="34" charset="0"/>
              </a:rPr>
              <a:t>EAC-2012-0635 -</a:t>
            </a:r>
            <a:r>
              <a:rPr lang="fr-FR" sz="1100" dirty="0"/>
              <a:t> 2013 – 2014.</a:t>
            </a:r>
          </a:p>
          <a:p>
            <a:pPr defTabSz="844083">
              <a:spcBef>
                <a:spcPts val="0"/>
              </a:spcBef>
            </a:pPr>
            <a:r>
              <a:rPr lang="fr-FR" sz="1100" dirty="0">
                <a:solidFill>
                  <a:srgbClr val="000099"/>
                </a:solidFill>
                <a:latin typeface="Arial" pitchFamily="34" charset="0"/>
              </a:rPr>
              <a:t>Ta publikacija/sporočilo odraža stališče avtorjev in Komisija ne prevzema odgovornosti za kakršnokoli uporabo informacij, ki jih vsebuje. </a:t>
            </a:r>
          </a:p>
        </p:txBody>
      </p:sp>
    </p:spTree>
    <p:extLst>
      <p:ext uri="{BB962C8B-B14F-4D97-AF65-F5344CB8AC3E}">
        <p14:creationId xmlns:p14="http://schemas.microsoft.com/office/powerpoint/2010/main" val="2807436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143000" y="685800"/>
            <a:ext cx="4572000" cy="3429000"/>
          </a:xfrm>
          <a:prstGeom prst="rect">
            <a:avLst/>
          </a:prstGeom>
        </p:spPr>
      </p:sp>
      <p:sp>
        <p:nvSpPr>
          <p:cNvPr id="3" name="Notizenplatzhalter 2"/>
          <p:cNvSpPr>
            <a:spLocks noGrp="1"/>
          </p:cNvSpPr>
          <p:nvPr>
            <p:ph type="body" idx="1"/>
          </p:nvPr>
        </p:nvSpPr>
        <p:spPr>
          <a:xfrm>
            <a:off x="685800" y="4343400"/>
            <a:ext cx="5486400" cy="4114800"/>
          </a:xfrm>
          <a:prstGeom prst="rect">
            <a:avLst/>
          </a:prstGeom>
        </p:spPr>
        <p:txBody>
          <a:bodyPr/>
          <a:lstStyle/>
          <a:p>
            <a:endParaRPr lang="de-AT"/>
          </a:p>
        </p:txBody>
      </p:sp>
    </p:spTree>
    <p:extLst>
      <p:ext uri="{BB962C8B-B14F-4D97-AF65-F5344CB8AC3E}">
        <p14:creationId xmlns:p14="http://schemas.microsoft.com/office/powerpoint/2010/main" val="1426579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Rot="1" noChangeAspect="1" noTextEdit="1"/>
          </p:cNvSpPr>
          <p:nvPr>
            <p:ph type="sldImg"/>
          </p:nvPr>
        </p:nvSpPr>
        <p:spPr bwMode="auto">
          <a:noFill/>
          <a:ln>
            <a:solidFill>
              <a:srgbClr val="000000"/>
            </a:solidFill>
            <a:miter lim="800000"/>
            <a:headEnd/>
            <a:tailEnd/>
          </a:ln>
        </p:spPr>
      </p:sp>
      <p:sp>
        <p:nvSpPr>
          <p:cNvPr id="163843" name="Rectangle 3"/>
          <p:cNvSpPr>
            <a:spLocks noGrp="1"/>
          </p:cNvSpPr>
          <p:nvPr>
            <p:ph type="body" idx="1"/>
          </p:nvPr>
        </p:nvSpPr>
        <p:spPr bwMode="auto">
          <a:noFill/>
        </p:spPr>
        <p:txBody>
          <a:bodyPr wrap="square" numCol="1" anchor="t" anchorCtr="0" compatLnSpc="1">
            <a:prstTxWarp prst="textNoShape">
              <a:avLst/>
            </a:prstTxWarp>
          </a:bodyPr>
          <a:lstStyle/>
          <a:p>
            <a:r>
              <a:rPr dirty="0"/>
              <a:t>Vsak sistem, ki deluje v trenutku nič, bo enkrat odpovedal. Zanesljivost v trenutku T je verjetnost, da bo </a:t>
            </a:r>
            <a:r>
              <a:rPr dirty="0" err="1"/>
              <a:t>sistem</a:t>
            </a:r>
            <a:r>
              <a:rPr dirty="0"/>
              <a:t> v </a:t>
            </a:r>
            <a:r>
              <a:rPr dirty="0" err="1"/>
              <a:t>trenutku</a:t>
            </a:r>
            <a:r>
              <a:rPr dirty="0"/>
              <a:t> T</a:t>
            </a:r>
            <a:r>
              <a:rPr lang="sl-SI" dirty="0"/>
              <a:t> še vedno deloval</a:t>
            </a:r>
            <a:r>
              <a:rPr dirty="0"/>
              <a:t>. </a:t>
            </a:r>
            <a:r>
              <a:rPr lang="sl-SI" dirty="0"/>
              <a:t>Je </a:t>
            </a:r>
            <a:r>
              <a:rPr dirty="0" err="1"/>
              <a:t>težko</a:t>
            </a:r>
            <a:r>
              <a:rPr dirty="0"/>
              <a:t> izračunljiva, saj ne gre za lastnost, ki bi jo bilo mogoče videti ali meriti. Zanesljivost se določa s testiranjem določenega </a:t>
            </a:r>
            <a:r>
              <a:rPr dirty="0" err="1"/>
              <a:t>števila</a:t>
            </a:r>
            <a:r>
              <a:rPr dirty="0"/>
              <a:t> </a:t>
            </a:r>
            <a:r>
              <a:rPr dirty="0" err="1"/>
              <a:t>sistemov</a:t>
            </a:r>
            <a:r>
              <a:rPr lang="sl-SI" dirty="0"/>
              <a:t>:</a:t>
            </a:r>
            <a:r>
              <a:rPr dirty="0"/>
              <a:t> </a:t>
            </a:r>
            <a:r>
              <a:rPr lang="sl-SI" dirty="0"/>
              <a:t>n</a:t>
            </a:r>
            <a:r>
              <a:rPr dirty="0" err="1"/>
              <a:t>ekaj</a:t>
            </a:r>
            <a:r>
              <a:rPr dirty="0"/>
              <a:t> proizvodov bo naključno odpovedalo, ostali pa bodo v trenutku T še delovali. </a:t>
            </a:r>
          </a:p>
          <a:p>
            <a:r>
              <a:rPr dirty="0"/>
              <a:t>Verjetnost preživetja je torej le ocena s kvantificirano stopnjo zaupanja.</a:t>
            </a:r>
            <a:endParaRPr lang="sl-SI" dirty="0"/>
          </a:p>
        </p:txBody>
      </p:sp>
    </p:spTree>
    <p:extLst>
      <p:ext uri="{BB962C8B-B14F-4D97-AF65-F5344CB8AC3E}">
        <p14:creationId xmlns:p14="http://schemas.microsoft.com/office/powerpoint/2010/main" val="2419677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Rot="1" noChangeAspect="1" noTextEdit="1"/>
          </p:cNvSpPr>
          <p:nvPr>
            <p:ph type="sldImg"/>
          </p:nvPr>
        </p:nvSpPr>
        <p:spPr bwMode="auto">
          <a:noFill/>
          <a:ln>
            <a:solidFill>
              <a:srgbClr val="000000"/>
            </a:solidFill>
            <a:miter lim="800000"/>
            <a:headEnd/>
            <a:tailEnd/>
          </a:ln>
        </p:spPr>
      </p:sp>
      <p:sp>
        <p:nvSpPr>
          <p:cNvPr id="166915" name="Rectangle 3"/>
          <p:cNvSpPr>
            <a:spLocks noGrp="1"/>
          </p:cNvSpPr>
          <p:nvPr>
            <p:ph type="body" idx="1"/>
          </p:nvPr>
        </p:nvSpPr>
        <p:spPr bwMode="auto">
          <a:noFill/>
        </p:spPr>
        <p:txBody>
          <a:bodyPr wrap="square" numCol="1" anchor="t" anchorCtr="0" compatLnSpc="1">
            <a:prstTxWarp prst="textNoShape">
              <a:avLst/>
            </a:prstTxWarp>
          </a:bodyPr>
          <a:lstStyle/>
          <a:p>
            <a:r>
              <a:rPr dirty="0"/>
              <a:t>Formalna definicija funkcije zanesljivosti je zelo enostavna. </a:t>
            </a:r>
          </a:p>
          <a:p>
            <a:pPr marL="171450" indent="-171450">
              <a:buFont typeface="Arial" panose="020B0604020202020204" pitchFamily="34" charset="0"/>
              <a:buChar char="•"/>
            </a:pPr>
            <a:r>
              <a:rPr dirty="0"/>
              <a:t>Verjetnost delovanja v trenutku 0 je enaka 1, v neskončnosti pa je enaka 0. </a:t>
            </a:r>
          </a:p>
          <a:p>
            <a:pPr marL="171450" indent="-171450">
              <a:buFont typeface="Arial" panose="020B0604020202020204" pitchFamily="34" charset="0"/>
              <a:buChar char="•"/>
            </a:pPr>
            <a:r>
              <a:rPr dirty="0" err="1"/>
              <a:t>Proizvod</a:t>
            </a:r>
            <a:r>
              <a:rPr dirty="0"/>
              <a:t> ne more </a:t>
            </a:r>
            <a:r>
              <a:rPr dirty="0" err="1"/>
              <a:t>nikoli</a:t>
            </a:r>
            <a:r>
              <a:rPr dirty="0"/>
              <a:t> '</a:t>
            </a:r>
            <a:r>
              <a:rPr lang="sl-SI" dirty="0"/>
              <a:t>oživeti</a:t>
            </a:r>
            <a:r>
              <a:rPr dirty="0"/>
              <a:t>' med začetkom uporabe in </a:t>
            </a:r>
            <a:r>
              <a:rPr dirty="0" err="1"/>
              <a:t>neskončnostjo</a:t>
            </a:r>
            <a:r>
              <a:rPr lang="sl-SI" dirty="0"/>
              <a:t>, kar</a:t>
            </a:r>
            <a:r>
              <a:rPr dirty="0"/>
              <a:t> pomeni, da je funkcija zanesljivosti vedno padajoča.</a:t>
            </a:r>
          </a:p>
          <a:p>
            <a:endParaRPr lang="sl-SI" baseline="0" dirty="0"/>
          </a:p>
          <a:p>
            <a:r>
              <a:rPr dirty="0"/>
              <a:t>Zapomniti si moramo, da morajo biti med življenjsko dobo vedno izpolnjeni predpisani </a:t>
            </a:r>
            <a:r>
              <a:rPr dirty="0" err="1"/>
              <a:t>pogoji</a:t>
            </a:r>
            <a:r>
              <a:rPr dirty="0"/>
              <a:t> </a:t>
            </a:r>
            <a:r>
              <a:rPr lang="sl-SI" dirty="0"/>
              <a:t>delovanja</a:t>
            </a:r>
            <a:r>
              <a:rPr dirty="0"/>
              <a:t>. Če so ti pogoji kršeni, </a:t>
            </a:r>
            <a:r>
              <a:rPr dirty="0" err="1"/>
              <a:t>lahko</a:t>
            </a:r>
            <a:r>
              <a:rPr dirty="0"/>
              <a:t> </a:t>
            </a:r>
            <a:r>
              <a:rPr lang="sl-SI" dirty="0"/>
              <a:t>sistem</a:t>
            </a:r>
            <a:r>
              <a:rPr lang="sl-SI" baseline="0" dirty="0"/>
              <a:t> </a:t>
            </a:r>
            <a:r>
              <a:rPr dirty="0" err="1"/>
              <a:t>preneha</a:t>
            </a:r>
            <a:r>
              <a:rPr dirty="0"/>
              <a:t> delovati (odpove).</a:t>
            </a:r>
            <a:endParaRPr lang="sl-SI" dirty="0"/>
          </a:p>
        </p:txBody>
      </p:sp>
    </p:spTree>
    <p:extLst>
      <p:ext uri="{BB962C8B-B14F-4D97-AF65-F5344CB8AC3E}">
        <p14:creationId xmlns:p14="http://schemas.microsoft.com/office/powerpoint/2010/main" val="595518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Rot="1" noChangeAspect="1" noTextEdit="1"/>
          </p:cNvSpPr>
          <p:nvPr>
            <p:ph type="sldImg"/>
          </p:nvPr>
        </p:nvSpPr>
        <p:spPr bwMode="auto">
          <a:noFill/>
          <a:ln>
            <a:solidFill>
              <a:srgbClr val="000000"/>
            </a:solidFill>
            <a:miter lim="800000"/>
            <a:headEnd/>
            <a:tailEnd/>
          </a:ln>
        </p:spPr>
      </p:sp>
      <p:sp>
        <p:nvSpPr>
          <p:cNvPr id="164867" name="Rectangle 3"/>
          <p:cNvSpPr>
            <a:spLocks noGrp="1"/>
          </p:cNvSpPr>
          <p:nvPr>
            <p:ph type="body" idx="1"/>
          </p:nvPr>
        </p:nvSpPr>
        <p:spPr bwMode="auto">
          <a:noFill/>
        </p:spPr>
        <p:txBody>
          <a:bodyPr wrap="square" numCol="1" anchor="t" anchorCtr="0" compatLnSpc="1">
            <a:prstTxWarp prst="textNoShape">
              <a:avLst/>
            </a:prstTxWarp>
          </a:bodyPr>
          <a:lstStyle/>
          <a:p>
            <a:r>
              <a:rPr dirty="0"/>
              <a:t>Tukaj imamo dva primera. </a:t>
            </a:r>
          </a:p>
          <a:p>
            <a:endParaRPr lang="sl-SI" dirty="0"/>
          </a:p>
          <a:p>
            <a:pPr marL="228600" indent="-228600">
              <a:buFont typeface="+mj-lt"/>
              <a:buAutoNum type="arabicPeriod"/>
            </a:pPr>
            <a:r>
              <a:rPr dirty="0"/>
              <a:t>Pri prvem gre za prezračevalne ventilatorje, ki morajo delovati približno 20 let. Ti ventilatorji delujejo neprekinjeno v hišah v velikem naselju. Kupec dopušča 5% odpovedi v teh 20 letih. Zanesljivost je orodje za definicijo, izvedbo in analizo testa, s katerim se dokaže, da ventilatorji izpolnjujejo zahtevo po 20-letni življenjski dobi.</a:t>
            </a:r>
            <a:br>
              <a:rPr dirty="0"/>
            </a:br>
            <a:br>
              <a:rPr dirty="0"/>
            </a:br>
            <a:r>
              <a:rPr dirty="0"/>
              <a:t>Proizvajalec teh ventilatorjev mora pripraviti test, s katerim bo dokazal življenjsko dobo. Seveda bi lahko pustil ventilatorje delovati 20 let, toda takrat bo že prepozno za naročilo. </a:t>
            </a:r>
          </a:p>
          <a:p>
            <a:pPr marL="228600" indent="-228600">
              <a:buFont typeface="+mj-lt"/>
              <a:buAutoNum type="arabicPeriod"/>
            </a:pPr>
            <a:endParaRPr lang="sl-SI" baseline="0" dirty="0"/>
          </a:p>
          <a:p>
            <a:pPr marL="228600" indent="-228600">
              <a:buFont typeface="+mj-lt"/>
              <a:buAutoNum type="arabicPeriod"/>
            </a:pPr>
            <a:r>
              <a:rPr lang="sl-SI" dirty="0"/>
              <a:t>V </a:t>
            </a:r>
            <a:r>
              <a:rPr dirty="0" err="1"/>
              <a:t>drugem</a:t>
            </a:r>
            <a:r>
              <a:rPr dirty="0"/>
              <a:t> primeru gre za podaljšanje garancije za izdelek. Proizvajalec želi na podlagi rezultatov testa zanesljivosti izračunati življenjsko dobo, ki jo lahko garantira, če </a:t>
            </a:r>
            <a:r>
              <a:rPr dirty="0" err="1"/>
              <a:t>stranka</a:t>
            </a:r>
            <a:r>
              <a:rPr dirty="0"/>
              <a:t> </a:t>
            </a:r>
            <a:r>
              <a:rPr lang="sl-SI" dirty="0"/>
              <a:t>sprejema </a:t>
            </a:r>
            <a:r>
              <a:rPr dirty="0" err="1"/>
              <a:t>največ</a:t>
            </a:r>
            <a:r>
              <a:rPr dirty="0"/>
              <a:t> 5% odpovedi v življenjski dobi.</a:t>
            </a:r>
            <a:br>
              <a:rPr dirty="0"/>
            </a:br>
            <a:br>
              <a:rPr dirty="0"/>
            </a:br>
            <a:r>
              <a:rPr dirty="0"/>
              <a:t>Če bo priznal predolgo življenjsko dobo, bo prejel preveč </a:t>
            </a:r>
            <a:r>
              <a:rPr dirty="0" err="1"/>
              <a:t>garancijskih</a:t>
            </a:r>
            <a:r>
              <a:rPr dirty="0"/>
              <a:t> </a:t>
            </a:r>
            <a:r>
              <a:rPr dirty="0" err="1"/>
              <a:t>zahtevkov</a:t>
            </a:r>
            <a:r>
              <a:rPr lang="sl-SI" dirty="0"/>
              <a:t>,</a:t>
            </a:r>
            <a:r>
              <a:rPr dirty="0"/>
              <a:t> </a:t>
            </a:r>
            <a:r>
              <a:rPr lang="sl-SI" dirty="0"/>
              <a:t>č</a:t>
            </a:r>
            <a:r>
              <a:rPr dirty="0"/>
              <a:t>e obljubi prekratko življenjsko dobo, pa bo izgubil posel.</a:t>
            </a:r>
          </a:p>
        </p:txBody>
      </p:sp>
    </p:spTree>
    <p:extLst>
      <p:ext uri="{BB962C8B-B14F-4D97-AF65-F5344CB8AC3E}">
        <p14:creationId xmlns:p14="http://schemas.microsoft.com/office/powerpoint/2010/main" val="1200254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p:cNvSpPr>
            <a:spLocks noGrp="1" noChangeArrowheads="1"/>
          </p:cNvSpPr>
          <p:nvPr>
            <p:ph type="sldNum" sz="quarter" idx="5"/>
          </p:nvPr>
        </p:nvSpPr>
        <p:spPr bwMode="auto">
          <a:xfrm>
            <a:off x="3884613" y="8685213"/>
            <a:ext cx="2971800" cy="457200"/>
          </a:xfrm>
          <a:prstGeom prst="rect">
            <a:avLst/>
          </a:prstGeom>
          <a:noFill/>
          <a:ln>
            <a:miter lim="800000"/>
            <a:headEnd/>
            <a:tailEnd/>
          </a:ln>
        </p:spPr>
        <p:txBody>
          <a:bodyPr wrap="square" numCol="1" anchorCtr="0" compatLnSpc="1">
            <a:prstTxWarp prst="textNoShape">
              <a:avLst/>
            </a:prstTxWarp>
          </a:bodyPr>
          <a:lstStyle/>
          <a:p>
            <a:fld id="{5123903F-FD74-4309-8B8F-0E997A82EAA1}" type="slidenum">
              <a:rPr lang="en-US" smtClean="0">
                <a:latin typeface="Arial" charset="0"/>
              </a:rPr>
              <a:pPr/>
              <a:t>7</a:t>
            </a:fld>
            <a:endParaRPr lang="sl-SI" dirty="0">
              <a:latin typeface="Arial" charset="0"/>
            </a:endParaRPr>
          </a:p>
        </p:txBody>
      </p:sp>
      <p:sp>
        <p:nvSpPr>
          <p:cNvPr id="9728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728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r>
              <a:rPr dirty="0"/>
              <a:t>Pogostost odpovedi sistema v trenutku t je verjetnost, da bo sistem odpovedal v naslednji časovni enoti. </a:t>
            </a:r>
          </a:p>
          <a:p>
            <a:pPr eaLnBrk="1" hangingPunct="1"/>
            <a:endParaRPr lang="sl-SI" dirty="0"/>
          </a:p>
          <a:p>
            <a:pPr eaLnBrk="1" hangingPunct="1"/>
            <a:r>
              <a:rPr dirty="0"/>
              <a:t>Primer</a:t>
            </a:r>
          </a:p>
          <a:p>
            <a:pPr eaLnBrk="1" hangingPunct="1"/>
            <a:r>
              <a:rPr dirty="0"/>
              <a:t>Denimo, da v trenutku t deluje 1000 sistemov in da je pogostost odpovedi 0,01. </a:t>
            </a:r>
            <a:r>
              <a:rPr dirty="0" err="1"/>
              <a:t>Pričakujemo</a:t>
            </a:r>
            <a:r>
              <a:rPr dirty="0"/>
              <a:t> </a:t>
            </a:r>
            <a:r>
              <a:rPr dirty="0" err="1"/>
              <a:t>lahko</a:t>
            </a:r>
            <a:r>
              <a:rPr lang="sl-SI" dirty="0"/>
              <a:t> torej</a:t>
            </a:r>
            <a:r>
              <a:rPr dirty="0"/>
              <a:t>, da bo v naslednji časovni enoti odpovedalo 10 sistemov.</a:t>
            </a:r>
          </a:p>
          <a:p>
            <a:pPr eaLnBrk="1" hangingPunct="1"/>
            <a:endParaRPr lang="sl-SI" baseline="0" dirty="0"/>
          </a:p>
          <a:p>
            <a:pPr eaLnBrk="1" hangingPunct="1"/>
            <a:r>
              <a:rPr dirty="0"/>
              <a:t>V resničnem svetu se pogostost </a:t>
            </a:r>
            <a:r>
              <a:rPr dirty="0" err="1"/>
              <a:t>odpovedi</a:t>
            </a:r>
            <a:r>
              <a:rPr dirty="0"/>
              <a:t> </a:t>
            </a:r>
            <a:r>
              <a:rPr dirty="0" err="1"/>
              <a:t>skozi</a:t>
            </a:r>
            <a:r>
              <a:rPr dirty="0"/>
              <a:t> </a:t>
            </a:r>
            <a:r>
              <a:rPr dirty="0" err="1"/>
              <a:t>življenjsko</a:t>
            </a:r>
            <a:r>
              <a:rPr dirty="0"/>
              <a:t> </a:t>
            </a:r>
            <a:r>
              <a:rPr dirty="0" err="1"/>
              <a:t>dobo</a:t>
            </a:r>
            <a:r>
              <a:rPr lang="sl-SI" dirty="0"/>
              <a:t> spreminja</a:t>
            </a:r>
            <a:r>
              <a:rPr dirty="0"/>
              <a:t>. Na začetku, v obdobju zgodnjih odpovedi, je</a:t>
            </a:r>
            <a:r>
              <a:rPr lang="sl-SI" dirty="0"/>
              <a:t> lahko</a:t>
            </a:r>
            <a:r>
              <a:rPr dirty="0"/>
              <a:t> pogostost </a:t>
            </a:r>
            <a:r>
              <a:rPr dirty="0" err="1"/>
              <a:t>odpovedi</a:t>
            </a:r>
            <a:r>
              <a:rPr dirty="0"/>
              <a:t> </a:t>
            </a:r>
            <a:r>
              <a:rPr dirty="0" err="1"/>
              <a:t>velika</a:t>
            </a:r>
            <a:r>
              <a:rPr dirty="0"/>
              <a:t>. Po tem </a:t>
            </a:r>
            <a:r>
              <a:rPr dirty="0" err="1"/>
              <a:t>obdobju</a:t>
            </a:r>
            <a:r>
              <a:rPr dirty="0"/>
              <a:t> se pogostost odpovedi stabilizira in je majhna, ob koncu življenjske dobe pa se pogostost odpovedi spet poveča. Takšno vedenje v obliki krivulje kopalne kadi je zelo razširjeno. Konstantna pogostost odpovedi je zelo redka.</a:t>
            </a:r>
          </a:p>
          <a:p>
            <a:pPr eaLnBrk="1" hangingPunct="1"/>
            <a:endParaRPr lang="sl-SI" dirty="0"/>
          </a:p>
        </p:txBody>
      </p:sp>
    </p:spTree>
    <p:extLst>
      <p:ext uri="{BB962C8B-B14F-4D97-AF65-F5344CB8AC3E}">
        <p14:creationId xmlns:p14="http://schemas.microsoft.com/office/powerpoint/2010/main" val="103853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bwMode="auto">
          <a:xfrm>
            <a:off x="3884613" y="8685213"/>
            <a:ext cx="2971800" cy="457200"/>
          </a:xfrm>
          <a:prstGeom prst="rect">
            <a:avLst/>
          </a:prstGeom>
          <a:noFill/>
          <a:ln>
            <a:miter lim="800000"/>
            <a:headEnd/>
            <a:tailEnd/>
          </a:ln>
        </p:spPr>
        <p:txBody>
          <a:bodyPr wrap="square" numCol="1" anchorCtr="0" compatLnSpc="1">
            <a:prstTxWarp prst="textNoShape">
              <a:avLst/>
            </a:prstTxWarp>
          </a:bodyPr>
          <a:lstStyle/>
          <a:p>
            <a:fld id="{A77D528C-D0C3-4345-970A-22022B3A3F37}" type="slidenum">
              <a:rPr lang="en-US" smtClean="0">
                <a:latin typeface="Arial" charset="0"/>
              </a:rPr>
              <a:pPr/>
              <a:t>8</a:t>
            </a:fld>
            <a:endParaRPr lang="sl-SI" dirty="0">
              <a:latin typeface="Arial" charset="0"/>
            </a:endParaRPr>
          </a:p>
        </p:txBody>
      </p:sp>
      <p:sp>
        <p:nvSpPr>
          <p:cNvPr id="3277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277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r>
              <a:rPr dirty="0"/>
              <a:t>Če želimo ocenjevati verjetnosti preživetja, potrebujemo matematično funkcijo, ki opisuje te verjetnosti. Funkcijo zanesljivosti R(t), ki opisuje verjetnost preživetja, smo že definirali. Ta funkcija R(t) je pravzaprav izpeljana iz funkcije gostote porazdelitve odpovedi. </a:t>
            </a:r>
          </a:p>
          <a:p>
            <a:pPr eaLnBrk="1" hangingPunct="1"/>
            <a:endParaRPr lang="sl-SI" dirty="0"/>
          </a:p>
          <a:p>
            <a:pPr eaLnBrk="1" hangingPunct="1"/>
            <a:r>
              <a:rPr dirty="0"/>
              <a:t>Funkcija gostote porazdelitve odpovedi opisuje, kako je verjetnost odpovedi porazdeljena po življenjski dobi sistema. Pazite, da </a:t>
            </a:r>
            <a:r>
              <a:rPr lang="sl-SI" dirty="0"/>
              <a:t>je </a:t>
            </a:r>
            <a:r>
              <a:rPr dirty="0"/>
              <a:t>ne </a:t>
            </a:r>
            <a:r>
              <a:rPr dirty="0" err="1"/>
              <a:t>zamešate</a:t>
            </a:r>
            <a:r>
              <a:rPr dirty="0"/>
              <a:t> s funkcijo pogostosti odpovedi. Funkcija pogostosti odpovedi opisuje pogojne verjetnosti: h(t) je verjetnost odpovedi v naslednji časovni enoti pod pogojem, da sistem deluje v trenutku t.</a:t>
            </a:r>
          </a:p>
          <a:p>
            <a:pPr eaLnBrk="1" hangingPunct="1"/>
            <a:endParaRPr lang="sl-SI" baseline="0" dirty="0"/>
          </a:p>
          <a:p>
            <a:pPr eaLnBrk="1" hangingPunct="1"/>
            <a:r>
              <a:rPr dirty="0"/>
              <a:t>Funkcija gostote porazdelitve odpovedi opisuje verjetnost v življenjski dobi z začetkom v trenutku 0.</a:t>
            </a:r>
          </a:p>
          <a:p>
            <a:pPr eaLnBrk="1" hangingPunct="1"/>
            <a:endParaRPr lang="sl-SI" baseline="0" dirty="0"/>
          </a:p>
          <a:p>
            <a:pPr eaLnBrk="1" hangingPunct="1"/>
            <a:r>
              <a:rPr dirty="0"/>
              <a:t>Iz grafa je razvidno, da je verjetnost odpovedi največja v obdobju okrog trenutka t = 1000.</a:t>
            </a:r>
            <a:endParaRPr lang="sl-SI" dirty="0"/>
          </a:p>
        </p:txBody>
      </p:sp>
    </p:spTree>
    <p:extLst>
      <p:ext uri="{BB962C8B-B14F-4D97-AF65-F5344CB8AC3E}">
        <p14:creationId xmlns:p14="http://schemas.microsoft.com/office/powerpoint/2010/main" val="13042792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Rot="1" noChangeAspect="1" noTextEdit="1"/>
          </p:cNvSpPr>
          <p:nvPr>
            <p:ph type="sldImg"/>
          </p:nvPr>
        </p:nvSpPr>
        <p:spPr bwMode="auto">
          <a:noFill/>
          <a:ln>
            <a:solidFill>
              <a:srgbClr val="000000"/>
            </a:solidFill>
            <a:miter lim="800000"/>
            <a:headEnd/>
            <a:tailEnd/>
          </a:ln>
        </p:spPr>
      </p:sp>
      <p:sp>
        <p:nvSpPr>
          <p:cNvPr id="167939" name="Rectangle 3"/>
          <p:cNvSpPr>
            <a:spLocks noGrp="1"/>
          </p:cNvSpPr>
          <p:nvPr>
            <p:ph type="body" idx="1"/>
          </p:nvPr>
        </p:nvSpPr>
        <p:spPr bwMode="auto">
          <a:noFill/>
        </p:spPr>
        <p:txBody>
          <a:bodyPr wrap="square" numCol="1" anchor="t" anchorCtr="0" compatLnSpc="1">
            <a:prstTxWarp prst="textNoShape">
              <a:avLst/>
            </a:prstTxWarp>
          </a:bodyPr>
          <a:lstStyle/>
          <a:p>
            <a:r>
              <a:rPr dirty="0"/>
              <a:t>Za izračun pogostosti odpovedi potrebujemo funkcijo gostote verjetnosti odpovedi. </a:t>
            </a:r>
          </a:p>
          <a:p>
            <a:endParaRPr lang="sl-SI" baseline="0" dirty="0"/>
          </a:p>
          <a:p>
            <a:r>
              <a:rPr dirty="0"/>
              <a:t>V trenutku t pričakujemo, da bo v eni časovni </a:t>
            </a:r>
            <a:r>
              <a:rPr dirty="0" err="1"/>
              <a:t>enoti</a:t>
            </a:r>
            <a:r>
              <a:rPr dirty="0"/>
              <a:t> </a:t>
            </a:r>
            <a:r>
              <a:rPr dirty="0" err="1"/>
              <a:t>prenehal</a:t>
            </a:r>
            <a:r>
              <a:rPr dirty="0"/>
              <a:t> delovati določeni del celotne populacije. </a:t>
            </a:r>
            <a:r>
              <a:rPr lang="sl-SI" dirty="0"/>
              <a:t>f</a:t>
            </a:r>
            <a:r>
              <a:rPr dirty="0"/>
              <a:t>(t)</a:t>
            </a:r>
          </a:p>
          <a:p>
            <a:r>
              <a:rPr dirty="0"/>
              <a:t>Določeno število izdelkov pa je prenehalo delovati že pred trenutkom t. V trenutku t še vedno deluje določeni del populacije. R(t)</a:t>
            </a:r>
          </a:p>
          <a:p>
            <a:r>
              <a:rPr dirty="0"/>
              <a:t>Delež še delujočih izdelkov, ki bo odpovedal v naslednji časovni enoti, je f(t)/R(t). Imenuje se pogostost odpovedi.</a:t>
            </a:r>
            <a:endParaRPr lang="sl-SI" dirty="0"/>
          </a:p>
          <a:p>
            <a:r>
              <a:rPr dirty="0"/>
              <a:t>Pogostost odpovedi h(t) je pravzaprav pogojna gostota verjetnosti.</a:t>
            </a:r>
          </a:p>
          <a:p>
            <a:r>
              <a:rPr dirty="0"/>
              <a:t> </a:t>
            </a:r>
          </a:p>
          <a:p>
            <a:r>
              <a:rPr dirty="0"/>
              <a:t>Diapozitiv prikazuje povezavo med temi tremi funkcijami in je potreben za oblikovanje splošne formule funkcije zanesljivosti R(t).</a:t>
            </a:r>
            <a:endParaRPr lang="sl-SI" dirty="0"/>
          </a:p>
        </p:txBody>
      </p:sp>
    </p:spTree>
    <p:extLst>
      <p:ext uri="{BB962C8B-B14F-4D97-AF65-F5344CB8AC3E}">
        <p14:creationId xmlns:p14="http://schemas.microsoft.com/office/powerpoint/2010/main" val="35858502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bwMode="auto">
          <a:xfrm>
            <a:off x="3884613" y="8685213"/>
            <a:ext cx="2971800" cy="457200"/>
          </a:xfrm>
          <a:prstGeom prst="rect">
            <a:avLst/>
          </a:prstGeom>
          <a:noFill/>
          <a:ln>
            <a:miter lim="800000"/>
            <a:headEnd/>
            <a:tailEnd/>
          </a:ln>
        </p:spPr>
        <p:txBody>
          <a:bodyPr wrap="square" numCol="1" anchorCtr="0" compatLnSpc="1">
            <a:prstTxWarp prst="textNoShape">
              <a:avLst/>
            </a:prstTxWarp>
          </a:bodyPr>
          <a:lstStyle/>
          <a:p>
            <a:fld id="{C5BCDD66-BBC3-4EE7-9ADC-1E03CB7E123E}" type="slidenum">
              <a:rPr lang="en-US" smtClean="0">
                <a:latin typeface="Arial" charset="0"/>
              </a:rPr>
              <a:pPr/>
              <a:t>10</a:t>
            </a:fld>
            <a:endParaRPr lang="sl-SI" dirty="0">
              <a:latin typeface="Arial" charset="0"/>
            </a:endParaRPr>
          </a:p>
        </p:txBody>
      </p:sp>
      <p:sp>
        <p:nvSpPr>
          <p:cNvPr id="3789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789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r>
              <a:rPr dirty="0"/>
              <a:t>Na vrhu je funkcija pogojne gostote verjetnosti oz. funkcija pogostosti odpovedi.</a:t>
            </a:r>
            <a:endParaRPr lang="sl-SI" dirty="0"/>
          </a:p>
          <a:p>
            <a:pPr eaLnBrk="1" hangingPunct="1"/>
            <a:r>
              <a:rPr dirty="0"/>
              <a:t>Z malo "preproste" matematike lahko izpeljemo funkcijo zanesljivosti na dnu diapozitiva. To lahko preverite doma. </a:t>
            </a:r>
          </a:p>
          <a:p>
            <a:pPr eaLnBrk="1" hangingPunct="1"/>
            <a:endParaRPr lang="sl-SI" baseline="0" dirty="0"/>
          </a:p>
          <a:p>
            <a:pPr eaLnBrk="1" hangingPunct="1"/>
            <a:r>
              <a:rPr dirty="0"/>
              <a:t>Vsaka funkcija zanesljivosti mora biti zapisana na tak način. Najbolj preprosta funkcija zanesljivosti je funkcija, kjer je H(t) </a:t>
            </a:r>
            <a:r>
              <a:rPr dirty="0" err="1"/>
              <a:t>konstant</a:t>
            </a:r>
            <a:r>
              <a:rPr lang="sl-SI" dirty="0"/>
              <a:t>n</a:t>
            </a:r>
            <a:r>
              <a:rPr dirty="0"/>
              <a:t>a v času t: H(t) = λt</a:t>
            </a:r>
            <a:endParaRPr lang="sl-SI" baseline="0" dirty="0"/>
          </a:p>
          <a:p>
            <a:pPr eaLnBrk="1" hangingPunct="1"/>
            <a:endParaRPr lang="sl-SI" baseline="0" dirty="0"/>
          </a:p>
          <a:p>
            <a:pPr eaLnBrk="1" hangingPunct="1"/>
            <a:r>
              <a:rPr dirty="0"/>
              <a:t>Ne pozabite, da je zanesljivost v </a:t>
            </a:r>
            <a:r>
              <a:rPr dirty="0" err="1"/>
              <a:t>trenutku</a:t>
            </a:r>
            <a:r>
              <a:rPr dirty="0"/>
              <a:t> </a:t>
            </a:r>
            <a:r>
              <a:rPr lang="sl-SI" dirty="0"/>
              <a:t>t</a:t>
            </a:r>
            <a:r>
              <a:rPr dirty="0"/>
              <a:t> enaka ena minus pogostost odpovedi v trenutku (t), ta pogostost odpovedi je integral funkcije gostote odpovedi med minus neskončno in </a:t>
            </a:r>
            <a:r>
              <a:rPr dirty="0" err="1"/>
              <a:t>trenutkom</a:t>
            </a:r>
            <a:r>
              <a:rPr dirty="0"/>
              <a:t> </a:t>
            </a:r>
            <a:r>
              <a:rPr lang="sl-SI" dirty="0"/>
              <a:t>t</a:t>
            </a:r>
            <a:r>
              <a:rPr dirty="0"/>
              <a:t>. </a:t>
            </a:r>
          </a:p>
          <a:p>
            <a:pPr eaLnBrk="1" hangingPunct="1"/>
            <a:endParaRPr lang="sl-SI" baseline="0" dirty="0"/>
          </a:p>
        </p:txBody>
      </p:sp>
    </p:spTree>
    <p:extLst>
      <p:ext uri="{BB962C8B-B14F-4D97-AF65-F5344CB8AC3E}">
        <p14:creationId xmlns:p14="http://schemas.microsoft.com/office/powerpoint/2010/main" val="17749123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Rot="1" noChangeAspect="1" noTextEdit="1"/>
          </p:cNvSpPr>
          <p:nvPr>
            <p:ph type="sldImg"/>
          </p:nvPr>
        </p:nvSpPr>
        <p:spPr bwMode="auto">
          <a:noFill/>
          <a:ln>
            <a:solidFill>
              <a:srgbClr val="000000"/>
            </a:solidFill>
            <a:miter lim="800000"/>
            <a:headEnd/>
            <a:tailEnd/>
          </a:ln>
        </p:spPr>
      </p:sp>
      <p:sp>
        <p:nvSpPr>
          <p:cNvPr id="171011" name="Rectangle 3"/>
          <p:cNvSpPr>
            <a:spLocks noGrp="1"/>
          </p:cNvSpPr>
          <p:nvPr>
            <p:ph type="body" idx="1"/>
          </p:nvPr>
        </p:nvSpPr>
        <p:spPr bwMode="auto">
          <a:noFill/>
        </p:spPr>
        <p:txBody>
          <a:bodyPr wrap="square" numCol="1" anchor="t" anchorCtr="0" compatLnSpc="1">
            <a:prstTxWarp prst="textNoShape">
              <a:avLst/>
            </a:prstTxWarp>
          </a:bodyPr>
          <a:lstStyle/>
          <a:p>
            <a:r>
              <a:rPr dirty="0"/>
              <a:t>Obstajata dve pomembni funkciji gostote porazdelitve zanesljivosti. Na tem diapozitivu je prikazanih nekaj primerov teh funkcij.</a:t>
            </a:r>
          </a:p>
          <a:p>
            <a:endParaRPr lang="sl-SI" dirty="0"/>
          </a:p>
          <a:p>
            <a:pPr marL="171450" indent="-171450">
              <a:buFont typeface="Arial" panose="020B0604020202020204" pitchFamily="34" charset="0"/>
              <a:buChar char="•"/>
            </a:pPr>
            <a:r>
              <a:rPr dirty="0"/>
              <a:t>Weibullova porazdelitev je posplošitev eksponentne porazdelitve s konstantno pogostostjo odpovedi. Na prejšnjem diapozitivu smo pokazali najpreprostejšo obliko te formule H(t) kot funkcijo λt. Ta formula definira eksponentno porazdelitev. Weibullova porazdelitev je primerna za mehanske in elektronske sisteme. </a:t>
            </a:r>
          </a:p>
          <a:p>
            <a:pPr marL="171450" indent="-171450">
              <a:buFont typeface="Arial" panose="020B0604020202020204" pitchFamily="34" charset="0"/>
              <a:buChar char="•"/>
            </a:pPr>
            <a:endParaRPr lang="sl-SI" baseline="0" dirty="0"/>
          </a:p>
          <a:p>
            <a:pPr marL="171450" indent="-171450">
              <a:buFont typeface="Arial" panose="020B0604020202020204" pitchFamily="34" charset="0"/>
              <a:buChar char="•"/>
            </a:pPr>
            <a:r>
              <a:rPr dirty="0"/>
              <a:t>Logaritemsko normalna porazdelitev je izpeljana iz normalne porazdelitve. </a:t>
            </a:r>
            <a:br>
              <a:rPr dirty="0"/>
            </a:br>
            <a:r>
              <a:rPr dirty="0"/>
              <a:t>Logaritemsko normalna porazdelitev je primerna za kemične procese.</a:t>
            </a:r>
            <a:endParaRPr lang="sl-SI" dirty="0"/>
          </a:p>
        </p:txBody>
      </p:sp>
    </p:spTree>
    <p:extLst>
      <p:ext uri="{BB962C8B-B14F-4D97-AF65-F5344CB8AC3E}">
        <p14:creationId xmlns:p14="http://schemas.microsoft.com/office/powerpoint/2010/main" val="24068677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Rot="1" noChangeAspect="1" noTextEdit="1"/>
          </p:cNvSpPr>
          <p:nvPr>
            <p:ph type="sldImg"/>
          </p:nvPr>
        </p:nvSpPr>
        <p:spPr bwMode="auto">
          <a:noFill/>
          <a:ln>
            <a:solidFill>
              <a:srgbClr val="000000"/>
            </a:solidFill>
            <a:miter lim="800000"/>
            <a:headEnd/>
            <a:tailEnd/>
          </a:ln>
        </p:spPr>
      </p:sp>
      <p:sp>
        <p:nvSpPr>
          <p:cNvPr id="172035" name="Rectangle 3"/>
          <p:cNvSpPr>
            <a:spLocks noGrp="1"/>
          </p:cNvSpPr>
          <p:nvPr>
            <p:ph type="body" idx="1"/>
          </p:nvPr>
        </p:nvSpPr>
        <p:spPr bwMode="auto">
          <a:noFill/>
        </p:spPr>
        <p:txBody>
          <a:bodyPr wrap="square" numCol="1" anchor="t" anchorCtr="0" compatLnSpc="1">
            <a:prstTxWarp prst="textNoShape">
              <a:avLst/>
            </a:prstTxWarp>
          </a:bodyPr>
          <a:lstStyle/>
          <a:p>
            <a:r>
              <a:rPr dirty="0"/>
              <a:t>Kot </a:t>
            </a:r>
            <a:r>
              <a:rPr dirty="0" err="1"/>
              <a:t>smo</a:t>
            </a:r>
            <a:r>
              <a:rPr dirty="0"/>
              <a:t> </a:t>
            </a:r>
            <a:r>
              <a:rPr lang="sl-SI" dirty="0"/>
              <a:t>že </a:t>
            </a:r>
            <a:r>
              <a:rPr dirty="0" err="1"/>
              <a:t>omenili</a:t>
            </a:r>
            <a:r>
              <a:rPr dirty="0"/>
              <a:t> v prejšnjem modulu, </a:t>
            </a:r>
            <a:r>
              <a:rPr dirty="0" err="1"/>
              <a:t>lahko</a:t>
            </a:r>
            <a:r>
              <a:rPr dirty="0"/>
              <a:t> </a:t>
            </a:r>
            <a:r>
              <a:rPr dirty="0" err="1"/>
              <a:t>izvajamo</a:t>
            </a:r>
            <a:r>
              <a:rPr dirty="0"/>
              <a:t> </a:t>
            </a:r>
            <a:r>
              <a:rPr lang="sl-SI" dirty="0"/>
              <a:t>teste </a:t>
            </a:r>
            <a:r>
              <a:rPr dirty="0" err="1"/>
              <a:t>na</a:t>
            </a:r>
            <a:r>
              <a:rPr dirty="0"/>
              <a:t> različne načine.</a:t>
            </a:r>
          </a:p>
          <a:p>
            <a:endParaRPr lang="sl-SI" baseline="0" dirty="0"/>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noProof="0" dirty="0"/>
              <a:t>Življenjska doba se lahko testira na različne načine. Testirate lahko vsa stikala do odpovedi, dokler ne odpove določeno število stikal, ali pa določen čas. </a:t>
            </a:r>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baseline="0" noProof="0" dirty="0"/>
              <a:t>Slabost prvih dveh možnosti je v tem, da je lahko čas </a:t>
            </a:r>
            <a:r>
              <a:rPr lang="en-GB" baseline="0" noProof="0" dirty="0" err="1"/>
              <a:t>testiranja</a:t>
            </a:r>
            <a:r>
              <a:rPr lang="en-GB" baseline="0" noProof="0" dirty="0"/>
              <a:t> </a:t>
            </a:r>
            <a:r>
              <a:rPr lang="en-GB" baseline="0" noProof="0" dirty="0" err="1"/>
              <a:t>zelo</a:t>
            </a:r>
            <a:r>
              <a:rPr lang="en-GB" baseline="0" noProof="0" dirty="0"/>
              <a:t> dolg. Če testiranje naročite zunaj, to </a:t>
            </a:r>
            <a:r>
              <a:rPr lang="en-GB" baseline="0" noProof="0" dirty="0" err="1"/>
              <a:t>lahko</a:t>
            </a:r>
            <a:r>
              <a:rPr lang="en-GB" baseline="0" noProof="0" dirty="0"/>
              <a:t> </a:t>
            </a:r>
            <a:r>
              <a:rPr lang="sl-SI" baseline="0" noProof="0" dirty="0"/>
              <a:t>predstavlja </a:t>
            </a:r>
            <a:r>
              <a:rPr lang="en-GB" baseline="0" noProof="0" dirty="0"/>
              <a:t>problem. Slabost testiranja za določen čas je v tem, da morda ne boste ujeli nobene odpovedi.</a:t>
            </a:r>
          </a:p>
          <a:p>
            <a:endParaRPr lang="sl-SI" dirty="0"/>
          </a:p>
        </p:txBody>
      </p:sp>
    </p:spTree>
    <p:extLst>
      <p:ext uri="{BB962C8B-B14F-4D97-AF65-F5344CB8AC3E}">
        <p14:creationId xmlns:p14="http://schemas.microsoft.com/office/powerpoint/2010/main" val="2737330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spect="1" noTextEdit="1"/>
          </p:cNvSpPr>
          <p:nvPr>
            <p:ph type="sldImg"/>
          </p:nvPr>
        </p:nvSpPr>
        <p:spPr bwMode="auto">
          <a:noFill/>
          <a:ln>
            <a:solidFill>
              <a:srgbClr val="000000"/>
            </a:solidFill>
            <a:miter lim="800000"/>
            <a:headEnd/>
            <a:tailEnd/>
          </a:ln>
        </p:spPr>
      </p:sp>
      <p:sp>
        <p:nvSpPr>
          <p:cNvPr id="175107" name="Rectangle 3"/>
          <p:cNvSpPr>
            <a:spLocks noGrp="1"/>
          </p:cNvSpPr>
          <p:nvPr>
            <p:ph type="body" idx="1"/>
          </p:nvPr>
        </p:nvSpPr>
        <p:spPr bwMode="auto">
          <a:noFill/>
        </p:spPr>
        <p:txBody>
          <a:bodyPr wrap="square" numCol="1" anchor="t" anchorCtr="0" compatLnSpc="1">
            <a:prstTxWarp prst="textNoShape">
              <a:avLst/>
            </a:prstTxWarp>
          </a:bodyPr>
          <a:lstStyle/>
          <a:p>
            <a:r>
              <a:rPr dirty="0"/>
              <a:t>Ko je test dokončan, moramo ugotoviti, katera porazdelitev se najbolje ujema s podatki. Na podlagi te porazdelitve lahko ocenimo verjetnost preživetja v različnih trenutkih. </a:t>
            </a:r>
          </a:p>
          <a:p>
            <a:r>
              <a:rPr dirty="0"/>
              <a:t>V mnogih situacijah ne poznamo časa odpovedi za vse izdelke, ki jih testiramo. Določeno število izdelkov </a:t>
            </a:r>
            <a:r>
              <a:t>bo v </a:t>
            </a:r>
            <a:r>
              <a:rPr dirty="0"/>
              <a:t>trenutku, ko </a:t>
            </a:r>
            <a:r>
              <a:t>prekinete test</a:t>
            </a:r>
            <a:r>
              <a:rPr lang="sl-SI"/>
              <a:t>, še delovalo</a:t>
            </a:r>
            <a:r>
              <a:t>. </a:t>
            </a:r>
            <a:endParaRPr dirty="0"/>
          </a:p>
          <a:p>
            <a:endParaRPr lang="sl-SI" baseline="0" dirty="0"/>
          </a:p>
          <a:p>
            <a:r>
              <a:rPr dirty="0"/>
              <a:t>S tem se lahko spopadete na več načinov. Programska oprema za statistične obdelave kot je Minitab lahko identificira najboljšo porazdelitev na podlagi nepopolnih časov odpovedi.</a:t>
            </a:r>
          </a:p>
          <a:p>
            <a:r>
              <a:rPr dirty="0"/>
              <a:t>Ko </a:t>
            </a:r>
            <a:r>
              <a:t>je porazdelitev</a:t>
            </a:r>
            <a:r>
              <a:rPr lang="sl-SI"/>
              <a:t> ugotovljena</a:t>
            </a:r>
            <a:r>
              <a:t>, </a:t>
            </a:r>
            <a:r>
              <a:rPr dirty="0"/>
              <a:t>lahko program oceni parametre porazdelitve.</a:t>
            </a:r>
          </a:p>
          <a:p>
            <a:r>
              <a:rPr dirty="0"/>
              <a:t>Ko poznamo te parametre, lahko napovemo življenjsko dobo ter izračunamo intervale za zaupanja </a:t>
            </a:r>
            <a:r>
              <a:t>za napovedi</a:t>
            </a:r>
            <a:r>
              <a:rPr dirty="0"/>
              <a:t>. </a:t>
            </a:r>
            <a:endParaRPr lang="sl-SI" dirty="0"/>
          </a:p>
        </p:txBody>
      </p:sp>
    </p:spTree>
    <p:extLst>
      <p:ext uri="{BB962C8B-B14F-4D97-AF65-F5344CB8AC3E}">
        <p14:creationId xmlns:p14="http://schemas.microsoft.com/office/powerpoint/2010/main" val="9771735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a:spLocks noGrp="1" noChangeArrowheads="1"/>
          </p:cNvSpPr>
          <p:nvPr>
            <p:ph type="sldNum" sz="quarter" idx="5"/>
          </p:nvPr>
        </p:nvSpPr>
        <p:spPr bwMode="auto">
          <a:xfrm>
            <a:off x="3884613" y="8685213"/>
            <a:ext cx="2971800" cy="457200"/>
          </a:xfrm>
          <a:prstGeom prst="rect">
            <a:avLst/>
          </a:prstGeom>
          <a:noFill/>
          <a:ln>
            <a:miter lim="800000"/>
            <a:headEnd/>
            <a:tailEnd/>
          </a:ln>
        </p:spPr>
        <p:txBody>
          <a:bodyPr wrap="square" numCol="1" anchorCtr="0" compatLnSpc="1">
            <a:prstTxWarp prst="textNoShape">
              <a:avLst/>
            </a:prstTxWarp>
          </a:bodyPr>
          <a:lstStyle/>
          <a:p>
            <a:fld id="{017F1401-E896-415D-AB8F-2369DDDCA490}" type="slidenum">
              <a:rPr lang="en-US" smtClean="0">
                <a:latin typeface="Arial" charset="0"/>
              </a:rPr>
              <a:pPr/>
              <a:t>14</a:t>
            </a:fld>
            <a:endParaRPr lang="sl-SI" dirty="0">
              <a:latin typeface="Arial" charset="0"/>
            </a:endParaRPr>
          </a:p>
        </p:txBody>
      </p:sp>
      <p:sp>
        <p:nvSpPr>
          <p:cNvPr id="3993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993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r>
              <a:rPr dirty="0"/>
              <a:t>Ta primer prikazuje možno uporabo rezultatov analize zanesljivosti. Gre za </a:t>
            </a:r>
            <a:r>
              <a:rPr dirty="0" err="1"/>
              <a:t>odločitev</a:t>
            </a:r>
            <a:r>
              <a:rPr dirty="0"/>
              <a:t> </a:t>
            </a:r>
            <a:r>
              <a:rPr lang="sl-SI" dirty="0"/>
              <a:t>o </a:t>
            </a:r>
            <a:r>
              <a:rPr dirty="0" err="1"/>
              <a:t>podaljšanj</a:t>
            </a:r>
            <a:r>
              <a:rPr lang="sl-SI" dirty="0"/>
              <a:t>u</a:t>
            </a:r>
            <a:r>
              <a:rPr dirty="0"/>
              <a:t> garancije za izdelek, o čemer je bilo govora na enem od predhodnih diapozitivov. </a:t>
            </a:r>
          </a:p>
          <a:p>
            <a:pPr eaLnBrk="1" hangingPunct="1"/>
            <a:endParaRPr lang="sl-SI" baseline="0" dirty="0"/>
          </a:p>
          <a:p>
            <a:pPr eaLnBrk="1" hangingPunct="1"/>
            <a:r>
              <a:rPr dirty="0"/>
              <a:t>Garancijsko obdobje je trenutno </a:t>
            </a:r>
            <a:r>
              <a:rPr dirty="0" err="1"/>
              <a:t>deset</a:t>
            </a:r>
            <a:r>
              <a:rPr dirty="0"/>
              <a:t> let</a:t>
            </a:r>
            <a:r>
              <a:rPr lang="sl-SI" dirty="0"/>
              <a:t>,</a:t>
            </a:r>
            <a:r>
              <a:rPr dirty="0"/>
              <a:t> </a:t>
            </a:r>
            <a:r>
              <a:rPr lang="sl-SI" dirty="0"/>
              <a:t>p</a:t>
            </a:r>
            <a:r>
              <a:rPr dirty="0" err="1"/>
              <a:t>rodaja</a:t>
            </a:r>
            <a:r>
              <a:rPr dirty="0"/>
              <a:t> </a:t>
            </a:r>
            <a:r>
              <a:rPr lang="sl-SI" dirty="0"/>
              <a:t>pa </a:t>
            </a:r>
            <a:r>
              <a:rPr dirty="0" err="1"/>
              <a:t>ga</a:t>
            </a:r>
            <a:r>
              <a:rPr dirty="0"/>
              <a:t> želi podaljšati na 12 let. Opravljena analiza zanesljivosti je pokazala Weibullovo porazdelitev in </a:t>
            </a:r>
            <a:r>
              <a:rPr lang="sl-SI" dirty="0"/>
              <a:t>izračunali smo </a:t>
            </a:r>
            <a:r>
              <a:rPr dirty="0" err="1"/>
              <a:t>oba</a:t>
            </a:r>
            <a:r>
              <a:rPr dirty="0"/>
              <a:t> parametra. S temi podatki lahko izračunamo vpliv podaljšanja garancije za dve leti. Na naslednjem diapozitivu si lahko ogledate rezultat tega izračuna.</a:t>
            </a:r>
          </a:p>
          <a:p>
            <a:pPr eaLnBrk="1" hangingPunct="1"/>
            <a:endParaRPr lang="sl-SI" baseline="0" dirty="0"/>
          </a:p>
          <a:p>
            <a:pPr eaLnBrk="1" hangingPunct="1"/>
            <a:endParaRPr lang="sl-SI" dirty="0"/>
          </a:p>
        </p:txBody>
      </p:sp>
    </p:spTree>
    <p:extLst>
      <p:ext uri="{BB962C8B-B14F-4D97-AF65-F5344CB8AC3E}">
        <p14:creationId xmlns:p14="http://schemas.microsoft.com/office/powerpoint/2010/main" val="3906057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Rot="1" noChangeAspect="1" noTextEdit="1"/>
          </p:cNvSpPr>
          <p:nvPr>
            <p:ph type="sldImg"/>
          </p:nvPr>
        </p:nvSpPr>
        <p:spPr bwMode="auto">
          <a:noFill/>
          <a:ln>
            <a:solidFill>
              <a:srgbClr val="000000"/>
            </a:solidFill>
            <a:miter lim="800000"/>
            <a:headEnd/>
            <a:tailEnd/>
          </a:ln>
        </p:spPr>
      </p:sp>
      <p:sp>
        <p:nvSpPr>
          <p:cNvPr id="168963" name="Rectangle 3"/>
          <p:cNvSpPr>
            <a:spLocks noGrp="1"/>
          </p:cNvSpPr>
          <p:nvPr>
            <p:ph type="body" idx="1"/>
          </p:nvPr>
        </p:nvSpPr>
        <p:spPr bwMode="auto">
          <a:noFill/>
        </p:spPr>
        <p:txBody>
          <a:bodyPr wrap="square" numCol="1" anchor="t" anchorCtr="0" compatLnSpc="1">
            <a:prstTxWarp prst="textNoShape">
              <a:avLst/>
            </a:prstTxWarp>
          </a:bodyPr>
          <a:lstStyle/>
          <a:p>
            <a:r>
              <a:rPr dirty="0"/>
              <a:t>Pri prejšnjih garancijskih pogojih smo pričakovali 5 % odpovedi v </a:t>
            </a:r>
            <a:r>
              <a:t>120 mesecih</a:t>
            </a:r>
            <a:r>
              <a:rPr lang="sl-SI"/>
              <a:t>,</a:t>
            </a:r>
            <a:r>
              <a:t> </a:t>
            </a:r>
            <a:r>
              <a:rPr lang="sl-SI"/>
              <a:t>v</a:t>
            </a:r>
            <a:r>
              <a:t> </a:t>
            </a:r>
            <a:r>
              <a:rPr dirty="0"/>
              <a:t>144 </a:t>
            </a:r>
            <a:r>
              <a:t>mesecih pa</a:t>
            </a:r>
            <a:r>
              <a:rPr lang="sl-SI"/>
              <a:t> lahko</a:t>
            </a:r>
            <a:r>
              <a:t> </a:t>
            </a:r>
            <a:r>
              <a:rPr dirty="0"/>
              <a:t>pričakujemo 5+12,8 % odpovedi.</a:t>
            </a:r>
            <a:endParaRPr lang="sl-SI" dirty="0"/>
          </a:p>
          <a:p>
            <a:r>
              <a:rPr dirty="0"/>
              <a:t>S podaljšanjem garancije lahko torej </a:t>
            </a:r>
            <a:r>
              <a:t>pričakujemo 12,8</a:t>
            </a:r>
            <a:r>
              <a:rPr lang="sl-SI"/>
              <a:t> </a:t>
            </a:r>
            <a:r>
              <a:t>% </a:t>
            </a:r>
            <a:r>
              <a:rPr dirty="0"/>
              <a:t>dodatnih garancijskih zahtevkov. Prodajni oddelek </a:t>
            </a:r>
            <a:r>
              <a:t>lahko </a:t>
            </a:r>
            <a:r>
              <a:rPr lang="sl-SI"/>
              <a:t>zdaj </a:t>
            </a:r>
            <a:r>
              <a:t>na </a:t>
            </a:r>
            <a:r>
              <a:rPr dirty="0"/>
              <a:t>podlagi teh podatkov preuči finančne </a:t>
            </a:r>
            <a:r>
              <a:t>posledice podaljšanja</a:t>
            </a:r>
            <a:r>
              <a:rPr lang="sl-SI"/>
              <a:t> garancije</a:t>
            </a:r>
            <a:r>
              <a:t>.</a:t>
            </a:r>
            <a:endParaRPr dirty="0"/>
          </a:p>
          <a:p>
            <a:endParaRPr lang="sl-SI" dirty="0"/>
          </a:p>
          <a:p>
            <a:r>
              <a:rPr dirty="0"/>
              <a:t>Takšna analiza pomaga pri odločanju na podlagi podatkov in ne na podlagi čustev ali mnenj.</a:t>
            </a:r>
            <a:endParaRPr lang="sl-SI" dirty="0"/>
          </a:p>
        </p:txBody>
      </p:sp>
    </p:spTree>
    <p:extLst>
      <p:ext uri="{BB962C8B-B14F-4D97-AF65-F5344CB8AC3E}">
        <p14:creationId xmlns:p14="http://schemas.microsoft.com/office/powerpoint/2010/main" val="33133002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Rot="1" noChangeAspect="1" noTextEdit="1"/>
          </p:cNvSpPr>
          <p:nvPr>
            <p:ph type="sldImg"/>
          </p:nvPr>
        </p:nvSpPr>
        <p:spPr bwMode="auto">
          <a:noFill/>
          <a:ln>
            <a:solidFill>
              <a:srgbClr val="000000"/>
            </a:solidFill>
            <a:miter lim="800000"/>
            <a:headEnd/>
            <a:tailEnd/>
          </a:ln>
        </p:spPr>
      </p:sp>
      <p:sp>
        <p:nvSpPr>
          <p:cNvPr id="178179" name="Rectangle 3"/>
          <p:cNvSpPr>
            <a:spLocks noGrp="1"/>
          </p:cNvSpPr>
          <p:nvPr>
            <p:ph type="body" idx="1"/>
          </p:nvPr>
        </p:nvSpPr>
        <p:spPr bwMode="auto">
          <a:noFill/>
        </p:spPr>
        <p:txBody>
          <a:bodyPr wrap="square" numCol="1" anchor="t" anchorCtr="0" compatLnSpc="1">
            <a:prstTxWarp prst="textNoShape">
              <a:avLst/>
            </a:prstTxWarp>
          </a:bodyPr>
          <a:lstStyle/>
          <a:p>
            <a:r>
              <a:rPr dirty="0"/>
              <a:t>Spomnite se na prejšnji modul.</a:t>
            </a:r>
          </a:p>
          <a:p>
            <a:endParaRPr lang="sl-SI" dirty="0"/>
          </a:p>
          <a:p>
            <a:r>
              <a:rPr dirty="0"/>
              <a:t>V testu zanesljivosti moramo demonstrirati, da proizvod izpolnjuje zahteve kupca, torej da R % populacije preživi do trenutka T s specificirano stopnjo zaupanja.</a:t>
            </a:r>
            <a:endParaRPr lang="sl-SI" dirty="0"/>
          </a:p>
          <a:p>
            <a:r>
              <a:rPr dirty="0"/>
              <a:t>Preden se lotimo testa zanesljivosti, moramo odgovoriti na naslednje pomembno vprašanje.</a:t>
            </a:r>
          </a:p>
          <a:p>
            <a:endParaRPr lang="sl-SI" dirty="0"/>
          </a:p>
          <a:p>
            <a:pPr marL="171450" lvl="0" indent="-171450" eaLnBrk="1" hangingPunct="1">
              <a:buFont typeface="Arial" panose="020B0604020202020204" pitchFamily="34" charset="0"/>
              <a:buChar char="•"/>
              <a:defRPr/>
            </a:pPr>
            <a:r>
              <a:rPr lang="en-GB" noProof="0" dirty="0"/>
              <a:t>Koliko proizvodov je treba testirati in kako dolgo za dokazovanje s stopnjo zaupanja C %, da bo v trenutku T še delovalo R % populacije?</a:t>
            </a:r>
          </a:p>
          <a:p>
            <a:pPr marL="171450" indent="-171450">
              <a:buFont typeface="Arial" panose="020B0604020202020204" pitchFamily="34" charset="0"/>
              <a:buChar char="•"/>
            </a:pPr>
            <a:endParaRPr lang="sl-SI" dirty="0"/>
          </a:p>
        </p:txBody>
      </p:sp>
    </p:spTree>
    <p:extLst>
      <p:ext uri="{BB962C8B-B14F-4D97-AF65-F5344CB8AC3E}">
        <p14:creationId xmlns:p14="http://schemas.microsoft.com/office/powerpoint/2010/main" val="28853349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p:cNvSpPr>
            <a:spLocks noGrp="1" noChangeArrowheads="1"/>
          </p:cNvSpPr>
          <p:nvPr>
            <p:ph type="sldNum" sz="quarter" idx="5"/>
          </p:nvPr>
        </p:nvSpPr>
        <p:spPr bwMode="auto">
          <a:xfrm>
            <a:off x="3884613" y="8685213"/>
            <a:ext cx="2971800" cy="457200"/>
          </a:xfrm>
          <a:prstGeom prst="rect">
            <a:avLst/>
          </a:prstGeom>
          <a:noFill/>
          <a:ln>
            <a:miter lim="800000"/>
            <a:headEnd/>
            <a:tailEnd/>
          </a:ln>
        </p:spPr>
        <p:txBody>
          <a:bodyPr wrap="square" numCol="1" anchorCtr="0" compatLnSpc="1">
            <a:prstTxWarp prst="textNoShape">
              <a:avLst/>
            </a:prstTxWarp>
          </a:bodyPr>
          <a:lstStyle/>
          <a:p>
            <a:fld id="{788155D1-696E-4661-ABEC-B791E4F6AD2D}" type="slidenum">
              <a:rPr lang="en-US" smtClean="0">
                <a:latin typeface="Arial" charset="0"/>
              </a:rPr>
              <a:pPr/>
              <a:t>17</a:t>
            </a:fld>
            <a:endParaRPr lang="sl-SI" dirty="0">
              <a:latin typeface="Arial" charset="0"/>
            </a:endParaRPr>
          </a:p>
        </p:txBody>
      </p:sp>
      <p:sp>
        <p:nvSpPr>
          <p:cNvPr id="9318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318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en-GB" sz="1600" noProof="0" dirty="0">
                <a:latin typeface="Arial" charset="0"/>
              </a:rPr>
              <a:t>V </a:t>
            </a:r>
            <a:r>
              <a:rPr lang="en-GB" sz="1600" noProof="0" dirty="0" err="1">
                <a:latin typeface="Arial" charset="0"/>
              </a:rPr>
              <a:t>oglasih</a:t>
            </a:r>
            <a:r>
              <a:rPr lang="en-GB" sz="1600" noProof="0" dirty="0">
                <a:latin typeface="Arial" charset="0"/>
              </a:rPr>
              <a:t> </a:t>
            </a:r>
            <a:r>
              <a:rPr lang="en-GB" sz="1600" noProof="0" dirty="0" err="1">
                <a:latin typeface="Arial" charset="0"/>
              </a:rPr>
              <a:t>včasih</a:t>
            </a:r>
            <a:r>
              <a:rPr lang="en-GB" sz="1600" noProof="0" dirty="0">
                <a:latin typeface="Arial" charset="0"/>
              </a:rPr>
              <a:t> najdemo omejene informacije o zanesljivosti izdelka. Pogosto je omenjena samo povprečna </a:t>
            </a:r>
            <a:r>
              <a:rPr lang="en-GB" sz="1600" noProof="0" dirty="0" err="1">
                <a:latin typeface="Arial" charset="0"/>
              </a:rPr>
              <a:t>življenjska</a:t>
            </a:r>
            <a:r>
              <a:rPr lang="en-GB" sz="1600" noProof="0" dirty="0">
                <a:latin typeface="Arial" charset="0"/>
              </a:rPr>
              <a:t> </a:t>
            </a:r>
            <a:r>
              <a:rPr lang="en-GB" sz="1600" noProof="0" dirty="0" err="1">
                <a:latin typeface="Arial" charset="0"/>
              </a:rPr>
              <a:t>doba</a:t>
            </a:r>
            <a:r>
              <a:rPr lang="sl-SI" sz="1600" noProof="0" dirty="0">
                <a:latin typeface="Arial" charset="0"/>
              </a:rPr>
              <a:t>, ki pa nam ne pove veliko</a:t>
            </a:r>
            <a:r>
              <a:rPr lang="en-GB" sz="1600" noProof="0" dirty="0">
                <a:latin typeface="Arial" charset="0"/>
              </a:rPr>
              <a:t>. Če je življenjska doba porazdeljena po Weibullu, lahko pričakujemo, da bo še pred povprečno življenjsko dobo odpovedalo 63 % izdelkov, torej več kot polovica!</a:t>
            </a:r>
          </a:p>
          <a:p>
            <a:pPr marL="0" marR="0" lvl="1" indent="0" algn="l" defTabSz="914400" rtl="0" eaLnBrk="1" fontAlgn="base" latinLnBrk="0" hangingPunct="1">
              <a:lnSpc>
                <a:spcPct val="100000"/>
              </a:lnSpc>
              <a:spcBef>
                <a:spcPct val="30000"/>
              </a:spcBef>
              <a:spcAft>
                <a:spcPct val="0"/>
              </a:spcAft>
              <a:buClrTx/>
              <a:buSzTx/>
              <a:buFontTx/>
              <a:buNone/>
              <a:tabLst/>
              <a:defRPr/>
            </a:pPr>
            <a:endParaRPr lang="sl-SI" sz="1600" baseline="0" noProof="0" dirty="0">
              <a:latin typeface="Arial" charset="0"/>
              <a:cs typeface="Arial" charset="0"/>
            </a:endParaRPr>
          </a:p>
          <a:p>
            <a:pPr marL="0" marR="0" lvl="1" indent="0" algn="l" defTabSz="914400" rtl="0" eaLnBrk="1" fontAlgn="base" latinLnBrk="0" hangingPunct="1">
              <a:lnSpc>
                <a:spcPct val="100000"/>
              </a:lnSpc>
              <a:spcBef>
                <a:spcPct val="30000"/>
              </a:spcBef>
              <a:spcAft>
                <a:spcPct val="0"/>
              </a:spcAft>
              <a:buClrTx/>
              <a:buSzTx/>
              <a:buFontTx/>
              <a:buNone/>
              <a:tabLst/>
              <a:defRPr/>
            </a:pPr>
            <a:r>
              <a:rPr lang="en-GB" sz="1600" baseline="0" noProof="0" dirty="0">
                <a:latin typeface="Arial" charset="0"/>
              </a:rPr>
              <a:t>Bolje je, če izjavimo: "Pričakujemo, da bo 95 % naših izdelkov vzdržalo 10.000 ur uporabe." Ker je funkcija gostote porazdelitve odpovedi le ocena resničnosti, je v takšnih izjavah vedno tudi nekaj negotovosti. Statistika </a:t>
            </a:r>
            <a:r>
              <a:rPr lang="en-GB" sz="1600" baseline="0" noProof="0" dirty="0" err="1">
                <a:latin typeface="Arial" charset="0"/>
              </a:rPr>
              <a:t>lahko</a:t>
            </a:r>
            <a:r>
              <a:rPr lang="en-GB" sz="1600" baseline="0" noProof="0" dirty="0">
                <a:latin typeface="Arial" charset="0"/>
              </a:rPr>
              <a:t> to </a:t>
            </a:r>
            <a:r>
              <a:rPr lang="en-GB" sz="1600" baseline="0" noProof="0" dirty="0" err="1">
                <a:latin typeface="Arial" charset="0"/>
              </a:rPr>
              <a:t>negotovost</a:t>
            </a:r>
            <a:r>
              <a:rPr lang="sl-SI" sz="1600" baseline="0" noProof="0" dirty="0">
                <a:latin typeface="Arial" charset="0"/>
              </a:rPr>
              <a:t> </a:t>
            </a:r>
            <a:r>
              <a:rPr lang="en-GB" sz="1600" baseline="0" noProof="0" dirty="0" err="1">
                <a:latin typeface="Arial" charset="0"/>
              </a:rPr>
              <a:t>kvantificira</a:t>
            </a:r>
            <a:r>
              <a:rPr lang="en-GB" sz="1600" baseline="0" noProof="0" dirty="0">
                <a:latin typeface="Arial" charset="0"/>
              </a:rPr>
              <a:t> </a:t>
            </a:r>
            <a:r>
              <a:rPr lang="sl-SI" sz="1600" baseline="0" noProof="0" dirty="0">
                <a:latin typeface="Arial" charset="0"/>
              </a:rPr>
              <a:t>in</a:t>
            </a:r>
            <a:r>
              <a:rPr lang="en-GB" sz="1600" baseline="0" noProof="0" dirty="0">
                <a:latin typeface="Arial" charset="0"/>
              </a:rPr>
              <a:t> </a:t>
            </a:r>
            <a:r>
              <a:rPr lang="sl-SI" sz="1600" baseline="0" noProof="0" dirty="0">
                <a:latin typeface="Arial" charset="0"/>
              </a:rPr>
              <a:t>g</a:t>
            </a:r>
            <a:r>
              <a:rPr lang="en-GB" sz="1600" baseline="0" noProof="0" dirty="0" err="1">
                <a:latin typeface="Arial" charset="0"/>
              </a:rPr>
              <a:t>ovorimo</a:t>
            </a:r>
            <a:r>
              <a:rPr lang="en-GB" sz="1600" baseline="0" noProof="0" dirty="0">
                <a:latin typeface="Arial" charset="0"/>
              </a:rPr>
              <a:t> o stopnji zaupanja izjave.</a:t>
            </a:r>
          </a:p>
          <a:p>
            <a:pPr marL="0" marR="0" lvl="1" indent="0" algn="l" defTabSz="914400" rtl="0" eaLnBrk="1" fontAlgn="base" latinLnBrk="0" hangingPunct="1">
              <a:lnSpc>
                <a:spcPct val="100000"/>
              </a:lnSpc>
              <a:spcBef>
                <a:spcPct val="30000"/>
              </a:spcBef>
              <a:spcAft>
                <a:spcPct val="0"/>
              </a:spcAft>
              <a:buClrTx/>
              <a:buSzTx/>
              <a:buFontTx/>
              <a:buNone/>
              <a:tabLst/>
              <a:defRPr/>
            </a:pPr>
            <a:endParaRPr lang="sl-SI" sz="1600" baseline="0" noProof="0" dirty="0">
              <a:latin typeface="Arial" charset="0"/>
              <a:cs typeface="Arial" charset="0"/>
            </a:endParaRPr>
          </a:p>
          <a:p>
            <a:pPr marL="0" marR="0" lvl="1" indent="0" algn="l" defTabSz="914400" rtl="0" eaLnBrk="1" fontAlgn="base" latinLnBrk="0" hangingPunct="1">
              <a:lnSpc>
                <a:spcPct val="100000"/>
              </a:lnSpc>
              <a:spcBef>
                <a:spcPct val="30000"/>
              </a:spcBef>
              <a:spcAft>
                <a:spcPct val="0"/>
              </a:spcAft>
              <a:buClrTx/>
              <a:buSzTx/>
              <a:buFontTx/>
              <a:buNone/>
              <a:tabLst/>
              <a:defRPr/>
            </a:pPr>
            <a:r>
              <a:rPr lang="en-GB" sz="1600" baseline="0" noProof="0" dirty="0">
                <a:latin typeface="Arial" charset="0"/>
              </a:rPr>
              <a:t>Vprašanje o zanesljivosti bi se lahko glasilo:</a:t>
            </a:r>
            <a:endParaRPr lang="sl-SI" sz="1600" noProof="0" dirty="0">
              <a:latin typeface="Arial" charset="0"/>
              <a:cs typeface="Arial" charset="0"/>
            </a:endParaRPr>
          </a:p>
          <a:p>
            <a:pPr marL="0" marR="0" lvl="1" indent="0" algn="l" defTabSz="914400" rtl="0" eaLnBrk="1" fontAlgn="base" latinLnBrk="0" hangingPunct="1">
              <a:lnSpc>
                <a:spcPct val="100000"/>
              </a:lnSpc>
              <a:spcBef>
                <a:spcPct val="30000"/>
              </a:spcBef>
              <a:spcAft>
                <a:spcPct val="0"/>
              </a:spcAft>
              <a:buClrTx/>
              <a:buSzTx/>
              <a:buFontTx/>
              <a:buNone/>
              <a:tabLst/>
              <a:defRPr/>
            </a:pPr>
            <a:r>
              <a:rPr lang="en-GB" sz="1600" noProof="0" dirty="0">
                <a:latin typeface="Arial" charset="0"/>
              </a:rPr>
              <a:t>Kakšen odstotek R = R (T) mora preživeti časovno obdobje T in kakšna je stopnja zaupanja takšne izjave?</a:t>
            </a:r>
          </a:p>
          <a:p>
            <a:pPr eaLnBrk="1" hangingPunct="1"/>
            <a:endParaRPr lang="sl-SI" dirty="0"/>
          </a:p>
          <a:p>
            <a:pPr eaLnBrk="1" hangingPunct="1"/>
            <a:r>
              <a:rPr dirty="0"/>
              <a:t>Uporabljen je naslednji način zapisa: R95C90 v trenutku T. </a:t>
            </a:r>
          </a:p>
          <a:p>
            <a:pPr eaLnBrk="1" hangingPunct="1"/>
            <a:endParaRPr lang="sl-SI" baseline="0" dirty="0"/>
          </a:p>
          <a:p>
            <a:pPr eaLnBrk="1" hangingPunct="1"/>
            <a:r>
              <a:rPr dirty="0"/>
              <a:t>To pomeni, da mora v trenutku T delovati vsaj še 95% vseh sistemov in da je stopnja zaupanja v to izjavo 90%. </a:t>
            </a:r>
          </a:p>
          <a:p>
            <a:pPr marL="0" marR="0" indent="0" algn="l" defTabSz="914400" rtl="0" eaLnBrk="1" fontAlgn="base" latinLnBrk="0" hangingPunct="1">
              <a:lnSpc>
                <a:spcPct val="100000"/>
              </a:lnSpc>
              <a:spcBef>
                <a:spcPct val="30000"/>
              </a:spcBef>
              <a:spcAft>
                <a:spcPct val="0"/>
              </a:spcAft>
              <a:buClrTx/>
              <a:buSzTx/>
              <a:buFontTx/>
              <a:buNone/>
              <a:tabLst/>
              <a:defRPr/>
            </a:pPr>
            <a:endParaRPr lang="sl-SI" baseline="0" dirty="0"/>
          </a:p>
          <a:p>
            <a:pPr marL="0" marR="0" indent="0" algn="l" defTabSz="914400" rtl="0" eaLnBrk="1" fontAlgn="base" latinLnBrk="0" hangingPunct="1">
              <a:lnSpc>
                <a:spcPct val="100000"/>
              </a:lnSpc>
              <a:spcBef>
                <a:spcPct val="30000"/>
              </a:spcBef>
              <a:spcAft>
                <a:spcPct val="0"/>
              </a:spcAft>
              <a:buClrTx/>
              <a:buSzTx/>
              <a:buFontTx/>
              <a:buNone/>
              <a:tabLst/>
              <a:defRPr/>
            </a:pPr>
            <a:r>
              <a:rPr dirty="0"/>
              <a:t>Z drugimi besedami: verjetnost, da bo izbrani sistem še deloval v trenutku T, znaša vsaj 95 %. Stopnja zaupanja izjave je 90 %</a:t>
            </a:r>
            <a:r>
              <a:rPr lang="sl-SI" dirty="0"/>
              <a:t>.</a:t>
            </a:r>
            <a:endParaRPr dirty="0"/>
          </a:p>
          <a:p>
            <a:pPr eaLnBrk="1" hangingPunct="1"/>
            <a:endParaRPr lang="sl-SI" dirty="0"/>
          </a:p>
        </p:txBody>
      </p:sp>
    </p:spTree>
    <p:extLst>
      <p:ext uri="{BB962C8B-B14F-4D97-AF65-F5344CB8AC3E}">
        <p14:creationId xmlns:p14="http://schemas.microsoft.com/office/powerpoint/2010/main" val="40151827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p:cNvSpPr>
            <a:spLocks noGrp="1" noChangeArrowheads="1"/>
          </p:cNvSpPr>
          <p:nvPr>
            <p:ph type="sldNum" sz="quarter" idx="5"/>
          </p:nvPr>
        </p:nvSpPr>
        <p:spPr bwMode="auto">
          <a:xfrm>
            <a:off x="3884613" y="8685213"/>
            <a:ext cx="2971800" cy="457200"/>
          </a:xfrm>
          <a:prstGeom prst="rect">
            <a:avLst/>
          </a:prstGeom>
          <a:noFill/>
          <a:ln>
            <a:miter lim="800000"/>
            <a:headEnd/>
            <a:tailEnd/>
          </a:ln>
        </p:spPr>
        <p:txBody>
          <a:bodyPr wrap="square" numCol="1" anchorCtr="0" compatLnSpc="1">
            <a:prstTxWarp prst="textNoShape">
              <a:avLst/>
            </a:prstTxWarp>
          </a:bodyPr>
          <a:lstStyle/>
          <a:p>
            <a:fld id="{64C47FDB-AF62-4995-8ABE-689ABADA909D}" type="slidenum">
              <a:rPr lang="en-US" smtClean="0">
                <a:latin typeface="Arial" charset="0"/>
              </a:rPr>
              <a:pPr/>
              <a:t>18</a:t>
            </a:fld>
            <a:endParaRPr lang="sl-SI" dirty="0">
              <a:latin typeface="Arial" charset="0"/>
            </a:endParaRPr>
          </a:p>
        </p:txBody>
      </p:sp>
      <p:sp>
        <p:nvSpPr>
          <p:cNvPr id="9523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523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r>
              <a:rPr dirty="0"/>
              <a:t>Zdaj bomo izračunali velikost vzorca za test zanesljivosti.</a:t>
            </a:r>
          </a:p>
          <a:p>
            <a:pPr eaLnBrk="1" hangingPunct="1"/>
            <a:endParaRPr lang="sl-SI" baseline="0" dirty="0"/>
          </a:p>
          <a:p>
            <a:pPr eaLnBrk="1" hangingPunct="1"/>
            <a:r>
              <a:rPr dirty="0"/>
              <a:t>Denimo, da moramo dokazati zanesljivost v trenutku T in ne </a:t>
            </a:r>
            <a:r>
              <a:rPr dirty="0" err="1"/>
              <a:t>dopuščamo</a:t>
            </a:r>
            <a:r>
              <a:rPr dirty="0"/>
              <a:t> </a:t>
            </a:r>
            <a:r>
              <a:rPr dirty="0" err="1"/>
              <a:t>noben</a:t>
            </a:r>
            <a:r>
              <a:rPr lang="sl-SI" dirty="0"/>
              <a:t>ih</a:t>
            </a:r>
            <a:r>
              <a:rPr dirty="0"/>
              <a:t> odpovedi med testom. Določiti želimo število izdelkov za test. Ni nobenih domnev o </a:t>
            </a:r>
            <a:r>
              <a:rPr dirty="0" err="1"/>
              <a:t>funkciji</a:t>
            </a:r>
            <a:r>
              <a:rPr dirty="0"/>
              <a:t> </a:t>
            </a:r>
            <a:r>
              <a:rPr dirty="0" err="1"/>
              <a:t>porazdelitve</a:t>
            </a:r>
            <a:r>
              <a:rPr lang="sl-SI" dirty="0"/>
              <a:t>, kar </a:t>
            </a:r>
            <a:r>
              <a:rPr dirty="0" err="1"/>
              <a:t>pomeni</a:t>
            </a:r>
            <a:r>
              <a:rPr dirty="0"/>
              <a:t>, da nas zanima le </a:t>
            </a:r>
            <a:r>
              <a:rPr lang="sl-SI" dirty="0"/>
              <a:t>to, </a:t>
            </a:r>
            <a:r>
              <a:rPr dirty="0" err="1"/>
              <a:t>ali</a:t>
            </a:r>
            <a:r>
              <a:rPr dirty="0"/>
              <a:t> je izdelek odpovedal pred trenutkom T ali ne. </a:t>
            </a:r>
          </a:p>
          <a:p>
            <a:pPr eaLnBrk="1" hangingPunct="1"/>
            <a:endParaRPr lang="sl-SI" baseline="0" dirty="0"/>
          </a:p>
          <a:p>
            <a:pPr eaLnBrk="1" hangingPunct="1"/>
            <a:r>
              <a:rPr dirty="0"/>
              <a:t>Gre za dve (binarni) možnosti in zato uporabimo binomsko porazdelitev: verjetnost, da bo n izdelkov preživelo test, je [R(T)]</a:t>
            </a:r>
            <a:r>
              <a:rPr lang="en-GB" sz="1600" baseline="30000" noProof="0" dirty="0">
                <a:latin typeface="Arial" charset="0"/>
              </a:rPr>
              <a:t>n</a:t>
            </a:r>
            <a:r>
              <a:rPr dirty="0"/>
              <a:t>.</a:t>
            </a:r>
            <a:r>
              <a:rPr lang="en-GB" sz="1600" noProof="0" dirty="0">
                <a:latin typeface="Arial" charset="0"/>
              </a:rPr>
              <a:t> </a:t>
            </a:r>
            <a:endParaRPr lang="sl-SI" sz="1600" dirty="0"/>
          </a:p>
          <a:p>
            <a:pPr eaLnBrk="1" hangingPunct="1"/>
            <a:r>
              <a:rPr lang="en-GB" sz="1600" dirty="0"/>
              <a:t>Oglejmo si preprost primer na naslednjem diapozitivu.  </a:t>
            </a:r>
          </a:p>
          <a:p>
            <a:pPr eaLnBrk="1" hangingPunct="1"/>
            <a:endParaRPr lang="sl-SI" sz="1600" noProof="0" dirty="0">
              <a:latin typeface="Arial" charset="0"/>
              <a:cs typeface="Arial" charset="0"/>
            </a:endParaRPr>
          </a:p>
        </p:txBody>
      </p:sp>
    </p:spTree>
    <p:extLst>
      <p:ext uri="{BB962C8B-B14F-4D97-AF65-F5344CB8AC3E}">
        <p14:creationId xmlns:p14="http://schemas.microsoft.com/office/powerpoint/2010/main" val="15930167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p:cNvSpPr>
            <a:spLocks noGrp="1" noChangeArrowheads="1"/>
          </p:cNvSpPr>
          <p:nvPr>
            <p:ph type="sldNum" sz="quarter" idx="5"/>
          </p:nvPr>
        </p:nvSpPr>
        <p:spPr bwMode="auto">
          <a:xfrm>
            <a:off x="3884613" y="8685213"/>
            <a:ext cx="2971800" cy="457200"/>
          </a:xfrm>
          <a:prstGeom prst="rect">
            <a:avLst/>
          </a:prstGeom>
          <a:noFill/>
          <a:ln>
            <a:miter lim="800000"/>
            <a:headEnd/>
            <a:tailEnd/>
          </a:ln>
        </p:spPr>
        <p:txBody>
          <a:bodyPr wrap="square" numCol="1" anchorCtr="0" compatLnSpc="1">
            <a:prstTxWarp prst="textNoShape">
              <a:avLst/>
            </a:prstTxWarp>
          </a:bodyPr>
          <a:lstStyle/>
          <a:p>
            <a:fld id="{18BF9F7C-3C3A-450B-8A5A-3775EB06406E}" type="slidenum">
              <a:rPr lang="en-US" smtClean="0">
                <a:latin typeface="Arial" charset="0"/>
              </a:rPr>
              <a:pPr/>
              <a:t>19</a:t>
            </a:fld>
            <a:endParaRPr lang="sl-SI" dirty="0">
              <a:latin typeface="Arial" charset="0"/>
            </a:endParaRPr>
          </a:p>
        </p:txBody>
      </p:sp>
      <p:sp>
        <p:nvSpPr>
          <p:cNvPr id="9830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830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sl-SI" noProof="0" dirty="0"/>
          </a:p>
          <a:p>
            <a:pPr eaLnBrk="1" hangingPunct="1"/>
            <a:r>
              <a:rPr lang="en-GB" noProof="0" dirty="0"/>
              <a:t>Denimo, da želimo dovoliti verjetnost β, da bo izdelek uspešno opravil test, če je resnična zanesljivost R</a:t>
            </a:r>
            <a:r>
              <a:rPr lang="en-GB" baseline="-25000" noProof="0" dirty="0"/>
              <a:t>L</a:t>
            </a:r>
            <a:r>
              <a:rPr lang="en-GB" noProof="0" dirty="0"/>
              <a:t>. (R</a:t>
            </a:r>
            <a:r>
              <a:rPr lang="en-GB" baseline="-25000" noProof="0" dirty="0"/>
              <a:t>L</a:t>
            </a:r>
            <a:r>
              <a:rPr lang="en-GB" noProof="0" dirty="0"/>
              <a:t> je spodnja meja zaupanja za zanesljivost.) To pomeni, da je R</a:t>
            </a:r>
            <a:r>
              <a:rPr lang="en-GB" baseline="-25000" noProof="0" dirty="0"/>
              <a:t>L  </a:t>
            </a:r>
            <a:r>
              <a:rPr lang="en-GB" noProof="0" dirty="0"/>
              <a:t>na potenco n enako beta.</a:t>
            </a:r>
          </a:p>
          <a:p>
            <a:pPr eaLnBrk="1" hangingPunct="1"/>
            <a:endParaRPr lang="sl-SI" baseline="0" noProof="0" dirty="0"/>
          </a:p>
          <a:p>
            <a:pPr eaLnBrk="1" hangingPunct="1"/>
            <a:r>
              <a:rPr lang="en-GB" baseline="0" noProof="0" dirty="0"/>
              <a:t>Verjetnost, da test ne bo uspešno opravljen, je enaka (1-β). Višja kot je resnična zanesljivost, večja je verjetnost, da bo test opravljen. Vrednost (1-β) = C imenujemo zaupanje testa.</a:t>
            </a:r>
          </a:p>
          <a:p>
            <a:pPr eaLnBrk="1" hangingPunct="1"/>
            <a:endParaRPr lang="sl-SI" baseline="0" noProof="0" dirty="0"/>
          </a:p>
          <a:p>
            <a:pPr eaLnBrk="1" hangingPunct="1"/>
            <a:r>
              <a:rPr lang="en-GB" baseline="0" noProof="0" dirty="0"/>
              <a:t>S pomočjo formule </a:t>
            </a:r>
            <a:r>
              <a:rPr lang="en-GB" baseline="0" noProof="0"/>
              <a:t>za opravljen</a:t>
            </a:r>
            <a:r>
              <a:rPr lang="sl-SI" baseline="0" noProof="0"/>
              <a:t>i</a:t>
            </a:r>
            <a:r>
              <a:rPr lang="en-GB" baseline="0" noProof="0"/>
              <a:t> </a:t>
            </a:r>
            <a:r>
              <a:rPr lang="en-GB" baseline="0" noProof="0" dirty="0"/>
              <a:t>test [R</a:t>
            </a:r>
            <a:r>
              <a:rPr lang="en-GB" baseline="-25000" noProof="0" dirty="0"/>
              <a:t>L</a:t>
            </a:r>
            <a:r>
              <a:rPr lang="en-GB" baseline="0" noProof="0" dirty="0"/>
              <a:t>]</a:t>
            </a:r>
            <a:r>
              <a:rPr lang="en-GB" baseline="30000" noProof="0" dirty="0"/>
              <a:t>n</a:t>
            </a:r>
            <a:r>
              <a:rPr lang="en-GB" baseline="0" noProof="0" dirty="0"/>
              <a:t> = 1-C = β lahko izračunamo potrebno število izdelkov. </a:t>
            </a:r>
            <a:r>
              <a:rPr dirty="0"/>
              <a:t>Velikost vzorca n je enaka kvocientu naravnega logaritma beta in naravnega logaritma R</a:t>
            </a:r>
            <a:r>
              <a:rPr baseline="-25000" dirty="0"/>
              <a:t>L</a:t>
            </a:r>
            <a:r>
              <a:rPr dirty="0"/>
              <a:t>.</a:t>
            </a:r>
            <a:r>
              <a:rPr lang="en-GB" baseline="0" noProof="0" dirty="0"/>
              <a:t> Velikost vzorca je tako približno 300.</a:t>
            </a:r>
            <a:endParaRPr lang="sl-SI" noProof="0" dirty="0"/>
          </a:p>
        </p:txBody>
      </p:sp>
    </p:spTree>
    <p:extLst>
      <p:ext uri="{BB962C8B-B14F-4D97-AF65-F5344CB8AC3E}">
        <p14:creationId xmlns:p14="http://schemas.microsoft.com/office/powerpoint/2010/main" val="14515497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p:cNvSpPr>
            <a:spLocks noGrp="1" noChangeArrowheads="1"/>
          </p:cNvSpPr>
          <p:nvPr>
            <p:ph type="sldNum" sz="quarter" idx="5"/>
          </p:nvPr>
        </p:nvSpPr>
        <p:spPr bwMode="auto">
          <a:xfrm>
            <a:off x="3884613" y="8685213"/>
            <a:ext cx="2971800" cy="457200"/>
          </a:xfrm>
          <a:prstGeom prst="rect">
            <a:avLst/>
          </a:prstGeom>
          <a:noFill/>
          <a:ln>
            <a:miter lim="800000"/>
            <a:headEnd/>
            <a:tailEnd/>
          </a:ln>
        </p:spPr>
        <p:txBody>
          <a:bodyPr wrap="square" numCol="1" anchorCtr="0" compatLnSpc="1">
            <a:prstTxWarp prst="textNoShape">
              <a:avLst/>
            </a:prstTxWarp>
          </a:bodyPr>
          <a:lstStyle/>
          <a:p>
            <a:fld id="{58A3AAF6-F233-423A-A8EF-ED733306FE91}" type="slidenum">
              <a:rPr lang="en-US" smtClean="0">
                <a:latin typeface="Arial" charset="0"/>
              </a:rPr>
              <a:pPr/>
              <a:t>20</a:t>
            </a:fld>
            <a:endParaRPr lang="sl-SI" dirty="0">
              <a:latin typeface="Arial" charset="0"/>
            </a:endParaRPr>
          </a:p>
        </p:txBody>
      </p:sp>
      <p:sp>
        <p:nvSpPr>
          <p:cNvPr id="12595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595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r>
              <a:rPr lang="en-GB" noProof="0" dirty="0"/>
              <a:t>Eksponentna porazdelitev je najenostavnejša funkcija zanesljivosti, kjer je h(t)=λ in H(t)=λt.</a:t>
            </a:r>
          </a:p>
          <a:p>
            <a:pPr eaLnBrk="1" hangingPunct="1"/>
            <a:r>
              <a:rPr lang="en-GB" noProof="0" dirty="0"/>
              <a:t>Ta funkcija zanesljivosti ima konstantno pogostost odpovedi in se pogosto uporablja takrat, ko ni znana realna funkcija porazdelitve.</a:t>
            </a:r>
          </a:p>
          <a:p>
            <a:pPr eaLnBrk="1" hangingPunct="1"/>
            <a:endParaRPr lang="sl-SI" baseline="0" noProof="0" dirty="0"/>
          </a:p>
          <a:p>
            <a:pPr eaLnBrk="1" hangingPunct="1"/>
            <a:r>
              <a:rPr lang="en-GB" baseline="0" noProof="0" dirty="0"/>
              <a:t>1 deljeno z lambda je merilo eksponentne porazdelitve.</a:t>
            </a:r>
          </a:p>
          <a:p>
            <a:pPr eaLnBrk="1" hangingPunct="1"/>
            <a:endParaRPr lang="sl-SI" noProof="0" dirty="0"/>
          </a:p>
        </p:txBody>
      </p:sp>
    </p:spTree>
    <p:extLst>
      <p:ext uri="{BB962C8B-B14F-4D97-AF65-F5344CB8AC3E}">
        <p14:creationId xmlns:p14="http://schemas.microsoft.com/office/powerpoint/2010/main" val="39858988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7"/>
          <p:cNvSpPr>
            <a:spLocks noGrp="1" noChangeArrowheads="1"/>
          </p:cNvSpPr>
          <p:nvPr>
            <p:ph type="sldNum" sz="quarter" idx="5"/>
          </p:nvPr>
        </p:nvSpPr>
        <p:spPr bwMode="auto">
          <a:xfrm>
            <a:off x="3884613" y="8685213"/>
            <a:ext cx="2971800" cy="457200"/>
          </a:xfrm>
          <a:prstGeom prst="rect">
            <a:avLst/>
          </a:prstGeom>
          <a:noFill/>
          <a:ln>
            <a:miter lim="800000"/>
            <a:headEnd/>
            <a:tailEnd/>
          </a:ln>
        </p:spPr>
        <p:txBody>
          <a:bodyPr wrap="square" numCol="1" anchorCtr="0" compatLnSpc="1">
            <a:prstTxWarp prst="textNoShape">
              <a:avLst/>
            </a:prstTxWarp>
          </a:bodyPr>
          <a:lstStyle/>
          <a:p>
            <a:fld id="{24DC84EE-E1F8-4679-B25E-E46A8151D8A8}" type="slidenum">
              <a:rPr lang="en-US" smtClean="0">
                <a:latin typeface="Arial" charset="0"/>
              </a:rPr>
              <a:pPr/>
              <a:t>21</a:t>
            </a:fld>
            <a:endParaRPr lang="sl-SI" dirty="0">
              <a:latin typeface="Arial" charset="0"/>
            </a:endParaRPr>
          </a:p>
        </p:txBody>
      </p:sp>
      <p:sp>
        <p:nvSpPr>
          <p:cNvPr id="13926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3926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r>
              <a:rPr lang="en-GB" sz="1200" dirty="0"/>
              <a:t>Weibullova porazdelitev je posplošena eksponentna porazdelitev. Je </a:t>
            </a:r>
            <a:r>
              <a:rPr lang="en-GB" sz="1200" dirty="0" err="1"/>
              <a:t>zelo</a:t>
            </a:r>
            <a:r>
              <a:rPr lang="en-GB" sz="1200" dirty="0"/>
              <a:t> </a:t>
            </a:r>
            <a:r>
              <a:rPr lang="en-GB" sz="1200" dirty="0" err="1"/>
              <a:t>vsestranska</a:t>
            </a:r>
            <a:r>
              <a:rPr lang="sl-SI" sz="1200" dirty="0"/>
              <a:t> in se</a:t>
            </a:r>
            <a:r>
              <a:rPr lang="en-GB" sz="1200" dirty="0"/>
              <a:t> </a:t>
            </a:r>
            <a:r>
              <a:rPr lang="sl-SI" sz="1200" dirty="0"/>
              <a:t>l</a:t>
            </a:r>
            <a:r>
              <a:rPr lang="en-GB" sz="1200" dirty="0" err="1"/>
              <a:t>ahko</a:t>
            </a:r>
            <a:r>
              <a:rPr lang="en-GB" sz="1200" dirty="0"/>
              <a:t> </a:t>
            </a:r>
            <a:r>
              <a:rPr lang="en-GB" sz="1200" dirty="0" err="1"/>
              <a:t>uporabi</a:t>
            </a:r>
            <a:r>
              <a:rPr lang="en-GB" sz="1200" dirty="0"/>
              <a:t> za opis padajočih, konstantnih ali naraščajočih </a:t>
            </a:r>
            <a:r>
              <a:rPr lang="en-GB" sz="1200" dirty="0" err="1"/>
              <a:t>pogostosti</a:t>
            </a:r>
            <a:r>
              <a:rPr lang="en-GB" sz="1200" dirty="0"/>
              <a:t> </a:t>
            </a:r>
            <a:r>
              <a:rPr lang="en-GB" sz="1200" dirty="0" err="1"/>
              <a:t>odpovedi</a:t>
            </a:r>
            <a:r>
              <a:rPr lang="sl-SI" sz="1200" dirty="0"/>
              <a:t>,</a:t>
            </a:r>
            <a:r>
              <a:rPr lang="en-GB" sz="1200" dirty="0"/>
              <a:t> oz. za levi, srednji in desni del krivulje kopalne kadi.</a:t>
            </a:r>
          </a:p>
          <a:p>
            <a:pPr eaLnBrk="1" hangingPunct="1"/>
            <a:endParaRPr lang="sl-SI" sz="1200" baseline="0" dirty="0"/>
          </a:p>
          <a:p>
            <a:pPr eaLnBrk="1" hangingPunct="1"/>
            <a:r>
              <a:rPr lang="en-GB" sz="1200" baseline="0" dirty="0"/>
              <a:t>Alfa predstavlja merilo, beta pa obliko porazdelitve. Ko je beta enako 1, dobimo eksponentno porazdelitev.</a:t>
            </a:r>
          </a:p>
          <a:p>
            <a:pPr eaLnBrk="1" hangingPunct="1"/>
            <a:endParaRPr lang="sl-SI" dirty="0"/>
          </a:p>
        </p:txBody>
      </p:sp>
    </p:spTree>
    <p:extLst>
      <p:ext uri="{BB962C8B-B14F-4D97-AF65-F5344CB8AC3E}">
        <p14:creationId xmlns:p14="http://schemas.microsoft.com/office/powerpoint/2010/main" val="6370966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p:cNvSpPr>
            <a:spLocks noGrp="1" noChangeArrowheads="1"/>
          </p:cNvSpPr>
          <p:nvPr>
            <p:ph type="sldNum" sz="quarter" idx="5"/>
          </p:nvPr>
        </p:nvSpPr>
        <p:spPr bwMode="auto">
          <a:xfrm>
            <a:off x="3884613" y="8685213"/>
            <a:ext cx="2971800" cy="457200"/>
          </a:xfrm>
          <a:prstGeom prst="rect">
            <a:avLst/>
          </a:prstGeom>
          <a:noFill/>
          <a:ln>
            <a:miter lim="800000"/>
            <a:headEnd/>
            <a:tailEnd/>
          </a:ln>
        </p:spPr>
        <p:txBody>
          <a:bodyPr wrap="square" numCol="1" anchorCtr="0" compatLnSpc="1">
            <a:prstTxWarp prst="textNoShape">
              <a:avLst/>
            </a:prstTxWarp>
          </a:bodyPr>
          <a:lstStyle/>
          <a:p>
            <a:fld id="{5E33F1D3-5D62-472B-A58D-7E8E10068B78}" type="slidenum">
              <a:rPr lang="en-US" smtClean="0">
                <a:latin typeface="Arial" charset="0"/>
              </a:rPr>
              <a:pPr/>
              <a:t>22</a:t>
            </a:fld>
            <a:endParaRPr lang="sl-SI" dirty="0">
              <a:latin typeface="Arial" charset="0"/>
            </a:endParaRPr>
          </a:p>
        </p:txBody>
      </p:sp>
      <p:sp>
        <p:nvSpPr>
          <p:cNvPr id="14131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131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r>
              <a:rPr dirty="0"/>
              <a:t>Na grafikonu je izrisanih nekaj krivulj pogostosti odpovedi.</a:t>
            </a:r>
          </a:p>
          <a:p>
            <a:pPr eaLnBrk="1" hangingPunct="1"/>
            <a:endParaRPr lang="sl-SI" dirty="0"/>
          </a:p>
          <a:p>
            <a:pPr eaLnBrk="1" hangingPunct="1"/>
            <a:r>
              <a:rPr dirty="0"/>
              <a:t>Pri beta &lt; 1 se pogostost odpovedi zmanjšuje</a:t>
            </a:r>
          </a:p>
          <a:p>
            <a:pPr eaLnBrk="1" hangingPunct="1"/>
            <a:r>
              <a:rPr dirty="0"/>
              <a:t>Pri beta = 1 je konstanta</a:t>
            </a:r>
          </a:p>
          <a:p>
            <a:pPr eaLnBrk="1" hangingPunct="1"/>
            <a:r>
              <a:rPr dirty="0"/>
              <a:t>Pri beta = 2 se linearno povečuje </a:t>
            </a:r>
          </a:p>
          <a:p>
            <a:pPr eaLnBrk="1" hangingPunct="1"/>
            <a:r>
              <a:rPr dirty="0"/>
              <a:t>Pri beta &gt; 2 se </a:t>
            </a:r>
            <a:r>
              <a:rPr dirty="0" err="1"/>
              <a:t>eksponencialno</a:t>
            </a:r>
            <a:r>
              <a:rPr lang="sl-SI" baseline="0" dirty="0"/>
              <a:t> </a:t>
            </a:r>
            <a:r>
              <a:rPr lang="sl-SI" dirty="0"/>
              <a:t>povečuje </a:t>
            </a:r>
            <a:endParaRPr dirty="0"/>
          </a:p>
          <a:p>
            <a:pPr eaLnBrk="1" hangingPunct="1"/>
            <a:endParaRPr lang="sl-SI" baseline="0" dirty="0"/>
          </a:p>
          <a:p>
            <a:pPr eaLnBrk="1" hangingPunct="1"/>
            <a:r>
              <a:rPr dirty="0"/>
              <a:t>Z Weibullovo porazdelitvijo lahko torej modeliramo vrsto vedenj pri odpovedi.</a:t>
            </a:r>
            <a:endParaRPr lang="sl-SI" dirty="0"/>
          </a:p>
        </p:txBody>
      </p:sp>
    </p:spTree>
    <p:extLst>
      <p:ext uri="{BB962C8B-B14F-4D97-AF65-F5344CB8AC3E}">
        <p14:creationId xmlns:p14="http://schemas.microsoft.com/office/powerpoint/2010/main" val="32881865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7"/>
          <p:cNvSpPr>
            <a:spLocks noGrp="1" noChangeArrowheads="1"/>
          </p:cNvSpPr>
          <p:nvPr>
            <p:ph type="sldNum" sz="quarter" idx="5"/>
          </p:nvPr>
        </p:nvSpPr>
        <p:spPr bwMode="auto">
          <a:xfrm>
            <a:off x="3884613" y="8685213"/>
            <a:ext cx="2971800" cy="457200"/>
          </a:xfrm>
          <a:prstGeom prst="rect">
            <a:avLst/>
          </a:prstGeom>
          <a:noFill/>
          <a:ln>
            <a:miter lim="800000"/>
            <a:headEnd/>
            <a:tailEnd/>
          </a:ln>
        </p:spPr>
        <p:txBody>
          <a:bodyPr wrap="square" numCol="1" anchorCtr="0" compatLnSpc="1">
            <a:prstTxWarp prst="textNoShape">
              <a:avLst/>
            </a:prstTxWarp>
          </a:bodyPr>
          <a:lstStyle/>
          <a:p>
            <a:fld id="{A7A7459B-25DF-481B-B172-DB5D3D1511C4}" type="slidenum">
              <a:rPr lang="en-US" smtClean="0">
                <a:latin typeface="Arial" charset="0"/>
              </a:rPr>
              <a:pPr/>
              <a:t>23</a:t>
            </a:fld>
            <a:endParaRPr lang="sl-SI" dirty="0">
              <a:latin typeface="Arial" charset="0"/>
            </a:endParaRPr>
          </a:p>
        </p:txBody>
      </p:sp>
      <p:sp>
        <p:nvSpPr>
          <p:cNvPr id="15769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5769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r>
              <a:rPr dirty="0"/>
              <a:t>Če bi testi v navadnih pogojih trajali predolgo, jih lahko pogosto pospešimo s povečanjem temperature, tlaka ali drugih obremenitev. </a:t>
            </a:r>
            <a:r>
              <a:rPr dirty="0" err="1"/>
              <a:t>Namen</a:t>
            </a:r>
            <a:r>
              <a:rPr dirty="0"/>
              <a:t> </a:t>
            </a:r>
            <a:r>
              <a:rPr lang="sl-SI" dirty="0"/>
              <a:t>tega </a:t>
            </a:r>
            <a:r>
              <a:rPr dirty="0"/>
              <a:t>je </a:t>
            </a:r>
            <a:r>
              <a:rPr lang="sl-SI" dirty="0"/>
              <a:t>zgolj </a:t>
            </a:r>
            <a:r>
              <a:rPr dirty="0" err="1"/>
              <a:t>pospešitev</a:t>
            </a:r>
            <a:r>
              <a:rPr dirty="0"/>
              <a:t> procesa odpovedi, ne aktiviranje drugih mehanizmov </a:t>
            </a:r>
            <a:r>
              <a:rPr dirty="0" err="1"/>
              <a:t>odpovedi</a:t>
            </a:r>
            <a:r>
              <a:rPr dirty="0"/>
              <a:t>.</a:t>
            </a:r>
            <a:endParaRPr lang="sl-SI" dirty="0"/>
          </a:p>
        </p:txBody>
      </p:sp>
    </p:spTree>
    <p:extLst>
      <p:ext uri="{BB962C8B-B14F-4D97-AF65-F5344CB8AC3E}">
        <p14:creationId xmlns:p14="http://schemas.microsoft.com/office/powerpoint/2010/main" val="23103137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3000" y="685800"/>
            <a:ext cx="4572000" cy="3429000"/>
          </a:xfrm>
          <a:prstGeom prst="rect">
            <a:avLst/>
          </a:prstGeom>
        </p:spPr>
      </p:sp>
      <p:sp>
        <p:nvSpPr>
          <p:cNvPr id="3" name="Espace réservé des commentaires 2"/>
          <p:cNvSpPr>
            <a:spLocks noGrp="1"/>
          </p:cNvSpPr>
          <p:nvPr>
            <p:ph type="body" idx="1"/>
          </p:nvPr>
        </p:nvSpPr>
        <p:spPr>
          <a:xfrm>
            <a:off x="685800" y="4343400"/>
            <a:ext cx="5486400" cy="4114800"/>
          </a:xfrm>
          <a:prstGeom prst="rect">
            <a:avLst/>
          </a:prstGeom>
        </p:spPr>
        <p:txBody>
          <a:bodyPr>
            <a:normAutofit/>
          </a:bodyPr>
          <a:lstStyle/>
          <a:p>
            <a:endParaRPr lang="fr-FR" dirty="0"/>
          </a:p>
        </p:txBody>
      </p:sp>
    </p:spTree>
    <p:extLst>
      <p:ext uri="{BB962C8B-B14F-4D97-AF65-F5344CB8AC3E}">
        <p14:creationId xmlns:p14="http://schemas.microsoft.com/office/powerpoint/2010/main" val="39925780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09638" y="431800"/>
            <a:ext cx="5038725" cy="3779838"/>
          </a:xfrm>
        </p:spPr>
      </p:sp>
      <p:sp>
        <p:nvSpPr>
          <p:cNvPr id="3" name="Notizenplatzhalter 2"/>
          <p:cNvSpPr>
            <a:spLocks noGrp="1"/>
          </p:cNvSpPr>
          <p:nvPr>
            <p:ph type="body" idx="1"/>
          </p:nvPr>
        </p:nvSpPr>
        <p:spPr/>
        <p:txBody>
          <a:bodyPr>
            <a:normAutofit fontScale="92500" lnSpcReduction="20000"/>
          </a:bodyPr>
          <a:lstStyle/>
          <a:p>
            <a:pPr>
              <a:spcBef>
                <a:spcPts val="0"/>
              </a:spcBef>
            </a:pPr>
            <a:r>
              <a:rPr lang="fr-FR" sz="1200" dirty="0">
                <a:latin typeface="Arial" pitchFamily="34" charset="0"/>
              </a:rPr>
              <a:t>To </a:t>
            </a:r>
            <a:r>
              <a:rPr lang="fr-FR" sz="1200" dirty="0" err="1">
                <a:latin typeface="Arial" pitchFamily="34" charset="0"/>
              </a:rPr>
              <a:t>učno</a:t>
            </a:r>
            <a:r>
              <a:rPr lang="fr-FR" sz="1200" dirty="0">
                <a:latin typeface="Arial" pitchFamily="34" charset="0"/>
              </a:rPr>
              <a:t> </a:t>
            </a:r>
            <a:r>
              <a:rPr lang="fr-FR" sz="1200" dirty="0" err="1">
                <a:latin typeface="Arial" pitchFamily="34" charset="0"/>
              </a:rPr>
              <a:t>gradivo</a:t>
            </a:r>
            <a:r>
              <a:rPr lang="fr-FR" sz="1200" dirty="0">
                <a:latin typeface="Arial" pitchFamily="34" charset="0"/>
              </a:rPr>
              <a:t> je </a:t>
            </a:r>
            <a:r>
              <a:rPr lang="fr-FR" sz="1200" dirty="0" err="1">
                <a:latin typeface="Arial" pitchFamily="34" charset="0"/>
              </a:rPr>
              <a:t>bilo</a:t>
            </a:r>
            <a:r>
              <a:rPr lang="fr-FR" sz="1200" dirty="0">
                <a:latin typeface="Arial" pitchFamily="34" charset="0"/>
              </a:rPr>
              <a:t> </a:t>
            </a:r>
            <a:r>
              <a:rPr lang="fr-FR" sz="1200" dirty="0" err="1">
                <a:latin typeface="Arial" pitchFamily="34" charset="0"/>
              </a:rPr>
              <a:t>certificirano</a:t>
            </a:r>
            <a:r>
              <a:rPr lang="fr-FR" sz="1200" dirty="0">
                <a:latin typeface="Arial" pitchFamily="34" charset="0"/>
              </a:rPr>
              <a:t> v </a:t>
            </a:r>
            <a:r>
              <a:rPr lang="fr-FR" sz="1200" dirty="0" err="1">
                <a:latin typeface="Arial" pitchFamily="34" charset="0"/>
              </a:rPr>
              <a:t>skladu</a:t>
            </a:r>
            <a:r>
              <a:rPr lang="fr-FR" sz="1200" dirty="0">
                <a:latin typeface="Arial" pitchFamily="34" charset="0"/>
              </a:rPr>
              <a:t> s </a:t>
            </a:r>
            <a:r>
              <a:rPr lang="fr-FR" sz="1200" dirty="0" err="1">
                <a:latin typeface="Arial" pitchFamily="34" charset="0"/>
              </a:rPr>
              <a:t>pravili</a:t>
            </a:r>
            <a:r>
              <a:rPr lang="fr-FR" sz="1200" dirty="0">
                <a:latin typeface="Arial" pitchFamily="34" charset="0"/>
              </a:rPr>
              <a:t> </a:t>
            </a:r>
            <a:r>
              <a:rPr lang="fr-FR" sz="1200" b="1" dirty="0">
                <a:latin typeface="Arial" pitchFamily="34" charset="0"/>
              </a:rPr>
              <a:t>ECQA – </a:t>
            </a:r>
            <a:r>
              <a:rPr lang="fr-FR" sz="1200" b="1" dirty="0" err="1">
                <a:latin typeface="Arial" pitchFamily="34" charset="0"/>
              </a:rPr>
              <a:t>Evropskega</a:t>
            </a:r>
            <a:r>
              <a:rPr lang="fr-FR" sz="1200" b="1" dirty="0">
                <a:latin typeface="Arial" pitchFamily="34" charset="0"/>
              </a:rPr>
              <a:t> </a:t>
            </a:r>
            <a:r>
              <a:rPr lang="fr-FR" sz="1200" b="1" dirty="0" err="1">
                <a:latin typeface="Arial" pitchFamily="34" charset="0"/>
              </a:rPr>
              <a:t>združenja</a:t>
            </a:r>
            <a:r>
              <a:rPr lang="fr-FR" sz="1200" b="1" dirty="0">
                <a:latin typeface="Arial" pitchFamily="34" charset="0"/>
              </a:rPr>
              <a:t> </a:t>
            </a:r>
            <a:r>
              <a:rPr lang="fr-FR" sz="1200" b="1" dirty="0" err="1">
                <a:latin typeface="Arial" pitchFamily="34" charset="0"/>
              </a:rPr>
              <a:t>za</a:t>
            </a:r>
            <a:r>
              <a:rPr lang="fr-FR" sz="1200" b="1" dirty="0">
                <a:latin typeface="Arial" pitchFamily="34" charset="0"/>
              </a:rPr>
              <a:t> </a:t>
            </a:r>
            <a:r>
              <a:rPr lang="fr-FR" sz="1200" b="1" dirty="0" err="1">
                <a:latin typeface="Arial" pitchFamily="34" charset="0"/>
              </a:rPr>
              <a:t>certificiranje</a:t>
            </a:r>
            <a:r>
              <a:rPr lang="fr-FR" sz="1200" b="1" dirty="0">
                <a:latin typeface="Arial" pitchFamily="34" charset="0"/>
              </a:rPr>
              <a:t> in </a:t>
            </a:r>
            <a:r>
              <a:rPr lang="fr-FR" sz="1200" b="1" dirty="0" err="1">
                <a:latin typeface="Arial" pitchFamily="34" charset="0"/>
              </a:rPr>
              <a:t>kvalificiranje</a:t>
            </a:r>
            <a:r>
              <a:rPr lang="fr-FR" sz="1200" dirty="0">
                <a:latin typeface="Arial" pitchFamily="34" charset="0"/>
              </a:rPr>
              <a:t>.</a:t>
            </a:r>
          </a:p>
          <a:p>
            <a:pPr>
              <a:spcBef>
                <a:spcPts val="0"/>
              </a:spcBef>
            </a:pPr>
            <a:endParaRPr lang="fr-FR" sz="1200" b="1" dirty="0">
              <a:latin typeface="Arial" pitchFamily="34" charset="0"/>
              <a:cs typeface="Arial" pitchFamily="34" charset="0"/>
            </a:endParaRPr>
          </a:p>
          <a:p>
            <a:pPr>
              <a:spcBef>
                <a:spcPts val="0"/>
              </a:spcBef>
            </a:pPr>
            <a:r>
              <a:rPr lang="fr-FR" sz="1200" dirty="0" err="1">
                <a:latin typeface="Arial" pitchFamily="34" charset="0"/>
              </a:rPr>
              <a:t>Učno</a:t>
            </a:r>
            <a:r>
              <a:rPr lang="fr-FR" sz="1200" dirty="0">
                <a:latin typeface="Arial" pitchFamily="34" charset="0"/>
              </a:rPr>
              <a:t> </a:t>
            </a:r>
            <a:r>
              <a:rPr lang="fr-FR" sz="1200" dirty="0" err="1">
                <a:latin typeface="Arial" pitchFamily="34" charset="0"/>
              </a:rPr>
              <a:t>gradivo</a:t>
            </a:r>
            <a:r>
              <a:rPr lang="fr-FR" sz="1200" dirty="0">
                <a:latin typeface="Arial" pitchFamily="34" charset="0"/>
              </a:rPr>
              <a:t> je </a:t>
            </a:r>
            <a:r>
              <a:rPr lang="fr-FR" sz="1200" dirty="0" err="1">
                <a:latin typeface="Arial" pitchFamily="34" charset="0"/>
              </a:rPr>
              <a:t>bilo</a:t>
            </a:r>
            <a:r>
              <a:rPr lang="fr-FR" sz="1200" dirty="0">
                <a:latin typeface="Arial" pitchFamily="34" charset="0"/>
              </a:rPr>
              <a:t> </a:t>
            </a:r>
            <a:r>
              <a:rPr lang="fr-FR" sz="1200" dirty="0" err="1">
                <a:latin typeface="Arial" pitchFamily="34" charset="0"/>
              </a:rPr>
              <a:t>usklajeno</a:t>
            </a:r>
            <a:r>
              <a:rPr lang="fr-FR" sz="1200" dirty="0">
                <a:latin typeface="Arial" pitchFamily="34" charset="0"/>
              </a:rPr>
              <a:t> </a:t>
            </a:r>
            <a:r>
              <a:rPr lang="fr-FR" sz="1200" dirty="0" err="1">
                <a:latin typeface="Arial" pitchFamily="34" charset="0"/>
              </a:rPr>
              <a:t>med</a:t>
            </a:r>
            <a:r>
              <a:rPr lang="fr-FR" sz="1200" dirty="0">
                <a:latin typeface="Arial" pitchFamily="34" charset="0"/>
              </a:rPr>
              <a:t> </a:t>
            </a:r>
            <a:r>
              <a:rPr lang="fr-FR" sz="1200" dirty="0" err="1">
                <a:latin typeface="Arial" pitchFamily="34" charset="0"/>
              </a:rPr>
              <a:t>univerzami</a:t>
            </a:r>
            <a:r>
              <a:rPr lang="fr-FR" sz="1200" dirty="0">
                <a:latin typeface="Arial" pitchFamily="34" charset="0"/>
              </a:rPr>
              <a:t> in  </a:t>
            </a:r>
            <a:r>
              <a:rPr lang="fr-FR" sz="1200" dirty="0" err="1">
                <a:latin typeface="Arial" pitchFamily="34" charset="0"/>
              </a:rPr>
              <a:t>industrijo</a:t>
            </a:r>
            <a:r>
              <a:rPr lang="fr-FR" sz="1200" dirty="0">
                <a:latin typeface="Arial" pitchFamily="34" charset="0"/>
              </a:rPr>
              <a:t> v </a:t>
            </a:r>
            <a:r>
              <a:rPr lang="fr-FR" sz="1200" dirty="0" err="1">
                <a:latin typeface="Arial" pitchFamily="34" charset="0"/>
              </a:rPr>
              <a:t>okviru</a:t>
            </a:r>
            <a:r>
              <a:rPr lang="fr-FR" sz="1200" dirty="0">
                <a:latin typeface="Arial" pitchFamily="34" charset="0"/>
              </a:rPr>
              <a:t> </a:t>
            </a:r>
            <a:r>
              <a:rPr lang="fr-FR" sz="1200" dirty="0" err="1">
                <a:latin typeface="Arial" pitchFamily="34" charset="0"/>
              </a:rPr>
              <a:t>mednarodnega</a:t>
            </a:r>
            <a:r>
              <a:rPr lang="fr-FR" sz="1200" baseline="0" dirty="0">
                <a:latin typeface="Arial" pitchFamily="34" charset="0"/>
              </a:rPr>
              <a:t> </a:t>
            </a:r>
            <a:r>
              <a:rPr lang="fr-FR" sz="1200" baseline="0" dirty="0" err="1">
                <a:latin typeface="Arial" pitchFamily="34" charset="0"/>
              </a:rPr>
              <a:t>konzorcija</a:t>
            </a:r>
            <a:r>
              <a:rPr lang="fr-FR" sz="1200" baseline="0" dirty="0">
                <a:latin typeface="Arial" pitchFamily="34" charset="0"/>
              </a:rPr>
              <a:t> </a:t>
            </a:r>
            <a:r>
              <a:rPr lang="fr-FR" sz="1200" baseline="0" dirty="0" err="1">
                <a:latin typeface="Arial" pitchFamily="34" charset="0"/>
              </a:rPr>
              <a:t>projekta</a:t>
            </a:r>
            <a:r>
              <a:rPr lang="fr-FR" sz="1200" baseline="0" dirty="0">
                <a:latin typeface="Arial" pitchFamily="34" charset="0"/>
              </a:rPr>
              <a:t> </a:t>
            </a:r>
            <a:br>
              <a:rPr lang="fr-FR" dirty="0"/>
            </a:br>
            <a:r>
              <a:rPr lang="fr-FR" sz="1200" b="1" dirty="0">
                <a:latin typeface="Arial" pitchFamily="34" charset="0"/>
              </a:rPr>
              <a:t>“</a:t>
            </a:r>
            <a:r>
              <a:rPr lang="fr-FR" sz="1200" b="1" dirty="0">
                <a:solidFill>
                  <a:srgbClr val="000099"/>
                </a:solidFill>
                <a:latin typeface="Tw Cen MT" pitchFamily="34" charset="0"/>
              </a:rPr>
              <a:t>Automotive </a:t>
            </a:r>
            <a:r>
              <a:rPr lang="fr-FR" sz="1200" b="1" dirty="0" err="1">
                <a:solidFill>
                  <a:srgbClr val="000099"/>
                </a:solidFill>
                <a:latin typeface="Tw Cen MT" pitchFamily="34" charset="0"/>
              </a:rPr>
              <a:t>Quality</a:t>
            </a:r>
            <a:r>
              <a:rPr lang="fr-FR" sz="1200" b="1" dirty="0">
                <a:solidFill>
                  <a:srgbClr val="000099"/>
                </a:solidFill>
                <a:latin typeface="Tw Cen MT" pitchFamily="34" charset="0"/>
              </a:rPr>
              <a:t> </a:t>
            </a:r>
            <a:r>
              <a:rPr lang="fr-FR" sz="1200" b="1" dirty="0" err="1">
                <a:solidFill>
                  <a:srgbClr val="000099"/>
                </a:solidFill>
                <a:latin typeface="Tw Cen MT" pitchFamily="34" charset="0"/>
              </a:rPr>
              <a:t>Universities</a:t>
            </a:r>
            <a:r>
              <a:rPr lang="fr-FR" sz="1200" b="1" dirty="0">
                <a:solidFill>
                  <a:srgbClr val="000099"/>
                </a:solidFill>
                <a:latin typeface="Tw Cen MT" pitchFamily="34" charset="0"/>
              </a:rPr>
              <a:t> – </a:t>
            </a:r>
            <a:r>
              <a:rPr lang="fr-FR" sz="1200" b="1" dirty="0" err="1">
                <a:solidFill>
                  <a:srgbClr val="000099"/>
                </a:solidFill>
                <a:latin typeface="Tw Cen MT" pitchFamily="34" charset="0"/>
              </a:rPr>
              <a:t>AutoUniverse</a:t>
            </a:r>
            <a:r>
              <a:rPr lang="fr-FR" sz="1200" b="1" dirty="0">
                <a:solidFill>
                  <a:srgbClr val="000099"/>
                </a:solidFill>
                <a:latin typeface="Tw Cen MT" pitchFamily="34" charset="0"/>
              </a:rPr>
              <a:t> (AQU)</a:t>
            </a:r>
            <a:r>
              <a:rPr lang="fr-FR" sz="1200" b="1" dirty="0">
                <a:latin typeface="Arial" pitchFamily="34" charset="0"/>
              </a:rPr>
              <a:t>”:</a:t>
            </a:r>
          </a:p>
          <a:p>
            <a:pPr>
              <a:spcBef>
                <a:spcPts val="0"/>
              </a:spcBef>
            </a:pPr>
            <a:endParaRPr lang="fr-FR" sz="1200" dirty="0">
              <a:latin typeface="Arial" pitchFamily="34" charset="0"/>
              <a:cs typeface="Arial" pitchFamily="34" charset="0"/>
            </a:endParaRPr>
          </a:p>
          <a:p>
            <a:pPr>
              <a:spcBef>
                <a:spcPts val="0"/>
              </a:spcBef>
            </a:pPr>
            <a:r>
              <a:rPr lang="fr-FR" sz="1200" b="1" dirty="0">
                <a:latin typeface="Arial" pitchFamily="34" charset="0"/>
                <a:cs typeface="Arial" pitchFamily="34" charset="0"/>
              </a:rPr>
              <a:t>VSB – </a:t>
            </a:r>
            <a:r>
              <a:rPr lang="fr-FR" sz="1200" b="1" dirty="0" err="1">
                <a:latin typeface="Arial" pitchFamily="34" charset="0"/>
                <a:cs typeface="Arial" pitchFamily="34" charset="0"/>
              </a:rPr>
              <a:t>Technical</a:t>
            </a:r>
            <a:r>
              <a:rPr lang="fr-FR" sz="1200" b="1" dirty="0">
                <a:latin typeface="Arial" pitchFamily="34" charset="0"/>
                <a:cs typeface="Arial" pitchFamily="34" charset="0"/>
              </a:rPr>
              <a:t> </a:t>
            </a:r>
            <a:r>
              <a:rPr lang="fr-FR" sz="1200" b="1" dirty="0" err="1">
                <a:latin typeface="Arial" pitchFamily="34" charset="0"/>
                <a:cs typeface="Arial" pitchFamily="34" charset="0"/>
              </a:rPr>
              <a:t>University</a:t>
            </a:r>
            <a:r>
              <a:rPr lang="fr-FR" sz="1200" b="1" dirty="0">
                <a:latin typeface="Arial" pitchFamily="34" charset="0"/>
                <a:cs typeface="Arial" pitchFamily="34" charset="0"/>
              </a:rPr>
              <a:t> of Ostrava</a:t>
            </a:r>
            <a:r>
              <a:rPr lang="fr-FR" sz="1200" dirty="0">
                <a:latin typeface="Arial" pitchFamily="34" charset="0"/>
                <a:cs typeface="Arial" pitchFamily="34" charset="0"/>
              </a:rPr>
              <a:t>, </a:t>
            </a:r>
            <a:r>
              <a:rPr lang="fr-FR" sz="1200" dirty="0" err="1">
                <a:latin typeface="Arial" pitchFamily="34" charset="0"/>
                <a:cs typeface="Arial" pitchFamily="34" charset="0"/>
              </a:rPr>
              <a:t>Faculty</a:t>
            </a:r>
            <a:r>
              <a:rPr lang="fr-FR" sz="1200" dirty="0">
                <a:latin typeface="Arial" pitchFamily="34" charset="0"/>
                <a:cs typeface="Arial" pitchFamily="34" charset="0"/>
              </a:rPr>
              <a:t> of </a:t>
            </a:r>
            <a:r>
              <a:rPr lang="fr-FR" sz="1200" dirty="0" err="1">
                <a:latin typeface="Arial" pitchFamily="34" charset="0"/>
                <a:cs typeface="Arial" pitchFamily="34" charset="0"/>
              </a:rPr>
              <a:t>Electrical</a:t>
            </a:r>
            <a:r>
              <a:rPr lang="fr-FR" sz="1200" dirty="0">
                <a:latin typeface="Arial" pitchFamily="34" charset="0"/>
                <a:cs typeface="Arial" pitchFamily="34" charset="0"/>
              </a:rPr>
              <a:t> Engineering and Computer Science, </a:t>
            </a:r>
            <a:r>
              <a:rPr lang="fr-FR" sz="1200" dirty="0" err="1">
                <a:latin typeface="Arial" pitchFamily="34" charset="0"/>
                <a:cs typeface="Arial" pitchFamily="34" charset="0"/>
              </a:rPr>
              <a:t>Češka</a:t>
            </a:r>
            <a:r>
              <a:rPr lang="fr-FR" sz="1200" dirty="0">
                <a:latin typeface="Arial" pitchFamily="34" charset="0"/>
                <a:cs typeface="Arial" pitchFamily="34" charset="0"/>
              </a:rPr>
              <a:t>, www.fei.vsb.cz/en</a:t>
            </a:r>
          </a:p>
          <a:p>
            <a:pPr>
              <a:spcBef>
                <a:spcPts val="0"/>
              </a:spcBef>
            </a:pPr>
            <a:r>
              <a:rPr lang="fr-FR" sz="1200" b="1" dirty="0">
                <a:latin typeface="Arial" pitchFamily="34" charset="0"/>
                <a:cs typeface="Arial" pitchFamily="34" charset="0"/>
              </a:rPr>
              <a:t>Graz </a:t>
            </a:r>
            <a:r>
              <a:rPr lang="fr-FR" sz="1200" b="1" dirty="0" err="1">
                <a:latin typeface="Arial" pitchFamily="34" charset="0"/>
                <a:cs typeface="Arial" pitchFamily="34" charset="0"/>
              </a:rPr>
              <a:t>University</a:t>
            </a:r>
            <a:r>
              <a:rPr lang="fr-FR" sz="1200" b="1" dirty="0">
                <a:latin typeface="Arial" pitchFamily="34" charset="0"/>
                <a:cs typeface="Arial" pitchFamily="34" charset="0"/>
              </a:rPr>
              <a:t> of </a:t>
            </a:r>
            <a:r>
              <a:rPr lang="fr-FR" sz="1200" b="1" dirty="0" err="1">
                <a:latin typeface="Arial" pitchFamily="34" charset="0"/>
                <a:cs typeface="Arial" pitchFamily="34" charset="0"/>
              </a:rPr>
              <a:t>Technology</a:t>
            </a:r>
            <a:r>
              <a:rPr lang="fr-FR" sz="1200" dirty="0">
                <a:latin typeface="Arial" pitchFamily="34" charset="0"/>
                <a:cs typeface="Arial" pitchFamily="34" charset="0"/>
              </a:rPr>
              <a:t>, Institute for </a:t>
            </a:r>
            <a:r>
              <a:rPr lang="fr-FR" sz="1200" dirty="0" err="1">
                <a:latin typeface="Arial" pitchFamily="34" charset="0"/>
                <a:cs typeface="Arial" pitchFamily="34" charset="0"/>
              </a:rPr>
              <a:t>Technical</a:t>
            </a:r>
            <a:r>
              <a:rPr lang="fr-FR" sz="1200" dirty="0">
                <a:latin typeface="Arial" pitchFamily="34" charset="0"/>
                <a:cs typeface="Arial" pitchFamily="34" charset="0"/>
              </a:rPr>
              <a:t> </a:t>
            </a:r>
            <a:r>
              <a:rPr lang="fr-FR" sz="1200" dirty="0" err="1">
                <a:latin typeface="Arial" pitchFamily="34" charset="0"/>
                <a:cs typeface="Arial" pitchFamily="34" charset="0"/>
              </a:rPr>
              <a:t>Informatics</a:t>
            </a:r>
            <a:r>
              <a:rPr lang="fr-FR" sz="1200" dirty="0">
                <a:latin typeface="Arial" pitchFamily="34" charset="0"/>
                <a:cs typeface="Arial" pitchFamily="34" charset="0"/>
              </a:rPr>
              <a:t>, </a:t>
            </a:r>
            <a:r>
              <a:rPr lang="fr-FR" sz="1200" dirty="0" err="1">
                <a:latin typeface="Arial" pitchFamily="34" charset="0"/>
                <a:cs typeface="Arial" pitchFamily="34" charset="0"/>
              </a:rPr>
              <a:t>Avstrija</a:t>
            </a:r>
            <a:r>
              <a:rPr lang="fr-FR" sz="1200" dirty="0">
                <a:latin typeface="Arial" pitchFamily="34" charset="0"/>
                <a:cs typeface="Arial" pitchFamily="34" charset="0"/>
              </a:rPr>
              <a:t>, www.iti.tugraz.at</a:t>
            </a:r>
          </a:p>
          <a:p>
            <a:pPr defTabSz="990478">
              <a:spcBef>
                <a:spcPts val="0"/>
              </a:spcBef>
              <a:defRPr/>
            </a:pPr>
            <a:r>
              <a:rPr lang="fr-FR" sz="1200" b="1" dirty="0" err="1"/>
              <a:t>University</a:t>
            </a:r>
            <a:r>
              <a:rPr lang="fr-FR" sz="1200" b="1" dirty="0"/>
              <a:t> of </a:t>
            </a:r>
            <a:r>
              <a:rPr lang="fr-FR" sz="1200" b="1" dirty="0" err="1"/>
              <a:t>Applied</a:t>
            </a:r>
            <a:r>
              <a:rPr lang="fr-FR" sz="1200" b="1" dirty="0"/>
              <a:t> Sciences </a:t>
            </a:r>
            <a:r>
              <a:rPr lang="fr-FR" sz="1200" b="1" dirty="0">
                <a:latin typeface="Arial" pitchFamily="34" charset="0"/>
                <a:cs typeface="Arial" pitchFamily="34" charset="0"/>
              </a:rPr>
              <a:t>JOANNEUM</a:t>
            </a:r>
            <a:r>
              <a:rPr lang="fr-FR" sz="1200" b="1" dirty="0"/>
              <a:t>, </a:t>
            </a:r>
            <a:r>
              <a:rPr lang="fr-FR" sz="1200" dirty="0"/>
              <a:t>Institute for Automotive Engineering, Graz, </a:t>
            </a:r>
            <a:r>
              <a:rPr lang="fr-FR" sz="1200" dirty="0" err="1">
                <a:latin typeface="Arial" pitchFamily="34" charset="0"/>
                <a:cs typeface="Arial" pitchFamily="34" charset="0"/>
              </a:rPr>
              <a:t>Avstrija</a:t>
            </a:r>
            <a:r>
              <a:rPr lang="fr-FR" sz="1200" dirty="0"/>
              <a:t>, https://www.fh-joanneum.at/en/institut/automotive-engineering/</a:t>
            </a:r>
          </a:p>
          <a:p>
            <a:pPr defTabSz="990478">
              <a:spcBef>
                <a:spcPts val="0"/>
              </a:spcBef>
              <a:defRPr/>
            </a:pPr>
            <a:r>
              <a:rPr lang="fr-FR" sz="1200" b="1" dirty="0" err="1">
                <a:latin typeface="Arial" pitchFamily="34" charset="0"/>
                <a:cs typeface="Arial" pitchFamily="34" charset="0"/>
              </a:rPr>
              <a:t>EMIRAcle</a:t>
            </a:r>
            <a:r>
              <a:rPr lang="fr-FR" sz="1200" b="1" dirty="0">
                <a:latin typeface="Arial" pitchFamily="34" charset="0"/>
                <a:cs typeface="Arial" pitchFamily="34" charset="0"/>
              </a:rPr>
              <a:t> – </a:t>
            </a:r>
            <a:r>
              <a:rPr lang="fr-FR" sz="1200" b="1" dirty="0" err="1">
                <a:latin typeface="Arial" pitchFamily="34" charset="0"/>
                <a:cs typeface="Arial" pitchFamily="34" charset="0"/>
              </a:rPr>
              <a:t>European</a:t>
            </a:r>
            <a:r>
              <a:rPr lang="fr-FR" sz="1200" b="1" dirty="0">
                <a:latin typeface="Arial" pitchFamily="34" charset="0"/>
                <a:cs typeface="Arial" pitchFamily="34" charset="0"/>
              </a:rPr>
              <a:t> </a:t>
            </a:r>
            <a:r>
              <a:rPr lang="fr-FR" sz="1200" b="1" dirty="0" err="1">
                <a:latin typeface="Arial" pitchFamily="34" charset="0"/>
                <a:cs typeface="Arial" pitchFamily="34" charset="0"/>
              </a:rPr>
              <a:t>Manufacturing</a:t>
            </a:r>
            <a:r>
              <a:rPr lang="fr-FR" sz="1200" b="1" dirty="0">
                <a:latin typeface="Arial" pitchFamily="34" charset="0"/>
                <a:cs typeface="Arial" pitchFamily="34" charset="0"/>
              </a:rPr>
              <a:t> and Innovation </a:t>
            </a:r>
            <a:r>
              <a:rPr lang="fr-FR" sz="1200" b="1" dirty="0" err="1">
                <a:latin typeface="Arial" pitchFamily="34" charset="0"/>
                <a:cs typeface="Arial" pitchFamily="34" charset="0"/>
              </a:rPr>
              <a:t>Research</a:t>
            </a:r>
            <a:r>
              <a:rPr lang="fr-FR" sz="1200" b="1" baseline="0" dirty="0">
                <a:latin typeface="Arial" pitchFamily="34" charset="0"/>
                <a:cs typeface="Arial" pitchFamily="34" charset="0"/>
              </a:rPr>
              <a:t> Association</a:t>
            </a:r>
            <a:r>
              <a:rPr lang="fr-FR" sz="1200" dirty="0">
                <a:latin typeface="Arial" pitchFamily="34" charset="0"/>
                <a:cs typeface="Arial" pitchFamily="34" charset="0"/>
              </a:rPr>
              <a:t>, </a:t>
            </a:r>
            <a:r>
              <a:rPr lang="fr-FR" sz="1200" dirty="0" err="1">
                <a:latin typeface="Arial" pitchFamily="34" charset="0"/>
                <a:cs typeface="Arial" pitchFamily="34" charset="0"/>
              </a:rPr>
              <a:t>Belgija</a:t>
            </a:r>
            <a:r>
              <a:rPr lang="fr-FR" sz="1200" dirty="0">
                <a:latin typeface="Arial" pitchFamily="34" charset="0"/>
                <a:cs typeface="Arial" pitchFamily="34" charset="0"/>
              </a:rPr>
              <a:t>, http://www.emiracle.eu/</a:t>
            </a:r>
          </a:p>
          <a:p>
            <a:pPr defTabSz="990478">
              <a:spcBef>
                <a:spcPts val="0"/>
              </a:spcBef>
              <a:defRPr/>
            </a:pPr>
            <a:r>
              <a:rPr lang="fr-FR" sz="1200" b="1" dirty="0" err="1"/>
              <a:t>Univerza</a:t>
            </a:r>
            <a:r>
              <a:rPr lang="fr-FR" sz="1200" b="1" dirty="0"/>
              <a:t> v </a:t>
            </a:r>
            <a:r>
              <a:rPr lang="fr-FR" sz="1200" b="1" dirty="0" err="1"/>
              <a:t>Mariboru</a:t>
            </a:r>
            <a:r>
              <a:rPr lang="fr-FR" sz="1200" b="1" dirty="0"/>
              <a:t>,</a:t>
            </a:r>
            <a:r>
              <a:rPr lang="fr-FR" sz="1200" dirty="0"/>
              <a:t> </a:t>
            </a:r>
            <a:r>
              <a:rPr lang="fr-FR" sz="1200" dirty="0" err="1"/>
              <a:t>Fakulteta</a:t>
            </a:r>
            <a:r>
              <a:rPr lang="fr-FR" sz="1200" dirty="0"/>
              <a:t> </a:t>
            </a:r>
            <a:r>
              <a:rPr lang="fr-FR" sz="1200" dirty="0" err="1"/>
              <a:t>za</a:t>
            </a:r>
            <a:r>
              <a:rPr lang="fr-FR" sz="1200" dirty="0"/>
              <a:t> </a:t>
            </a:r>
            <a:r>
              <a:rPr lang="fr-FR" sz="1200" dirty="0" err="1"/>
              <a:t>elektrotehniko</a:t>
            </a:r>
            <a:r>
              <a:rPr lang="fr-FR" sz="1200" dirty="0"/>
              <a:t>, </a:t>
            </a:r>
            <a:r>
              <a:rPr lang="fr-FR" sz="1200" dirty="0" err="1"/>
              <a:t>računalništvo</a:t>
            </a:r>
            <a:r>
              <a:rPr lang="fr-FR" sz="1200" baseline="0" dirty="0"/>
              <a:t> in </a:t>
            </a:r>
            <a:r>
              <a:rPr lang="fr-FR" sz="1200" baseline="0" dirty="0" err="1"/>
              <a:t>informatiko</a:t>
            </a:r>
            <a:r>
              <a:rPr lang="fr-FR" sz="1200" dirty="0"/>
              <a:t>, Slovenija, https://feri.um.si/</a:t>
            </a:r>
            <a:endParaRPr lang="fr-FR" sz="1200" dirty="0">
              <a:latin typeface="Arial" pitchFamily="34" charset="0"/>
              <a:cs typeface="Arial" pitchFamily="34" charset="0"/>
            </a:endParaRPr>
          </a:p>
          <a:p>
            <a:pPr>
              <a:spcBef>
                <a:spcPts val="0"/>
              </a:spcBef>
            </a:pPr>
            <a:r>
              <a:rPr lang="fr-FR" sz="1200" b="1" dirty="0">
                <a:latin typeface="Arial" pitchFamily="34" charset="0"/>
                <a:cs typeface="Arial" pitchFamily="34" charset="0"/>
              </a:rPr>
              <a:t>ISCN Ltd./</a:t>
            </a:r>
            <a:r>
              <a:rPr lang="fr-FR" sz="1200" b="1" dirty="0" err="1">
                <a:latin typeface="Arial" pitchFamily="34" charset="0"/>
                <a:cs typeface="Arial" pitchFamily="34" charset="0"/>
              </a:rPr>
              <a:t>Ges.m.b.H</a:t>
            </a:r>
            <a:r>
              <a:rPr lang="fr-FR" sz="1200" dirty="0">
                <a:latin typeface="Arial" pitchFamily="34" charset="0"/>
                <a:cs typeface="Arial" pitchFamily="34" charset="0"/>
              </a:rPr>
              <a:t>, </a:t>
            </a:r>
            <a:r>
              <a:rPr lang="fr-FR" sz="1200" dirty="0" err="1">
                <a:latin typeface="Arial" pitchFamily="34" charset="0"/>
                <a:cs typeface="Arial" pitchFamily="34" charset="0"/>
              </a:rPr>
              <a:t>Irska</a:t>
            </a:r>
            <a:r>
              <a:rPr lang="fr-FR" sz="1200" dirty="0">
                <a:latin typeface="Arial" pitchFamily="34" charset="0"/>
                <a:cs typeface="Arial" pitchFamily="34" charset="0"/>
              </a:rPr>
              <a:t>/</a:t>
            </a:r>
            <a:r>
              <a:rPr lang="fr-FR" sz="1200" dirty="0" err="1">
                <a:latin typeface="Arial" pitchFamily="34" charset="0"/>
                <a:cs typeface="Arial" pitchFamily="34" charset="0"/>
              </a:rPr>
              <a:t>Avstrija</a:t>
            </a:r>
            <a:r>
              <a:rPr lang="fr-FR" sz="1200" dirty="0">
                <a:latin typeface="Arial" pitchFamily="34" charset="0"/>
                <a:cs typeface="Arial" pitchFamily="34" charset="0"/>
              </a:rPr>
              <a:t>, www.iscn.com</a:t>
            </a:r>
          </a:p>
          <a:p>
            <a:pPr>
              <a:spcBef>
                <a:spcPts val="0"/>
              </a:spcBef>
            </a:pPr>
            <a:r>
              <a:rPr lang="fr-FR" sz="1200" b="1" dirty="0">
                <a:latin typeface="Arial" pitchFamily="34" charset="0"/>
                <a:cs typeface="Arial" pitchFamily="34" charset="0"/>
              </a:rPr>
              <a:t>ECQA – </a:t>
            </a:r>
            <a:r>
              <a:rPr lang="fr-FR" sz="1200" b="1" dirty="0" err="1">
                <a:latin typeface="Arial" pitchFamily="34" charset="0"/>
                <a:cs typeface="Arial" pitchFamily="34" charset="0"/>
              </a:rPr>
              <a:t>European</a:t>
            </a:r>
            <a:r>
              <a:rPr lang="fr-FR" sz="1200" b="1" dirty="0">
                <a:latin typeface="Arial" pitchFamily="34" charset="0"/>
                <a:cs typeface="Arial" pitchFamily="34" charset="0"/>
              </a:rPr>
              <a:t> Certification and Qualification Association</a:t>
            </a:r>
            <a:r>
              <a:rPr lang="fr-FR" sz="1200" dirty="0">
                <a:latin typeface="Arial" pitchFamily="34" charset="0"/>
                <a:cs typeface="Arial" pitchFamily="34" charset="0"/>
              </a:rPr>
              <a:t>, </a:t>
            </a:r>
            <a:r>
              <a:rPr lang="fr-FR" sz="1200" dirty="0" err="1">
                <a:latin typeface="Arial" pitchFamily="34" charset="0"/>
                <a:cs typeface="Arial" pitchFamily="34" charset="0"/>
              </a:rPr>
              <a:t>Avstrija</a:t>
            </a:r>
            <a:r>
              <a:rPr lang="fr-FR" sz="1200" dirty="0">
                <a:latin typeface="Arial" pitchFamily="34" charset="0"/>
                <a:cs typeface="Arial" pitchFamily="34" charset="0"/>
              </a:rPr>
              <a:t>, www.ecqa.org</a:t>
            </a:r>
          </a:p>
          <a:p>
            <a:pPr>
              <a:lnSpc>
                <a:spcPct val="80000"/>
              </a:lnSpc>
            </a:pPr>
            <a:endParaRPr lang="fr-FR" sz="1200" dirty="0">
              <a:latin typeface="Arial" pitchFamily="34" charset="0"/>
              <a:cs typeface="Arial" pitchFamily="34" charset="0"/>
            </a:endParaRPr>
          </a:p>
          <a:p>
            <a:pPr>
              <a:spcBef>
                <a:spcPts val="0"/>
              </a:spcBef>
            </a:pPr>
            <a:r>
              <a:rPr lang="fr-FR" sz="1200" dirty="0">
                <a:latin typeface="Arial" pitchFamily="34" charset="0"/>
              </a:rPr>
              <a:t>Ta </a:t>
            </a:r>
            <a:r>
              <a:rPr lang="fr-FR" sz="1200" dirty="0" err="1">
                <a:latin typeface="Arial" pitchFamily="34" charset="0"/>
              </a:rPr>
              <a:t>projekt</a:t>
            </a:r>
            <a:r>
              <a:rPr lang="fr-FR" sz="1200" dirty="0">
                <a:latin typeface="Arial" pitchFamily="34" charset="0"/>
              </a:rPr>
              <a:t> je </a:t>
            </a:r>
            <a:r>
              <a:rPr lang="fr-FR" sz="1200" dirty="0" err="1">
                <a:latin typeface="Arial" pitchFamily="34" charset="0"/>
              </a:rPr>
              <a:t>bil</a:t>
            </a:r>
            <a:r>
              <a:rPr lang="fr-FR" sz="1200" dirty="0">
                <a:latin typeface="Arial" pitchFamily="34" charset="0"/>
              </a:rPr>
              <a:t> </a:t>
            </a:r>
            <a:r>
              <a:rPr lang="fr-FR" sz="1200" dirty="0" err="1">
                <a:latin typeface="Arial" pitchFamily="34" charset="0"/>
              </a:rPr>
              <a:t>financiran</a:t>
            </a:r>
            <a:r>
              <a:rPr lang="fr-FR" sz="1200" dirty="0">
                <a:latin typeface="Arial" pitchFamily="34" charset="0"/>
              </a:rPr>
              <a:t> s </a:t>
            </a:r>
            <a:r>
              <a:rPr lang="fr-FR" sz="1200" dirty="0" err="1">
                <a:latin typeface="Arial" pitchFamily="34" charset="0"/>
              </a:rPr>
              <a:t>podporo</a:t>
            </a:r>
            <a:r>
              <a:rPr lang="fr-FR" sz="1200" dirty="0">
                <a:latin typeface="Arial" pitchFamily="34" charset="0"/>
              </a:rPr>
              <a:t> </a:t>
            </a:r>
            <a:r>
              <a:rPr lang="fr-FR" sz="1200" dirty="0" err="1">
                <a:latin typeface="Arial" pitchFamily="34" charset="0"/>
              </a:rPr>
              <a:t>programa</a:t>
            </a:r>
            <a:r>
              <a:rPr lang="fr-FR" sz="1200" dirty="0">
                <a:latin typeface="Arial" pitchFamily="34" charset="0"/>
              </a:rPr>
              <a:t> </a:t>
            </a:r>
            <a:r>
              <a:rPr lang="fr-FR" sz="1200" dirty="0"/>
              <a:t>Erasmus+</a:t>
            </a:r>
            <a:r>
              <a:rPr lang="fr-FR" sz="1200" dirty="0">
                <a:latin typeface="Arial" pitchFamily="34" charset="0"/>
              </a:rPr>
              <a:t> </a:t>
            </a:r>
            <a:r>
              <a:rPr lang="fr-FR" sz="1200" dirty="0" err="1">
                <a:latin typeface="Arial" pitchFamily="34" charset="0"/>
              </a:rPr>
              <a:t>Evropske</a:t>
            </a:r>
            <a:r>
              <a:rPr lang="fr-FR" sz="1200" dirty="0">
                <a:latin typeface="Arial" pitchFamily="34" charset="0"/>
              </a:rPr>
              <a:t> </a:t>
            </a:r>
            <a:r>
              <a:rPr lang="fr-FR" sz="1200" dirty="0" err="1">
                <a:latin typeface="Arial" pitchFamily="34" charset="0"/>
              </a:rPr>
              <a:t>komisije</a:t>
            </a:r>
            <a:r>
              <a:rPr lang="fr-FR" sz="1200" dirty="0">
                <a:latin typeface="Arial" pitchFamily="34" charset="0"/>
              </a:rPr>
              <a:t> po </a:t>
            </a:r>
            <a:r>
              <a:rPr lang="fr-FR" sz="1200" dirty="0" err="1">
                <a:latin typeface="Arial" pitchFamily="34" charset="0"/>
              </a:rPr>
              <a:t>pogodbi</a:t>
            </a:r>
            <a:r>
              <a:rPr lang="fr-FR" sz="1200" dirty="0">
                <a:latin typeface="Arial" pitchFamily="34" charset="0"/>
              </a:rPr>
              <a:t> </a:t>
            </a:r>
            <a:r>
              <a:rPr lang="fr-FR" sz="1200" dirty="0"/>
              <a:t>2015-1-CZ01-KA203-013986 - 2015 – 2017</a:t>
            </a:r>
            <a:r>
              <a:rPr lang="fr-FR" sz="1200" dirty="0">
                <a:latin typeface="Arial" pitchFamily="34" charset="0"/>
              </a:rPr>
              <a:t>.</a:t>
            </a:r>
          </a:p>
          <a:p>
            <a:pPr marL="0" marR="0" lvl="0" indent="0" algn="l" defTabSz="914400" rtl="0" eaLnBrk="0" fontAlgn="base" latinLnBrk="0" hangingPunct="0">
              <a:lnSpc>
                <a:spcPct val="100000"/>
              </a:lnSpc>
              <a:spcBef>
                <a:spcPts val="0"/>
              </a:spcBef>
              <a:spcAft>
                <a:spcPct val="0"/>
              </a:spcAft>
              <a:buClrTx/>
              <a:buSzTx/>
              <a:buFontTx/>
              <a:buNone/>
              <a:tabLst/>
              <a:defRPr/>
            </a:pPr>
            <a:r>
              <a:rPr lang="fr-FR" sz="1200" dirty="0">
                <a:latin typeface="Arial" pitchFamily="34" charset="0"/>
                <a:cs typeface="Arial" pitchFamily="34" charset="0"/>
              </a:rPr>
              <a:t>AQUA – </a:t>
            </a:r>
            <a:r>
              <a:rPr lang="fr-FR" sz="1200" dirty="0" err="1">
                <a:latin typeface="Arial" pitchFamily="34" charset="0"/>
                <a:cs typeface="Arial" pitchFamily="34" charset="0"/>
              </a:rPr>
              <a:t>Zavezništvo</a:t>
            </a:r>
            <a:r>
              <a:rPr lang="fr-FR" sz="1200" dirty="0">
                <a:latin typeface="Arial" pitchFamily="34" charset="0"/>
                <a:cs typeface="Arial" pitchFamily="34" charset="0"/>
              </a:rPr>
              <a:t> </a:t>
            </a:r>
            <a:r>
              <a:rPr lang="fr-FR" sz="1200" dirty="0" err="1">
                <a:latin typeface="Arial" pitchFamily="34" charset="0"/>
                <a:cs typeface="Arial" pitchFamily="34" charset="0"/>
              </a:rPr>
              <a:t>znanja</a:t>
            </a:r>
            <a:r>
              <a:rPr lang="fr-FR" sz="1200" dirty="0">
                <a:latin typeface="Arial" pitchFamily="34" charset="0"/>
                <a:cs typeface="Arial" pitchFamily="34" charset="0"/>
              </a:rPr>
              <a:t> </a:t>
            </a:r>
            <a:r>
              <a:rPr lang="fr-FR" sz="1200" dirty="0" err="1">
                <a:latin typeface="Arial" pitchFamily="34" charset="0"/>
                <a:cs typeface="Arial" pitchFamily="34" charset="0"/>
              </a:rPr>
              <a:t>za</a:t>
            </a:r>
            <a:r>
              <a:rPr lang="fr-FR" sz="1200" dirty="0">
                <a:latin typeface="Arial" pitchFamily="34" charset="0"/>
                <a:cs typeface="Arial" pitchFamily="34" charset="0"/>
              </a:rPr>
              <a:t> </a:t>
            </a:r>
            <a:r>
              <a:rPr lang="fr-FR" sz="1200" dirty="0" err="1">
                <a:latin typeface="Arial" pitchFamily="34" charset="0"/>
                <a:cs typeface="Arial" pitchFamily="34" charset="0"/>
              </a:rPr>
              <a:t>kakovost</a:t>
            </a:r>
            <a:r>
              <a:rPr lang="fr-FR" sz="1200" dirty="0">
                <a:latin typeface="Arial" pitchFamily="34" charset="0"/>
                <a:cs typeface="Arial" pitchFamily="34" charset="0"/>
              </a:rPr>
              <a:t> </a:t>
            </a:r>
            <a:r>
              <a:rPr lang="fr-FR" sz="1200" dirty="0" err="1">
                <a:latin typeface="Arial" pitchFamily="34" charset="0"/>
                <a:cs typeface="Arial" pitchFamily="34" charset="0"/>
              </a:rPr>
              <a:t>usposabljanja</a:t>
            </a:r>
            <a:r>
              <a:rPr lang="fr-FR" sz="1200" dirty="0">
                <a:latin typeface="Arial" pitchFamily="34" charset="0"/>
                <a:cs typeface="Arial" pitchFamily="34" charset="0"/>
              </a:rPr>
              <a:t> in </a:t>
            </a:r>
            <a:r>
              <a:rPr lang="fr-FR" sz="1200" dirty="0" err="1">
                <a:latin typeface="Arial" pitchFamily="34" charset="0"/>
                <a:cs typeface="Arial" pitchFamily="34" charset="0"/>
              </a:rPr>
              <a:t>odličnost</a:t>
            </a:r>
            <a:r>
              <a:rPr lang="fr-FR" sz="1200" dirty="0">
                <a:latin typeface="Arial" pitchFamily="34" charset="0"/>
                <a:cs typeface="Arial" pitchFamily="34" charset="0"/>
              </a:rPr>
              <a:t> v </a:t>
            </a:r>
            <a:r>
              <a:rPr lang="fr-FR" sz="1200" dirty="0" err="1">
                <a:latin typeface="Arial" pitchFamily="34" charset="0"/>
                <a:cs typeface="Arial" pitchFamily="34" charset="0"/>
              </a:rPr>
              <a:t>avtomobilski</a:t>
            </a:r>
            <a:r>
              <a:rPr lang="fr-FR" sz="1200" dirty="0">
                <a:latin typeface="Arial" pitchFamily="34" charset="0"/>
                <a:cs typeface="Arial" pitchFamily="34" charset="0"/>
              </a:rPr>
              <a:t> </a:t>
            </a:r>
            <a:r>
              <a:rPr lang="fr-FR" sz="1200" dirty="0" err="1">
                <a:latin typeface="Arial" pitchFamily="34" charset="0"/>
                <a:cs typeface="Arial" pitchFamily="34" charset="0"/>
              </a:rPr>
              <a:t>industriji</a:t>
            </a:r>
            <a:r>
              <a:rPr lang="fr-FR" sz="1200" dirty="0">
                <a:latin typeface="Arial" pitchFamily="34" charset="0"/>
                <a:cs typeface="Arial" pitchFamily="34" charset="0"/>
              </a:rPr>
              <a:t> je </a:t>
            </a:r>
            <a:r>
              <a:rPr lang="fr-FR" sz="1200" dirty="0" err="1">
                <a:latin typeface="Arial" pitchFamily="34" charset="0"/>
                <a:cs typeface="Arial" pitchFamily="34" charset="0"/>
              </a:rPr>
              <a:t>vzpostavilo</a:t>
            </a:r>
            <a:r>
              <a:rPr lang="fr-FR" sz="1200" baseline="0" dirty="0">
                <a:latin typeface="Arial" pitchFamily="34" charset="0"/>
                <a:cs typeface="Arial" pitchFamily="34" charset="0"/>
              </a:rPr>
              <a:t> </a:t>
            </a:r>
            <a:r>
              <a:rPr lang="fr-FR" sz="1200" baseline="0" dirty="0" err="1">
                <a:latin typeface="Arial" pitchFamily="34" charset="0"/>
                <a:cs typeface="Arial" pitchFamily="34" charset="0"/>
              </a:rPr>
              <a:t>zavezništvo</a:t>
            </a:r>
            <a:r>
              <a:rPr lang="fr-FR" sz="1200" baseline="0" dirty="0">
                <a:latin typeface="Arial" pitchFamily="34" charset="0"/>
                <a:cs typeface="Arial" pitchFamily="34" charset="0"/>
              </a:rPr>
              <a:t> </a:t>
            </a:r>
            <a:r>
              <a:rPr lang="fr-FR" sz="1200" baseline="0" dirty="0" err="1">
                <a:latin typeface="Arial" pitchFamily="34" charset="0"/>
                <a:cs typeface="Arial" pitchFamily="34" charset="0"/>
              </a:rPr>
              <a:t>za</a:t>
            </a:r>
            <a:r>
              <a:rPr lang="fr-FR" sz="1200" baseline="0" dirty="0">
                <a:latin typeface="Arial" pitchFamily="34" charset="0"/>
                <a:cs typeface="Arial" pitchFamily="34" charset="0"/>
              </a:rPr>
              <a:t> </a:t>
            </a:r>
            <a:r>
              <a:rPr lang="fr-FR" sz="1200" baseline="0" dirty="0" err="1">
                <a:latin typeface="Arial" pitchFamily="34" charset="0"/>
                <a:cs typeface="Arial" pitchFamily="34" charset="0"/>
              </a:rPr>
              <a:t>kakovost</a:t>
            </a:r>
            <a:r>
              <a:rPr lang="fr-FR" sz="1200" baseline="0" dirty="0">
                <a:latin typeface="Arial" pitchFamily="34" charset="0"/>
                <a:cs typeface="Arial" pitchFamily="34" charset="0"/>
              </a:rPr>
              <a:t> </a:t>
            </a:r>
            <a:r>
              <a:rPr lang="fr-FR" sz="1200" dirty="0"/>
              <a:t>– LLP </a:t>
            </a:r>
            <a:r>
              <a:rPr lang="fr-FR" sz="1200" dirty="0" err="1"/>
              <a:t>projekt</a:t>
            </a:r>
            <a:r>
              <a:rPr lang="fr-FR" sz="1200" dirty="0"/>
              <a:t> </a:t>
            </a:r>
            <a:r>
              <a:rPr lang="fr-FR" sz="1200" dirty="0">
                <a:latin typeface="Arial" pitchFamily="34" charset="0"/>
                <a:cs typeface="Arial" pitchFamily="34" charset="0"/>
              </a:rPr>
              <a:t>EAC-2012-0635 -</a:t>
            </a:r>
            <a:r>
              <a:rPr lang="fr-FR" sz="1200" dirty="0"/>
              <a:t> 2013 – 2014.</a:t>
            </a:r>
          </a:p>
          <a:p>
            <a:pPr defTabSz="844083">
              <a:spcBef>
                <a:spcPts val="0"/>
              </a:spcBef>
            </a:pPr>
            <a:r>
              <a:rPr lang="fr-FR" sz="1200" dirty="0">
                <a:solidFill>
                  <a:srgbClr val="000099"/>
                </a:solidFill>
                <a:latin typeface="Arial" pitchFamily="34" charset="0"/>
              </a:rPr>
              <a:t>Ta </a:t>
            </a:r>
            <a:r>
              <a:rPr lang="fr-FR" sz="1200" dirty="0" err="1">
                <a:solidFill>
                  <a:srgbClr val="000099"/>
                </a:solidFill>
                <a:latin typeface="Arial" pitchFamily="34" charset="0"/>
              </a:rPr>
              <a:t>publikacija</a:t>
            </a:r>
            <a:r>
              <a:rPr lang="fr-FR" sz="1200" dirty="0">
                <a:solidFill>
                  <a:srgbClr val="000099"/>
                </a:solidFill>
                <a:latin typeface="Arial" pitchFamily="34" charset="0"/>
              </a:rPr>
              <a:t>/</a:t>
            </a:r>
            <a:r>
              <a:rPr lang="fr-FR" sz="1200" dirty="0" err="1">
                <a:solidFill>
                  <a:srgbClr val="000099"/>
                </a:solidFill>
                <a:latin typeface="Arial" pitchFamily="34" charset="0"/>
              </a:rPr>
              <a:t>sporočilo</a:t>
            </a:r>
            <a:r>
              <a:rPr lang="fr-FR" sz="1200" dirty="0">
                <a:solidFill>
                  <a:srgbClr val="000099"/>
                </a:solidFill>
                <a:latin typeface="Arial" pitchFamily="34" charset="0"/>
              </a:rPr>
              <a:t> </a:t>
            </a:r>
            <a:r>
              <a:rPr lang="fr-FR" sz="1200" dirty="0" err="1">
                <a:solidFill>
                  <a:srgbClr val="000099"/>
                </a:solidFill>
                <a:latin typeface="Arial" pitchFamily="34" charset="0"/>
              </a:rPr>
              <a:t>odraža</a:t>
            </a:r>
            <a:r>
              <a:rPr lang="fr-FR" sz="1200" dirty="0">
                <a:solidFill>
                  <a:srgbClr val="000099"/>
                </a:solidFill>
                <a:latin typeface="Arial" pitchFamily="34" charset="0"/>
              </a:rPr>
              <a:t> </a:t>
            </a:r>
            <a:r>
              <a:rPr lang="fr-FR" sz="1200" dirty="0" err="1">
                <a:solidFill>
                  <a:srgbClr val="000099"/>
                </a:solidFill>
                <a:latin typeface="Arial" pitchFamily="34" charset="0"/>
              </a:rPr>
              <a:t>stališče</a:t>
            </a:r>
            <a:r>
              <a:rPr lang="fr-FR" sz="1200" dirty="0">
                <a:solidFill>
                  <a:srgbClr val="000099"/>
                </a:solidFill>
                <a:latin typeface="Arial" pitchFamily="34" charset="0"/>
              </a:rPr>
              <a:t> </a:t>
            </a:r>
            <a:r>
              <a:rPr lang="fr-FR" sz="1200" dirty="0" err="1">
                <a:solidFill>
                  <a:srgbClr val="000099"/>
                </a:solidFill>
                <a:latin typeface="Arial" pitchFamily="34" charset="0"/>
              </a:rPr>
              <a:t>avtorjev</a:t>
            </a:r>
            <a:r>
              <a:rPr lang="fr-FR" sz="1200" dirty="0">
                <a:solidFill>
                  <a:srgbClr val="000099"/>
                </a:solidFill>
                <a:latin typeface="Arial" pitchFamily="34" charset="0"/>
              </a:rPr>
              <a:t> in </a:t>
            </a:r>
            <a:r>
              <a:rPr lang="fr-FR" sz="1200" dirty="0" err="1">
                <a:solidFill>
                  <a:srgbClr val="000099"/>
                </a:solidFill>
                <a:latin typeface="Arial" pitchFamily="34" charset="0"/>
              </a:rPr>
              <a:t>Komisija</a:t>
            </a:r>
            <a:r>
              <a:rPr lang="fr-FR" sz="1200" dirty="0">
                <a:solidFill>
                  <a:srgbClr val="000099"/>
                </a:solidFill>
                <a:latin typeface="Arial" pitchFamily="34" charset="0"/>
              </a:rPr>
              <a:t> ne </a:t>
            </a:r>
            <a:r>
              <a:rPr lang="fr-FR" sz="1200" dirty="0" err="1">
                <a:solidFill>
                  <a:srgbClr val="000099"/>
                </a:solidFill>
                <a:latin typeface="Arial" pitchFamily="34" charset="0"/>
              </a:rPr>
              <a:t>prevzema</a:t>
            </a:r>
            <a:r>
              <a:rPr lang="fr-FR" sz="1200" dirty="0">
                <a:solidFill>
                  <a:srgbClr val="000099"/>
                </a:solidFill>
                <a:latin typeface="Arial" pitchFamily="34" charset="0"/>
              </a:rPr>
              <a:t> </a:t>
            </a:r>
            <a:r>
              <a:rPr lang="fr-FR" sz="1200" dirty="0" err="1">
                <a:solidFill>
                  <a:srgbClr val="000099"/>
                </a:solidFill>
                <a:latin typeface="Arial" pitchFamily="34" charset="0"/>
              </a:rPr>
              <a:t>odgovornosti</a:t>
            </a:r>
            <a:r>
              <a:rPr lang="fr-FR" sz="1200" dirty="0">
                <a:solidFill>
                  <a:srgbClr val="000099"/>
                </a:solidFill>
                <a:latin typeface="Arial" pitchFamily="34" charset="0"/>
              </a:rPr>
              <a:t> </a:t>
            </a:r>
            <a:r>
              <a:rPr lang="fr-FR" sz="1200" dirty="0" err="1">
                <a:solidFill>
                  <a:srgbClr val="000099"/>
                </a:solidFill>
                <a:latin typeface="Arial" pitchFamily="34" charset="0"/>
              </a:rPr>
              <a:t>za</a:t>
            </a:r>
            <a:r>
              <a:rPr lang="fr-FR" sz="1200" dirty="0">
                <a:solidFill>
                  <a:srgbClr val="000099"/>
                </a:solidFill>
                <a:latin typeface="Arial" pitchFamily="34" charset="0"/>
              </a:rPr>
              <a:t> </a:t>
            </a:r>
            <a:r>
              <a:rPr lang="fr-FR" sz="1200" dirty="0" err="1">
                <a:solidFill>
                  <a:srgbClr val="000099"/>
                </a:solidFill>
                <a:latin typeface="Arial" pitchFamily="34" charset="0"/>
              </a:rPr>
              <a:t>kakršnokoli</a:t>
            </a:r>
            <a:r>
              <a:rPr lang="fr-FR" sz="1200" dirty="0">
                <a:solidFill>
                  <a:srgbClr val="000099"/>
                </a:solidFill>
                <a:latin typeface="Arial" pitchFamily="34" charset="0"/>
              </a:rPr>
              <a:t> </a:t>
            </a:r>
            <a:r>
              <a:rPr lang="fr-FR" sz="1200" dirty="0" err="1">
                <a:solidFill>
                  <a:srgbClr val="000099"/>
                </a:solidFill>
                <a:latin typeface="Arial" pitchFamily="34" charset="0"/>
              </a:rPr>
              <a:t>uporabo</a:t>
            </a:r>
            <a:r>
              <a:rPr lang="fr-FR" sz="1200" dirty="0">
                <a:solidFill>
                  <a:srgbClr val="000099"/>
                </a:solidFill>
                <a:latin typeface="Arial" pitchFamily="34" charset="0"/>
              </a:rPr>
              <a:t> </a:t>
            </a:r>
            <a:r>
              <a:rPr lang="fr-FR" sz="1200" dirty="0" err="1">
                <a:solidFill>
                  <a:srgbClr val="000099"/>
                </a:solidFill>
                <a:latin typeface="Arial" pitchFamily="34" charset="0"/>
              </a:rPr>
              <a:t>informacij</a:t>
            </a:r>
            <a:r>
              <a:rPr lang="fr-FR" sz="1200" dirty="0">
                <a:solidFill>
                  <a:srgbClr val="000099"/>
                </a:solidFill>
                <a:latin typeface="Arial" pitchFamily="34" charset="0"/>
              </a:rPr>
              <a:t>, </a:t>
            </a:r>
            <a:r>
              <a:rPr lang="fr-FR" sz="1200" dirty="0" err="1">
                <a:solidFill>
                  <a:srgbClr val="000099"/>
                </a:solidFill>
                <a:latin typeface="Arial" pitchFamily="34" charset="0"/>
              </a:rPr>
              <a:t>ki</a:t>
            </a:r>
            <a:r>
              <a:rPr lang="fr-FR" sz="1200" dirty="0">
                <a:solidFill>
                  <a:srgbClr val="000099"/>
                </a:solidFill>
                <a:latin typeface="Arial" pitchFamily="34" charset="0"/>
              </a:rPr>
              <a:t> </a:t>
            </a:r>
            <a:r>
              <a:rPr lang="fr-FR" sz="1200" dirty="0" err="1">
                <a:solidFill>
                  <a:srgbClr val="000099"/>
                </a:solidFill>
                <a:latin typeface="Arial" pitchFamily="34" charset="0"/>
              </a:rPr>
              <a:t>jih</a:t>
            </a:r>
            <a:r>
              <a:rPr lang="fr-FR" sz="1200" dirty="0">
                <a:solidFill>
                  <a:srgbClr val="000099"/>
                </a:solidFill>
                <a:latin typeface="Arial" pitchFamily="34" charset="0"/>
              </a:rPr>
              <a:t> </a:t>
            </a:r>
            <a:r>
              <a:rPr lang="fr-FR" sz="1200" dirty="0" err="1">
                <a:solidFill>
                  <a:srgbClr val="000099"/>
                </a:solidFill>
                <a:latin typeface="Arial" pitchFamily="34" charset="0"/>
              </a:rPr>
              <a:t>vsebuje</a:t>
            </a:r>
            <a:r>
              <a:rPr lang="fr-FR" sz="1200" dirty="0">
                <a:solidFill>
                  <a:srgbClr val="000099"/>
                </a:solidFill>
                <a:latin typeface="Arial" pitchFamily="34" charset="0"/>
              </a:rPr>
              <a:t>. </a:t>
            </a:r>
          </a:p>
        </p:txBody>
      </p:sp>
      <p:sp>
        <p:nvSpPr>
          <p:cNvPr id="6"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r>
              <a:rPr dirty="0"/>
              <a:t>U1.E1-Varnost-</a:t>
            </a:r>
            <a:fld id="{A86B3B2B-CC94-4EFC-919B-8391B1EFD700}" type="slidenum">
              <a:rPr lang="nl-NL" smtClean="0"/>
              <a:pPr>
                <a:defRPr/>
              </a:pPr>
              <a:t>25</a:t>
            </a:fld>
            <a:endParaRPr lang="sl-SI" dirty="0"/>
          </a:p>
        </p:txBody>
      </p:sp>
    </p:spTree>
    <p:extLst>
      <p:ext uri="{BB962C8B-B14F-4D97-AF65-F5344CB8AC3E}">
        <p14:creationId xmlns:p14="http://schemas.microsoft.com/office/powerpoint/2010/main" val="4098827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1.tiff"/><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idx="1"/>
          </p:nvPr>
        </p:nvSpPr>
        <p:spPr>
          <a:xfrm>
            <a:off x="720725" y="1484784"/>
            <a:ext cx="7920038" cy="5040312"/>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sz="half" idx="1"/>
          </p:nvPr>
        </p:nvSpPr>
        <p:spPr>
          <a:xfrm>
            <a:off x="457200" y="1440000"/>
            <a:ext cx="4038600" cy="5040000"/>
          </a:xfrm>
        </p:spPr>
        <p:txBody>
          <a:bodyPr/>
          <a:lstStyle>
            <a:lvl1pPr>
              <a:defRPr sz="24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nl-NL" dirty="0"/>
              <a:t>Klik om de modelstijlen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inhoud 3"/>
          <p:cNvSpPr>
            <a:spLocks noGrp="1"/>
          </p:cNvSpPr>
          <p:nvPr>
            <p:ph sz="half" idx="2"/>
          </p:nvPr>
        </p:nvSpPr>
        <p:spPr>
          <a:xfrm>
            <a:off x="4648200" y="1440000"/>
            <a:ext cx="4038600" cy="5040000"/>
          </a:xfrm>
        </p:spPr>
        <p:txBody>
          <a:bodyPr/>
          <a:lstStyle>
            <a:lvl1pPr>
              <a:defRPr sz="24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nl-NL" dirty="0"/>
              <a:t>Klik om de modelstijlen te bewerken</a:t>
            </a:r>
          </a:p>
          <a:p>
            <a:pPr lvl="1"/>
            <a:r>
              <a:rPr lang="nl-NL" dirty="0"/>
              <a:t>Tweede niveau</a:t>
            </a:r>
          </a:p>
          <a:p>
            <a:pPr lvl="2"/>
            <a:r>
              <a:rPr lang="nl-NL" dirty="0"/>
              <a:t>Derde niveau</a:t>
            </a:r>
          </a:p>
          <a:p>
            <a:pPr lvl="3"/>
            <a:r>
              <a:rPr lang="nl-NL" dirty="0"/>
              <a:t>Vierde niveau</a:t>
            </a:r>
          </a:p>
          <a:p>
            <a:pPr lvl="4"/>
            <a:r>
              <a:rPr lang="nl-NL" dirty="0"/>
              <a:t>Vijfde niveau</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nl-NL" dirty="0"/>
              <a:t>Klik om de stijl te bewerken</a:t>
            </a:r>
          </a:p>
        </p:txBody>
      </p:sp>
      <p:sp>
        <p:nvSpPr>
          <p:cNvPr id="3" name="Tijdelijke aanduiding voor teks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dirty="0"/>
              <a:t>Klik om de modelstijlen te bewerken</a:t>
            </a:r>
          </a:p>
        </p:txBody>
      </p:sp>
      <p:sp>
        <p:nvSpPr>
          <p:cNvPr id="4" name="Tijdelijke aanduiding voor inhoud 3"/>
          <p:cNvSpPr>
            <a:spLocks noGrp="1"/>
          </p:cNvSpPr>
          <p:nvPr>
            <p:ph sz="half" idx="2"/>
          </p:nvPr>
        </p:nvSpPr>
        <p:spPr>
          <a:xfrm>
            <a:off x="457200" y="2174875"/>
            <a:ext cx="4040188" cy="3951288"/>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nl-NL" dirty="0"/>
              <a:t>Klik om de modelstijlen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5" name="Tijdelijke aanduiding voor teks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dirty="0"/>
              <a:t>Klik om de modelstijlen te bewerken</a:t>
            </a:r>
          </a:p>
        </p:txBody>
      </p:sp>
      <p:sp>
        <p:nvSpPr>
          <p:cNvPr id="6" name="Tijdelijke aanduiding voor inhoud 5"/>
          <p:cNvSpPr>
            <a:spLocks noGrp="1"/>
          </p:cNvSpPr>
          <p:nvPr>
            <p:ph sz="quarter" idx="4"/>
          </p:nvPr>
        </p:nvSpPr>
        <p:spPr>
          <a:xfrm>
            <a:off x="4645025" y="2174875"/>
            <a:ext cx="4041775" cy="3951288"/>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nl-NL" dirty="0"/>
              <a:t>Klik om de modelstijlen te bewerken</a:t>
            </a:r>
          </a:p>
          <a:p>
            <a:pPr lvl="1"/>
            <a:r>
              <a:rPr lang="nl-NL" dirty="0"/>
              <a:t>Tweede niveau</a:t>
            </a:r>
          </a:p>
          <a:p>
            <a:pPr lvl="2"/>
            <a:r>
              <a:rPr lang="nl-NL" dirty="0"/>
              <a:t>Derde niveau</a:t>
            </a:r>
          </a:p>
          <a:p>
            <a:pPr lvl="3"/>
            <a:r>
              <a:rPr lang="nl-NL" dirty="0"/>
              <a:t>Vierde niveau</a:t>
            </a:r>
          </a:p>
          <a:p>
            <a:pPr lvl="4"/>
            <a:r>
              <a:rPr lang="nl-NL" dirty="0"/>
              <a:t>Vijfde niveau</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3" descr="image"/>
          <p:cNvPicPr>
            <a:picLocks noChangeAspect="1" noChangeArrowheads="1"/>
          </p:cNvPicPr>
          <p:nvPr userDrawn="1"/>
        </p:nvPicPr>
        <p:blipFill>
          <a:blip r:embed="rId2" cstate="print">
            <a:lum bright="70000" contrast="-70000"/>
            <a:grayscl/>
          </a:blip>
          <a:srcRect/>
          <a:stretch>
            <a:fillRect/>
          </a:stretch>
        </p:blipFill>
        <p:spPr bwMode="auto">
          <a:xfrm>
            <a:off x="2411413" y="2317750"/>
            <a:ext cx="6732587" cy="3703638"/>
          </a:xfrm>
          <a:prstGeom prst="rect">
            <a:avLst/>
          </a:prstGeom>
          <a:noFill/>
          <a:ln w="9525">
            <a:noFill/>
            <a:miter lim="800000"/>
            <a:headEnd/>
            <a:tailEnd/>
          </a:ln>
        </p:spPr>
      </p:pic>
      <p:sp>
        <p:nvSpPr>
          <p:cNvPr id="5" name="Line 3"/>
          <p:cNvSpPr>
            <a:spLocks noChangeShapeType="1"/>
          </p:cNvSpPr>
          <p:nvPr/>
        </p:nvSpPr>
        <p:spPr bwMode="auto">
          <a:xfrm flipV="1">
            <a:off x="1403350" y="1428750"/>
            <a:ext cx="7489825" cy="0"/>
          </a:xfrm>
          <a:prstGeom prst="line">
            <a:avLst/>
          </a:prstGeom>
          <a:noFill/>
          <a:ln w="38100">
            <a:solidFill>
              <a:srgbClr val="333399"/>
            </a:solidFill>
            <a:round/>
            <a:headEnd/>
            <a:tailEnd/>
          </a:ln>
          <a:effectLst/>
        </p:spPr>
        <p:txBody>
          <a:bodyPr wrap="none" anchor="ctr"/>
          <a:lstStyle/>
          <a:p>
            <a:pPr>
              <a:defRPr/>
            </a:pPr>
            <a:endParaRPr lang="en-US"/>
          </a:p>
        </p:txBody>
      </p:sp>
      <p:sp>
        <p:nvSpPr>
          <p:cNvPr id="6" name="Line 4"/>
          <p:cNvSpPr>
            <a:spLocks noChangeShapeType="1"/>
          </p:cNvSpPr>
          <p:nvPr/>
        </p:nvSpPr>
        <p:spPr bwMode="auto">
          <a:xfrm>
            <a:off x="312738" y="6015038"/>
            <a:ext cx="8580437" cy="6350"/>
          </a:xfrm>
          <a:prstGeom prst="line">
            <a:avLst/>
          </a:prstGeom>
          <a:noFill/>
          <a:ln w="38100">
            <a:solidFill>
              <a:srgbClr val="333399"/>
            </a:solidFill>
            <a:round/>
            <a:headEnd/>
            <a:tailEnd/>
          </a:ln>
          <a:effectLst/>
        </p:spPr>
        <p:txBody>
          <a:bodyPr wrap="none" anchor="ctr"/>
          <a:lstStyle/>
          <a:p>
            <a:pPr>
              <a:defRPr/>
            </a:pPr>
            <a:endParaRPr lang="en-US"/>
          </a:p>
        </p:txBody>
      </p:sp>
      <p:sp>
        <p:nvSpPr>
          <p:cNvPr id="9" name="Text Box 12"/>
          <p:cNvSpPr txBox="1">
            <a:spLocks noChangeArrowheads="1"/>
          </p:cNvSpPr>
          <p:nvPr userDrawn="1"/>
        </p:nvSpPr>
        <p:spPr bwMode="auto">
          <a:xfrm>
            <a:off x="1792965" y="497505"/>
            <a:ext cx="7058025" cy="461665"/>
          </a:xfrm>
          <a:prstGeom prst="rect">
            <a:avLst/>
          </a:prstGeom>
          <a:noFill/>
          <a:ln w="9525">
            <a:noFill/>
            <a:miter lim="800000"/>
            <a:headEnd/>
            <a:tailEnd/>
          </a:ln>
          <a:effectLst/>
        </p:spPr>
        <p:txBody>
          <a:bodyPr>
            <a:spAutoFit/>
          </a:bodyPr>
          <a:lstStyle/>
          <a:p>
            <a:pPr algn="ctr">
              <a:defRPr/>
            </a:pPr>
            <a:r>
              <a:rPr lang="en-US" sz="2400" b="1" u="none" noProof="0" dirty="0">
                <a:solidFill>
                  <a:srgbClr val="000099"/>
                </a:solidFill>
                <a:latin typeface="Arial" pitchFamily="34" charset="0"/>
                <a:cs typeface="Arial" pitchFamily="34" charset="0"/>
              </a:rPr>
              <a:t>Automotive Quality Universe</a:t>
            </a:r>
            <a:endParaRPr lang="en-GB" sz="2400" b="1" u="none" noProof="0" dirty="0">
              <a:solidFill>
                <a:srgbClr val="000099"/>
              </a:solidFill>
              <a:latin typeface="Arial" pitchFamily="34" charset="0"/>
              <a:cs typeface="Arial" pitchFamily="34" charset="0"/>
            </a:endParaRPr>
          </a:p>
        </p:txBody>
      </p:sp>
      <p:sp>
        <p:nvSpPr>
          <p:cNvPr id="10" name="Rectangle 46"/>
          <p:cNvSpPr>
            <a:spLocks noChangeArrowheads="1"/>
          </p:cNvSpPr>
          <p:nvPr userDrawn="1"/>
        </p:nvSpPr>
        <p:spPr bwMode="auto">
          <a:xfrm>
            <a:off x="0" y="0"/>
            <a:ext cx="1143000" cy="6858000"/>
          </a:xfrm>
          <a:prstGeom prst="rect">
            <a:avLst/>
          </a:prstGeom>
          <a:solidFill>
            <a:srgbClr val="354994"/>
          </a:solidFill>
          <a:ln w="9525">
            <a:noFill/>
            <a:miter lim="800000"/>
            <a:headEnd/>
            <a:tailEnd/>
          </a:ln>
          <a:effectLst/>
        </p:spPr>
        <p:txBody>
          <a:bodyPr wrap="none" anchor="ctr"/>
          <a:lstStyle/>
          <a:p>
            <a:pPr>
              <a:defRPr/>
            </a:pPr>
            <a:endParaRPr lang="fr-FR"/>
          </a:p>
        </p:txBody>
      </p:sp>
      <p:pic>
        <p:nvPicPr>
          <p:cNvPr id="11" name="Picture 58"/>
          <p:cNvPicPr>
            <a:picLocks noChangeAspect="1" noChangeArrowheads="1"/>
          </p:cNvPicPr>
          <p:nvPr userDrawn="1"/>
        </p:nvPicPr>
        <p:blipFill>
          <a:blip r:embed="rId3" cstate="print"/>
          <a:srcRect l="18750" r="6250" b="10257"/>
          <a:stretch>
            <a:fillRect/>
          </a:stretch>
        </p:blipFill>
        <p:spPr bwMode="auto">
          <a:xfrm>
            <a:off x="0" y="6191250"/>
            <a:ext cx="609600" cy="666750"/>
          </a:xfrm>
          <a:prstGeom prst="rect">
            <a:avLst/>
          </a:prstGeom>
          <a:noFill/>
          <a:ln w="9525">
            <a:noFill/>
            <a:miter lim="800000"/>
            <a:headEnd/>
            <a:tailEnd/>
          </a:ln>
        </p:spPr>
      </p:pic>
      <p:pic>
        <p:nvPicPr>
          <p:cNvPr id="12" name="Picture 59"/>
          <p:cNvPicPr>
            <a:picLocks noChangeAspect="1" noChangeArrowheads="1"/>
          </p:cNvPicPr>
          <p:nvPr userDrawn="1"/>
        </p:nvPicPr>
        <p:blipFill>
          <a:blip r:embed="rId3" cstate="print"/>
          <a:srcRect l="28125" r="6250" b="7693"/>
          <a:stretch>
            <a:fillRect/>
          </a:stretch>
        </p:blipFill>
        <p:spPr bwMode="auto">
          <a:xfrm>
            <a:off x="0" y="4343400"/>
            <a:ext cx="533400" cy="685800"/>
          </a:xfrm>
          <a:prstGeom prst="rect">
            <a:avLst/>
          </a:prstGeom>
          <a:noFill/>
          <a:ln w="9525">
            <a:noFill/>
            <a:miter lim="800000"/>
            <a:headEnd/>
            <a:tailEnd/>
          </a:ln>
        </p:spPr>
      </p:pic>
      <p:pic>
        <p:nvPicPr>
          <p:cNvPr id="13" name="Picture 60"/>
          <p:cNvPicPr>
            <a:picLocks noChangeAspect="1" noChangeArrowheads="1"/>
          </p:cNvPicPr>
          <p:nvPr userDrawn="1"/>
        </p:nvPicPr>
        <p:blipFill>
          <a:blip r:embed="rId4" cstate="print"/>
          <a:srcRect b="3786"/>
          <a:stretch>
            <a:fillRect/>
          </a:stretch>
        </p:blipFill>
        <p:spPr bwMode="auto">
          <a:xfrm>
            <a:off x="304800" y="5334000"/>
            <a:ext cx="762000" cy="685800"/>
          </a:xfrm>
          <a:prstGeom prst="rect">
            <a:avLst/>
          </a:prstGeom>
          <a:noFill/>
          <a:ln w="9525">
            <a:noFill/>
            <a:miter lim="800000"/>
            <a:headEnd/>
            <a:tailEnd/>
          </a:ln>
        </p:spPr>
      </p:pic>
      <p:pic>
        <p:nvPicPr>
          <p:cNvPr id="14" name="Picture 11"/>
          <p:cNvPicPr>
            <a:picLocks noChangeAspect="1" noChangeArrowheads="1"/>
          </p:cNvPicPr>
          <p:nvPr userDrawn="1"/>
        </p:nvPicPr>
        <p:blipFill>
          <a:blip r:embed="rId5" cstate="print"/>
          <a:srcRect/>
          <a:stretch>
            <a:fillRect/>
          </a:stretch>
        </p:blipFill>
        <p:spPr bwMode="auto">
          <a:xfrm>
            <a:off x="7391722" y="4997450"/>
            <a:ext cx="1428750" cy="931863"/>
          </a:xfrm>
          <a:prstGeom prst="rect">
            <a:avLst/>
          </a:prstGeom>
          <a:noFill/>
          <a:ln w="9525">
            <a:noFill/>
            <a:miter lim="800000"/>
            <a:headEnd/>
            <a:tailEnd/>
          </a:ln>
        </p:spPr>
      </p:pic>
      <p:sp>
        <p:nvSpPr>
          <p:cNvPr id="15" name="Text Box 10"/>
          <p:cNvSpPr txBox="1">
            <a:spLocks noChangeArrowheads="1"/>
          </p:cNvSpPr>
          <p:nvPr userDrawn="1"/>
        </p:nvSpPr>
        <p:spPr bwMode="auto">
          <a:xfrm>
            <a:off x="4786313" y="6234113"/>
            <a:ext cx="1604962" cy="338137"/>
          </a:xfrm>
          <a:prstGeom prst="rect">
            <a:avLst/>
          </a:prstGeom>
          <a:noFill/>
          <a:ln w="9525">
            <a:noFill/>
            <a:miter lim="800000"/>
            <a:headEnd/>
            <a:tailEnd/>
          </a:ln>
          <a:effectLst/>
        </p:spPr>
        <p:txBody>
          <a:bodyPr>
            <a:spAutoFit/>
          </a:bodyPr>
          <a:lstStyle/>
          <a:p>
            <a:pPr algn="r">
              <a:defRPr/>
            </a:pPr>
            <a:r>
              <a:rPr lang="en-GB" sz="1600" b="1" u="none" dirty="0">
                <a:solidFill>
                  <a:srgbClr val="000099"/>
                </a:solidFill>
                <a:latin typeface="Arial" pitchFamily="34" charset="0"/>
                <a:cs typeface="Arial" pitchFamily="34" charset="0"/>
              </a:rPr>
              <a:t>www.ecqa.org</a:t>
            </a:r>
          </a:p>
        </p:txBody>
      </p:sp>
      <p:sp>
        <p:nvSpPr>
          <p:cNvPr id="372738" name="Rectangle 2"/>
          <p:cNvSpPr>
            <a:spLocks noGrp="1" noChangeArrowheads="1"/>
          </p:cNvSpPr>
          <p:nvPr>
            <p:ph type="subTitle" idx="1"/>
          </p:nvPr>
        </p:nvSpPr>
        <p:spPr>
          <a:xfrm>
            <a:off x="1643042" y="3284538"/>
            <a:ext cx="7000924" cy="1752600"/>
          </a:xfrm>
        </p:spPr>
        <p:txBody>
          <a:bodyPr/>
          <a:lstStyle>
            <a:lvl1pPr marL="0" indent="0" algn="ctr">
              <a:buFontTx/>
              <a:buNone/>
              <a:defRPr b="1"/>
            </a:lvl1pPr>
          </a:lstStyle>
          <a:p>
            <a:r>
              <a:rPr lang="en-US" dirty="0"/>
              <a:t>Click to edit </a:t>
            </a:r>
            <a:r>
              <a:rPr lang="sl-SI" dirty="0"/>
              <a:t>Element</a:t>
            </a:r>
            <a:r>
              <a:rPr lang="en-US" dirty="0"/>
              <a:t> subtitle style</a:t>
            </a:r>
          </a:p>
        </p:txBody>
      </p:sp>
      <p:sp>
        <p:nvSpPr>
          <p:cNvPr id="372741" name="Rectangle 5"/>
          <p:cNvSpPr>
            <a:spLocks noGrp="1" noChangeArrowheads="1"/>
          </p:cNvSpPr>
          <p:nvPr>
            <p:ph type="ctrTitle"/>
          </p:nvPr>
        </p:nvSpPr>
        <p:spPr>
          <a:xfrm>
            <a:off x="1643041" y="1773238"/>
            <a:ext cx="7000925" cy="1470025"/>
          </a:xfrm>
        </p:spPr>
        <p:txBody>
          <a:bodyPr/>
          <a:lstStyle>
            <a:lvl1pPr>
              <a:defRPr sz="3200"/>
            </a:lvl1pPr>
          </a:lstStyle>
          <a:p>
            <a:r>
              <a:rPr lang="sl-SI" dirty="0"/>
              <a:t>CLICK HERE TO ADD UNIT TITLE</a:t>
            </a:r>
            <a:endParaRPr lang="en-US" dirty="0"/>
          </a:p>
        </p:txBody>
      </p:sp>
      <p:pic>
        <p:nvPicPr>
          <p:cNvPr id="2" name="Obrázek 1"/>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263055" y="185575"/>
            <a:ext cx="808838" cy="1085527"/>
          </a:xfrm>
          <a:prstGeom prst="rect">
            <a:avLst/>
          </a:prstGeom>
        </p:spPr>
      </p:pic>
      <p:pic>
        <p:nvPicPr>
          <p:cNvPr id="21" name="Obrázek 20"/>
          <p:cNvPicPr>
            <a:picLocks noChangeAspect="1"/>
          </p:cNvPicPr>
          <p:nvPr userDrawn="1"/>
        </p:nvPicPr>
        <p:blipFill>
          <a:blip r:embed="rId7"/>
          <a:stretch>
            <a:fillRect/>
          </a:stretch>
        </p:blipFill>
        <p:spPr>
          <a:xfrm>
            <a:off x="1223793" y="5250223"/>
            <a:ext cx="2451850" cy="589831"/>
          </a:xfrm>
          <a:prstGeom prst="rect">
            <a:avLst/>
          </a:prstGeom>
        </p:spPr>
      </p:pic>
      <p:sp>
        <p:nvSpPr>
          <p:cNvPr id="20" name="Text Box 6"/>
          <p:cNvSpPr txBox="1">
            <a:spLocks noChangeArrowheads="1"/>
          </p:cNvSpPr>
          <p:nvPr userDrawn="1"/>
        </p:nvSpPr>
        <p:spPr bwMode="auto">
          <a:xfrm>
            <a:off x="6948488" y="6296025"/>
            <a:ext cx="1871662" cy="276225"/>
          </a:xfrm>
          <a:prstGeom prst="rect">
            <a:avLst/>
          </a:prstGeom>
          <a:noFill/>
          <a:ln w="9525">
            <a:noFill/>
            <a:miter lim="800000"/>
            <a:headEnd/>
            <a:tailEnd/>
          </a:ln>
          <a:effectLst/>
        </p:spPr>
        <p:txBody>
          <a:bodyPr>
            <a:spAutoFit/>
          </a:bodyPr>
          <a:lstStyle/>
          <a:p>
            <a:pPr algn="r">
              <a:defRPr/>
            </a:pPr>
            <a:r>
              <a:rPr lang="en-GB" sz="1200" u="none" noProof="0" dirty="0">
                <a:solidFill>
                  <a:srgbClr val="000099"/>
                </a:solidFill>
                <a:latin typeface="Arial" pitchFamily="34" charset="0"/>
                <a:cs typeface="Arial" pitchFamily="34" charset="0"/>
              </a:rPr>
              <a:t>3</a:t>
            </a:r>
            <a:r>
              <a:rPr lang="sl-SI" sz="1200" u="none" noProof="0" dirty="0">
                <a:solidFill>
                  <a:srgbClr val="000099"/>
                </a:solidFill>
                <a:latin typeface="Arial" pitchFamily="34" charset="0"/>
                <a:cs typeface="Arial" pitchFamily="34" charset="0"/>
              </a:rPr>
              <a:t>. izdaja</a:t>
            </a:r>
            <a:endParaRPr lang="en-GB" sz="1200" u="none" noProof="0" dirty="0">
              <a:solidFill>
                <a:srgbClr val="000099"/>
              </a:solidFill>
              <a:latin typeface="Arial" pitchFamily="34" charset="0"/>
              <a:cs typeface="Arial" pitchFamily="34" charset="0"/>
            </a:endParaRPr>
          </a:p>
        </p:txBody>
      </p:sp>
      <p:sp>
        <p:nvSpPr>
          <p:cNvPr id="22" name="Text Box 8"/>
          <p:cNvSpPr txBox="1">
            <a:spLocks noChangeArrowheads="1"/>
          </p:cNvSpPr>
          <p:nvPr userDrawn="1"/>
        </p:nvSpPr>
        <p:spPr bwMode="auto">
          <a:xfrm>
            <a:off x="1285875" y="5989638"/>
            <a:ext cx="3311525" cy="692150"/>
          </a:xfrm>
          <a:prstGeom prst="rect">
            <a:avLst/>
          </a:prstGeom>
          <a:noFill/>
          <a:ln w="9525">
            <a:noFill/>
            <a:miter lim="800000"/>
            <a:headEnd/>
            <a:tailEnd/>
          </a:ln>
          <a:effectLst/>
        </p:spPr>
        <p:txBody>
          <a:bodyPr>
            <a:spAutoFit/>
          </a:bodyPr>
          <a:lstStyle/>
          <a:p>
            <a:pPr algn="ctr">
              <a:defRPr/>
            </a:pPr>
            <a:endParaRPr lang="en-GB" sz="900" u="none" noProof="0" dirty="0">
              <a:solidFill>
                <a:srgbClr val="000099"/>
              </a:solidFill>
              <a:latin typeface="Tw Cen MT" pitchFamily="34" charset="-18"/>
            </a:endParaRPr>
          </a:p>
          <a:p>
            <a:pPr>
              <a:defRPr/>
            </a:pPr>
            <a:r>
              <a:rPr lang="en-GB" sz="1200" u="none" noProof="0" dirty="0" err="1">
                <a:solidFill>
                  <a:srgbClr val="000099"/>
                </a:solidFill>
                <a:latin typeface="Arial" pitchFamily="34" charset="0"/>
              </a:rPr>
              <a:t>ECQA</a:t>
            </a:r>
            <a:r>
              <a:rPr lang="en-GB" sz="1200" u="none" noProof="0" dirty="0">
                <a:solidFill>
                  <a:srgbClr val="000099"/>
                </a:solidFill>
                <a:latin typeface="Arial" pitchFamily="34" charset="0"/>
              </a:rPr>
              <a:t> </a:t>
            </a:r>
            <a:r>
              <a:rPr lang="en-GB" sz="1200" u="none" noProof="0" dirty="0" err="1">
                <a:solidFill>
                  <a:srgbClr val="000099"/>
                </a:solidFill>
                <a:latin typeface="Arial" pitchFamily="34" charset="0"/>
              </a:rPr>
              <a:t>certificirano</a:t>
            </a:r>
            <a:r>
              <a:rPr lang="en-GB" sz="1200" u="none" noProof="0" dirty="0">
                <a:solidFill>
                  <a:srgbClr val="000099"/>
                </a:solidFill>
                <a:latin typeface="Arial" pitchFamily="34" charset="0"/>
              </a:rPr>
              <a:t> </a:t>
            </a:r>
            <a:r>
              <a:rPr lang="en-GB" sz="1200" u="none" noProof="0" dirty="0" err="1">
                <a:solidFill>
                  <a:srgbClr val="000099"/>
                </a:solidFill>
                <a:latin typeface="Arial" pitchFamily="34" charset="0"/>
              </a:rPr>
              <a:t>učno</a:t>
            </a:r>
            <a:r>
              <a:rPr lang="en-GB" sz="1200" u="none" noProof="0" dirty="0">
                <a:solidFill>
                  <a:srgbClr val="000099"/>
                </a:solidFill>
                <a:latin typeface="Arial" pitchFamily="34" charset="0"/>
              </a:rPr>
              <a:t> </a:t>
            </a:r>
            <a:r>
              <a:rPr lang="en-GB" sz="1200" u="none" noProof="0" dirty="0" err="1">
                <a:solidFill>
                  <a:srgbClr val="000099"/>
                </a:solidFill>
                <a:latin typeface="Arial" pitchFamily="34" charset="0"/>
              </a:rPr>
              <a:t>gradivo</a:t>
            </a:r>
            <a:r>
              <a:rPr lang="en-GB" sz="1200" u="none" noProof="0" dirty="0">
                <a:solidFill>
                  <a:srgbClr val="000099"/>
                </a:solidFill>
                <a:latin typeface="Arial" pitchFamily="34" charset="0"/>
              </a:rPr>
              <a:t> </a:t>
            </a:r>
          </a:p>
          <a:p>
            <a:pPr algn="ctr">
              <a:defRPr/>
            </a:pPr>
            <a:endParaRPr lang="sl-SI" sz="600" u="none" noProof="0" dirty="0">
              <a:solidFill>
                <a:srgbClr val="000099"/>
              </a:solidFill>
              <a:latin typeface="Arial" pitchFamily="34" charset="0"/>
              <a:cs typeface="Arial" pitchFamily="34" charset="0"/>
            </a:endParaRPr>
          </a:p>
          <a:p>
            <a:pPr>
              <a:defRPr/>
            </a:pPr>
            <a:r>
              <a:rPr lang="en-GB" sz="1200" u="none" noProof="0" dirty="0" err="1">
                <a:solidFill>
                  <a:srgbClr val="000099"/>
                </a:solidFill>
                <a:latin typeface="Arial" pitchFamily="34" charset="0"/>
              </a:rPr>
              <a:t>Avtorji</a:t>
            </a:r>
            <a:r>
              <a:rPr lang="en-GB" sz="1200" u="none" noProof="0" dirty="0">
                <a:solidFill>
                  <a:srgbClr val="000099"/>
                </a:solidFill>
                <a:latin typeface="Arial" pitchFamily="34" charset="0"/>
              </a:rPr>
              <a:t>: </a:t>
            </a:r>
            <a:r>
              <a:rPr lang="en-GB" sz="1200" u="none" noProof="0" dirty="0" err="1">
                <a:solidFill>
                  <a:srgbClr val="000099"/>
                </a:solidFill>
                <a:latin typeface="Arial" pitchFamily="34" charset="0"/>
              </a:rPr>
              <a:t>AQU</a:t>
            </a:r>
            <a:r>
              <a:rPr lang="en-GB" sz="1200" u="none" noProof="0" dirty="0">
                <a:solidFill>
                  <a:srgbClr val="000099"/>
                </a:solidFill>
                <a:latin typeface="Arial" pitchFamily="34" charset="0"/>
              </a:rPr>
              <a:t> </a:t>
            </a:r>
            <a:r>
              <a:rPr lang="en-GB" sz="1200" u="none" noProof="0" dirty="0" err="1">
                <a:solidFill>
                  <a:srgbClr val="000099"/>
                </a:solidFill>
                <a:latin typeface="Arial" pitchFamily="34" charset="0"/>
              </a:rPr>
              <a:t>Odbor</a:t>
            </a:r>
            <a:r>
              <a:rPr lang="en-GB" sz="1200" u="none" noProof="0" dirty="0">
                <a:solidFill>
                  <a:srgbClr val="000099"/>
                </a:solidFill>
                <a:latin typeface="Arial" pitchFamily="34" charset="0"/>
              </a:rPr>
              <a:t> </a:t>
            </a:r>
            <a:r>
              <a:rPr lang="en-GB" sz="1200" u="none" noProof="0" dirty="0" err="1">
                <a:solidFill>
                  <a:srgbClr val="000099"/>
                </a:solidFill>
                <a:latin typeface="Arial" pitchFamily="34" charset="0"/>
              </a:rPr>
              <a:t>za</a:t>
            </a:r>
            <a:r>
              <a:rPr lang="en-GB" sz="1200" u="none" noProof="0" dirty="0">
                <a:solidFill>
                  <a:srgbClr val="000099"/>
                </a:solidFill>
                <a:latin typeface="Arial" pitchFamily="34" charset="0"/>
              </a:rPr>
              <a:t> </a:t>
            </a:r>
            <a:r>
              <a:rPr lang="en-GB" sz="1200" u="none" noProof="0" dirty="0" err="1">
                <a:solidFill>
                  <a:srgbClr val="000099"/>
                </a:solidFill>
                <a:latin typeface="Arial" pitchFamily="34" charset="0"/>
              </a:rPr>
              <a:t>učna</a:t>
            </a:r>
            <a:r>
              <a:rPr lang="en-GB" sz="1200" u="none" noProof="0" dirty="0">
                <a:solidFill>
                  <a:srgbClr val="000099"/>
                </a:solidFill>
                <a:latin typeface="Arial" pitchFamily="34" charset="0"/>
              </a:rPr>
              <a:t> </a:t>
            </a:r>
            <a:r>
              <a:rPr lang="en-GB" sz="1200" u="none" noProof="0" dirty="0" err="1">
                <a:solidFill>
                  <a:srgbClr val="000099"/>
                </a:solidFill>
                <a:latin typeface="Arial" pitchFamily="34" charset="0"/>
              </a:rPr>
              <a:t>gradiva</a:t>
            </a:r>
            <a:r>
              <a:rPr lang="en-GB" sz="1200" u="none" noProof="0" dirty="0">
                <a:solidFill>
                  <a:srgbClr val="000099"/>
                </a:solidFill>
                <a:latin typeface="Arial" pitchFamily="34" charset="0"/>
              </a:rPr>
              <a:t> </a:t>
            </a:r>
            <a:endParaRPr lang="sl-SI" sz="1200" u="none" noProof="0" dirty="0">
              <a:solidFill>
                <a:srgbClr val="000099"/>
              </a:solidFill>
              <a:latin typeface="Arial" pitchFamily="34" charset="0"/>
              <a:cs typeface="Arial" pitchFamily="34" charset="0"/>
            </a:endParaRPr>
          </a:p>
        </p:txBody>
      </p:sp>
      <p:sp>
        <p:nvSpPr>
          <p:cNvPr id="23" name="Text Box 5"/>
          <p:cNvSpPr txBox="1">
            <a:spLocks noChangeArrowheads="1"/>
          </p:cNvSpPr>
          <p:nvPr userDrawn="1"/>
        </p:nvSpPr>
        <p:spPr bwMode="auto">
          <a:xfrm>
            <a:off x="3546085" y="5142424"/>
            <a:ext cx="3551783" cy="707886"/>
          </a:xfrm>
          <a:prstGeom prst="rect">
            <a:avLst/>
          </a:prstGeom>
          <a:noFill/>
          <a:ln w="9525">
            <a:noFill/>
            <a:miter lim="800000"/>
            <a:headEnd/>
            <a:tailEnd/>
          </a:ln>
        </p:spPr>
        <p:txBody>
          <a:bodyPr wrap="square">
            <a:spAutoFit/>
          </a:bodyPr>
          <a:lstStyle/>
          <a:p>
            <a:pPr algn="ctr"/>
            <a:r>
              <a:rPr lang="en-US" sz="800" u="none" noProof="0" dirty="0">
                <a:solidFill>
                  <a:srgbClr val="000099"/>
                </a:solidFill>
                <a:latin typeface="Tw Cen MT" pitchFamily="34" charset="0"/>
              </a:rPr>
              <a:t>Automotive Quality Universities – </a:t>
            </a:r>
            <a:r>
              <a:rPr lang="en-US" sz="800" u="none" noProof="0" dirty="0" err="1">
                <a:solidFill>
                  <a:srgbClr val="000099"/>
                </a:solidFill>
                <a:latin typeface="Tw Cen MT" pitchFamily="34" charset="0"/>
              </a:rPr>
              <a:t>AutoUniverse</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AQU</a:t>
            </a:r>
            <a:r>
              <a:rPr lang="en-US" sz="800" u="none" noProof="0" dirty="0">
                <a:solidFill>
                  <a:srgbClr val="000099"/>
                </a:solidFill>
                <a:latin typeface="Tw Cen MT" pitchFamily="34" charset="0"/>
              </a:rPr>
              <a:t>).</a:t>
            </a:r>
          </a:p>
          <a:p>
            <a:pPr algn="ctr"/>
            <a:r>
              <a:rPr lang="sl-SI" sz="800" u="none" noProof="0" dirty="0">
                <a:solidFill>
                  <a:srgbClr val="000099"/>
                </a:solidFill>
                <a:latin typeface="Tw Cen MT" pitchFamily="34" charset="0"/>
              </a:rPr>
              <a:t>Ta projekt je bil sofinanciran v okviru programa </a:t>
            </a:r>
            <a:r>
              <a:rPr lang="sl-SI" sz="800" u="none" noProof="0" dirty="0" err="1">
                <a:solidFill>
                  <a:srgbClr val="000099"/>
                </a:solidFill>
                <a:latin typeface="Tw Cen MT" pitchFamily="34" charset="0"/>
              </a:rPr>
              <a:t>Evropsek</a:t>
            </a:r>
            <a:r>
              <a:rPr lang="sl-SI" sz="800" u="none" baseline="0" noProof="0" dirty="0">
                <a:solidFill>
                  <a:srgbClr val="000099"/>
                </a:solidFill>
                <a:latin typeface="Tw Cen MT" pitchFamily="34" charset="0"/>
              </a:rPr>
              <a:t> unije </a:t>
            </a:r>
            <a:r>
              <a:rPr lang="sl-SI" sz="800" u="none" noProof="0" dirty="0">
                <a:solidFill>
                  <a:srgbClr val="000099"/>
                </a:solidFill>
                <a:latin typeface="Tw Cen MT" pitchFamily="34" charset="0"/>
              </a:rPr>
              <a:t>E</a:t>
            </a:r>
            <a:r>
              <a:rPr lang="en-US" sz="800" u="none" noProof="0" dirty="0" err="1">
                <a:solidFill>
                  <a:srgbClr val="000099"/>
                </a:solidFill>
                <a:latin typeface="Tw Cen MT" pitchFamily="34" charset="0"/>
              </a:rPr>
              <a:t>rasmus</a:t>
            </a:r>
            <a:r>
              <a:rPr lang="en-US" sz="800" u="none" noProof="0" dirty="0">
                <a:solidFill>
                  <a:srgbClr val="000099"/>
                </a:solidFill>
                <a:latin typeface="Tw Cen MT" pitchFamily="34" charset="0"/>
              </a:rPr>
              <a:t>+ - 2015-1-CZ01-KA203-013986. Ta </a:t>
            </a:r>
            <a:r>
              <a:rPr lang="en-US" sz="800" u="none" noProof="0" dirty="0" err="1">
                <a:solidFill>
                  <a:srgbClr val="000099"/>
                </a:solidFill>
                <a:latin typeface="Tw Cen MT" pitchFamily="34" charset="0"/>
              </a:rPr>
              <a:t>publikacija</a:t>
            </a:r>
            <a:r>
              <a:rPr lang="en-US" sz="800" u="none" noProof="0" dirty="0">
                <a:solidFill>
                  <a:srgbClr val="000099"/>
                </a:solidFill>
                <a:latin typeface="Tw Cen MT" pitchFamily="34" charset="0"/>
              </a:rPr>
              <a:t>/</a:t>
            </a:r>
            <a:r>
              <a:rPr lang="en-US" sz="800" u="none" noProof="0" dirty="0" err="1">
                <a:solidFill>
                  <a:srgbClr val="000099"/>
                </a:solidFill>
                <a:latin typeface="Tw Cen MT" pitchFamily="34" charset="0"/>
              </a:rPr>
              <a:t>sporočilo</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odraža</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stališče</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avtorjev</a:t>
            </a:r>
            <a:r>
              <a:rPr lang="en-US" sz="800" u="none" noProof="0" dirty="0">
                <a:solidFill>
                  <a:srgbClr val="000099"/>
                </a:solidFill>
                <a:latin typeface="Tw Cen MT" pitchFamily="34" charset="0"/>
              </a:rPr>
              <a:t> in </a:t>
            </a:r>
            <a:r>
              <a:rPr lang="en-US" sz="800" u="none" noProof="0" dirty="0" err="1">
                <a:solidFill>
                  <a:srgbClr val="000099"/>
                </a:solidFill>
                <a:latin typeface="Tw Cen MT" pitchFamily="34" charset="0"/>
              </a:rPr>
              <a:t>Komisija</a:t>
            </a:r>
            <a:r>
              <a:rPr lang="en-US" sz="800" u="none" noProof="0" dirty="0">
                <a:solidFill>
                  <a:srgbClr val="000099"/>
                </a:solidFill>
                <a:latin typeface="Tw Cen MT" pitchFamily="34" charset="0"/>
              </a:rPr>
              <a:t> ne </a:t>
            </a:r>
            <a:r>
              <a:rPr lang="en-US" sz="800" u="none" noProof="0" dirty="0" err="1">
                <a:solidFill>
                  <a:srgbClr val="000099"/>
                </a:solidFill>
                <a:latin typeface="Tw Cen MT" pitchFamily="34" charset="0"/>
              </a:rPr>
              <a:t>prevzema</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odgovornosti</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za</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kakršnokoli</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uporabo</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informacij</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ki</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jih</a:t>
            </a:r>
            <a:r>
              <a:rPr lang="en-US" sz="800" u="none" noProof="0" dirty="0">
                <a:solidFill>
                  <a:srgbClr val="000099"/>
                </a:solidFill>
                <a:latin typeface="Tw Cen MT" pitchFamily="34" charset="0"/>
              </a:rPr>
              <a:t> </a:t>
            </a:r>
            <a:r>
              <a:rPr lang="en-US" sz="800" u="none" noProof="0" dirty="0" err="1">
                <a:solidFill>
                  <a:srgbClr val="000099"/>
                </a:solidFill>
                <a:latin typeface="Tw Cen MT" pitchFamily="34" charset="0"/>
              </a:rPr>
              <a:t>vsebuje</a:t>
            </a:r>
            <a:r>
              <a:rPr lang="en-US" sz="800" u="none" noProof="0" dirty="0">
                <a:solidFill>
                  <a:srgbClr val="000099"/>
                </a:solidFill>
                <a:latin typeface="Tw Cen MT" pitchFamily="34" charset="0"/>
              </a:rPr>
              <a:t>. </a:t>
            </a:r>
          </a:p>
        </p:txBody>
      </p:sp>
    </p:spTree>
    <p:extLst>
      <p:ext uri="{BB962C8B-B14F-4D97-AF65-F5344CB8AC3E}">
        <p14:creationId xmlns:p14="http://schemas.microsoft.com/office/powerpoint/2010/main" val="3868321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2pPr>
              <a:defRPr sz="2400"/>
            </a:lvl2pPr>
            <a:lvl4pPr>
              <a:defRPr sz="20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36006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tif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jdelijke aanduiding voor titel 1"/>
          <p:cNvSpPr>
            <a:spLocks noGrp="1"/>
          </p:cNvSpPr>
          <p:nvPr>
            <p:ph type="title"/>
          </p:nvPr>
        </p:nvSpPr>
        <p:spPr bwMode="auto">
          <a:xfrm>
            <a:off x="1765300" y="238125"/>
            <a:ext cx="6478588" cy="6000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nl-NL"/>
              <a:t>Click here for slide title</a:t>
            </a:r>
            <a:endParaRPr lang="nl-NL" altLang="nl-NL"/>
          </a:p>
        </p:txBody>
      </p:sp>
      <p:sp>
        <p:nvSpPr>
          <p:cNvPr id="1027" name="Tijdelijke aanduiding voor tekst 2"/>
          <p:cNvSpPr>
            <a:spLocks noGrp="1"/>
          </p:cNvSpPr>
          <p:nvPr>
            <p:ph type="body" idx="1"/>
          </p:nvPr>
        </p:nvSpPr>
        <p:spPr bwMode="auto">
          <a:xfrm>
            <a:off x="720725" y="1341438"/>
            <a:ext cx="7920038" cy="5040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nl-NL" altLang="nl-NL"/>
              <a:t>Klik om de modelstijlen te bewerken</a:t>
            </a:r>
          </a:p>
          <a:p>
            <a:pPr lvl="1"/>
            <a:r>
              <a:rPr lang="nl-NL" altLang="nl-NL"/>
              <a:t>Tweede niveau</a:t>
            </a:r>
          </a:p>
          <a:p>
            <a:pPr lvl="2"/>
            <a:r>
              <a:rPr lang="nl-NL" altLang="nl-NL"/>
              <a:t>Derde niveau</a:t>
            </a:r>
          </a:p>
          <a:p>
            <a:pPr lvl="3"/>
            <a:r>
              <a:rPr lang="nl-NL" altLang="nl-NL"/>
              <a:t>Vierde niveau</a:t>
            </a:r>
          </a:p>
          <a:p>
            <a:pPr lvl="4"/>
            <a:r>
              <a:rPr lang="nl-NL" altLang="nl-NL"/>
              <a:t>Vijfde niveau</a:t>
            </a:r>
          </a:p>
        </p:txBody>
      </p:sp>
      <p:sp>
        <p:nvSpPr>
          <p:cNvPr id="1032" name="Line 3"/>
          <p:cNvSpPr>
            <a:spLocks noChangeShapeType="1"/>
          </p:cNvSpPr>
          <p:nvPr/>
        </p:nvSpPr>
        <p:spPr bwMode="auto">
          <a:xfrm flipV="1">
            <a:off x="1403350" y="928688"/>
            <a:ext cx="7489825" cy="0"/>
          </a:xfrm>
          <a:prstGeom prst="line">
            <a:avLst/>
          </a:prstGeom>
          <a:noFill/>
          <a:ln w="38100">
            <a:solidFill>
              <a:srgbClr val="333399"/>
            </a:solidFill>
            <a:round/>
            <a:headEnd/>
            <a:tailEnd/>
          </a:ln>
        </p:spPr>
        <p:txBody>
          <a:bodyPr wrap="none" anchor="ctr"/>
          <a:lstStyle/>
          <a:p>
            <a:endParaRPr lang="sv-SE"/>
          </a:p>
        </p:txBody>
      </p:sp>
      <p:sp>
        <p:nvSpPr>
          <p:cNvPr id="3" name="Line 4"/>
          <p:cNvSpPr>
            <a:spLocks noChangeShapeType="1"/>
          </p:cNvSpPr>
          <p:nvPr/>
        </p:nvSpPr>
        <p:spPr bwMode="auto">
          <a:xfrm>
            <a:off x="312738" y="6664325"/>
            <a:ext cx="8602662" cy="4763"/>
          </a:xfrm>
          <a:prstGeom prst="line">
            <a:avLst/>
          </a:prstGeom>
          <a:noFill/>
          <a:ln w="38100">
            <a:solidFill>
              <a:srgbClr val="333399"/>
            </a:solidFill>
            <a:round/>
            <a:headEnd/>
            <a:tailEnd/>
          </a:ln>
        </p:spPr>
        <p:txBody>
          <a:bodyPr wrap="none" anchor="ctr"/>
          <a:lstStyle/>
          <a:p>
            <a:endParaRPr lang="sv-SE"/>
          </a:p>
        </p:txBody>
      </p:sp>
      <p:sp>
        <p:nvSpPr>
          <p:cNvPr id="11" name="Rectangle 9"/>
          <p:cNvSpPr>
            <a:spLocks noChangeArrowheads="1"/>
          </p:cNvSpPr>
          <p:nvPr userDrawn="1"/>
        </p:nvSpPr>
        <p:spPr bwMode="auto">
          <a:xfrm>
            <a:off x="7272807" y="6683375"/>
            <a:ext cx="1871193"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altLang="nl-NL" sz="1200" b="1" i="0" u="none" strike="noStrike" kern="0" cap="none" spc="0" normalizeH="0" baseline="0" noProof="0" dirty="0">
                <a:ln>
                  <a:noFill/>
                </a:ln>
                <a:solidFill>
                  <a:srgbClr val="002060"/>
                </a:solidFill>
                <a:effectLst/>
                <a:uLnTx/>
                <a:uFillTx/>
                <a:latin typeface="Calibri" pitchFamily="34" charset="0"/>
                <a:cs typeface="Arial" charset="0"/>
              </a:rPr>
              <a:t>U4.E2-SIXSIGMA-</a:t>
            </a:r>
            <a:fld id="{583DABBC-1C65-4A90-A85E-E309129F042D}" type="slidenum">
              <a:rPr kumimoji="0" lang="nl-NL" altLang="nl-NL" sz="1200" b="1" i="0" u="none" strike="noStrike" kern="0" cap="none" spc="0" normalizeH="0" baseline="0" noProof="0" smtClean="0">
                <a:ln>
                  <a:noFill/>
                </a:ln>
                <a:solidFill>
                  <a:srgbClr val="002060"/>
                </a:solidFill>
                <a:effectLst/>
                <a:uLnTx/>
                <a:uFillTx/>
                <a:latin typeface="Calibri" pitchFamily="34" charset="0"/>
                <a:cs typeface="Arial" charset="0"/>
              </a:rPr>
              <a:pPr marL="0" marR="0" lvl="0" indent="0" algn="ctr" defTabSz="914400" eaLnBrk="1" fontAlgn="auto" latinLnBrk="0" hangingPunct="1">
                <a:lnSpc>
                  <a:spcPct val="100000"/>
                </a:lnSpc>
                <a:spcBef>
                  <a:spcPts val="0"/>
                </a:spcBef>
                <a:spcAft>
                  <a:spcPts val="0"/>
                </a:spcAft>
                <a:buClrTx/>
                <a:buSzTx/>
                <a:buFontTx/>
                <a:buNone/>
                <a:tabLst/>
                <a:defRPr/>
              </a:pPr>
              <a:t>‹#›</a:t>
            </a:fld>
            <a:endParaRPr kumimoji="0" lang="nl-NL" altLang="nl-NL" sz="1200" b="1" i="0" u="none" strike="noStrike" kern="0" cap="none" spc="0" normalizeH="0" baseline="0" noProof="0" dirty="0">
              <a:ln>
                <a:noFill/>
              </a:ln>
              <a:solidFill>
                <a:srgbClr val="002060"/>
              </a:solidFill>
              <a:effectLst/>
              <a:uLnTx/>
              <a:uFillTx/>
              <a:latin typeface="Calibri" pitchFamily="34" charset="0"/>
              <a:cs typeface="Arial" charset="0"/>
            </a:endParaRPr>
          </a:p>
        </p:txBody>
      </p:sp>
      <p:pic>
        <p:nvPicPr>
          <p:cNvPr id="12" name="Obrázek 11"/>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312738" y="114623"/>
            <a:ext cx="808838" cy="1085527"/>
          </a:xfrm>
          <a:prstGeom prst="rect">
            <a:avLst/>
          </a:prstGeom>
        </p:spPr>
      </p:pic>
      <p:sp>
        <p:nvSpPr>
          <p:cNvPr id="9" name="Tijdelijke aanduiding voor voettekst 4"/>
          <p:cNvSpPr>
            <a:spLocks noGrp="1"/>
          </p:cNvSpPr>
          <p:nvPr>
            <p:ph type="ftr" sz="quarter" idx="3"/>
          </p:nvPr>
        </p:nvSpPr>
        <p:spPr>
          <a:xfrm>
            <a:off x="3852863" y="6710363"/>
            <a:ext cx="1439862" cy="161925"/>
          </a:xfrm>
          <a:prstGeom prst="rect">
            <a:avLst/>
          </a:prstGeom>
        </p:spPr>
        <p:txBody>
          <a:bodyPr vert="horz" lIns="91440" tIns="45720" rIns="91440" bIns="45720" rtlCol="0" anchor="ctr"/>
          <a:lstStyle>
            <a:lvl1pPr algn="l" fontAlgn="auto">
              <a:spcBef>
                <a:spcPts val="0"/>
              </a:spcBef>
              <a:spcAft>
                <a:spcPts val="0"/>
              </a:spcAft>
              <a:defRPr sz="1000">
                <a:solidFill>
                  <a:srgbClr val="002060"/>
                </a:solidFill>
                <a:latin typeface="+mn-lt"/>
                <a:cs typeface="+mn-cs"/>
              </a:defRPr>
            </a:lvl1pPr>
          </a:lstStyle>
          <a:p>
            <a:pPr algn="ctr">
              <a:defRPr/>
            </a:pPr>
            <a:r>
              <a:rPr lang="nl-NL" dirty="0"/>
              <a:t>3</a:t>
            </a:r>
            <a:r>
              <a:rPr lang="sl-SI" dirty="0"/>
              <a:t>. izdaja</a:t>
            </a:r>
            <a:endParaRPr lang="nl-NL" dirty="0"/>
          </a:p>
        </p:txBody>
      </p:sp>
      <p:sp>
        <p:nvSpPr>
          <p:cNvPr id="10" name="Text Box 20"/>
          <p:cNvSpPr txBox="1">
            <a:spLocks noChangeArrowheads="1"/>
          </p:cNvSpPr>
          <p:nvPr userDrawn="1"/>
        </p:nvSpPr>
        <p:spPr bwMode="auto">
          <a:xfrm>
            <a:off x="252413" y="6697663"/>
            <a:ext cx="1295400"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tIns="0" bIns="0" anchor="b"/>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spcBef>
                <a:spcPct val="20000"/>
              </a:spcBef>
              <a:buClr>
                <a:srgbClr val="0000FF"/>
              </a:buClr>
              <a:buSzPct val="125000"/>
              <a:defRPr/>
            </a:pPr>
            <a:r>
              <a:rPr lang="en-GB" sz="1000" dirty="0" err="1">
                <a:solidFill>
                  <a:srgbClr val="000099"/>
                </a:solidFill>
                <a:latin typeface="Arial" pitchFamily="34" charset="0"/>
                <a:cs typeface="Arial" pitchFamily="34" charset="0"/>
              </a:rPr>
              <a:t>ECQA</a:t>
            </a:r>
            <a:r>
              <a:rPr lang="en-GB" sz="1000" dirty="0">
                <a:solidFill>
                  <a:srgbClr val="000099"/>
                </a:solidFill>
                <a:latin typeface="Arial" pitchFamily="34" charset="0"/>
                <a:cs typeface="Arial" pitchFamily="34" charset="0"/>
              </a:rPr>
              <a:t> </a:t>
            </a:r>
            <a:r>
              <a:rPr lang="sl-SI" sz="1000" dirty="0">
                <a:solidFill>
                  <a:srgbClr val="000099"/>
                </a:solidFill>
                <a:latin typeface="Arial" pitchFamily="34" charset="0"/>
                <a:cs typeface="Arial" pitchFamily="34" charset="0"/>
              </a:rPr>
              <a:t>certificirano</a:t>
            </a:r>
            <a:r>
              <a:rPr lang="sl-SI" sz="1000" baseline="0" dirty="0">
                <a:solidFill>
                  <a:srgbClr val="000099"/>
                </a:solidFill>
                <a:latin typeface="Arial" pitchFamily="34" charset="0"/>
                <a:cs typeface="Arial" pitchFamily="34" charset="0"/>
              </a:rPr>
              <a:t> učno gradivo</a:t>
            </a:r>
            <a:endParaRPr lang="en-US" sz="1000" dirty="0">
              <a:solidFill>
                <a:srgbClr val="002060"/>
              </a:solidFill>
            </a:endParaRPr>
          </a:p>
        </p:txBody>
      </p:sp>
    </p:spTree>
  </p:cSld>
  <p:clrMap bg1="lt1" tx1="dk1" bg2="lt2" tx2="dk2" accent1="accent1" accent2="accent2" accent3="accent3" accent4="accent4" accent5="accent5" accent6="accent6" hlink="hlink" folHlink="folHlink"/>
  <p:sldLayoutIdLst>
    <p:sldLayoutId id="2147483906" r:id="rId1"/>
    <p:sldLayoutId id="2147483908" r:id="rId2"/>
    <p:sldLayoutId id="2147483909" r:id="rId3"/>
    <p:sldLayoutId id="2147483910" r:id="rId4"/>
    <p:sldLayoutId id="2147483917" r:id="rId5"/>
    <p:sldLayoutId id="2147483918" r:id="rId6"/>
  </p:sldLayoutIdLst>
  <p:hf sldNum="0" hdr="0" dt="0"/>
  <p:txStyles>
    <p:titleStyle>
      <a:lvl1pPr algn="ctr" rtl="0" eaLnBrk="0" fontAlgn="base" hangingPunct="0">
        <a:spcBef>
          <a:spcPct val="0"/>
        </a:spcBef>
        <a:spcAft>
          <a:spcPct val="0"/>
        </a:spcAft>
        <a:defRPr lang="nl-NL" sz="28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2800" b="1">
          <a:solidFill>
            <a:schemeClr val="tx1"/>
          </a:solidFill>
          <a:latin typeface="Arial" charset="0"/>
          <a:cs typeface="Arial" charset="0"/>
        </a:defRPr>
      </a:lvl2pPr>
      <a:lvl3pPr algn="ctr" rtl="0" eaLnBrk="0" fontAlgn="base" hangingPunct="0">
        <a:spcBef>
          <a:spcPct val="0"/>
        </a:spcBef>
        <a:spcAft>
          <a:spcPct val="0"/>
        </a:spcAft>
        <a:defRPr sz="2800" b="1">
          <a:solidFill>
            <a:schemeClr val="tx1"/>
          </a:solidFill>
          <a:latin typeface="Arial" charset="0"/>
          <a:cs typeface="Arial" charset="0"/>
        </a:defRPr>
      </a:lvl3pPr>
      <a:lvl4pPr algn="ctr" rtl="0" eaLnBrk="0" fontAlgn="base" hangingPunct="0">
        <a:spcBef>
          <a:spcPct val="0"/>
        </a:spcBef>
        <a:spcAft>
          <a:spcPct val="0"/>
        </a:spcAft>
        <a:defRPr sz="2800" b="1">
          <a:solidFill>
            <a:schemeClr val="tx1"/>
          </a:solidFill>
          <a:latin typeface="Arial" charset="0"/>
          <a:cs typeface="Arial" charset="0"/>
        </a:defRPr>
      </a:lvl4pPr>
      <a:lvl5pPr algn="ctr" rtl="0" eaLnBrk="0" fontAlgn="base" hangingPunct="0">
        <a:spcBef>
          <a:spcPct val="0"/>
        </a:spcBef>
        <a:spcAft>
          <a:spcPct val="0"/>
        </a:spcAft>
        <a:defRPr sz="2800" b="1">
          <a:solidFill>
            <a:schemeClr val="tx1"/>
          </a:solidFill>
          <a:latin typeface="Arial" charset="0"/>
          <a:cs typeface="Arial" charset="0"/>
        </a:defRPr>
      </a:lvl5pPr>
      <a:lvl6pPr marL="457200" algn="ctr" rtl="0" fontAlgn="base">
        <a:spcBef>
          <a:spcPct val="0"/>
        </a:spcBef>
        <a:spcAft>
          <a:spcPct val="0"/>
        </a:spcAft>
        <a:defRPr sz="2800" b="1">
          <a:solidFill>
            <a:srgbClr val="FEF6D6"/>
          </a:solidFill>
          <a:latin typeface="Arial" charset="0"/>
          <a:cs typeface="Arial" charset="0"/>
        </a:defRPr>
      </a:lvl6pPr>
      <a:lvl7pPr marL="914400" algn="ctr" rtl="0" fontAlgn="base">
        <a:spcBef>
          <a:spcPct val="0"/>
        </a:spcBef>
        <a:spcAft>
          <a:spcPct val="0"/>
        </a:spcAft>
        <a:defRPr sz="2800" b="1">
          <a:solidFill>
            <a:srgbClr val="FEF6D6"/>
          </a:solidFill>
          <a:latin typeface="Arial" charset="0"/>
          <a:cs typeface="Arial" charset="0"/>
        </a:defRPr>
      </a:lvl7pPr>
      <a:lvl8pPr marL="1371600" algn="ctr" rtl="0" fontAlgn="base">
        <a:spcBef>
          <a:spcPct val="0"/>
        </a:spcBef>
        <a:spcAft>
          <a:spcPct val="0"/>
        </a:spcAft>
        <a:defRPr sz="2800" b="1">
          <a:solidFill>
            <a:srgbClr val="FEF6D6"/>
          </a:solidFill>
          <a:latin typeface="Arial" charset="0"/>
          <a:cs typeface="Arial" charset="0"/>
        </a:defRPr>
      </a:lvl8pPr>
      <a:lvl9pPr marL="1828800" algn="ctr" rtl="0" fontAlgn="base">
        <a:spcBef>
          <a:spcPct val="0"/>
        </a:spcBef>
        <a:spcAft>
          <a:spcPct val="0"/>
        </a:spcAft>
        <a:defRPr sz="2800" b="1">
          <a:solidFill>
            <a:srgbClr val="FEF6D6"/>
          </a:solidFill>
          <a:latin typeface="Arial" charset="0"/>
          <a:cs typeface="Arial" charset="0"/>
        </a:defRPr>
      </a:lvl9pPr>
    </p:titleStyle>
    <p:bodyStyle>
      <a:lvl1pPr marL="342900" indent="-342900" algn="l" rtl="0" eaLnBrk="0" fontAlgn="base" hangingPunct="0">
        <a:spcBef>
          <a:spcPct val="20000"/>
        </a:spcBef>
        <a:spcAft>
          <a:spcPct val="0"/>
        </a:spcAft>
        <a:buFont typeface="Arial" charset="0"/>
        <a:defRPr sz="2400" b="1" kern="1200">
          <a:solidFill>
            <a:schemeClr val="tx1"/>
          </a:solidFill>
          <a:latin typeface="Arial" pitchFamily="34" charset="0"/>
          <a:ea typeface="+mn-ea"/>
          <a:cs typeface="Arial" pitchFamily="34" charset="0"/>
        </a:defRPr>
      </a:lvl1pPr>
      <a:lvl2pPr marL="444500" indent="-265113" algn="l" rtl="0" eaLnBrk="0" fontAlgn="base" hangingPunct="0">
        <a:spcBef>
          <a:spcPct val="20000"/>
        </a:spcBef>
        <a:spcAft>
          <a:spcPct val="0"/>
        </a:spcAft>
        <a:buClr>
          <a:srgbClr val="0000FF"/>
        </a:buClr>
        <a:buSzPct val="120000"/>
        <a:buFont typeface="Arial" charset="0"/>
        <a:buChar char="•"/>
        <a:defRPr sz="1600" b="1" kern="1200">
          <a:solidFill>
            <a:schemeClr val="tx1"/>
          </a:solidFill>
          <a:latin typeface="Arial" pitchFamily="34" charset="0"/>
          <a:ea typeface="+mn-ea"/>
          <a:cs typeface="Arial" pitchFamily="34" charset="0"/>
        </a:defRPr>
      </a:lvl2pPr>
      <a:lvl3pPr marL="982663" indent="-265113" algn="l" rtl="0" eaLnBrk="0" fontAlgn="base" hangingPunct="0">
        <a:spcBef>
          <a:spcPct val="20000"/>
        </a:spcBef>
        <a:spcAft>
          <a:spcPct val="0"/>
        </a:spcAft>
        <a:buClr>
          <a:srgbClr val="0000FF"/>
        </a:buClr>
        <a:buSzPct val="120000"/>
        <a:buFont typeface="Arial" charset="0"/>
        <a:buChar char="•"/>
        <a:defRPr sz="1600" kern="1200">
          <a:solidFill>
            <a:schemeClr val="tx1"/>
          </a:solidFill>
          <a:latin typeface="Arial" pitchFamily="34" charset="0"/>
          <a:ea typeface="+mn-ea"/>
          <a:cs typeface="Arial" pitchFamily="34" charset="0"/>
        </a:defRPr>
      </a:lvl3pPr>
      <a:lvl4pPr marL="1520825" indent="-265113" algn="l" rtl="0" eaLnBrk="0" fontAlgn="base" hangingPunct="0">
        <a:spcBef>
          <a:spcPct val="20000"/>
        </a:spcBef>
        <a:spcAft>
          <a:spcPct val="0"/>
        </a:spcAft>
        <a:buClr>
          <a:srgbClr val="0000FF"/>
        </a:buClr>
        <a:buSzPct val="120000"/>
        <a:buFont typeface="Arial" charset="0"/>
        <a:buChar char="•"/>
        <a:defRPr sz="1400" kern="1200">
          <a:solidFill>
            <a:schemeClr val="tx1"/>
          </a:solidFill>
          <a:latin typeface="Arial" pitchFamily="34" charset="0"/>
          <a:ea typeface="+mn-ea"/>
          <a:cs typeface="Arial" pitchFamily="34" charset="0"/>
        </a:defRPr>
      </a:lvl4pPr>
      <a:lvl5pPr marL="2057400" indent="-263525" algn="l" rtl="0" eaLnBrk="0" fontAlgn="base" hangingPunct="0">
        <a:spcBef>
          <a:spcPct val="20000"/>
        </a:spcBef>
        <a:spcAft>
          <a:spcPct val="0"/>
        </a:spcAft>
        <a:buClr>
          <a:srgbClr val="0000FF"/>
        </a:buClr>
        <a:buSzPct val="120000"/>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tif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wmf"/><Relationship Id="rId5" Type="http://schemas.openxmlformats.org/officeDocument/2006/relationships/oleObject" Target="../embeddings/oleObject2.bin"/><Relationship Id="rId4" Type="http://schemas.openxmlformats.org/officeDocument/2006/relationships/image" Target="../media/image8.wmf"/></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wmf"/></Relationships>
</file>

<file path=ppt/slides/_rels/slide10.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15.wmf"/><Relationship Id="rId5" Type="http://schemas.openxmlformats.org/officeDocument/2006/relationships/oleObject" Target="../embeddings/oleObject5.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7.bin"/></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NULL"/><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5.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27.wmf"/><Relationship Id="rId5" Type="http://schemas.openxmlformats.org/officeDocument/2006/relationships/oleObject" Target="../embeddings/oleObject10.bin"/><Relationship Id="rId4" Type="http://schemas.openxmlformats.org/officeDocument/2006/relationships/image" Target="../media/image26.wmf"/></Relationships>
</file>

<file path=ppt/slides/_rels/slide20.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image" Target="../media/image34.png"/><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33.wmf"/><Relationship Id="rId17" Type="http://schemas.openxmlformats.org/officeDocument/2006/relationships/image" Target="../media/image36.wmf"/><Relationship Id="rId2" Type="http://schemas.openxmlformats.org/officeDocument/2006/relationships/notesSlide" Target="../notesSlides/notesSlide20.xml"/><Relationship Id="rId16" Type="http://schemas.openxmlformats.org/officeDocument/2006/relationships/oleObject" Target="../embeddings/oleObject18.bin"/><Relationship Id="rId1" Type="http://schemas.openxmlformats.org/officeDocument/2006/relationships/slideLayout" Target="../slideLayouts/slideLayout6.xml"/><Relationship Id="rId6" Type="http://schemas.openxmlformats.org/officeDocument/2006/relationships/image" Target="../media/image30.w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image" Target="../media/image35.wmf"/><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15.bin"/><Relationship Id="rId14" Type="http://schemas.openxmlformats.org/officeDocument/2006/relationships/oleObject" Target="../embeddings/oleObject17.bin"/></Relationships>
</file>

<file path=ppt/slides/_rels/slide21.xml.rels><?xml version="1.0" encoding="UTF-8" standalone="yes"?>
<Relationships xmlns="http://schemas.openxmlformats.org/package/2006/relationships"><Relationship Id="rId3" Type="http://schemas.openxmlformats.org/officeDocument/2006/relationships/image" Target="../media/image37.jpeg"/><Relationship Id="rId7" Type="http://schemas.openxmlformats.org/officeDocument/2006/relationships/image" Target="../media/image39.wmf"/><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oleObject" Target="../embeddings/oleObject20.bin"/><Relationship Id="rId5" Type="http://schemas.openxmlformats.org/officeDocument/2006/relationships/image" Target="../media/image38.wmf"/><Relationship Id="rId4" Type="http://schemas.openxmlformats.org/officeDocument/2006/relationships/oleObject" Target="../embeddings/oleObject19.bin"/></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tags" Target="../tags/tag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403350" y="1773238"/>
            <a:ext cx="7561263" cy="1470025"/>
          </a:xfrm>
        </p:spPr>
        <p:txBody>
          <a:bodyPr/>
          <a:lstStyle/>
          <a:p>
            <a:pPr marL="533400" indent="-533400"/>
            <a:r>
              <a:rPr lang="en-GB" dirty="0">
                <a:latin typeface="Arial" charset="0"/>
                <a:cs typeface="Arial" charset="0"/>
              </a:rPr>
              <a:t>4</a:t>
            </a:r>
            <a:r>
              <a:rPr lang="sl-SI" dirty="0">
                <a:latin typeface="Arial" charset="0"/>
                <a:cs typeface="Arial" charset="0"/>
              </a:rPr>
              <a:t>. </a:t>
            </a:r>
            <a:r>
              <a:rPr lang="en-GB" dirty="0" err="1">
                <a:latin typeface="Arial" charset="0"/>
              </a:rPr>
              <a:t>enota</a:t>
            </a:r>
            <a:r>
              <a:rPr lang="en-GB" dirty="0">
                <a:latin typeface="Arial" charset="0"/>
                <a:cs typeface="Arial" charset="0"/>
              </a:rPr>
              <a:t>: </a:t>
            </a:r>
            <a:r>
              <a:rPr lang="en-GB" sz="2800" dirty="0" err="1">
                <a:latin typeface="Arial" charset="0"/>
              </a:rPr>
              <a:t>Merjenje</a:t>
            </a:r>
            <a:endParaRPr lang="en-GB" sz="2800" dirty="0">
              <a:latin typeface="Arial" charset="0"/>
              <a:cs typeface="Arial" charset="0"/>
            </a:endParaRPr>
          </a:p>
        </p:txBody>
      </p:sp>
      <p:sp>
        <p:nvSpPr>
          <p:cNvPr id="3075" name="Rectangle 3"/>
          <p:cNvSpPr>
            <a:spLocks noGrp="1" noChangeArrowheads="1"/>
          </p:cNvSpPr>
          <p:nvPr>
            <p:ph type="subTitle" idx="1"/>
          </p:nvPr>
        </p:nvSpPr>
        <p:spPr>
          <a:xfrm>
            <a:off x="1403350" y="3284538"/>
            <a:ext cx="7489825" cy="1752600"/>
          </a:xfrm>
        </p:spPr>
        <p:txBody>
          <a:bodyPr/>
          <a:lstStyle/>
          <a:p>
            <a:pPr marL="609600" indent="-609600"/>
            <a:r>
              <a:rPr lang="en-GB" b="0" dirty="0">
                <a:latin typeface="Arial" charset="0"/>
                <a:cs typeface="Arial" charset="0"/>
              </a:rPr>
              <a:t>2.</a:t>
            </a:r>
            <a:r>
              <a:rPr lang="en-GB" b="0" dirty="0">
                <a:latin typeface="Arial" charset="0"/>
              </a:rPr>
              <a:t> element</a:t>
            </a:r>
            <a:r>
              <a:rPr lang="en-GB" b="0" dirty="0">
                <a:latin typeface="Arial" charset="0"/>
                <a:cs typeface="Arial" charset="0"/>
              </a:rPr>
              <a:t>: </a:t>
            </a:r>
            <a:r>
              <a:rPr lang="en-GB" dirty="0" err="1">
                <a:latin typeface="Arial" charset="0"/>
              </a:rPr>
              <a:t>Zanesljivost</a:t>
            </a:r>
            <a:endParaRPr lang="en-GB" dirty="0">
              <a:latin typeface="Arial" charset="0"/>
              <a:cs typeface="Arial" charset="0"/>
            </a:endParaRPr>
          </a:p>
          <a:p>
            <a:pPr marL="609600" indent="-609600"/>
            <a:endParaRPr lang="en-GB" dirty="0">
              <a:latin typeface="Arial" charset="0"/>
              <a:cs typeface="Arial" charset="0"/>
            </a:endParaRPr>
          </a:p>
          <a:p>
            <a:pPr marL="609600" indent="-609600"/>
            <a:r>
              <a:rPr lang="en-GB" b="0" dirty="0" err="1">
                <a:latin typeface="Arial" charset="0"/>
              </a:rPr>
              <a:t>Podkomponenta</a:t>
            </a:r>
            <a:r>
              <a:rPr lang="en-GB" b="0" dirty="0">
                <a:latin typeface="Arial" charset="0"/>
                <a:cs typeface="Arial" charset="0"/>
              </a:rPr>
              <a:t>: </a:t>
            </a:r>
            <a:r>
              <a:rPr lang="en-GB" dirty="0">
                <a:latin typeface="Arial" charset="0"/>
                <a:cs typeface="Arial" charset="0"/>
              </a:rPr>
              <a:t>Six Sigma</a:t>
            </a:r>
          </a:p>
          <a:p>
            <a:pPr marL="609600" indent="-609600"/>
            <a:endParaRPr lang="en-GB" dirty="0">
              <a:latin typeface="Arial" charset="0"/>
              <a:cs typeface="Arial" charset="0"/>
            </a:endParaRPr>
          </a:p>
        </p:txBody>
      </p:sp>
    </p:spTree>
    <p:extLst>
      <p:ext uri="{BB962C8B-B14F-4D97-AF65-F5344CB8AC3E}">
        <p14:creationId xmlns:p14="http://schemas.microsoft.com/office/powerpoint/2010/main" val="467080879"/>
      </p:ext>
    </p:extLst>
  </p:cSld>
  <p:clrMapOvr>
    <a:masterClrMapping/>
  </p:clrMapOvr>
  <p:transition advTm="13166"/>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Auto Universe Ecosystem</a:t>
            </a:r>
            <a:endParaRPr lang="cs-CZ" dirty="0"/>
          </a:p>
        </p:txBody>
      </p:sp>
      <p:sp>
        <p:nvSpPr>
          <p:cNvPr id="3" name="Zástupný symbol pro obsah 2"/>
          <p:cNvSpPr>
            <a:spLocks noGrp="1"/>
          </p:cNvSpPr>
          <p:nvPr>
            <p:ph idx="1"/>
          </p:nvPr>
        </p:nvSpPr>
        <p:spPr>
          <a:xfrm>
            <a:off x="1907705" y="1341438"/>
            <a:ext cx="6733058" cy="5040312"/>
          </a:xfrm>
        </p:spPr>
        <p:txBody>
          <a:bodyPr/>
          <a:lstStyle/>
          <a:p>
            <a:r>
              <a:rPr lang="sl-SI" sz="2800" dirty="0"/>
              <a:t>Projekt </a:t>
            </a:r>
            <a:r>
              <a:rPr lang="nl-NL" sz="2800" dirty="0"/>
              <a:t>Auto Universe je združil gradivo za usposabljanje na univerzah in</a:t>
            </a:r>
            <a:r>
              <a:rPr lang="sl-SI" sz="2800" dirty="0"/>
              <a:t> v</a:t>
            </a:r>
            <a:r>
              <a:rPr lang="nl-NL" sz="2800" dirty="0"/>
              <a:t> industriji (september 2015 - september 2017)</a:t>
            </a:r>
          </a:p>
          <a:p>
            <a:r>
              <a:rPr lang="nl-NL" sz="1800" dirty="0"/>
              <a:t>Usposabljanje je priznano na ravni univerz z ECTS in </a:t>
            </a:r>
            <a:r>
              <a:rPr lang="sl-SI" sz="1800" dirty="0"/>
              <a:t>v </a:t>
            </a:r>
            <a:r>
              <a:rPr lang="nl-NL" sz="1800" dirty="0"/>
              <a:t>avtomobilsk</a:t>
            </a:r>
            <a:r>
              <a:rPr lang="sl-SI" sz="1800" dirty="0"/>
              <a:t>i</a:t>
            </a:r>
            <a:r>
              <a:rPr lang="nl-NL" sz="1800" dirty="0"/>
              <a:t> industrij</a:t>
            </a:r>
            <a:r>
              <a:rPr lang="sl-SI" sz="1800" dirty="0"/>
              <a:t>i</a:t>
            </a:r>
            <a:r>
              <a:rPr lang="nl-NL" sz="1800" dirty="0"/>
              <a:t>.</a:t>
            </a:r>
            <a:endParaRPr lang="sl-SI" sz="1800" dirty="0"/>
          </a:p>
          <a:p>
            <a:endParaRPr lang="sl-SI" sz="1800" dirty="0"/>
          </a:p>
          <a:p>
            <a:r>
              <a:rPr lang="sl-SI" sz="2800" dirty="0"/>
              <a:t>Zavezništvo </a:t>
            </a:r>
            <a:r>
              <a:rPr lang="sl-SI" sz="2800" dirty="0" err="1"/>
              <a:t>AQUA</a:t>
            </a:r>
            <a:r>
              <a:rPr lang="sl-SI" sz="2800" dirty="0"/>
              <a:t> je vzpostavilo zavezništvo za kakovost – </a:t>
            </a:r>
            <a:r>
              <a:rPr lang="sl-SI" sz="2800" dirty="0" err="1"/>
              <a:t>LLP</a:t>
            </a:r>
            <a:r>
              <a:rPr lang="sl-SI" sz="2800" dirty="0"/>
              <a:t> projekt EAC-2012-0635 - 2013 – 2014.</a:t>
            </a:r>
          </a:p>
        </p:txBody>
      </p:sp>
      <p:pic>
        <p:nvPicPr>
          <p:cNvPr id="6" name="Picture 2" descr="\\192.168.0.251\volumef\dev_projects_2007\pj2013-002-aqua\wp20000\aqualogo.jpg"/>
          <p:cNvPicPr>
            <a:picLocks noChangeAspect="1" noChangeArrowheads="1"/>
          </p:cNvPicPr>
          <p:nvPr/>
        </p:nvPicPr>
        <p:blipFill>
          <a:blip r:embed="rId3" cstate="print"/>
          <a:srcRect/>
          <a:stretch>
            <a:fillRect/>
          </a:stretch>
        </p:blipFill>
        <p:spPr bwMode="auto">
          <a:xfrm>
            <a:off x="134142" y="4293096"/>
            <a:ext cx="1773563" cy="1771488"/>
          </a:xfrm>
          <a:prstGeom prst="rect">
            <a:avLst/>
          </a:prstGeom>
          <a:noFill/>
        </p:spPr>
      </p:pic>
      <p:pic>
        <p:nvPicPr>
          <p:cNvPr id="7" name="Obrázek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4859" y="1484784"/>
            <a:ext cx="1152128" cy="1546251"/>
          </a:xfrm>
          <a:prstGeom prst="rect">
            <a:avLst/>
          </a:prstGeom>
        </p:spPr>
      </p:pic>
    </p:spTree>
    <p:extLst>
      <p:ext uri="{BB962C8B-B14F-4D97-AF65-F5344CB8AC3E}">
        <p14:creationId xmlns:p14="http://schemas.microsoft.com/office/powerpoint/2010/main" val="3084175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sl-SI" dirty="0"/>
              <a:t>Učni cilji</a:t>
            </a:r>
            <a:endParaRPr lang="de-AT" dirty="0"/>
          </a:p>
        </p:txBody>
      </p:sp>
      <p:sp>
        <p:nvSpPr>
          <p:cNvPr id="3" name="Inhaltsplatzhalter 2"/>
          <p:cNvSpPr>
            <a:spLocks noGrp="1"/>
          </p:cNvSpPr>
          <p:nvPr>
            <p:ph idx="1"/>
          </p:nvPr>
        </p:nvSpPr>
        <p:spPr/>
        <p:txBody>
          <a:bodyPr/>
          <a:lstStyle/>
          <a:p>
            <a:r>
              <a:rPr lang="en-US" dirty="0"/>
              <a:t>AQUA.U4.E2 </a:t>
            </a:r>
            <a:r>
              <a:rPr lang="en-GB" dirty="0" err="1">
                <a:latin typeface="Arial" charset="0"/>
              </a:rPr>
              <a:t>Zanesljivost</a:t>
            </a:r>
            <a:r>
              <a:rPr lang="en-US" dirty="0"/>
              <a:t>	</a:t>
            </a:r>
          </a:p>
          <a:p>
            <a:endParaRPr lang="en-US" dirty="0"/>
          </a:p>
          <a:p>
            <a:pPr indent="0">
              <a:spcBef>
                <a:spcPts val="0"/>
              </a:spcBef>
            </a:pPr>
            <a:r>
              <a:rPr lang="en-US" dirty="0"/>
              <a:t>T</a:t>
            </a:r>
            <a:r>
              <a:rPr lang="sl-SI" dirty="0"/>
              <a:t>a </a:t>
            </a:r>
            <a:r>
              <a:rPr lang="en-US" dirty="0"/>
              <a:t>element </a:t>
            </a:r>
            <a:r>
              <a:rPr lang="sl-SI" dirty="0"/>
              <a:t>vsebuje učne cilje</a:t>
            </a:r>
            <a:r>
              <a:rPr lang="en-US" dirty="0"/>
              <a:t>. </a:t>
            </a:r>
            <a:r>
              <a:rPr lang="sl-SI" dirty="0"/>
              <a:t>Ta predstavitev naslavlja kriterij zmogljivosti v povezavi s</a:t>
            </a:r>
            <a:r>
              <a:rPr lang="en-US" dirty="0"/>
              <a:t> Six Sigma. </a:t>
            </a:r>
          </a:p>
          <a:p>
            <a:pPr indent="0">
              <a:spcBef>
                <a:spcPts val="0"/>
              </a:spcBef>
            </a:pPr>
            <a:endParaRPr lang="en-US" dirty="0"/>
          </a:p>
          <a:p>
            <a:pPr indent="0">
              <a:spcBef>
                <a:spcPts val="0"/>
              </a:spcBef>
            </a:pPr>
            <a:r>
              <a:rPr lang="en-US" dirty="0"/>
              <a:t>AQUA.U4.E2.PC4 </a:t>
            </a:r>
            <a:r>
              <a:rPr lang="en-US" dirty="0" err="1"/>
              <a:t>Defin</a:t>
            </a:r>
            <a:r>
              <a:rPr lang="sl-SI" dirty="0" err="1"/>
              <a:t>ira</a:t>
            </a:r>
            <a:r>
              <a:rPr lang="sl-SI" dirty="0"/>
              <a:t> specifikacije zanesljivosti in načrtuje teste za prikaz specifikacij zanesljivosti. Analizira podatke o okvarah in testiranju življenjske dobe.</a:t>
            </a:r>
            <a:endParaRPr lang="en-US" dirty="0"/>
          </a:p>
        </p:txBody>
      </p:sp>
    </p:spTree>
    <p:extLst>
      <p:ext uri="{BB962C8B-B14F-4D97-AF65-F5344CB8AC3E}">
        <p14:creationId xmlns:p14="http://schemas.microsoft.com/office/powerpoint/2010/main" val="801344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el 1"/>
          <p:cNvSpPr>
            <a:spLocks noGrp="1"/>
          </p:cNvSpPr>
          <p:nvPr>
            <p:ph type="title"/>
          </p:nvPr>
        </p:nvSpPr>
        <p:spPr/>
        <p:txBody>
          <a:bodyPr/>
          <a:lstStyle/>
          <a:p>
            <a:r>
              <a:rPr lang="en-GB" noProof="0" dirty="0">
                <a:latin typeface="Arial" charset="0"/>
              </a:rPr>
              <a:t>Zanesljivost</a:t>
            </a:r>
          </a:p>
        </p:txBody>
      </p:sp>
      <p:sp>
        <p:nvSpPr>
          <p:cNvPr id="31746" name="Tijdelijke aanduiding voor inhoud 2"/>
          <p:cNvSpPr>
            <a:spLocks noGrp="1"/>
          </p:cNvSpPr>
          <p:nvPr>
            <p:ph idx="1"/>
          </p:nvPr>
        </p:nvSpPr>
        <p:spPr/>
        <p:txBody>
          <a:bodyPr/>
          <a:lstStyle/>
          <a:p>
            <a:r>
              <a:rPr lang="en-GB" noProof="0" dirty="0">
                <a:latin typeface="Arial" charset="0"/>
              </a:rPr>
              <a:t>Kaj je to?</a:t>
            </a:r>
          </a:p>
          <a:p>
            <a:pPr lvl="1"/>
            <a:endParaRPr lang="sl-SI" noProof="0" dirty="0">
              <a:latin typeface="Arial" charset="0"/>
              <a:cs typeface="Arial" charset="0"/>
            </a:endParaRPr>
          </a:p>
          <a:p>
            <a:pPr lvl="1"/>
            <a:r>
              <a:rPr lang="en-GB" sz="1600" noProof="0" dirty="0">
                <a:solidFill>
                  <a:srgbClr val="C00000"/>
                </a:solidFill>
                <a:latin typeface="Arial" charset="0"/>
              </a:rPr>
              <a:t>Analiza zanesljivosti </a:t>
            </a:r>
            <a:r>
              <a:rPr lang="en-GB" sz="1600" noProof="0" dirty="0">
                <a:latin typeface="Arial" charset="0"/>
              </a:rPr>
              <a:t>preučuje verjetnost, da bo </a:t>
            </a:r>
            <a:r>
              <a:rPr lang="en-GB" sz="1600" noProof="0" dirty="0">
                <a:solidFill>
                  <a:srgbClr val="C00000"/>
                </a:solidFill>
                <a:latin typeface="Arial" charset="0"/>
              </a:rPr>
              <a:t>sistem neprekinjeno deloval do trenutka T</a:t>
            </a:r>
            <a:r>
              <a:rPr lang="en-GB" sz="1600" noProof="0" dirty="0">
                <a:latin typeface="Arial" charset="0"/>
              </a:rPr>
              <a:t>.</a:t>
            </a:r>
          </a:p>
          <a:p>
            <a:pPr lvl="1"/>
            <a:endParaRPr lang="sl-SI" sz="1600" noProof="0" dirty="0">
              <a:latin typeface="Arial" charset="0"/>
              <a:cs typeface="Arial" charset="0"/>
            </a:endParaRPr>
          </a:p>
          <a:p>
            <a:pPr lvl="1"/>
            <a:r>
              <a:rPr lang="en-GB" sz="1600" noProof="0" dirty="0">
                <a:latin typeface="Arial" charset="0"/>
              </a:rPr>
              <a:t>Sistem </a:t>
            </a:r>
            <a:r>
              <a:rPr lang="en-GB" sz="1600" noProof="0" dirty="0">
                <a:solidFill>
                  <a:srgbClr val="C00000"/>
                </a:solidFill>
                <a:latin typeface="Arial" charset="0"/>
              </a:rPr>
              <a:t>deluje v trenutku 0</a:t>
            </a:r>
            <a:r>
              <a:rPr lang="en-GB" sz="1600" noProof="0" dirty="0">
                <a:latin typeface="Arial" charset="0"/>
              </a:rPr>
              <a:t>. </a:t>
            </a:r>
          </a:p>
          <a:p>
            <a:pPr lvl="1"/>
            <a:endParaRPr lang="sl-SI" sz="1600" noProof="0" dirty="0">
              <a:latin typeface="Arial" charset="0"/>
              <a:cs typeface="Arial" charset="0"/>
            </a:endParaRPr>
          </a:p>
          <a:p>
            <a:pPr lvl="1"/>
            <a:r>
              <a:rPr lang="en-GB" sz="1600" noProof="0" dirty="0">
                <a:latin typeface="Arial" charset="0"/>
              </a:rPr>
              <a:t>Sistem </a:t>
            </a:r>
            <a:r>
              <a:rPr lang="en-GB" sz="1600" noProof="0" dirty="0">
                <a:solidFill>
                  <a:srgbClr val="C00000"/>
                </a:solidFill>
                <a:latin typeface="Arial" charset="0"/>
              </a:rPr>
              <a:t>v določenem trenutku preneha delovati</a:t>
            </a:r>
            <a:r>
              <a:rPr lang="en-GB" sz="1600" noProof="0" dirty="0">
                <a:latin typeface="Arial" charset="0"/>
              </a:rPr>
              <a:t>.</a:t>
            </a:r>
          </a:p>
          <a:p>
            <a:pPr lvl="1"/>
            <a:endParaRPr lang="sl-SI" sz="1600" noProof="0" dirty="0">
              <a:latin typeface="Arial" charset="0"/>
              <a:cs typeface="Arial" charset="0"/>
            </a:endParaRPr>
          </a:p>
          <a:p>
            <a:pPr lvl="1"/>
            <a:r>
              <a:rPr lang="en-GB" sz="1600" noProof="0" dirty="0">
                <a:latin typeface="Arial" charset="0"/>
              </a:rPr>
              <a:t>Zanesljivost se ne računa natančno.</a:t>
            </a:r>
          </a:p>
          <a:p>
            <a:pPr lvl="1"/>
            <a:endParaRPr lang="sl-SI" sz="1600" noProof="0" dirty="0">
              <a:latin typeface="Arial" charset="0"/>
              <a:cs typeface="Arial" charset="0"/>
            </a:endParaRPr>
          </a:p>
          <a:p>
            <a:pPr lvl="1"/>
            <a:r>
              <a:rPr lang="en-GB" sz="1600" noProof="0" dirty="0">
                <a:solidFill>
                  <a:srgbClr val="C00000"/>
                </a:solidFill>
                <a:latin typeface="Arial" charset="0"/>
              </a:rPr>
              <a:t>Verjetnost preživetja </a:t>
            </a:r>
            <a:r>
              <a:rPr lang="en-GB" sz="1600" noProof="0" dirty="0">
                <a:latin typeface="Arial" charset="0"/>
              </a:rPr>
              <a:t>je le </a:t>
            </a:r>
            <a:r>
              <a:rPr lang="en-GB" sz="1600" noProof="0" dirty="0">
                <a:solidFill>
                  <a:srgbClr val="C00000"/>
                </a:solidFill>
                <a:latin typeface="Arial" charset="0"/>
              </a:rPr>
              <a:t>ocena na podlagi vzorcev</a:t>
            </a:r>
            <a:r>
              <a:rPr lang="en-GB" sz="1600" noProof="0" dirty="0">
                <a:latin typeface="Arial" charset="0"/>
              </a:rPr>
              <a:t>.</a:t>
            </a:r>
          </a:p>
        </p:txBody>
      </p:sp>
    </p:spTree>
    <p:extLst>
      <p:ext uri="{BB962C8B-B14F-4D97-AF65-F5344CB8AC3E}">
        <p14:creationId xmlns:p14="http://schemas.microsoft.com/office/powerpoint/2010/main" val="2494970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47" name="Titel 1"/>
          <p:cNvSpPr>
            <a:spLocks noGrp="1"/>
          </p:cNvSpPr>
          <p:nvPr>
            <p:ph type="title"/>
          </p:nvPr>
        </p:nvSpPr>
        <p:spPr/>
        <p:txBody>
          <a:bodyPr/>
          <a:lstStyle/>
          <a:p>
            <a:pPr eaLnBrk="1" hangingPunct="1"/>
            <a:r>
              <a:rPr lang="en-GB" noProof="0" dirty="0">
                <a:latin typeface="Arial" charset="0"/>
              </a:rPr>
              <a:t>Zanesljivost</a:t>
            </a:r>
          </a:p>
        </p:txBody>
      </p:sp>
      <p:sp>
        <p:nvSpPr>
          <p:cNvPr id="13348" name="Tijdelijke aanduiding voor inhoud 2"/>
          <p:cNvSpPr>
            <a:spLocks noGrp="1"/>
          </p:cNvSpPr>
          <p:nvPr>
            <p:ph idx="1"/>
          </p:nvPr>
        </p:nvSpPr>
        <p:spPr/>
        <p:txBody>
          <a:bodyPr/>
          <a:lstStyle/>
          <a:p>
            <a:pPr eaLnBrk="1" hangingPunct="1"/>
            <a:r>
              <a:rPr lang="en-GB" noProof="0" dirty="0">
                <a:solidFill>
                  <a:srgbClr val="C00000"/>
                </a:solidFill>
                <a:latin typeface="Arial" charset="0"/>
              </a:rPr>
              <a:t>Operativna zanesljivost </a:t>
            </a:r>
            <a:r>
              <a:rPr lang="en-GB" noProof="0" dirty="0">
                <a:latin typeface="Arial" charset="0"/>
              </a:rPr>
              <a:t>(zanesljivost) - </a:t>
            </a:r>
            <a:r>
              <a:rPr lang="en-GB" noProof="0" dirty="0">
                <a:solidFill>
                  <a:srgbClr val="C00000"/>
                </a:solidFill>
                <a:latin typeface="Arial" charset="0"/>
              </a:rPr>
              <a:t>R(t)</a:t>
            </a:r>
          </a:p>
          <a:p>
            <a:pPr lvl="1" eaLnBrk="1" hangingPunct="1"/>
            <a:endParaRPr lang="sl-SI" noProof="0" dirty="0">
              <a:latin typeface="Arial" charset="0"/>
              <a:cs typeface="Arial" charset="0"/>
            </a:endParaRPr>
          </a:p>
          <a:p>
            <a:pPr lvl="1" eaLnBrk="1" hangingPunct="1"/>
            <a:r>
              <a:rPr lang="en-GB" sz="1600" noProof="0" dirty="0">
                <a:solidFill>
                  <a:srgbClr val="C00000"/>
                </a:solidFill>
                <a:latin typeface="Arial" charset="0"/>
              </a:rPr>
              <a:t>Zanesljivost sistema R(t) </a:t>
            </a:r>
            <a:r>
              <a:rPr lang="en-GB" sz="1600" noProof="0" dirty="0">
                <a:latin typeface="Arial" charset="0"/>
              </a:rPr>
              <a:t>je verjetnost, da </a:t>
            </a:r>
            <a:r>
              <a:rPr lang="en-GB" sz="1600" noProof="0" dirty="0">
                <a:solidFill>
                  <a:srgbClr val="C00000"/>
                </a:solidFill>
                <a:latin typeface="Arial" charset="0"/>
              </a:rPr>
              <a:t>bo </a:t>
            </a:r>
            <a:r>
              <a:rPr lang="en-GB" sz="1600" noProof="0" dirty="0" err="1">
                <a:solidFill>
                  <a:srgbClr val="C00000"/>
                </a:solidFill>
                <a:latin typeface="Arial" charset="0"/>
              </a:rPr>
              <a:t>sistem</a:t>
            </a:r>
            <a:r>
              <a:rPr lang="en-GB" sz="1600" noProof="0" dirty="0">
                <a:solidFill>
                  <a:srgbClr val="C00000"/>
                </a:solidFill>
                <a:latin typeface="Arial" charset="0"/>
              </a:rPr>
              <a:t> v </a:t>
            </a:r>
            <a:r>
              <a:rPr lang="en-GB" sz="1600" noProof="0" dirty="0" err="1">
                <a:solidFill>
                  <a:srgbClr val="C00000"/>
                </a:solidFill>
                <a:latin typeface="Arial" charset="0"/>
              </a:rPr>
              <a:t>trenutku</a:t>
            </a:r>
            <a:r>
              <a:rPr lang="en-GB" sz="1600" noProof="0" dirty="0">
                <a:solidFill>
                  <a:srgbClr val="C00000"/>
                </a:solidFill>
                <a:latin typeface="Arial" charset="0"/>
              </a:rPr>
              <a:t> t</a:t>
            </a:r>
            <a:r>
              <a:rPr lang="sl-SI" sz="1600" noProof="0" dirty="0">
                <a:solidFill>
                  <a:srgbClr val="C00000"/>
                </a:solidFill>
                <a:latin typeface="Arial" charset="0"/>
              </a:rPr>
              <a:t> </a:t>
            </a:r>
            <a:r>
              <a:rPr lang="en-GB" sz="1600" dirty="0" err="1">
                <a:solidFill>
                  <a:srgbClr val="C00000"/>
                </a:solidFill>
                <a:latin typeface="Arial" charset="0"/>
              </a:rPr>
              <a:t>še</a:t>
            </a:r>
            <a:r>
              <a:rPr lang="en-GB" sz="1600" dirty="0">
                <a:solidFill>
                  <a:srgbClr val="C00000"/>
                </a:solidFill>
                <a:latin typeface="Arial" charset="0"/>
              </a:rPr>
              <a:t> </a:t>
            </a:r>
            <a:r>
              <a:rPr lang="en-GB" sz="1600" dirty="0" err="1">
                <a:solidFill>
                  <a:srgbClr val="C00000"/>
                </a:solidFill>
                <a:latin typeface="Arial" charset="0"/>
              </a:rPr>
              <a:t>deloval</a:t>
            </a:r>
            <a:r>
              <a:rPr lang="en-GB" sz="1600" dirty="0">
                <a:latin typeface="Arial" charset="0"/>
              </a:rPr>
              <a:t>. </a:t>
            </a:r>
            <a:br>
              <a:rPr dirty="0"/>
            </a:br>
            <a:endParaRPr lang="sl-SI" sz="1600" noProof="0" dirty="0">
              <a:latin typeface="Arial" charset="0"/>
              <a:cs typeface="Arial" charset="0"/>
            </a:endParaRPr>
          </a:p>
          <a:p>
            <a:pPr lvl="1" eaLnBrk="1" hangingPunct="1"/>
            <a:r>
              <a:rPr lang="en-GB" sz="1600" noProof="0" dirty="0">
                <a:latin typeface="Arial" charset="0"/>
              </a:rPr>
              <a:t>Sistem deluje v trenutku 0:  </a:t>
            </a:r>
          </a:p>
          <a:p>
            <a:pPr lvl="1" eaLnBrk="1" hangingPunct="1"/>
            <a:endParaRPr lang="sl-SI" sz="1600" noProof="0" dirty="0">
              <a:latin typeface="Arial" charset="0"/>
              <a:cs typeface="Arial" charset="0"/>
            </a:endParaRPr>
          </a:p>
          <a:p>
            <a:pPr lvl="1" eaLnBrk="1" hangingPunct="1"/>
            <a:r>
              <a:rPr lang="en-GB" sz="1600" noProof="0" dirty="0">
                <a:latin typeface="Arial" charset="0"/>
              </a:rPr>
              <a:t>Vsak sistem enkrat odpove: </a:t>
            </a:r>
          </a:p>
          <a:p>
            <a:pPr lvl="1" eaLnBrk="1" hangingPunct="1"/>
            <a:endParaRPr lang="sl-SI" sz="1600" noProof="0" dirty="0">
              <a:latin typeface="Arial" charset="0"/>
              <a:cs typeface="Arial" charset="0"/>
            </a:endParaRPr>
          </a:p>
          <a:p>
            <a:pPr lvl="1" eaLnBrk="1" hangingPunct="1"/>
            <a:r>
              <a:rPr lang="en-GB" sz="1600" noProof="0" dirty="0">
                <a:latin typeface="Arial" charset="0"/>
              </a:rPr>
              <a:t>Sistemi ne morejo oživeti, zato je R(t) padajoča funkcija. </a:t>
            </a:r>
          </a:p>
          <a:p>
            <a:pPr lvl="1" eaLnBrk="1" hangingPunct="1"/>
            <a:endParaRPr lang="sl-SI" sz="1600" noProof="0" dirty="0">
              <a:latin typeface="Arial" charset="0"/>
              <a:cs typeface="Arial" charset="0"/>
            </a:endParaRPr>
          </a:p>
          <a:p>
            <a:pPr eaLnBrk="1" hangingPunct="1"/>
            <a:r>
              <a:rPr lang="en-GB" sz="1600" noProof="0" dirty="0">
                <a:latin typeface="Arial" charset="0"/>
              </a:rPr>
              <a:t>Formalna definicija:</a:t>
            </a:r>
          </a:p>
          <a:p>
            <a:pPr lvl="1" eaLnBrk="1" hangingPunct="1"/>
            <a:endParaRPr lang="sl-SI" sz="1600" noProof="0" dirty="0">
              <a:latin typeface="Arial" charset="0"/>
              <a:cs typeface="Arial" charset="0"/>
            </a:endParaRPr>
          </a:p>
          <a:p>
            <a:pPr lvl="1" eaLnBrk="1" hangingPunct="1"/>
            <a:r>
              <a:rPr lang="en-GB" sz="1600" noProof="0" dirty="0">
                <a:solidFill>
                  <a:srgbClr val="C00000"/>
                </a:solidFill>
                <a:latin typeface="Arial" charset="0"/>
              </a:rPr>
              <a:t>Verjetnost, da bo sistem izvajal predvideno funkcijo (ali funkcije) v danem časovnem intervalu, pod pogojem, da so izpolnjeni določeni pogoji okolice.  </a:t>
            </a:r>
          </a:p>
          <a:p>
            <a:pPr eaLnBrk="1" hangingPunct="1"/>
            <a:endParaRPr lang="sl-SI" sz="1600" noProof="0" dirty="0">
              <a:latin typeface="Arial" charset="0"/>
              <a:cs typeface="Arial" charset="0"/>
            </a:endParaRPr>
          </a:p>
        </p:txBody>
      </p:sp>
      <p:graphicFrame>
        <p:nvGraphicFramePr>
          <p:cNvPr id="13344" name="Object 32"/>
          <p:cNvGraphicFramePr>
            <a:graphicFrameLocks noChangeAspect="1"/>
          </p:cNvGraphicFramePr>
          <p:nvPr/>
        </p:nvGraphicFramePr>
        <p:xfrm>
          <a:off x="5207000" y="2780928"/>
          <a:ext cx="1309688" cy="484187"/>
        </p:xfrm>
        <a:graphic>
          <a:graphicData uri="http://schemas.openxmlformats.org/presentationml/2006/ole">
            <mc:AlternateContent xmlns:mc="http://schemas.openxmlformats.org/markup-compatibility/2006">
              <mc:Choice xmlns:v="urn:schemas-microsoft-com:vml" Requires="v">
                <p:oleObj name="Vergelijking" r:id="rId3" imgW="583693" imgH="215713" progId="Equation.3">
                  <p:embed/>
                </p:oleObj>
              </mc:Choice>
              <mc:Fallback>
                <p:oleObj name="Vergelijking" r:id="rId3" imgW="583693" imgH="21571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7000" y="2780928"/>
                        <a:ext cx="1309688" cy="484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45" name="Object 33"/>
          <p:cNvGraphicFramePr>
            <a:graphicFrameLocks noChangeAspect="1"/>
          </p:cNvGraphicFramePr>
          <p:nvPr/>
        </p:nvGraphicFramePr>
        <p:xfrm>
          <a:off x="5211763" y="3429000"/>
          <a:ext cx="1271587" cy="482600"/>
        </p:xfrm>
        <a:graphic>
          <a:graphicData uri="http://schemas.openxmlformats.org/presentationml/2006/ole">
            <mc:AlternateContent xmlns:mc="http://schemas.openxmlformats.org/markup-compatibility/2006">
              <mc:Choice xmlns:v="urn:schemas-microsoft-com:vml" Requires="v">
                <p:oleObj name="Equation" r:id="rId5" imgW="571320" imgH="215640" progId="Equation.3">
                  <p:embed/>
                </p:oleObj>
              </mc:Choice>
              <mc:Fallback>
                <p:oleObj name="Equation" r:id="rId5" imgW="571320" imgH="215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1763" y="3429000"/>
                        <a:ext cx="1271587"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65078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el 1"/>
          <p:cNvSpPr>
            <a:spLocks noGrp="1"/>
          </p:cNvSpPr>
          <p:nvPr>
            <p:ph type="title"/>
          </p:nvPr>
        </p:nvSpPr>
        <p:spPr/>
        <p:txBody>
          <a:bodyPr/>
          <a:lstStyle/>
          <a:p>
            <a:r>
              <a:rPr lang="en-GB" noProof="0" dirty="0"/>
              <a:t>Primer</a:t>
            </a:r>
          </a:p>
        </p:txBody>
      </p:sp>
      <p:sp>
        <p:nvSpPr>
          <p:cNvPr id="46082" name="Tijdelijke aanduiding voor inhoud 2"/>
          <p:cNvSpPr>
            <a:spLocks noGrp="1"/>
          </p:cNvSpPr>
          <p:nvPr>
            <p:ph idx="1"/>
          </p:nvPr>
        </p:nvSpPr>
        <p:spPr/>
        <p:txBody>
          <a:bodyPr/>
          <a:lstStyle/>
          <a:p>
            <a:r>
              <a:rPr lang="en-GB" noProof="0" dirty="0"/>
              <a:t>Prezračevanje:</a:t>
            </a:r>
          </a:p>
          <a:p>
            <a:pPr lvl="1"/>
            <a:endParaRPr lang="sl-SI" sz="1600" noProof="0" dirty="0"/>
          </a:p>
          <a:p>
            <a:pPr lvl="1"/>
            <a:r>
              <a:rPr lang="en-GB" sz="1600" noProof="0" dirty="0"/>
              <a:t>Hiše v velikem naselju se prezračujejo z ventilatorji, ki delujejo neprekinjeno. </a:t>
            </a:r>
          </a:p>
          <a:p>
            <a:pPr lvl="1"/>
            <a:r>
              <a:rPr lang="en-GB" sz="1600" noProof="0" dirty="0"/>
              <a:t>Ventilatorji morajo vzdržati vsaj 20 let. V teh 20 letih ne sme odpovedati več kot 5% ventilatorjev. Kako lahko dobavitelj dokaže, da njegovi ventilatorji izpolnjujejo to zahtevo?  </a:t>
            </a:r>
          </a:p>
          <a:p>
            <a:endParaRPr lang="sl-SI" sz="1600" noProof="0" dirty="0"/>
          </a:p>
          <a:p>
            <a:r>
              <a:rPr dirty="0"/>
              <a:t>Življenjska doba:</a:t>
            </a:r>
          </a:p>
          <a:p>
            <a:pPr lvl="1"/>
            <a:endParaRPr lang="sl-SI" sz="1600" noProof="0" dirty="0"/>
          </a:p>
          <a:p>
            <a:pPr lvl="1"/>
            <a:r>
              <a:rPr lang="en-GB" sz="1600" noProof="0" dirty="0"/>
              <a:t>Proizvajalec je preučil življenjsko dobo svojih izdelkov. </a:t>
            </a:r>
          </a:p>
          <a:p>
            <a:pPr lvl="1"/>
            <a:r>
              <a:rPr lang="en-GB" sz="1600" noProof="0" dirty="0"/>
              <a:t>Po 100 </a:t>
            </a:r>
            <a:r>
              <a:rPr lang="en-GB" sz="1600" noProof="0"/>
              <a:t>urah </a:t>
            </a:r>
            <a:r>
              <a:rPr lang="sl-SI" sz="1600" noProof="0"/>
              <a:t>jih </a:t>
            </a:r>
            <a:r>
              <a:rPr lang="en-GB" sz="1600" noProof="0"/>
              <a:t>je </a:t>
            </a:r>
            <a:r>
              <a:rPr lang="en-GB" sz="1600" noProof="0" dirty="0"/>
              <a:t>odpovedalo 12 od 100 izdelkov (točni časi odpovedi so znani). </a:t>
            </a:r>
          </a:p>
          <a:p>
            <a:pPr lvl="1"/>
            <a:r>
              <a:rPr sz="1600" dirty="0"/>
              <a:t>Proizvajalec želi vedeti, kakšno garancijo življenjske dobe lahko ponudi, če </a:t>
            </a:r>
            <a:r>
              <a:rPr sz="1600"/>
              <a:t>kupec </a:t>
            </a:r>
            <a:r>
              <a:rPr lang="sl-SI" sz="1600"/>
              <a:t>sprejema </a:t>
            </a:r>
            <a:r>
              <a:rPr sz="1600"/>
              <a:t>5</a:t>
            </a:r>
            <a:r>
              <a:rPr sz="1600" dirty="0"/>
              <a:t>% odpovedi v življenjski dobi.</a:t>
            </a:r>
            <a:r>
              <a:rPr lang="en-GB" sz="1600" noProof="0" dirty="0"/>
              <a:t>  </a:t>
            </a:r>
          </a:p>
        </p:txBody>
      </p:sp>
      <p:pic>
        <p:nvPicPr>
          <p:cNvPr id="46083" name="Afbeelding 3"/>
          <p:cNvPicPr>
            <a:picLocks noChangeAspect="1"/>
          </p:cNvPicPr>
          <p:nvPr/>
        </p:nvPicPr>
        <p:blipFill>
          <a:blip r:embed="rId3" cstate="print"/>
          <a:srcRect/>
          <a:stretch>
            <a:fillRect/>
          </a:stretch>
        </p:blipFill>
        <p:spPr bwMode="auto">
          <a:xfrm>
            <a:off x="7092280" y="3212976"/>
            <a:ext cx="1528763" cy="1528762"/>
          </a:xfrm>
          <a:prstGeom prst="rect">
            <a:avLst/>
          </a:prstGeom>
          <a:noFill/>
          <a:ln w="9525">
            <a:noFill/>
            <a:miter lim="800000"/>
            <a:headEnd/>
            <a:tailEnd/>
          </a:ln>
        </p:spPr>
      </p:pic>
    </p:spTree>
    <p:extLst>
      <p:ext uri="{BB962C8B-B14F-4D97-AF65-F5344CB8AC3E}">
        <p14:creationId xmlns:p14="http://schemas.microsoft.com/office/powerpoint/2010/main" val="2228294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p:cNvSpPr>
            <a:spLocks noGrp="1" noChangeArrowheads="1"/>
          </p:cNvSpPr>
          <p:nvPr>
            <p:ph type="title"/>
          </p:nvPr>
        </p:nvSpPr>
        <p:spPr/>
        <p:txBody>
          <a:bodyPr/>
          <a:lstStyle/>
          <a:p>
            <a:pPr eaLnBrk="1" hangingPunct="1"/>
            <a:r>
              <a:rPr lang="en-GB" noProof="0" dirty="0">
                <a:latin typeface="Arial" charset="0"/>
              </a:rPr>
              <a:t>Krivulja kopalne kadi</a:t>
            </a:r>
            <a:endParaRPr lang="sl-SI" sz="2400" noProof="0" dirty="0">
              <a:latin typeface="Arial" charset="0"/>
              <a:cs typeface="Arial" charset="0"/>
            </a:endParaRPr>
          </a:p>
        </p:txBody>
      </p:sp>
      <p:sp>
        <p:nvSpPr>
          <p:cNvPr id="92162" name="Rectangle 3"/>
          <p:cNvSpPr>
            <a:spLocks noGrp="1" noChangeArrowheads="1"/>
          </p:cNvSpPr>
          <p:nvPr>
            <p:ph idx="1"/>
          </p:nvPr>
        </p:nvSpPr>
        <p:spPr/>
        <p:txBody>
          <a:bodyPr/>
          <a:lstStyle/>
          <a:p>
            <a:pPr marL="0" indent="0" eaLnBrk="1" hangingPunct="1"/>
            <a:r>
              <a:rPr lang="en-GB" noProof="0" dirty="0">
                <a:solidFill>
                  <a:srgbClr val="C00000"/>
                </a:solidFill>
                <a:latin typeface="Arial" charset="0"/>
              </a:rPr>
              <a:t>Pogostost odpovedi – h(t)</a:t>
            </a:r>
          </a:p>
          <a:p>
            <a:pPr lvl="1" eaLnBrk="1" hangingPunct="1"/>
            <a:r>
              <a:rPr lang="en-GB" sz="1600" dirty="0">
                <a:latin typeface="Arial" charset="0"/>
              </a:rPr>
              <a:t>Definicija: </a:t>
            </a:r>
            <a:r>
              <a:rPr lang="en-GB" sz="1600" dirty="0">
                <a:solidFill>
                  <a:srgbClr val="C00000"/>
                </a:solidFill>
                <a:latin typeface="Arial" charset="0"/>
              </a:rPr>
              <a:t>Verjetnost odpovedi (izgube) na časovno enoto </a:t>
            </a:r>
            <a:r>
              <a:rPr lang="en-GB" sz="1600" dirty="0" err="1">
                <a:solidFill>
                  <a:srgbClr val="C00000"/>
                </a:solidFill>
                <a:latin typeface="Arial" charset="0"/>
              </a:rPr>
              <a:t>na</a:t>
            </a:r>
            <a:r>
              <a:rPr lang="en-GB" sz="1600" dirty="0">
                <a:solidFill>
                  <a:srgbClr val="C00000"/>
                </a:solidFill>
                <a:latin typeface="Arial" charset="0"/>
              </a:rPr>
              <a:t> </a:t>
            </a:r>
            <a:r>
              <a:rPr lang="en-GB" sz="1600" dirty="0" err="1">
                <a:solidFill>
                  <a:srgbClr val="C00000"/>
                </a:solidFill>
                <a:latin typeface="Arial" charset="0"/>
              </a:rPr>
              <a:t>sistem</a:t>
            </a:r>
            <a:r>
              <a:rPr lang="sl-SI" sz="1600" dirty="0">
                <a:solidFill>
                  <a:srgbClr val="C00000"/>
                </a:solidFill>
                <a:latin typeface="Arial" charset="0"/>
              </a:rPr>
              <a:t> (verjetnost, da bo sistem odpovedal v naslednji časovni enoti.)</a:t>
            </a:r>
            <a:endParaRPr lang="sl-SI" sz="1600" noProof="0" dirty="0">
              <a:latin typeface="Arial" charset="0"/>
              <a:cs typeface="Arial" charset="0"/>
            </a:endParaRPr>
          </a:p>
          <a:p>
            <a:pPr lvl="1" eaLnBrk="1" hangingPunct="1"/>
            <a:r>
              <a:rPr lang="en-GB" sz="1600" noProof="0" dirty="0">
                <a:latin typeface="Arial" charset="0"/>
              </a:rPr>
              <a:t>Krivulja pogostosti odpovedi ima pogosto obliko kopalne kadi. </a:t>
            </a:r>
          </a:p>
          <a:p>
            <a:pPr lvl="1" eaLnBrk="1" hangingPunct="1"/>
            <a:r>
              <a:rPr lang="en-GB" sz="1600" noProof="0" dirty="0">
                <a:solidFill>
                  <a:srgbClr val="C00000"/>
                </a:solidFill>
                <a:latin typeface="Arial" charset="0"/>
              </a:rPr>
              <a:t>Krivulja se najprej spušča</a:t>
            </a:r>
            <a:r>
              <a:rPr lang="en-GB" sz="1600" noProof="0" dirty="0">
                <a:latin typeface="Arial" charset="0"/>
              </a:rPr>
              <a:t>, nato je nekaj časa </a:t>
            </a:r>
            <a:r>
              <a:rPr lang="en-GB" sz="1600" noProof="0" dirty="0">
                <a:solidFill>
                  <a:srgbClr val="C00000"/>
                </a:solidFill>
                <a:latin typeface="Arial" charset="0"/>
              </a:rPr>
              <a:t>stabilna</a:t>
            </a:r>
            <a:r>
              <a:rPr lang="en-GB" sz="1600" noProof="0" dirty="0">
                <a:latin typeface="Arial" charset="0"/>
              </a:rPr>
              <a:t>, nato pa </a:t>
            </a:r>
            <a:r>
              <a:rPr lang="en-GB" sz="1600" noProof="0" dirty="0">
                <a:solidFill>
                  <a:srgbClr val="C00000"/>
                </a:solidFill>
                <a:latin typeface="Arial" charset="0"/>
              </a:rPr>
              <a:t>se spet vzpne</a:t>
            </a:r>
            <a:r>
              <a:rPr lang="en-GB" sz="1600" noProof="0" dirty="0">
                <a:latin typeface="Arial" charset="0"/>
              </a:rPr>
              <a:t> zaradi obrabe (staranja) </a:t>
            </a:r>
          </a:p>
        </p:txBody>
      </p:sp>
      <p:grpSp>
        <p:nvGrpSpPr>
          <p:cNvPr id="2" name="Group 28"/>
          <p:cNvGrpSpPr>
            <a:grpSpLocks/>
          </p:cNvGrpSpPr>
          <p:nvPr/>
        </p:nvGrpSpPr>
        <p:grpSpPr bwMode="auto">
          <a:xfrm>
            <a:off x="1258888" y="3140075"/>
            <a:ext cx="6840537" cy="3313113"/>
            <a:chOff x="567" y="1706"/>
            <a:chExt cx="4309" cy="2314"/>
          </a:xfrm>
        </p:grpSpPr>
        <p:sp>
          <p:nvSpPr>
            <p:cNvPr id="92164" name="Rectangle 27"/>
            <p:cNvSpPr>
              <a:spLocks noChangeArrowheads="1"/>
            </p:cNvSpPr>
            <p:nvPr/>
          </p:nvSpPr>
          <p:spPr bwMode="auto">
            <a:xfrm>
              <a:off x="567" y="1706"/>
              <a:ext cx="4309" cy="2314"/>
            </a:xfrm>
            <a:prstGeom prst="rect">
              <a:avLst/>
            </a:prstGeom>
            <a:noFill/>
            <a:ln w="9525">
              <a:solidFill>
                <a:schemeClr val="tx1"/>
              </a:solidFill>
              <a:miter lim="800000"/>
              <a:headEnd/>
              <a:tailEnd/>
            </a:ln>
          </p:spPr>
          <p:txBody>
            <a:bodyPr wrap="none" anchor="ctr"/>
            <a:lstStyle/>
            <a:p>
              <a:endParaRPr lang="en-GB" dirty="0"/>
            </a:p>
          </p:txBody>
        </p:sp>
        <p:grpSp>
          <p:nvGrpSpPr>
            <p:cNvPr id="3" name="Group 26"/>
            <p:cNvGrpSpPr>
              <a:grpSpLocks/>
            </p:cNvGrpSpPr>
            <p:nvPr/>
          </p:nvGrpSpPr>
          <p:grpSpPr bwMode="auto">
            <a:xfrm>
              <a:off x="674" y="1752"/>
              <a:ext cx="4115" cy="2238"/>
              <a:chOff x="990" y="1552"/>
              <a:chExt cx="4115" cy="2238"/>
            </a:xfrm>
          </p:grpSpPr>
          <p:sp>
            <p:nvSpPr>
              <p:cNvPr id="92166" name="Line 5"/>
              <p:cNvSpPr>
                <a:spLocks noChangeShapeType="1"/>
              </p:cNvSpPr>
              <p:nvPr/>
            </p:nvSpPr>
            <p:spPr bwMode="auto">
              <a:xfrm>
                <a:off x="1266" y="1890"/>
                <a:ext cx="0" cy="1344"/>
              </a:xfrm>
              <a:prstGeom prst="line">
                <a:avLst/>
              </a:prstGeom>
              <a:noFill/>
              <a:ln w="25400">
                <a:solidFill>
                  <a:schemeClr val="tx1"/>
                </a:solidFill>
                <a:round/>
                <a:headEnd type="triangle" w="med" len="med"/>
                <a:tailEnd/>
              </a:ln>
            </p:spPr>
            <p:txBody>
              <a:bodyPr wrap="none" anchor="ctr"/>
              <a:lstStyle/>
              <a:p>
                <a:endParaRPr lang="nl-NL" dirty="0"/>
              </a:p>
            </p:txBody>
          </p:sp>
          <p:sp>
            <p:nvSpPr>
              <p:cNvPr id="92167" name="Line 6"/>
              <p:cNvSpPr>
                <a:spLocks noChangeShapeType="1"/>
              </p:cNvSpPr>
              <p:nvPr/>
            </p:nvSpPr>
            <p:spPr bwMode="auto">
              <a:xfrm>
                <a:off x="1266" y="3234"/>
                <a:ext cx="3264" cy="0"/>
              </a:xfrm>
              <a:prstGeom prst="line">
                <a:avLst/>
              </a:prstGeom>
              <a:noFill/>
              <a:ln w="25400">
                <a:solidFill>
                  <a:schemeClr val="tx1"/>
                </a:solidFill>
                <a:round/>
                <a:headEnd/>
                <a:tailEnd type="triangle" w="med" len="med"/>
              </a:ln>
            </p:spPr>
            <p:txBody>
              <a:bodyPr wrap="none" anchor="ctr"/>
              <a:lstStyle/>
              <a:p>
                <a:endParaRPr lang="nl-NL" dirty="0"/>
              </a:p>
            </p:txBody>
          </p:sp>
          <p:sp>
            <p:nvSpPr>
              <p:cNvPr id="92168" name="Text Box 9"/>
              <p:cNvSpPr txBox="1">
                <a:spLocks noChangeArrowheads="1"/>
              </p:cNvSpPr>
              <p:nvPr/>
            </p:nvSpPr>
            <p:spPr bwMode="auto">
              <a:xfrm>
                <a:off x="4513" y="3113"/>
                <a:ext cx="592" cy="256"/>
              </a:xfrm>
              <a:prstGeom prst="rect">
                <a:avLst/>
              </a:prstGeom>
              <a:noFill/>
              <a:ln w="9525">
                <a:noFill/>
                <a:miter lim="800000"/>
                <a:headEnd/>
                <a:tailEnd/>
              </a:ln>
            </p:spPr>
            <p:txBody>
              <a:bodyPr wrap="none">
                <a:spAutoFit/>
              </a:bodyPr>
              <a:lstStyle/>
              <a:p>
                <a:pPr eaLnBrk="0" hangingPunct="0"/>
                <a:r>
                  <a:rPr lang="en-GB" dirty="0">
                    <a:latin typeface="Arial" charset="0"/>
                  </a:rPr>
                  <a:t>t = čas</a:t>
                </a:r>
              </a:p>
            </p:txBody>
          </p:sp>
          <p:sp>
            <p:nvSpPr>
              <p:cNvPr id="92169" name="Freeform 10"/>
              <p:cNvSpPr>
                <a:spLocks/>
              </p:cNvSpPr>
              <p:nvPr/>
            </p:nvSpPr>
            <p:spPr bwMode="auto">
              <a:xfrm>
                <a:off x="1362" y="2034"/>
                <a:ext cx="3024" cy="1152"/>
              </a:xfrm>
              <a:custGeom>
                <a:avLst/>
                <a:gdLst>
                  <a:gd name="T0" fmla="*/ 0 w 3024"/>
                  <a:gd name="T1" fmla="*/ 0 h 1232"/>
                  <a:gd name="T2" fmla="*/ 480 w 3024"/>
                  <a:gd name="T3" fmla="*/ 755 h 1232"/>
                  <a:gd name="T4" fmla="*/ 2304 w 3024"/>
                  <a:gd name="T5" fmla="*/ 755 h 1232"/>
                  <a:gd name="T6" fmla="*/ 3024 w 3024"/>
                  <a:gd name="T7" fmla="*/ 69 h 1232"/>
                  <a:gd name="T8" fmla="*/ 0 60000 65536"/>
                  <a:gd name="T9" fmla="*/ 0 60000 65536"/>
                  <a:gd name="T10" fmla="*/ 0 60000 65536"/>
                  <a:gd name="T11" fmla="*/ 0 60000 65536"/>
                  <a:gd name="T12" fmla="*/ 0 w 3024"/>
                  <a:gd name="T13" fmla="*/ 0 h 1232"/>
                  <a:gd name="T14" fmla="*/ 3024 w 3024"/>
                  <a:gd name="T15" fmla="*/ 1232 h 1232"/>
                </a:gdLst>
                <a:ahLst/>
                <a:cxnLst>
                  <a:cxn ang="T8">
                    <a:pos x="T0" y="T1"/>
                  </a:cxn>
                  <a:cxn ang="T9">
                    <a:pos x="T2" y="T3"/>
                  </a:cxn>
                  <a:cxn ang="T10">
                    <a:pos x="T4" y="T5"/>
                  </a:cxn>
                  <a:cxn ang="T11">
                    <a:pos x="T6" y="T7"/>
                  </a:cxn>
                </a:cxnLst>
                <a:rect l="T12" t="T13" r="T14" b="T15"/>
                <a:pathLst>
                  <a:path w="3024" h="1232">
                    <a:moveTo>
                      <a:pt x="0" y="0"/>
                    </a:moveTo>
                    <a:cubicBezTo>
                      <a:pt x="48" y="440"/>
                      <a:pt x="96" y="880"/>
                      <a:pt x="480" y="1056"/>
                    </a:cubicBezTo>
                    <a:cubicBezTo>
                      <a:pt x="864" y="1232"/>
                      <a:pt x="1880" y="1216"/>
                      <a:pt x="2304" y="1056"/>
                    </a:cubicBezTo>
                    <a:cubicBezTo>
                      <a:pt x="2728" y="896"/>
                      <a:pt x="2896" y="232"/>
                      <a:pt x="3024" y="96"/>
                    </a:cubicBezTo>
                  </a:path>
                </a:pathLst>
              </a:custGeom>
              <a:noFill/>
              <a:ln w="50800" cap="flat" cmpd="sng">
                <a:solidFill>
                  <a:srgbClr val="FF0000"/>
                </a:solidFill>
                <a:prstDash val="solid"/>
                <a:round/>
                <a:headEnd type="none" w="med" len="med"/>
                <a:tailEnd type="none" w="med" len="med"/>
              </a:ln>
            </p:spPr>
            <p:txBody>
              <a:bodyPr wrap="none" anchor="ctr"/>
              <a:lstStyle/>
              <a:p>
                <a:endParaRPr lang="nl-NL" dirty="0"/>
              </a:p>
            </p:txBody>
          </p:sp>
          <p:sp>
            <p:nvSpPr>
              <p:cNvPr id="92170" name="Line 11"/>
              <p:cNvSpPr>
                <a:spLocks noChangeShapeType="1"/>
              </p:cNvSpPr>
              <p:nvPr/>
            </p:nvSpPr>
            <p:spPr bwMode="auto">
              <a:xfrm>
                <a:off x="1266" y="3090"/>
                <a:ext cx="3168" cy="0"/>
              </a:xfrm>
              <a:prstGeom prst="line">
                <a:avLst/>
              </a:prstGeom>
              <a:noFill/>
              <a:ln w="19050">
                <a:solidFill>
                  <a:srgbClr val="000080"/>
                </a:solidFill>
                <a:prstDash val="lgDash"/>
                <a:round/>
                <a:headEnd/>
                <a:tailEnd/>
              </a:ln>
            </p:spPr>
            <p:txBody>
              <a:bodyPr wrap="none" anchor="ctr"/>
              <a:lstStyle/>
              <a:p>
                <a:endParaRPr lang="nl-NL" dirty="0"/>
              </a:p>
            </p:txBody>
          </p:sp>
          <p:sp>
            <p:nvSpPr>
              <p:cNvPr id="92171" name="Line 12"/>
              <p:cNvSpPr>
                <a:spLocks noChangeShapeType="1"/>
              </p:cNvSpPr>
              <p:nvPr/>
            </p:nvSpPr>
            <p:spPr bwMode="auto">
              <a:xfrm>
                <a:off x="3666" y="1890"/>
                <a:ext cx="0" cy="1344"/>
              </a:xfrm>
              <a:prstGeom prst="line">
                <a:avLst/>
              </a:prstGeom>
              <a:noFill/>
              <a:ln w="9525">
                <a:solidFill>
                  <a:srgbClr val="000080"/>
                </a:solidFill>
                <a:prstDash val="lgDash"/>
                <a:round/>
                <a:headEnd/>
                <a:tailEnd/>
              </a:ln>
            </p:spPr>
            <p:txBody>
              <a:bodyPr wrap="none" anchor="ctr"/>
              <a:lstStyle/>
              <a:p>
                <a:endParaRPr lang="nl-NL" dirty="0"/>
              </a:p>
            </p:txBody>
          </p:sp>
          <p:sp>
            <p:nvSpPr>
              <p:cNvPr id="92172" name="Line 13"/>
              <p:cNvSpPr>
                <a:spLocks noChangeShapeType="1"/>
              </p:cNvSpPr>
              <p:nvPr/>
            </p:nvSpPr>
            <p:spPr bwMode="auto">
              <a:xfrm flipV="1">
                <a:off x="1890" y="1842"/>
                <a:ext cx="0" cy="1392"/>
              </a:xfrm>
              <a:prstGeom prst="line">
                <a:avLst/>
              </a:prstGeom>
              <a:noFill/>
              <a:ln w="9525">
                <a:solidFill>
                  <a:srgbClr val="000080"/>
                </a:solidFill>
                <a:prstDash val="lgDash"/>
                <a:round/>
                <a:headEnd/>
                <a:tailEnd/>
              </a:ln>
            </p:spPr>
            <p:txBody>
              <a:bodyPr wrap="none" anchor="ctr"/>
              <a:lstStyle/>
              <a:p>
                <a:endParaRPr lang="nl-NL" dirty="0"/>
              </a:p>
            </p:txBody>
          </p:sp>
          <p:sp>
            <p:nvSpPr>
              <p:cNvPr id="92173" name="Line 14"/>
              <p:cNvSpPr>
                <a:spLocks noChangeShapeType="1"/>
              </p:cNvSpPr>
              <p:nvPr/>
            </p:nvSpPr>
            <p:spPr bwMode="auto">
              <a:xfrm>
                <a:off x="1247" y="1661"/>
                <a:ext cx="3175" cy="0"/>
              </a:xfrm>
              <a:prstGeom prst="line">
                <a:avLst/>
              </a:prstGeom>
              <a:noFill/>
              <a:ln w="9525">
                <a:solidFill>
                  <a:schemeClr val="tx1"/>
                </a:solidFill>
                <a:round/>
                <a:headEnd type="triangle" w="med" len="med"/>
                <a:tailEnd type="triangle" w="med" len="med"/>
              </a:ln>
            </p:spPr>
            <p:txBody>
              <a:bodyPr/>
              <a:lstStyle/>
              <a:p>
                <a:endParaRPr lang="nl-NL" dirty="0"/>
              </a:p>
            </p:txBody>
          </p:sp>
          <p:sp>
            <p:nvSpPr>
              <p:cNvPr id="92174" name="Text Box 15"/>
              <p:cNvSpPr txBox="1">
                <a:spLocks noChangeArrowheads="1"/>
              </p:cNvSpPr>
              <p:nvPr/>
            </p:nvSpPr>
            <p:spPr bwMode="auto">
              <a:xfrm>
                <a:off x="2323" y="1552"/>
                <a:ext cx="1055" cy="215"/>
              </a:xfrm>
              <a:prstGeom prst="rect">
                <a:avLst/>
              </a:prstGeom>
              <a:solidFill>
                <a:schemeClr val="bg1"/>
              </a:solidFill>
              <a:ln w="9525">
                <a:noFill/>
                <a:miter lim="800000"/>
                <a:headEnd/>
                <a:tailEnd/>
              </a:ln>
            </p:spPr>
            <p:txBody>
              <a:bodyPr wrap="square">
                <a:spAutoFit/>
              </a:bodyPr>
              <a:lstStyle/>
              <a:p>
                <a:pPr eaLnBrk="0" hangingPunct="0"/>
                <a:r>
                  <a:rPr lang="en-GB" sz="1400" dirty="0">
                    <a:latin typeface="Arial" charset="0"/>
                  </a:rPr>
                  <a:t>Življenjska doba</a:t>
                </a:r>
              </a:p>
            </p:txBody>
          </p:sp>
          <p:sp>
            <p:nvSpPr>
              <p:cNvPr id="92175" name="Text Box 16"/>
              <p:cNvSpPr txBox="1">
                <a:spLocks noChangeArrowheads="1"/>
              </p:cNvSpPr>
              <p:nvPr/>
            </p:nvSpPr>
            <p:spPr bwMode="auto">
              <a:xfrm>
                <a:off x="1837" y="1724"/>
                <a:ext cx="2411" cy="215"/>
              </a:xfrm>
              <a:prstGeom prst="rect">
                <a:avLst/>
              </a:prstGeom>
              <a:solidFill>
                <a:schemeClr val="bg1">
                  <a:alpha val="50195"/>
                </a:schemeClr>
              </a:solidFill>
              <a:ln w="9525">
                <a:noFill/>
                <a:miter lim="800000"/>
                <a:headEnd/>
                <a:tailEnd/>
              </a:ln>
            </p:spPr>
            <p:txBody>
              <a:bodyPr wrap="none">
                <a:spAutoFit/>
              </a:bodyPr>
              <a:lstStyle/>
              <a:p>
                <a:pPr eaLnBrk="0" hangingPunct="0"/>
                <a:r>
                  <a:rPr lang="en-GB" sz="1400" dirty="0">
                    <a:latin typeface="Arial" charset="0"/>
                  </a:rPr>
                  <a:t>Pričakovana ali izmerjena pogostost odpovedi</a:t>
                </a:r>
              </a:p>
            </p:txBody>
          </p:sp>
          <p:sp>
            <p:nvSpPr>
              <p:cNvPr id="92176" name="Line 17"/>
              <p:cNvSpPr>
                <a:spLocks noChangeShapeType="1"/>
              </p:cNvSpPr>
              <p:nvPr/>
            </p:nvSpPr>
            <p:spPr bwMode="auto">
              <a:xfrm flipH="1">
                <a:off x="1383" y="1933"/>
                <a:ext cx="454" cy="363"/>
              </a:xfrm>
              <a:prstGeom prst="line">
                <a:avLst/>
              </a:prstGeom>
              <a:noFill/>
              <a:ln w="9525">
                <a:solidFill>
                  <a:schemeClr val="tx1"/>
                </a:solidFill>
                <a:round/>
                <a:headEnd/>
                <a:tailEnd type="triangle" w="med" len="med"/>
              </a:ln>
            </p:spPr>
            <p:txBody>
              <a:bodyPr/>
              <a:lstStyle/>
              <a:p>
                <a:endParaRPr lang="nl-NL" dirty="0"/>
              </a:p>
            </p:txBody>
          </p:sp>
          <p:sp>
            <p:nvSpPr>
              <p:cNvPr id="92177" name="Text Box 18"/>
              <p:cNvSpPr txBox="1">
                <a:spLocks noChangeArrowheads="1"/>
              </p:cNvSpPr>
              <p:nvPr/>
            </p:nvSpPr>
            <p:spPr bwMode="auto">
              <a:xfrm>
                <a:off x="1317" y="3326"/>
                <a:ext cx="460" cy="451"/>
              </a:xfrm>
              <a:prstGeom prst="rect">
                <a:avLst/>
              </a:prstGeom>
              <a:noFill/>
              <a:ln w="9525">
                <a:noFill/>
                <a:miter lim="800000"/>
                <a:headEnd/>
                <a:tailEnd/>
              </a:ln>
            </p:spPr>
            <p:txBody>
              <a:bodyPr wrap="none">
                <a:spAutoFit/>
              </a:bodyPr>
              <a:lstStyle/>
              <a:p>
                <a:pPr algn="ctr" eaLnBrk="0" hangingPunct="0"/>
                <a:r>
                  <a:rPr lang="en-GB" sz="1200" dirty="0">
                    <a:latin typeface="Arial" charset="0"/>
                  </a:rPr>
                  <a:t>Obdobje</a:t>
                </a:r>
              </a:p>
              <a:p>
                <a:pPr algn="ctr" eaLnBrk="0" hangingPunct="0"/>
                <a:r>
                  <a:rPr lang="en-GB" sz="1200" dirty="0">
                    <a:latin typeface="Arial" charset="0"/>
                  </a:rPr>
                  <a:t>zgodnjih</a:t>
                </a:r>
                <a:endParaRPr lang="sl-SI" sz="1200" dirty="0">
                  <a:latin typeface="Arial" charset="0"/>
                </a:endParaRPr>
              </a:p>
              <a:p>
                <a:pPr algn="ctr" eaLnBrk="0" hangingPunct="0"/>
                <a:r>
                  <a:rPr lang="en-GB" sz="1200" dirty="0">
                    <a:latin typeface="Arial" charset="0"/>
                  </a:rPr>
                  <a:t>odpovedi</a:t>
                </a:r>
              </a:p>
            </p:txBody>
          </p:sp>
          <p:sp>
            <p:nvSpPr>
              <p:cNvPr id="92178" name="Text Box 19"/>
              <p:cNvSpPr txBox="1">
                <a:spLocks noChangeArrowheads="1"/>
              </p:cNvSpPr>
              <p:nvPr/>
            </p:nvSpPr>
            <p:spPr bwMode="auto">
              <a:xfrm>
                <a:off x="2064" y="3475"/>
                <a:ext cx="1542" cy="193"/>
              </a:xfrm>
              <a:prstGeom prst="rect">
                <a:avLst/>
              </a:prstGeom>
              <a:noFill/>
              <a:ln w="9525">
                <a:noFill/>
                <a:miter lim="800000"/>
                <a:headEnd/>
                <a:tailEnd/>
              </a:ln>
            </p:spPr>
            <p:txBody>
              <a:bodyPr>
                <a:spAutoFit/>
              </a:bodyPr>
              <a:lstStyle/>
              <a:p>
                <a:pPr algn="ctr" eaLnBrk="0" hangingPunct="0"/>
                <a:r>
                  <a:rPr lang="en-GB" sz="1200" dirty="0">
                    <a:latin typeface="Arial" charset="0"/>
                  </a:rPr>
                  <a:t>Stabilno obdobje odpovedi</a:t>
                </a:r>
              </a:p>
            </p:txBody>
          </p:sp>
          <p:sp>
            <p:nvSpPr>
              <p:cNvPr id="92179" name="Text Box 20"/>
              <p:cNvSpPr txBox="1">
                <a:spLocks noChangeArrowheads="1"/>
              </p:cNvSpPr>
              <p:nvPr/>
            </p:nvSpPr>
            <p:spPr bwMode="auto">
              <a:xfrm>
                <a:off x="3787" y="3339"/>
                <a:ext cx="907" cy="451"/>
              </a:xfrm>
              <a:prstGeom prst="rect">
                <a:avLst/>
              </a:prstGeom>
              <a:noFill/>
              <a:ln w="9525">
                <a:noFill/>
                <a:miter lim="800000"/>
                <a:headEnd/>
                <a:tailEnd/>
              </a:ln>
            </p:spPr>
            <p:txBody>
              <a:bodyPr wrap="square">
                <a:spAutoFit/>
              </a:bodyPr>
              <a:lstStyle/>
              <a:p>
                <a:pPr algn="ctr" eaLnBrk="0" hangingPunct="0"/>
                <a:r>
                  <a:rPr lang="en-GB" sz="1200" dirty="0">
                    <a:latin typeface="Arial" charset="0"/>
                  </a:rPr>
                  <a:t>Obdobje odpovedi</a:t>
                </a:r>
                <a:br>
                  <a:rPr/>
                </a:br>
                <a:r>
                  <a:rPr lang="sl-SI" sz="1200">
                    <a:latin typeface="Arial" charset="0"/>
                  </a:rPr>
                  <a:t>ob </a:t>
                </a:r>
                <a:r>
                  <a:rPr lang="en-GB" sz="1200">
                    <a:latin typeface="Arial" charset="0"/>
                  </a:rPr>
                  <a:t>koncu</a:t>
                </a:r>
                <a:br/>
                <a:r>
                  <a:rPr lang="en-GB" sz="1200" dirty="0">
                    <a:latin typeface="Arial" charset="0"/>
                  </a:rPr>
                  <a:t>življenjske dobe</a:t>
                </a:r>
              </a:p>
            </p:txBody>
          </p:sp>
          <p:sp>
            <p:nvSpPr>
              <p:cNvPr id="92180" name="Line 21"/>
              <p:cNvSpPr>
                <a:spLocks noChangeShapeType="1"/>
              </p:cNvSpPr>
              <p:nvPr/>
            </p:nvSpPr>
            <p:spPr bwMode="auto">
              <a:xfrm>
                <a:off x="1292" y="3339"/>
                <a:ext cx="590" cy="0"/>
              </a:xfrm>
              <a:prstGeom prst="line">
                <a:avLst/>
              </a:prstGeom>
              <a:noFill/>
              <a:ln w="9525">
                <a:solidFill>
                  <a:schemeClr val="tx1"/>
                </a:solidFill>
                <a:round/>
                <a:headEnd type="triangle" w="med" len="med"/>
                <a:tailEnd type="triangle" w="med" len="med"/>
              </a:ln>
            </p:spPr>
            <p:txBody>
              <a:bodyPr/>
              <a:lstStyle/>
              <a:p>
                <a:endParaRPr lang="nl-NL" dirty="0"/>
              </a:p>
            </p:txBody>
          </p:sp>
          <p:sp>
            <p:nvSpPr>
              <p:cNvPr id="92181" name="Line 22"/>
              <p:cNvSpPr>
                <a:spLocks noChangeShapeType="1"/>
              </p:cNvSpPr>
              <p:nvPr/>
            </p:nvSpPr>
            <p:spPr bwMode="auto">
              <a:xfrm>
                <a:off x="1882" y="3339"/>
                <a:ext cx="1769" cy="0"/>
              </a:xfrm>
              <a:prstGeom prst="line">
                <a:avLst/>
              </a:prstGeom>
              <a:noFill/>
              <a:ln w="9525">
                <a:solidFill>
                  <a:schemeClr val="tx1"/>
                </a:solidFill>
                <a:round/>
                <a:headEnd type="triangle" w="med" len="med"/>
                <a:tailEnd type="triangle" w="med" len="med"/>
              </a:ln>
            </p:spPr>
            <p:txBody>
              <a:bodyPr/>
              <a:lstStyle/>
              <a:p>
                <a:endParaRPr lang="nl-NL" dirty="0"/>
              </a:p>
            </p:txBody>
          </p:sp>
          <p:sp>
            <p:nvSpPr>
              <p:cNvPr id="92182" name="Line 23"/>
              <p:cNvSpPr>
                <a:spLocks noChangeShapeType="1"/>
              </p:cNvSpPr>
              <p:nvPr/>
            </p:nvSpPr>
            <p:spPr bwMode="auto">
              <a:xfrm>
                <a:off x="3651" y="3339"/>
                <a:ext cx="1270" cy="0"/>
              </a:xfrm>
              <a:prstGeom prst="line">
                <a:avLst/>
              </a:prstGeom>
              <a:noFill/>
              <a:ln w="9525">
                <a:solidFill>
                  <a:schemeClr val="tx1"/>
                </a:solidFill>
                <a:round/>
                <a:headEnd type="triangle" w="med" len="med"/>
                <a:tailEnd type="triangle" w="med" len="med"/>
              </a:ln>
            </p:spPr>
            <p:txBody>
              <a:bodyPr/>
              <a:lstStyle/>
              <a:p>
                <a:endParaRPr lang="nl-NL" dirty="0"/>
              </a:p>
            </p:txBody>
          </p:sp>
          <p:sp>
            <p:nvSpPr>
              <p:cNvPr id="92183" name="Text Box 25"/>
              <p:cNvSpPr txBox="1">
                <a:spLocks noChangeArrowheads="1"/>
              </p:cNvSpPr>
              <p:nvPr/>
            </p:nvSpPr>
            <p:spPr bwMode="auto">
              <a:xfrm rot="16200000">
                <a:off x="636" y="2424"/>
                <a:ext cx="999" cy="291"/>
              </a:xfrm>
              <a:prstGeom prst="rect">
                <a:avLst/>
              </a:prstGeom>
              <a:noFill/>
              <a:ln w="9525">
                <a:noFill/>
                <a:miter lim="800000"/>
                <a:headEnd/>
                <a:tailEnd/>
              </a:ln>
            </p:spPr>
            <p:txBody>
              <a:bodyPr>
                <a:spAutoFit/>
              </a:bodyPr>
              <a:lstStyle/>
              <a:p>
                <a:pPr algn="ctr" eaLnBrk="0" hangingPunct="0"/>
                <a:r>
                  <a:rPr lang="en-GB" sz="1200" dirty="0">
                    <a:latin typeface="Arial" charset="0"/>
                  </a:rPr>
                  <a:t>Pogostost odpovedi h(t)</a:t>
                </a:r>
              </a:p>
            </p:txBody>
          </p:sp>
        </p:grpSp>
      </p:grpSp>
    </p:spTree>
    <p:extLst>
      <p:ext uri="{BB962C8B-B14F-4D97-AF65-F5344CB8AC3E}">
        <p14:creationId xmlns:p14="http://schemas.microsoft.com/office/powerpoint/2010/main" val="4267394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3" name="Rectangle 2"/>
          <p:cNvSpPr>
            <a:spLocks noGrp="1" noChangeArrowheads="1"/>
          </p:cNvSpPr>
          <p:nvPr>
            <p:ph type="title"/>
          </p:nvPr>
        </p:nvSpPr>
        <p:spPr/>
        <p:txBody>
          <a:bodyPr/>
          <a:lstStyle/>
          <a:p>
            <a:pPr eaLnBrk="1" hangingPunct="1"/>
            <a:r>
              <a:rPr lang="en-GB" noProof="0" dirty="0">
                <a:latin typeface="Arial" charset="0"/>
              </a:rPr>
              <a:t>Funkcija gostote porazdelitve</a:t>
            </a:r>
            <a:endParaRPr lang="sl-SI" sz="2400" noProof="0" dirty="0">
              <a:latin typeface="Arial" charset="0"/>
              <a:cs typeface="Arial" charset="0"/>
            </a:endParaRPr>
          </a:p>
        </p:txBody>
      </p:sp>
      <p:sp>
        <p:nvSpPr>
          <p:cNvPr id="15374" name="Tijdelijke aanduiding voor inhoud 4"/>
          <p:cNvSpPr>
            <a:spLocks noGrp="1"/>
          </p:cNvSpPr>
          <p:nvPr>
            <p:ph idx="1"/>
          </p:nvPr>
        </p:nvSpPr>
        <p:spPr/>
        <p:txBody>
          <a:bodyPr/>
          <a:lstStyle/>
          <a:p>
            <a:pPr eaLnBrk="1" hangingPunct="1"/>
            <a:r>
              <a:rPr lang="en-GB" noProof="0" dirty="0">
                <a:latin typeface="Arial" charset="0"/>
              </a:rPr>
              <a:t>Funkcija</a:t>
            </a:r>
            <a:r>
              <a:rPr lang="en-GB" noProof="0" dirty="0">
                <a:solidFill>
                  <a:srgbClr val="C00000"/>
                </a:solidFill>
                <a:latin typeface="Arial" charset="0"/>
              </a:rPr>
              <a:t> gostote porazdelitve </a:t>
            </a:r>
            <a:r>
              <a:rPr lang="en-GB" noProof="0" dirty="0" err="1">
                <a:solidFill>
                  <a:srgbClr val="C00000"/>
                </a:solidFill>
                <a:latin typeface="Arial" charset="0"/>
              </a:rPr>
              <a:t>odpovedi</a:t>
            </a:r>
            <a:r>
              <a:rPr lang="en-GB" noProof="0" dirty="0">
                <a:latin typeface="Arial" charset="0"/>
              </a:rPr>
              <a:t> –</a:t>
            </a:r>
            <a:r>
              <a:rPr lang="sl-SI" noProof="0" dirty="0">
                <a:latin typeface="Arial" charset="0"/>
              </a:rPr>
              <a:t> </a:t>
            </a:r>
            <a:r>
              <a:rPr lang="sl-SI" noProof="0" dirty="0">
                <a:solidFill>
                  <a:srgbClr val="C00000"/>
                </a:solidFill>
                <a:latin typeface="Arial" charset="0"/>
              </a:rPr>
              <a:t>f(t)</a:t>
            </a:r>
            <a:endParaRPr lang="en-GB" noProof="0" dirty="0">
              <a:solidFill>
                <a:srgbClr val="C00000"/>
              </a:solidFill>
              <a:latin typeface="Arial" charset="0"/>
            </a:endParaRPr>
          </a:p>
          <a:p>
            <a:pPr lvl="1" eaLnBrk="1" hangingPunct="1"/>
            <a:endParaRPr lang="sl-SI" noProof="0" dirty="0">
              <a:latin typeface="Arial" charset="0"/>
              <a:cs typeface="Arial" charset="0"/>
            </a:endParaRPr>
          </a:p>
          <a:p>
            <a:pPr lvl="1" eaLnBrk="1" hangingPunct="1"/>
            <a:r>
              <a:rPr lang="en-GB" sz="1600" noProof="0" dirty="0">
                <a:latin typeface="Arial" charset="0"/>
              </a:rPr>
              <a:t>Prikazuje </a:t>
            </a:r>
            <a:r>
              <a:rPr lang="en-GB" sz="1600" noProof="0" dirty="0">
                <a:solidFill>
                  <a:srgbClr val="C00000"/>
                </a:solidFill>
                <a:latin typeface="Arial" charset="0"/>
              </a:rPr>
              <a:t>porazdelitev verjetnosti odpovedi sistema </a:t>
            </a:r>
            <a:r>
              <a:rPr lang="en-GB" sz="1600" noProof="0" dirty="0">
                <a:latin typeface="Arial" charset="0"/>
              </a:rPr>
              <a:t>v celotni življenjski dobi.</a:t>
            </a:r>
          </a:p>
          <a:p>
            <a:pPr lvl="1" eaLnBrk="1" hangingPunct="1"/>
            <a:endParaRPr lang="sl-SI" sz="1600" noProof="0" dirty="0">
              <a:latin typeface="Arial" charset="0"/>
              <a:cs typeface="Arial" charset="0"/>
            </a:endParaRPr>
          </a:p>
          <a:p>
            <a:pPr lvl="1" eaLnBrk="1" hangingPunct="1"/>
            <a:r>
              <a:rPr lang="en-GB" sz="1600" noProof="0" dirty="0">
                <a:latin typeface="Arial" charset="0"/>
              </a:rPr>
              <a:t>Površina pod krivuljo je enaka 1. </a:t>
            </a:r>
          </a:p>
          <a:p>
            <a:pPr lvl="1" eaLnBrk="1" hangingPunct="1"/>
            <a:endParaRPr lang="sl-SI" sz="1600" noProof="0" dirty="0">
              <a:latin typeface="Arial" charset="0"/>
              <a:cs typeface="Arial" charset="0"/>
            </a:endParaRPr>
          </a:p>
          <a:p>
            <a:pPr lvl="1" eaLnBrk="1" hangingPunct="1"/>
            <a:r>
              <a:rPr lang="en-GB" sz="1600" noProof="0" dirty="0">
                <a:latin typeface="Arial" charset="0"/>
              </a:rPr>
              <a:t>V našem primeru je</a:t>
            </a:r>
            <a:br>
              <a:rPr dirty="0"/>
            </a:br>
            <a:r>
              <a:rPr lang="en-GB" sz="1600" noProof="0" dirty="0">
                <a:solidFill>
                  <a:srgbClr val="C00000"/>
                </a:solidFill>
                <a:latin typeface="Arial" charset="0"/>
              </a:rPr>
              <a:t>verjetnost odpovedi</a:t>
            </a:r>
            <a:br>
              <a:rPr dirty="0">
                <a:solidFill>
                  <a:srgbClr val="C00000"/>
                </a:solidFill>
              </a:rPr>
            </a:br>
            <a:r>
              <a:rPr lang="en-GB" sz="1600" noProof="0" dirty="0">
                <a:solidFill>
                  <a:srgbClr val="C00000"/>
                </a:solidFill>
                <a:latin typeface="Arial" charset="0"/>
              </a:rPr>
              <a:t>maksimalna v obdobju</a:t>
            </a:r>
            <a:br>
              <a:rPr dirty="0">
                <a:solidFill>
                  <a:srgbClr val="C00000"/>
                </a:solidFill>
              </a:rPr>
            </a:br>
            <a:r>
              <a:rPr lang="en-GB" sz="1600" noProof="0" dirty="0">
                <a:solidFill>
                  <a:srgbClr val="C00000"/>
                </a:solidFill>
                <a:latin typeface="Arial" charset="0"/>
              </a:rPr>
              <a:t>tik pred časom t = 1000</a:t>
            </a:r>
            <a:r>
              <a:rPr lang="en-GB" sz="1600" noProof="0" dirty="0">
                <a:latin typeface="Arial" charset="0"/>
              </a:rPr>
              <a:t>. </a:t>
            </a:r>
          </a:p>
        </p:txBody>
      </p:sp>
      <p:pic>
        <p:nvPicPr>
          <p:cNvPr id="15375" name="Picture 2"/>
          <p:cNvPicPr>
            <a:picLocks noChangeAspect="1" noChangeArrowheads="1"/>
          </p:cNvPicPr>
          <p:nvPr/>
        </p:nvPicPr>
        <p:blipFill>
          <a:blip r:embed="rId3" cstate="print"/>
          <a:srcRect/>
          <a:stretch>
            <a:fillRect/>
          </a:stretch>
        </p:blipFill>
        <p:spPr bwMode="auto">
          <a:xfrm>
            <a:off x="3846513" y="3360738"/>
            <a:ext cx="4805362" cy="3082925"/>
          </a:xfrm>
          <a:prstGeom prst="rect">
            <a:avLst/>
          </a:prstGeom>
          <a:noFill/>
          <a:ln w="9525">
            <a:noFill/>
            <a:miter lim="800000"/>
            <a:headEnd/>
            <a:tailEnd/>
          </a:ln>
        </p:spPr>
      </p:pic>
    </p:spTree>
    <p:extLst>
      <p:ext uri="{BB962C8B-B14F-4D97-AF65-F5344CB8AC3E}">
        <p14:creationId xmlns:p14="http://schemas.microsoft.com/office/powerpoint/2010/main" val="3119641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7" name="Titel 1"/>
          <p:cNvSpPr>
            <a:spLocks noGrp="1"/>
          </p:cNvSpPr>
          <p:nvPr>
            <p:ph type="title"/>
          </p:nvPr>
        </p:nvSpPr>
        <p:spPr/>
        <p:txBody>
          <a:bodyPr/>
          <a:lstStyle/>
          <a:p>
            <a:pPr eaLnBrk="1" hangingPunct="1"/>
            <a:r>
              <a:rPr lang="en-GB" noProof="0" dirty="0">
                <a:latin typeface="Arial" charset="0"/>
              </a:rPr>
              <a:t>Pogostost odpovedi</a:t>
            </a:r>
          </a:p>
        </p:txBody>
      </p:sp>
      <p:sp>
        <p:nvSpPr>
          <p:cNvPr id="16388" name="Tijdelijke aanduiding voor inhoud 2"/>
          <p:cNvSpPr>
            <a:spLocks noGrp="1"/>
          </p:cNvSpPr>
          <p:nvPr>
            <p:ph idx="1"/>
          </p:nvPr>
        </p:nvSpPr>
        <p:spPr/>
        <p:txBody>
          <a:bodyPr/>
          <a:lstStyle/>
          <a:p>
            <a:pPr eaLnBrk="1" hangingPunct="1"/>
            <a:r>
              <a:rPr lang="en-GB" noProof="0" dirty="0">
                <a:solidFill>
                  <a:srgbClr val="C00000"/>
                </a:solidFill>
                <a:latin typeface="Arial" charset="0"/>
              </a:rPr>
              <a:t>Pogostost odpovedi </a:t>
            </a:r>
            <a:r>
              <a:rPr lang="en-GB" noProof="0" dirty="0">
                <a:latin typeface="Arial" charset="0"/>
              </a:rPr>
              <a:t>- </a:t>
            </a:r>
            <a:r>
              <a:rPr lang="en-GB" noProof="0" dirty="0">
                <a:solidFill>
                  <a:srgbClr val="C00000"/>
                </a:solidFill>
                <a:latin typeface="Arial" charset="0"/>
              </a:rPr>
              <a:t>h(t)</a:t>
            </a:r>
            <a:r>
              <a:rPr lang="en-GB" noProof="0" dirty="0">
                <a:latin typeface="Arial" charset="0"/>
              </a:rPr>
              <a:t> in </a:t>
            </a:r>
            <a:r>
              <a:rPr lang="en-GB" noProof="0" dirty="0">
                <a:solidFill>
                  <a:srgbClr val="C00000"/>
                </a:solidFill>
                <a:latin typeface="Arial" charset="0"/>
              </a:rPr>
              <a:t>gostota verjetnosti </a:t>
            </a:r>
            <a:r>
              <a:rPr lang="en-GB" noProof="0" dirty="0">
                <a:latin typeface="Arial" charset="0"/>
              </a:rPr>
              <a:t>- </a:t>
            </a:r>
            <a:r>
              <a:rPr lang="en-GB" noProof="0" dirty="0">
                <a:solidFill>
                  <a:srgbClr val="C00000"/>
                </a:solidFill>
                <a:latin typeface="Arial" charset="0"/>
              </a:rPr>
              <a:t>f(t)</a:t>
            </a:r>
          </a:p>
          <a:p>
            <a:pPr lvl="1" eaLnBrk="1" hangingPunct="1"/>
            <a:endParaRPr lang="sl-SI" noProof="0" dirty="0">
              <a:latin typeface="Arial" charset="0"/>
              <a:cs typeface="Arial" charset="0"/>
            </a:endParaRPr>
          </a:p>
          <a:p>
            <a:pPr lvl="1" eaLnBrk="1" hangingPunct="1"/>
            <a:r>
              <a:rPr lang="en-GB" sz="1600" noProof="0" dirty="0">
                <a:solidFill>
                  <a:srgbClr val="C00000"/>
                </a:solidFill>
                <a:latin typeface="Arial" charset="0"/>
              </a:rPr>
              <a:t>f(t)</a:t>
            </a:r>
            <a:r>
              <a:rPr lang="en-GB" sz="1600" noProof="0" dirty="0">
                <a:latin typeface="Arial" charset="0"/>
              </a:rPr>
              <a:t> označuje porazdelitev verjetnosti odpovedi sistemov v celotnem obdobju od trenutka t = 0 do neskončnosti.</a:t>
            </a:r>
          </a:p>
          <a:p>
            <a:pPr lvl="1" eaLnBrk="1" hangingPunct="1"/>
            <a:endParaRPr lang="sl-SI" sz="1600" noProof="0" dirty="0">
              <a:latin typeface="Arial" charset="0"/>
              <a:cs typeface="Arial" charset="0"/>
            </a:endParaRPr>
          </a:p>
          <a:p>
            <a:pPr lvl="1" eaLnBrk="1" hangingPunct="1"/>
            <a:r>
              <a:rPr lang="en-GB" sz="1600" noProof="0" dirty="0">
                <a:solidFill>
                  <a:srgbClr val="C00000"/>
                </a:solidFill>
                <a:latin typeface="Arial" charset="0"/>
              </a:rPr>
              <a:t>h(t)</a:t>
            </a:r>
            <a:r>
              <a:rPr lang="en-GB" sz="1600" noProof="0" dirty="0">
                <a:latin typeface="Arial" charset="0"/>
              </a:rPr>
              <a:t> je pogostost odpovedi v trenutku t za sisteme, ki </a:t>
            </a:r>
            <a:r>
              <a:rPr lang="en-GB" sz="1600" u="sng" noProof="0" dirty="0">
                <a:latin typeface="Arial" charset="0"/>
              </a:rPr>
              <a:t>še vedno delujejo</a:t>
            </a:r>
            <a:r>
              <a:rPr lang="en-GB" sz="1600" noProof="0" dirty="0">
                <a:latin typeface="Arial" charset="0"/>
              </a:rPr>
              <a:t>. </a:t>
            </a:r>
            <a:br>
              <a:rPr dirty="0"/>
            </a:br>
            <a:endParaRPr lang="sl-SI" sz="1600" noProof="0" dirty="0">
              <a:latin typeface="Arial" charset="0"/>
              <a:cs typeface="Arial" charset="0"/>
            </a:endParaRPr>
          </a:p>
          <a:p>
            <a:pPr lvl="1" eaLnBrk="1" hangingPunct="1"/>
            <a:r>
              <a:rPr lang="en-GB" sz="1600" noProof="0" dirty="0">
                <a:solidFill>
                  <a:srgbClr val="C00000"/>
                </a:solidFill>
                <a:latin typeface="Arial" charset="0"/>
              </a:rPr>
              <a:t>h(t)</a:t>
            </a:r>
            <a:r>
              <a:rPr lang="en-GB" sz="1600" noProof="0" dirty="0">
                <a:latin typeface="Arial" charset="0"/>
              </a:rPr>
              <a:t> je pogojna gostota verjetnosti. </a:t>
            </a:r>
            <a:br>
              <a:rPr dirty="0"/>
            </a:br>
            <a:endParaRPr lang="sl-SI" sz="1600" noProof="0" dirty="0">
              <a:latin typeface="Arial" charset="0"/>
              <a:cs typeface="Arial" charset="0"/>
            </a:endParaRPr>
          </a:p>
          <a:p>
            <a:pPr lvl="1" eaLnBrk="1" hangingPunct="1"/>
            <a:r>
              <a:rPr lang="en-GB" sz="1600" noProof="0" dirty="0">
                <a:solidFill>
                  <a:srgbClr val="C00000"/>
                </a:solidFill>
                <a:latin typeface="Arial" charset="0"/>
              </a:rPr>
              <a:t>h(t)</a:t>
            </a:r>
            <a:r>
              <a:rPr lang="en-GB" sz="1600" noProof="0" dirty="0">
                <a:latin typeface="Arial" charset="0"/>
              </a:rPr>
              <a:t> je gostota verjetnosti odpovedi</a:t>
            </a:r>
            <a:br>
              <a:rPr dirty="0"/>
            </a:br>
            <a:r>
              <a:rPr lang="en-GB" sz="1600" noProof="0" dirty="0">
                <a:latin typeface="Arial" charset="0"/>
              </a:rPr>
              <a:t>pod pogojem, da sistem še vedno</a:t>
            </a:r>
            <a:br>
              <a:rPr dirty="0"/>
            </a:br>
            <a:r>
              <a:rPr lang="en-GB" sz="1600" noProof="0" dirty="0">
                <a:latin typeface="Arial" charset="0"/>
              </a:rPr>
              <a:t>deluje: </a:t>
            </a:r>
          </a:p>
          <a:p>
            <a:pPr lvl="1" eaLnBrk="1" hangingPunct="1">
              <a:buFont typeface="Arial" charset="0"/>
              <a:buNone/>
            </a:pPr>
            <a:br>
              <a:rPr dirty="0"/>
            </a:br>
            <a:br>
              <a:rPr dirty="0"/>
            </a:br>
            <a:r>
              <a:rPr lang="en-GB" sz="1600" noProof="0" dirty="0">
                <a:latin typeface="Arial" charset="0"/>
              </a:rPr>
              <a:t>Zato</a:t>
            </a:r>
            <a:r>
              <a:rPr lang="en-GB" sz="1600" dirty="0">
                <a:latin typeface="Arial" charset="0"/>
              </a:rPr>
              <a:t>:</a:t>
            </a:r>
            <a:r>
              <a:rPr dirty="0"/>
              <a:t> </a:t>
            </a:r>
          </a:p>
        </p:txBody>
      </p:sp>
      <p:graphicFrame>
        <p:nvGraphicFramePr>
          <p:cNvPr id="16396" name="Object 12"/>
          <p:cNvGraphicFramePr>
            <a:graphicFrameLocks noGrp="1" noChangeAspect="1"/>
          </p:cNvGraphicFramePr>
          <p:nvPr/>
        </p:nvGraphicFramePr>
        <p:xfrm>
          <a:off x="2555875" y="5229200"/>
          <a:ext cx="1592263" cy="1068387"/>
        </p:xfrm>
        <a:graphic>
          <a:graphicData uri="http://schemas.openxmlformats.org/presentationml/2006/ole">
            <mc:AlternateContent xmlns:mc="http://schemas.openxmlformats.org/markup-compatibility/2006">
              <mc:Choice xmlns:v="urn:schemas-microsoft-com:vml" Requires="v">
                <p:oleObj name="Equation" r:id="rId3" imgW="723586" imgH="418918" progId="Equation.3">
                  <p:embed/>
                </p:oleObj>
              </mc:Choice>
              <mc:Fallback>
                <p:oleObj name="Equation" r:id="rId3" imgW="723586" imgH="418918" progId="Equation.3">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5229200"/>
                        <a:ext cx="1592263" cy="1068387"/>
                      </a:xfrm>
                      <a:prstGeom prst="rect">
                        <a:avLst/>
                      </a:prstGeom>
                      <a:solidFill>
                        <a:srgbClr val="FEF6D6"/>
                      </a:solidFill>
                      <a:ln w="9525">
                        <a:solidFill>
                          <a:schemeClr val="tx1"/>
                        </a:solidFill>
                        <a:miter lim="800000"/>
                        <a:headEnd/>
                        <a:tailEnd/>
                      </a:ln>
                    </p:spPr>
                  </p:pic>
                </p:oleObj>
              </mc:Fallback>
            </mc:AlternateContent>
          </a:graphicData>
        </a:graphic>
      </p:graphicFrame>
      <p:pic>
        <p:nvPicPr>
          <p:cNvPr id="16399" name="Picture 3"/>
          <p:cNvPicPr>
            <a:picLocks noChangeAspect="1" noChangeArrowheads="1"/>
          </p:cNvPicPr>
          <p:nvPr/>
        </p:nvPicPr>
        <p:blipFill>
          <a:blip r:embed="rId5" cstate="print"/>
          <a:srcRect/>
          <a:stretch>
            <a:fillRect/>
          </a:stretch>
        </p:blipFill>
        <p:spPr bwMode="auto">
          <a:xfrm>
            <a:off x="4932363" y="3933825"/>
            <a:ext cx="3914775" cy="2532063"/>
          </a:xfrm>
          <a:prstGeom prst="rect">
            <a:avLst/>
          </a:prstGeom>
          <a:noFill/>
          <a:ln w="9525">
            <a:noFill/>
            <a:miter lim="800000"/>
            <a:headEnd/>
            <a:tailEnd/>
          </a:ln>
        </p:spPr>
      </p:pic>
    </p:spTree>
    <p:extLst>
      <p:ext uri="{BB962C8B-B14F-4D97-AF65-F5344CB8AC3E}">
        <p14:creationId xmlns:p14="http://schemas.microsoft.com/office/powerpoint/2010/main" val="679749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54" name="Rectangle 2"/>
          <p:cNvSpPr>
            <a:spLocks noGrp="1" noChangeArrowheads="1"/>
          </p:cNvSpPr>
          <p:nvPr>
            <p:ph type="title"/>
          </p:nvPr>
        </p:nvSpPr>
        <p:spPr/>
        <p:txBody>
          <a:bodyPr/>
          <a:lstStyle/>
          <a:p>
            <a:pPr eaLnBrk="1" hangingPunct="1"/>
            <a:r>
              <a:rPr lang="en-GB" noProof="0" dirty="0">
                <a:latin typeface="Arial" charset="0"/>
              </a:rPr>
              <a:t>Funkcija zanesljivosti</a:t>
            </a:r>
            <a:endParaRPr lang="sl-SI" sz="2400" noProof="0" dirty="0">
              <a:latin typeface="Arial" charset="0"/>
              <a:cs typeface="Arial" charset="0"/>
            </a:endParaRPr>
          </a:p>
        </p:txBody>
      </p:sp>
      <p:sp>
        <p:nvSpPr>
          <p:cNvPr id="17415" name="Tijdelijke aanduiding voor inhoud 6"/>
          <p:cNvSpPr>
            <a:spLocks noGrp="1"/>
          </p:cNvSpPr>
          <p:nvPr>
            <p:ph idx="1"/>
          </p:nvPr>
        </p:nvSpPr>
        <p:spPr/>
        <p:txBody>
          <a:bodyPr/>
          <a:lstStyle/>
          <a:p>
            <a:pPr eaLnBrk="1" hangingPunct="1"/>
            <a:r>
              <a:rPr lang="en-GB" noProof="0" dirty="0">
                <a:latin typeface="Arial" charset="0"/>
              </a:rPr>
              <a:t>Splošna funkcija zanesljivosti</a:t>
            </a:r>
          </a:p>
          <a:p>
            <a:pPr lvl="1" eaLnBrk="1" hangingPunct="1"/>
            <a:endParaRPr lang="sl-SI" noProof="0" dirty="0">
              <a:latin typeface="Arial" charset="0"/>
              <a:cs typeface="Arial" charset="0"/>
            </a:endParaRPr>
          </a:p>
          <a:p>
            <a:pPr lvl="1" eaLnBrk="1" hangingPunct="1"/>
            <a:r>
              <a:rPr lang="en-GB" sz="1600" noProof="0" dirty="0">
                <a:latin typeface="Arial" charset="0"/>
              </a:rPr>
              <a:t>Videli smo, da je </a:t>
            </a:r>
          </a:p>
          <a:p>
            <a:pPr lvl="1" eaLnBrk="1" hangingPunct="1"/>
            <a:endParaRPr lang="sl-SI" sz="1600" noProof="0" dirty="0">
              <a:latin typeface="Arial" charset="0"/>
              <a:cs typeface="Arial" charset="0"/>
            </a:endParaRPr>
          </a:p>
          <a:p>
            <a:pPr lvl="1" eaLnBrk="1" hangingPunct="1"/>
            <a:endParaRPr lang="sl-SI" sz="1600" noProof="0" dirty="0">
              <a:latin typeface="Arial" charset="0"/>
              <a:cs typeface="Arial" charset="0"/>
            </a:endParaRPr>
          </a:p>
          <a:p>
            <a:pPr lvl="1" eaLnBrk="1" hangingPunct="1"/>
            <a:endParaRPr lang="sl-SI" sz="1600" noProof="0" dirty="0">
              <a:latin typeface="Arial" charset="0"/>
              <a:cs typeface="Arial" charset="0"/>
            </a:endParaRPr>
          </a:p>
          <a:p>
            <a:pPr lvl="1" eaLnBrk="1" hangingPunct="1"/>
            <a:r>
              <a:rPr lang="en-GB" sz="1600" noProof="0" dirty="0">
                <a:latin typeface="Arial" charset="0"/>
              </a:rPr>
              <a:t>Kumulativna pogostost </a:t>
            </a:r>
            <a:r>
              <a:rPr lang="en-GB" sz="1600" noProof="0" dirty="0" err="1">
                <a:latin typeface="Arial" charset="0"/>
              </a:rPr>
              <a:t>odpovedi</a:t>
            </a:r>
            <a:r>
              <a:rPr lang="en-GB" sz="1600" noProof="0" dirty="0">
                <a:latin typeface="Arial" charset="0"/>
              </a:rPr>
              <a:t> </a:t>
            </a:r>
            <a:br>
              <a:rPr lang="sl-SI" sz="1600" dirty="0">
                <a:latin typeface="Arial" charset="0"/>
              </a:rPr>
            </a:br>
            <a:r>
              <a:rPr lang="en-GB" sz="1600" noProof="0" dirty="0">
                <a:latin typeface="Arial" charset="0"/>
              </a:rPr>
              <a:t>H(t) je</a:t>
            </a:r>
            <a:r>
              <a:rPr lang="sl-SI" sz="1600" dirty="0">
                <a:latin typeface="Arial" charset="0"/>
              </a:rPr>
              <a:t> </a:t>
            </a:r>
            <a:r>
              <a:rPr lang="en-GB" sz="1600" noProof="0" dirty="0">
                <a:latin typeface="Arial" charset="0"/>
              </a:rPr>
              <a:t>(</a:t>
            </a:r>
            <a:r>
              <a:rPr lang="sl-SI" sz="1600" noProof="0" dirty="0">
                <a:latin typeface="Arial" charset="0"/>
              </a:rPr>
              <a:t>o</a:t>
            </a:r>
            <a:r>
              <a:rPr lang="en-GB" sz="1600" noProof="0" dirty="0">
                <a:latin typeface="Arial" charset="0"/>
              </a:rPr>
              <a:t> tem se lahko prepričate</a:t>
            </a:r>
            <a:br>
              <a:rPr dirty="0"/>
            </a:br>
            <a:r>
              <a:rPr lang="en-GB" sz="1600" noProof="0" dirty="0">
                <a:latin typeface="Arial" charset="0"/>
              </a:rPr>
              <a:t>z </a:t>
            </a:r>
            <a:r>
              <a:rPr lang="en-GB" sz="1600" noProof="0" dirty="0" err="1">
                <a:latin typeface="Arial" charset="0"/>
              </a:rPr>
              <a:t>odvajanjem</a:t>
            </a:r>
            <a:r>
              <a:rPr lang="en-GB" sz="1600" noProof="0" dirty="0">
                <a:latin typeface="Arial" charset="0"/>
              </a:rPr>
              <a:t>)</a:t>
            </a:r>
            <a:r>
              <a:rPr lang="sl-SI" sz="1600" noProof="0" dirty="0">
                <a:latin typeface="Arial" charset="0"/>
              </a:rPr>
              <a:t>:</a:t>
            </a:r>
            <a:endParaRPr lang="en-GB" sz="1600" noProof="0" dirty="0">
              <a:latin typeface="Arial" charset="0"/>
            </a:endParaRPr>
          </a:p>
          <a:p>
            <a:pPr lvl="1" eaLnBrk="1" hangingPunct="1">
              <a:buFont typeface="Arial" charset="0"/>
              <a:buNone/>
            </a:pPr>
            <a:endParaRPr lang="sl-SI" sz="1600" noProof="0" dirty="0">
              <a:latin typeface="Arial" charset="0"/>
              <a:cs typeface="Arial" charset="0"/>
            </a:endParaRPr>
          </a:p>
          <a:p>
            <a:pPr lvl="1" eaLnBrk="1" hangingPunct="1">
              <a:buFont typeface="Arial" charset="0"/>
              <a:buNone/>
            </a:pPr>
            <a:endParaRPr lang="sl-SI" sz="1600" noProof="0" dirty="0">
              <a:latin typeface="Arial" charset="0"/>
              <a:cs typeface="Arial" charset="0"/>
            </a:endParaRPr>
          </a:p>
          <a:p>
            <a:pPr lvl="1" eaLnBrk="1" hangingPunct="1"/>
            <a:r>
              <a:rPr lang="en-GB" sz="1600" noProof="0" dirty="0">
                <a:latin typeface="Arial" charset="0"/>
              </a:rPr>
              <a:t>To pomeni, da je splošna</a:t>
            </a:r>
            <a:r>
              <a:rPr lang="en-GB" sz="1600" noProof="0" dirty="0">
                <a:solidFill>
                  <a:srgbClr val="C00000"/>
                </a:solidFill>
                <a:latin typeface="Arial" charset="0"/>
              </a:rPr>
              <a:t> </a:t>
            </a:r>
            <a:r>
              <a:rPr lang="en-GB" sz="1600" noProof="0" dirty="0" err="1">
                <a:latin typeface="Arial" charset="0"/>
              </a:rPr>
              <a:t>funkcija</a:t>
            </a:r>
            <a:r>
              <a:rPr lang="en-GB" sz="1600" noProof="0" dirty="0">
                <a:solidFill>
                  <a:srgbClr val="C00000"/>
                </a:solidFill>
                <a:latin typeface="Arial" charset="0"/>
              </a:rPr>
              <a:t> </a:t>
            </a:r>
            <a:r>
              <a:rPr lang="sl-SI" sz="1600" noProof="0" dirty="0">
                <a:solidFill>
                  <a:srgbClr val="C00000"/>
                </a:solidFill>
                <a:latin typeface="Arial" charset="0"/>
              </a:rPr>
              <a:t>operativne </a:t>
            </a:r>
            <a:r>
              <a:rPr lang="en-GB" sz="1600" noProof="0" dirty="0" err="1">
                <a:solidFill>
                  <a:srgbClr val="C00000"/>
                </a:solidFill>
                <a:latin typeface="Arial" charset="0"/>
              </a:rPr>
              <a:t>zanesljivosti</a:t>
            </a:r>
            <a:r>
              <a:rPr lang="sl-SI" sz="1600" noProof="0" dirty="0">
                <a:solidFill>
                  <a:srgbClr val="C00000"/>
                </a:solidFill>
                <a:latin typeface="Arial" charset="0"/>
              </a:rPr>
              <a:t> R(t)</a:t>
            </a:r>
            <a:r>
              <a:rPr lang="en-GB" sz="1600" noProof="0" dirty="0">
                <a:latin typeface="Arial" charset="0"/>
              </a:rPr>
              <a:t>:</a:t>
            </a:r>
          </a:p>
          <a:p>
            <a:pPr lvl="1" eaLnBrk="1" hangingPunct="1"/>
            <a:endParaRPr lang="sl-SI" sz="1600" noProof="0" dirty="0">
              <a:latin typeface="Arial" charset="0"/>
              <a:cs typeface="Arial" charset="0"/>
            </a:endParaRPr>
          </a:p>
          <a:p>
            <a:pPr lvl="1" eaLnBrk="1" hangingPunct="1"/>
            <a:endParaRPr lang="sl-SI" sz="1600" noProof="0" dirty="0">
              <a:latin typeface="Arial" charset="0"/>
              <a:cs typeface="Arial" charset="0"/>
            </a:endParaRPr>
          </a:p>
        </p:txBody>
      </p:sp>
      <p:graphicFrame>
        <p:nvGraphicFramePr>
          <p:cNvPr id="17450" name="Object 42"/>
          <p:cNvGraphicFramePr>
            <a:graphicFrameLocks noGrp="1" noChangeAspect="1"/>
          </p:cNvGraphicFramePr>
          <p:nvPr>
            <p:ph sz="quarter" idx="4294967295"/>
          </p:nvPr>
        </p:nvGraphicFramePr>
        <p:xfrm>
          <a:off x="3131840" y="1989138"/>
          <a:ext cx="1346200" cy="728662"/>
        </p:xfrm>
        <a:graphic>
          <a:graphicData uri="http://schemas.openxmlformats.org/presentationml/2006/ole">
            <mc:AlternateContent xmlns:mc="http://schemas.openxmlformats.org/markup-compatibility/2006">
              <mc:Choice xmlns:v="urn:schemas-microsoft-com:vml" Requires="v">
                <p:oleObj name="Equation" r:id="rId3" imgW="723600" imgH="419040" progId="Equation.3">
                  <p:embed/>
                </p:oleObj>
              </mc:Choice>
              <mc:Fallback>
                <p:oleObj name="Equation" r:id="rId3" imgW="723600" imgH="419040" progId="Equation.3">
                  <p:embed/>
                  <p:pic>
                    <p:nvPicPr>
                      <p:cNvPr id="0" name=""/>
                      <p:cNvPicPr>
                        <a:picLocks noGrp="1" noChangeAspect="1" noChangeArrowheads="1"/>
                      </p:cNvPicPr>
                      <p:nvPr/>
                    </p:nvPicPr>
                    <p:blipFill>
                      <a:blip r:embed="rId4"/>
                      <a:srcRect/>
                      <a:stretch>
                        <a:fillRect/>
                      </a:stretch>
                    </p:blipFill>
                    <p:spPr bwMode="auto">
                      <a:xfrm>
                        <a:off x="3131840" y="1989138"/>
                        <a:ext cx="1346200" cy="728662"/>
                      </a:xfrm>
                      <a:prstGeom prst="rect">
                        <a:avLst/>
                      </a:prstGeom>
                      <a:solidFill>
                        <a:srgbClr val="FEF6D6"/>
                      </a:solidFill>
                      <a:ln w="9525">
                        <a:solidFill>
                          <a:schemeClr val="tx1"/>
                        </a:solidFill>
                        <a:miter lim="800000"/>
                        <a:headEnd/>
                        <a:tailEnd/>
                      </a:ln>
                    </p:spPr>
                  </p:pic>
                </p:oleObj>
              </mc:Fallback>
            </mc:AlternateContent>
          </a:graphicData>
        </a:graphic>
      </p:graphicFrame>
      <p:graphicFrame>
        <p:nvGraphicFramePr>
          <p:cNvPr id="17451" name="Object 43"/>
          <p:cNvGraphicFramePr>
            <a:graphicFrameLocks noGrp="1" noChangeAspect="1"/>
          </p:cNvGraphicFramePr>
          <p:nvPr>
            <p:ph sz="quarter" idx="4294967295"/>
          </p:nvPr>
        </p:nvGraphicFramePr>
        <p:xfrm>
          <a:off x="4786511" y="3159497"/>
          <a:ext cx="3817937" cy="917575"/>
        </p:xfrm>
        <a:graphic>
          <a:graphicData uri="http://schemas.openxmlformats.org/presentationml/2006/ole">
            <mc:AlternateContent xmlns:mc="http://schemas.openxmlformats.org/markup-compatibility/2006">
              <mc:Choice xmlns:v="urn:schemas-microsoft-com:vml" Requires="v">
                <p:oleObj name="Vergelijking" r:id="rId5" imgW="2006600" imgH="482600" progId="Equation.3">
                  <p:embed/>
                </p:oleObj>
              </mc:Choice>
              <mc:Fallback>
                <p:oleObj name="Vergelijking" r:id="rId5" imgW="2006600" imgH="482600" progId="Equation.3">
                  <p:embed/>
                  <p:pic>
                    <p:nvPicPr>
                      <p:cNvPr id="0" name=""/>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6511" y="3159497"/>
                        <a:ext cx="3817937" cy="917575"/>
                      </a:xfrm>
                      <a:prstGeom prst="rect">
                        <a:avLst/>
                      </a:prstGeom>
                      <a:solidFill>
                        <a:srgbClr val="FEF6D6"/>
                      </a:solidFill>
                      <a:ln w="9525">
                        <a:solidFill>
                          <a:schemeClr val="tx1"/>
                        </a:solidFill>
                        <a:miter lim="800000"/>
                        <a:headEnd/>
                        <a:tailEnd/>
                      </a:ln>
                    </p:spPr>
                  </p:pic>
                </p:oleObj>
              </mc:Fallback>
            </mc:AlternateContent>
          </a:graphicData>
        </a:graphic>
      </p:graphicFrame>
      <p:grpSp>
        <p:nvGrpSpPr>
          <p:cNvPr id="2" name="Groep 2"/>
          <p:cNvGrpSpPr>
            <a:grpSpLocks/>
          </p:cNvGrpSpPr>
          <p:nvPr/>
        </p:nvGrpSpPr>
        <p:grpSpPr bwMode="auto">
          <a:xfrm>
            <a:off x="2484438" y="5156796"/>
            <a:ext cx="3827462" cy="1151931"/>
            <a:chOff x="2483768" y="4869160"/>
            <a:chExt cx="3827614" cy="1151534"/>
          </a:xfrm>
        </p:grpSpPr>
        <p:graphicFrame>
          <p:nvGraphicFramePr>
            <p:cNvPr id="17452" name="Object 44"/>
            <p:cNvGraphicFramePr>
              <a:graphicFrameLocks noChangeAspect="1"/>
            </p:cNvGraphicFramePr>
            <p:nvPr/>
          </p:nvGraphicFramePr>
          <p:xfrm>
            <a:off x="2483768" y="4869160"/>
            <a:ext cx="3827614" cy="1130566"/>
          </p:xfrm>
          <a:graphic>
            <a:graphicData uri="http://schemas.openxmlformats.org/presentationml/2006/ole">
              <mc:AlternateContent xmlns:mc="http://schemas.openxmlformats.org/markup-compatibility/2006">
                <mc:Choice xmlns:v="urn:schemas-microsoft-com:vml" Requires="v">
                  <p:oleObj name="Equation" r:id="rId7" imgW="774364" imgH="228501" progId="Equation.3">
                    <p:embed/>
                  </p:oleObj>
                </mc:Choice>
                <mc:Fallback>
                  <p:oleObj name="Equation" r:id="rId7" imgW="774364" imgH="22850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3768" y="4869160"/>
                          <a:ext cx="3827614" cy="1130566"/>
                        </a:xfrm>
                        <a:prstGeom prst="rect">
                          <a:avLst/>
                        </a:prstGeom>
                        <a:solidFill>
                          <a:srgbClr val="FEF6D6"/>
                        </a:solidFill>
                        <a:ln w="9525">
                          <a:solidFill>
                            <a:schemeClr val="tx1"/>
                          </a:solidFill>
                          <a:miter lim="800000"/>
                          <a:headEnd/>
                          <a:tailEnd/>
                        </a:ln>
                      </p:spPr>
                    </p:pic>
                  </p:oleObj>
                </mc:Fallback>
              </mc:AlternateContent>
            </a:graphicData>
          </a:graphic>
        </p:graphicFrame>
        <p:graphicFrame>
          <p:nvGraphicFramePr>
            <p:cNvPr id="17453" name="Object 45"/>
            <p:cNvGraphicFramePr>
              <a:graphicFrameLocks noChangeAspect="1"/>
            </p:cNvGraphicFramePr>
            <p:nvPr>
              <p:extLst>
                <p:ext uri="{D42A27DB-BD31-4B8C-83A1-F6EECF244321}">
                  <p14:modId xmlns:p14="http://schemas.microsoft.com/office/powerpoint/2010/main" val="3698394552"/>
                </p:ext>
              </p:extLst>
            </p:nvPr>
          </p:nvGraphicFramePr>
          <p:xfrm>
            <a:off x="4615865" y="5804868"/>
            <a:ext cx="1460558" cy="215826"/>
          </p:xfrm>
          <a:graphic>
            <a:graphicData uri="http://schemas.openxmlformats.org/presentationml/2006/ole">
              <mc:AlternateContent xmlns:mc="http://schemas.openxmlformats.org/markup-compatibility/2006">
                <mc:Choice xmlns:v="urn:schemas-microsoft-com:vml" Requires="v">
                  <p:oleObj name="Enačba" r:id="rId9" imgW="1460160" imgH="215640" progId="Equation.3">
                    <p:embed/>
                  </p:oleObj>
                </mc:Choice>
                <mc:Fallback>
                  <p:oleObj name="Enačba" r:id="rId9" imgW="1460160" imgH="215640" progId="Equation.3">
                    <p:embed/>
                    <p:pic>
                      <p:nvPicPr>
                        <p:cNvPr id="0" name=""/>
                        <p:cNvPicPr>
                          <a:picLocks noChangeAspect="1" noChangeArrowheads="1"/>
                        </p:cNvPicPr>
                        <p:nvPr/>
                      </p:nvPicPr>
                      <p:blipFill>
                        <a:blip r:embed="rId10"/>
                        <a:srcRect/>
                        <a:stretch>
                          <a:fillRect/>
                        </a:stretch>
                      </p:blipFill>
                      <p:spPr bwMode="auto">
                        <a:xfrm>
                          <a:off x="4615865" y="5804868"/>
                          <a:ext cx="1460558" cy="2158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70199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el 1"/>
          <p:cNvSpPr>
            <a:spLocks noGrp="1"/>
          </p:cNvSpPr>
          <p:nvPr>
            <p:ph type="title"/>
          </p:nvPr>
        </p:nvSpPr>
        <p:spPr/>
        <p:txBody>
          <a:bodyPr/>
          <a:lstStyle/>
          <a:p>
            <a:pPr eaLnBrk="1" hangingPunct="1"/>
            <a:r>
              <a:rPr lang="en-GB" noProof="0" dirty="0">
                <a:latin typeface="Arial" charset="0"/>
              </a:rPr>
              <a:t>Porazdelitve zanesljivosti</a:t>
            </a:r>
          </a:p>
        </p:txBody>
      </p:sp>
      <p:sp>
        <p:nvSpPr>
          <p:cNvPr id="48130" name="Tijdelijke aanduiding voor inhoud 2"/>
          <p:cNvSpPr>
            <a:spLocks noGrp="1"/>
          </p:cNvSpPr>
          <p:nvPr>
            <p:ph idx="1"/>
          </p:nvPr>
        </p:nvSpPr>
        <p:spPr>
          <a:xfrm>
            <a:off x="720725" y="1439863"/>
            <a:ext cx="4067175" cy="5040312"/>
          </a:xfrm>
        </p:spPr>
        <p:txBody>
          <a:bodyPr/>
          <a:lstStyle/>
          <a:p>
            <a:pPr eaLnBrk="1" hangingPunct="1"/>
            <a:r>
              <a:rPr lang="en-GB" noProof="0" dirty="0">
                <a:latin typeface="Arial" charset="0"/>
              </a:rPr>
              <a:t>Weibullova</a:t>
            </a:r>
          </a:p>
          <a:p>
            <a:pPr lvl="1" eaLnBrk="1" hangingPunct="1"/>
            <a:endParaRPr lang="sl-SI" sz="1600" noProof="0" dirty="0">
              <a:latin typeface="Arial" charset="0"/>
              <a:cs typeface="Arial" charset="0"/>
            </a:endParaRPr>
          </a:p>
          <a:p>
            <a:pPr lvl="1" eaLnBrk="1" hangingPunct="1"/>
            <a:r>
              <a:rPr lang="en-GB" sz="1600" noProof="0" dirty="0">
                <a:latin typeface="Arial" charset="0"/>
              </a:rPr>
              <a:t>Dva parametra: </a:t>
            </a:r>
            <a:r>
              <a:rPr lang="en-GB" sz="1600" noProof="0" dirty="0" err="1">
                <a:solidFill>
                  <a:srgbClr val="C00000"/>
                </a:solidFill>
                <a:latin typeface="Arial" charset="0"/>
              </a:rPr>
              <a:t>merilo</a:t>
            </a:r>
            <a:r>
              <a:rPr lang="sl-SI" sz="1600" noProof="0" dirty="0">
                <a:solidFill>
                  <a:srgbClr val="C00000"/>
                </a:solidFill>
                <a:latin typeface="Arial" charset="0"/>
              </a:rPr>
              <a:t> </a:t>
            </a:r>
            <a:r>
              <a:rPr lang="sl-SI" sz="1600" noProof="0" dirty="0">
                <a:latin typeface="Arial" charset="0"/>
              </a:rPr>
              <a:t>(čas v mesecih)</a:t>
            </a:r>
            <a:r>
              <a:rPr lang="en-GB" sz="1600" noProof="0" dirty="0">
                <a:latin typeface="Arial" charset="0"/>
              </a:rPr>
              <a:t> in </a:t>
            </a:r>
            <a:r>
              <a:rPr lang="en-GB" sz="1600" noProof="0" dirty="0">
                <a:solidFill>
                  <a:srgbClr val="C00000"/>
                </a:solidFill>
                <a:latin typeface="Arial" charset="0"/>
              </a:rPr>
              <a:t>oblika.</a:t>
            </a:r>
          </a:p>
          <a:p>
            <a:pPr lvl="1" eaLnBrk="1" hangingPunct="1"/>
            <a:endParaRPr lang="sl-SI" sz="1600" noProof="0" dirty="0">
              <a:latin typeface="Arial" charset="0"/>
              <a:cs typeface="Arial" charset="0"/>
            </a:endParaRPr>
          </a:p>
          <a:p>
            <a:pPr lvl="1" eaLnBrk="1" hangingPunct="1"/>
            <a:r>
              <a:rPr lang="en-GB" sz="1600" noProof="0" dirty="0">
                <a:latin typeface="Arial" charset="0"/>
              </a:rPr>
              <a:t>Če je </a:t>
            </a:r>
            <a:r>
              <a:rPr lang="en-GB" sz="1600" noProof="0" dirty="0">
                <a:solidFill>
                  <a:srgbClr val="C00000"/>
                </a:solidFill>
                <a:latin typeface="Arial" charset="0"/>
              </a:rPr>
              <a:t>oblika = 1</a:t>
            </a:r>
            <a:r>
              <a:rPr lang="en-GB" sz="1600" noProof="0" dirty="0">
                <a:latin typeface="Arial" charset="0"/>
              </a:rPr>
              <a:t>, Weibull ustreza </a:t>
            </a:r>
            <a:r>
              <a:rPr lang="en-GB" sz="1600" noProof="0" dirty="0">
                <a:solidFill>
                  <a:srgbClr val="C00000"/>
                </a:solidFill>
                <a:latin typeface="Arial" charset="0"/>
              </a:rPr>
              <a:t>eksponentni porazdelitvi.</a:t>
            </a:r>
          </a:p>
          <a:p>
            <a:pPr lvl="1" eaLnBrk="1" hangingPunct="1"/>
            <a:endParaRPr lang="sl-SI" sz="1600" u="sng" noProof="0" dirty="0">
              <a:latin typeface="Arial" charset="0"/>
              <a:cs typeface="Arial" charset="0"/>
            </a:endParaRPr>
          </a:p>
          <a:p>
            <a:pPr eaLnBrk="1" hangingPunct="1"/>
            <a:r>
              <a:rPr lang="en-GB" dirty="0">
                <a:latin typeface="Arial" charset="0"/>
              </a:rPr>
              <a:t>Logaritemsko normalna</a:t>
            </a:r>
          </a:p>
          <a:p>
            <a:pPr lvl="1" eaLnBrk="1" hangingPunct="1"/>
            <a:endParaRPr lang="sl-SI" sz="1600" noProof="0" dirty="0">
              <a:latin typeface="Arial" charset="0"/>
              <a:cs typeface="Arial" charset="0"/>
            </a:endParaRPr>
          </a:p>
          <a:p>
            <a:pPr lvl="1" eaLnBrk="1" hangingPunct="1"/>
            <a:r>
              <a:rPr lang="en-GB" sz="1600" noProof="0" dirty="0">
                <a:latin typeface="Arial" charset="0"/>
              </a:rPr>
              <a:t>Transformacija z n</a:t>
            </a:r>
            <a:r>
              <a:rPr lang="sl-SI" sz="1600" noProof="0" dirty="0" err="1">
                <a:latin typeface="Arial" charset="0"/>
              </a:rPr>
              <a:t>aravnim</a:t>
            </a:r>
            <a:r>
              <a:rPr lang="sl-SI" sz="1600" noProof="0" dirty="0">
                <a:latin typeface="Arial" charset="0"/>
              </a:rPr>
              <a:t> logaritmom</a:t>
            </a:r>
            <a:r>
              <a:rPr lang="en-GB" sz="1600" noProof="0" dirty="0">
                <a:latin typeface="Arial" charset="0"/>
              </a:rPr>
              <a:t> (ln) da normalno porazdelitev, kjer je:</a:t>
            </a:r>
            <a:br>
              <a:rPr dirty="0"/>
            </a:br>
            <a:br>
              <a:rPr dirty="0"/>
            </a:br>
            <a:r>
              <a:rPr lang="en-GB" sz="1600" noProof="0" dirty="0">
                <a:latin typeface="Arial" charset="0"/>
              </a:rPr>
              <a:t>µ = položaj</a:t>
            </a:r>
            <a:br>
              <a:rPr dirty="0"/>
            </a:br>
            <a:r>
              <a:rPr lang="en-GB" sz="1600" noProof="0" dirty="0">
                <a:latin typeface="Arial" charset="0"/>
              </a:rPr>
              <a:t>σ = merilo</a:t>
            </a:r>
          </a:p>
        </p:txBody>
      </p:sp>
      <p:pic>
        <p:nvPicPr>
          <p:cNvPr id="48131" name="Picture 2"/>
          <p:cNvPicPr>
            <a:picLocks noChangeAspect="1" noChangeArrowheads="1"/>
          </p:cNvPicPr>
          <p:nvPr/>
        </p:nvPicPr>
        <p:blipFill>
          <a:blip r:embed="rId3" cstate="print"/>
          <a:srcRect/>
          <a:stretch>
            <a:fillRect/>
          </a:stretch>
        </p:blipFill>
        <p:spPr bwMode="auto">
          <a:xfrm>
            <a:off x="4781550" y="3881438"/>
            <a:ext cx="3998913" cy="2606675"/>
          </a:xfrm>
          <a:prstGeom prst="rect">
            <a:avLst/>
          </a:prstGeom>
          <a:noFill/>
          <a:ln w="9525">
            <a:noFill/>
            <a:miter lim="800000"/>
            <a:headEnd/>
            <a:tailEnd/>
          </a:ln>
        </p:spPr>
      </p:pic>
      <p:pic>
        <p:nvPicPr>
          <p:cNvPr id="48132" name="Picture 3"/>
          <p:cNvPicPr>
            <a:picLocks noChangeAspect="1" noChangeArrowheads="1"/>
          </p:cNvPicPr>
          <p:nvPr/>
        </p:nvPicPr>
        <p:blipFill>
          <a:blip r:embed="rId4" cstate="print"/>
          <a:srcRect/>
          <a:stretch>
            <a:fillRect/>
          </a:stretch>
        </p:blipFill>
        <p:spPr bwMode="auto">
          <a:xfrm>
            <a:off x="4787900" y="1268413"/>
            <a:ext cx="3992563" cy="2579687"/>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2" name="Tekstvak 1"/>
              <p:cNvSpPr txBox="1"/>
              <p:nvPr/>
            </p:nvSpPr>
            <p:spPr>
              <a:xfrm>
                <a:off x="2195736" y="1412776"/>
                <a:ext cx="2032071" cy="4238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nl-NL" b="0" i="1" smtClean="0">
                          <a:latin typeface="Cambria Math"/>
                          <a:cs typeface="Arial" pitchFamily="34" charset="0"/>
                        </a:rPr>
                        <m:t>𝑅</m:t>
                      </m:r>
                      <m:d>
                        <m:dPr>
                          <m:ctrlPr>
                            <a:rPr lang="nl-NL" b="0" i="1" smtClean="0">
                              <a:latin typeface="Cambria Math" panose="02040503050406030204" pitchFamily="18" charset="0"/>
                              <a:cs typeface="Arial" pitchFamily="34" charset="0"/>
                            </a:rPr>
                          </m:ctrlPr>
                        </m:dPr>
                        <m:e>
                          <m:r>
                            <a:rPr lang="nl-NL" b="0" i="1" smtClean="0">
                              <a:latin typeface="Cambria Math"/>
                              <a:cs typeface="Arial" pitchFamily="34" charset="0"/>
                            </a:rPr>
                            <m:t>𝑡</m:t>
                          </m:r>
                        </m:e>
                      </m:d>
                      <m:r>
                        <a:rPr lang="nl-NL" b="0" i="1" smtClean="0">
                          <a:latin typeface="Cambria Math"/>
                          <a:cs typeface="Arial" pitchFamily="34" charset="0"/>
                        </a:rPr>
                        <m:t>=</m:t>
                      </m:r>
                      <m:sSup>
                        <m:sSupPr>
                          <m:ctrlPr>
                            <a:rPr lang="nl-NL" b="0" i="1" smtClean="0">
                              <a:latin typeface="Cambria Math" panose="02040503050406030204" pitchFamily="18" charset="0"/>
                              <a:cs typeface="Arial" pitchFamily="34" charset="0"/>
                            </a:rPr>
                          </m:ctrlPr>
                        </m:sSupPr>
                        <m:e>
                          <m:r>
                            <a:rPr lang="nl-NL" b="0" i="1" smtClean="0">
                              <a:latin typeface="Cambria Math"/>
                              <a:cs typeface="Arial" pitchFamily="34" charset="0"/>
                            </a:rPr>
                            <m:t>𝑒</m:t>
                          </m:r>
                        </m:e>
                        <m:sup>
                          <m:sSup>
                            <m:sSupPr>
                              <m:ctrlPr>
                                <a:rPr lang="nl-NL" b="0" i="1" smtClean="0">
                                  <a:latin typeface="Cambria Math" panose="02040503050406030204" pitchFamily="18" charset="0"/>
                                  <a:cs typeface="Arial" pitchFamily="34" charset="0"/>
                                </a:rPr>
                              </m:ctrlPr>
                            </m:sSupPr>
                            <m:e>
                              <m:r>
                                <a:rPr lang="nl-NL" i="1">
                                  <a:latin typeface="Cambria Math"/>
                                  <a:cs typeface="Arial" pitchFamily="34" charset="0"/>
                                </a:rPr>
                                <m:t>−(</m:t>
                              </m:r>
                              <m:r>
                                <m:rPr>
                                  <m:sty m:val="p"/>
                                </m:rPr>
                                <a:rPr lang="el-GR" i="1">
                                  <a:latin typeface="Cambria Math"/>
                                  <a:cs typeface="Arial" pitchFamily="34" charset="0"/>
                                </a:rPr>
                                <m:t>λ</m:t>
                              </m:r>
                              <m:r>
                                <a:rPr lang="nl-NL" i="1">
                                  <a:latin typeface="Cambria Math"/>
                                  <a:cs typeface="Arial" pitchFamily="34" charset="0"/>
                                </a:rPr>
                                <m:t>𝑡</m:t>
                              </m:r>
                              <m:r>
                                <a:rPr lang="nl-NL" i="1">
                                  <a:latin typeface="Cambria Math"/>
                                  <a:cs typeface="Arial" pitchFamily="34" charset="0"/>
                                </a:rPr>
                                <m:t>)</m:t>
                              </m:r>
                            </m:e>
                            <m:sup>
                              <m:r>
                                <m:rPr>
                                  <m:sty m:val="p"/>
                                </m:rPr>
                                <a:rPr lang="el-GR" b="0" i="1" smtClean="0">
                                  <a:latin typeface="Cambria Math"/>
                                  <a:cs typeface="Arial" pitchFamily="34" charset="0"/>
                                </a:rPr>
                                <m:t>β</m:t>
                              </m:r>
                            </m:sup>
                          </m:sSup>
                        </m:sup>
                      </m:sSup>
                    </m:oMath>
                  </m:oMathPara>
                </a14:m>
                <a:endParaRPr lang="sl-SI" dirty="0">
                  <a:latin typeface="Arial" pitchFamily="34" charset="0"/>
                  <a:cs typeface="Arial" pitchFamily="34" charset="0"/>
                </a:endParaRPr>
              </a:p>
            </p:txBody>
          </p:sp>
        </mc:Choice>
        <mc:Fallback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sp>
            <p:nvSpPr>
              <p:cNvPr id="2" name="Tekstvak 1"/>
              <p:cNvSpPr txBox="1">
                <a:spLocks noRot="1" noChangeAspect="1" noMove="1" noResize="1" noEditPoints="1" noAdjustHandles="1" noChangeArrowheads="1" noChangeShapeType="1" noTextEdit="1"/>
              </p:cNvSpPr>
              <p:nvPr/>
            </p:nvSpPr>
            <p:spPr>
              <a:xfrm>
                <a:off x="2195736" y="1412776"/>
                <a:ext cx="2032071" cy="423834"/>
              </a:xfrm>
              <a:prstGeom prst="rect">
                <a:avLst/>
              </a:prstGeom>
              <a:blipFill rotWithShape="1">
                <a:blip r:embed="rId7"/>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071747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el 1"/>
          <p:cNvSpPr>
            <a:spLocks noGrp="1"/>
          </p:cNvSpPr>
          <p:nvPr>
            <p:ph type="title"/>
          </p:nvPr>
        </p:nvSpPr>
        <p:spPr/>
        <p:txBody>
          <a:bodyPr/>
          <a:lstStyle/>
          <a:p>
            <a:pPr eaLnBrk="1" hangingPunct="1"/>
            <a:r>
              <a:rPr lang="en-GB" noProof="0" dirty="0">
                <a:latin typeface="Arial" charset="0"/>
              </a:rPr>
              <a:t>Podatki o zanesljivosti</a:t>
            </a:r>
          </a:p>
        </p:txBody>
      </p:sp>
      <p:sp>
        <p:nvSpPr>
          <p:cNvPr id="3" name="Tijdelijke aanduiding voor inhoud 2"/>
          <p:cNvSpPr>
            <a:spLocks noGrp="1"/>
          </p:cNvSpPr>
          <p:nvPr>
            <p:ph idx="1"/>
          </p:nvPr>
        </p:nvSpPr>
        <p:spPr/>
        <p:txBody>
          <a:bodyPr/>
          <a:lstStyle/>
          <a:p>
            <a:pPr eaLnBrk="1" hangingPunct="1"/>
            <a:r>
              <a:rPr lang="en-GB" noProof="0" dirty="0">
                <a:latin typeface="Arial" charset="0"/>
              </a:rPr>
              <a:t>Podatki o zanesljivosti</a:t>
            </a:r>
          </a:p>
          <a:p>
            <a:pPr lvl="1" eaLnBrk="1" hangingPunct="1"/>
            <a:endParaRPr lang="sl-SI" sz="1600" noProof="0" dirty="0">
              <a:latin typeface="Arial" charset="0"/>
              <a:cs typeface="Arial" charset="0"/>
            </a:endParaRPr>
          </a:p>
          <a:p>
            <a:pPr marL="0" lvl="1" eaLnBrk="1" hangingPunct="1">
              <a:buFont typeface="Arial" charset="0"/>
              <a:buNone/>
            </a:pPr>
            <a:r>
              <a:rPr lang="en-GB" sz="1600" noProof="0" dirty="0">
                <a:latin typeface="Arial" charset="0"/>
              </a:rPr>
              <a:t>Denimo, da želite preučiti življenjsko dobo stikal za luč. Odločite se, da </a:t>
            </a:r>
            <a:r>
              <a:rPr lang="en-GB" sz="1600" noProof="0" dirty="0" err="1">
                <a:latin typeface="Arial" charset="0"/>
              </a:rPr>
              <a:t>boste</a:t>
            </a:r>
            <a:r>
              <a:rPr lang="en-GB" sz="1600" noProof="0" dirty="0">
                <a:latin typeface="Arial" charset="0"/>
              </a:rPr>
              <a:t> </a:t>
            </a:r>
            <a:r>
              <a:rPr lang="en-GB" sz="1600" noProof="0" dirty="0" err="1">
                <a:latin typeface="Arial" charset="0"/>
              </a:rPr>
              <a:t>naključ</a:t>
            </a:r>
            <a:r>
              <a:rPr lang="sl-SI" sz="1600" noProof="0" dirty="0">
                <a:latin typeface="Arial" charset="0"/>
              </a:rPr>
              <a:t>e</a:t>
            </a:r>
            <a:r>
              <a:rPr lang="en-GB" sz="1600" noProof="0" dirty="0">
                <a:latin typeface="Arial" charset="0"/>
              </a:rPr>
              <a:t>n vzorec 50 stikal podvrgli vzdržljivostnemu testu. </a:t>
            </a:r>
          </a:p>
          <a:p>
            <a:pPr lvl="1" eaLnBrk="1" hangingPunct="1">
              <a:buFont typeface="Arial" charset="0"/>
              <a:buNone/>
            </a:pPr>
            <a:endParaRPr lang="sl-SI" sz="1600" noProof="0" dirty="0">
              <a:latin typeface="Arial" charset="0"/>
              <a:cs typeface="Arial" charset="0"/>
            </a:endParaRPr>
          </a:p>
          <a:p>
            <a:pPr lvl="1" eaLnBrk="1" hangingPunct="1">
              <a:buFont typeface="Arial" charset="0"/>
              <a:buNone/>
            </a:pPr>
            <a:r>
              <a:rPr lang="en-GB" sz="1600" noProof="0" dirty="0">
                <a:latin typeface="Arial" charset="0"/>
              </a:rPr>
              <a:t>Testiramo lahko, dokler:</a:t>
            </a:r>
          </a:p>
          <a:p>
            <a:pPr lvl="1" eaLnBrk="1" hangingPunct="1"/>
            <a:endParaRPr lang="sl-SI" sz="1600" noProof="0" dirty="0">
              <a:latin typeface="Arial" charset="0"/>
              <a:cs typeface="Arial" charset="0"/>
            </a:endParaRPr>
          </a:p>
          <a:p>
            <a:pPr lvl="1" eaLnBrk="1" hangingPunct="1"/>
            <a:r>
              <a:rPr lang="en-GB" sz="1600" noProof="0" dirty="0">
                <a:latin typeface="Arial" charset="0"/>
              </a:rPr>
              <a:t>Ne </a:t>
            </a:r>
            <a:r>
              <a:rPr lang="en-GB" sz="1600" noProof="0" dirty="0">
                <a:solidFill>
                  <a:srgbClr val="C00000"/>
                </a:solidFill>
                <a:latin typeface="Arial" charset="0"/>
              </a:rPr>
              <a:t>odpovedo vsa stikala</a:t>
            </a:r>
            <a:r>
              <a:rPr lang="en-GB" sz="1600" noProof="0" dirty="0">
                <a:latin typeface="Arial" charset="0"/>
              </a:rPr>
              <a:t>.</a:t>
            </a:r>
          </a:p>
          <a:p>
            <a:pPr lvl="1" eaLnBrk="1" hangingPunct="1"/>
            <a:endParaRPr lang="sl-SI" sz="1600" noProof="0" dirty="0">
              <a:latin typeface="Arial" charset="0"/>
              <a:cs typeface="Arial" charset="0"/>
            </a:endParaRPr>
          </a:p>
          <a:p>
            <a:pPr lvl="1" eaLnBrk="1" hangingPunct="1"/>
            <a:r>
              <a:rPr lang="en-GB" sz="1600" noProof="0" dirty="0">
                <a:latin typeface="Arial" charset="0"/>
              </a:rPr>
              <a:t>Jih ne odpove določeno število </a:t>
            </a:r>
            <a:r>
              <a:rPr lang="en-US" sz="1600" noProof="0" dirty="0">
                <a:latin typeface="Arial" charset="0"/>
              </a:rPr>
              <a:t>		</a:t>
            </a:r>
            <a:r>
              <a:rPr lang="en-GB" sz="1600" noProof="0" dirty="0">
                <a:latin typeface="Arial" charset="0"/>
                <a:sym typeface="Wingdings" pitchFamily="2" charset="2"/>
              </a:rPr>
              <a:t> “</a:t>
            </a:r>
            <a:r>
              <a:rPr lang="en-GB" sz="1600" noProof="0" dirty="0">
                <a:solidFill>
                  <a:srgbClr val="C00000"/>
                </a:solidFill>
                <a:latin typeface="Arial" charset="0"/>
                <a:sym typeface="Wingdings" pitchFamily="2" charset="2"/>
              </a:rPr>
              <a:t>omejitev odpovedi</a:t>
            </a:r>
            <a:r>
              <a:rPr lang="en-GB" sz="1600" noProof="0" dirty="0">
                <a:latin typeface="Arial" charset="0"/>
                <a:sym typeface="Wingdings" pitchFamily="2" charset="2"/>
              </a:rPr>
              <a:t>”</a:t>
            </a:r>
            <a:endParaRPr lang="sl-SI" sz="1600" noProof="0" dirty="0">
              <a:latin typeface="Arial" charset="0"/>
              <a:cs typeface="Arial" charset="0"/>
            </a:endParaRPr>
          </a:p>
          <a:p>
            <a:pPr lvl="1" eaLnBrk="1" hangingPunct="1"/>
            <a:endParaRPr lang="sl-SI" sz="1600" noProof="0" dirty="0">
              <a:latin typeface="Arial" charset="0"/>
              <a:cs typeface="Arial" charset="0"/>
            </a:endParaRPr>
          </a:p>
          <a:p>
            <a:pPr lvl="1" eaLnBrk="1" hangingPunct="1"/>
            <a:r>
              <a:rPr lang="en-GB" sz="1600" noProof="0" dirty="0">
                <a:latin typeface="Arial" charset="0"/>
              </a:rPr>
              <a:t>Do določenega trenutka</a:t>
            </a:r>
            <a:r>
              <a:rPr lang="en-US" sz="1600" noProof="0" dirty="0">
                <a:latin typeface="Arial" charset="0"/>
              </a:rPr>
              <a:t>		</a:t>
            </a:r>
            <a:r>
              <a:rPr lang="en-GB" sz="1600" noProof="0" dirty="0">
                <a:latin typeface="Arial" charset="0"/>
                <a:sym typeface="Wingdings" pitchFamily="2" charset="2"/>
              </a:rPr>
              <a:t> “</a:t>
            </a:r>
            <a:r>
              <a:rPr lang="en-GB" sz="1600" noProof="0" dirty="0">
                <a:solidFill>
                  <a:srgbClr val="C00000"/>
                </a:solidFill>
                <a:latin typeface="Arial" charset="0"/>
                <a:sym typeface="Wingdings" pitchFamily="2" charset="2"/>
              </a:rPr>
              <a:t>časovna omejitev</a:t>
            </a:r>
            <a:r>
              <a:rPr lang="en-GB" sz="1600" noProof="0" dirty="0">
                <a:latin typeface="Arial" charset="0"/>
                <a:sym typeface="Wingdings" pitchFamily="2" charset="2"/>
              </a:rPr>
              <a:t>”</a:t>
            </a:r>
          </a:p>
          <a:p>
            <a:pPr lvl="1" eaLnBrk="1" hangingPunct="1"/>
            <a:endParaRPr lang="sl-SI" sz="1600" noProof="0" dirty="0">
              <a:latin typeface="Arial" charset="0"/>
              <a:cs typeface="Arial" charset="0"/>
              <a:sym typeface="Wingdings" pitchFamily="2" charset="2"/>
            </a:endParaRPr>
          </a:p>
          <a:p>
            <a:pPr marL="180000" lvl="1" indent="0" eaLnBrk="1" hangingPunct="1">
              <a:buFont typeface="Arial" charset="0"/>
              <a:buNone/>
            </a:pPr>
            <a:r>
              <a:rPr lang="en-GB" sz="1600" noProof="0" dirty="0">
                <a:latin typeface="Arial" charset="0"/>
                <a:sym typeface="Wingdings" pitchFamily="2" charset="2"/>
              </a:rPr>
              <a:t>V zadnjih dveh situacijah vemo samo to, da so stikala, ki niso odpovedala med testom, delovala tudi po koncu testa. </a:t>
            </a:r>
            <a:endParaRPr lang="sl-SI" sz="1600" noProof="0" dirty="0">
              <a:latin typeface="Arial" charset="0"/>
              <a:cs typeface="Arial" charset="0"/>
            </a:endParaRPr>
          </a:p>
        </p:txBody>
      </p:sp>
      <p:pic>
        <p:nvPicPr>
          <p:cNvPr id="56323" name="Picture 2"/>
          <p:cNvPicPr>
            <a:picLocks noChangeAspect="1" noChangeArrowheads="1"/>
          </p:cNvPicPr>
          <p:nvPr/>
        </p:nvPicPr>
        <p:blipFill>
          <a:blip r:embed="rId3" cstate="print"/>
          <a:srcRect/>
          <a:stretch>
            <a:fillRect/>
          </a:stretch>
        </p:blipFill>
        <p:spPr bwMode="auto">
          <a:xfrm>
            <a:off x="6804248" y="2492896"/>
            <a:ext cx="1552575" cy="1552575"/>
          </a:xfrm>
          <a:prstGeom prst="rect">
            <a:avLst/>
          </a:prstGeom>
          <a:noFill/>
          <a:ln w="9525">
            <a:noFill/>
            <a:miter lim="800000"/>
            <a:headEnd/>
            <a:tailEnd/>
          </a:ln>
        </p:spPr>
      </p:pic>
    </p:spTree>
    <p:extLst>
      <p:ext uri="{BB962C8B-B14F-4D97-AF65-F5344CB8AC3E}">
        <p14:creationId xmlns:p14="http://schemas.microsoft.com/office/powerpoint/2010/main" val="9249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el 1"/>
          <p:cNvSpPr>
            <a:spLocks noGrp="1"/>
          </p:cNvSpPr>
          <p:nvPr>
            <p:ph type="title"/>
          </p:nvPr>
        </p:nvSpPr>
        <p:spPr/>
        <p:txBody>
          <a:bodyPr/>
          <a:lstStyle/>
          <a:p>
            <a:pPr eaLnBrk="1" hangingPunct="1"/>
            <a:r>
              <a:rPr lang="en-GB" noProof="0" dirty="0">
                <a:latin typeface="Arial" charset="0"/>
              </a:rPr>
              <a:t>Graf za identifikacijo porazdelitve</a:t>
            </a:r>
          </a:p>
        </p:txBody>
      </p:sp>
      <p:sp>
        <p:nvSpPr>
          <p:cNvPr id="65538" name="Tijdelijke aanduiding voor inhoud 2"/>
          <p:cNvSpPr>
            <a:spLocks noGrp="1"/>
          </p:cNvSpPr>
          <p:nvPr>
            <p:ph idx="1"/>
          </p:nvPr>
        </p:nvSpPr>
        <p:spPr/>
        <p:txBody>
          <a:bodyPr/>
          <a:lstStyle/>
          <a:p>
            <a:pPr eaLnBrk="1" hangingPunct="1"/>
            <a:r>
              <a:rPr lang="en-GB" noProof="0" dirty="0">
                <a:latin typeface="Arial" charset="0"/>
              </a:rPr>
              <a:t>Identifikacija porazdelitev</a:t>
            </a:r>
          </a:p>
          <a:p>
            <a:pPr lvl="1" eaLnBrk="1" hangingPunct="1"/>
            <a:endParaRPr lang="sl-SI" sz="1600" noProof="0" dirty="0">
              <a:latin typeface="Arial" charset="0"/>
              <a:cs typeface="Arial" charset="0"/>
            </a:endParaRPr>
          </a:p>
          <a:p>
            <a:pPr lvl="1" eaLnBrk="1" hangingPunct="1"/>
            <a:r>
              <a:rPr lang="en-GB" sz="1600" noProof="0">
                <a:latin typeface="Arial" charset="0"/>
              </a:rPr>
              <a:t>Ta graf </a:t>
            </a:r>
            <a:r>
              <a:rPr lang="en-GB" sz="1600" noProof="0" dirty="0">
                <a:latin typeface="Arial" charset="0"/>
              </a:rPr>
              <a:t>za identifikacijo porazdelitve kaže dobro ujemanje za Weibullovo in eksponentno porazdelitev.</a:t>
            </a:r>
          </a:p>
          <a:p>
            <a:pPr lvl="1" eaLnBrk="1" hangingPunct="1"/>
            <a:endParaRPr lang="sl-SI" sz="1600" dirty="0">
              <a:latin typeface="Arial" charset="0"/>
              <a:cs typeface="Arial" charset="0"/>
            </a:endParaRPr>
          </a:p>
          <a:p>
            <a:pPr lvl="1" eaLnBrk="1" hangingPunct="1"/>
            <a:endParaRPr lang="sl-SI" sz="1600" noProof="0" dirty="0">
              <a:latin typeface="Arial" charset="0"/>
              <a:cs typeface="Arial" charset="0"/>
            </a:endParaRPr>
          </a:p>
          <a:p>
            <a:pPr lvl="1" eaLnBrk="1" hangingPunct="1"/>
            <a:endParaRPr lang="sl-SI" sz="1600" dirty="0">
              <a:latin typeface="Arial" charset="0"/>
              <a:cs typeface="Arial" charset="0"/>
            </a:endParaRPr>
          </a:p>
          <a:p>
            <a:pPr lvl="1" eaLnBrk="1" hangingPunct="1"/>
            <a:endParaRPr lang="sl-SI" sz="1600" noProof="0" dirty="0">
              <a:latin typeface="Arial" charset="0"/>
              <a:cs typeface="Arial" charset="0"/>
            </a:endParaRPr>
          </a:p>
          <a:p>
            <a:pPr lvl="1" eaLnBrk="1" hangingPunct="1"/>
            <a:endParaRPr lang="sl-SI" sz="1600" dirty="0">
              <a:latin typeface="Arial" charset="0"/>
              <a:cs typeface="Arial" charset="0"/>
            </a:endParaRPr>
          </a:p>
          <a:p>
            <a:pPr lvl="1" eaLnBrk="1" hangingPunct="1"/>
            <a:endParaRPr lang="sl-SI" sz="1600" noProof="0" dirty="0">
              <a:latin typeface="Arial" charset="0"/>
              <a:cs typeface="Arial" charset="0"/>
            </a:endParaRPr>
          </a:p>
          <a:p>
            <a:pPr lvl="1" eaLnBrk="1" hangingPunct="1"/>
            <a:endParaRPr lang="sl-SI" sz="1600" dirty="0">
              <a:latin typeface="Arial" charset="0"/>
              <a:cs typeface="Arial" charset="0"/>
            </a:endParaRPr>
          </a:p>
          <a:p>
            <a:pPr lvl="1" eaLnBrk="1" hangingPunct="1"/>
            <a:endParaRPr lang="sl-SI" sz="1600" noProof="0" dirty="0">
              <a:latin typeface="Arial" charset="0"/>
              <a:cs typeface="Arial" charset="0"/>
            </a:endParaRPr>
          </a:p>
          <a:p>
            <a:pPr lvl="1" eaLnBrk="1" hangingPunct="1"/>
            <a:endParaRPr lang="sl-SI" sz="1600" dirty="0">
              <a:latin typeface="Arial" charset="0"/>
              <a:cs typeface="Arial" charset="0"/>
            </a:endParaRPr>
          </a:p>
          <a:p>
            <a:pPr lvl="1" eaLnBrk="1" hangingPunct="1"/>
            <a:r>
              <a:rPr lang="en-GB" sz="1600" noProof="0">
                <a:latin typeface="Arial" charset="0"/>
              </a:rPr>
              <a:t>Ko </a:t>
            </a:r>
            <a:r>
              <a:rPr lang="sl-SI" sz="1600" noProof="0">
                <a:latin typeface="Arial" charset="0"/>
              </a:rPr>
              <a:t>je </a:t>
            </a:r>
            <a:r>
              <a:rPr lang="en-GB" sz="1600" noProof="0">
                <a:latin typeface="Arial" charset="0"/>
              </a:rPr>
              <a:t>porazdelitev</a:t>
            </a:r>
            <a:r>
              <a:rPr lang="sl-SI" sz="1600" noProof="0">
                <a:latin typeface="Arial" charset="0"/>
              </a:rPr>
              <a:t> identificirana</a:t>
            </a:r>
            <a:r>
              <a:rPr lang="en-GB" sz="1600" noProof="0">
                <a:latin typeface="Arial" charset="0"/>
              </a:rPr>
              <a:t>, </a:t>
            </a:r>
            <a:r>
              <a:rPr sz="1600" dirty="0"/>
              <a:t>lahko preprosto določite </a:t>
            </a:r>
            <a:r>
              <a:rPr sz="1600"/>
              <a:t>še paramet</a:t>
            </a:r>
            <a:r>
              <a:rPr lang="sl-SI" sz="1600"/>
              <a:t>e</a:t>
            </a:r>
            <a:r>
              <a:rPr sz="1600"/>
              <a:t> </a:t>
            </a:r>
            <a:r>
              <a:rPr sz="1600" dirty="0"/>
              <a:t>porazdelitve</a:t>
            </a:r>
            <a:r>
              <a:rPr lang="en-GB" sz="1600" dirty="0">
                <a:latin typeface="Arial" charset="0"/>
              </a:rPr>
              <a:t>.</a:t>
            </a:r>
            <a:endParaRPr lang="sl-SI" sz="1600" noProof="0" dirty="0">
              <a:latin typeface="Arial" charset="0"/>
              <a:cs typeface="Arial" charset="0"/>
            </a:endParaRPr>
          </a:p>
        </p:txBody>
      </p:sp>
      <p:pic>
        <p:nvPicPr>
          <p:cNvPr id="65539" name="Picture 2"/>
          <p:cNvPicPr>
            <a:picLocks noChangeAspect="1" noChangeArrowheads="1"/>
          </p:cNvPicPr>
          <p:nvPr/>
        </p:nvPicPr>
        <p:blipFill>
          <a:blip r:embed="rId3" cstate="print"/>
          <a:srcRect/>
          <a:stretch>
            <a:fillRect/>
          </a:stretch>
        </p:blipFill>
        <p:spPr bwMode="auto">
          <a:xfrm>
            <a:off x="3419872" y="2780928"/>
            <a:ext cx="3621886" cy="2376264"/>
          </a:xfrm>
          <a:prstGeom prst="rect">
            <a:avLst/>
          </a:prstGeom>
          <a:noFill/>
          <a:ln w="9525">
            <a:noFill/>
            <a:miter lim="800000"/>
            <a:headEnd/>
            <a:tailEnd/>
          </a:ln>
        </p:spPr>
      </p:pic>
      <p:pic>
        <p:nvPicPr>
          <p:cNvPr id="65540" name="Afbeelding 8"/>
          <p:cNvPicPr>
            <a:picLocks noChangeAspect="1"/>
          </p:cNvPicPr>
          <p:nvPr/>
        </p:nvPicPr>
        <p:blipFill>
          <a:blip r:embed="rId4" cstate="print"/>
          <a:srcRect/>
          <a:stretch>
            <a:fillRect/>
          </a:stretch>
        </p:blipFill>
        <p:spPr bwMode="auto">
          <a:xfrm>
            <a:off x="2051720" y="2957463"/>
            <a:ext cx="1198220" cy="2023194"/>
          </a:xfrm>
          <a:prstGeom prst="rect">
            <a:avLst/>
          </a:prstGeom>
          <a:noFill/>
          <a:ln w="9525">
            <a:noFill/>
            <a:miter lim="800000"/>
            <a:headEnd/>
            <a:tailEnd/>
          </a:ln>
        </p:spPr>
      </p:pic>
    </p:spTree>
    <p:extLst>
      <p:ext uri="{BB962C8B-B14F-4D97-AF65-F5344CB8AC3E}">
        <p14:creationId xmlns:p14="http://schemas.microsoft.com/office/powerpoint/2010/main" val="496903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p:nvPr>
        </p:nvSpPr>
        <p:spPr/>
        <p:txBody>
          <a:bodyPr/>
          <a:lstStyle/>
          <a:p>
            <a:pPr eaLnBrk="1" hangingPunct="1"/>
            <a:r>
              <a:rPr lang="en-GB" noProof="0" dirty="0">
                <a:latin typeface="Arial" charset="0"/>
              </a:rPr>
              <a:t>Primer</a:t>
            </a:r>
          </a:p>
        </p:txBody>
      </p:sp>
      <p:sp>
        <p:nvSpPr>
          <p:cNvPr id="38914" name="Rectangle 3"/>
          <p:cNvSpPr>
            <a:spLocks noGrp="1" noChangeArrowheads="1"/>
          </p:cNvSpPr>
          <p:nvPr>
            <p:ph idx="1"/>
          </p:nvPr>
        </p:nvSpPr>
        <p:spPr/>
        <p:txBody>
          <a:bodyPr/>
          <a:lstStyle/>
          <a:p>
            <a:pPr marL="0" indent="0" eaLnBrk="1" hangingPunct="1"/>
            <a:r>
              <a:rPr lang="en-GB" noProof="0" dirty="0" err="1">
                <a:latin typeface="Arial" charset="0"/>
              </a:rPr>
              <a:t>Podaljšati</a:t>
            </a:r>
            <a:r>
              <a:rPr lang="en-GB" noProof="0" dirty="0">
                <a:latin typeface="Arial" charset="0"/>
              </a:rPr>
              <a:t> </a:t>
            </a:r>
            <a:r>
              <a:rPr lang="en-GB" noProof="0" dirty="0" err="1">
                <a:latin typeface="Arial" charset="0"/>
              </a:rPr>
              <a:t>garancijo</a:t>
            </a:r>
            <a:r>
              <a:rPr lang="sl-SI" noProof="0" dirty="0">
                <a:latin typeface="Arial" charset="0"/>
              </a:rPr>
              <a:t> ali ne</a:t>
            </a:r>
            <a:r>
              <a:rPr lang="en-GB" noProof="0" dirty="0">
                <a:latin typeface="Arial" charset="0"/>
              </a:rPr>
              <a:t>?</a:t>
            </a:r>
          </a:p>
          <a:p>
            <a:pPr lvl="1" eaLnBrk="1" hangingPunct="1"/>
            <a:endParaRPr lang="sl-SI" noProof="0" dirty="0">
              <a:latin typeface="Arial" charset="0"/>
              <a:cs typeface="Arial" charset="0"/>
            </a:endParaRPr>
          </a:p>
          <a:p>
            <a:pPr lvl="1" eaLnBrk="1" hangingPunct="1"/>
            <a:r>
              <a:rPr lang="en-GB" sz="1600" noProof="0" dirty="0">
                <a:latin typeface="Arial" charset="0"/>
              </a:rPr>
              <a:t>Proizvajalec gospodinjskih aparatov garantira, da bo določeni izdelek deloval 10 let. V nasprotnem primeru se kupcu povrne nakupna cena. </a:t>
            </a:r>
            <a:br>
              <a:rPr dirty="0"/>
            </a:br>
            <a:endParaRPr lang="sl-SI" sz="1600" noProof="0" dirty="0">
              <a:latin typeface="Arial" charset="0"/>
              <a:cs typeface="Arial" charset="0"/>
            </a:endParaRPr>
          </a:p>
          <a:p>
            <a:pPr lvl="1" eaLnBrk="1" hangingPunct="1"/>
            <a:r>
              <a:rPr lang="en-GB" sz="1600" i="1" noProof="0" dirty="0">
                <a:latin typeface="Arial" charset="0"/>
              </a:rPr>
              <a:t>Razvojni oddelek je </a:t>
            </a:r>
            <a:r>
              <a:rPr lang="en-GB" sz="1600" i="1" noProof="0" dirty="0" err="1">
                <a:latin typeface="Arial" charset="0"/>
              </a:rPr>
              <a:t>opravil</a:t>
            </a:r>
            <a:r>
              <a:rPr lang="en-GB" sz="1600" i="1" noProof="0" dirty="0">
                <a:latin typeface="Arial" charset="0"/>
              </a:rPr>
              <a:t> </a:t>
            </a:r>
            <a:r>
              <a:rPr lang="en-GB" sz="1600" i="1" noProof="0" dirty="0" err="1">
                <a:latin typeface="Arial" charset="0"/>
              </a:rPr>
              <a:t>študij</a:t>
            </a:r>
            <a:r>
              <a:rPr lang="sl-SI" sz="1600" i="1" noProof="0" dirty="0">
                <a:latin typeface="Arial" charset="0"/>
              </a:rPr>
              <a:t>o</a:t>
            </a:r>
            <a:r>
              <a:rPr lang="en-GB" sz="1600" i="1" noProof="0" dirty="0">
                <a:latin typeface="Arial" charset="0"/>
              </a:rPr>
              <a:t> življenjske dobe tega izdelka in prišel do sklepa, da gre za Weibullovo porazdelitev z obliko 7,3 in merilom 180 mesecev.  </a:t>
            </a:r>
            <a:br>
              <a:rPr i="1" dirty="0"/>
            </a:br>
            <a:endParaRPr lang="sl-SI" sz="1600" i="1" noProof="0" dirty="0">
              <a:latin typeface="Arial" charset="0"/>
              <a:cs typeface="Arial" charset="0"/>
            </a:endParaRPr>
          </a:p>
          <a:p>
            <a:pPr lvl="1" eaLnBrk="1" hangingPunct="1"/>
            <a:r>
              <a:rPr lang="en-GB" sz="1600" noProof="0" dirty="0">
                <a:latin typeface="Arial" charset="0"/>
              </a:rPr>
              <a:t>Kakšen odstotek izdelkov bo preživel vsaj 10 let? </a:t>
            </a:r>
            <a:br>
              <a:rPr dirty="0"/>
            </a:br>
            <a:endParaRPr lang="sl-SI" sz="1600" noProof="0" dirty="0">
              <a:latin typeface="Arial" charset="0"/>
              <a:cs typeface="Arial" charset="0"/>
            </a:endParaRPr>
          </a:p>
          <a:p>
            <a:pPr lvl="1" eaLnBrk="1" hangingPunct="1"/>
            <a:r>
              <a:rPr lang="en-GB" sz="1600" noProof="0" dirty="0">
                <a:latin typeface="Arial" charset="0"/>
              </a:rPr>
              <a:t>V prodaji razmišljajo, da bi podaljšali garancijo na 12 let. </a:t>
            </a:r>
          </a:p>
          <a:p>
            <a:pPr lvl="1" eaLnBrk="1" hangingPunct="1"/>
            <a:endParaRPr lang="sl-SI" sz="1600" noProof="0" dirty="0">
              <a:latin typeface="Arial" charset="0"/>
              <a:cs typeface="Arial" charset="0"/>
            </a:endParaRPr>
          </a:p>
          <a:p>
            <a:pPr lvl="1" eaLnBrk="1" hangingPunct="1"/>
            <a:r>
              <a:rPr lang="en-GB" sz="1600" noProof="0" dirty="0">
                <a:latin typeface="Arial" charset="0"/>
              </a:rPr>
              <a:t>Za kakšen odstotni delež začetnega števila izdelkov bo verjetno treba povrniti nakupno ceno v </a:t>
            </a:r>
            <a:r>
              <a:rPr lang="en-GB" sz="1600" noProof="0" dirty="0" err="1">
                <a:latin typeface="Arial" charset="0"/>
              </a:rPr>
              <a:t>dodatnih</a:t>
            </a:r>
            <a:r>
              <a:rPr lang="en-GB" sz="1600" noProof="0" dirty="0">
                <a:latin typeface="Arial" charset="0"/>
              </a:rPr>
              <a:t> </a:t>
            </a:r>
            <a:r>
              <a:rPr lang="sl-SI" sz="1600" noProof="0" dirty="0">
                <a:latin typeface="Arial" charset="0"/>
              </a:rPr>
              <a:t>dveh </a:t>
            </a:r>
            <a:r>
              <a:rPr lang="en-GB" sz="1600" noProof="0" dirty="0" err="1">
                <a:latin typeface="Arial" charset="0"/>
              </a:rPr>
              <a:t>letih</a:t>
            </a:r>
            <a:r>
              <a:rPr lang="en-GB" sz="1600" noProof="0" dirty="0">
                <a:latin typeface="Arial" charset="0"/>
              </a:rPr>
              <a:t>? </a:t>
            </a:r>
          </a:p>
        </p:txBody>
      </p:sp>
    </p:spTree>
    <p:extLst>
      <p:ext uri="{BB962C8B-B14F-4D97-AF65-F5344CB8AC3E}">
        <p14:creationId xmlns:p14="http://schemas.microsoft.com/office/powerpoint/2010/main" val="174347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el 1"/>
          <p:cNvSpPr>
            <a:spLocks noGrp="1"/>
          </p:cNvSpPr>
          <p:nvPr>
            <p:ph type="title"/>
          </p:nvPr>
        </p:nvSpPr>
        <p:spPr/>
        <p:txBody>
          <a:bodyPr/>
          <a:lstStyle/>
          <a:p>
            <a:pPr eaLnBrk="1" hangingPunct="1"/>
            <a:r>
              <a:rPr lang="en-GB" noProof="0" dirty="0">
                <a:latin typeface="Arial" charset="0"/>
              </a:rPr>
              <a:t>Primer</a:t>
            </a:r>
          </a:p>
        </p:txBody>
      </p:sp>
      <p:sp>
        <p:nvSpPr>
          <p:cNvPr id="43010" name="Tijdelijke aanduiding voor inhoud 2"/>
          <p:cNvSpPr>
            <a:spLocks noGrp="1"/>
          </p:cNvSpPr>
          <p:nvPr>
            <p:ph idx="1"/>
          </p:nvPr>
        </p:nvSpPr>
        <p:spPr/>
        <p:txBody>
          <a:bodyPr/>
          <a:lstStyle/>
          <a:p>
            <a:pPr eaLnBrk="1" hangingPunct="1"/>
            <a:r>
              <a:rPr lang="en-GB" noProof="0" dirty="0">
                <a:latin typeface="Arial" charset="0"/>
              </a:rPr>
              <a:t>Odgovor:</a:t>
            </a:r>
          </a:p>
          <a:p>
            <a:pPr lvl="1" eaLnBrk="1" hangingPunct="1"/>
            <a:endParaRPr lang="sl-SI" sz="1600" noProof="0" dirty="0">
              <a:latin typeface="Arial" charset="0"/>
              <a:cs typeface="Arial" charset="0"/>
            </a:endParaRPr>
          </a:p>
          <a:p>
            <a:pPr lvl="1" eaLnBrk="1" hangingPunct="1"/>
            <a:r>
              <a:rPr lang="en-GB" sz="1600" noProof="0" dirty="0">
                <a:latin typeface="Arial" charset="0"/>
              </a:rPr>
              <a:t>V prvih 120 mesecih je 5 % odpovedi. </a:t>
            </a:r>
          </a:p>
          <a:p>
            <a:pPr lvl="1" eaLnBrk="1" hangingPunct="1"/>
            <a:r>
              <a:rPr sz="1600" dirty="0"/>
              <a:t>Če podaljšamo garancijo za 24 mesecev, </a:t>
            </a:r>
            <a:r>
              <a:rPr sz="1600"/>
              <a:t>lahko računamo</a:t>
            </a:r>
            <a:r>
              <a:rPr lang="sl-SI" sz="1600"/>
              <a:t>, da bomo morali vrniti denar </a:t>
            </a:r>
            <a:r>
              <a:rPr sz="1600"/>
              <a:t>še </a:t>
            </a:r>
            <a:r>
              <a:rPr sz="1600" dirty="0"/>
              <a:t>za 12,8 </a:t>
            </a:r>
            <a:r>
              <a:rPr sz="1600"/>
              <a:t>% izdelk</a:t>
            </a:r>
            <a:r>
              <a:rPr lang="sl-SI" sz="1600"/>
              <a:t>ov</a:t>
            </a:r>
            <a:r>
              <a:rPr sz="1600"/>
              <a:t>.</a:t>
            </a:r>
            <a:endParaRPr sz="1600" dirty="0"/>
          </a:p>
        </p:txBody>
      </p:sp>
      <p:pic>
        <p:nvPicPr>
          <p:cNvPr id="43011" name="Picture 4"/>
          <p:cNvPicPr>
            <a:picLocks noChangeAspect="1" noChangeArrowheads="1"/>
          </p:cNvPicPr>
          <p:nvPr/>
        </p:nvPicPr>
        <p:blipFill>
          <a:blip r:embed="rId3" cstate="print"/>
          <a:srcRect/>
          <a:stretch>
            <a:fillRect/>
          </a:stretch>
        </p:blipFill>
        <p:spPr bwMode="auto">
          <a:xfrm>
            <a:off x="1908175" y="3141663"/>
            <a:ext cx="5257800" cy="3419475"/>
          </a:xfrm>
          <a:prstGeom prst="rect">
            <a:avLst/>
          </a:prstGeom>
          <a:noFill/>
          <a:ln w="9525">
            <a:noFill/>
            <a:miter lim="800000"/>
            <a:headEnd/>
            <a:tailEnd/>
          </a:ln>
        </p:spPr>
      </p:pic>
    </p:spTree>
    <p:extLst>
      <p:ext uri="{BB962C8B-B14F-4D97-AF65-F5344CB8AC3E}">
        <p14:creationId xmlns:p14="http://schemas.microsoft.com/office/powerpoint/2010/main" val="1264222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el 3"/>
          <p:cNvSpPr>
            <a:spLocks noGrp="1"/>
          </p:cNvSpPr>
          <p:nvPr>
            <p:ph type="title"/>
          </p:nvPr>
        </p:nvSpPr>
        <p:spPr/>
        <p:txBody>
          <a:bodyPr/>
          <a:lstStyle/>
          <a:p>
            <a:pPr eaLnBrk="1" hangingPunct="1"/>
            <a:r>
              <a:rPr lang="en-GB" noProof="0" dirty="0">
                <a:latin typeface="Arial" charset="0"/>
              </a:rPr>
              <a:t>Demonstracija zanesljivosti</a:t>
            </a:r>
          </a:p>
        </p:txBody>
      </p:sp>
      <p:sp>
        <p:nvSpPr>
          <p:cNvPr id="3" name="Tijdelijke aanduiding voor inhoud 2"/>
          <p:cNvSpPr>
            <a:spLocks noGrp="1"/>
          </p:cNvSpPr>
          <p:nvPr>
            <p:ph idx="1"/>
          </p:nvPr>
        </p:nvSpPr>
        <p:spPr>
          <a:xfrm>
            <a:off x="720725" y="1988840"/>
            <a:ext cx="6443663" cy="4392910"/>
          </a:xfrm>
        </p:spPr>
        <p:txBody>
          <a:bodyPr/>
          <a:lstStyle/>
          <a:p>
            <a:pPr eaLnBrk="1" hangingPunct="1">
              <a:defRPr/>
            </a:pPr>
            <a:r>
              <a:rPr lang="en-GB" noProof="0" dirty="0">
                <a:solidFill>
                  <a:srgbClr val="C00000"/>
                </a:solidFill>
              </a:rPr>
              <a:t>Test zanesljivosti</a:t>
            </a:r>
          </a:p>
          <a:p>
            <a:pPr lvl="1" eaLnBrk="1" hangingPunct="1">
              <a:defRPr/>
            </a:pPr>
            <a:endParaRPr lang="sl-SI" sz="1600" noProof="0" dirty="0"/>
          </a:p>
          <a:p>
            <a:pPr lvl="1" eaLnBrk="1" hangingPunct="1">
              <a:defRPr/>
            </a:pPr>
            <a:r>
              <a:rPr lang="en-GB" sz="2000" noProof="0" dirty="0">
                <a:solidFill>
                  <a:srgbClr val="C00000"/>
                </a:solidFill>
              </a:rPr>
              <a:t>Koliko proizvodov </a:t>
            </a:r>
            <a:r>
              <a:rPr lang="en-GB" sz="2000" noProof="0" dirty="0"/>
              <a:t>je </a:t>
            </a:r>
            <a:r>
              <a:rPr lang="en-GB" sz="2000" noProof="0" dirty="0" err="1"/>
              <a:t>treba</a:t>
            </a:r>
            <a:r>
              <a:rPr lang="sl-SI" sz="2000" noProof="0" dirty="0"/>
              <a:t> </a:t>
            </a:r>
            <a:r>
              <a:rPr lang="en-GB" sz="2000" noProof="0" dirty="0" err="1"/>
              <a:t>testirati</a:t>
            </a:r>
            <a:r>
              <a:rPr lang="en-GB" sz="2000" noProof="0" dirty="0"/>
              <a:t> in </a:t>
            </a:r>
            <a:r>
              <a:rPr lang="en-GB" sz="2000" noProof="0" dirty="0">
                <a:solidFill>
                  <a:srgbClr val="C00000"/>
                </a:solidFill>
              </a:rPr>
              <a:t>kako dolgo </a:t>
            </a:r>
            <a:r>
              <a:rPr lang="en-GB" sz="2000" noProof="0" dirty="0"/>
              <a:t>za </a:t>
            </a:r>
            <a:r>
              <a:rPr lang="en-GB" sz="2000" noProof="0" dirty="0" err="1"/>
              <a:t>dokazovanje</a:t>
            </a:r>
            <a:r>
              <a:rPr lang="en-GB" sz="2000" noProof="0" dirty="0"/>
              <a:t> s</a:t>
            </a:r>
            <a:r>
              <a:rPr lang="sl-SI" sz="2000" noProof="0" dirty="0"/>
              <a:t> </a:t>
            </a:r>
            <a:r>
              <a:rPr lang="en-GB" sz="2000" noProof="0" dirty="0" err="1">
                <a:solidFill>
                  <a:srgbClr val="C00000"/>
                </a:solidFill>
              </a:rPr>
              <a:t>stopnjo</a:t>
            </a:r>
            <a:r>
              <a:rPr lang="en-GB" sz="2000" noProof="0" dirty="0">
                <a:solidFill>
                  <a:srgbClr val="C00000"/>
                </a:solidFill>
              </a:rPr>
              <a:t> zaupanja C %</a:t>
            </a:r>
            <a:r>
              <a:rPr lang="en-GB" sz="2000" noProof="0" dirty="0"/>
              <a:t>, da </a:t>
            </a:r>
            <a:r>
              <a:rPr lang="en-GB" sz="2000" noProof="0" dirty="0" err="1"/>
              <a:t>bo</a:t>
            </a:r>
            <a:r>
              <a:rPr lang="sl-SI" sz="2000" noProof="0" dirty="0"/>
              <a:t> v </a:t>
            </a:r>
            <a:r>
              <a:rPr lang="sl-SI" sz="2000" noProof="0" dirty="0">
                <a:solidFill>
                  <a:srgbClr val="C00000"/>
                </a:solidFill>
              </a:rPr>
              <a:t>trenutku T</a:t>
            </a:r>
            <a:r>
              <a:rPr lang="sl-SI" sz="2000" noProof="0" dirty="0"/>
              <a:t> še </a:t>
            </a:r>
            <a:r>
              <a:rPr lang="sl-SI" sz="2000" noProof="0" dirty="0">
                <a:solidFill>
                  <a:srgbClr val="C00000"/>
                </a:solidFill>
              </a:rPr>
              <a:t>delovalo </a:t>
            </a:r>
            <a:r>
              <a:rPr lang="en-GB" sz="2000" dirty="0">
                <a:solidFill>
                  <a:srgbClr val="C00000"/>
                </a:solidFill>
              </a:rPr>
              <a:t>R % </a:t>
            </a:r>
            <a:r>
              <a:rPr lang="en-GB" sz="2000" dirty="0" err="1">
                <a:solidFill>
                  <a:srgbClr val="C00000"/>
                </a:solidFill>
              </a:rPr>
              <a:t>populacije</a:t>
            </a:r>
            <a:r>
              <a:rPr lang="sl-SI" sz="2800" dirty="0">
                <a:solidFill>
                  <a:srgbClr val="C00000"/>
                </a:solidFill>
              </a:rPr>
              <a:t>?</a:t>
            </a:r>
            <a:endParaRPr lang="sl-SI" sz="1600" noProof="0" dirty="0">
              <a:solidFill>
                <a:srgbClr val="C00000"/>
              </a:solidFill>
            </a:endParaRPr>
          </a:p>
        </p:txBody>
      </p:sp>
      <p:pic>
        <p:nvPicPr>
          <p:cNvPr id="87043" name="Picture 2"/>
          <p:cNvPicPr>
            <a:picLocks noChangeAspect="1" noChangeArrowheads="1"/>
          </p:cNvPicPr>
          <p:nvPr/>
        </p:nvPicPr>
        <p:blipFill>
          <a:blip r:embed="rId3" cstate="print"/>
          <a:srcRect/>
          <a:stretch>
            <a:fillRect/>
          </a:stretch>
        </p:blipFill>
        <p:spPr bwMode="auto">
          <a:xfrm>
            <a:off x="7164388" y="3644900"/>
            <a:ext cx="1455737" cy="2497138"/>
          </a:xfrm>
          <a:prstGeom prst="rect">
            <a:avLst/>
          </a:prstGeom>
          <a:noFill/>
          <a:ln w="9525">
            <a:noFill/>
            <a:miter lim="800000"/>
            <a:headEnd/>
            <a:tailEnd/>
          </a:ln>
        </p:spPr>
      </p:pic>
    </p:spTree>
    <p:extLst>
      <p:ext uri="{BB962C8B-B14F-4D97-AF65-F5344CB8AC3E}">
        <p14:creationId xmlns:p14="http://schemas.microsoft.com/office/powerpoint/2010/main" val="511427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7" name="Rectangle 2"/>
          <p:cNvSpPr>
            <a:spLocks noGrp="1" noChangeArrowheads="1"/>
          </p:cNvSpPr>
          <p:nvPr>
            <p:ph type="title"/>
          </p:nvPr>
        </p:nvSpPr>
        <p:spPr/>
        <p:txBody>
          <a:bodyPr/>
          <a:lstStyle/>
          <a:p>
            <a:pPr eaLnBrk="1" hangingPunct="1"/>
            <a:r>
              <a:rPr lang="en-GB" noProof="0" dirty="0">
                <a:latin typeface="Arial" charset="0"/>
              </a:rPr>
              <a:t>Zahteva za zanesljivost RC</a:t>
            </a:r>
          </a:p>
        </p:txBody>
      </p:sp>
      <p:sp>
        <p:nvSpPr>
          <p:cNvPr id="21518" name="Rectangle 3"/>
          <p:cNvSpPr>
            <a:spLocks noGrp="1" noChangeArrowheads="1"/>
          </p:cNvSpPr>
          <p:nvPr>
            <p:ph idx="1"/>
          </p:nvPr>
        </p:nvSpPr>
        <p:spPr/>
        <p:txBody>
          <a:bodyPr/>
          <a:lstStyle/>
          <a:p>
            <a:pPr eaLnBrk="1" hangingPunct="1"/>
            <a:r>
              <a:rPr lang="en-GB" dirty="0">
                <a:latin typeface="Arial" charset="0"/>
              </a:rPr>
              <a:t>Zahteva za zanesljivost</a:t>
            </a:r>
          </a:p>
          <a:p>
            <a:pPr lvl="1" eaLnBrk="1" hangingPunct="1"/>
            <a:endParaRPr lang="sl-SI" sz="1600" dirty="0">
              <a:latin typeface="Arial" charset="0"/>
              <a:cs typeface="Arial" charset="0"/>
            </a:endParaRPr>
          </a:p>
          <a:p>
            <a:pPr marL="179387" lvl="1" indent="0" eaLnBrk="1" hangingPunct="1">
              <a:buNone/>
            </a:pPr>
            <a:r>
              <a:rPr lang="en-GB" sz="1600" dirty="0">
                <a:latin typeface="Arial" charset="0"/>
              </a:rPr>
              <a:t>Kateri minimalni odstotek R</a:t>
            </a:r>
            <a:r>
              <a:rPr lang="en-GB" sz="1600" baseline="-25000" dirty="0">
                <a:latin typeface="Arial" charset="0"/>
              </a:rPr>
              <a:t>L</a:t>
            </a:r>
            <a:r>
              <a:rPr lang="en-GB" sz="1600" dirty="0">
                <a:latin typeface="Arial" charset="0"/>
              </a:rPr>
              <a:t> = R</a:t>
            </a:r>
            <a:r>
              <a:rPr lang="en-GB" sz="1600" baseline="-25000" dirty="0">
                <a:latin typeface="Arial" charset="0"/>
              </a:rPr>
              <a:t>L </a:t>
            </a:r>
            <a:r>
              <a:rPr lang="en-GB" sz="1600" dirty="0">
                <a:latin typeface="Arial" charset="0"/>
              </a:rPr>
              <a:t>(T) mora preživeti časovno obdobje T in kakšna je stopnja zaupanja takšne izjave?</a:t>
            </a:r>
          </a:p>
          <a:p>
            <a:pPr lvl="1" eaLnBrk="1" hangingPunct="1"/>
            <a:endParaRPr lang="sl-SI" sz="1600" dirty="0">
              <a:latin typeface="Arial" charset="0"/>
              <a:cs typeface="Arial" charset="0"/>
            </a:endParaRPr>
          </a:p>
          <a:p>
            <a:pPr lvl="1" eaLnBrk="1" hangingPunct="1"/>
            <a:r>
              <a:rPr lang="en-GB" sz="1600" dirty="0">
                <a:solidFill>
                  <a:srgbClr val="C00000"/>
                </a:solidFill>
                <a:latin typeface="Arial" charset="0"/>
              </a:rPr>
              <a:t>R</a:t>
            </a:r>
            <a:r>
              <a:rPr lang="en-GB" sz="1600" baseline="-25000" dirty="0">
                <a:solidFill>
                  <a:srgbClr val="C00000"/>
                </a:solidFill>
                <a:latin typeface="Arial" charset="0"/>
              </a:rPr>
              <a:t>L</a:t>
            </a:r>
            <a:r>
              <a:rPr lang="en-GB" sz="1600" dirty="0">
                <a:latin typeface="Arial" charset="0"/>
              </a:rPr>
              <a:t> bazira na pričakovanjih trga in na delovanju konkurence.</a:t>
            </a:r>
          </a:p>
          <a:p>
            <a:pPr lvl="1" eaLnBrk="1" hangingPunct="1"/>
            <a:r>
              <a:rPr lang="en-GB" sz="1600" dirty="0">
                <a:latin typeface="Arial" charset="0"/>
              </a:rPr>
              <a:t>Test mora dokazati minimalni R</a:t>
            </a:r>
            <a:r>
              <a:rPr lang="en-GB" sz="1600" baseline="-25000" dirty="0">
                <a:latin typeface="Arial" charset="0"/>
              </a:rPr>
              <a:t>L</a:t>
            </a:r>
            <a:r>
              <a:rPr lang="en-GB" sz="1600" dirty="0">
                <a:latin typeface="Arial" charset="0"/>
              </a:rPr>
              <a:t> s stopnjo zaupanja C</a:t>
            </a:r>
          </a:p>
          <a:p>
            <a:pPr lvl="1" eaLnBrk="1" hangingPunct="1"/>
            <a:r>
              <a:rPr lang="en-GB" sz="1600" dirty="0">
                <a:solidFill>
                  <a:srgbClr val="C00000"/>
                </a:solidFill>
                <a:latin typeface="Arial" charset="0"/>
              </a:rPr>
              <a:t>C je verjetnost neuspeha na testu</a:t>
            </a:r>
            <a:r>
              <a:rPr lang="en-GB" sz="1600" dirty="0">
                <a:latin typeface="Arial" charset="0"/>
              </a:rPr>
              <a:t>, če je resnična zanesljivost R točno R</a:t>
            </a:r>
            <a:r>
              <a:rPr lang="en-GB" sz="1600" baseline="-25000" dirty="0">
                <a:latin typeface="Arial" charset="0"/>
              </a:rPr>
              <a:t>L</a:t>
            </a:r>
            <a:endParaRPr lang="sl-SI" sz="1600" dirty="0">
              <a:latin typeface="Arial" charset="0"/>
              <a:cs typeface="Arial" charset="0"/>
            </a:endParaRPr>
          </a:p>
          <a:p>
            <a:pPr lvl="1" eaLnBrk="1" hangingPunct="1"/>
            <a:r>
              <a:rPr lang="en-GB" sz="1600" dirty="0">
                <a:latin typeface="Arial" charset="0"/>
              </a:rPr>
              <a:t>C je stopnja zaupanja v izjavo</a:t>
            </a:r>
          </a:p>
          <a:p>
            <a:pPr lvl="1" eaLnBrk="1" hangingPunct="1"/>
            <a:endParaRPr lang="sl-SI" sz="1600" dirty="0">
              <a:latin typeface="Arial" charset="0"/>
              <a:cs typeface="Arial" charset="0"/>
            </a:endParaRPr>
          </a:p>
          <a:p>
            <a:pPr marL="179387" lvl="1" indent="0" eaLnBrk="1" hangingPunct="1">
              <a:buNone/>
            </a:pPr>
            <a:r>
              <a:rPr lang="en-GB" sz="1600" dirty="0">
                <a:latin typeface="Arial" charset="0"/>
              </a:rPr>
              <a:t>Način zapisa: </a:t>
            </a:r>
            <a:r>
              <a:rPr lang="en-GB" sz="1600" dirty="0">
                <a:solidFill>
                  <a:srgbClr val="C00000"/>
                </a:solidFill>
                <a:latin typeface="Arial" charset="0"/>
              </a:rPr>
              <a:t>specifikacija </a:t>
            </a:r>
            <a:r>
              <a:rPr lang="en-GB" sz="1600" u="sng" dirty="0">
                <a:solidFill>
                  <a:srgbClr val="C00000"/>
                </a:solidFill>
                <a:latin typeface="Arial" charset="0"/>
              </a:rPr>
              <a:t>R95C90</a:t>
            </a:r>
            <a:r>
              <a:rPr lang="en-GB" sz="1600" dirty="0">
                <a:solidFill>
                  <a:srgbClr val="C00000"/>
                </a:solidFill>
                <a:latin typeface="Arial" charset="0"/>
              </a:rPr>
              <a:t> </a:t>
            </a:r>
            <a:r>
              <a:rPr lang="en-GB" sz="1600" dirty="0" err="1">
                <a:solidFill>
                  <a:srgbClr val="C00000"/>
                </a:solidFill>
                <a:latin typeface="Arial" charset="0"/>
              </a:rPr>
              <a:t>zahtev</a:t>
            </a:r>
            <a:r>
              <a:rPr lang="sl-SI" sz="1600" dirty="0">
                <a:solidFill>
                  <a:srgbClr val="C00000"/>
                </a:solidFill>
                <a:latin typeface="Arial" charset="0"/>
              </a:rPr>
              <a:t>a</a:t>
            </a:r>
            <a:r>
              <a:rPr lang="en-GB" sz="1600" dirty="0">
                <a:solidFill>
                  <a:srgbClr val="C00000"/>
                </a:solidFill>
                <a:latin typeface="Arial" charset="0"/>
              </a:rPr>
              <a:t> vsaj 95% zanesljivost (= R</a:t>
            </a:r>
            <a:r>
              <a:rPr lang="en-GB" sz="1600" baseline="-25000" dirty="0">
                <a:solidFill>
                  <a:srgbClr val="C00000"/>
                </a:solidFill>
                <a:latin typeface="Arial" charset="0"/>
              </a:rPr>
              <a:t>L</a:t>
            </a:r>
            <a:r>
              <a:rPr lang="en-GB" sz="1600" dirty="0">
                <a:solidFill>
                  <a:srgbClr val="C00000"/>
                </a:solidFill>
                <a:latin typeface="Arial" charset="0"/>
              </a:rPr>
              <a:t>) s stopnjo zaupanja 90%.</a:t>
            </a:r>
          </a:p>
          <a:p>
            <a:pPr marL="179387" lvl="1" indent="0" eaLnBrk="1" hangingPunct="1">
              <a:buNone/>
            </a:pPr>
            <a:endParaRPr lang="sl-SI" sz="1600" dirty="0">
              <a:latin typeface="Arial" charset="0"/>
              <a:cs typeface="Arial" charset="0"/>
            </a:endParaRPr>
          </a:p>
          <a:p>
            <a:pPr lvl="1" eaLnBrk="1" hangingPunct="1"/>
            <a:r>
              <a:rPr lang="en-GB" sz="1600" dirty="0">
                <a:latin typeface="Arial" charset="0"/>
              </a:rPr>
              <a:t>R</a:t>
            </a:r>
            <a:r>
              <a:rPr lang="en-GB" sz="1600" baseline="-25000" dirty="0">
                <a:latin typeface="Arial" charset="0"/>
              </a:rPr>
              <a:t>L </a:t>
            </a:r>
            <a:r>
              <a:rPr lang="en-GB" sz="1600" dirty="0">
                <a:latin typeface="Arial" charset="0"/>
              </a:rPr>
              <a:t>= 0,95  je “spodnja meja zaupanja” za zanesljivost.</a:t>
            </a:r>
          </a:p>
        </p:txBody>
      </p:sp>
      <p:graphicFrame>
        <p:nvGraphicFramePr>
          <p:cNvPr id="2" name="Object 1"/>
          <p:cNvGraphicFramePr>
            <a:graphicFrameLocks noChangeAspect="1"/>
          </p:cNvGraphicFramePr>
          <p:nvPr/>
        </p:nvGraphicFramePr>
        <p:xfrm>
          <a:off x="506413" y="5780088"/>
          <a:ext cx="7842250" cy="601662"/>
        </p:xfrm>
        <a:graphic>
          <a:graphicData uri="http://schemas.openxmlformats.org/presentationml/2006/ole">
            <mc:AlternateContent xmlns:mc="http://schemas.openxmlformats.org/markup-compatibility/2006">
              <mc:Choice xmlns:v="urn:schemas-microsoft-com:vml" Requires="v">
                <p:oleObj name="Equation" r:id="rId3" imgW="2819160" imgH="215640" progId="Equation.3">
                  <p:embed/>
                </p:oleObj>
              </mc:Choice>
              <mc:Fallback>
                <p:oleObj name="Equation" r:id="rId3" imgW="2819160" imgH="215640" progId="Equation.3">
                  <p:embed/>
                  <p:pic>
                    <p:nvPicPr>
                      <p:cNvPr id="0" name=""/>
                      <p:cNvPicPr>
                        <a:picLocks noChangeAspect="1" noChangeArrowheads="1"/>
                      </p:cNvPicPr>
                      <p:nvPr/>
                    </p:nvPicPr>
                    <p:blipFill>
                      <a:blip r:embed="rId4"/>
                      <a:srcRect/>
                      <a:stretch>
                        <a:fillRect/>
                      </a:stretch>
                    </p:blipFill>
                    <p:spPr bwMode="auto">
                      <a:xfrm>
                        <a:off x="506413" y="5780088"/>
                        <a:ext cx="7842250" cy="601662"/>
                      </a:xfrm>
                      <a:prstGeom prst="rect">
                        <a:avLst/>
                      </a:prstGeom>
                      <a:solidFill>
                        <a:srgbClr val="FEF6D6"/>
                      </a:solidFill>
                      <a:ln w="9525">
                        <a:solidFill>
                          <a:schemeClr val="tx1"/>
                        </a:solidFill>
                        <a:miter lim="800000"/>
                        <a:headEnd/>
                        <a:tailEnd/>
                      </a:ln>
                    </p:spPr>
                  </p:pic>
                </p:oleObj>
              </mc:Fallback>
            </mc:AlternateContent>
          </a:graphicData>
        </a:graphic>
      </p:graphicFrame>
    </p:spTree>
    <p:extLst>
      <p:ext uri="{BB962C8B-B14F-4D97-AF65-F5344CB8AC3E}">
        <p14:creationId xmlns:p14="http://schemas.microsoft.com/office/powerpoint/2010/main" val="11491465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noChangeArrowheads="1"/>
          </p:cNvSpPr>
          <p:nvPr>
            <p:ph type="title"/>
          </p:nvPr>
        </p:nvSpPr>
        <p:spPr/>
        <p:txBody>
          <a:bodyPr/>
          <a:lstStyle/>
          <a:p>
            <a:pPr eaLnBrk="1" hangingPunct="1"/>
            <a:r>
              <a:rPr lang="en-GB" dirty="0">
                <a:latin typeface="Arial" charset="0"/>
              </a:rPr>
              <a:t>Primer: Test uspešnosti</a:t>
            </a:r>
            <a:endParaRPr lang="sl-SI" sz="2400" noProof="0" dirty="0">
              <a:latin typeface="Arial" charset="0"/>
              <a:cs typeface="Arial" charset="0"/>
            </a:endParaRPr>
          </a:p>
        </p:txBody>
      </p:sp>
      <p:sp>
        <p:nvSpPr>
          <p:cNvPr id="66563" name="Rectangle 3"/>
          <p:cNvSpPr>
            <a:spLocks noGrp="1" noChangeArrowheads="1"/>
          </p:cNvSpPr>
          <p:nvPr>
            <p:ph idx="1"/>
          </p:nvPr>
        </p:nvSpPr>
        <p:spPr>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r>
              <a:rPr lang="en-GB" noProof="0" dirty="0">
                <a:solidFill>
                  <a:srgbClr val="C00000"/>
                </a:solidFill>
                <a:latin typeface="Arial" charset="0"/>
              </a:rPr>
              <a:t>Test brez odpovedi</a:t>
            </a:r>
          </a:p>
          <a:p>
            <a:pPr lvl="1" eaLnBrk="1" hangingPunct="1"/>
            <a:endParaRPr lang="sl-SI" sz="1600" noProof="0" dirty="0">
              <a:latin typeface="Arial" charset="0"/>
              <a:cs typeface="Arial" charset="0"/>
            </a:endParaRPr>
          </a:p>
          <a:p>
            <a:pPr lvl="1" eaLnBrk="1" hangingPunct="1"/>
            <a:r>
              <a:rPr lang="en-GB" sz="1600" noProof="0" dirty="0">
                <a:latin typeface="Arial" charset="0"/>
              </a:rPr>
              <a:t>Vnaprej določeno število izdelkov </a:t>
            </a:r>
            <a:r>
              <a:rPr lang="en-GB" sz="1600" noProof="0" dirty="0">
                <a:solidFill>
                  <a:srgbClr val="C00000"/>
                </a:solidFill>
                <a:latin typeface="Arial" charset="0"/>
              </a:rPr>
              <a:t>testiramo vnaprej določeni čas T.</a:t>
            </a:r>
          </a:p>
          <a:p>
            <a:pPr lvl="1" eaLnBrk="1" hangingPunct="1"/>
            <a:endParaRPr lang="sl-SI" sz="1600" noProof="0" dirty="0">
              <a:latin typeface="Arial" charset="0"/>
              <a:cs typeface="Arial" charset="0"/>
            </a:endParaRPr>
          </a:p>
          <a:p>
            <a:pPr lvl="1" eaLnBrk="1" hangingPunct="1"/>
            <a:r>
              <a:rPr lang="en-GB" sz="1600" noProof="0" dirty="0">
                <a:latin typeface="Arial" charset="0"/>
              </a:rPr>
              <a:t>Za dokaz o zahtevani zanesljivosti s specificirano stopnjo zaupanja </a:t>
            </a:r>
            <a:r>
              <a:rPr lang="en-GB" sz="1600" noProof="0" dirty="0">
                <a:solidFill>
                  <a:srgbClr val="C00000"/>
                </a:solidFill>
                <a:latin typeface="Arial" charset="0"/>
              </a:rPr>
              <a:t>morajo test preživeti vsi izdelki</a:t>
            </a:r>
            <a:r>
              <a:rPr lang="en-GB" sz="1600" noProof="0" dirty="0">
                <a:latin typeface="Arial" charset="0"/>
              </a:rPr>
              <a:t>.</a:t>
            </a:r>
          </a:p>
          <a:p>
            <a:pPr lvl="1" eaLnBrk="1" hangingPunct="1"/>
            <a:endParaRPr lang="sl-SI" sz="1600" noProof="0" dirty="0">
              <a:latin typeface="Arial" charset="0"/>
              <a:cs typeface="Arial" charset="0"/>
            </a:endParaRPr>
          </a:p>
          <a:p>
            <a:pPr lvl="1" eaLnBrk="1" hangingPunct="1"/>
            <a:r>
              <a:rPr lang="en-GB" sz="1600" noProof="0" dirty="0">
                <a:latin typeface="Arial" charset="0"/>
              </a:rPr>
              <a:t>Ni </a:t>
            </a:r>
            <a:r>
              <a:rPr lang="en-GB" sz="1600" noProof="0" dirty="0" err="1">
                <a:latin typeface="Arial" charset="0"/>
              </a:rPr>
              <a:t>domnev</a:t>
            </a:r>
            <a:r>
              <a:rPr lang="en-GB" sz="1600" noProof="0" dirty="0">
                <a:latin typeface="Arial" charset="0"/>
              </a:rPr>
              <a:t> o porazdelitvi </a:t>
            </a:r>
            <a:r>
              <a:rPr lang="en-GB" sz="1600" noProof="0" dirty="0" err="1">
                <a:latin typeface="Arial" charset="0"/>
              </a:rPr>
              <a:t>pogostosti</a:t>
            </a:r>
            <a:r>
              <a:rPr lang="en-GB" sz="1600" noProof="0" dirty="0">
                <a:latin typeface="Arial" charset="0"/>
              </a:rPr>
              <a:t> </a:t>
            </a:r>
            <a:r>
              <a:rPr lang="en-GB" sz="1600" noProof="0" dirty="0" err="1">
                <a:latin typeface="Arial" charset="0"/>
              </a:rPr>
              <a:t>odpovedi</a:t>
            </a:r>
            <a:r>
              <a:rPr lang="sl-SI" sz="1600" noProof="0" dirty="0">
                <a:latin typeface="Arial" charset="0"/>
              </a:rPr>
              <a:t>!</a:t>
            </a:r>
            <a:endParaRPr lang="en-GB" sz="1600" noProof="0" dirty="0">
              <a:latin typeface="Arial" charset="0"/>
            </a:endParaRPr>
          </a:p>
          <a:p>
            <a:pPr lvl="1" eaLnBrk="1" hangingPunct="1"/>
            <a:endParaRPr lang="sl-SI" sz="1600" noProof="0" dirty="0">
              <a:latin typeface="Arial" charset="0"/>
              <a:cs typeface="Arial" charset="0"/>
            </a:endParaRPr>
          </a:p>
          <a:p>
            <a:pPr lvl="1" eaLnBrk="1" hangingPunct="1"/>
            <a:r>
              <a:rPr lang="en-GB" sz="1600" noProof="0" dirty="0" err="1">
                <a:latin typeface="Arial" charset="0"/>
              </a:rPr>
              <a:t>Izdelek</a:t>
            </a:r>
            <a:r>
              <a:rPr lang="en-GB" sz="1600" noProof="0" dirty="0">
                <a:latin typeface="Arial" charset="0"/>
              </a:rPr>
              <a:t> </a:t>
            </a:r>
            <a:r>
              <a:rPr lang="sl-SI" sz="1600" noProof="0" dirty="0">
                <a:latin typeface="Arial" charset="0"/>
              </a:rPr>
              <a:t>lahko </a:t>
            </a:r>
            <a:r>
              <a:rPr lang="en-GB" sz="1600" noProof="0" dirty="0">
                <a:latin typeface="Arial" charset="0"/>
              </a:rPr>
              <a:t>v </a:t>
            </a:r>
            <a:r>
              <a:rPr lang="sl-SI" sz="1600" noProof="0" dirty="0">
                <a:latin typeface="Arial" charset="0"/>
              </a:rPr>
              <a:t>trenutku </a:t>
            </a:r>
            <a:r>
              <a:rPr lang="en-GB" sz="1600" noProof="0" dirty="0">
                <a:latin typeface="Arial" charset="0"/>
              </a:rPr>
              <a:t>T deluje ali pa ne deluje več. To dejstvo izkoristimo kot binomsko spremenljivko. </a:t>
            </a:r>
            <a:br>
              <a:rPr dirty="0"/>
            </a:br>
            <a:endParaRPr lang="sl-SI" sz="1600" noProof="0" dirty="0">
              <a:latin typeface="Arial" charset="0"/>
              <a:cs typeface="Arial" charset="0"/>
            </a:endParaRPr>
          </a:p>
          <a:p>
            <a:pPr lvl="1" eaLnBrk="1" hangingPunct="1"/>
            <a:r>
              <a:rPr lang="en-GB" sz="1600" noProof="0" dirty="0">
                <a:solidFill>
                  <a:srgbClr val="C00000"/>
                </a:solidFill>
                <a:latin typeface="Arial" charset="0"/>
              </a:rPr>
              <a:t>Verjetnost, da bo n izdelkov preživelo test</a:t>
            </a:r>
            <a:r>
              <a:rPr lang="en-GB" sz="1600" noProof="0" dirty="0">
                <a:latin typeface="Arial" charset="0"/>
              </a:rPr>
              <a:t>, je </a:t>
            </a:r>
            <a:r>
              <a:rPr lang="en-GB" sz="2800" noProof="0" dirty="0">
                <a:solidFill>
                  <a:srgbClr val="C00000"/>
                </a:solidFill>
                <a:latin typeface="Arial" charset="0"/>
              </a:rPr>
              <a:t>[R(T)]</a:t>
            </a:r>
            <a:r>
              <a:rPr lang="en-GB" sz="2800" baseline="30000" noProof="0" dirty="0">
                <a:solidFill>
                  <a:srgbClr val="C00000"/>
                </a:solidFill>
                <a:latin typeface="Arial" charset="0"/>
              </a:rPr>
              <a:t>n</a:t>
            </a:r>
            <a:r>
              <a:rPr dirty="0"/>
              <a:t> </a:t>
            </a:r>
            <a:r>
              <a:rPr lang="sl-SI" sz="1600" dirty="0"/>
              <a:t>, saj je verjetnost, da en izdelek odpove po času T, enaka R(T).</a:t>
            </a:r>
            <a:endParaRPr lang="en-GB" sz="1600" dirty="0">
              <a:latin typeface="Arial" charset="0"/>
              <a:cs typeface="Arial" charset="0"/>
            </a:endParaRPr>
          </a:p>
          <a:p>
            <a:pPr lvl="1" eaLnBrk="1" hangingPunct="1"/>
            <a:endParaRPr dirty="0"/>
          </a:p>
        </p:txBody>
      </p:sp>
    </p:spTree>
    <p:extLst>
      <p:ext uri="{BB962C8B-B14F-4D97-AF65-F5344CB8AC3E}">
        <p14:creationId xmlns:p14="http://schemas.microsoft.com/office/powerpoint/2010/main" val="2045688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50" name="Rectangle 2"/>
          <p:cNvSpPr>
            <a:spLocks noGrp="1" noChangeArrowheads="1"/>
          </p:cNvSpPr>
          <p:nvPr>
            <p:ph type="title"/>
          </p:nvPr>
        </p:nvSpPr>
        <p:spPr/>
        <p:txBody>
          <a:bodyPr/>
          <a:lstStyle/>
          <a:p>
            <a:pPr eaLnBrk="1" hangingPunct="1"/>
            <a:r>
              <a:rPr lang="en-GB" noProof="0">
                <a:latin typeface="Arial" charset="0"/>
              </a:rPr>
              <a:t>Velikost vzorca</a:t>
            </a:r>
            <a:r>
              <a:rPr lang="sl-SI" noProof="0">
                <a:latin typeface="Arial" charset="0"/>
              </a:rPr>
              <a:t>:</a:t>
            </a:r>
            <a:r>
              <a:rPr lang="en-GB" noProof="0">
                <a:latin typeface="Arial" charset="0"/>
              </a:rPr>
              <a:t> </a:t>
            </a:r>
            <a:r>
              <a:rPr lang="en-GB" noProof="0" dirty="0">
                <a:latin typeface="Arial" charset="0"/>
              </a:rPr>
              <a:t>Test uspešnosti</a:t>
            </a:r>
            <a:endParaRPr lang="sl-SI" sz="2400" noProof="0" dirty="0">
              <a:latin typeface="Arial" charset="0"/>
              <a:cs typeface="Arial" charset="0"/>
            </a:endParaRPr>
          </a:p>
        </p:txBody>
      </p:sp>
      <p:sp>
        <p:nvSpPr>
          <p:cNvPr id="22551" name="Rectangle 3"/>
          <p:cNvSpPr>
            <a:spLocks noGrp="1" noChangeArrowheads="1"/>
          </p:cNvSpPr>
          <p:nvPr>
            <p:ph idx="1"/>
          </p:nvPr>
        </p:nvSpPr>
        <p:spPr/>
        <p:txBody>
          <a:bodyPr/>
          <a:lstStyle/>
          <a:p>
            <a:pPr marL="0" indent="0" eaLnBrk="1" hangingPunct="1"/>
            <a:r>
              <a:rPr lang="en-GB" noProof="0" dirty="0">
                <a:solidFill>
                  <a:srgbClr val="C00000"/>
                </a:solidFill>
                <a:latin typeface="Arial" charset="0"/>
              </a:rPr>
              <a:t>Izračun velikosti  testnega vzorca</a:t>
            </a:r>
            <a:endParaRPr lang="sl-SI" baseline="30000" noProof="0" dirty="0">
              <a:solidFill>
                <a:srgbClr val="C00000"/>
              </a:solidFill>
              <a:latin typeface="Arial" charset="0"/>
              <a:cs typeface="Arial" charset="0"/>
            </a:endParaRPr>
          </a:p>
          <a:p>
            <a:pPr lvl="1" eaLnBrk="1" hangingPunct="1"/>
            <a:endParaRPr lang="sl-SI" sz="1600" noProof="0" dirty="0">
              <a:latin typeface="Arial" charset="0"/>
              <a:cs typeface="Arial" charset="0"/>
            </a:endParaRPr>
          </a:p>
          <a:p>
            <a:pPr lvl="1" eaLnBrk="1" hangingPunct="1"/>
            <a:r>
              <a:rPr lang="en-GB" sz="1600" noProof="0" dirty="0">
                <a:latin typeface="Arial" charset="0"/>
              </a:rPr>
              <a:t>Formula za načrtovanje testa uspešnosti je: </a:t>
            </a:r>
          </a:p>
          <a:p>
            <a:pPr lvl="1" eaLnBrk="1" hangingPunct="1"/>
            <a:endParaRPr lang="sl-SI" sz="1600" noProof="0" dirty="0">
              <a:latin typeface="Arial" charset="0"/>
              <a:cs typeface="Arial" charset="0"/>
            </a:endParaRPr>
          </a:p>
          <a:p>
            <a:pPr lvl="1" eaLnBrk="1" hangingPunct="1"/>
            <a:r>
              <a:rPr lang="sl-SI" sz="1600" noProof="0" dirty="0">
                <a:latin typeface="Arial" charset="0"/>
              </a:rPr>
              <a:t>V</a:t>
            </a:r>
            <a:r>
              <a:rPr lang="en-GB" sz="1600" noProof="0" dirty="0" err="1">
                <a:latin typeface="Arial" charset="0"/>
              </a:rPr>
              <a:t>erjetnost</a:t>
            </a:r>
            <a:r>
              <a:rPr lang="en-GB" sz="1600" noProof="0" dirty="0">
                <a:latin typeface="Arial" charset="0"/>
              </a:rPr>
              <a:t>, da bo n izdelkov preživelo test pri dejanski zanesljivosti R</a:t>
            </a:r>
            <a:r>
              <a:rPr lang="en-GB" sz="1600" baseline="-25000" noProof="0" dirty="0">
                <a:latin typeface="Arial" charset="0"/>
              </a:rPr>
              <a:t>L</a:t>
            </a:r>
            <a:r>
              <a:rPr lang="en-GB" sz="1600" noProof="0" dirty="0">
                <a:latin typeface="Arial" charset="0"/>
              </a:rPr>
              <a:t>, </a:t>
            </a:r>
            <a:r>
              <a:rPr lang="sl-SI" sz="1600" noProof="0" dirty="0">
                <a:latin typeface="Arial" charset="0"/>
              </a:rPr>
              <a:t>je </a:t>
            </a:r>
            <a:r>
              <a:rPr lang="en-GB" sz="1600" noProof="0" dirty="0" err="1">
                <a:latin typeface="Arial" charset="0"/>
              </a:rPr>
              <a:t>enaka</a:t>
            </a:r>
            <a:r>
              <a:rPr lang="en-GB" sz="1600" noProof="0" dirty="0">
                <a:latin typeface="Arial" charset="0"/>
              </a:rPr>
              <a:t> (1 – C).</a:t>
            </a:r>
          </a:p>
          <a:p>
            <a:pPr lvl="1" eaLnBrk="1" hangingPunct="1"/>
            <a:endParaRPr lang="sl-SI" sz="1600" noProof="0" dirty="0">
              <a:latin typeface="Arial" charset="0"/>
              <a:cs typeface="Arial" charset="0"/>
            </a:endParaRPr>
          </a:p>
          <a:p>
            <a:pPr lvl="1" eaLnBrk="1" hangingPunct="1"/>
            <a:r>
              <a:rPr lang="en-GB" sz="1600" noProof="0" dirty="0">
                <a:solidFill>
                  <a:srgbClr val="C00000"/>
                </a:solidFill>
                <a:latin typeface="Arial" charset="0"/>
              </a:rPr>
              <a:t>R</a:t>
            </a:r>
            <a:r>
              <a:rPr lang="en-GB" sz="1600" baseline="-25000" noProof="0" dirty="0">
                <a:solidFill>
                  <a:srgbClr val="C00000"/>
                </a:solidFill>
                <a:latin typeface="Arial" charset="0"/>
              </a:rPr>
              <a:t>L</a:t>
            </a:r>
            <a:r>
              <a:rPr lang="en-GB" sz="1600" noProof="0" dirty="0">
                <a:solidFill>
                  <a:srgbClr val="C00000"/>
                </a:solidFill>
                <a:latin typeface="Arial" charset="0"/>
              </a:rPr>
              <a:t> je spodnja meja zaupanja </a:t>
            </a:r>
            <a:r>
              <a:rPr lang="en-GB" sz="1600" noProof="0" dirty="0">
                <a:latin typeface="Arial" charset="0"/>
              </a:rPr>
              <a:t>za zahtevano zanesljivost </a:t>
            </a:r>
          </a:p>
          <a:p>
            <a:pPr lvl="1" eaLnBrk="1" hangingPunct="1"/>
            <a:endParaRPr lang="sl-SI" sz="1600" noProof="0" dirty="0">
              <a:latin typeface="Arial" charset="0"/>
              <a:cs typeface="Arial" charset="0"/>
            </a:endParaRPr>
          </a:p>
          <a:p>
            <a:pPr lvl="1" eaLnBrk="1" hangingPunct="1"/>
            <a:r>
              <a:rPr lang="en-GB" sz="1600" noProof="0" dirty="0">
                <a:latin typeface="Arial" charset="0"/>
              </a:rPr>
              <a:t>S transformacijo dobimo formulo za število proizvodov:</a:t>
            </a:r>
          </a:p>
          <a:p>
            <a:pPr lvl="1" eaLnBrk="1" hangingPunct="1"/>
            <a:endParaRPr lang="sl-SI" sz="1600" dirty="0">
              <a:latin typeface="Arial" charset="0"/>
              <a:cs typeface="Arial" charset="0"/>
            </a:endParaRPr>
          </a:p>
          <a:p>
            <a:pPr lvl="1" eaLnBrk="1" hangingPunct="1"/>
            <a:endParaRPr lang="sl-SI" sz="1600" noProof="0" dirty="0">
              <a:latin typeface="Arial" charset="0"/>
              <a:cs typeface="Arial" charset="0"/>
            </a:endParaRPr>
          </a:p>
          <a:p>
            <a:pPr lvl="1" eaLnBrk="1" hangingPunct="1"/>
            <a:endParaRPr lang="sl-SI" sz="1600" dirty="0">
              <a:latin typeface="Arial" charset="0"/>
              <a:cs typeface="Arial" charset="0"/>
            </a:endParaRPr>
          </a:p>
          <a:p>
            <a:pPr lvl="1" eaLnBrk="1" hangingPunct="1"/>
            <a:r>
              <a:rPr lang="en-GB" sz="1600" dirty="0">
                <a:latin typeface="Arial" charset="0"/>
              </a:rPr>
              <a:t>Za test uspešnosti R99C95 </a:t>
            </a:r>
            <a:r>
              <a:rPr lang="en-GB" sz="1600" dirty="0" err="1">
                <a:latin typeface="Arial" charset="0"/>
              </a:rPr>
              <a:t>moramo</a:t>
            </a:r>
            <a:r>
              <a:rPr lang="en-GB" sz="1600" dirty="0">
                <a:latin typeface="Arial" charset="0"/>
              </a:rPr>
              <a:t> </a:t>
            </a:r>
            <a:r>
              <a:rPr lang="en-GB" sz="1600" dirty="0" err="1">
                <a:latin typeface="Arial" charset="0"/>
              </a:rPr>
              <a:t>testirati</a:t>
            </a:r>
            <a:r>
              <a:rPr lang="sl-SI" sz="1600" dirty="0">
                <a:latin typeface="Arial" charset="0"/>
              </a:rPr>
              <a:t> toliko izdelkov</a:t>
            </a:r>
            <a:r>
              <a:rPr lang="en-GB" sz="1600" dirty="0">
                <a:latin typeface="Arial" charset="0"/>
              </a:rPr>
              <a:t>:</a:t>
            </a:r>
          </a:p>
          <a:p>
            <a:pPr lvl="1" eaLnBrk="1" hangingPunct="1"/>
            <a:endParaRPr lang="sl-SI" sz="1600" dirty="0">
              <a:latin typeface="Arial" charset="0"/>
              <a:cs typeface="Arial" charset="0"/>
            </a:endParaRPr>
          </a:p>
          <a:p>
            <a:pPr lvl="1" eaLnBrk="1" hangingPunct="1"/>
            <a:endParaRPr lang="sl-SI" sz="1600" dirty="0">
              <a:latin typeface="Arial" charset="0"/>
              <a:cs typeface="Arial" charset="0"/>
            </a:endParaRPr>
          </a:p>
        </p:txBody>
      </p:sp>
      <p:graphicFrame>
        <p:nvGraphicFramePr>
          <p:cNvPr id="22548" name="Object 20"/>
          <p:cNvGraphicFramePr>
            <a:graphicFrameLocks noChangeAspect="1"/>
          </p:cNvGraphicFramePr>
          <p:nvPr/>
        </p:nvGraphicFramePr>
        <p:xfrm>
          <a:off x="6012160" y="1988840"/>
          <a:ext cx="2159693" cy="462123"/>
        </p:xfrm>
        <a:graphic>
          <a:graphicData uri="http://schemas.openxmlformats.org/presentationml/2006/ole">
            <mc:AlternateContent xmlns:mc="http://schemas.openxmlformats.org/markup-compatibility/2006">
              <mc:Choice xmlns:v="urn:schemas-microsoft-com:vml" Requires="v">
                <p:oleObj name="Equation" r:id="rId3" imgW="1066800" imgH="228600" progId="Equation.3">
                  <p:embed/>
                </p:oleObj>
              </mc:Choice>
              <mc:Fallback>
                <p:oleObj name="Equation" r:id="rId3" imgW="10668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2160" y="1988840"/>
                        <a:ext cx="2159693" cy="462123"/>
                      </a:xfrm>
                      <a:prstGeom prst="rect">
                        <a:avLst/>
                      </a:prstGeom>
                      <a:solidFill>
                        <a:srgbClr val="FEF6D6"/>
                      </a:solidFill>
                      <a:ln w="9525">
                        <a:solidFill>
                          <a:schemeClr val="tx1"/>
                        </a:solidFill>
                        <a:miter lim="800000"/>
                        <a:headEnd/>
                        <a:tailEnd/>
                      </a:ln>
                    </p:spPr>
                  </p:pic>
                </p:oleObj>
              </mc:Fallback>
            </mc:AlternateContent>
          </a:graphicData>
        </a:graphic>
      </p:graphicFrame>
      <p:graphicFrame>
        <p:nvGraphicFramePr>
          <p:cNvPr id="22549" name="Object 21"/>
          <p:cNvGraphicFramePr>
            <a:graphicFrameLocks noChangeAspect="1"/>
          </p:cNvGraphicFramePr>
          <p:nvPr/>
        </p:nvGraphicFramePr>
        <p:xfrm>
          <a:off x="3923928" y="4437112"/>
          <a:ext cx="935732" cy="662810"/>
        </p:xfrm>
        <a:graphic>
          <a:graphicData uri="http://schemas.openxmlformats.org/presentationml/2006/ole">
            <mc:AlternateContent xmlns:mc="http://schemas.openxmlformats.org/markup-compatibility/2006">
              <mc:Choice xmlns:v="urn:schemas-microsoft-com:vml" Requires="v">
                <p:oleObj name="Equation" r:id="rId5" imgW="609336" imgH="431613" progId="Equation.3">
                  <p:embed/>
                </p:oleObj>
              </mc:Choice>
              <mc:Fallback>
                <p:oleObj name="Equation" r:id="rId5" imgW="609336" imgH="431613"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3928" y="4437112"/>
                        <a:ext cx="935732" cy="662810"/>
                      </a:xfrm>
                      <a:prstGeom prst="rect">
                        <a:avLst/>
                      </a:prstGeom>
                      <a:solidFill>
                        <a:srgbClr val="FEF6D6"/>
                      </a:solidFill>
                      <a:ln w="9525">
                        <a:solidFill>
                          <a:schemeClr val="tx1"/>
                        </a:solidFill>
                        <a:miter lim="800000"/>
                        <a:headEnd/>
                        <a:tailEnd/>
                      </a:ln>
                    </p:spPr>
                  </p:pic>
                </p:oleObj>
              </mc:Fallback>
            </mc:AlternateContent>
          </a:graphicData>
        </a:graphic>
      </p:graphicFrame>
      <p:graphicFrame>
        <p:nvGraphicFramePr>
          <p:cNvPr id="2" name="Object 1"/>
          <p:cNvGraphicFramePr>
            <a:graphicFrameLocks noChangeAspect="1"/>
          </p:cNvGraphicFramePr>
          <p:nvPr/>
        </p:nvGraphicFramePr>
        <p:xfrm>
          <a:off x="2195735" y="5744795"/>
          <a:ext cx="3312369" cy="636533"/>
        </p:xfrm>
        <a:graphic>
          <a:graphicData uri="http://schemas.openxmlformats.org/presentationml/2006/ole">
            <mc:AlternateContent xmlns:mc="http://schemas.openxmlformats.org/markup-compatibility/2006">
              <mc:Choice xmlns:v="urn:schemas-microsoft-com:vml" Requires="v">
                <p:oleObj name="Equation" r:id="rId7" imgW="2247840" imgH="431640" progId="Equation.3">
                  <p:embed/>
                </p:oleObj>
              </mc:Choice>
              <mc:Fallback>
                <p:oleObj name="Equation" r:id="rId7" imgW="2247840" imgH="431640" progId="Equation.3">
                  <p:embed/>
                  <p:pic>
                    <p:nvPicPr>
                      <p:cNvPr id="0" name=""/>
                      <p:cNvPicPr>
                        <a:picLocks noChangeAspect="1" noChangeArrowheads="1"/>
                      </p:cNvPicPr>
                      <p:nvPr/>
                    </p:nvPicPr>
                    <p:blipFill>
                      <a:blip r:embed="rId8"/>
                      <a:srcRect/>
                      <a:stretch>
                        <a:fillRect/>
                      </a:stretch>
                    </p:blipFill>
                    <p:spPr bwMode="auto">
                      <a:xfrm>
                        <a:off x="2195735" y="5744795"/>
                        <a:ext cx="3312369" cy="63653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47886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76" name="Titel 1"/>
          <p:cNvSpPr>
            <a:spLocks noGrp="1"/>
          </p:cNvSpPr>
          <p:nvPr>
            <p:ph type="title"/>
          </p:nvPr>
        </p:nvSpPr>
        <p:spPr/>
        <p:txBody>
          <a:bodyPr/>
          <a:lstStyle/>
          <a:p>
            <a:r>
              <a:rPr lang="en-GB" noProof="0" dirty="0">
                <a:latin typeface="Arial" charset="0"/>
              </a:rPr>
              <a:t>Eksponentna porazdelitev – osnove</a:t>
            </a:r>
          </a:p>
        </p:txBody>
      </p:sp>
      <p:sp>
        <p:nvSpPr>
          <p:cNvPr id="26677" name="Rectangle 3"/>
          <p:cNvSpPr>
            <a:spLocks noGrp="1" noChangeArrowheads="1"/>
          </p:cNvSpPr>
          <p:nvPr>
            <p:ph idx="1"/>
          </p:nvPr>
        </p:nvSpPr>
        <p:spPr/>
        <p:txBody>
          <a:bodyPr/>
          <a:lstStyle/>
          <a:p>
            <a:pPr marL="0" indent="0" eaLnBrk="1" hangingPunct="1"/>
            <a:r>
              <a:rPr lang="en-GB" noProof="0" dirty="0">
                <a:latin typeface="Arial" charset="0"/>
              </a:rPr>
              <a:t>Lastnosti:</a:t>
            </a:r>
          </a:p>
          <a:p>
            <a:pPr lvl="1" eaLnBrk="1" hangingPunct="1"/>
            <a:endParaRPr lang="sl-SI" sz="1600" noProof="0" dirty="0">
              <a:latin typeface="Arial" charset="0"/>
              <a:cs typeface="Arial" charset="0"/>
            </a:endParaRPr>
          </a:p>
          <a:p>
            <a:pPr marL="179387" lvl="1" indent="0" eaLnBrk="1" hangingPunct="1">
              <a:buNone/>
            </a:pPr>
            <a:r>
              <a:rPr lang="en-GB" sz="1600" noProof="0" dirty="0">
                <a:latin typeface="Arial" charset="0"/>
              </a:rPr>
              <a:t>Eksponentna porazdelitev se pogosto uporablja zaradi svoje enostavnosti. </a:t>
            </a:r>
          </a:p>
          <a:p>
            <a:pPr lvl="1" eaLnBrk="1" hangingPunct="1"/>
            <a:endParaRPr lang="sl-SI" sz="1600" noProof="0" dirty="0">
              <a:latin typeface="Arial" charset="0"/>
              <a:cs typeface="Arial" charset="0"/>
            </a:endParaRPr>
          </a:p>
          <a:p>
            <a:pPr lvl="1" eaLnBrk="1" hangingPunct="1"/>
            <a:r>
              <a:rPr lang="en-GB" sz="1600" noProof="0" dirty="0">
                <a:latin typeface="Arial" charset="0"/>
              </a:rPr>
              <a:t>Funkcija zanesljivosti: </a:t>
            </a:r>
          </a:p>
          <a:p>
            <a:pPr lvl="1" eaLnBrk="1" hangingPunct="1"/>
            <a:endParaRPr lang="sl-SI" sz="1600" noProof="0" dirty="0">
              <a:latin typeface="Arial" charset="0"/>
              <a:cs typeface="Arial" charset="0"/>
            </a:endParaRPr>
          </a:p>
          <a:p>
            <a:pPr lvl="1" eaLnBrk="1" hangingPunct="1"/>
            <a:endParaRPr lang="sl-SI" sz="1600" noProof="0" dirty="0">
              <a:latin typeface="Arial" charset="0"/>
              <a:cs typeface="Arial" charset="0"/>
            </a:endParaRPr>
          </a:p>
          <a:p>
            <a:pPr lvl="1" eaLnBrk="1" hangingPunct="1"/>
            <a:r>
              <a:rPr lang="en-GB" sz="1600" noProof="0" dirty="0">
                <a:latin typeface="Arial" charset="0"/>
              </a:rPr>
              <a:t>Funkcija kumulativne porazdelitve:</a:t>
            </a:r>
          </a:p>
          <a:p>
            <a:pPr lvl="1" eaLnBrk="1" hangingPunct="1"/>
            <a:endParaRPr lang="sl-SI" sz="1600" noProof="0" dirty="0">
              <a:latin typeface="Arial" charset="0"/>
              <a:cs typeface="Arial" charset="0"/>
            </a:endParaRPr>
          </a:p>
          <a:p>
            <a:pPr lvl="1" eaLnBrk="1" hangingPunct="1"/>
            <a:endParaRPr lang="sl-SI" sz="1600" noProof="0" dirty="0">
              <a:latin typeface="Arial" charset="0"/>
              <a:cs typeface="Arial" charset="0"/>
            </a:endParaRPr>
          </a:p>
          <a:p>
            <a:pPr lvl="1" eaLnBrk="1" hangingPunct="1"/>
            <a:r>
              <a:rPr lang="en-GB" sz="1600" noProof="0" dirty="0">
                <a:latin typeface="Arial" charset="0"/>
              </a:rPr>
              <a:t>Funkcija gostote porazdelitve:</a:t>
            </a:r>
          </a:p>
          <a:p>
            <a:pPr lvl="1" eaLnBrk="1" hangingPunct="1"/>
            <a:endParaRPr lang="sl-SI" sz="1600" noProof="0" dirty="0">
              <a:latin typeface="Arial" charset="0"/>
              <a:cs typeface="Arial" charset="0"/>
            </a:endParaRPr>
          </a:p>
          <a:p>
            <a:pPr lvl="1" eaLnBrk="1" hangingPunct="1"/>
            <a:endParaRPr lang="sl-SI" sz="1600" noProof="0" dirty="0">
              <a:latin typeface="Arial" charset="0"/>
              <a:cs typeface="Arial" charset="0"/>
            </a:endParaRPr>
          </a:p>
          <a:p>
            <a:pPr lvl="1" eaLnBrk="1" hangingPunct="1"/>
            <a:endParaRPr lang="sl-SI" sz="1600" noProof="0" dirty="0">
              <a:latin typeface="Arial" charset="0"/>
              <a:cs typeface="Arial" charset="0"/>
            </a:endParaRPr>
          </a:p>
          <a:p>
            <a:pPr lvl="1" eaLnBrk="1" hangingPunct="1"/>
            <a:r>
              <a:rPr lang="en-GB" sz="1600" noProof="0" dirty="0">
                <a:latin typeface="Arial" charset="0"/>
              </a:rPr>
              <a:t>Funkcija tveganja</a:t>
            </a:r>
            <a:r>
              <a:rPr lang="en-GB" sz="1600" noProof="0">
                <a:latin typeface="Arial" charset="0"/>
              </a:rPr>
              <a:t>:                                </a:t>
            </a:r>
            <a:r>
              <a:rPr lang="sl-SI" sz="1600" noProof="0">
                <a:latin typeface="Arial" charset="0"/>
              </a:rPr>
              <a:t>        </a:t>
            </a:r>
            <a:r>
              <a:rPr lang="en-GB" sz="1600" noProof="0">
                <a:latin typeface="Arial" charset="0"/>
              </a:rPr>
              <a:t>in</a:t>
            </a:r>
            <a:endParaRPr lang="en-GB" sz="1600" noProof="0" dirty="0">
              <a:latin typeface="Arial" charset="0"/>
            </a:endParaRPr>
          </a:p>
          <a:p>
            <a:pPr lvl="1" eaLnBrk="1" hangingPunct="1"/>
            <a:endParaRPr lang="sl-SI" sz="1600" dirty="0">
              <a:latin typeface="Arial" charset="0"/>
              <a:cs typeface="Arial" charset="0"/>
            </a:endParaRPr>
          </a:p>
          <a:p>
            <a:pPr lvl="1" eaLnBrk="1" hangingPunct="1"/>
            <a:r>
              <a:rPr lang="en-GB" sz="1600" noProof="0" dirty="0">
                <a:latin typeface="Arial" charset="0"/>
              </a:rPr>
              <a:t>Konstantna pogostost odpovedi        in srednji čas do napake (MTTF) </a:t>
            </a:r>
          </a:p>
        </p:txBody>
      </p:sp>
      <p:graphicFrame>
        <p:nvGraphicFramePr>
          <p:cNvPr id="26671" name="Object 47"/>
          <p:cNvGraphicFramePr>
            <a:graphicFrameLocks noChangeAspect="1"/>
          </p:cNvGraphicFramePr>
          <p:nvPr/>
        </p:nvGraphicFramePr>
        <p:xfrm>
          <a:off x="1547813" y="4762029"/>
          <a:ext cx="2036762" cy="611187"/>
        </p:xfrm>
        <a:graphic>
          <a:graphicData uri="http://schemas.openxmlformats.org/presentationml/2006/ole">
            <mc:AlternateContent xmlns:mc="http://schemas.openxmlformats.org/markup-compatibility/2006">
              <mc:Choice xmlns:v="urn:schemas-microsoft-com:vml" Requires="v">
                <p:oleObj name="Vergelijking" r:id="rId3" imgW="761669" imgH="228501" progId="Equation.3">
                  <p:embed/>
                </p:oleObj>
              </mc:Choice>
              <mc:Fallback>
                <p:oleObj name="Vergelijking" r:id="rId3" imgW="761669" imgH="228501"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4762029"/>
                        <a:ext cx="2036762" cy="611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72" name="Object 48"/>
          <p:cNvGraphicFramePr>
            <a:graphicFrameLocks noChangeAspect="1"/>
          </p:cNvGraphicFramePr>
          <p:nvPr/>
        </p:nvGraphicFramePr>
        <p:xfrm>
          <a:off x="1476375" y="3880470"/>
          <a:ext cx="2376488" cy="628650"/>
        </p:xfrm>
        <a:graphic>
          <a:graphicData uri="http://schemas.openxmlformats.org/presentationml/2006/ole">
            <mc:AlternateContent xmlns:mc="http://schemas.openxmlformats.org/markup-compatibility/2006">
              <mc:Choice xmlns:v="urn:schemas-microsoft-com:vml" Requires="v">
                <p:oleObj name="Vergelijking" r:id="rId5" imgW="863225" imgH="228501" progId="Equation.3">
                  <p:embed/>
                </p:oleObj>
              </mc:Choice>
              <mc:Fallback>
                <p:oleObj name="Vergelijking" r:id="rId5" imgW="863225" imgH="22850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6375" y="3880470"/>
                        <a:ext cx="2376488"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73" name="Object 49"/>
          <p:cNvGraphicFramePr>
            <a:graphicFrameLocks noChangeAspect="1"/>
          </p:cNvGraphicFramePr>
          <p:nvPr/>
        </p:nvGraphicFramePr>
        <p:xfrm>
          <a:off x="1504950" y="2944366"/>
          <a:ext cx="1852613" cy="628650"/>
        </p:xfrm>
        <a:graphic>
          <a:graphicData uri="http://schemas.openxmlformats.org/presentationml/2006/ole">
            <mc:AlternateContent xmlns:mc="http://schemas.openxmlformats.org/markup-compatibility/2006">
              <mc:Choice xmlns:v="urn:schemas-microsoft-com:vml" Requires="v">
                <p:oleObj name="Vergelijking" r:id="rId7" imgW="672808" imgH="228501" progId="Equation.3">
                  <p:embed/>
                </p:oleObj>
              </mc:Choice>
              <mc:Fallback>
                <p:oleObj name="Vergelijking" r:id="rId7" imgW="672808" imgH="22850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04950" y="2944366"/>
                        <a:ext cx="1852613"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74" name="Object 50"/>
          <p:cNvGraphicFramePr>
            <a:graphicFrameLocks noChangeAspect="1"/>
          </p:cNvGraphicFramePr>
          <p:nvPr/>
        </p:nvGraphicFramePr>
        <p:xfrm>
          <a:off x="3605907" y="5517232"/>
          <a:ext cx="1254125" cy="442912"/>
        </p:xfrm>
        <a:graphic>
          <a:graphicData uri="http://schemas.openxmlformats.org/presentationml/2006/ole">
            <mc:AlternateContent xmlns:mc="http://schemas.openxmlformats.org/markup-compatibility/2006">
              <mc:Choice xmlns:v="urn:schemas-microsoft-com:vml" Requires="v">
                <p:oleObj name="Vergelijking" r:id="rId9" imgW="609336" imgH="215806" progId="Equation.3">
                  <p:embed/>
                </p:oleObj>
              </mc:Choice>
              <mc:Fallback>
                <p:oleObj name="Vergelijking" r:id="rId9" imgW="609336" imgH="215806"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05907" y="5517232"/>
                        <a:ext cx="1254125" cy="442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75" name="Object 51"/>
          <p:cNvGraphicFramePr>
            <a:graphicFrameLocks noChangeAspect="1"/>
          </p:cNvGraphicFramePr>
          <p:nvPr/>
        </p:nvGraphicFramePr>
        <p:xfrm>
          <a:off x="6011863" y="5517232"/>
          <a:ext cx="1692275" cy="492125"/>
        </p:xfrm>
        <a:graphic>
          <a:graphicData uri="http://schemas.openxmlformats.org/presentationml/2006/ole">
            <mc:AlternateContent xmlns:mc="http://schemas.openxmlformats.org/markup-compatibility/2006">
              <mc:Choice xmlns:v="urn:schemas-microsoft-com:vml" Requires="v">
                <p:oleObj name="Vergelijking" r:id="rId11" imgW="698197" imgH="203112" progId="Equation.3">
                  <p:embed/>
                </p:oleObj>
              </mc:Choice>
              <mc:Fallback>
                <p:oleObj name="Vergelijking" r:id="rId11" imgW="698197" imgH="203112"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11863" y="5517232"/>
                        <a:ext cx="1692275" cy="49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6393" name="Picture 11"/>
          <p:cNvPicPr>
            <a:picLocks noChangeAspect="1" noChangeArrowheads="1"/>
          </p:cNvPicPr>
          <p:nvPr/>
        </p:nvPicPr>
        <p:blipFill>
          <a:blip r:embed="rId13" cstate="print"/>
          <a:srcRect/>
          <a:stretch>
            <a:fillRect/>
          </a:stretch>
        </p:blipFill>
        <p:spPr bwMode="auto">
          <a:xfrm>
            <a:off x="5219700" y="2781300"/>
            <a:ext cx="3743325" cy="2176463"/>
          </a:xfrm>
          <a:prstGeom prst="rect">
            <a:avLst/>
          </a:prstGeom>
          <a:ln>
            <a:noFill/>
          </a:ln>
          <a:effectLst>
            <a:outerShdw blurRad="292100" dist="139700" dir="2700000" algn="tl" rotWithShape="0">
              <a:srgbClr val="333333">
                <a:alpha val="65000"/>
              </a:srgbClr>
            </a:outerShdw>
          </a:effectLst>
        </p:spPr>
      </p:pic>
      <p:graphicFrame>
        <p:nvGraphicFramePr>
          <p:cNvPr id="2" name="Object 1"/>
          <p:cNvGraphicFramePr>
            <a:graphicFrameLocks noChangeAspect="1"/>
          </p:cNvGraphicFramePr>
          <p:nvPr/>
        </p:nvGraphicFramePr>
        <p:xfrm>
          <a:off x="4428678" y="6161806"/>
          <a:ext cx="287338" cy="363538"/>
        </p:xfrm>
        <a:graphic>
          <a:graphicData uri="http://schemas.openxmlformats.org/presentationml/2006/ole">
            <mc:AlternateContent xmlns:mc="http://schemas.openxmlformats.org/markup-compatibility/2006">
              <mc:Choice xmlns:v="urn:schemas-microsoft-com:vml" Requires="v">
                <p:oleObj name="Vergelijking" r:id="rId14" imgW="139680" imgH="177480" progId="Equation.3">
                  <p:embed/>
                </p:oleObj>
              </mc:Choice>
              <mc:Fallback>
                <p:oleObj name="Vergelijking" r:id="rId14" imgW="139680" imgH="177480" progId="Equation.3">
                  <p:embed/>
                  <p:pic>
                    <p:nvPicPr>
                      <p:cNvPr id="0" name=""/>
                      <p:cNvPicPr>
                        <a:picLocks noChangeAspect="1" noChangeArrowheads="1"/>
                      </p:cNvPicPr>
                      <p:nvPr/>
                    </p:nvPicPr>
                    <p:blipFill>
                      <a:blip r:embed="rId15"/>
                      <a:srcRect/>
                      <a:stretch>
                        <a:fillRect/>
                      </a:stretch>
                    </p:blipFill>
                    <p:spPr bwMode="auto">
                      <a:xfrm>
                        <a:off x="4428678" y="6161806"/>
                        <a:ext cx="287338"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ChangeAspect="1"/>
          </p:cNvGraphicFramePr>
          <p:nvPr/>
        </p:nvGraphicFramePr>
        <p:xfrm>
          <a:off x="7891537" y="5962650"/>
          <a:ext cx="496887" cy="623888"/>
        </p:xfrm>
        <a:graphic>
          <a:graphicData uri="http://schemas.openxmlformats.org/presentationml/2006/ole">
            <mc:AlternateContent xmlns:mc="http://schemas.openxmlformats.org/markup-compatibility/2006">
              <mc:Choice xmlns:v="urn:schemas-microsoft-com:vml" Requires="v">
                <p:oleObj name="Vergelijking" r:id="rId16" imgW="241200" imgH="304560" progId="Equation.3">
                  <p:embed/>
                </p:oleObj>
              </mc:Choice>
              <mc:Fallback>
                <p:oleObj name="Vergelijking" r:id="rId16" imgW="241200" imgH="304560" progId="Equation.3">
                  <p:embed/>
                  <p:pic>
                    <p:nvPicPr>
                      <p:cNvPr id="0" name=""/>
                      <p:cNvPicPr>
                        <a:picLocks noChangeAspect="1" noChangeArrowheads="1"/>
                      </p:cNvPicPr>
                      <p:nvPr/>
                    </p:nvPicPr>
                    <p:blipFill>
                      <a:blip r:embed="rId17"/>
                      <a:srcRect/>
                      <a:stretch>
                        <a:fillRect/>
                      </a:stretch>
                    </p:blipFill>
                    <p:spPr bwMode="auto">
                      <a:xfrm>
                        <a:off x="7891537" y="5962650"/>
                        <a:ext cx="496887"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540785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94" name="Picture 4" descr="Waloddi_weibull"/>
          <p:cNvPicPr>
            <a:picLocks noChangeAspect="1" noChangeArrowheads="1"/>
          </p:cNvPicPr>
          <p:nvPr/>
        </p:nvPicPr>
        <p:blipFill>
          <a:blip r:embed="rId3" cstate="print"/>
          <a:srcRect/>
          <a:stretch>
            <a:fillRect/>
          </a:stretch>
        </p:blipFill>
        <p:spPr bwMode="auto">
          <a:xfrm>
            <a:off x="7235825" y="1638300"/>
            <a:ext cx="1143000" cy="1790700"/>
          </a:xfrm>
          <a:prstGeom prst="rect">
            <a:avLst/>
          </a:prstGeom>
          <a:noFill/>
          <a:ln w="9525">
            <a:noFill/>
            <a:miter lim="800000"/>
            <a:headEnd/>
            <a:tailEnd/>
          </a:ln>
        </p:spPr>
      </p:pic>
      <p:graphicFrame>
        <p:nvGraphicFramePr>
          <p:cNvPr id="28692" name="Object 20"/>
          <p:cNvGraphicFramePr>
            <a:graphicFrameLocks noChangeAspect="1"/>
          </p:cNvGraphicFramePr>
          <p:nvPr/>
        </p:nvGraphicFramePr>
        <p:xfrm>
          <a:off x="1166813" y="3421063"/>
          <a:ext cx="5492750" cy="1087437"/>
        </p:xfrm>
        <a:graphic>
          <a:graphicData uri="http://schemas.openxmlformats.org/presentationml/2006/ole">
            <mc:AlternateContent xmlns:mc="http://schemas.openxmlformats.org/markup-compatibility/2006">
              <mc:Choice xmlns:v="urn:schemas-microsoft-com:vml" Requires="v">
                <p:oleObj name="Vergelijking" r:id="rId4" imgW="2374900" imgH="469900" progId="Equation.3">
                  <p:embed/>
                </p:oleObj>
              </mc:Choice>
              <mc:Fallback>
                <p:oleObj name="Vergelijking" r:id="rId4" imgW="2374900" imgH="4699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6813" y="3421063"/>
                        <a:ext cx="5492750" cy="1087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93" name="Object 21"/>
          <p:cNvGraphicFramePr>
            <a:graphicFrameLocks noChangeAspect="1"/>
          </p:cNvGraphicFramePr>
          <p:nvPr/>
        </p:nvGraphicFramePr>
        <p:xfrm>
          <a:off x="3347864" y="5373216"/>
          <a:ext cx="2514600" cy="718269"/>
        </p:xfrm>
        <a:graphic>
          <a:graphicData uri="http://schemas.openxmlformats.org/presentationml/2006/ole">
            <mc:AlternateContent xmlns:mc="http://schemas.openxmlformats.org/markup-compatibility/2006">
              <mc:Choice xmlns:v="urn:schemas-microsoft-com:vml" Requires="v">
                <p:oleObj name="Vergelijking" r:id="rId6" imgW="1066337" imgH="304668" progId="Equation.3">
                  <p:embed/>
                </p:oleObj>
              </mc:Choice>
              <mc:Fallback>
                <p:oleObj name="Vergelijking" r:id="rId6" imgW="1066337" imgH="304668"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7864" y="5373216"/>
                        <a:ext cx="2514600" cy="7182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95" name="Titel 1"/>
          <p:cNvSpPr>
            <a:spLocks noGrp="1"/>
          </p:cNvSpPr>
          <p:nvPr>
            <p:ph type="title"/>
          </p:nvPr>
        </p:nvSpPr>
        <p:spPr/>
        <p:txBody>
          <a:bodyPr/>
          <a:lstStyle/>
          <a:p>
            <a:r>
              <a:rPr dirty="0"/>
              <a:t>Weibullova porazdelitev</a:t>
            </a:r>
            <a:endParaRPr lang="sl-SI" dirty="0"/>
          </a:p>
        </p:txBody>
      </p:sp>
      <p:sp>
        <p:nvSpPr>
          <p:cNvPr id="28696" name="Tijdelijke aanduiding voor inhoud 2"/>
          <p:cNvSpPr>
            <a:spLocks noGrp="1"/>
          </p:cNvSpPr>
          <p:nvPr>
            <p:ph idx="1"/>
          </p:nvPr>
        </p:nvSpPr>
        <p:spPr>
          <a:xfrm>
            <a:off x="720725" y="1268760"/>
            <a:ext cx="7920038" cy="5040312"/>
          </a:xfrm>
        </p:spPr>
        <p:txBody>
          <a:bodyPr/>
          <a:lstStyle/>
          <a:p>
            <a:r>
              <a:rPr dirty="0"/>
              <a:t>Weibullova porazdelitev</a:t>
            </a:r>
          </a:p>
          <a:p>
            <a:pPr lvl="1"/>
            <a:endParaRPr lang="sl-SI" sz="1600" dirty="0"/>
          </a:p>
          <a:p>
            <a:pPr lvl="1"/>
            <a:r>
              <a:rPr lang="en-GB" sz="1600" dirty="0"/>
              <a:t>Je posplošena eksponentna porazdelitev.</a:t>
            </a:r>
          </a:p>
          <a:p>
            <a:pPr lvl="1"/>
            <a:endParaRPr lang="sl-SI" sz="1600" dirty="0"/>
          </a:p>
          <a:p>
            <a:pPr lvl="1"/>
            <a:r>
              <a:rPr lang="en-GB" sz="1600" dirty="0"/>
              <a:t>Eksponentna in Weibullova porazdelitev omogočata</a:t>
            </a:r>
            <a:br>
              <a:rPr dirty="0"/>
            </a:br>
            <a:r>
              <a:rPr lang="en-GB" sz="1600" dirty="0"/>
              <a:t>primerjavo z naslednjima funkcijama kumulativnega</a:t>
            </a:r>
            <a:br>
              <a:rPr dirty="0"/>
            </a:br>
            <a:r>
              <a:rPr lang="en-GB" sz="1600" dirty="0"/>
              <a:t>tveganja (</a:t>
            </a:r>
            <a:r>
              <a:rPr lang="en-GB" sz="1600" dirty="0" err="1"/>
              <a:t>pogostost</a:t>
            </a:r>
            <a:r>
              <a:rPr lang="sl-SI" sz="1600" dirty="0"/>
              <a:t>i</a:t>
            </a:r>
            <a:r>
              <a:rPr lang="en-GB" sz="1600" dirty="0"/>
              <a:t>ma odpovedi): </a:t>
            </a:r>
          </a:p>
          <a:p>
            <a:pPr lvl="1"/>
            <a:endParaRPr lang="sl-SI" sz="1600" dirty="0"/>
          </a:p>
          <a:p>
            <a:pPr lvl="1"/>
            <a:endParaRPr lang="sl-SI" sz="1600" dirty="0"/>
          </a:p>
          <a:p>
            <a:pPr marL="179387" lvl="1" indent="0">
              <a:buNone/>
            </a:pPr>
            <a:br>
              <a:rPr dirty="0"/>
            </a:br>
            <a:endParaRPr dirty="0"/>
          </a:p>
          <a:p>
            <a:pPr lvl="1"/>
            <a:r>
              <a:rPr lang="en-GB" sz="1600" dirty="0"/>
              <a:t>Minitab </a:t>
            </a:r>
            <a:r>
              <a:rPr lang="sl-SI" sz="1600" dirty="0"/>
              <a:t>pri </a:t>
            </a:r>
            <a:r>
              <a:rPr lang="en-GB" sz="1600" dirty="0" err="1"/>
              <a:t>Weibullov</a:t>
            </a:r>
            <a:r>
              <a:rPr lang="sl-SI" sz="1600" dirty="0"/>
              <a:t>i</a:t>
            </a:r>
            <a:r>
              <a:rPr lang="en-GB" sz="1600" dirty="0"/>
              <a:t> </a:t>
            </a:r>
            <a:r>
              <a:rPr lang="en-GB" sz="1600" dirty="0" err="1"/>
              <a:t>porazdelit</a:t>
            </a:r>
            <a:r>
              <a:rPr lang="sl-SI" sz="1600" dirty="0"/>
              <a:t>vi</a:t>
            </a:r>
            <a:r>
              <a:rPr lang="en-GB" sz="1600" dirty="0"/>
              <a:t> uporablja α za merilo in β </a:t>
            </a:r>
            <a:r>
              <a:rPr lang="en-GB" sz="1600" dirty="0" err="1"/>
              <a:t>za</a:t>
            </a:r>
            <a:r>
              <a:rPr lang="en-GB" sz="1600" dirty="0"/>
              <a:t> </a:t>
            </a:r>
            <a:r>
              <a:rPr lang="en-GB" sz="1600" dirty="0" err="1"/>
              <a:t>obliko</a:t>
            </a:r>
            <a:endParaRPr lang="sl-SI" sz="1600" dirty="0"/>
          </a:p>
          <a:p>
            <a:pPr lvl="1"/>
            <a:r>
              <a:rPr lang="en-GB" sz="1600" dirty="0" err="1"/>
              <a:t>Če</a:t>
            </a:r>
            <a:r>
              <a:rPr lang="en-GB" sz="1600" dirty="0"/>
              <a:t> je </a:t>
            </a:r>
            <a:r>
              <a:rPr lang="el-GR" sz="1600" dirty="0"/>
              <a:t>β = 1, </a:t>
            </a:r>
            <a:r>
              <a:rPr lang="en-GB" sz="1600" dirty="0"/>
              <a:t>je </a:t>
            </a:r>
            <a:r>
              <a:rPr lang="en-GB" sz="1600" dirty="0" err="1"/>
              <a:t>Weibullova</a:t>
            </a:r>
            <a:r>
              <a:rPr lang="en-GB" sz="1600" dirty="0"/>
              <a:t> </a:t>
            </a:r>
            <a:r>
              <a:rPr lang="en-GB" sz="1600" dirty="0" err="1"/>
              <a:t>porazdelitev</a:t>
            </a:r>
            <a:r>
              <a:rPr lang="en-GB" sz="1600" dirty="0"/>
              <a:t> </a:t>
            </a:r>
            <a:r>
              <a:rPr lang="en-GB" sz="1600" dirty="0" err="1"/>
              <a:t>enaka</a:t>
            </a:r>
            <a:r>
              <a:rPr lang="en-GB" sz="1600" dirty="0"/>
              <a:t> </a:t>
            </a:r>
            <a:r>
              <a:rPr lang="en-GB" sz="1600" dirty="0" err="1"/>
              <a:t>eksponentni</a:t>
            </a:r>
            <a:r>
              <a:rPr lang="en-GB" sz="1600" dirty="0"/>
              <a:t> </a:t>
            </a:r>
            <a:r>
              <a:rPr lang="en-GB" sz="1600" dirty="0" err="1"/>
              <a:t>porazdelitvi</a:t>
            </a:r>
            <a:r>
              <a:rPr lang="en-GB" sz="1600" dirty="0"/>
              <a:t>: </a:t>
            </a:r>
          </a:p>
        </p:txBody>
      </p:sp>
      <p:sp>
        <p:nvSpPr>
          <p:cNvPr id="2" name="Tekstvak 1"/>
          <p:cNvSpPr txBox="1"/>
          <p:nvPr/>
        </p:nvSpPr>
        <p:spPr>
          <a:xfrm>
            <a:off x="1403648" y="4499828"/>
            <a:ext cx="1460143" cy="369332"/>
          </a:xfrm>
          <a:prstGeom prst="rect">
            <a:avLst/>
          </a:prstGeom>
          <a:noFill/>
        </p:spPr>
        <p:txBody>
          <a:bodyPr wrap="none" rtlCol="0">
            <a:spAutoFit/>
          </a:bodyPr>
          <a:lstStyle/>
          <a:p>
            <a:endParaRPr lang="sl-SI" b="1" dirty="0"/>
          </a:p>
        </p:txBody>
      </p:sp>
      <p:sp>
        <p:nvSpPr>
          <p:cNvPr id="8" name="Tekstvak 7"/>
          <p:cNvSpPr txBox="1"/>
          <p:nvPr/>
        </p:nvSpPr>
        <p:spPr>
          <a:xfrm>
            <a:off x="4950844" y="4499828"/>
            <a:ext cx="1061316" cy="369332"/>
          </a:xfrm>
          <a:prstGeom prst="rect">
            <a:avLst/>
          </a:prstGeom>
          <a:noFill/>
        </p:spPr>
        <p:txBody>
          <a:bodyPr wrap="none" rtlCol="0">
            <a:spAutoFit/>
          </a:bodyPr>
          <a:lstStyle/>
          <a:p>
            <a:endParaRPr lang="sl-SI" b="1" dirty="0"/>
          </a:p>
        </p:txBody>
      </p:sp>
      <p:sp>
        <p:nvSpPr>
          <p:cNvPr id="10" name="Tekstvak 1"/>
          <p:cNvSpPr txBox="1"/>
          <p:nvPr/>
        </p:nvSpPr>
        <p:spPr>
          <a:xfrm>
            <a:off x="1556048" y="4427820"/>
            <a:ext cx="1565621" cy="369332"/>
          </a:xfrm>
          <a:prstGeom prst="rect">
            <a:avLst/>
          </a:prstGeom>
          <a:noFill/>
        </p:spPr>
        <p:txBody>
          <a:bodyPr wrap="none" rtlCol="0">
            <a:spAutoFit/>
          </a:bodyPr>
          <a:lstStyle/>
          <a:p>
            <a:r>
              <a:rPr lang="en-GB" b="1"/>
              <a:t>(</a:t>
            </a:r>
            <a:r>
              <a:rPr lang="sl-SI" b="1"/>
              <a:t>Eksponentna</a:t>
            </a:r>
            <a:r>
              <a:rPr lang="en-GB" b="1"/>
              <a:t>)</a:t>
            </a:r>
            <a:endParaRPr lang="en-GB" b="1" dirty="0"/>
          </a:p>
        </p:txBody>
      </p:sp>
      <p:sp>
        <p:nvSpPr>
          <p:cNvPr id="11" name="Tekstvak 7"/>
          <p:cNvSpPr txBox="1"/>
          <p:nvPr/>
        </p:nvSpPr>
        <p:spPr>
          <a:xfrm>
            <a:off x="5103244" y="4427820"/>
            <a:ext cx="1403461" cy="369332"/>
          </a:xfrm>
          <a:prstGeom prst="rect">
            <a:avLst/>
          </a:prstGeom>
          <a:noFill/>
        </p:spPr>
        <p:txBody>
          <a:bodyPr wrap="none" rtlCol="0">
            <a:spAutoFit/>
          </a:bodyPr>
          <a:lstStyle/>
          <a:p>
            <a:r>
              <a:rPr lang="en-GB" b="1"/>
              <a:t>(Weibull</a:t>
            </a:r>
            <a:r>
              <a:rPr lang="sl-SI" b="1"/>
              <a:t>ova</a:t>
            </a:r>
            <a:r>
              <a:rPr lang="en-GB" b="1"/>
              <a:t>)</a:t>
            </a:r>
            <a:endParaRPr lang="en-GB" b="1" dirty="0"/>
          </a:p>
        </p:txBody>
      </p:sp>
    </p:spTree>
    <p:extLst>
      <p:ext uri="{BB962C8B-B14F-4D97-AF65-F5344CB8AC3E}">
        <p14:creationId xmlns:p14="http://schemas.microsoft.com/office/powerpoint/2010/main" val="2839398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3"/>
          <p:cNvSpPr>
            <a:spLocks noGrp="1" noChangeArrowheads="1"/>
          </p:cNvSpPr>
          <p:nvPr>
            <p:ph idx="1"/>
          </p:nvPr>
        </p:nvSpPr>
        <p:spPr>
          <a:xfrm>
            <a:off x="467544" y="1341438"/>
            <a:ext cx="8173219" cy="5040312"/>
          </a:xfrm>
        </p:spPr>
        <p:txBody>
          <a:bodyPr/>
          <a:lstStyle/>
          <a:p>
            <a:pPr marL="0" indent="0" eaLnBrk="1" hangingPunct="1"/>
            <a:r>
              <a:rPr lang="en-GB" noProof="0" dirty="0">
                <a:latin typeface="Arial" charset="0"/>
              </a:rPr>
              <a:t>Oblika krivulje pogostosti odpovedi</a:t>
            </a:r>
          </a:p>
          <a:p>
            <a:pPr lvl="1" eaLnBrk="1" hangingPunct="1"/>
            <a:endParaRPr lang="sl-SI" sz="1600" noProof="0" dirty="0">
              <a:latin typeface="Arial" charset="0"/>
              <a:cs typeface="Arial" charset="0"/>
            </a:endParaRPr>
          </a:p>
          <a:p>
            <a:pPr lvl="1" eaLnBrk="1" hangingPunct="1"/>
            <a:r>
              <a:rPr lang="en-GB" sz="1600" noProof="0" dirty="0">
                <a:latin typeface="Arial" charset="0"/>
              </a:rPr>
              <a:t>Pri β &lt; 1 h(t) se </a:t>
            </a:r>
            <a:r>
              <a:rPr lang="en-GB" sz="1600" noProof="0" dirty="0" err="1">
                <a:latin typeface="Arial" charset="0"/>
              </a:rPr>
              <a:t>pogostost</a:t>
            </a:r>
            <a:r>
              <a:rPr lang="en-GB" sz="1600" noProof="0" dirty="0">
                <a:latin typeface="Arial" charset="0"/>
              </a:rPr>
              <a:t> </a:t>
            </a:r>
            <a:r>
              <a:rPr lang="en-GB" sz="1600" noProof="0" dirty="0" err="1">
                <a:latin typeface="Arial" charset="0"/>
              </a:rPr>
              <a:t>odpovedi</a:t>
            </a:r>
            <a:r>
              <a:rPr lang="en-GB" sz="1600" noProof="0" dirty="0">
                <a:latin typeface="Arial" charset="0"/>
              </a:rPr>
              <a:t> </a:t>
            </a:r>
            <a:r>
              <a:rPr lang="en-GB" sz="1600" noProof="0" dirty="0" err="1">
                <a:latin typeface="Arial" charset="0"/>
              </a:rPr>
              <a:t>zmanjšuje</a:t>
            </a:r>
            <a:r>
              <a:rPr lang="en-GB" sz="1600" noProof="0" dirty="0">
                <a:latin typeface="Arial" charset="0"/>
              </a:rPr>
              <a:t>. </a:t>
            </a:r>
          </a:p>
          <a:p>
            <a:pPr lvl="1" eaLnBrk="1" hangingPunct="1"/>
            <a:endParaRPr lang="sl-SI" sz="1600" noProof="0" dirty="0">
              <a:latin typeface="Arial" charset="0"/>
              <a:cs typeface="Arial" charset="0"/>
            </a:endParaRPr>
          </a:p>
          <a:p>
            <a:pPr lvl="1" eaLnBrk="1" hangingPunct="1"/>
            <a:r>
              <a:rPr lang="en-GB" sz="1600" noProof="0" dirty="0">
                <a:latin typeface="Arial" charset="0"/>
              </a:rPr>
              <a:t>Pri β = 1 je </a:t>
            </a:r>
            <a:r>
              <a:rPr lang="sl-SI" sz="1600" noProof="0" dirty="0">
                <a:latin typeface="Arial" charset="0"/>
              </a:rPr>
              <a:t>h</a:t>
            </a:r>
            <a:r>
              <a:rPr lang="en-GB" sz="1600" noProof="0" dirty="0">
                <a:latin typeface="Arial" charset="0"/>
              </a:rPr>
              <a:t>(t) </a:t>
            </a:r>
            <a:r>
              <a:rPr lang="en-GB" sz="1600" noProof="0" dirty="0" err="1">
                <a:latin typeface="Arial" charset="0"/>
              </a:rPr>
              <a:t>konstanta</a:t>
            </a:r>
            <a:br>
              <a:rPr dirty="0"/>
            </a:br>
            <a:r>
              <a:rPr lang="en-GB" sz="1600" noProof="0" dirty="0">
                <a:latin typeface="Arial" charset="0"/>
              </a:rPr>
              <a:t>(eksponentna </a:t>
            </a:r>
            <a:r>
              <a:rPr lang="en-GB" sz="1600" noProof="0" dirty="0" err="1">
                <a:latin typeface="Arial" charset="0"/>
              </a:rPr>
              <a:t>porazdelitev</a:t>
            </a:r>
            <a:r>
              <a:rPr lang="en-GB" sz="1600" noProof="0" dirty="0">
                <a:latin typeface="Arial" charset="0"/>
              </a:rPr>
              <a:t>)</a:t>
            </a:r>
            <a:r>
              <a:rPr lang="sl-SI" sz="1600" noProof="0" dirty="0">
                <a:latin typeface="Arial" charset="0"/>
              </a:rPr>
              <a:t>.</a:t>
            </a:r>
            <a:endParaRPr lang="en-GB" sz="1600" noProof="0" dirty="0">
              <a:latin typeface="Arial" charset="0"/>
            </a:endParaRPr>
          </a:p>
          <a:p>
            <a:pPr lvl="1" eaLnBrk="1" hangingPunct="1"/>
            <a:endParaRPr lang="sl-SI" sz="1600" noProof="0" dirty="0">
              <a:latin typeface="Arial" charset="0"/>
              <a:cs typeface="Arial" charset="0"/>
            </a:endParaRPr>
          </a:p>
          <a:p>
            <a:pPr lvl="1" eaLnBrk="1" hangingPunct="1"/>
            <a:r>
              <a:rPr lang="en-GB" sz="1600" noProof="0" dirty="0">
                <a:latin typeface="Arial" charset="0"/>
              </a:rPr>
              <a:t>Pri β &gt; 1 h(t) rahlo raste.</a:t>
            </a:r>
          </a:p>
          <a:p>
            <a:pPr lvl="1" eaLnBrk="1" hangingPunct="1"/>
            <a:endParaRPr lang="sl-SI" sz="1600" noProof="0" dirty="0">
              <a:latin typeface="Arial" charset="0"/>
              <a:cs typeface="Arial" charset="0"/>
            </a:endParaRPr>
          </a:p>
          <a:p>
            <a:pPr lvl="1" eaLnBrk="1" hangingPunct="1"/>
            <a:r>
              <a:rPr lang="en-GB" sz="1600" noProof="0" dirty="0">
                <a:latin typeface="Arial" charset="0"/>
              </a:rPr>
              <a:t>Pri β </a:t>
            </a:r>
            <a:r>
              <a:rPr lang="sl-SI" sz="1600" noProof="0" dirty="0">
                <a:latin typeface="Arial" charset="0"/>
              </a:rPr>
              <a:t>=</a:t>
            </a:r>
            <a:r>
              <a:rPr lang="en-GB" sz="1600" noProof="0" dirty="0">
                <a:latin typeface="Arial" charset="0"/>
              </a:rPr>
              <a:t> 2 se h(t) linearno povečuje.</a:t>
            </a:r>
          </a:p>
          <a:p>
            <a:pPr lvl="1" eaLnBrk="1" hangingPunct="1"/>
            <a:endParaRPr lang="sl-SI" sz="1600" noProof="0" dirty="0">
              <a:latin typeface="Arial" charset="0"/>
              <a:cs typeface="Arial" charset="0"/>
            </a:endParaRPr>
          </a:p>
          <a:p>
            <a:pPr lvl="1" eaLnBrk="1" hangingPunct="1"/>
            <a:r>
              <a:rPr lang="en-GB" sz="1600" noProof="0" dirty="0">
                <a:latin typeface="Arial" charset="0"/>
              </a:rPr>
              <a:t>Pri β &gt; 2 se h(t) eksponencialno povečuje.</a:t>
            </a:r>
          </a:p>
        </p:txBody>
      </p:sp>
      <p:pic>
        <p:nvPicPr>
          <p:cNvPr id="140290" name="Picture 8"/>
          <p:cNvPicPr>
            <a:picLocks noChangeAspect="1" noChangeArrowheads="1"/>
          </p:cNvPicPr>
          <p:nvPr/>
        </p:nvPicPr>
        <p:blipFill>
          <a:blip r:embed="rId3" cstate="print"/>
          <a:srcRect/>
          <a:stretch>
            <a:fillRect/>
          </a:stretch>
        </p:blipFill>
        <p:spPr bwMode="auto">
          <a:xfrm>
            <a:off x="5040143" y="2852936"/>
            <a:ext cx="3983827" cy="2952328"/>
          </a:xfrm>
          <a:prstGeom prst="rect">
            <a:avLst/>
          </a:prstGeom>
          <a:noFill/>
          <a:ln w="9525">
            <a:solidFill>
              <a:schemeClr val="accent2"/>
            </a:solidFill>
            <a:miter lim="800000"/>
            <a:headEnd/>
            <a:tailEnd/>
          </a:ln>
        </p:spPr>
      </p:pic>
      <p:sp>
        <p:nvSpPr>
          <p:cNvPr id="140291" name="Titel 1"/>
          <p:cNvSpPr>
            <a:spLocks noGrp="1"/>
          </p:cNvSpPr>
          <p:nvPr>
            <p:ph type="title"/>
          </p:nvPr>
        </p:nvSpPr>
        <p:spPr/>
        <p:txBody>
          <a:bodyPr/>
          <a:lstStyle/>
          <a:p>
            <a:r>
              <a:rPr lang="en-GB" noProof="0" dirty="0">
                <a:latin typeface="Arial" charset="0"/>
              </a:rPr>
              <a:t>Weibullova porazdelitev</a:t>
            </a:r>
          </a:p>
        </p:txBody>
      </p:sp>
    </p:spTree>
    <p:extLst>
      <p:ext uri="{BB962C8B-B14F-4D97-AF65-F5344CB8AC3E}">
        <p14:creationId xmlns:p14="http://schemas.microsoft.com/office/powerpoint/2010/main" val="8630472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Tijdelijke aanduiding voor inhoud 3"/>
          <p:cNvSpPr>
            <a:spLocks noGrp="1"/>
          </p:cNvSpPr>
          <p:nvPr>
            <p:ph idx="1"/>
          </p:nvPr>
        </p:nvSpPr>
        <p:spPr/>
        <p:txBody>
          <a:bodyPr/>
          <a:lstStyle/>
          <a:p>
            <a:pPr eaLnBrk="1" hangingPunct="1"/>
            <a:r>
              <a:rPr lang="en-GB" noProof="0" dirty="0">
                <a:solidFill>
                  <a:srgbClr val="C00000"/>
                </a:solidFill>
                <a:latin typeface="Arial" charset="0"/>
              </a:rPr>
              <a:t>Pospešeno testiranje življenjske dobe</a:t>
            </a:r>
          </a:p>
          <a:p>
            <a:pPr lvl="1" eaLnBrk="1" hangingPunct="1"/>
            <a:endParaRPr lang="sl-SI" sz="1600" noProof="0" dirty="0">
              <a:latin typeface="Arial" charset="0"/>
              <a:cs typeface="Arial" charset="0"/>
            </a:endParaRPr>
          </a:p>
          <a:p>
            <a:pPr lvl="1" eaLnBrk="1" hangingPunct="1"/>
            <a:r>
              <a:rPr lang="sl-SI" sz="1600" dirty="0">
                <a:latin typeface="Arial" charset="0"/>
              </a:rPr>
              <a:t>Č</a:t>
            </a:r>
            <a:r>
              <a:rPr lang="en-GB" sz="1600" dirty="0">
                <a:latin typeface="Arial" charset="0"/>
              </a:rPr>
              <a:t>e </a:t>
            </a:r>
            <a:r>
              <a:rPr lang="en-GB" sz="1600" dirty="0" err="1">
                <a:latin typeface="Arial" charset="0"/>
              </a:rPr>
              <a:t>izberemo</a:t>
            </a:r>
            <a:r>
              <a:rPr lang="en-GB" sz="1600" dirty="0">
                <a:latin typeface="Arial" charset="0"/>
              </a:rPr>
              <a:t> </a:t>
            </a:r>
            <a:r>
              <a:rPr lang="en-GB" sz="1600" dirty="0" err="1">
                <a:latin typeface="Arial" charset="0"/>
              </a:rPr>
              <a:t>prave</a:t>
            </a:r>
            <a:r>
              <a:rPr lang="en-GB" sz="1600" dirty="0">
                <a:latin typeface="Arial" charset="0"/>
              </a:rPr>
              <a:t> </a:t>
            </a:r>
            <a:r>
              <a:rPr lang="en-GB" sz="1600" dirty="0" err="1">
                <a:latin typeface="Arial" charset="0"/>
              </a:rPr>
              <a:t>pogoje</a:t>
            </a:r>
            <a:r>
              <a:rPr lang="en-GB" sz="1600" dirty="0">
                <a:latin typeface="Arial" charset="0"/>
              </a:rPr>
              <a:t> </a:t>
            </a:r>
            <a:r>
              <a:rPr lang="en-GB" sz="1600" dirty="0" err="1">
                <a:latin typeface="Arial" charset="0"/>
              </a:rPr>
              <a:t>povečane</a:t>
            </a:r>
            <a:r>
              <a:rPr lang="en-GB" sz="1600" dirty="0">
                <a:latin typeface="Arial" charset="0"/>
              </a:rPr>
              <a:t> </a:t>
            </a:r>
            <a:r>
              <a:rPr lang="en-GB" sz="1600" dirty="0" err="1">
                <a:latin typeface="Arial" charset="0"/>
              </a:rPr>
              <a:t>obremenitve</a:t>
            </a:r>
            <a:r>
              <a:rPr lang="sl-SI" sz="1600" dirty="0">
                <a:latin typeface="Arial" charset="0"/>
              </a:rPr>
              <a:t>,</a:t>
            </a:r>
            <a:r>
              <a:rPr lang="en-GB" sz="1600" dirty="0">
                <a:latin typeface="Arial" charset="0"/>
              </a:rPr>
              <a:t> </a:t>
            </a:r>
            <a:r>
              <a:rPr lang="sl-SI" sz="1600" dirty="0">
                <a:latin typeface="Arial" charset="0"/>
              </a:rPr>
              <a:t>k</a:t>
            </a:r>
            <a:r>
              <a:rPr lang="en-GB" sz="1600" dirty="0" err="1">
                <a:latin typeface="Arial" charset="0"/>
              </a:rPr>
              <a:t>omponenta</a:t>
            </a:r>
            <a:r>
              <a:rPr lang="en-GB" sz="1600" dirty="0">
                <a:latin typeface="Arial" charset="0"/>
              </a:rPr>
              <a:t> </a:t>
            </a:r>
            <a:r>
              <a:rPr lang="en-GB" sz="1600" noProof="0" dirty="0">
                <a:latin typeface="Arial" charset="0"/>
              </a:rPr>
              <a:t>odpove po enakih mehanizmih kot v normalnih </a:t>
            </a:r>
            <a:r>
              <a:rPr lang="en-GB" sz="1600" noProof="0" dirty="0" err="1">
                <a:latin typeface="Arial" charset="0"/>
              </a:rPr>
              <a:t>delovnih</a:t>
            </a:r>
            <a:r>
              <a:rPr lang="en-GB" sz="1600" noProof="0" dirty="0">
                <a:latin typeface="Arial" charset="0"/>
              </a:rPr>
              <a:t> </a:t>
            </a:r>
            <a:r>
              <a:rPr lang="en-GB" sz="1600" noProof="0" dirty="0" err="1">
                <a:latin typeface="Arial" charset="0"/>
              </a:rPr>
              <a:t>pogojih</a:t>
            </a:r>
            <a:r>
              <a:rPr lang="en-GB" sz="1600" noProof="0" dirty="0">
                <a:latin typeface="Arial" charset="0"/>
              </a:rPr>
              <a:t>. </a:t>
            </a:r>
          </a:p>
          <a:p>
            <a:pPr lvl="1" eaLnBrk="1" hangingPunct="1"/>
            <a:endParaRPr lang="sl-SI" sz="1600" noProof="0" dirty="0">
              <a:latin typeface="Arial" charset="0"/>
              <a:cs typeface="Arial" charset="0"/>
            </a:endParaRPr>
          </a:p>
          <a:p>
            <a:pPr lvl="1" eaLnBrk="1" hangingPunct="1"/>
            <a:r>
              <a:rPr lang="en-GB" sz="1600" noProof="0" dirty="0">
                <a:latin typeface="Arial" charset="0"/>
              </a:rPr>
              <a:t>Edina </a:t>
            </a:r>
            <a:r>
              <a:rPr lang="en-GB" sz="1600" noProof="0" dirty="0" err="1">
                <a:latin typeface="Arial" charset="0"/>
              </a:rPr>
              <a:t>razlika</a:t>
            </a:r>
            <a:r>
              <a:rPr lang="sl-SI" sz="1600" noProof="0" dirty="0">
                <a:latin typeface="Arial" charset="0"/>
              </a:rPr>
              <a:t> je</a:t>
            </a:r>
            <a:r>
              <a:rPr lang="en-GB" sz="1600" noProof="0" dirty="0">
                <a:latin typeface="Arial" charset="0"/>
              </a:rPr>
              <a:t>:</a:t>
            </a:r>
            <a:r>
              <a:rPr lang="en-GB" sz="1600" noProof="0" dirty="0">
                <a:solidFill>
                  <a:srgbClr val="C00000"/>
                </a:solidFill>
                <a:latin typeface="Arial" charset="0"/>
              </a:rPr>
              <a:t>  “proces odpovedovanja se pospeši”</a:t>
            </a:r>
          </a:p>
          <a:p>
            <a:pPr lvl="1" eaLnBrk="1" hangingPunct="1"/>
            <a:endParaRPr lang="sl-SI" sz="1600" noProof="0" dirty="0">
              <a:latin typeface="Arial" charset="0"/>
              <a:cs typeface="Arial" charset="0"/>
            </a:endParaRPr>
          </a:p>
          <a:p>
            <a:pPr lvl="1" eaLnBrk="1" hangingPunct="1"/>
            <a:r>
              <a:rPr lang="en-GB" sz="1600" noProof="0" dirty="0">
                <a:latin typeface="Arial" charset="0"/>
              </a:rPr>
              <a:t>Vsak korak v vrsti kemičnih ali fizikalnih procesov pod povečano obremenitvijo, ki privede do odpovedi, se </a:t>
            </a:r>
            <a:r>
              <a:rPr lang="en-GB" sz="1600" noProof="0" dirty="0" err="1">
                <a:latin typeface="Arial" charset="0"/>
              </a:rPr>
              <a:t>odvij</a:t>
            </a:r>
            <a:r>
              <a:rPr lang="sl-SI" sz="1600" noProof="0" dirty="0">
                <a:latin typeface="Arial" charset="0"/>
              </a:rPr>
              <a:t>a</a:t>
            </a:r>
            <a:r>
              <a:rPr lang="en-GB" sz="1600" noProof="0" dirty="0">
                <a:latin typeface="Arial" charset="0"/>
              </a:rPr>
              <a:t> enako kot pod normalno obremenitvijo. </a:t>
            </a:r>
          </a:p>
          <a:p>
            <a:pPr lvl="1" eaLnBrk="1" hangingPunct="1"/>
            <a:endParaRPr lang="sl-SI" sz="1600" noProof="0" dirty="0">
              <a:latin typeface="Arial" charset="0"/>
              <a:cs typeface="Arial" charset="0"/>
            </a:endParaRPr>
          </a:p>
          <a:p>
            <a:pPr lvl="1" eaLnBrk="1" hangingPunct="1"/>
            <a:r>
              <a:rPr lang="en-GB" sz="1600" noProof="0" dirty="0">
                <a:latin typeface="Arial" charset="0"/>
              </a:rPr>
              <a:t>Spremeni se samo časovna skala, ki se uporablja za meritve.</a:t>
            </a:r>
          </a:p>
          <a:p>
            <a:pPr lvl="1" eaLnBrk="1" hangingPunct="1"/>
            <a:endParaRPr lang="sl-SI" sz="1600" noProof="0" dirty="0">
              <a:latin typeface="Arial" charset="0"/>
              <a:cs typeface="Arial" charset="0"/>
            </a:endParaRPr>
          </a:p>
          <a:p>
            <a:pPr lvl="1" eaLnBrk="1" hangingPunct="1"/>
            <a:r>
              <a:rPr lang="en-GB" sz="1600" noProof="0" dirty="0">
                <a:latin typeface="Arial" charset="0"/>
              </a:rPr>
              <a:t>Prava pospešitev je zgolj sprememba časovne skale. </a:t>
            </a:r>
          </a:p>
        </p:txBody>
      </p:sp>
      <p:sp>
        <p:nvSpPr>
          <p:cNvPr id="156674" name="Titel 1"/>
          <p:cNvSpPr>
            <a:spLocks noGrp="1"/>
          </p:cNvSpPr>
          <p:nvPr>
            <p:ph type="title"/>
          </p:nvPr>
        </p:nvSpPr>
        <p:spPr/>
        <p:txBody>
          <a:bodyPr/>
          <a:lstStyle/>
          <a:p>
            <a:r>
              <a:rPr lang="en-GB" noProof="0" dirty="0">
                <a:latin typeface="Arial" charset="0"/>
              </a:rPr>
              <a:t>Pospešeno testiranje življenjske dobe</a:t>
            </a:r>
          </a:p>
        </p:txBody>
      </p:sp>
    </p:spTree>
    <p:extLst>
      <p:ext uri="{BB962C8B-B14F-4D97-AF65-F5344CB8AC3E}">
        <p14:creationId xmlns:p14="http://schemas.microsoft.com/office/powerpoint/2010/main" val="281765201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sl-SI" dirty="0"/>
              <a:t>Povzetek</a:t>
            </a:r>
            <a:endParaRPr lang="en-GB" dirty="0"/>
          </a:p>
        </p:txBody>
      </p:sp>
      <p:sp>
        <p:nvSpPr>
          <p:cNvPr id="3" name="Inhaltsplatzhalter 2"/>
          <p:cNvSpPr>
            <a:spLocks noGrp="1"/>
          </p:cNvSpPr>
          <p:nvPr>
            <p:ph idx="1"/>
          </p:nvPr>
        </p:nvSpPr>
        <p:spPr/>
        <p:txBody>
          <a:bodyPr>
            <a:normAutofit/>
          </a:bodyPr>
          <a:lstStyle/>
          <a:p>
            <a:pPr>
              <a:buFont typeface="Arial" pitchFamily="34" charset="0"/>
              <a:buChar char="•"/>
            </a:pPr>
            <a:r>
              <a:rPr lang="sl-SI" sz="2800" b="0" dirty="0"/>
              <a:t>Določanje zanesljivosti je osnova za določanje pričakovane življenjske dobe izdelka.</a:t>
            </a:r>
            <a:endParaRPr lang="en-US" sz="2800" b="0" dirty="0"/>
          </a:p>
          <a:p>
            <a:pPr>
              <a:buFont typeface="Arial" pitchFamily="34" charset="0"/>
              <a:buChar char="•"/>
            </a:pPr>
            <a:r>
              <a:rPr lang="sl-SI" sz="2800" b="0" dirty="0"/>
              <a:t>Določanje zanesljivosti je osnovano na statistični analizi, ki določa funkcijo zanesljivosti z intervali zaupanja.</a:t>
            </a:r>
            <a:r>
              <a:rPr lang="en-US" sz="2800" b="0" dirty="0"/>
              <a:t> </a:t>
            </a:r>
          </a:p>
          <a:p>
            <a:pPr>
              <a:buFont typeface="Arial" pitchFamily="34" charset="0"/>
              <a:buChar char="•"/>
            </a:pPr>
            <a:r>
              <a:rPr lang="sl-SI" sz="2800" b="0" dirty="0"/>
              <a:t>Pogostost odpovedi izdelka je pomemben indikator zanesljivosti izdelka.</a:t>
            </a:r>
            <a:r>
              <a:rPr lang="en-US" sz="2800" b="0" dirty="0"/>
              <a:t> </a:t>
            </a:r>
          </a:p>
          <a:p>
            <a:pPr>
              <a:buFont typeface="Arial" pitchFamily="34" charset="0"/>
              <a:buChar char="•"/>
            </a:pPr>
            <a:r>
              <a:rPr lang="sl-SI" sz="2800" b="0" dirty="0"/>
              <a:t>Precej izdelkov se glede pričakovane življenjske dobe obnaša skladno z </a:t>
            </a:r>
            <a:r>
              <a:rPr lang="sl-SI" sz="2800" b="0" dirty="0" err="1"/>
              <a:t>Weibullovo</a:t>
            </a:r>
            <a:r>
              <a:rPr lang="sl-SI" sz="2800" b="0" dirty="0"/>
              <a:t> porazdelitvijo.</a:t>
            </a:r>
            <a:endParaRPr lang="en-US" sz="2800" b="0" dirty="0"/>
          </a:p>
        </p:txBody>
      </p:sp>
    </p:spTree>
    <p:extLst>
      <p:ext uri="{BB962C8B-B14F-4D97-AF65-F5344CB8AC3E}">
        <p14:creationId xmlns:p14="http://schemas.microsoft.com/office/powerpoint/2010/main" val="2875353698"/>
      </p:ext>
    </p:extLst>
  </p:cSld>
  <p:clrMapOvr>
    <a:masterClrMapping/>
  </p:clrMapOvr>
  <mc:AlternateContent xmlns:mc="http://schemas.openxmlformats.org/markup-compatibility/2006" xmlns:p14="http://schemas.microsoft.com/office/powerpoint/2010/main">
    <mc:Choice Requires="p14">
      <p:transition spd="slow" p14:dur="2000" advTm="10985"/>
    </mc:Choice>
    <mc:Fallback xmlns="">
      <p:transition spd="slow" advTm="10985"/>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sl-SI" dirty="0">
                <a:latin typeface="Arial" charset="0"/>
              </a:rPr>
              <a:t>Avtorji</a:t>
            </a:r>
            <a:endParaRPr lang="sl-SI" dirty="0"/>
          </a:p>
        </p:txBody>
      </p:sp>
      <p:sp>
        <p:nvSpPr>
          <p:cNvPr id="5" name="Rectangle 3"/>
          <p:cNvSpPr txBox="1">
            <a:spLocks noChangeArrowheads="1"/>
          </p:cNvSpPr>
          <p:nvPr/>
        </p:nvSpPr>
        <p:spPr bwMode="auto">
          <a:xfrm>
            <a:off x="296863" y="1102048"/>
            <a:ext cx="8569325" cy="468042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spcBef>
                <a:spcPts val="0"/>
              </a:spcBef>
            </a:pPr>
            <a:r>
              <a:rPr lang="fr-FR" sz="1400" dirty="0">
                <a:latin typeface="Arial" pitchFamily="34" charset="0"/>
              </a:rPr>
              <a:t>To </a:t>
            </a:r>
            <a:r>
              <a:rPr lang="fr-FR" sz="1400" dirty="0" err="1">
                <a:latin typeface="Arial" pitchFamily="34" charset="0"/>
              </a:rPr>
              <a:t>učno</a:t>
            </a:r>
            <a:r>
              <a:rPr lang="fr-FR" sz="1400" dirty="0">
                <a:latin typeface="Arial" pitchFamily="34" charset="0"/>
              </a:rPr>
              <a:t> </a:t>
            </a:r>
            <a:r>
              <a:rPr lang="fr-FR" sz="1400" dirty="0" err="1">
                <a:latin typeface="Arial" pitchFamily="34" charset="0"/>
              </a:rPr>
              <a:t>gradivo</a:t>
            </a:r>
            <a:r>
              <a:rPr lang="fr-FR" sz="1400" dirty="0">
                <a:latin typeface="Arial" pitchFamily="34" charset="0"/>
              </a:rPr>
              <a:t> je </a:t>
            </a:r>
            <a:r>
              <a:rPr lang="fr-FR" sz="1400" dirty="0" err="1">
                <a:latin typeface="Arial" pitchFamily="34" charset="0"/>
              </a:rPr>
              <a:t>bilo</a:t>
            </a:r>
            <a:r>
              <a:rPr lang="fr-FR" sz="1400" dirty="0">
                <a:latin typeface="Arial" pitchFamily="34" charset="0"/>
              </a:rPr>
              <a:t> </a:t>
            </a:r>
            <a:r>
              <a:rPr lang="fr-FR" sz="1400" dirty="0" err="1">
                <a:latin typeface="Arial" pitchFamily="34" charset="0"/>
              </a:rPr>
              <a:t>certificirano</a:t>
            </a:r>
            <a:r>
              <a:rPr lang="fr-FR" sz="1400" dirty="0">
                <a:latin typeface="Arial" pitchFamily="34" charset="0"/>
              </a:rPr>
              <a:t> v </a:t>
            </a:r>
            <a:r>
              <a:rPr lang="fr-FR" sz="1400" dirty="0" err="1">
                <a:latin typeface="Arial" pitchFamily="34" charset="0"/>
              </a:rPr>
              <a:t>skladu</a:t>
            </a:r>
            <a:r>
              <a:rPr lang="fr-FR" sz="1400" dirty="0">
                <a:latin typeface="Arial" pitchFamily="34" charset="0"/>
              </a:rPr>
              <a:t> s </a:t>
            </a:r>
            <a:r>
              <a:rPr lang="fr-FR" sz="1400" dirty="0" err="1">
                <a:latin typeface="Arial" pitchFamily="34" charset="0"/>
              </a:rPr>
              <a:t>pravili</a:t>
            </a:r>
            <a:r>
              <a:rPr lang="fr-FR" sz="1400" dirty="0">
                <a:latin typeface="Arial" pitchFamily="34" charset="0"/>
              </a:rPr>
              <a:t> </a:t>
            </a:r>
            <a:r>
              <a:rPr lang="fr-FR" sz="1400" b="1" dirty="0">
                <a:latin typeface="Arial" pitchFamily="34" charset="0"/>
              </a:rPr>
              <a:t>ECQA – </a:t>
            </a:r>
            <a:r>
              <a:rPr lang="fr-FR" sz="1400" b="1" dirty="0" err="1">
                <a:latin typeface="Arial" pitchFamily="34" charset="0"/>
              </a:rPr>
              <a:t>Evropskega</a:t>
            </a:r>
            <a:r>
              <a:rPr lang="fr-FR" sz="1400" b="1" dirty="0">
                <a:latin typeface="Arial" pitchFamily="34" charset="0"/>
              </a:rPr>
              <a:t> </a:t>
            </a:r>
            <a:r>
              <a:rPr lang="fr-FR" sz="1400" b="1" dirty="0" err="1">
                <a:latin typeface="Arial" pitchFamily="34" charset="0"/>
              </a:rPr>
              <a:t>združenja</a:t>
            </a:r>
            <a:r>
              <a:rPr lang="fr-FR" sz="1400" b="1" dirty="0">
                <a:latin typeface="Arial" pitchFamily="34" charset="0"/>
              </a:rPr>
              <a:t> </a:t>
            </a:r>
            <a:r>
              <a:rPr lang="fr-FR" sz="1400" b="1" dirty="0" err="1">
                <a:latin typeface="Arial" pitchFamily="34" charset="0"/>
              </a:rPr>
              <a:t>za</a:t>
            </a:r>
            <a:r>
              <a:rPr lang="fr-FR" sz="1400" b="1" dirty="0">
                <a:latin typeface="Arial" pitchFamily="34" charset="0"/>
              </a:rPr>
              <a:t> </a:t>
            </a:r>
            <a:r>
              <a:rPr lang="fr-FR" sz="1400" b="1" dirty="0" err="1">
                <a:latin typeface="Arial" pitchFamily="34" charset="0"/>
              </a:rPr>
              <a:t>certificiranje</a:t>
            </a:r>
            <a:r>
              <a:rPr lang="fr-FR" sz="1400" b="1" dirty="0">
                <a:latin typeface="Arial" pitchFamily="34" charset="0"/>
              </a:rPr>
              <a:t> in </a:t>
            </a:r>
            <a:r>
              <a:rPr lang="fr-FR" sz="1400" b="1" dirty="0" err="1">
                <a:latin typeface="Arial" pitchFamily="34" charset="0"/>
              </a:rPr>
              <a:t>kvalificiranje</a:t>
            </a:r>
            <a:r>
              <a:rPr lang="fr-FR" sz="1400" dirty="0">
                <a:latin typeface="Arial" pitchFamily="34" charset="0"/>
              </a:rPr>
              <a:t>.</a:t>
            </a:r>
          </a:p>
          <a:p>
            <a:pPr>
              <a:spcBef>
                <a:spcPts val="0"/>
              </a:spcBef>
            </a:pPr>
            <a:endParaRPr lang="fr-FR" sz="1400" b="1" dirty="0">
              <a:latin typeface="Arial" pitchFamily="34" charset="0"/>
              <a:cs typeface="Arial" pitchFamily="34" charset="0"/>
            </a:endParaRPr>
          </a:p>
          <a:p>
            <a:pPr>
              <a:spcBef>
                <a:spcPts val="0"/>
              </a:spcBef>
            </a:pPr>
            <a:r>
              <a:rPr lang="fr-FR" sz="1400" dirty="0" err="1">
                <a:latin typeface="Arial" pitchFamily="34" charset="0"/>
              </a:rPr>
              <a:t>Učno</a:t>
            </a:r>
            <a:r>
              <a:rPr lang="fr-FR" sz="1400" dirty="0">
                <a:latin typeface="Arial" pitchFamily="34" charset="0"/>
              </a:rPr>
              <a:t> </a:t>
            </a:r>
            <a:r>
              <a:rPr lang="fr-FR" sz="1400" dirty="0" err="1">
                <a:latin typeface="Arial" pitchFamily="34" charset="0"/>
              </a:rPr>
              <a:t>gradivo</a:t>
            </a:r>
            <a:r>
              <a:rPr lang="fr-FR" sz="1400" dirty="0">
                <a:latin typeface="Arial" pitchFamily="34" charset="0"/>
              </a:rPr>
              <a:t> je </a:t>
            </a:r>
            <a:r>
              <a:rPr lang="fr-FR" sz="1400" dirty="0" err="1">
                <a:latin typeface="Arial" pitchFamily="34" charset="0"/>
              </a:rPr>
              <a:t>bilo</a:t>
            </a:r>
            <a:r>
              <a:rPr lang="fr-FR" sz="1400" dirty="0">
                <a:latin typeface="Arial" pitchFamily="34" charset="0"/>
              </a:rPr>
              <a:t> </a:t>
            </a:r>
            <a:r>
              <a:rPr lang="fr-FR" sz="1400" dirty="0" err="1">
                <a:latin typeface="Arial" pitchFamily="34" charset="0"/>
              </a:rPr>
              <a:t>usklajeno</a:t>
            </a:r>
            <a:r>
              <a:rPr lang="fr-FR" sz="1400" dirty="0">
                <a:latin typeface="Arial" pitchFamily="34" charset="0"/>
              </a:rPr>
              <a:t> </a:t>
            </a:r>
            <a:r>
              <a:rPr lang="fr-FR" sz="1400" dirty="0" err="1">
                <a:latin typeface="Arial" pitchFamily="34" charset="0"/>
              </a:rPr>
              <a:t>med</a:t>
            </a:r>
            <a:r>
              <a:rPr lang="fr-FR" sz="1400" dirty="0">
                <a:latin typeface="Arial" pitchFamily="34" charset="0"/>
              </a:rPr>
              <a:t> </a:t>
            </a:r>
            <a:r>
              <a:rPr lang="fr-FR" sz="1400" dirty="0" err="1">
                <a:latin typeface="Arial" pitchFamily="34" charset="0"/>
              </a:rPr>
              <a:t>univerzami</a:t>
            </a:r>
            <a:r>
              <a:rPr lang="fr-FR" sz="1400" dirty="0">
                <a:latin typeface="Arial" pitchFamily="34" charset="0"/>
              </a:rPr>
              <a:t> in  </a:t>
            </a:r>
            <a:r>
              <a:rPr lang="fr-FR" sz="1400" dirty="0" err="1">
                <a:latin typeface="Arial" pitchFamily="34" charset="0"/>
              </a:rPr>
              <a:t>industrijo</a:t>
            </a:r>
            <a:r>
              <a:rPr lang="fr-FR" sz="1400" dirty="0">
                <a:latin typeface="Arial" pitchFamily="34" charset="0"/>
              </a:rPr>
              <a:t> v </a:t>
            </a:r>
            <a:r>
              <a:rPr lang="fr-FR" sz="1400" dirty="0" err="1">
                <a:latin typeface="Arial" pitchFamily="34" charset="0"/>
              </a:rPr>
              <a:t>okviru</a:t>
            </a:r>
            <a:r>
              <a:rPr lang="fr-FR" sz="1400" dirty="0">
                <a:latin typeface="Arial" pitchFamily="34" charset="0"/>
              </a:rPr>
              <a:t> </a:t>
            </a:r>
            <a:r>
              <a:rPr lang="fr-FR" sz="1400" dirty="0" err="1">
                <a:latin typeface="Arial" pitchFamily="34" charset="0"/>
              </a:rPr>
              <a:t>mednarodnega</a:t>
            </a:r>
            <a:r>
              <a:rPr lang="fr-FR" sz="1400" dirty="0">
                <a:latin typeface="Arial" pitchFamily="34" charset="0"/>
              </a:rPr>
              <a:t> </a:t>
            </a:r>
            <a:r>
              <a:rPr lang="fr-FR" sz="1400" dirty="0" err="1">
                <a:latin typeface="Arial" pitchFamily="34" charset="0"/>
              </a:rPr>
              <a:t>konzorcija</a:t>
            </a:r>
            <a:r>
              <a:rPr lang="fr-FR" sz="1400" dirty="0">
                <a:latin typeface="Arial" pitchFamily="34" charset="0"/>
              </a:rPr>
              <a:t> </a:t>
            </a:r>
            <a:r>
              <a:rPr lang="fr-FR" sz="1400" dirty="0" err="1">
                <a:latin typeface="Arial" pitchFamily="34" charset="0"/>
              </a:rPr>
              <a:t>projekta</a:t>
            </a:r>
            <a:r>
              <a:rPr lang="fr-FR" sz="1400" dirty="0">
                <a:latin typeface="Arial" pitchFamily="34" charset="0"/>
              </a:rPr>
              <a:t> </a:t>
            </a:r>
            <a:br>
              <a:rPr lang="fr-FR" sz="1400" dirty="0"/>
            </a:br>
            <a:r>
              <a:rPr lang="fr-FR" sz="1400" b="1" dirty="0">
                <a:latin typeface="Arial" pitchFamily="34" charset="0"/>
              </a:rPr>
              <a:t>“</a:t>
            </a:r>
            <a:r>
              <a:rPr lang="fr-FR" sz="1400" b="1" dirty="0">
                <a:solidFill>
                  <a:srgbClr val="000099"/>
                </a:solidFill>
                <a:latin typeface="Tw Cen MT" pitchFamily="34" charset="0"/>
              </a:rPr>
              <a:t>Automotive </a:t>
            </a:r>
            <a:r>
              <a:rPr lang="fr-FR" sz="1400" b="1" dirty="0" err="1">
                <a:solidFill>
                  <a:srgbClr val="000099"/>
                </a:solidFill>
                <a:latin typeface="Tw Cen MT" pitchFamily="34" charset="0"/>
              </a:rPr>
              <a:t>Quality</a:t>
            </a:r>
            <a:r>
              <a:rPr lang="fr-FR" sz="1400" b="1" dirty="0">
                <a:solidFill>
                  <a:srgbClr val="000099"/>
                </a:solidFill>
                <a:latin typeface="Tw Cen MT" pitchFamily="34" charset="0"/>
              </a:rPr>
              <a:t> </a:t>
            </a:r>
            <a:r>
              <a:rPr lang="fr-FR" sz="1400" b="1" dirty="0" err="1">
                <a:solidFill>
                  <a:srgbClr val="000099"/>
                </a:solidFill>
                <a:latin typeface="Tw Cen MT" pitchFamily="34" charset="0"/>
              </a:rPr>
              <a:t>Universities</a:t>
            </a:r>
            <a:r>
              <a:rPr lang="fr-FR" sz="1400" b="1" dirty="0">
                <a:solidFill>
                  <a:srgbClr val="000099"/>
                </a:solidFill>
                <a:latin typeface="Tw Cen MT" pitchFamily="34" charset="0"/>
              </a:rPr>
              <a:t> – </a:t>
            </a:r>
            <a:r>
              <a:rPr lang="fr-FR" sz="1400" b="1" dirty="0" err="1">
                <a:solidFill>
                  <a:srgbClr val="000099"/>
                </a:solidFill>
                <a:latin typeface="Tw Cen MT" pitchFamily="34" charset="0"/>
              </a:rPr>
              <a:t>AutoUniverse</a:t>
            </a:r>
            <a:r>
              <a:rPr lang="fr-FR" sz="1400" b="1" dirty="0">
                <a:solidFill>
                  <a:srgbClr val="000099"/>
                </a:solidFill>
                <a:latin typeface="Tw Cen MT" pitchFamily="34" charset="0"/>
              </a:rPr>
              <a:t> (AQU)</a:t>
            </a:r>
            <a:r>
              <a:rPr lang="fr-FR" sz="1400" b="1" dirty="0">
                <a:latin typeface="Arial" pitchFamily="34" charset="0"/>
              </a:rPr>
              <a:t>”:</a:t>
            </a:r>
          </a:p>
          <a:p>
            <a:pPr>
              <a:spcBef>
                <a:spcPts val="0"/>
              </a:spcBef>
            </a:pPr>
            <a:endParaRPr lang="fr-FR" sz="1400" dirty="0">
              <a:latin typeface="Arial" pitchFamily="34" charset="0"/>
              <a:cs typeface="Arial" pitchFamily="34" charset="0"/>
            </a:endParaRPr>
          </a:p>
          <a:p>
            <a:pPr>
              <a:spcBef>
                <a:spcPts val="0"/>
              </a:spcBef>
            </a:pPr>
            <a:r>
              <a:rPr lang="fr-FR" sz="1400" b="1" dirty="0">
                <a:latin typeface="Arial" pitchFamily="34" charset="0"/>
                <a:cs typeface="Arial" pitchFamily="34" charset="0"/>
              </a:rPr>
              <a:t>VSB – </a:t>
            </a:r>
            <a:r>
              <a:rPr lang="fr-FR" sz="1400" b="1" dirty="0" err="1">
                <a:latin typeface="Arial" pitchFamily="34" charset="0"/>
                <a:cs typeface="Arial" pitchFamily="34" charset="0"/>
              </a:rPr>
              <a:t>Technical</a:t>
            </a:r>
            <a:r>
              <a:rPr lang="fr-FR" sz="1400" b="1" dirty="0">
                <a:latin typeface="Arial" pitchFamily="34" charset="0"/>
                <a:cs typeface="Arial" pitchFamily="34" charset="0"/>
              </a:rPr>
              <a:t> </a:t>
            </a:r>
            <a:r>
              <a:rPr lang="fr-FR" sz="1400" b="1" dirty="0" err="1">
                <a:latin typeface="Arial" pitchFamily="34" charset="0"/>
                <a:cs typeface="Arial" pitchFamily="34" charset="0"/>
              </a:rPr>
              <a:t>University</a:t>
            </a:r>
            <a:r>
              <a:rPr lang="fr-FR" sz="1400" b="1" dirty="0">
                <a:latin typeface="Arial" pitchFamily="34" charset="0"/>
                <a:cs typeface="Arial" pitchFamily="34" charset="0"/>
              </a:rPr>
              <a:t> of Ostrava</a:t>
            </a:r>
            <a:r>
              <a:rPr lang="fr-FR" sz="1400" dirty="0">
                <a:latin typeface="Arial" pitchFamily="34" charset="0"/>
                <a:cs typeface="Arial" pitchFamily="34" charset="0"/>
              </a:rPr>
              <a:t>, </a:t>
            </a:r>
            <a:r>
              <a:rPr lang="fr-FR" sz="1400" dirty="0" err="1">
                <a:latin typeface="Arial" pitchFamily="34" charset="0"/>
                <a:cs typeface="Arial" pitchFamily="34" charset="0"/>
              </a:rPr>
              <a:t>Faculty</a:t>
            </a:r>
            <a:r>
              <a:rPr lang="fr-FR" sz="1400" dirty="0">
                <a:latin typeface="Arial" pitchFamily="34" charset="0"/>
                <a:cs typeface="Arial" pitchFamily="34" charset="0"/>
              </a:rPr>
              <a:t> of </a:t>
            </a:r>
            <a:r>
              <a:rPr lang="fr-FR" sz="1400" dirty="0" err="1">
                <a:latin typeface="Arial" pitchFamily="34" charset="0"/>
                <a:cs typeface="Arial" pitchFamily="34" charset="0"/>
              </a:rPr>
              <a:t>Electrical</a:t>
            </a:r>
            <a:r>
              <a:rPr lang="fr-FR" sz="1400" dirty="0">
                <a:latin typeface="Arial" pitchFamily="34" charset="0"/>
                <a:cs typeface="Arial" pitchFamily="34" charset="0"/>
              </a:rPr>
              <a:t> Engineering and Computer Science, </a:t>
            </a:r>
            <a:r>
              <a:rPr lang="fr-FR" sz="1400" dirty="0" err="1">
                <a:latin typeface="Arial" pitchFamily="34" charset="0"/>
                <a:cs typeface="Arial" pitchFamily="34" charset="0"/>
              </a:rPr>
              <a:t>Češka</a:t>
            </a:r>
            <a:r>
              <a:rPr lang="fr-FR" sz="1400" dirty="0">
                <a:latin typeface="Arial" pitchFamily="34" charset="0"/>
                <a:cs typeface="Arial" pitchFamily="34" charset="0"/>
              </a:rPr>
              <a:t>, www.fei.vsb.cz/en</a:t>
            </a:r>
          </a:p>
          <a:p>
            <a:pPr>
              <a:spcBef>
                <a:spcPts val="0"/>
              </a:spcBef>
            </a:pPr>
            <a:r>
              <a:rPr lang="fr-FR" sz="1400" b="1" dirty="0">
                <a:latin typeface="Arial" pitchFamily="34" charset="0"/>
                <a:cs typeface="Arial" pitchFamily="34" charset="0"/>
              </a:rPr>
              <a:t>Graz </a:t>
            </a:r>
            <a:r>
              <a:rPr lang="fr-FR" sz="1400" b="1" dirty="0" err="1">
                <a:latin typeface="Arial" pitchFamily="34" charset="0"/>
                <a:cs typeface="Arial" pitchFamily="34" charset="0"/>
              </a:rPr>
              <a:t>University</a:t>
            </a:r>
            <a:r>
              <a:rPr lang="fr-FR" sz="1400" b="1" dirty="0">
                <a:latin typeface="Arial" pitchFamily="34" charset="0"/>
                <a:cs typeface="Arial" pitchFamily="34" charset="0"/>
              </a:rPr>
              <a:t> of </a:t>
            </a:r>
            <a:r>
              <a:rPr lang="fr-FR" sz="1400" b="1" dirty="0" err="1">
                <a:latin typeface="Arial" pitchFamily="34" charset="0"/>
                <a:cs typeface="Arial" pitchFamily="34" charset="0"/>
              </a:rPr>
              <a:t>Technology</a:t>
            </a:r>
            <a:r>
              <a:rPr lang="fr-FR" sz="1400" dirty="0">
                <a:latin typeface="Arial" pitchFamily="34" charset="0"/>
                <a:cs typeface="Arial" pitchFamily="34" charset="0"/>
              </a:rPr>
              <a:t>, Institute for </a:t>
            </a:r>
            <a:r>
              <a:rPr lang="fr-FR" sz="1400" dirty="0" err="1">
                <a:latin typeface="Arial" pitchFamily="34" charset="0"/>
                <a:cs typeface="Arial" pitchFamily="34" charset="0"/>
              </a:rPr>
              <a:t>Technical</a:t>
            </a:r>
            <a:r>
              <a:rPr lang="fr-FR" sz="1400" dirty="0">
                <a:latin typeface="Arial" pitchFamily="34" charset="0"/>
                <a:cs typeface="Arial" pitchFamily="34" charset="0"/>
              </a:rPr>
              <a:t> </a:t>
            </a:r>
            <a:r>
              <a:rPr lang="fr-FR" sz="1400" dirty="0" err="1">
                <a:latin typeface="Arial" pitchFamily="34" charset="0"/>
                <a:cs typeface="Arial" pitchFamily="34" charset="0"/>
              </a:rPr>
              <a:t>Informatics</a:t>
            </a:r>
            <a:r>
              <a:rPr lang="fr-FR" sz="1400" dirty="0">
                <a:latin typeface="Arial" pitchFamily="34" charset="0"/>
                <a:cs typeface="Arial" pitchFamily="34" charset="0"/>
              </a:rPr>
              <a:t>, </a:t>
            </a:r>
            <a:r>
              <a:rPr lang="fr-FR" sz="1400" dirty="0" err="1">
                <a:latin typeface="Arial" pitchFamily="34" charset="0"/>
                <a:cs typeface="Arial" pitchFamily="34" charset="0"/>
              </a:rPr>
              <a:t>Avstrija</a:t>
            </a:r>
            <a:r>
              <a:rPr lang="fr-FR" sz="1400" dirty="0">
                <a:latin typeface="Arial" pitchFamily="34" charset="0"/>
                <a:cs typeface="Arial" pitchFamily="34" charset="0"/>
              </a:rPr>
              <a:t>, www.iti.tugraz.at</a:t>
            </a:r>
          </a:p>
          <a:p>
            <a:pPr defTabSz="990478">
              <a:spcBef>
                <a:spcPts val="0"/>
              </a:spcBef>
              <a:defRPr/>
            </a:pPr>
            <a:r>
              <a:rPr lang="fr-FR" sz="1400" b="1" dirty="0" err="1"/>
              <a:t>University</a:t>
            </a:r>
            <a:r>
              <a:rPr lang="fr-FR" sz="1400" b="1" dirty="0"/>
              <a:t> of </a:t>
            </a:r>
            <a:r>
              <a:rPr lang="fr-FR" sz="1400" b="1" dirty="0" err="1"/>
              <a:t>Applied</a:t>
            </a:r>
            <a:r>
              <a:rPr lang="fr-FR" sz="1400" b="1" dirty="0"/>
              <a:t> Sciences </a:t>
            </a:r>
            <a:r>
              <a:rPr lang="fr-FR" sz="1400" b="1" dirty="0">
                <a:latin typeface="Arial" pitchFamily="34" charset="0"/>
                <a:cs typeface="Arial" pitchFamily="34" charset="0"/>
              </a:rPr>
              <a:t>JOANNEUM</a:t>
            </a:r>
            <a:r>
              <a:rPr lang="fr-FR" sz="1400" b="1" dirty="0"/>
              <a:t>, </a:t>
            </a:r>
            <a:r>
              <a:rPr lang="fr-FR" sz="1400" dirty="0"/>
              <a:t>Institute for Automotive Engineering, Graz, </a:t>
            </a:r>
            <a:r>
              <a:rPr lang="fr-FR" sz="1400" dirty="0" err="1">
                <a:latin typeface="Arial" pitchFamily="34" charset="0"/>
                <a:cs typeface="Arial" pitchFamily="34" charset="0"/>
              </a:rPr>
              <a:t>Avstrija</a:t>
            </a:r>
            <a:r>
              <a:rPr lang="fr-FR" sz="1400" dirty="0"/>
              <a:t>, https://www.fh-joanneum.at/en/institut/automotive-engineering/</a:t>
            </a:r>
          </a:p>
          <a:p>
            <a:pPr defTabSz="990478">
              <a:spcBef>
                <a:spcPts val="0"/>
              </a:spcBef>
              <a:defRPr/>
            </a:pPr>
            <a:r>
              <a:rPr lang="fr-FR" sz="1400" b="1" dirty="0" err="1">
                <a:latin typeface="Arial" pitchFamily="34" charset="0"/>
                <a:cs typeface="Arial" pitchFamily="34" charset="0"/>
              </a:rPr>
              <a:t>EMIRAcle</a:t>
            </a:r>
            <a:r>
              <a:rPr lang="fr-FR" sz="1400" b="1" dirty="0">
                <a:latin typeface="Arial" pitchFamily="34" charset="0"/>
                <a:cs typeface="Arial" pitchFamily="34" charset="0"/>
              </a:rPr>
              <a:t> – </a:t>
            </a:r>
            <a:r>
              <a:rPr lang="fr-FR" sz="1400" b="1" dirty="0" err="1">
                <a:latin typeface="Arial" pitchFamily="34" charset="0"/>
                <a:cs typeface="Arial" pitchFamily="34" charset="0"/>
              </a:rPr>
              <a:t>European</a:t>
            </a:r>
            <a:r>
              <a:rPr lang="fr-FR" sz="1400" b="1" dirty="0">
                <a:latin typeface="Arial" pitchFamily="34" charset="0"/>
                <a:cs typeface="Arial" pitchFamily="34" charset="0"/>
              </a:rPr>
              <a:t> </a:t>
            </a:r>
            <a:r>
              <a:rPr lang="fr-FR" sz="1400" b="1" dirty="0" err="1">
                <a:latin typeface="Arial" pitchFamily="34" charset="0"/>
                <a:cs typeface="Arial" pitchFamily="34" charset="0"/>
              </a:rPr>
              <a:t>Manufacturing</a:t>
            </a:r>
            <a:r>
              <a:rPr lang="fr-FR" sz="1400" b="1" dirty="0">
                <a:latin typeface="Arial" pitchFamily="34" charset="0"/>
                <a:cs typeface="Arial" pitchFamily="34" charset="0"/>
              </a:rPr>
              <a:t> and Innovation </a:t>
            </a:r>
            <a:r>
              <a:rPr lang="fr-FR" sz="1400" b="1" dirty="0" err="1">
                <a:latin typeface="Arial" pitchFamily="34" charset="0"/>
                <a:cs typeface="Arial" pitchFamily="34" charset="0"/>
              </a:rPr>
              <a:t>Research</a:t>
            </a:r>
            <a:r>
              <a:rPr lang="fr-FR" sz="1400" b="1" dirty="0">
                <a:latin typeface="Arial" pitchFamily="34" charset="0"/>
                <a:cs typeface="Arial" pitchFamily="34" charset="0"/>
              </a:rPr>
              <a:t> Association</a:t>
            </a:r>
            <a:r>
              <a:rPr lang="fr-FR" sz="1400" dirty="0">
                <a:latin typeface="Arial" pitchFamily="34" charset="0"/>
                <a:cs typeface="Arial" pitchFamily="34" charset="0"/>
              </a:rPr>
              <a:t>, </a:t>
            </a:r>
            <a:r>
              <a:rPr lang="fr-FR" sz="1400" dirty="0" err="1">
                <a:latin typeface="Arial" pitchFamily="34" charset="0"/>
                <a:cs typeface="Arial" pitchFamily="34" charset="0"/>
              </a:rPr>
              <a:t>Belgija</a:t>
            </a:r>
            <a:r>
              <a:rPr lang="fr-FR" sz="1400" dirty="0">
                <a:latin typeface="Arial" pitchFamily="34" charset="0"/>
                <a:cs typeface="Arial" pitchFamily="34" charset="0"/>
              </a:rPr>
              <a:t>, http://www.emiracle.eu/</a:t>
            </a:r>
          </a:p>
          <a:p>
            <a:pPr defTabSz="990478">
              <a:spcBef>
                <a:spcPts val="0"/>
              </a:spcBef>
              <a:defRPr/>
            </a:pPr>
            <a:r>
              <a:rPr lang="fr-FR" sz="1400" b="1" dirty="0" err="1"/>
              <a:t>Univerza</a:t>
            </a:r>
            <a:r>
              <a:rPr lang="fr-FR" sz="1400" b="1" dirty="0"/>
              <a:t> v </a:t>
            </a:r>
            <a:r>
              <a:rPr lang="fr-FR" sz="1400" b="1" dirty="0" err="1"/>
              <a:t>Mariboru</a:t>
            </a:r>
            <a:r>
              <a:rPr lang="fr-FR" sz="1400" b="1" dirty="0"/>
              <a:t>,</a:t>
            </a:r>
            <a:r>
              <a:rPr lang="fr-FR" sz="1400" dirty="0"/>
              <a:t> </a:t>
            </a:r>
            <a:r>
              <a:rPr lang="fr-FR" sz="1400" dirty="0" err="1"/>
              <a:t>Fakulteta</a:t>
            </a:r>
            <a:r>
              <a:rPr lang="fr-FR" sz="1400" dirty="0"/>
              <a:t> </a:t>
            </a:r>
            <a:r>
              <a:rPr lang="fr-FR" sz="1400" dirty="0" err="1"/>
              <a:t>za</a:t>
            </a:r>
            <a:r>
              <a:rPr lang="fr-FR" sz="1400" dirty="0"/>
              <a:t> </a:t>
            </a:r>
            <a:r>
              <a:rPr lang="fr-FR" sz="1400" dirty="0" err="1"/>
              <a:t>elektrotehniko</a:t>
            </a:r>
            <a:r>
              <a:rPr lang="fr-FR" sz="1400" dirty="0"/>
              <a:t>, </a:t>
            </a:r>
            <a:r>
              <a:rPr lang="fr-FR" sz="1400" dirty="0" err="1"/>
              <a:t>računalništvo</a:t>
            </a:r>
            <a:r>
              <a:rPr lang="fr-FR" sz="1400" dirty="0"/>
              <a:t> in </a:t>
            </a:r>
            <a:r>
              <a:rPr lang="fr-FR" sz="1400" dirty="0" err="1"/>
              <a:t>informatiko</a:t>
            </a:r>
            <a:r>
              <a:rPr lang="fr-FR" sz="1400" dirty="0"/>
              <a:t>, Slovenija, https://feri.um.si/</a:t>
            </a:r>
            <a:endParaRPr lang="fr-FR" sz="1400" dirty="0">
              <a:latin typeface="Arial" pitchFamily="34" charset="0"/>
              <a:cs typeface="Arial" pitchFamily="34" charset="0"/>
            </a:endParaRPr>
          </a:p>
          <a:p>
            <a:pPr>
              <a:spcBef>
                <a:spcPts val="0"/>
              </a:spcBef>
            </a:pPr>
            <a:r>
              <a:rPr lang="fr-FR" sz="1400" b="1" dirty="0">
                <a:latin typeface="Arial" pitchFamily="34" charset="0"/>
                <a:cs typeface="Arial" pitchFamily="34" charset="0"/>
              </a:rPr>
              <a:t>ISCN Ltd./</a:t>
            </a:r>
            <a:r>
              <a:rPr lang="fr-FR" sz="1400" b="1" dirty="0" err="1">
                <a:latin typeface="Arial" pitchFamily="34" charset="0"/>
                <a:cs typeface="Arial" pitchFamily="34" charset="0"/>
              </a:rPr>
              <a:t>Ges.m.b.H</a:t>
            </a:r>
            <a:r>
              <a:rPr lang="fr-FR" sz="1400" dirty="0">
                <a:latin typeface="Arial" pitchFamily="34" charset="0"/>
                <a:cs typeface="Arial" pitchFamily="34" charset="0"/>
              </a:rPr>
              <a:t>, </a:t>
            </a:r>
            <a:r>
              <a:rPr lang="fr-FR" sz="1400" dirty="0" err="1">
                <a:latin typeface="Arial" pitchFamily="34" charset="0"/>
                <a:cs typeface="Arial" pitchFamily="34" charset="0"/>
              </a:rPr>
              <a:t>Irska</a:t>
            </a:r>
            <a:r>
              <a:rPr lang="fr-FR" sz="1400" dirty="0">
                <a:latin typeface="Arial" pitchFamily="34" charset="0"/>
                <a:cs typeface="Arial" pitchFamily="34" charset="0"/>
              </a:rPr>
              <a:t>/</a:t>
            </a:r>
            <a:r>
              <a:rPr lang="fr-FR" sz="1400" dirty="0" err="1">
                <a:latin typeface="Arial" pitchFamily="34" charset="0"/>
                <a:cs typeface="Arial" pitchFamily="34" charset="0"/>
              </a:rPr>
              <a:t>Avstrija</a:t>
            </a:r>
            <a:r>
              <a:rPr lang="fr-FR" sz="1400" dirty="0">
                <a:latin typeface="Arial" pitchFamily="34" charset="0"/>
                <a:cs typeface="Arial" pitchFamily="34" charset="0"/>
              </a:rPr>
              <a:t>, www.iscn.com</a:t>
            </a:r>
          </a:p>
          <a:p>
            <a:pPr>
              <a:spcBef>
                <a:spcPts val="0"/>
              </a:spcBef>
            </a:pPr>
            <a:r>
              <a:rPr lang="fr-FR" sz="1400" b="1" dirty="0">
                <a:latin typeface="Arial" pitchFamily="34" charset="0"/>
                <a:cs typeface="Arial" pitchFamily="34" charset="0"/>
              </a:rPr>
              <a:t>ECQA – </a:t>
            </a:r>
            <a:r>
              <a:rPr lang="fr-FR" sz="1400" b="1" dirty="0" err="1">
                <a:latin typeface="Arial" pitchFamily="34" charset="0"/>
                <a:cs typeface="Arial" pitchFamily="34" charset="0"/>
              </a:rPr>
              <a:t>European</a:t>
            </a:r>
            <a:r>
              <a:rPr lang="fr-FR" sz="1400" b="1" dirty="0">
                <a:latin typeface="Arial" pitchFamily="34" charset="0"/>
                <a:cs typeface="Arial" pitchFamily="34" charset="0"/>
              </a:rPr>
              <a:t> Certification and Qualification Association</a:t>
            </a:r>
            <a:r>
              <a:rPr lang="fr-FR" sz="1400" dirty="0">
                <a:latin typeface="Arial" pitchFamily="34" charset="0"/>
                <a:cs typeface="Arial" pitchFamily="34" charset="0"/>
              </a:rPr>
              <a:t>, </a:t>
            </a:r>
            <a:r>
              <a:rPr lang="fr-FR" sz="1400" dirty="0" err="1">
                <a:latin typeface="Arial" pitchFamily="34" charset="0"/>
                <a:cs typeface="Arial" pitchFamily="34" charset="0"/>
              </a:rPr>
              <a:t>Avstrija</a:t>
            </a:r>
            <a:r>
              <a:rPr lang="fr-FR" sz="1400" dirty="0">
                <a:latin typeface="Arial" pitchFamily="34" charset="0"/>
                <a:cs typeface="Arial" pitchFamily="34" charset="0"/>
              </a:rPr>
              <a:t>, www.ecqa.org</a:t>
            </a:r>
          </a:p>
          <a:p>
            <a:pPr>
              <a:lnSpc>
                <a:spcPct val="80000"/>
              </a:lnSpc>
            </a:pPr>
            <a:endParaRPr lang="fr-FR" sz="1400" dirty="0">
              <a:latin typeface="Arial" pitchFamily="34" charset="0"/>
              <a:cs typeface="Arial" pitchFamily="34" charset="0"/>
            </a:endParaRPr>
          </a:p>
          <a:p>
            <a:pPr>
              <a:spcBef>
                <a:spcPts val="0"/>
              </a:spcBef>
            </a:pPr>
            <a:r>
              <a:rPr lang="fr-FR" sz="1400" dirty="0">
                <a:latin typeface="Arial" pitchFamily="34" charset="0"/>
              </a:rPr>
              <a:t>Ta </a:t>
            </a:r>
            <a:r>
              <a:rPr lang="fr-FR" sz="1400" dirty="0" err="1">
                <a:latin typeface="Arial" pitchFamily="34" charset="0"/>
              </a:rPr>
              <a:t>projekt</a:t>
            </a:r>
            <a:r>
              <a:rPr lang="fr-FR" sz="1400" dirty="0">
                <a:latin typeface="Arial" pitchFamily="34" charset="0"/>
              </a:rPr>
              <a:t> je </a:t>
            </a:r>
            <a:r>
              <a:rPr lang="fr-FR" sz="1400" dirty="0" err="1">
                <a:latin typeface="Arial" pitchFamily="34" charset="0"/>
              </a:rPr>
              <a:t>bil</a:t>
            </a:r>
            <a:r>
              <a:rPr lang="fr-FR" sz="1400" dirty="0">
                <a:latin typeface="Arial" pitchFamily="34" charset="0"/>
              </a:rPr>
              <a:t> </a:t>
            </a:r>
            <a:r>
              <a:rPr lang="fr-FR" sz="1400" dirty="0" err="1">
                <a:latin typeface="Arial" pitchFamily="34" charset="0"/>
              </a:rPr>
              <a:t>financiran</a:t>
            </a:r>
            <a:r>
              <a:rPr lang="fr-FR" sz="1400" dirty="0">
                <a:latin typeface="Arial" pitchFamily="34" charset="0"/>
              </a:rPr>
              <a:t> s </a:t>
            </a:r>
            <a:r>
              <a:rPr lang="fr-FR" sz="1400" dirty="0" err="1">
                <a:latin typeface="Arial" pitchFamily="34" charset="0"/>
              </a:rPr>
              <a:t>podporo</a:t>
            </a:r>
            <a:r>
              <a:rPr lang="fr-FR" sz="1400" dirty="0">
                <a:latin typeface="Arial" pitchFamily="34" charset="0"/>
              </a:rPr>
              <a:t> </a:t>
            </a:r>
            <a:r>
              <a:rPr lang="fr-FR" sz="1400" dirty="0" err="1">
                <a:latin typeface="Arial" pitchFamily="34" charset="0"/>
              </a:rPr>
              <a:t>programa</a:t>
            </a:r>
            <a:r>
              <a:rPr lang="fr-FR" sz="1400" dirty="0">
                <a:latin typeface="Arial" pitchFamily="34" charset="0"/>
              </a:rPr>
              <a:t> </a:t>
            </a:r>
            <a:r>
              <a:rPr lang="fr-FR" sz="1400" dirty="0"/>
              <a:t>Erasmus+</a:t>
            </a:r>
            <a:r>
              <a:rPr lang="fr-FR" sz="1400" dirty="0">
                <a:latin typeface="Arial" pitchFamily="34" charset="0"/>
              </a:rPr>
              <a:t> </a:t>
            </a:r>
            <a:r>
              <a:rPr lang="fr-FR" sz="1400" dirty="0" err="1">
                <a:latin typeface="Arial" pitchFamily="34" charset="0"/>
              </a:rPr>
              <a:t>Evropske</a:t>
            </a:r>
            <a:r>
              <a:rPr lang="fr-FR" sz="1400" dirty="0">
                <a:latin typeface="Arial" pitchFamily="34" charset="0"/>
              </a:rPr>
              <a:t> </a:t>
            </a:r>
            <a:r>
              <a:rPr lang="fr-FR" sz="1400" dirty="0" err="1">
                <a:latin typeface="Arial" pitchFamily="34" charset="0"/>
              </a:rPr>
              <a:t>komisije</a:t>
            </a:r>
            <a:r>
              <a:rPr lang="fr-FR" sz="1400" dirty="0">
                <a:latin typeface="Arial" pitchFamily="34" charset="0"/>
              </a:rPr>
              <a:t> po </a:t>
            </a:r>
            <a:r>
              <a:rPr lang="fr-FR" sz="1400" dirty="0" err="1">
                <a:latin typeface="Arial" pitchFamily="34" charset="0"/>
              </a:rPr>
              <a:t>pogodbi</a:t>
            </a:r>
            <a:r>
              <a:rPr lang="fr-FR" sz="1400" dirty="0">
                <a:latin typeface="Arial" pitchFamily="34" charset="0"/>
              </a:rPr>
              <a:t> </a:t>
            </a:r>
            <a:r>
              <a:rPr lang="fr-FR" sz="1400" dirty="0"/>
              <a:t>2015-1-CZ01-KA203-013986 - 2015 – 2017</a:t>
            </a:r>
            <a:r>
              <a:rPr lang="fr-FR" sz="1400" dirty="0">
                <a:latin typeface="Arial" pitchFamily="34" charset="0"/>
              </a:rPr>
              <a:t>.</a:t>
            </a:r>
          </a:p>
          <a:p>
            <a:pPr marL="342900" marR="0" lvl="0" indent="-342900" algn="l" defTabSz="914400" rtl="0" eaLnBrk="0" fontAlgn="base" latinLnBrk="0" hangingPunct="0">
              <a:lnSpc>
                <a:spcPct val="80000"/>
              </a:lnSpc>
              <a:spcBef>
                <a:spcPct val="20000"/>
              </a:spcBef>
              <a:spcAft>
                <a:spcPct val="0"/>
              </a:spcAft>
              <a:buClrTx/>
              <a:buSzTx/>
              <a:buFont typeface="Arial" charset="0"/>
              <a:buNone/>
              <a:tabLst/>
              <a:defRPr/>
            </a:pPr>
            <a:endParaRPr kumimoji="0" lang="sl-SI" sz="1400" b="1" i="0" u="none" strike="noStrike" kern="1200" cap="none" spc="0" normalizeH="0" baseline="0" noProof="0" dirty="0">
              <a:ln>
                <a:noFill/>
              </a:ln>
              <a:solidFill>
                <a:schemeClr val="tx1"/>
              </a:solidFill>
              <a:effectLst/>
              <a:uLnTx/>
              <a:uFillTx/>
              <a:latin typeface="Arial" charset="0"/>
              <a:ea typeface="+mn-ea"/>
              <a:cs typeface="Arial" charset="0"/>
            </a:endParaRPr>
          </a:p>
          <a:p>
            <a:pPr marL="342900" marR="0" lvl="0" indent="-342900" algn="l" defTabSz="914400" rtl="0" eaLnBrk="0" fontAlgn="base" latinLnBrk="0" hangingPunct="0">
              <a:lnSpc>
                <a:spcPct val="80000"/>
              </a:lnSpc>
              <a:spcBef>
                <a:spcPct val="20000"/>
              </a:spcBef>
              <a:spcAft>
                <a:spcPct val="0"/>
              </a:spcAft>
              <a:buClrTx/>
              <a:buSzTx/>
              <a:buFont typeface="Arial" charset="0"/>
              <a:buNone/>
              <a:tabLst/>
              <a:defRPr/>
            </a:pPr>
            <a:endParaRPr kumimoji="0" lang="sl-SI" sz="2000" b="1" i="0" u="none" strike="noStrike" kern="1200" cap="none" spc="0" normalizeH="0" baseline="0" noProof="0" dirty="0">
              <a:ln>
                <a:noFill/>
              </a:ln>
              <a:solidFill>
                <a:schemeClr val="tx1"/>
              </a:solidFill>
              <a:effectLst/>
              <a:uLnTx/>
              <a:uFillTx/>
              <a:latin typeface="Arial" charset="0"/>
              <a:ea typeface="+mn-ea"/>
              <a:cs typeface="Arial" charset="0"/>
            </a:endParaRPr>
          </a:p>
        </p:txBody>
      </p:sp>
      <p:sp>
        <p:nvSpPr>
          <p:cNvPr id="6" name="Text Box 5"/>
          <p:cNvSpPr txBox="1">
            <a:spLocks noChangeArrowheads="1"/>
          </p:cNvSpPr>
          <p:nvPr/>
        </p:nvSpPr>
        <p:spPr bwMode="auto">
          <a:xfrm>
            <a:off x="3744819" y="5877272"/>
            <a:ext cx="5373688" cy="738664"/>
          </a:xfrm>
          <a:prstGeom prst="rect">
            <a:avLst/>
          </a:prstGeom>
          <a:noFill/>
          <a:ln w="9525">
            <a:noFill/>
            <a:miter lim="800000"/>
            <a:headEnd/>
            <a:tailEnd/>
          </a:ln>
        </p:spPr>
        <p:txBody>
          <a:bodyPr>
            <a:spAutoFit/>
          </a:bodyPr>
          <a:lstStyle/>
          <a:p>
            <a:r>
              <a:rPr lang="en-US" sz="1400" dirty="0">
                <a:solidFill>
                  <a:srgbClr val="000099"/>
                </a:solidFill>
                <a:latin typeface="+mj-lt"/>
              </a:rPr>
              <a:t>Ta </a:t>
            </a:r>
            <a:r>
              <a:rPr lang="en-US" sz="1400" dirty="0" err="1">
                <a:solidFill>
                  <a:srgbClr val="000099"/>
                </a:solidFill>
                <a:latin typeface="+mj-lt"/>
              </a:rPr>
              <a:t>publikacija</a:t>
            </a:r>
            <a:r>
              <a:rPr lang="en-US" sz="1400" dirty="0">
                <a:solidFill>
                  <a:srgbClr val="000099"/>
                </a:solidFill>
                <a:latin typeface="+mj-lt"/>
              </a:rPr>
              <a:t>/</a:t>
            </a:r>
            <a:r>
              <a:rPr lang="en-US" sz="1400" dirty="0" err="1">
                <a:solidFill>
                  <a:srgbClr val="000099"/>
                </a:solidFill>
                <a:latin typeface="+mj-lt"/>
              </a:rPr>
              <a:t>sporočilo</a:t>
            </a:r>
            <a:r>
              <a:rPr lang="en-US" sz="1400" dirty="0">
                <a:solidFill>
                  <a:srgbClr val="000099"/>
                </a:solidFill>
                <a:latin typeface="+mj-lt"/>
              </a:rPr>
              <a:t> </a:t>
            </a:r>
            <a:r>
              <a:rPr lang="en-US" sz="1400" dirty="0" err="1">
                <a:solidFill>
                  <a:srgbClr val="000099"/>
                </a:solidFill>
                <a:latin typeface="+mj-lt"/>
              </a:rPr>
              <a:t>odraža</a:t>
            </a:r>
            <a:r>
              <a:rPr lang="en-US" sz="1400" dirty="0">
                <a:solidFill>
                  <a:srgbClr val="000099"/>
                </a:solidFill>
                <a:latin typeface="+mj-lt"/>
              </a:rPr>
              <a:t> </a:t>
            </a:r>
            <a:r>
              <a:rPr lang="en-US" sz="1400" dirty="0" err="1">
                <a:solidFill>
                  <a:srgbClr val="000099"/>
                </a:solidFill>
                <a:latin typeface="+mj-lt"/>
              </a:rPr>
              <a:t>stališče</a:t>
            </a:r>
            <a:r>
              <a:rPr lang="en-US" sz="1400" dirty="0">
                <a:solidFill>
                  <a:srgbClr val="000099"/>
                </a:solidFill>
                <a:latin typeface="+mj-lt"/>
              </a:rPr>
              <a:t> </a:t>
            </a:r>
            <a:r>
              <a:rPr lang="en-US" sz="1400" dirty="0" err="1">
                <a:solidFill>
                  <a:srgbClr val="000099"/>
                </a:solidFill>
                <a:latin typeface="+mj-lt"/>
              </a:rPr>
              <a:t>avtorjev</a:t>
            </a:r>
            <a:r>
              <a:rPr lang="en-US" sz="1400" dirty="0">
                <a:solidFill>
                  <a:srgbClr val="000099"/>
                </a:solidFill>
                <a:latin typeface="+mj-lt"/>
              </a:rPr>
              <a:t> in </a:t>
            </a:r>
            <a:r>
              <a:rPr lang="en-US" sz="1400" dirty="0" err="1">
                <a:solidFill>
                  <a:srgbClr val="000099"/>
                </a:solidFill>
                <a:latin typeface="+mj-lt"/>
              </a:rPr>
              <a:t>Komisija</a:t>
            </a:r>
            <a:r>
              <a:rPr lang="en-US" sz="1400" dirty="0">
                <a:solidFill>
                  <a:srgbClr val="000099"/>
                </a:solidFill>
                <a:latin typeface="+mj-lt"/>
              </a:rPr>
              <a:t> ne </a:t>
            </a:r>
            <a:r>
              <a:rPr lang="en-US" sz="1400" dirty="0" err="1">
                <a:solidFill>
                  <a:srgbClr val="000099"/>
                </a:solidFill>
                <a:latin typeface="+mj-lt"/>
              </a:rPr>
              <a:t>prevzema</a:t>
            </a:r>
            <a:r>
              <a:rPr lang="en-US" sz="1400" dirty="0">
                <a:solidFill>
                  <a:srgbClr val="000099"/>
                </a:solidFill>
                <a:latin typeface="+mj-lt"/>
              </a:rPr>
              <a:t> </a:t>
            </a:r>
            <a:r>
              <a:rPr lang="en-US" sz="1400" dirty="0" err="1">
                <a:solidFill>
                  <a:srgbClr val="000099"/>
                </a:solidFill>
                <a:latin typeface="+mj-lt"/>
              </a:rPr>
              <a:t>odgovornosti</a:t>
            </a:r>
            <a:r>
              <a:rPr lang="en-US" sz="1400" dirty="0">
                <a:solidFill>
                  <a:srgbClr val="000099"/>
                </a:solidFill>
                <a:latin typeface="+mj-lt"/>
              </a:rPr>
              <a:t> </a:t>
            </a:r>
            <a:r>
              <a:rPr lang="en-US" sz="1400" dirty="0" err="1">
                <a:solidFill>
                  <a:srgbClr val="000099"/>
                </a:solidFill>
                <a:latin typeface="+mj-lt"/>
              </a:rPr>
              <a:t>za</a:t>
            </a:r>
            <a:r>
              <a:rPr lang="en-US" sz="1400" dirty="0">
                <a:solidFill>
                  <a:srgbClr val="000099"/>
                </a:solidFill>
                <a:latin typeface="+mj-lt"/>
              </a:rPr>
              <a:t> </a:t>
            </a:r>
            <a:r>
              <a:rPr lang="en-US" sz="1400" dirty="0" err="1">
                <a:solidFill>
                  <a:srgbClr val="000099"/>
                </a:solidFill>
                <a:latin typeface="+mj-lt"/>
              </a:rPr>
              <a:t>kakršnokoli</a:t>
            </a:r>
            <a:r>
              <a:rPr lang="en-US" sz="1400" dirty="0">
                <a:solidFill>
                  <a:srgbClr val="000099"/>
                </a:solidFill>
                <a:latin typeface="+mj-lt"/>
              </a:rPr>
              <a:t> </a:t>
            </a:r>
            <a:r>
              <a:rPr lang="en-US" sz="1400" dirty="0" err="1">
                <a:solidFill>
                  <a:srgbClr val="000099"/>
                </a:solidFill>
                <a:latin typeface="+mj-lt"/>
              </a:rPr>
              <a:t>uporabo</a:t>
            </a:r>
            <a:r>
              <a:rPr lang="en-US" sz="1400" dirty="0">
                <a:solidFill>
                  <a:srgbClr val="000099"/>
                </a:solidFill>
                <a:latin typeface="+mj-lt"/>
              </a:rPr>
              <a:t> </a:t>
            </a:r>
            <a:r>
              <a:rPr lang="en-US" sz="1400" dirty="0" err="1">
                <a:solidFill>
                  <a:srgbClr val="000099"/>
                </a:solidFill>
                <a:latin typeface="+mj-lt"/>
              </a:rPr>
              <a:t>informacij</a:t>
            </a:r>
            <a:r>
              <a:rPr lang="en-US" sz="1400" dirty="0">
                <a:solidFill>
                  <a:srgbClr val="000099"/>
                </a:solidFill>
                <a:latin typeface="+mj-lt"/>
              </a:rPr>
              <a:t>, </a:t>
            </a:r>
            <a:r>
              <a:rPr lang="en-US" sz="1400" dirty="0" err="1">
                <a:solidFill>
                  <a:srgbClr val="000099"/>
                </a:solidFill>
                <a:latin typeface="+mj-lt"/>
              </a:rPr>
              <a:t>ki</a:t>
            </a:r>
            <a:r>
              <a:rPr lang="en-US" sz="1400" dirty="0">
                <a:solidFill>
                  <a:srgbClr val="000099"/>
                </a:solidFill>
                <a:latin typeface="+mj-lt"/>
              </a:rPr>
              <a:t> </a:t>
            </a:r>
            <a:r>
              <a:rPr lang="en-US" sz="1400" dirty="0" err="1">
                <a:solidFill>
                  <a:srgbClr val="000099"/>
                </a:solidFill>
                <a:latin typeface="+mj-lt"/>
              </a:rPr>
              <a:t>jih</a:t>
            </a:r>
            <a:r>
              <a:rPr lang="en-US" sz="1400" dirty="0">
                <a:solidFill>
                  <a:srgbClr val="000099"/>
                </a:solidFill>
                <a:latin typeface="+mj-lt"/>
              </a:rPr>
              <a:t> </a:t>
            </a:r>
            <a:r>
              <a:rPr lang="en-US" sz="1400" dirty="0" err="1">
                <a:solidFill>
                  <a:srgbClr val="000099"/>
                </a:solidFill>
                <a:latin typeface="+mj-lt"/>
              </a:rPr>
              <a:t>vsebuje</a:t>
            </a:r>
            <a:r>
              <a:rPr lang="en-US" sz="1400" dirty="0">
                <a:solidFill>
                  <a:srgbClr val="000099"/>
                </a:solidFill>
                <a:latin typeface="+mj-lt"/>
              </a:rPr>
              <a:t>. </a:t>
            </a:r>
          </a:p>
        </p:txBody>
      </p:sp>
      <p:pic>
        <p:nvPicPr>
          <p:cNvPr id="8" name="Obrázek 7"/>
          <p:cNvPicPr>
            <a:picLocks noChangeAspect="1"/>
          </p:cNvPicPr>
          <p:nvPr/>
        </p:nvPicPr>
        <p:blipFill>
          <a:blip r:embed="rId4"/>
          <a:stretch>
            <a:fillRect/>
          </a:stretch>
        </p:blipFill>
        <p:spPr>
          <a:xfrm>
            <a:off x="827584" y="5933104"/>
            <a:ext cx="2451850" cy="589831"/>
          </a:xfrm>
          <a:prstGeom prst="rect">
            <a:avLst/>
          </a:prstGeom>
        </p:spPr>
      </p:pic>
    </p:spTree>
    <p:custDataLst>
      <p:tags r:id="rId1"/>
    </p:custDataLst>
    <p:extLst>
      <p:ext uri="{BB962C8B-B14F-4D97-AF65-F5344CB8AC3E}">
        <p14:creationId xmlns:p14="http://schemas.microsoft.com/office/powerpoint/2010/main" val="7519745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7"/>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ymbol">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 klassiek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dirty="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1547</TotalTime>
  <Words>4453</Words>
  <Application>Microsoft Office PowerPoint</Application>
  <PresentationFormat>Diaprojekcija na zaslonu (4:3)</PresentationFormat>
  <Paragraphs>425</Paragraphs>
  <Slides>25</Slides>
  <Notes>25</Notes>
  <HiddenSlides>0</HiddenSlides>
  <MMClips>0</MMClips>
  <ScaleCrop>false</ScaleCrop>
  <HeadingPairs>
    <vt:vector size="8" baseType="variant">
      <vt:variant>
        <vt:lpstr>Uporabljene pisave</vt:lpstr>
      </vt:variant>
      <vt:variant>
        <vt:i4>4</vt:i4>
      </vt:variant>
      <vt:variant>
        <vt:lpstr>Tema</vt:lpstr>
      </vt:variant>
      <vt:variant>
        <vt:i4>1</vt:i4>
      </vt:variant>
      <vt:variant>
        <vt:lpstr>Vdelani OLE strežniki</vt:lpstr>
      </vt:variant>
      <vt:variant>
        <vt:i4>3</vt:i4>
      </vt:variant>
      <vt:variant>
        <vt:lpstr>Naslovi diapozitivov</vt:lpstr>
      </vt:variant>
      <vt:variant>
        <vt:i4>25</vt:i4>
      </vt:variant>
    </vt:vector>
  </HeadingPairs>
  <TitlesOfParts>
    <vt:vector size="33" baseType="lpstr">
      <vt:lpstr>Cambria Math</vt:lpstr>
      <vt:lpstr>Tw Cen MT</vt:lpstr>
      <vt:lpstr>Calibri</vt:lpstr>
      <vt:lpstr>Arial</vt:lpstr>
      <vt:lpstr>Symbol</vt:lpstr>
      <vt:lpstr>Vergelijking</vt:lpstr>
      <vt:lpstr>Equation</vt:lpstr>
      <vt:lpstr>Enačba</vt:lpstr>
      <vt:lpstr>4. enota: Merjenje</vt:lpstr>
      <vt:lpstr>Auto Universe Ecosystem</vt:lpstr>
      <vt:lpstr>Učni cilji</vt:lpstr>
      <vt:lpstr>Zanesljivost</vt:lpstr>
      <vt:lpstr>Zanesljivost</vt:lpstr>
      <vt:lpstr>Primer</vt:lpstr>
      <vt:lpstr>Krivulja kopalne kadi</vt:lpstr>
      <vt:lpstr>Funkcija gostote porazdelitve</vt:lpstr>
      <vt:lpstr>Pogostost odpovedi</vt:lpstr>
      <vt:lpstr>Funkcija zanesljivosti</vt:lpstr>
      <vt:lpstr>Porazdelitve zanesljivosti</vt:lpstr>
      <vt:lpstr>Podatki o zanesljivosti</vt:lpstr>
      <vt:lpstr>Graf za identifikacijo porazdelitve</vt:lpstr>
      <vt:lpstr>Primer</vt:lpstr>
      <vt:lpstr>Primer</vt:lpstr>
      <vt:lpstr>Demonstracija zanesljivosti</vt:lpstr>
      <vt:lpstr>Zahteva za zanesljivost RC</vt:lpstr>
      <vt:lpstr>Primer: Test uspešnosti</vt:lpstr>
      <vt:lpstr>Velikost vzorca: Test uspešnosti</vt:lpstr>
      <vt:lpstr>Eksponentna porazdelitev – osnove</vt:lpstr>
      <vt:lpstr>Weibullova porazdelitev</vt:lpstr>
      <vt:lpstr>Weibullova porazdelitev</vt:lpstr>
      <vt:lpstr>Pospešeno testiranje življenjske dobe</vt:lpstr>
      <vt:lpstr>Povzetek</vt:lpstr>
      <vt:lpstr>Avtorji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AQUA.U2.E2.INTEGRATION</dc:title>
  <dc:creator>AQUA consortium</dc:creator>
  <cp:lastModifiedBy>Milan Zorman</cp:lastModifiedBy>
  <cp:revision>235</cp:revision>
  <cp:lastPrinted>2014-09-01T17:08:17Z</cp:lastPrinted>
  <dcterms:created xsi:type="dcterms:W3CDTF">2010-08-18T19:09:35Z</dcterms:created>
  <dcterms:modified xsi:type="dcterms:W3CDTF">2025-11-30T21:39:36Z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74B74FA5-5B52-48B8-8D15-A5753E2BDD29</vt:lpwstr>
  </property>
  <property fmtid="{D5CDD505-2E9C-101B-9397-08002B2CF9AE}" pid="3" name="ArticulatePath">
    <vt:lpwstr>AQUA.R1.U2.E2.INTEGRATION-EN-Slides</vt:lpwstr>
  </property>
</Properties>
</file>