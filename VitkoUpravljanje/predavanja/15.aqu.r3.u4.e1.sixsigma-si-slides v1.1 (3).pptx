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xml" ContentType="application/vnd.openxmlformats-officedocument.presentationml.tags+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7"/>
  </p:notesMasterIdLst>
  <p:handoutMasterIdLst>
    <p:handoutMasterId r:id="rId28"/>
  </p:handoutMasterIdLst>
  <p:sldIdLst>
    <p:sldId id="295" r:id="rId2"/>
    <p:sldId id="322" r:id="rId3"/>
    <p:sldId id="321" r:id="rId4"/>
    <p:sldId id="324" r:id="rId5"/>
    <p:sldId id="325" r:id="rId6"/>
    <p:sldId id="326" r:id="rId7"/>
    <p:sldId id="327" r:id="rId8"/>
    <p:sldId id="328" r:id="rId9"/>
    <p:sldId id="329" r:id="rId10"/>
    <p:sldId id="330" r:id="rId11"/>
    <p:sldId id="304" r:id="rId12"/>
    <p:sldId id="331" r:id="rId13"/>
    <p:sldId id="332" r:id="rId14"/>
    <p:sldId id="333" r:id="rId15"/>
    <p:sldId id="334" r:id="rId16"/>
    <p:sldId id="309" r:id="rId17"/>
    <p:sldId id="310" r:id="rId18"/>
    <p:sldId id="335" r:id="rId19"/>
    <p:sldId id="336" r:id="rId20"/>
    <p:sldId id="337" r:id="rId21"/>
    <p:sldId id="338" r:id="rId22"/>
    <p:sldId id="339" r:id="rId23"/>
    <p:sldId id="340" r:id="rId24"/>
    <p:sldId id="317" r:id="rId25"/>
    <p:sldId id="323" r:id="rId26"/>
  </p:sldIdLst>
  <p:sldSz cx="9144000" cy="6858000" type="screen4x3"/>
  <p:notesSz cx="6858000" cy="9144000"/>
  <p:embeddedFontLst>
    <p:embeddedFont>
      <p:font typeface="Calibri" panose="020F0502020204030204" pitchFamily="34" charset="0"/>
      <p:regular r:id="rId29"/>
      <p:bold r:id="rId30"/>
      <p:italic r:id="rId31"/>
      <p:boldItalic r:id="rId32"/>
    </p:embeddedFont>
    <p:embeddedFont>
      <p:font typeface="Tw Cen MT" panose="020B0602020104020603" pitchFamily="34" charset="-18"/>
      <p:regular r:id="rId33"/>
      <p:bold r:id="rId34"/>
      <p:italic r:id="rId35"/>
      <p:boldItalic r:id="rId36"/>
    </p:embeddedFont>
    <p:embeddedFont>
      <p:font typeface="Verdana" panose="020B0604030504040204" pitchFamily="34" charset="0"/>
      <p:regular r:id="rId37"/>
      <p:bold r:id="rId38"/>
      <p:italic r:id="rId39"/>
      <p:boldItalic r:id="rId40"/>
    </p:embeddedFont>
  </p:embeddedFontLst>
  <p:custDataLst>
    <p:tags r:id="rId41"/>
  </p:custDataLst>
  <p:defaultTextStyle>
    <a:defPPr>
      <a:defRPr lang="nl-NL"/>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ran Rodič" initials="M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56" autoAdjust="0"/>
    <p:restoredTop sz="80929" autoAdjust="0"/>
  </p:normalViewPr>
  <p:slideViewPr>
    <p:cSldViewPr>
      <p:cViewPr varScale="1">
        <p:scale>
          <a:sx n="90" d="100"/>
          <a:sy n="90" d="100"/>
        </p:scale>
        <p:origin x="2448" y="5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70" d="100"/>
          <a:sy n="70" d="100"/>
        </p:scale>
        <p:origin x="2767" y="2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oleObject" Target="file:///D:\Documenten%20van%20Alfons\symbol\algemeen\Process%20performance%20metrics\Process%20Yield%20-%20Rolled%20Throughput%20Yiel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sl-SI"/>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Process Yield</c:v>
          </c:tx>
          <c:spPr>
            <a:ln>
              <a:solidFill>
                <a:schemeClr val="accent2"/>
              </a:solidFill>
            </a:ln>
          </c:spPr>
          <c:marker>
            <c:symbol val="none"/>
          </c:marker>
          <c:cat>
            <c:strRef>
              <c:f>Blad1!$A$2:$A$5</c:f>
              <c:strCache>
                <c:ptCount val="4"/>
                <c:pt idx="0">
                  <c:v>A</c:v>
                </c:pt>
                <c:pt idx="1">
                  <c:v>B</c:v>
                </c:pt>
                <c:pt idx="2">
                  <c:v>C</c:v>
                </c:pt>
                <c:pt idx="3">
                  <c:v>D</c:v>
                </c:pt>
              </c:strCache>
            </c:strRef>
          </c:cat>
          <c:val>
            <c:numRef>
              <c:f>Blad1!$F$2:$F$5</c:f>
              <c:numCache>
                <c:formatCode>0%</c:formatCode>
                <c:ptCount val="4"/>
                <c:pt idx="0">
                  <c:v>0.9</c:v>
                </c:pt>
                <c:pt idx="1">
                  <c:v>0.88888888888888884</c:v>
                </c:pt>
                <c:pt idx="2">
                  <c:v>0.9375</c:v>
                </c:pt>
                <c:pt idx="3">
                  <c:v>0.93333333333333335</c:v>
                </c:pt>
              </c:numCache>
            </c:numRef>
          </c:val>
          <c:smooth val="0"/>
          <c:extLst>
            <c:ext xmlns:c16="http://schemas.microsoft.com/office/drawing/2014/chart" uri="{C3380CC4-5D6E-409C-BE32-E72D297353CC}">
              <c16:uniqueId val="{00000000-B02C-4334-8A0F-B9AB6003CF24}"/>
            </c:ext>
          </c:extLst>
        </c:ser>
        <c:ser>
          <c:idx val="1"/>
          <c:order val="1"/>
          <c:tx>
            <c:v>Total Process Yield</c:v>
          </c:tx>
          <c:spPr>
            <a:ln>
              <a:solidFill>
                <a:schemeClr val="accent2"/>
              </a:solidFill>
              <a:prstDash val="solid"/>
            </a:ln>
          </c:spPr>
          <c:marker>
            <c:symbol val="square"/>
            <c:size val="5"/>
          </c:marker>
          <c:cat>
            <c:strRef>
              <c:f>Blad1!$A$2:$A$5</c:f>
              <c:strCache>
                <c:ptCount val="4"/>
                <c:pt idx="0">
                  <c:v>A</c:v>
                </c:pt>
                <c:pt idx="1">
                  <c:v>B</c:v>
                </c:pt>
                <c:pt idx="2">
                  <c:v>C</c:v>
                </c:pt>
                <c:pt idx="3">
                  <c:v>D</c:v>
                </c:pt>
              </c:strCache>
            </c:strRef>
          </c:cat>
          <c:val>
            <c:numRef>
              <c:f>Blad1!$G$2:$G$5</c:f>
              <c:numCache>
                <c:formatCode>0%</c:formatCode>
                <c:ptCount val="4"/>
                <c:pt idx="0">
                  <c:v>0.9</c:v>
                </c:pt>
                <c:pt idx="1">
                  <c:v>0.79999999999999993</c:v>
                </c:pt>
                <c:pt idx="2">
                  <c:v>0.75000000000000022</c:v>
                </c:pt>
                <c:pt idx="3">
                  <c:v>0.70000000000000029</c:v>
                </c:pt>
              </c:numCache>
            </c:numRef>
          </c:val>
          <c:smooth val="0"/>
          <c:extLst>
            <c:ext xmlns:c16="http://schemas.microsoft.com/office/drawing/2014/chart" uri="{C3380CC4-5D6E-409C-BE32-E72D297353CC}">
              <c16:uniqueId val="{00000001-B02C-4334-8A0F-B9AB6003CF24}"/>
            </c:ext>
          </c:extLst>
        </c:ser>
        <c:ser>
          <c:idx val="2"/>
          <c:order val="2"/>
          <c:tx>
            <c:v>First Time Yield</c:v>
          </c:tx>
          <c:spPr>
            <a:ln>
              <a:solidFill>
                <a:schemeClr val="tx2"/>
              </a:solidFill>
              <a:prstDash val="dash"/>
            </a:ln>
          </c:spPr>
          <c:marker>
            <c:symbol val="none"/>
          </c:marker>
          <c:cat>
            <c:strRef>
              <c:f>Blad1!$A$2:$A$5</c:f>
              <c:strCache>
                <c:ptCount val="4"/>
                <c:pt idx="0">
                  <c:v>A</c:v>
                </c:pt>
                <c:pt idx="1">
                  <c:v>B</c:v>
                </c:pt>
                <c:pt idx="2">
                  <c:v>C</c:v>
                </c:pt>
                <c:pt idx="3">
                  <c:v>D</c:v>
                </c:pt>
              </c:strCache>
            </c:strRef>
          </c:cat>
          <c:val>
            <c:numRef>
              <c:f>Blad1!$H$2:$H$5</c:f>
              <c:numCache>
                <c:formatCode>0%</c:formatCode>
                <c:ptCount val="4"/>
                <c:pt idx="0">
                  <c:v>0.85000000000000031</c:v>
                </c:pt>
                <c:pt idx="1">
                  <c:v>0.81111111111111112</c:v>
                </c:pt>
                <c:pt idx="2">
                  <c:v>0.9</c:v>
                </c:pt>
                <c:pt idx="3">
                  <c:v>0.8666666666666667</c:v>
                </c:pt>
              </c:numCache>
            </c:numRef>
          </c:val>
          <c:smooth val="0"/>
          <c:extLst>
            <c:ext xmlns:c16="http://schemas.microsoft.com/office/drawing/2014/chart" uri="{C3380CC4-5D6E-409C-BE32-E72D297353CC}">
              <c16:uniqueId val="{00000002-B02C-4334-8A0F-B9AB6003CF24}"/>
            </c:ext>
          </c:extLst>
        </c:ser>
        <c:ser>
          <c:idx val="3"/>
          <c:order val="3"/>
          <c:tx>
            <c:v>Rolled Throughput Yield</c:v>
          </c:tx>
          <c:spPr>
            <a:ln>
              <a:solidFill>
                <a:schemeClr val="tx2"/>
              </a:solidFill>
              <a:prstDash val="dash"/>
            </a:ln>
          </c:spPr>
          <c:marker>
            <c:symbol val="square"/>
            <c:size val="7"/>
            <c:spPr>
              <a:solidFill>
                <a:schemeClr val="tx2"/>
              </a:solidFill>
            </c:spPr>
          </c:marker>
          <c:cat>
            <c:strRef>
              <c:f>Blad1!$A$2:$A$5</c:f>
              <c:strCache>
                <c:ptCount val="4"/>
                <c:pt idx="0">
                  <c:v>A</c:v>
                </c:pt>
                <c:pt idx="1">
                  <c:v>B</c:v>
                </c:pt>
                <c:pt idx="2">
                  <c:v>C</c:v>
                </c:pt>
                <c:pt idx="3">
                  <c:v>D</c:v>
                </c:pt>
              </c:strCache>
            </c:strRef>
          </c:cat>
          <c:val>
            <c:numRef>
              <c:f>Blad1!$I$2:$I$5</c:f>
              <c:numCache>
                <c:formatCode>0%</c:formatCode>
                <c:ptCount val="4"/>
                <c:pt idx="0">
                  <c:v>0.85000000000000031</c:v>
                </c:pt>
                <c:pt idx="1">
                  <c:v>0.68944444444444464</c:v>
                </c:pt>
                <c:pt idx="2">
                  <c:v>0.62049999999999994</c:v>
                </c:pt>
                <c:pt idx="3">
                  <c:v>0.5377666666666665</c:v>
                </c:pt>
              </c:numCache>
            </c:numRef>
          </c:val>
          <c:smooth val="0"/>
          <c:extLst>
            <c:ext xmlns:c16="http://schemas.microsoft.com/office/drawing/2014/chart" uri="{C3380CC4-5D6E-409C-BE32-E72D297353CC}">
              <c16:uniqueId val="{00000003-B02C-4334-8A0F-B9AB6003CF24}"/>
            </c:ext>
          </c:extLst>
        </c:ser>
        <c:dLbls>
          <c:showLegendKey val="0"/>
          <c:showVal val="0"/>
          <c:showCatName val="0"/>
          <c:showSerName val="0"/>
          <c:showPercent val="0"/>
          <c:showBubbleSize val="0"/>
        </c:dLbls>
        <c:smooth val="0"/>
        <c:axId val="1524516624"/>
        <c:axId val="1524517168"/>
      </c:lineChart>
      <c:catAx>
        <c:axId val="1524516624"/>
        <c:scaling>
          <c:orientation val="minMax"/>
        </c:scaling>
        <c:delete val="0"/>
        <c:axPos val="b"/>
        <c:numFmt formatCode="General" sourceLinked="0"/>
        <c:majorTickMark val="none"/>
        <c:minorTickMark val="none"/>
        <c:tickLblPos val="nextTo"/>
        <c:crossAx val="1524517168"/>
        <c:crosses val="autoZero"/>
        <c:auto val="1"/>
        <c:lblAlgn val="ctr"/>
        <c:lblOffset val="100"/>
        <c:noMultiLvlLbl val="0"/>
      </c:catAx>
      <c:valAx>
        <c:axId val="1524517168"/>
        <c:scaling>
          <c:orientation val="minMax"/>
          <c:min val="0.5"/>
        </c:scaling>
        <c:delete val="0"/>
        <c:axPos val="l"/>
        <c:majorGridlines/>
        <c:numFmt formatCode="0%" sourceLinked="1"/>
        <c:majorTickMark val="none"/>
        <c:minorTickMark val="none"/>
        <c:tickLblPos val="nextTo"/>
        <c:spPr>
          <a:ln w="9525">
            <a:noFill/>
          </a:ln>
        </c:spPr>
        <c:crossAx val="1524516624"/>
        <c:crosses val="autoZero"/>
        <c:crossBetween val="between"/>
      </c:valAx>
    </c:plotArea>
    <c:legend>
      <c:legendPos val="b"/>
      <c:overlay val="0"/>
    </c:legend>
    <c:plotVisOnly val="1"/>
    <c:dispBlanksAs val="gap"/>
    <c:showDLblsOverMax val="0"/>
  </c:chart>
  <c:spPr>
    <a:ln>
      <a:noFill/>
    </a:ln>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7A21DE-C714-4481-9BCA-79BD0FDB797A}" type="doc">
      <dgm:prSet loTypeId="urn:microsoft.com/office/officeart/2005/8/layout/orgChart1" loCatId="hierarchy" qsTypeId="urn:microsoft.com/office/officeart/2005/8/quickstyle/simple1" qsCatId="simple" csTypeId="urn:microsoft.com/office/officeart/2005/8/colors/accent1_2" csCatId="accent1" phldr="1"/>
      <dgm:spPr/>
    </dgm:pt>
    <dgm:pt modelId="{A4B6CC66-AED4-41AC-8500-0B54919F2DE4}">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noProof="0" dirty="0">
              <a:ln>
                <a:noFill/>
              </a:ln>
              <a:solidFill>
                <a:srgbClr val="FCF8C0"/>
              </a:solidFill>
              <a:effectLst/>
              <a:latin typeface="Arial" charset="0"/>
            </a:rPr>
            <a:t>Opazovana</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noProof="0" dirty="0">
              <a:ln>
                <a:noFill/>
              </a:ln>
              <a:solidFill>
                <a:srgbClr val="FCF8C0"/>
              </a:solidFill>
              <a:effectLst/>
              <a:latin typeface="Arial" charset="0"/>
            </a:rPr>
            <a:t>variabilnost procesa</a:t>
          </a:r>
        </a:p>
      </dgm:t>
    </dgm:pt>
    <dgm:pt modelId="{713CA1A0-AC2A-42AE-9419-1B07556542E1}" type="parTrans" cxnId="{B676960A-4E07-4130-A4AE-D402D915D8D3}">
      <dgm:prSet/>
      <dgm:spPr/>
      <dgm:t>
        <a:bodyPr/>
        <a:lstStyle/>
        <a:p>
          <a:endParaRPr lang="en-US" noProof="0"/>
        </a:p>
      </dgm:t>
    </dgm:pt>
    <dgm:pt modelId="{7CDE00DD-A820-4D85-BF38-AAD33D12218B}" type="sibTrans" cxnId="{B676960A-4E07-4130-A4AE-D402D915D8D3}">
      <dgm:prSet/>
      <dgm:spPr/>
      <dgm:t>
        <a:bodyPr/>
        <a:lstStyle/>
        <a:p>
          <a:endParaRPr lang="en-US" noProof="0"/>
        </a:p>
      </dgm:t>
    </dgm:pt>
    <dgm:pt modelId="{36DA479A-1573-49E6-9518-2E6E418CC706}">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noProof="0" dirty="0">
              <a:ln>
                <a:noFill/>
              </a:ln>
              <a:solidFill>
                <a:schemeClr val="tx1"/>
              </a:solidFill>
              <a:effectLst/>
              <a:latin typeface="Arial" charset="0"/>
            </a:rPr>
            <a:t>Dejanska</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noProof="0" dirty="0">
              <a:ln>
                <a:noFill/>
              </a:ln>
              <a:solidFill>
                <a:schemeClr val="tx1"/>
              </a:solidFill>
              <a:effectLst/>
              <a:latin typeface="Arial" charset="0"/>
            </a:rPr>
            <a:t>variabilnost procesa</a:t>
          </a:r>
        </a:p>
      </dgm:t>
    </dgm:pt>
    <dgm:pt modelId="{613F6D1C-AE01-4FE1-A4BE-1F54F9E083CE}" type="parTrans" cxnId="{33471A00-6D1A-4D02-933B-8FD9BBD3B32D}">
      <dgm:prSet/>
      <dgm:spPr/>
      <dgm:t>
        <a:bodyPr/>
        <a:lstStyle/>
        <a:p>
          <a:endParaRPr lang="en-US" noProof="0" dirty="0"/>
        </a:p>
      </dgm:t>
    </dgm:pt>
    <dgm:pt modelId="{F27F1D7A-D682-4202-A058-C02F42C931C5}" type="sibTrans" cxnId="{33471A00-6D1A-4D02-933B-8FD9BBD3B32D}">
      <dgm:prSet/>
      <dgm:spPr/>
      <dgm:t>
        <a:bodyPr/>
        <a:lstStyle/>
        <a:p>
          <a:endParaRPr lang="en-US" noProof="0"/>
        </a:p>
      </dgm:t>
    </dgm:pt>
    <dgm:pt modelId="{32B129BC-D27B-41B9-985E-BCAABCBCB4DE}">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noProof="0" dirty="0">
              <a:ln>
                <a:noFill/>
              </a:ln>
              <a:solidFill>
                <a:schemeClr val="tx1"/>
              </a:solidFill>
              <a:effectLst/>
              <a:latin typeface="Arial" charset="0"/>
            </a:rPr>
            <a:t>Variabilnost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noProof="0" dirty="0">
              <a:ln>
                <a:noFill/>
              </a:ln>
              <a:solidFill>
                <a:schemeClr val="tx1"/>
              </a:solidFill>
              <a:effectLst/>
              <a:latin typeface="Arial" charset="0"/>
            </a:rPr>
            <a:t>merilnega</a:t>
          </a:r>
          <a:br/>
          <a:r>
            <a:rPr kumimoji="0" lang="en-US" b="1" i="0" u="none" strike="noStrike" cap="none" normalizeH="0" baseline="0" noProof="0" dirty="0">
              <a:ln>
                <a:noFill/>
              </a:ln>
              <a:solidFill>
                <a:schemeClr val="tx1"/>
              </a:solidFill>
              <a:effectLst/>
              <a:latin typeface="Arial" charset="0"/>
            </a:rPr>
            <a:t>procesa</a:t>
          </a:r>
        </a:p>
      </dgm:t>
    </dgm:pt>
    <dgm:pt modelId="{AED25324-6D05-41EC-A9E0-397EB879ADD7}" type="parTrans" cxnId="{82DEECE7-247D-44B9-AD4F-AB955F645377}">
      <dgm:prSet/>
      <dgm:spPr/>
      <dgm:t>
        <a:bodyPr/>
        <a:lstStyle/>
        <a:p>
          <a:endParaRPr lang="en-US" noProof="0" dirty="0"/>
        </a:p>
      </dgm:t>
    </dgm:pt>
    <dgm:pt modelId="{4B7D24E8-3D79-4ED9-B737-4756401A2C40}" type="sibTrans" cxnId="{82DEECE7-247D-44B9-AD4F-AB955F645377}">
      <dgm:prSet/>
      <dgm:spPr/>
      <dgm:t>
        <a:bodyPr/>
        <a:lstStyle/>
        <a:p>
          <a:endParaRPr lang="en-US" noProof="0"/>
        </a:p>
      </dgm:t>
    </dgm:pt>
    <dgm:pt modelId="{A204F40F-A721-4924-9CE4-53553F282D7C}" type="pres">
      <dgm:prSet presAssocID="{B87A21DE-C714-4481-9BCA-79BD0FDB797A}" presName="hierChild1" presStyleCnt="0">
        <dgm:presLayoutVars>
          <dgm:orgChart val="1"/>
          <dgm:chPref val="1"/>
          <dgm:dir/>
          <dgm:animOne val="branch"/>
          <dgm:animLvl val="lvl"/>
          <dgm:resizeHandles/>
        </dgm:presLayoutVars>
      </dgm:prSet>
      <dgm:spPr/>
    </dgm:pt>
    <dgm:pt modelId="{7E8E0020-D090-46DF-9045-FB9F265C57B0}" type="pres">
      <dgm:prSet presAssocID="{A4B6CC66-AED4-41AC-8500-0B54919F2DE4}" presName="hierRoot1" presStyleCnt="0">
        <dgm:presLayoutVars>
          <dgm:hierBranch/>
        </dgm:presLayoutVars>
      </dgm:prSet>
      <dgm:spPr/>
    </dgm:pt>
    <dgm:pt modelId="{57D1E5CC-5CF4-4343-ABB9-CF7337A4679F}" type="pres">
      <dgm:prSet presAssocID="{A4B6CC66-AED4-41AC-8500-0B54919F2DE4}" presName="rootComposite1" presStyleCnt="0"/>
      <dgm:spPr/>
    </dgm:pt>
    <dgm:pt modelId="{28EA8D81-F60B-435B-889D-6B23DF406EB3}" type="pres">
      <dgm:prSet presAssocID="{A4B6CC66-AED4-41AC-8500-0B54919F2DE4}" presName="rootText1" presStyleLbl="node0" presStyleIdx="0" presStyleCnt="1">
        <dgm:presLayoutVars>
          <dgm:chPref val="3"/>
        </dgm:presLayoutVars>
      </dgm:prSet>
      <dgm:spPr/>
    </dgm:pt>
    <dgm:pt modelId="{9785B1C7-CD44-4B80-9A10-76D38D2B9643}" type="pres">
      <dgm:prSet presAssocID="{A4B6CC66-AED4-41AC-8500-0B54919F2DE4}" presName="rootConnector1" presStyleLbl="node1" presStyleIdx="0" presStyleCnt="0"/>
      <dgm:spPr/>
    </dgm:pt>
    <dgm:pt modelId="{563503E5-7560-47D5-974A-57A455FDEBAA}" type="pres">
      <dgm:prSet presAssocID="{A4B6CC66-AED4-41AC-8500-0B54919F2DE4}" presName="hierChild2" presStyleCnt="0"/>
      <dgm:spPr/>
    </dgm:pt>
    <dgm:pt modelId="{8428BED3-F8C1-441A-BD7C-6EAC726631B4}" type="pres">
      <dgm:prSet presAssocID="{613F6D1C-AE01-4FE1-A4BE-1F54F9E083CE}" presName="Name35" presStyleLbl="parChTrans1D2" presStyleIdx="0" presStyleCnt="2"/>
      <dgm:spPr/>
    </dgm:pt>
    <dgm:pt modelId="{E1EB7F35-6B7D-4727-8D20-B2BDC3531B5C}" type="pres">
      <dgm:prSet presAssocID="{36DA479A-1573-49E6-9518-2E6E418CC706}" presName="hierRoot2" presStyleCnt="0">
        <dgm:presLayoutVars>
          <dgm:hierBranch/>
        </dgm:presLayoutVars>
      </dgm:prSet>
      <dgm:spPr/>
    </dgm:pt>
    <dgm:pt modelId="{C89C0CAD-33BA-4B57-9B79-0F31849007CD}" type="pres">
      <dgm:prSet presAssocID="{36DA479A-1573-49E6-9518-2E6E418CC706}" presName="rootComposite" presStyleCnt="0"/>
      <dgm:spPr/>
    </dgm:pt>
    <dgm:pt modelId="{80397AE6-E3D0-438E-9A8D-5EEF14BA2A35}" type="pres">
      <dgm:prSet presAssocID="{36DA479A-1573-49E6-9518-2E6E418CC706}" presName="rootText" presStyleLbl="node2" presStyleIdx="0" presStyleCnt="2">
        <dgm:presLayoutVars>
          <dgm:chPref val="3"/>
        </dgm:presLayoutVars>
      </dgm:prSet>
      <dgm:spPr/>
    </dgm:pt>
    <dgm:pt modelId="{9302AFC9-994D-4D5C-B056-AE48CF52C8CA}" type="pres">
      <dgm:prSet presAssocID="{36DA479A-1573-49E6-9518-2E6E418CC706}" presName="rootConnector" presStyleLbl="node2" presStyleIdx="0" presStyleCnt="2"/>
      <dgm:spPr/>
    </dgm:pt>
    <dgm:pt modelId="{6D018B5C-40B2-4E83-8DD1-A9390D4F81E4}" type="pres">
      <dgm:prSet presAssocID="{36DA479A-1573-49E6-9518-2E6E418CC706}" presName="hierChild4" presStyleCnt="0"/>
      <dgm:spPr/>
    </dgm:pt>
    <dgm:pt modelId="{30E52B2E-BF2D-4C6C-B99B-854A7E6DC33B}" type="pres">
      <dgm:prSet presAssocID="{36DA479A-1573-49E6-9518-2E6E418CC706}" presName="hierChild5" presStyleCnt="0"/>
      <dgm:spPr/>
    </dgm:pt>
    <dgm:pt modelId="{2B2A394E-1666-44AD-A6BC-15E1B2FB5C5B}" type="pres">
      <dgm:prSet presAssocID="{AED25324-6D05-41EC-A9E0-397EB879ADD7}" presName="Name35" presStyleLbl="parChTrans1D2" presStyleIdx="1" presStyleCnt="2"/>
      <dgm:spPr/>
    </dgm:pt>
    <dgm:pt modelId="{0DFBBBDE-97E5-444F-945A-DC7BADFD1E1F}" type="pres">
      <dgm:prSet presAssocID="{32B129BC-D27B-41B9-985E-BCAABCBCB4DE}" presName="hierRoot2" presStyleCnt="0">
        <dgm:presLayoutVars>
          <dgm:hierBranch/>
        </dgm:presLayoutVars>
      </dgm:prSet>
      <dgm:spPr/>
    </dgm:pt>
    <dgm:pt modelId="{54018DCF-7E03-43C0-A1AA-7BBB6262C04D}" type="pres">
      <dgm:prSet presAssocID="{32B129BC-D27B-41B9-985E-BCAABCBCB4DE}" presName="rootComposite" presStyleCnt="0"/>
      <dgm:spPr/>
    </dgm:pt>
    <dgm:pt modelId="{0B842DF2-1830-4C7B-A0BB-02E15EE6BDF3}" type="pres">
      <dgm:prSet presAssocID="{32B129BC-D27B-41B9-985E-BCAABCBCB4DE}" presName="rootText" presStyleLbl="node2" presStyleIdx="1" presStyleCnt="2">
        <dgm:presLayoutVars>
          <dgm:chPref val="3"/>
        </dgm:presLayoutVars>
      </dgm:prSet>
      <dgm:spPr/>
    </dgm:pt>
    <dgm:pt modelId="{49313A79-AFBE-46D4-8E77-279867CB15E8}" type="pres">
      <dgm:prSet presAssocID="{32B129BC-D27B-41B9-985E-BCAABCBCB4DE}" presName="rootConnector" presStyleLbl="node2" presStyleIdx="1" presStyleCnt="2"/>
      <dgm:spPr/>
    </dgm:pt>
    <dgm:pt modelId="{7829A6A9-2175-472C-AA5D-18A5BBDDEC49}" type="pres">
      <dgm:prSet presAssocID="{32B129BC-D27B-41B9-985E-BCAABCBCB4DE}" presName="hierChild4" presStyleCnt="0"/>
      <dgm:spPr/>
    </dgm:pt>
    <dgm:pt modelId="{366928C7-3BB3-4C34-BA4F-1A926B79A75A}" type="pres">
      <dgm:prSet presAssocID="{32B129BC-D27B-41B9-985E-BCAABCBCB4DE}" presName="hierChild5" presStyleCnt="0"/>
      <dgm:spPr/>
    </dgm:pt>
    <dgm:pt modelId="{6143DB7E-A1D5-4885-BEB6-1F33D32745FA}" type="pres">
      <dgm:prSet presAssocID="{A4B6CC66-AED4-41AC-8500-0B54919F2DE4}" presName="hierChild3" presStyleCnt="0"/>
      <dgm:spPr/>
    </dgm:pt>
  </dgm:ptLst>
  <dgm:cxnLst>
    <dgm:cxn modelId="{33471A00-6D1A-4D02-933B-8FD9BBD3B32D}" srcId="{A4B6CC66-AED4-41AC-8500-0B54919F2DE4}" destId="{36DA479A-1573-49E6-9518-2E6E418CC706}" srcOrd="0" destOrd="0" parTransId="{613F6D1C-AE01-4FE1-A4BE-1F54F9E083CE}" sibTransId="{F27F1D7A-D682-4202-A058-C02F42C931C5}"/>
    <dgm:cxn modelId="{B676960A-4E07-4130-A4AE-D402D915D8D3}" srcId="{B87A21DE-C714-4481-9BCA-79BD0FDB797A}" destId="{A4B6CC66-AED4-41AC-8500-0B54919F2DE4}" srcOrd="0" destOrd="0" parTransId="{713CA1A0-AC2A-42AE-9419-1B07556542E1}" sibTransId="{7CDE00DD-A820-4D85-BF38-AAD33D12218B}"/>
    <dgm:cxn modelId="{6177DF37-CBEA-4116-8068-CC3C7B8B88E6}" type="presOf" srcId="{B87A21DE-C714-4481-9BCA-79BD0FDB797A}" destId="{A204F40F-A721-4924-9CE4-53553F282D7C}" srcOrd="0" destOrd="0" presId="urn:microsoft.com/office/officeart/2005/8/layout/orgChart1"/>
    <dgm:cxn modelId="{B8256650-3936-40AC-B457-7CC2C5043851}" type="presOf" srcId="{32B129BC-D27B-41B9-985E-BCAABCBCB4DE}" destId="{0B842DF2-1830-4C7B-A0BB-02E15EE6BDF3}" srcOrd="0" destOrd="0" presId="urn:microsoft.com/office/officeart/2005/8/layout/orgChart1"/>
    <dgm:cxn modelId="{4C495572-10D4-411A-8053-13C50F6E0BBC}" type="presOf" srcId="{A4B6CC66-AED4-41AC-8500-0B54919F2DE4}" destId="{28EA8D81-F60B-435B-889D-6B23DF406EB3}" srcOrd="0" destOrd="0" presId="urn:microsoft.com/office/officeart/2005/8/layout/orgChart1"/>
    <dgm:cxn modelId="{06263A75-8413-4157-B1D9-61315F53C053}" type="presOf" srcId="{32B129BC-D27B-41B9-985E-BCAABCBCB4DE}" destId="{49313A79-AFBE-46D4-8E77-279867CB15E8}" srcOrd="1" destOrd="0" presId="urn:microsoft.com/office/officeart/2005/8/layout/orgChart1"/>
    <dgm:cxn modelId="{E56EFAA4-E647-4E46-AA30-292B2E326FAF}" type="presOf" srcId="{36DA479A-1573-49E6-9518-2E6E418CC706}" destId="{80397AE6-E3D0-438E-9A8D-5EEF14BA2A35}" srcOrd="0" destOrd="0" presId="urn:microsoft.com/office/officeart/2005/8/layout/orgChart1"/>
    <dgm:cxn modelId="{9E2211C9-5105-4647-A724-F1AC815395CB}" type="presOf" srcId="{AED25324-6D05-41EC-A9E0-397EB879ADD7}" destId="{2B2A394E-1666-44AD-A6BC-15E1B2FB5C5B}" srcOrd="0" destOrd="0" presId="urn:microsoft.com/office/officeart/2005/8/layout/orgChart1"/>
    <dgm:cxn modelId="{CB2160CB-9FDF-4BBE-B356-4DFCA3365E28}" type="presOf" srcId="{36DA479A-1573-49E6-9518-2E6E418CC706}" destId="{9302AFC9-994D-4D5C-B056-AE48CF52C8CA}" srcOrd="1" destOrd="0" presId="urn:microsoft.com/office/officeart/2005/8/layout/orgChart1"/>
    <dgm:cxn modelId="{CCF2DDDC-85DE-4E19-BFFF-521A6E787A40}" type="presOf" srcId="{613F6D1C-AE01-4FE1-A4BE-1F54F9E083CE}" destId="{8428BED3-F8C1-441A-BD7C-6EAC726631B4}" srcOrd="0" destOrd="0" presId="urn:microsoft.com/office/officeart/2005/8/layout/orgChart1"/>
    <dgm:cxn modelId="{82DEECE7-247D-44B9-AD4F-AB955F645377}" srcId="{A4B6CC66-AED4-41AC-8500-0B54919F2DE4}" destId="{32B129BC-D27B-41B9-985E-BCAABCBCB4DE}" srcOrd="1" destOrd="0" parTransId="{AED25324-6D05-41EC-A9E0-397EB879ADD7}" sibTransId="{4B7D24E8-3D79-4ED9-B737-4756401A2C40}"/>
    <dgm:cxn modelId="{3BC89BFB-A7E4-4003-AC88-F1911FB3AF19}" type="presOf" srcId="{A4B6CC66-AED4-41AC-8500-0B54919F2DE4}" destId="{9785B1C7-CD44-4B80-9A10-76D38D2B9643}" srcOrd="1" destOrd="0" presId="urn:microsoft.com/office/officeart/2005/8/layout/orgChart1"/>
    <dgm:cxn modelId="{2B9899E2-F7F0-4FCB-9279-608AA57C2E30}" type="presParOf" srcId="{A204F40F-A721-4924-9CE4-53553F282D7C}" destId="{7E8E0020-D090-46DF-9045-FB9F265C57B0}" srcOrd="0" destOrd="0" presId="urn:microsoft.com/office/officeart/2005/8/layout/orgChart1"/>
    <dgm:cxn modelId="{A0697041-89C5-41DF-821C-99D6E3637CA6}" type="presParOf" srcId="{7E8E0020-D090-46DF-9045-FB9F265C57B0}" destId="{57D1E5CC-5CF4-4343-ABB9-CF7337A4679F}" srcOrd="0" destOrd="0" presId="urn:microsoft.com/office/officeart/2005/8/layout/orgChart1"/>
    <dgm:cxn modelId="{8F8BC1B3-3E4B-4C78-8349-7A426C25620C}" type="presParOf" srcId="{57D1E5CC-5CF4-4343-ABB9-CF7337A4679F}" destId="{28EA8D81-F60B-435B-889D-6B23DF406EB3}" srcOrd="0" destOrd="0" presId="urn:microsoft.com/office/officeart/2005/8/layout/orgChart1"/>
    <dgm:cxn modelId="{F59A4E87-0FE7-472C-8FFD-852EF8E03AC5}" type="presParOf" srcId="{57D1E5CC-5CF4-4343-ABB9-CF7337A4679F}" destId="{9785B1C7-CD44-4B80-9A10-76D38D2B9643}" srcOrd="1" destOrd="0" presId="urn:microsoft.com/office/officeart/2005/8/layout/orgChart1"/>
    <dgm:cxn modelId="{30D00F30-3A8A-4FFD-A15B-7F3C9CF808BB}" type="presParOf" srcId="{7E8E0020-D090-46DF-9045-FB9F265C57B0}" destId="{563503E5-7560-47D5-974A-57A455FDEBAA}" srcOrd="1" destOrd="0" presId="urn:microsoft.com/office/officeart/2005/8/layout/orgChart1"/>
    <dgm:cxn modelId="{C96483D4-7D83-4520-BF5F-B299D4469FD6}" type="presParOf" srcId="{563503E5-7560-47D5-974A-57A455FDEBAA}" destId="{8428BED3-F8C1-441A-BD7C-6EAC726631B4}" srcOrd="0" destOrd="0" presId="urn:microsoft.com/office/officeart/2005/8/layout/orgChart1"/>
    <dgm:cxn modelId="{EA1B5B67-4137-4BDA-B95B-BCC5FC59BD2C}" type="presParOf" srcId="{563503E5-7560-47D5-974A-57A455FDEBAA}" destId="{E1EB7F35-6B7D-4727-8D20-B2BDC3531B5C}" srcOrd="1" destOrd="0" presId="urn:microsoft.com/office/officeart/2005/8/layout/orgChart1"/>
    <dgm:cxn modelId="{7C78F651-443E-4FAB-A601-42B30185BF29}" type="presParOf" srcId="{E1EB7F35-6B7D-4727-8D20-B2BDC3531B5C}" destId="{C89C0CAD-33BA-4B57-9B79-0F31849007CD}" srcOrd="0" destOrd="0" presId="urn:microsoft.com/office/officeart/2005/8/layout/orgChart1"/>
    <dgm:cxn modelId="{72017F46-B12E-4FEA-AD71-C55492ACA3B3}" type="presParOf" srcId="{C89C0CAD-33BA-4B57-9B79-0F31849007CD}" destId="{80397AE6-E3D0-438E-9A8D-5EEF14BA2A35}" srcOrd="0" destOrd="0" presId="urn:microsoft.com/office/officeart/2005/8/layout/orgChart1"/>
    <dgm:cxn modelId="{1BD62141-DEA2-4337-B1AE-0EE5F1CB9772}" type="presParOf" srcId="{C89C0CAD-33BA-4B57-9B79-0F31849007CD}" destId="{9302AFC9-994D-4D5C-B056-AE48CF52C8CA}" srcOrd="1" destOrd="0" presId="urn:microsoft.com/office/officeart/2005/8/layout/orgChart1"/>
    <dgm:cxn modelId="{9B1238FD-A275-4482-9ADD-0C4E6C11B04C}" type="presParOf" srcId="{E1EB7F35-6B7D-4727-8D20-B2BDC3531B5C}" destId="{6D018B5C-40B2-4E83-8DD1-A9390D4F81E4}" srcOrd="1" destOrd="0" presId="urn:microsoft.com/office/officeart/2005/8/layout/orgChart1"/>
    <dgm:cxn modelId="{B814BAAA-25F1-4327-9B1D-52913B911137}" type="presParOf" srcId="{E1EB7F35-6B7D-4727-8D20-B2BDC3531B5C}" destId="{30E52B2E-BF2D-4C6C-B99B-854A7E6DC33B}" srcOrd="2" destOrd="0" presId="urn:microsoft.com/office/officeart/2005/8/layout/orgChart1"/>
    <dgm:cxn modelId="{D1146371-296D-4EEB-8018-E7F2E0D6D89D}" type="presParOf" srcId="{563503E5-7560-47D5-974A-57A455FDEBAA}" destId="{2B2A394E-1666-44AD-A6BC-15E1B2FB5C5B}" srcOrd="2" destOrd="0" presId="urn:microsoft.com/office/officeart/2005/8/layout/orgChart1"/>
    <dgm:cxn modelId="{C8193E81-7B22-40BF-84FA-86E2F50F0396}" type="presParOf" srcId="{563503E5-7560-47D5-974A-57A455FDEBAA}" destId="{0DFBBBDE-97E5-444F-945A-DC7BADFD1E1F}" srcOrd="3" destOrd="0" presId="urn:microsoft.com/office/officeart/2005/8/layout/orgChart1"/>
    <dgm:cxn modelId="{C50724B0-1367-4245-A7ED-1F23986B4E65}" type="presParOf" srcId="{0DFBBBDE-97E5-444F-945A-DC7BADFD1E1F}" destId="{54018DCF-7E03-43C0-A1AA-7BBB6262C04D}" srcOrd="0" destOrd="0" presId="urn:microsoft.com/office/officeart/2005/8/layout/orgChart1"/>
    <dgm:cxn modelId="{B7AE5662-D613-42A2-8DCB-B3D32DECEF62}" type="presParOf" srcId="{54018DCF-7E03-43C0-A1AA-7BBB6262C04D}" destId="{0B842DF2-1830-4C7B-A0BB-02E15EE6BDF3}" srcOrd="0" destOrd="0" presId="urn:microsoft.com/office/officeart/2005/8/layout/orgChart1"/>
    <dgm:cxn modelId="{9E022E16-0502-470C-B063-6FAADC9B9CC0}" type="presParOf" srcId="{54018DCF-7E03-43C0-A1AA-7BBB6262C04D}" destId="{49313A79-AFBE-46D4-8E77-279867CB15E8}" srcOrd="1" destOrd="0" presId="urn:microsoft.com/office/officeart/2005/8/layout/orgChart1"/>
    <dgm:cxn modelId="{46EBF8D1-4D51-4644-B7C8-444A289B459A}" type="presParOf" srcId="{0DFBBBDE-97E5-444F-945A-DC7BADFD1E1F}" destId="{7829A6A9-2175-472C-AA5D-18A5BBDDEC49}" srcOrd="1" destOrd="0" presId="urn:microsoft.com/office/officeart/2005/8/layout/orgChart1"/>
    <dgm:cxn modelId="{3D422E35-03F9-40A7-9C59-98A008175160}" type="presParOf" srcId="{0DFBBBDE-97E5-444F-945A-DC7BADFD1E1F}" destId="{366928C7-3BB3-4C34-BA4F-1A926B79A75A}" srcOrd="2" destOrd="0" presId="urn:microsoft.com/office/officeart/2005/8/layout/orgChart1"/>
    <dgm:cxn modelId="{B54386CE-686C-421F-8AF3-6432E79B91B7}" type="presParOf" srcId="{7E8E0020-D090-46DF-9045-FB9F265C57B0}" destId="{6143DB7E-A1D5-4885-BEB6-1F33D32745FA}"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2A394E-1666-44AD-A6BC-15E1B2FB5C5B}">
      <dsp:nvSpPr>
        <dsp:cNvPr id="0" name=""/>
        <dsp:cNvSpPr/>
      </dsp:nvSpPr>
      <dsp:spPr>
        <a:xfrm>
          <a:off x="1485900" y="773273"/>
          <a:ext cx="813154" cy="282252"/>
        </a:xfrm>
        <a:custGeom>
          <a:avLst/>
          <a:gdLst/>
          <a:ahLst/>
          <a:cxnLst/>
          <a:rect l="0" t="0" r="0" b="0"/>
          <a:pathLst>
            <a:path>
              <a:moveTo>
                <a:pt x="0" y="0"/>
              </a:moveTo>
              <a:lnTo>
                <a:pt x="0" y="141126"/>
              </a:lnTo>
              <a:lnTo>
                <a:pt x="813154" y="141126"/>
              </a:lnTo>
              <a:lnTo>
                <a:pt x="813154" y="28225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28BED3-F8C1-441A-BD7C-6EAC726631B4}">
      <dsp:nvSpPr>
        <dsp:cNvPr id="0" name=""/>
        <dsp:cNvSpPr/>
      </dsp:nvSpPr>
      <dsp:spPr>
        <a:xfrm>
          <a:off x="672745" y="773273"/>
          <a:ext cx="813154" cy="282252"/>
        </a:xfrm>
        <a:custGeom>
          <a:avLst/>
          <a:gdLst/>
          <a:ahLst/>
          <a:cxnLst/>
          <a:rect l="0" t="0" r="0" b="0"/>
          <a:pathLst>
            <a:path>
              <a:moveTo>
                <a:pt x="813154" y="0"/>
              </a:moveTo>
              <a:lnTo>
                <a:pt x="813154" y="141126"/>
              </a:lnTo>
              <a:lnTo>
                <a:pt x="0" y="141126"/>
              </a:lnTo>
              <a:lnTo>
                <a:pt x="0" y="28225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EA8D81-F60B-435B-889D-6B23DF406EB3}">
      <dsp:nvSpPr>
        <dsp:cNvPr id="0" name=""/>
        <dsp:cNvSpPr/>
      </dsp:nvSpPr>
      <dsp:spPr>
        <a:xfrm>
          <a:off x="813871" y="101245"/>
          <a:ext cx="1344057" cy="6720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noProof="0" dirty="0">
              <a:ln>
                <a:noFill/>
              </a:ln>
              <a:solidFill>
                <a:srgbClr val="FCF8C0"/>
              </a:solidFill>
              <a:effectLst/>
              <a:latin typeface="Arial" charset="0"/>
            </a:rPr>
            <a:t>Opazovana</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noProof="0" dirty="0">
              <a:ln>
                <a:noFill/>
              </a:ln>
              <a:solidFill>
                <a:srgbClr val="FCF8C0"/>
              </a:solidFill>
              <a:effectLst/>
              <a:latin typeface="Arial" charset="0"/>
            </a:rPr>
            <a:t>variabilnost procesa</a:t>
          </a:r>
        </a:p>
      </dsp:txBody>
      <dsp:txXfrm>
        <a:off x="813871" y="101245"/>
        <a:ext cx="1344057" cy="672028"/>
      </dsp:txXfrm>
    </dsp:sp>
    <dsp:sp modelId="{80397AE6-E3D0-438E-9A8D-5EEF14BA2A35}">
      <dsp:nvSpPr>
        <dsp:cNvPr id="0" name=""/>
        <dsp:cNvSpPr/>
      </dsp:nvSpPr>
      <dsp:spPr>
        <a:xfrm>
          <a:off x="716" y="1055526"/>
          <a:ext cx="1344057" cy="6720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noProof="0" dirty="0">
              <a:ln>
                <a:noFill/>
              </a:ln>
              <a:solidFill>
                <a:schemeClr val="tx1"/>
              </a:solidFill>
              <a:effectLst/>
              <a:latin typeface="Arial" charset="0"/>
            </a:rPr>
            <a:t>Dejanska</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noProof="0" dirty="0">
              <a:ln>
                <a:noFill/>
              </a:ln>
              <a:solidFill>
                <a:schemeClr val="tx1"/>
              </a:solidFill>
              <a:effectLst/>
              <a:latin typeface="Arial" charset="0"/>
            </a:rPr>
            <a:t>variabilnost procesa</a:t>
          </a:r>
        </a:p>
      </dsp:txBody>
      <dsp:txXfrm>
        <a:off x="716" y="1055526"/>
        <a:ext cx="1344057" cy="672028"/>
      </dsp:txXfrm>
    </dsp:sp>
    <dsp:sp modelId="{0B842DF2-1830-4C7B-A0BB-02E15EE6BDF3}">
      <dsp:nvSpPr>
        <dsp:cNvPr id="0" name=""/>
        <dsp:cNvSpPr/>
      </dsp:nvSpPr>
      <dsp:spPr>
        <a:xfrm>
          <a:off x="1627026" y="1055526"/>
          <a:ext cx="1344057" cy="6720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noProof="0" dirty="0">
              <a:ln>
                <a:noFill/>
              </a:ln>
              <a:solidFill>
                <a:schemeClr val="tx1"/>
              </a:solidFill>
              <a:effectLst/>
              <a:latin typeface="Arial" charset="0"/>
            </a:rPr>
            <a:t>Variabilnost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kern="1200" cap="none" normalizeH="0" baseline="0" noProof="0" dirty="0">
              <a:ln>
                <a:noFill/>
              </a:ln>
              <a:solidFill>
                <a:schemeClr val="tx1"/>
              </a:solidFill>
              <a:effectLst/>
              <a:latin typeface="Arial" charset="0"/>
            </a:rPr>
            <a:t>merilnega</a:t>
          </a:r>
          <a:br>
            <a:rPr sz="1400" kern="1200"/>
          </a:br>
          <a:r>
            <a:rPr kumimoji="0" lang="en-US" sz="1400" b="1" i="0" u="none" strike="noStrike" kern="1200" cap="none" normalizeH="0" baseline="0" noProof="0" dirty="0">
              <a:ln>
                <a:noFill/>
              </a:ln>
              <a:solidFill>
                <a:schemeClr val="tx1"/>
              </a:solidFill>
              <a:effectLst/>
              <a:latin typeface="Arial" charset="0"/>
            </a:rPr>
            <a:t>procesa</a:t>
          </a:r>
        </a:p>
      </dsp:txBody>
      <dsp:txXfrm>
        <a:off x="1627026" y="1055526"/>
        <a:ext cx="1344057" cy="67202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8" name="Tijdelijke aanduiding voor datum 2"/>
          <p:cNvSpPr>
            <a:spLocks noGrp="1"/>
          </p:cNvSpPr>
          <p:nvPr>
            <p:ph type="dt" sz="quarter" idx="1"/>
          </p:nvPr>
        </p:nvSpPr>
        <p:spPr>
          <a:xfrm>
            <a:off x="3773834" y="0"/>
            <a:ext cx="3076363" cy="513508"/>
          </a:xfrm>
          <a:prstGeom prst="rect">
            <a:avLst/>
          </a:prstGeom>
        </p:spPr>
        <p:txBody>
          <a:bodyPr vert="horz" lIns="99048" tIns="49524" rIns="99048" bIns="49524" rtlCol="0"/>
          <a:lstStyle>
            <a:lvl1pPr algn="r">
              <a:defRPr sz="1300"/>
            </a:lvl1pPr>
          </a:lstStyle>
          <a:p>
            <a:fld id="{E2D57F30-67A7-406E-BCA5-0EC578CCC6B0}" type="datetimeFigureOut">
              <a:rPr lang="nl-NL" smtClean="0"/>
              <a:t>27-11-2023</a:t>
            </a:fld>
            <a:endParaRPr lang="nl-NL" dirty="0"/>
          </a:p>
        </p:txBody>
      </p:sp>
      <p:sp>
        <p:nvSpPr>
          <p:cNvPr id="9" name="Tijdelijke aanduiding voor dianummer 4"/>
          <p:cNvSpPr>
            <a:spLocks noGrp="1"/>
          </p:cNvSpPr>
          <p:nvPr>
            <p:ph type="sldNum" sz="quarter" idx="3"/>
          </p:nvPr>
        </p:nvSpPr>
        <p:spPr>
          <a:xfrm>
            <a:off x="3774560" y="8630493"/>
            <a:ext cx="3076363" cy="513507"/>
          </a:xfrm>
          <a:prstGeom prst="rect">
            <a:avLst/>
          </a:prstGeom>
        </p:spPr>
        <p:txBody>
          <a:bodyPr vert="horz" lIns="99048" tIns="49524" rIns="99048" bIns="49524" rtlCol="0" anchor="b"/>
          <a:lstStyle>
            <a:lvl1pPr algn="r">
              <a:defRPr sz="1300"/>
            </a:lvl1pPr>
          </a:lstStyle>
          <a:p>
            <a:fld id="{A13B2997-F370-467F-842B-5544EBC8E7A9}" type="slidenum">
              <a:rPr lang="nl-NL" smtClean="0"/>
              <a:t>‹#›</a:t>
            </a:fld>
            <a:endParaRPr lang="nl-NL"/>
          </a:p>
        </p:txBody>
      </p:sp>
    </p:spTree>
    <p:extLst>
      <p:ext uri="{BB962C8B-B14F-4D97-AF65-F5344CB8AC3E}">
        <p14:creationId xmlns:p14="http://schemas.microsoft.com/office/powerpoint/2010/main" val="39061181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Tijdelijke aanduiding voor dia-afbeelding 3"/>
          <p:cNvSpPr>
            <a:spLocks noGrp="1" noRot="1" noChangeAspect="1"/>
          </p:cNvSpPr>
          <p:nvPr>
            <p:ph type="sldImg" idx="2"/>
          </p:nvPr>
        </p:nvSpPr>
        <p:spPr>
          <a:xfrm>
            <a:off x="993775" y="768350"/>
            <a:ext cx="5114925" cy="3836988"/>
          </a:xfrm>
          <a:prstGeom prst="rect">
            <a:avLst/>
          </a:prstGeom>
          <a:noFill/>
          <a:ln w="12700">
            <a:solidFill>
              <a:prstClr val="black"/>
            </a:solidFill>
          </a:ln>
        </p:spPr>
        <p:txBody>
          <a:bodyPr vert="horz" lIns="99066" tIns="49533" rIns="99066" bIns="49533" rtlCol="0" anchor="ctr"/>
          <a:lstStyle/>
          <a:p>
            <a:pPr lvl="0"/>
            <a:endParaRPr lang="nl-NL" noProof="0"/>
          </a:p>
        </p:txBody>
      </p:sp>
      <p:sp>
        <p:nvSpPr>
          <p:cNvPr id="7" name="Tijdelijke aanduiding voor notities 4"/>
          <p:cNvSpPr>
            <a:spLocks noGrp="1"/>
          </p:cNvSpPr>
          <p:nvPr>
            <p:ph type="body" sz="quarter" idx="3"/>
          </p:nvPr>
        </p:nvSpPr>
        <p:spPr>
          <a:xfrm>
            <a:off x="710248" y="4861441"/>
            <a:ext cx="5681980" cy="3959031"/>
          </a:xfrm>
          <a:prstGeom prst="rect">
            <a:avLst/>
          </a:prstGeom>
        </p:spPr>
        <p:txBody>
          <a:bodyPr vert="horz" lIns="99066" tIns="49533" rIns="99066" bIns="49533" rtlCol="0"/>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p>
        </p:txBody>
      </p:sp>
      <p:sp>
        <p:nvSpPr>
          <p:cNvPr id="9" name="Rectangle 9"/>
          <p:cNvSpPr>
            <a:spLocks noChangeArrowheads="1"/>
          </p:cNvSpPr>
          <p:nvPr/>
        </p:nvSpPr>
        <p:spPr bwMode="auto">
          <a:xfrm>
            <a:off x="3861048" y="8892480"/>
            <a:ext cx="2952327" cy="2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66" tIns="0" rIns="99066"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0" marR="0" lvl="0" indent="0" algn="r" defTabSz="990661" eaLnBrk="1" fontAlgn="auto" latinLnBrk="0" hangingPunct="1">
              <a:lnSpc>
                <a:spcPct val="100000"/>
              </a:lnSpc>
              <a:spcBef>
                <a:spcPts val="0"/>
              </a:spcBef>
              <a:spcAft>
                <a:spcPts val="0"/>
              </a:spcAft>
              <a:buClrTx/>
              <a:buSzTx/>
              <a:buFontTx/>
              <a:buNone/>
              <a:tabLst/>
              <a:defRPr/>
            </a:pPr>
            <a:r>
              <a:rPr kumimoji="0" lang="nl-NL" altLang="nl-NL" sz="1300" b="1" i="0" u="none" strike="noStrike" kern="0" cap="none" spc="0" normalizeH="0" baseline="0" noProof="0" dirty="0">
                <a:ln>
                  <a:noFill/>
                </a:ln>
                <a:solidFill>
                  <a:srgbClr val="002060"/>
                </a:solidFill>
                <a:effectLst/>
                <a:uLnTx/>
                <a:uFillTx/>
                <a:latin typeface="Calibri" pitchFamily="34" charset="0"/>
                <a:cs typeface="Arial" charset="0"/>
              </a:rPr>
              <a:t>U4.E1-SIXSIGMA-</a:t>
            </a:r>
            <a:fld id="{583DABBC-1C65-4A90-A85E-E309129F042D}" type="slidenum">
              <a:rPr kumimoji="0" lang="nl-NL" altLang="nl-NL" sz="1300" b="1" i="0" u="none" strike="noStrike" kern="0" cap="none" spc="0" normalizeH="0" baseline="0" noProof="0" smtClean="0">
                <a:ln>
                  <a:noFill/>
                </a:ln>
                <a:solidFill>
                  <a:srgbClr val="002060"/>
                </a:solidFill>
                <a:effectLst/>
                <a:uLnTx/>
                <a:uFillTx/>
                <a:latin typeface="Calibri" pitchFamily="34" charset="0"/>
                <a:cs typeface="Arial" charset="0"/>
              </a:rPr>
              <a:pPr marL="0" marR="0" lvl="0" indent="0" algn="r" defTabSz="990661" eaLnBrk="1" fontAlgn="auto" latinLnBrk="0" hangingPunct="1">
                <a:lnSpc>
                  <a:spcPct val="100000"/>
                </a:lnSpc>
                <a:spcBef>
                  <a:spcPts val="0"/>
                </a:spcBef>
                <a:spcAft>
                  <a:spcPts val="0"/>
                </a:spcAft>
                <a:buClrTx/>
                <a:buSzTx/>
                <a:buFontTx/>
                <a:buNone/>
                <a:tabLst/>
                <a:defRPr/>
              </a:pPr>
              <a:t>‹#›</a:t>
            </a:fld>
            <a:endParaRPr kumimoji="0" lang="nl-NL" altLang="nl-NL" sz="1300" b="1" i="0" u="none" strike="noStrike" kern="0" cap="none" spc="0" normalizeH="0" baseline="0" noProof="0" dirty="0">
              <a:ln>
                <a:noFill/>
              </a:ln>
              <a:solidFill>
                <a:srgbClr val="002060"/>
              </a:solidFill>
              <a:effectLst/>
              <a:uLnTx/>
              <a:uFillTx/>
              <a:latin typeface="Calibri" pitchFamily="34" charset="0"/>
              <a:cs typeface="Arial" charset="0"/>
            </a:endParaRPr>
          </a:p>
        </p:txBody>
      </p:sp>
    </p:spTree>
    <p:extLst>
      <p:ext uri="{BB962C8B-B14F-4D97-AF65-F5344CB8AC3E}">
        <p14:creationId xmlns:p14="http://schemas.microsoft.com/office/powerpoint/2010/main" val="6719420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1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1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1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1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Rot="1" noChangeAspect="1" noChangeArrowheads="1" noTextEdit="1"/>
          </p:cNvSpPr>
          <p:nvPr>
            <p:ph type="sldImg"/>
          </p:nvPr>
        </p:nvSpPr>
        <p:spPr>
          <a:xfrm>
            <a:off x="1143000" y="685800"/>
            <a:ext cx="4572000" cy="3429000"/>
          </a:xfrm>
          <a:prstGeom prst="rect">
            <a:avLst/>
          </a:prstGeom>
          <a:ln/>
        </p:spPr>
      </p:sp>
      <p:sp>
        <p:nvSpPr>
          <p:cNvPr id="11268" name="Rectangle 3"/>
          <p:cNvSpPr>
            <a:spLocks noGrp="1" noChangeArrowheads="1"/>
          </p:cNvSpPr>
          <p:nvPr>
            <p:ph type="body" idx="1"/>
          </p:nvPr>
        </p:nvSpPr>
        <p:spPr>
          <a:xfrm>
            <a:off x="685800" y="4343400"/>
            <a:ext cx="5486400" cy="4114800"/>
          </a:xfrm>
          <a:prstGeom prst="rect">
            <a:avLst/>
          </a:prstGeom>
          <a:noFill/>
          <a:ln/>
        </p:spPr>
        <p:txBody>
          <a:bodyPr/>
          <a:lstStyle/>
          <a:p>
            <a:pPr>
              <a:spcBef>
                <a:spcPts val="0"/>
              </a:spcBef>
            </a:pPr>
            <a:r>
              <a:rPr lang="fr-FR" sz="1050" dirty="0">
                <a:latin typeface="Arial" pitchFamily="34" charset="0"/>
              </a:rPr>
              <a:t>To učno gradivo je bilo certificirano v skladu s pravili </a:t>
            </a:r>
            <a:r>
              <a:rPr lang="fr-FR" sz="1050" b="1" dirty="0">
                <a:latin typeface="Arial" pitchFamily="34" charset="0"/>
              </a:rPr>
              <a:t>ECQA – Evropskega združenja za certificiranje in kvalificiranje</a:t>
            </a:r>
            <a:r>
              <a:rPr lang="fr-FR" sz="1050" dirty="0">
                <a:latin typeface="Arial" pitchFamily="34" charset="0"/>
              </a:rPr>
              <a:t>.</a:t>
            </a:r>
          </a:p>
          <a:p>
            <a:pPr>
              <a:spcBef>
                <a:spcPts val="0"/>
              </a:spcBef>
            </a:pPr>
            <a:r>
              <a:rPr lang="fr-FR" sz="1050" dirty="0">
                <a:latin typeface="Arial" pitchFamily="34" charset="0"/>
              </a:rPr>
              <a:t>Učno gradivo je bilo usklajeno med univerzami in  industrijo v okviru mednarodnega</a:t>
            </a:r>
            <a:r>
              <a:rPr lang="fr-FR" sz="1050" baseline="0" dirty="0">
                <a:latin typeface="Arial" pitchFamily="34" charset="0"/>
              </a:rPr>
              <a:t> konzorcija projekta </a:t>
            </a:r>
            <a:br>
              <a:rPr lang="fr-FR" sz="1050" dirty="0"/>
            </a:br>
            <a:r>
              <a:rPr lang="fr-FR" sz="1050" b="1" dirty="0">
                <a:latin typeface="Arial" pitchFamily="34" charset="0"/>
              </a:rPr>
              <a:t>“</a:t>
            </a:r>
            <a:r>
              <a:rPr lang="fr-FR" sz="1050" b="1" dirty="0">
                <a:solidFill>
                  <a:srgbClr val="000099"/>
                </a:solidFill>
                <a:latin typeface="Tw Cen MT" pitchFamily="34" charset="0"/>
              </a:rPr>
              <a:t>Automotive Quality Universities – AutoUniverse (AQU)</a:t>
            </a:r>
            <a:r>
              <a:rPr lang="fr-FR" sz="1050" b="1" dirty="0">
                <a:latin typeface="Arial" pitchFamily="34" charset="0"/>
              </a:rPr>
              <a:t>”:</a:t>
            </a:r>
          </a:p>
          <a:p>
            <a:pPr>
              <a:spcBef>
                <a:spcPts val="0"/>
              </a:spcBef>
            </a:pPr>
            <a:endParaRPr lang="sl-SI" sz="1050" b="1" dirty="0">
              <a:latin typeface="Arial" pitchFamily="34" charset="0"/>
              <a:cs typeface="Arial" pitchFamily="34" charset="0"/>
            </a:endParaRPr>
          </a:p>
          <a:p>
            <a:pPr>
              <a:spcBef>
                <a:spcPts val="0"/>
              </a:spcBef>
            </a:pPr>
            <a:r>
              <a:rPr lang="fr-FR" sz="1050" b="1" dirty="0">
                <a:latin typeface="Arial" pitchFamily="34" charset="0"/>
                <a:cs typeface="Arial" pitchFamily="34" charset="0"/>
              </a:rPr>
              <a:t>VSB – Technical University of Ostrava</a:t>
            </a:r>
            <a:r>
              <a:rPr lang="fr-FR" sz="1050" dirty="0">
                <a:latin typeface="Arial" pitchFamily="34" charset="0"/>
                <a:cs typeface="Arial" pitchFamily="34" charset="0"/>
              </a:rPr>
              <a:t>, Faculty of Electrical Engineering and Computer Science, Češka, www.fei.vsb.cz/en</a:t>
            </a:r>
          </a:p>
          <a:p>
            <a:pPr>
              <a:spcBef>
                <a:spcPts val="0"/>
              </a:spcBef>
            </a:pPr>
            <a:r>
              <a:rPr lang="fr-FR" sz="1050" b="1" dirty="0">
                <a:latin typeface="Arial" pitchFamily="34" charset="0"/>
                <a:cs typeface="Arial" pitchFamily="34" charset="0"/>
              </a:rPr>
              <a:t>Graz University of Technology</a:t>
            </a:r>
            <a:r>
              <a:rPr lang="fr-FR" sz="1050" dirty="0">
                <a:latin typeface="Arial" pitchFamily="34" charset="0"/>
                <a:cs typeface="Arial" pitchFamily="34" charset="0"/>
              </a:rPr>
              <a:t>, Institute for Technical Informatics, Avstrija, www.iti.tugraz.at</a:t>
            </a:r>
          </a:p>
          <a:p>
            <a:pPr defTabSz="990478">
              <a:spcBef>
                <a:spcPts val="0"/>
              </a:spcBef>
              <a:defRPr/>
            </a:pPr>
            <a:r>
              <a:rPr lang="fr-FR" sz="1050" b="1" dirty="0"/>
              <a:t>University of Applied Sciences </a:t>
            </a:r>
            <a:r>
              <a:rPr lang="fr-FR" sz="1050" b="1" dirty="0">
                <a:latin typeface="Arial" pitchFamily="34" charset="0"/>
                <a:cs typeface="Arial" pitchFamily="34" charset="0"/>
              </a:rPr>
              <a:t>JOANNEUM</a:t>
            </a:r>
            <a:r>
              <a:rPr lang="fr-FR" sz="1050" b="1" dirty="0"/>
              <a:t>, </a:t>
            </a:r>
            <a:r>
              <a:rPr lang="fr-FR" sz="1050" dirty="0"/>
              <a:t>Institute for Automotive Engineering, Graz, </a:t>
            </a:r>
            <a:r>
              <a:rPr lang="fr-FR" sz="1050" dirty="0">
                <a:latin typeface="Arial" pitchFamily="34" charset="0"/>
                <a:cs typeface="Arial" pitchFamily="34" charset="0"/>
              </a:rPr>
              <a:t>Avstrija</a:t>
            </a:r>
            <a:r>
              <a:rPr lang="fr-FR" sz="1050" dirty="0"/>
              <a:t>, https://www.fh-joanneum.at/en/institut/automotive-engineering/</a:t>
            </a:r>
          </a:p>
          <a:p>
            <a:pPr defTabSz="990478">
              <a:spcBef>
                <a:spcPts val="0"/>
              </a:spcBef>
              <a:defRPr/>
            </a:pPr>
            <a:r>
              <a:rPr lang="fr-FR" sz="1050" b="1" dirty="0">
                <a:latin typeface="Arial" pitchFamily="34" charset="0"/>
                <a:cs typeface="Arial" pitchFamily="34" charset="0"/>
              </a:rPr>
              <a:t>EMIRAcle – European Manufacturing and Innovation Research</a:t>
            </a:r>
            <a:r>
              <a:rPr lang="fr-FR" sz="1050" b="1" baseline="0" dirty="0">
                <a:latin typeface="Arial" pitchFamily="34" charset="0"/>
                <a:cs typeface="Arial" pitchFamily="34" charset="0"/>
              </a:rPr>
              <a:t> Association</a:t>
            </a:r>
            <a:r>
              <a:rPr lang="fr-FR" sz="1050" dirty="0">
                <a:latin typeface="Arial" pitchFamily="34" charset="0"/>
                <a:cs typeface="Arial" pitchFamily="34" charset="0"/>
              </a:rPr>
              <a:t>, Belgija, http://www.emiracle.eu/</a:t>
            </a:r>
          </a:p>
          <a:p>
            <a:pPr defTabSz="990478">
              <a:spcBef>
                <a:spcPts val="0"/>
              </a:spcBef>
              <a:defRPr/>
            </a:pPr>
            <a:r>
              <a:rPr lang="fr-FR" sz="1050" b="1" dirty="0"/>
              <a:t>Univerza v Mariboru,</a:t>
            </a:r>
            <a:r>
              <a:rPr lang="fr-FR" sz="1050" dirty="0"/>
              <a:t> Fakulteta za elektrotehniko, računalništvo</a:t>
            </a:r>
            <a:r>
              <a:rPr lang="fr-FR" sz="1050" baseline="0" dirty="0"/>
              <a:t> in informatiko</a:t>
            </a:r>
            <a:r>
              <a:rPr lang="fr-FR" sz="1050" dirty="0"/>
              <a:t>, Slovenija, https://feri.um.si/</a:t>
            </a:r>
            <a:endParaRPr lang="fr-FR" sz="1050" dirty="0">
              <a:latin typeface="Arial" pitchFamily="34" charset="0"/>
              <a:cs typeface="Arial" pitchFamily="34" charset="0"/>
            </a:endParaRPr>
          </a:p>
          <a:p>
            <a:pPr>
              <a:spcBef>
                <a:spcPts val="0"/>
              </a:spcBef>
            </a:pPr>
            <a:r>
              <a:rPr lang="fr-FR" sz="1050" b="1" dirty="0">
                <a:latin typeface="Arial" pitchFamily="34" charset="0"/>
                <a:cs typeface="Arial" pitchFamily="34" charset="0"/>
              </a:rPr>
              <a:t>ISCN Ltd./Ges.m.b.H</a:t>
            </a:r>
            <a:r>
              <a:rPr lang="fr-FR" sz="1050" dirty="0">
                <a:latin typeface="Arial" pitchFamily="34" charset="0"/>
                <a:cs typeface="Arial" pitchFamily="34" charset="0"/>
              </a:rPr>
              <a:t>, Irska/Avstrija, www.iscn.com</a:t>
            </a:r>
          </a:p>
          <a:p>
            <a:pPr>
              <a:spcBef>
                <a:spcPts val="0"/>
              </a:spcBef>
            </a:pPr>
            <a:r>
              <a:rPr lang="fr-FR" sz="1050" b="1" dirty="0">
                <a:latin typeface="Arial" pitchFamily="34" charset="0"/>
                <a:cs typeface="Arial" pitchFamily="34" charset="0"/>
              </a:rPr>
              <a:t>ECQA – European Certification and Qualification Association</a:t>
            </a:r>
            <a:r>
              <a:rPr lang="fr-FR" sz="1050" dirty="0">
                <a:latin typeface="Arial" pitchFamily="34" charset="0"/>
                <a:cs typeface="Arial" pitchFamily="34" charset="0"/>
              </a:rPr>
              <a:t>, Avstrija, www.ecqa.org</a:t>
            </a:r>
          </a:p>
          <a:p>
            <a:pPr>
              <a:lnSpc>
                <a:spcPct val="80000"/>
              </a:lnSpc>
            </a:pPr>
            <a:endParaRPr lang="fr-FR" sz="1050" dirty="0">
              <a:latin typeface="Arial" pitchFamily="34" charset="0"/>
              <a:cs typeface="Arial" pitchFamily="34" charset="0"/>
            </a:endParaRPr>
          </a:p>
          <a:p>
            <a:pPr>
              <a:spcBef>
                <a:spcPts val="0"/>
              </a:spcBef>
            </a:pPr>
            <a:r>
              <a:rPr lang="fr-FR" sz="1050" dirty="0">
                <a:latin typeface="Arial" pitchFamily="34" charset="0"/>
              </a:rPr>
              <a:t>Ta projekt je bil financiran s podporo programa </a:t>
            </a:r>
            <a:r>
              <a:rPr lang="fr-FR" sz="1050" dirty="0"/>
              <a:t>Erasmus+</a:t>
            </a:r>
            <a:r>
              <a:rPr lang="fr-FR" sz="1050" dirty="0">
                <a:latin typeface="Arial" pitchFamily="34" charset="0"/>
              </a:rPr>
              <a:t> Evropske komisije po pogodbi </a:t>
            </a:r>
            <a:r>
              <a:rPr lang="fr-FR" sz="1050" dirty="0"/>
              <a:t>2015-1-CZ01-KA203-013986 - 2015 – 2017</a:t>
            </a:r>
            <a:r>
              <a:rPr lang="fr-FR" sz="1050" dirty="0">
                <a:latin typeface="Arial" pitchFamily="34" charset="0"/>
              </a:rPr>
              <a:t>.</a:t>
            </a:r>
          </a:p>
          <a:p>
            <a:pPr marL="0" marR="0" lvl="0" indent="0" algn="l" defTabSz="914400" rtl="0" eaLnBrk="0" fontAlgn="base" latinLnBrk="0" hangingPunct="0">
              <a:lnSpc>
                <a:spcPct val="100000"/>
              </a:lnSpc>
              <a:spcBef>
                <a:spcPts val="0"/>
              </a:spcBef>
              <a:spcAft>
                <a:spcPct val="0"/>
              </a:spcAft>
              <a:buClrTx/>
              <a:buSzTx/>
              <a:buFontTx/>
              <a:buNone/>
              <a:tabLst/>
              <a:defRPr/>
            </a:pPr>
            <a:r>
              <a:rPr lang="fr-FR" sz="1050" dirty="0">
                <a:latin typeface="Arial" pitchFamily="34" charset="0"/>
                <a:cs typeface="Arial" pitchFamily="34" charset="0"/>
              </a:rPr>
              <a:t>AQUA – Zavezništvo znanja za kakovost usposabljanja in odličnost v avtomobilski industriji je vzpostavilo</a:t>
            </a:r>
            <a:r>
              <a:rPr lang="fr-FR" sz="1050" baseline="0" dirty="0">
                <a:latin typeface="Arial" pitchFamily="34" charset="0"/>
                <a:cs typeface="Arial" pitchFamily="34" charset="0"/>
              </a:rPr>
              <a:t> zavezništvo za kakovost </a:t>
            </a:r>
            <a:r>
              <a:rPr lang="fr-FR" sz="1050" dirty="0"/>
              <a:t>– LLP projekt </a:t>
            </a:r>
            <a:r>
              <a:rPr lang="fr-FR" sz="1050" dirty="0">
                <a:latin typeface="Arial" pitchFamily="34" charset="0"/>
                <a:cs typeface="Arial" pitchFamily="34" charset="0"/>
              </a:rPr>
              <a:t>EAC-2012-0635 -</a:t>
            </a:r>
            <a:r>
              <a:rPr lang="fr-FR" sz="1050" dirty="0"/>
              <a:t> 2013 – 2014.</a:t>
            </a:r>
          </a:p>
          <a:p>
            <a:pPr defTabSz="844083">
              <a:spcBef>
                <a:spcPts val="0"/>
              </a:spcBef>
            </a:pPr>
            <a:r>
              <a:rPr lang="fr-FR" sz="1050" dirty="0">
                <a:solidFill>
                  <a:srgbClr val="000099"/>
                </a:solidFill>
                <a:latin typeface="Arial" pitchFamily="34" charset="0"/>
              </a:rPr>
              <a:t>Ta publikacija/sporočilo odraža stališče avtorjev in Komisija ne prevzema odgovornosti za kakršnokoli uporabo informacij, ki jih vsebuje. </a:t>
            </a:r>
          </a:p>
        </p:txBody>
      </p:sp>
    </p:spTree>
    <p:extLst>
      <p:ext uri="{BB962C8B-B14F-4D97-AF65-F5344CB8AC3E}">
        <p14:creationId xmlns:p14="http://schemas.microsoft.com/office/powerpoint/2010/main" val="963166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992188" y="768350"/>
            <a:ext cx="5114925" cy="3836988"/>
          </a:xfrm>
          <a:prstGeom prst="rect">
            <a:avLst/>
          </a:prstGeom>
        </p:spPr>
      </p:sp>
      <p:sp>
        <p:nvSpPr>
          <p:cNvPr id="3" name="Zástupný symbol pro poznámky 2"/>
          <p:cNvSpPr>
            <a:spLocks noGrp="1"/>
          </p:cNvSpPr>
          <p:nvPr>
            <p:ph type="body" idx="1"/>
          </p:nvPr>
        </p:nvSpPr>
        <p:spPr>
          <a:xfrm>
            <a:off x="709930" y="4861441"/>
            <a:ext cx="5679440" cy="4605576"/>
          </a:xfrm>
          <a:prstGeom prst="rect">
            <a:avLst/>
          </a:prstGeom>
        </p:spPr>
        <p:txBody>
          <a:bodyPr/>
          <a:lstStyle/>
          <a:p>
            <a:pPr>
              <a:spcBef>
                <a:spcPts val="0"/>
              </a:spcBef>
            </a:pPr>
            <a:r>
              <a:rPr lang="fr-FR" sz="1100" dirty="0">
                <a:latin typeface="Arial" pitchFamily="34" charset="0"/>
              </a:rPr>
              <a:t>To učno gradivo je bilo certificirano v skladu s pravili </a:t>
            </a:r>
            <a:r>
              <a:rPr lang="fr-FR" sz="1100" b="1" dirty="0">
                <a:latin typeface="Arial" pitchFamily="34" charset="0"/>
              </a:rPr>
              <a:t>ECQA – Evropskega združenja za certificiranje in kvalificiranje</a:t>
            </a:r>
            <a:r>
              <a:rPr lang="fr-FR" sz="1100" dirty="0">
                <a:latin typeface="Arial" pitchFamily="34" charset="0"/>
              </a:rPr>
              <a:t>.</a:t>
            </a:r>
          </a:p>
          <a:p>
            <a:pPr>
              <a:spcBef>
                <a:spcPts val="0"/>
              </a:spcBef>
            </a:pPr>
            <a:r>
              <a:rPr lang="fr-FR" sz="1100" dirty="0">
                <a:latin typeface="Arial" pitchFamily="34" charset="0"/>
              </a:rPr>
              <a:t>Učno gradivo je bilo usklajeno med univerzami in  industrijo v okviru mednarodnega</a:t>
            </a:r>
            <a:r>
              <a:rPr lang="fr-FR" sz="1100" baseline="0" dirty="0">
                <a:latin typeface="Arial" pitchFamily="34" charset="0"/>
              </a:rPr>
              <a:t> konzorcija projekta </a:t>
            </a:r>
            <a:br>
              <a:rPr lang="fr-FR" sz="1100" dirty="0"/>
            </a:br>
            <a:r>
              <a:rPr lang="fr-FR" sz="1100" b="1" dirty="0">
                <a:latin typeface="Arial" pitchFamily="34" charset="0"/>
              </a:rPr>
              <a:t>“</a:t>
            </a:r>
            <a:r>
              <a:rPr lang="fr-FR" sz="1100" b="1" dirty="0">
                <a:solidFill>
                  <a:srgbClr val="000099"/>
                </a:solidFill>
                <a:latin typeface="Tw Cen MT" pitchFamily="34" charset="0"/>
              </a:rPr>
              <a:t>Automotive Quality Universities – AutoUniverse (AQU)</a:t>
            </a:r>
            <a:r>
              <a:rPr lang="fr-FR" sz="1100" b="1" dirty="0">
                <a:latin typeface="Arial" pitchFamily="34" charset="0"/>
              </a:rPr>
              <a:t>”:</a:t>
            </a:r>
          </a:p>
          <a:p>
            <a:pPr>
              <a:spcBef>
                <a:spcPts val="0"/>
              </a:spcBef>
            </a:pPr>
            <a:endParaRPr lang="sl-SI" sz="1100" b="1" dirty="0">
              <a:latin typeface="Arial" pitchFamily="34" charset="0"/>
              <a:cs typeface="Arial" pitchFamily="34" charset="0"/>
            </a:endParaRPr>
          </a:p>
          <a:p>
            <a:pPr>
              <a:spcBef>
                <a:spcPts val="0"/>
              </a:spcBef>
            </a:pPr>
            <a:r>
              <a:rPr lang="fr-FR" sz="1100" b="1" dirty="0">
                <a:latin typeface="Arial" pitchFamily="34" charset="0"/>
                <a:cs typeface="Arial" pitchFamily="34" charset="0"/>
              </a:rPr>
              <a:t>VSB – Technical University of Ostrava</a:t>
            </a:r>
            <a:r>
              <a:rPr lang="fr-FR" sz="1100" dirty="0">
                <a:latin typeface="Arial" pitchFamily="34" charset="0"/>
                <a:cs typeface="Arial" pitchFamily="34" charset="0"/>
              </a:rPr>
              <a:t>, Faculty of Electrical Engineering and Computer Science, Češka, www.fei.vsb.cz/en</a:t>
            </a:r>
          </a:p>
          <a:p>
            <a:pPr>
              <a:spcBef>
                <a:spcPts val="0"/>
              </a:spcBef>
            </a:pPr>
            <a:r>
              <a:rPr lang="fr-FR" sz="1100" b="1" dirty="0">
                <a:latin typeface="Arial" pitchFamily="34" charset="0"/>
                <a:cs typeface="Arial" pitchFamily="34" charset="0"/>
              </a:rPr>
              <a:t>Graz University of Technology</a:t>
            </a:r>
            <a:r>
              <a:rPr lang="fr-FR" sz="1100" dirty="0">
                <a:latin typeface="Arial" pitchFamily="34" charset="0"/>
                <a:cs typeface="Arial" pitchFamily="34" charset="0"/>
              </a:rPr>
              <a:t>, Institute for Technical Informatics, Avstrija, www.iti.tugraz.at</a:t>
            </a:r>
          </a:p>
          <a:p>
            <a:pPr defTabSz="990478">
              <a:spcBef>
                <a:spcPts val="0"/>
              </a:spcBef>
              <a:defRPr/>
            </a:pPr>
            <a:r>
              <a:rPr lang="fr-FR" sz="1100" b="1" dirty="0"/>
              <a:t>University of Applied Sciences </a:t>
            </a:r>
            <a:r>
              <a:rPr lang="fr-FR" sz="1100" b="1" dirty="0">
                <a:latin typeface="Arial" pitchFamily="34" charset="0"/>
                <a:cs typeface="Arial" pitchFamily="34" charset="0"/>
              </a:rPr>
              <a:t>JOANNEUM</a:t>
            </a:r>
            <a:r>
              <a:rPr lang="fr-FR" sz="1100" b="1" dirty="0"/>
              <a:t>, </a:t>
            </a:r>
            <a:r>
              <a:rPr lang="fr-FR" sz="1100" dirty="0"/>
              <a:t>Institute for Automotive Engineering, Graz, </a:t>
            </a:r>
            <a:r>
              <a:rPr lang="fr-FR" sz="1100" dirty="0">
                <a:latin typeface="Arial" pitchFamily="34" charset="0"/>
                <a:cs typeface="Arial" pitchFamily="34" charset="0"/>
              </a:rPr>
              <a:t>Avstrija</a:t>
            </a:r>
            <a:r>
              <a:rPr lang="fr-FR" sz="1100" dirty="0"/>
              <a:t>, https://www.fh-joanneum.at/en/institut/automotive-engineering/</a:t>
            </a:r>
          </a:p>
          <a:p>
            <a:pPr defTabSz="990478">
              <a:spcBef>
                <a:spcPts val="0"/>
              </a:spcBef>
              <a:defRPr/>
            </a:pPr>
            <a:r>
              <a:rPr lang="fr-FR" sz="1100" b="1" dirty="0">
                <a:latin typeface="Arial" pitchFamily="34" charset="0"/>
                <a:cs typeface="Arial" pitchFamily="34" charset="0"/>
              </a:rPr>
              <a:t>EMIRAcle – European Manufacturing and Innovation Research</a:t>
            </a:r>
            <a:r>
              <a:rPr lang="fr-FR" sz="1100" b="1" baseline="0" dirty="0">
                <a:latin typeface="Arial" pitchFamily="34" charset="0"/>
                <a:cs typeface="Arial" pitchFamily="34" charset="0"/>
              </a:rPr>
              <a:t> Association</a:t>
            </a:r>
            <a:r>
              <a:rPr lang="fr-FR" sz="1100" dirty="0">
                <a:latin typeface="Arial" pitchFamily="34" charset="0"/>
                <a:cs typeface="Arial" pitchFamily="34" charset="0"/>
              </a:rPr>
              <a:t>, Belgija, http://www.emiracle.eu/</a:t>
            </a:r>
          </a:p>
          <a:p>
            <a:pPr defTabSz="990478">
              <a:spcBef>
                <a:spcPts val="0"/>
              </a:spcBef>
              <a:defRPr/>
            </a:pPr>
            <a:r>
              <a:rPr lang="fr-FR" sz="1100" b="1" dirty="0"/>
              <a:t>Univerza v Mariboru,</a:t>
            </a:r>
            <a:r>
              <a:rPr lang="fr-FR" sz="1100" dirty="0"/>
              <a:t> Fakulteta za elektrotehniko, računalništvo</a:t>
            </a:r>
            <a:r>
              <a:rPr lang="fr-FR" sz="1100" baseline="0" dirty="0"/>
              <a:t> in informatiko</a:t>
            </a:r>
            <a:r>
              <a:rPr lang="fr-FR" sz="1100" dirty="0"/>
              <a:t>, Slovenija, https://feri.um.si/</a:t>
            </a:r>
            <a:endParaRPr lang="fr-FR" sz="1100" dirty="0">
              <a:latin typeface="Arial" pitchFamily="34" charset="0"/>
              <a:cs typeface="Arial" pitchFamily="34" charset="0"/>
            </a:endParaRPr>
          </a:p>
          <a:p>
            <a:pPr>
              <a:spcBef>
                <a:spcPts val="0"/>
              </a:spcBef>
            </a:pPr>
            <a:r>
              <a:rPr lang="fr-FR" sz="1100" b="1" dirty="0">
                <a:latin typeface="Arial" pitchFamily="34" charset="0"/>
                <a:cs typeface="Arial" pitchFamily="34" charset="0"/>
              </a:rPr>
              <a:t>ISCN Ltd./Ges.m.b.H</a:t>
            </a:r>
            <a:r>
              <a:rPr lang="fr-FR" sz="1100" dirty="0">
                <a:latin typeface="Arial" pitchFamily="34" charset="0"/>
                <a:cs typeface="Arial" pitchFamily="34" charset="0"/>
              </a:rPr>
              <a:t>, Irska/Avstrija, www.iscn.com</a:t>
            </a:r>
          </a:p>
          <a:p>
            <a:pPr>
              <a:spcBef>
                <a:spcPts val="0"/>
              </a:spcBef>
            </a:pPr>
            <a:r>
              <a:rPr lang="fr-FR" sz="1100" b="1" dirty="0">
                <a:latin typeface="Arial" pitchFamily="34" charset="0"/>
                <a:cs typeface="Arial" pitchFamily="34" charset="0"/>
              </a:rPr>
              <a:t>ECQA – European Certification and Qualification Association</a:t>
            </a:r>
            <a:r>
              <a:rPr lang="fr-FR" sz="1100" dirty="0">
                <a:latin typeface="Arial" pitchFamily="34" charset="0"/>
                <a:cs typeface="Arial" pitchFamily="34" charset="0"/>
              </a:rPr>
              <a:t>, Avstrija, www.ecqa.org</a:t>
            </a:r>
          </a:p>
          <a:p>
            <a:pPr>
              <a:lnSpc>
                <a:spcPct val="80000"/>
              </a:lnSpc>
            </a:pPr>
            <a:endParaRPr lang="fr-FR" sz="1100" dirty="0">
              <a:latin typeface="Arial" pitchFamily="34" charset="0"/>
              <a:cs typeface="Arial" pitchFamily="34" charset="0"/>
            </a:endParaRPr>
          </a:p>
          <a:p>
            <a:pPr>
              <a:spcBef>
                <a:spcPts val="0"/>
              </a:spcBef>
            </a:pPr>
            <a:r>
              <a:rPr lang="fr-FR" sz="1100" dirty="0">
                <a:latin typeface="Arial" pitchFamily="34" charset="0"/>
              </a:rPr>
              <a:t>Ta projekt je bil financiran s podporo programa </a:t>
            </a:r>
            <a:r>
              <a:rPr lang="fr-FR" sz="1100" dirty="0"/>
              <a:t>Erasmus+</a:t>
            </a:r>
            <a:r>
              <a:rPr lang="fr-FR" sz="1100" dirty="0">
                <a:latin typeface="Arial" pitchFamily="34" charset="0"/>
              </a:rPr>
              <a:t> Evropske komisije po pogodbi </a:t>
            </a:r>
            <a:r>
              <a:rPr lang="fr-FR" sz="1100" dirty="0"/>
              <a:t>2015-1-CZ01-KA203-013986 - 2015 – 2017</a:t>
            </a:r>
            <a:r>
              <a:rPr lang="fr-FR" sz="1100" dirty="0">
                <a:latin typeface="Arial" pitchFamily="34" charset="0"/>
              </a:rPr>
              <a:t>.</a:t>
            </a:r>
          </a:p>
          <a:p>
            <a:pPr marL="0" marR="0" lvl="0" indent="0" algn="l" defTabSz="914400" rtl="0" eaLnBrk="0" fontAlgn="base" latinLnBrk="0" hangingPunct="0">
              <a:lnSpc>
                <a:spcPct val="100000"/>
              </a:lnSpc>
              <a:spcBef>
                <a:spcPts val="0"/>
              </a:spcBef>
              <a:spcAft>
                <a:spcPct val="0"/>
              </a:spcAft>
              <a:buClrTx/>
              <a:buSzTx/>
              <a:buFontTx/>
              <a:buNone/>
              <a:tabLst/>
              <a:defRPr/>
            </a:pPr>
            <a:r>
              <a:rPr lang="fr-FR" sz="1100" dirty="0">
                <a:latin typeface="Arial" pitchFamily="34" charset="0"/>
                <a:cs typeface="Arial" pitchFamily="34" charset="0"/>
              </a:rPr>
              <a:t>AQUA – Zavezništvo znanja za kakovost usposabljanja in odličnost v avtomobilski industriji je vzpostavilo</a:t>
            </a:r>
            <a:r>
              <a:rPr lang="fr-FR" sz="1100" baseline="0" dirty="0">
                <a:latin typeface="Arial" pitchFamily="34" charset="0"/>
                <a:cs typeface="Arial" pitchFamily="34" charset="0"/>
              </a:rPr>
              <a:t> zavezništvo za kakovost </a:t>
            </a:r>
            <a:r>
              <a:rPr lang="fr-FR" sz="1100" dirty="0"/>
              <a:t>– LLP projekt </a:t>
            </a:r>
            <a:r>
              <a:rPr lang="fr-FR" sz="1100" dirty="0">
                <a:latin typeface="Arial" pitchFamily="34" charset="0"/>
                <a:cs typeface="Arial" pitchFamily="34" charset="0"/>
              </a:rPr>
              <a:t>EAC-2012-0635 -</a:t>
            </a:r>
            <a:r>
              <a:rPr lang="fr-FR" sz="1100" dirty="0"/>
              <a:t> 2013 – 2014.</a:t>
            </a:r>
          </a:p>
          <a:p>
            <a:pPr defTabSz="844083">
              <a:spcBef>
                <a:spcPts val="0"/>
              </a:spcBef>
            </a:pPr>
            <a:r>
              <a:rPr lang="fr-FR" sz="1100" dirty="0">
                <a:solidFill>
                  <a:srgbClr val="000099"/>
                </a:solidFill>
                <a:latin typeface="Arial" pitchFamily="34" charset="0"/>
              </a:rPr>
              <a:t>Ta publikacija/sporočilo odraža stališče avtorjev in Komisija ne prevzema odgovornosti za kakršnokoli uporabo informacij, ki jih vsebuje. </a:t>
            </a:r>
          </a:p>
        </p:txBody>
      </p:sp>
    </p:spTree>
    <p:extLst>
      <p:ext uri="{BB962C8B-B14F-4D97-AF65-F5344CB8AC3E}">
        <p14:creationId xmlns:p14="http://schemas.microsoft.com/office/powerpoint/2010/main" val="2838488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143000" y="685800"/>
            <a:ext cx="4572000" cy="3429000"/>
          </a:xfrm>
          <a:prstGeom prst="rect">
            <a:avLst/>
          </a:prstGeom>
        </p:spPr>
      </p:sp>
      <p:sp>
        <p:nvSpPr>
          <p:cNvPr id="3" name="Notizenplatzhalter 2"/>
          <p:cNvSpPr>
            <a:spLocks noGrp="1"/>
          </p:cNvSpPr>
          <p:nvPr>
            <p:ph type="body" idx="1"/>
          </p:nvPr>
        </p:nvSpPr>
        <p:spPr>
          <a:xfrm>
            <a:off x="685800" y="4343400"/>
            <a:ext cx="5486400" cy="4114800"/>
          </a:xfrm>
          <a:prstGeom prst="rect">
            <a:avLst/>
          </a:prstGeom>
        </p:spPr>
        <p:txBody>
          <a:bodyPr/>
          <a:lstStyle/>
          <a:p>
            <a:endParaRPr lang="de-AT"/>
          </a:p>
        </p:txBody>
      </p:sp>
    </p:spTree>
    <p:extLst>
      <p:ext uri="{BB962C8B-B14F-4D97-AF65-F5344CB8AC3E}">
        <p14:creationId xmlns:p14="http://schemas.microsoft.com/office/powerpoint/2010/main" val="2606156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xfrm>
            <a:off x="3884613" y="8685213"/>
            <a:ext cx="2971800" cy="457200"/>
          </a:xfrm>
          <a:prstGeom prst="rect">
            <a:avLst/>
          </a:prstGeom>
          <a:noFill/>
        </p:spPr>
        <p:txBody>
          <a:bodyPr/>
          <a:lstStyle/>
          <a:p>
            <a:pPr defTabSz="911492"/>
            <a:fld id="{4BE63987-B8CF-481F-936F-F3DD5D7CF389}" type="slidenum">
              <a:rPr lang="en-US" smtClean="0">
                <a:latin typeface="Arial" pitchFamily="34" charset="0"/>
                <a:cs typeface="Arial" pitchFamily="34" charset="0"/>
              </a:rPr>
              <a:pPr defTabSz="911492"/>
              <a:t>4</a:t>
            </a:fld>
            <a:endParaRPr lang="sl-SI" dirty="0">
              <a:latin typeface="Arial" pitchFamily="34" charset="0"/>
              <a:cs typeface="Arial" pitchFamily="3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Eno ključnih načel izboljšav procesov je, da mora vodenje potekati na podlagi dejstev. Zato potrebujemo zanesljive in natančne podatke. Kakor vsi ostali procesi</a:t>
            </a:r>
            <a:r>
              <a:rPr lang="en-GB" sz="1200" kern="1200">
                <a:solidFill>
                  <a:schemeClr val="tx1"/>
                </a:solidFill>
                <a:latin typeface="+mn-lt"/>
              </a:rPr>
              <a:t>, </a:t>
            </a:r>
            <a:r>
              <a:rPr lang="sl-SI" sz="1200" kern="1200">
                <a:solidFill>
                  <a:schemeClr val="tx1"/>
                </a:solidFill>
                <a:latin typeface="+mn-lt"/>
              </a:rPr>
              <a:t>mora biti </a:t>
            </a:r>
            <a:r>
              <a:rPr lang="en-GB" sz="1200" kern="1200">
                <a:solidFill>
                  <a:schemeClr val="tx1"/>
                </a:solidFill>
                <a:latin typeface="+mn-lt"/>
              </a:rPr>
              <a:t>tudi zbiranje podatkov ustrezno voden</a:t>
            </a:r>
            <a:r>
              <a:rPr lang="sl-SI" sz="1200" kern="1200">
                <a:solidFill>
                  <a:schemeClr val="tx1"/>
                </a:solidFill>
                <a:latin typeface="+mn-lt"/>
              </a:rPr>
              <a:t>o</a:t>
            </a:r>
            <a:r>
              <a:rPr lang="en-GB" sz="1200" kern="1200">
                <a:solidFill>
                  <a:schemeClr val="tx1"/>
                </a:solidFill>
                <a:latin typeface="+mn-lt"/>
              </a:rPr>
              <a:t>. </a:t>
            </a:r>
            <a:r>
              <a:rPr lang="en-GB" sz="1200" kern="1200" dirty="0">
                <a:solidFill>
                  <a:schemeClr val="tx1"/>
                </a:solidFill>
                <a:latin typeface="+mn-lt"/>
              </a:rPr>
              <a:t>V praksi se je izkazalo, da je izjemno težko pojasniti ljudem, kakšni podatki so potrebni in kako naj bi jih zbirali. Pomen tega je kljub temu pogosto podcenjen</a:t>
            </a:r>
            <a:r>
              <a:rPr lang="en-GB" sz="1200" kern="1200">
                <a:solidFill>
                  <a:schemeClr val="tx1"/>
                </a:solidFill>
                <a:latin typeface="+mn-lt"/>
              </a:rPr>
              <a:t>. </a:t>
            </a:r>
            <a:r>
              <a:rPr lang="sl-SI" sz="1200" kern="1200">
                <a:solidFill>
                  <a:schemeClr val="tx1"/>
                </a:solidFill>
                <a:latin typeface="+mn-lt"/>
              </a:rPr>
              <a:t>Preden nadaljuje z analizo, se mora t</a:t>
            </a:r>
            <a:r>
              <a:rPr lang="en-GB" sz="1200" kern="1200">
                <a:solidFill>
                  <a:schemeClr val="tx1"/>
                </a:solidFill>
                <a:latin typeface="+mn-lt"/>
              </a:rPr>
              <a:t>im prepričati</a:t>
            </a:r>
            <a:r>
              <a:rPr lang="en-GB" sz="1200" kern="1200" dirty="0">
                <a:solidFill>
                  <a:schemeClr val="tx1"/>
                </a:solidFill>
                <a:latin typeface="+mn-lt"/>
              </a:rPr>
              <a:t>, da so merilni sistem in podatki veljavni </a:t>
            </a:r>
            <a:r>
              <a:rPr lang="en-GB" sz="1200" kern="1200">
                <a:solidFill>
                  <a:schemeClr val="tx1"/>
                </a:solidFill>
                <a:latin typeface="+mn-lt"/>
              </a:rPr>
              <a:t>in zanesljivi. </a:t>
            </a:r>
            <a:r>
              <a:rPr lang="en-GB" sz="1200" kern="1200" dirty="0">
                <a:solidFill>
                  <a:schemeClr val="tx1"/>
                </a:solidFill>
                <a:latin typeface="+mn-lt"/>
              </a:rPr>
              <a:t>Pomembno je, da se vloži dovolj časa v dogovore o </a:t>
            </a:r>
            <a:r>
              <a:rPr lang="en-GB" sz="1200" kern="1200">
                <a:solidFill>
                  <a:schemeClr val="tx1"/>
                </a:solidFill>
                <a:latin typeface="+mn-lt"/>
              </a:rPr>
              <a:t>definiranju cilj</a:t>
            </a:r>
            <a:r>
              <a:rPr lang="sl-SI" sz="1200" kern="1200">
                <a:solidFill>
                  <a:schemeClr val="tx1"/>
                </a:solidFill>
                <a:latin typeface="+mn-lt"/>
              </a:rPr>
              <a:t>ev</a:t>
            </a:r>
            <a:r>
              <a:rPr lang="en-GB" sz="1200" kern="1200">
                <a:solidFill>
                  <a:schemeClr val="tx1"/>
                </a:solidFill>
                <a:latin typeface="+mn-lt"/>
              </a:rPr>
              <a:t> </a:t>
            </a:r>
            <a:r>
              <a:rPr lang="en-GB" sz="1200" kern="1200" dirty="0">
                <a:solidFill>
                  <a:schemeClr val="tx1"/>
                </a:solidFill>
                <a:latin typeface="+mn-lt"/>
              </a:rPr>
              <a:t>in v </a:t>
            </a:r>
            <a:r>
              <a:rPr lang="en-GB" sz="1200" kern="1200">
                <a:solidFill>
                  <a:schemeClr val="tx1"/>
                </a:solidFill>
                <a:latin typeface="+mn-lt"/>
              </a:rPr>
              <a:t>konkretizacijo </a:t>
            </a:r>
            <a:r>
              <a:rPr lang="sl-SI" sz="1200" kern="1200">
                <a:solidFill>
                  <a:schemeClr val="tx1"/>
                </a:solidFill>
                <a:latin typeface="+mn-lt"/>
              </a:rPr>
              <a:t>ustreznih</a:t>
            </a:r>
            <a:r>
              <a:rPr lang="sl-SI" sz="1200" kern="1200" baseline="0">
                <a:solidFill>
                  <a:schemeClr val="tx1"/>
                </a:solidFill>
                <a:latin typeface="+mn-lt"/>
              </a:rPr>
              <a:t> </a:t>
            </a:r>
            <a:r>
              <a:rPr lang="en-GB" sz="1200" kern="1200">
                <a:solidFill>
                  <a:schemeClr val="tx1"/>
                </a:solidFill>
                <a:latin typeface="+mn-lt"/>
              </a:rPr>
              <a:t>ciljnih </a:t>
            </a:r>
            <a:r>
              <a:rPr lang="en-GB" sz="1200" kern="1200" dirty="0">
                <a:solidFill>
                  <a:schemeClr val="tx1"/>
                </a:solidFill>
                <a:latin typeface="+mn-lt"/>
              </a:rPr>
              <a:t>vrednosti. Sem spadajo dobre definicije ter identifikacija virov in sistemov (ERP), od koder naj se črpajo podatki. </a:t>
            </a:r>
            <a:endParaRPr lang="sl-SI" sz="1200" kern="1200" dirty="0">
              <a:solidFill>
                <a:schemeClr val="tx1"/>
              </a:solidFill>
              <a:latin typeface="+mn-lt"/>
              <a:ea typeface="+mn-ea"/>
              <a:cs typeface="+mn-cs"/>
            </a:endParaRPr>
          </a:p>
          <a:p>
            <a:pPr eaLnBrk="1" hangingPunct="1"/>
            <a:endParaRPr lang="sl-SI" dirty="0">
              <a:latin typeface="Arial" pitchFamily="34" charset="0"/>
              <a:cs typeface="Arial" pitchFamily="34" charset="0"/>
            </a:endParaRPr>
          </a:p>
          <a:p>
            <a:pPr eaLnBrk="1" hangingPunct="1"/>
            <a:r>
              <a:rPr lang="en-US" dirty="0">
                <a:latin typeface="Arial" pitchFamily="34" charset="0"/>
              </a:rPr>
              <a:t>Meritve ugotavljajo osnovno zmogljivost procesa z razvojem preglednih in pomenljivih merilnih sistemov.</a:t>
            </a:r>
          </a:p>
          <a:p>
            <a:pPr eaLnBrk="1" hangingPunct="1"/>
            <a:r>
              <a:rPr lang="en-US" baseline="0" dirty="0">
                <a:latin typeface="Arial" pitchFamily="34" charset="0"/>
              </a:rPr>
              <a:t>Ne skušajte </a:t>
            </a:r>
            <a:r>
              <a:rPr lang="en-US" baseline="0">
                <a:latin typeface="Arial" pitchFamily="34" charset="0"/>
              </a:rPr>
              <a:t>se </a:t>
            </a:r>
            <a:r>
              <a:rPr lang="sl-SI" baseline="0">
                <a:latin typeface="Arial" pitchFamily="34" charset="0"/>
              </a:rPr>
              <a:t>poglabljati </a:t>
            </a:r>
            <a:r>
              <a:rPr lang="en-US" baseline="0">
                <a:latin typeface="Arial" pitchFamily="34" charset="0"/>
              </a:rPr>
              <a:t>v </a:t>
            </a:r>
            <a:r>
              <a:rPr lang="en-US" baseline="0" dirty="0">
                <a:latin typeface="Arial" pitchFamily="34" charset="0"/>
              </a:rPr>
              <a:t>temeljne vzroke ali v rešitve, dokler ne </a:t>
            </a:r>
            <a:r>
              <a:rPr lang="en-US" baseline="0">
                <a:latin typeface="Arial" pitchFamily="34" charset="0"/>
              </a:rPr>
              <a:t>morete učinkovit</a:t>
            </a:r>
            <a:r>
              <a:rPr lang="sl-SI" baseline="0">
                <a:latin typeface="Arial" pitchFamily="34" charset="0"/>
              </a:rPr>
              <a:t>o</a:t>
            </a:r>
            <a:r>
              <a:rPr lang="en-US" baseline="0">
                <a:latin typeface="Arial" pitchFamily="34" charset="0"/>
              </a:rPr>
              <a:t> </a:t>
            </a:r>
            <a:r>
              <a:rPr lang="en-US" baseline="0" dirty="0">
                <a:latin typeface="Arial" pitchFamily="34" charset="0"/>
              </a:rPr>
              <a:t>meriti procesa</a:t>
            </a:r>
            <a:r>
              <a:rPr lang="en-US" baseline="0">
                <a:latin typeface="Arial" pitchFamily="34" charset="0"/>
              </a:rPr>
              <a:t>. </a:t>
            </a:r>
            <a:r>
              <a:rPr lang="sl-SI" baseline="0">
                <a:latin typeface="Arial" pitchFamily="34" charset="0"/>
              </a:rPr>
              <a:t>Nove m</a:t>
            </a:r>
            <a:r>
              <a:rPr lang="en-US" baseline="0">
                <a:latin typeface="Arial" pitchFamily="34" charset="0"/>
              </a:rPr>
              <a:t>eritve </a:t>
            </a:r>
            <a:r>
              <a:rPr lang="sl-SI" baseline="0">
                <a:latin typeface="Arial" pitchFamily="34" charset="0"/>
              </a:rPr>
              <a:t>dopolnjujejo že </a:t>
            </a:r>
            <a:r>
              <a:rPr lang="en-US" baseline="0">
                <a:latin typeface="Arial" pitchFamily="34" charset="0"/>
              </a:rPr>
              <a:t>shranjene </a:t>
            </a:r>
            <a:r>
              <a:rPr lang="en-US" baseline="0" dirty="0">
                <a:latin typeface="Arial" pitchFamily="34" charset="0"/>
              </a:rPr>
              <a:t>podatke za dobro razumevanje zgodovine vedenja procesa. </a:t>
            </a:r>
          </a:p>
          <a:p>
            <a:pPr eaLnBrk="1" hangingPunct="1"/>
            <a:endParaRPr lang="sl-SI" baseline="0" dirty="0">
              <a:latin typeface="Arial" pitchFamily="34" charset="0"/>
              <a:cs typeface="Arial" pitchFamily="34" charset="0"/>
            </a:endParaRPr>
          </a:p>
          <a:p>
            <a:pPr eaLnBrk="1" hangingPunct="1"/>
            <a:r>
              <a:rPr lang="en-US" baseline="0" dirty="0">
                <a:latin typeface="Arial" pitchFamily="34" charset="0"/>
              </a:rPr>
              <a:t>Meritve nam lahko po implementaciji izboljšav pokažejo rezultate opravljenih aktivnosti (izboljšav).</a:t>
            </a:r>
          </a:p>
          <a:p>
            <a:pPr eaLnBrk="1" hangingPunct="1"/>
            <a:r>
              <a:rPr lang="en-US" baseline="0" dirty="0">
                <a:latin typeface="Arial" pitchFamily="34" charset="0"/>
              </a:rPr>
              <a:t>Dolgotrajne meritve </a:t>
            </a:r>
            <a:r>
              <a:rPr lang="en-US" baseline="0">
                <a:latin typeface="Arial" pitchFamily="34" charset="0"/>
              </a:rPr>
              <a:t>nam pomagajo </a:t>
            </a:r>
            <a:r>
              <a:rPr lang="en-US" baseline="0" dirty="0">
                <a:latin typeface="Arial" pitchFamily="34" charset="0"/>
              </a:rPr>
              <a:t>obvladati nove situacije in preprečujejo, da bi se vrnili v staro stanje (vzdrževanje).</a:t>
            </a:r>
            <a:endParaRPr lang="sl-SI" dirty="0">
              <a:latin typeface="Arial" pitchFamily="34" charset="0"/>
              <a:cs typeface="Arial" pitchFamily="34" charset="0"/>
            </a:endParaRPr>
          </a:p>
        </p:txBody>
      </p:sp>
    </p:spTree>
    <p:extLst>
      <p:ext uri="{BB962C8B-B14F-4D97-AF65-F5344CB8AC3E}">
        <p14:creationId xmlns:p14="http://schemas.microsoft.com/office/powerpoint/2010/main" val="2987311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xfrm>
            <a:off x="3884613" y="8685213"/>
            <a:ext cx="2971800" cy="457200"/>
          </a:xfrm>
          <a:prstGeom prst="rect">
            <a:avLst/>
          </a:prstGeom>
          <a:noFill/>
        </p:spPr>
        <p:txBody>
          <a:bodyPr/>
          <a:lstStyle/>
          <a:p>
            <a:pPr defTabSz="911492"/>
            <a:fld id="{4A982EF7-83AD-4364-A0A0-4A015157BDA7}" type="slidenum">
              <a:rPr lang="en-US" smtClean="0">
                <a:latin typeface="Arial" pitchFamily="34" charset="0"/>
                <a:cs typeface="Arial" pitchFamily="34" charset="0"/>
              </a:rPr>
              <a:pPr defTabSz="911492"/>
              <a:t>5</a:t>
            </a:fld>
            <a:endParaRPr lang="sl-SI" dirty="0">
              <a:latin typeface="Arial" pitchFamily="34" charset="0"/>
              <a:cs typeface="Arial"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r>
              <a:rPr lang="en-US" dirty="0">
                <a:latin typeface="Arial" pitchFamily="34" charset="0"/>
              </a:rPr>
              <a:t>Metrike (KPI) so meritve, ki odražajo </a:t>
            </a:r>
            <a:r>
              <a:rPr lang="en-US">
                <a:latin typeface="Arial" pitchFamily="34" charset="0"/>
              </a:rPr>
              <a:t>zmogljivost proces</a:t>
            </a:r>
            <a:r>
              <a:rPr lang="sl-SI">
                <a:latin typeface="Arial" pitchFamily="34" charset="0"/>
              </a:rPr>
              <a:t>ov</a:t>
            </a:r>
            <a:r>
              <a:rPr lang="en-US">
                <a:latin typeface="Arial" pitchFamily="34" charset="0"/>
              </a:rPr>
              <a:t>. </a:t>
            </a:r>
            <a:r>
              <a:rPr lang="en-US" dirty="0">
                <a:latin typeface="Arial" pitchFamily="34" charset="0"/>
              </a:rPr>
              <a:t>Metrike morajo odražati Glas kupca. KPI, vodeni na osnovi kupcev, so običajno odstotni deleži, </a:t>
            </a:r>
            <a:r>
              <a:rPr lang="en-US">
                <a:latin typeface="Arial" pitchFamily="34" charset="0"/>
              </a:rPr>
              <a:t>ki </a:t>
            </a:r>
            <a:r>
              <a:rPr lang="sl-SI">
                <a:latin typeface="Arial" pitchFamily="34" charset="0"/>
              </a:rPr>
              <a:t>razvrščajo </a:t>
            </a:r>
            <a:r>
              <a:rPr lang="en-US">
                <a:latin typeface="Arial" pitchFamily="34" charset="0"/>
              </a:rPr>
              <a:t>izhode proces</a:t>
            </a:r>
            <a:r>
              <a:rPr lang="sl-SI">
                <a:latin typeface="Arial" pitchFamily="34" charset="0"/>
              </a:rPr>
              <a:t>ov</a:t>
            </a:r>
            <a:r>
              <a:rPr lang="sl-SI" baseline="0">
                <a:latin typeface="Arial" pitchFamily="34" charset="0"/>
              </a:rPr>
              <a:t> </a:t>
            </a:r>
            <a:r>
              <a:rPr lang="en-US">
                <a:latin typeface="Arial" pitchFamily="34" charset="0"/>
              </a:rPr>
              <a:t>v </a:t>
            </a:r>
            <a:r>
              <a:rPr lang="en-US" dirty="0">
                <a:latin typeface="Arial" pitchFamily="34" charset="0"/>
              </a:rPr>
              <a:t>kategoriji uspešno/neuspešno na podlagi CTQ-jev kupcev.</a:t>
            </a:r>
          </a:p>
          <a:p>
            <a:pPr eaLnBrk="1" hangingPunct="1"/>
            <a:endParaRPr lang="sl-SI" baseline="0" dirty="0">
              <a:latin typeface="Arial" pitchFamily="34" charset="0"/>
              <a:cs typeface="Arial"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dirty="0"/>
              <a:t>Pri Lean projektih morajo biti cilji povezani z visokonivojskimi ključnimi kazalniki uspešnosti (KPI) za kakovost, dobavo ali stroške, kot so pravočasnost dobav (OTD), indeks priporočanja (NPS), skupna učinkovitost opreme (OEE), stroški slabe kakovosti (COPQ) itd. Ostala pomembna merila za Lean zmogljivost procesov so čas dodajanja vrednosti, pretočni čas, taktni čas itd.</a:t>
            </a:r>
          </a:p>
          <a:p>
            <a:pPr marL="0" marR="0" indent="0" algn="l" defTabSz="914400" rtl="0" eaLnBrk="1" fontAlgn="base" latinLnBrk="0" hangingPunct="1">
              <a:lnSpc>
                <a:spcPct val="100000"/>
              </a:lnSpc>
              <a:spcBef>
                <a:spcPct val="30000"/>
              </a:spcBef>
              <a:spcAft>
                <a:spcPct val="0"/>
              </a:spcAft>
              <a:buClrTx/>
              <a:buSzTx/>
              <a:buFontTx/>
              <a:buNone/>
              <a:tabLst/>
              <a:defRPr/>
            </a:pPr>
            <a:endParaRPr lang="sl-SI" baseline="0" dirty="0">
              <a:latin typeface="Arial" pitchFamily="34" charset="0"/>
              <a:cs typeface="Arial" pitchFamily="34" charset="0"/>
            </a:endParaRPr>
          </a:p>
          <a:p>
            <a:pPr eaLnBrk="1" hangingPunct="1"/>
            <a:r>
              <a:t>M</a:t>
            </a:r>
            <a:r>
              <a:rPr lang="sl-SI"/>
              <a:t>etrike</a:t>
            </a:r>
            <a:r>
              <a:t> </a:t>
            </a:r>
            <a:r>
              <a:rPr dirty="0"/>
              <a:t>Six Sigma se osredotočajo na kakovost in na sposobnost (DpU, PPM, </a:t>
            </a:r>
            <a:r>
              <a:t>DPMO)</a:t>
            </a:r>
            <a:r>
              <a:rPr lang="sl-SI"/>
              <a:t> ter jih</a:t>
            </a:r>
            <a:r>
              <a:rPr lang="sl-SI" baseline="0"/>
              <a:t> bomo </a:t>
            </a:r>
            <a:r>
              <a:rPr lang="en-US" baseline="0">
                <a:latin typeface="Arial" pitchFamily="34" charset="0"/>
              </a:rPr>
              <a:t>obravnavali </a:t>
            </a:r>
            <a:r>
              <a:rPr lang="en-US" baseline="0" dirty="0">
                <a:latin typeface="Arial" pitchFamily="34" charset="0"/>
              </a:rPr>
              <a:t>na naslednjih diapozitivih.</a:t>
            </a:r>
            <a:endParaRPr lang="sl-SI" dirty="0">
              <a:latin typeface="Arial" pitchFamily="34" charset="0"/>
              <a:cs typeface="Arial" pitchFamily="34" charset="0"/>
            </a:endParaRPr>
          </a:p>
        </p:txBody>
      </p:sp>
    </p:spTree>
    <p:extLst>
      <p:ext uri="{BB962C8B-B14F-4D97-AF65-F5344CB8AC3E}">
        <p14:creationId xmlns:p14="http://schemas.microsoft.com/office/powerpoint/2010/main" val="1498862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xfrm>
            <a:off x="3884613" y="8685213"/>
            <a:ext cx="2971800" cy="457200"/>
          </a:xfrm>
          <a:prstGeom prst="rect">
            <a:avLst/>
          </a:prstGeom>
          <a:noFill/>
        </p:spPr>
        <p:txBody>
          <a:bodyPr/>
          <a:lstStyle/>
          <a:p>
            <a:pPr defTabSz="911492"/>
            <a:fld id="{D45E6A49-E182-4391-A421-24A031CD1318}" type="slidenum">
              <a:rPr lang="en-US" smtClean="0">
                <a:latin typeface="Arial" pitchFamily="34" charset="0"/>
                <a:cs typeface="Arial" pitchFamily="34" charset="0"/>
              </a:rPr>
              <a:pPr defTabSz="911492"/>
              <a:t>6</a:t>
            </a:fld>
            <a:endParaRPr lang="sl-SI" dirty="0">
              <a:latin typeface="Arial" pitchFamily="34" charset="0"/>
              <a:cs typeface="Arial" pitchFamily="34"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r>
              <a:rPr lang="en-GB" sz="1200" kern="1200" dirty="0">
                <a:solidFill>
                  <a:schemeClr val="tx1"/>
                </a:solidFill>
                <a:latin typeface="+mn-lt"/>
              </a:rPr>
              <a:t>Obstajata dva različna načina, da razglasimo izdelek za 'slabega'. Prvič lahko rečemo, da je </a:t>
            </a:r>
            <a:r>
              <a:rPr lang="en-GB" sz="1200" kern="1200">
                <a:solidFill>
                  <a:schemeClr val="tx1"/>
                </a:solidFill>
                <a:latin typeface="+mn-lt"/>
              </a:rPr>
              <a:t>izdelek </a:t>
            </a:r>
            <a:r>
              <a:rPr lang="sl-SI" sz="1200" kern="1200">
                <a:solidFill>
                  <a:schemeClr val="tx1"/>
                </a:solidFill>
                <a:latin typeface="+mn-lt"/>
              </a:rPr>
              <a:t>‚</a:t>
            </a:r>
            <a:r>
              <a:rPr lang="en-GB" sz="1200" kern="1200">
                <a:solidFill>
                  <a:schemeClr val="tx1"/>
                </a:solidFill>
                <a:latin typeface="+mn-lt"/>
              </a:rPr>
              <a:t>z napako</a:t>
            </a:r>
            <a:r>
              <a:rPr lang="sl-SI" sz="1200" kern="1200">
                <a:solidFill>
                  <a:schemeClr val="tx1"/>
                </a:solidFill>
                <a:latin typeface="+mn-lt"/>
              </a:rPr>
              <a:t>‘, kar</a:t>
            </a:r>
            <a:r>
              <a:rPr lang="en-GB" sz="1200" kern="1200">
                <a:solidFill>
                  <a:schemeClr val="tx1"/>
                </a:solidFill>
                <a:latin typeface="+mn-lt"/>
              </a:rPr>
              <a:t> </a:t>
            </a:r>
            <a:r>
              <a:rPr lang="en-GB" sz="1200" kern="1200" dirty="0">
                <a:solidFill>
                  <a:schemeClr val="tx1"/>
                </a:solidFill>
                <a:latin typeface="+mn-lt"/>
              </a:rPr>
              <a:t>pomeni, da je </a:t>
            </a:r>
            <a:r>
              <a:rPr lang="en-GB" sz="1200" kern="1200">
                <a:solidFill>
                  <a:schemeClr val="tx1"/>
                </a:solidFill>
                <a:latin typeface="+mn-lt"/>
              </a:rPr>
              <a:t>z </a:t>
            </a:r>
            <a:r>
              <a:rPr lang="sl-SI" sz="1200" kern="1200">
                <a:solidFill>
                  <a:schemeClr val="tx1"/>
                </a:solidFill>
                <a:latin typeface="+mn-lt"/>
              </a:rPr>
              <a:t>njim </a:t>
            </a:r>
            <a:r>
              <a:rPr lang="en-GB" sz="1200" kern="1200">
                <a:solidFill>
                  <a:schemeClr val="tx1"/>
                </a:solidFill>
                <a:latin typeface="+mn-lt"/>
              </a:rPr>
              <a:t>nekaj narobe</a:t>
            </a:r>
            <a:r>
              <a:rPr lang="sl-SI" sz="1200" kern="1200">
                <a:solidFill>
                  <a:schemeClr val="tx1"/>
                </a:solidFill>
                <a:latin typeface="+mn-lt"/>
              </a:rPr>
              <a:t> -</a:t>
            </a:r>
            <a:r>
              <a:rPr lang="en-GB" sz="1200" kern="1200">
                <a:solidFill>
                  <a:schemeClr val="tx1"/>
                </a:solidFill>
                <a:latin typeface="+mn-lt"/>
              </a:rPr>
              <a:t> </a:t>
            </a:r>
            <a:r>
              <a:rPr lang="sl-SI" sz="1200" kern="1200">
                <a:solidFill>
                  <a:schemeClr val="tx1"/>
                </a:solidFill>
                <a:latin typeface="+mn-lt"/>
              </a:rPr>
              <a:t>n</a:t>
            </a:r>
            <a:r>
              <a:rPr lang="en-GB" sz="1200" kern="1200">
                <a:solidFill>
                  <a:schemeClr val="tx1"/>
                </a:solidFill>
                <a:latin typeface="+mn-lt"/>
              </a:rPr>
              <a:t>e </a:t>
            </a:r>
            <a:r>
              <a:rPr lang="en-GB" sz="1200" kern="1200" dirty="0">
                <a:solidFill>
                  <a:schemeClr val="tx1"/>
                </a:solidFill>
                <a:latin typeface="+mn-lt"/>
              </a:rPr>
              <a:t>deluje tako, kot bi moral, ali pa ni ustreznega videza. Izdelek ne izpolnjuje specifikacij ali pričakovanj kupca.</a:t>
            </a:r>
            <a:endParaRPr lang="sl-SI" sz="1200" kern="1200" dirty="0">
              <a:solidFill>
                <a:schemeClr val="tx1"/>
              </a:solidFill>
              <a:latin typeface="+mn-lt"/>
              <a:ea typeface="+mn-ea"/>
              <a:cs typeface="+mn-cs"/>
            </a:endParaRPr>
          </a:p>
          <a:p>
            <a:endParaRPr lang="sl-SI" sz="1200" kern="1200" dirty="0">
              <a:solidFill>
                <a:schemeClr val="tx1"/>
              </a:solidFill>
              <a:latin typeface="+mn-lt"/>
              <a:ea typeface="+mn-ea"/>
              <a:cs typeface="+mn-cs"/>
            </a:endParaRPr>
          </a:p>
          <a:p>
            <a:r>
              <a:rPr lang="en-GB" sz="1200" kern="1200" dirty="0">
                <a:solidFill>
                  <a:schemeClr val="tx1"/>
                </a:solidFill>
                <a:latin typeface="+mn-lt"/>
              </a:rPr>
              <a:t>Drugič, izdelek z napako ima lahko 'več napak'. Izdelek ima v tem primeru več kot eno dimenzijo ali lastnosti, ki so zunaj specifikacij ali pričakovanj</a:t>
            </a:r>
            <a:r>
              <a:rPr lang="en-GB" sz="1200" kern="1200">
                <a:solidFill>
                  <a:schemeClr val="tx1"/>
                </a:solidFill>
                <a:latin typeface="+mn-lt"/>
              </a:rPr>
              <a:t>. </a:t>
            </a:r>
            <a:r>
              <a:rPr lang="sl-SI" sz="1200" kern="1200">
                <a:solidFill>
                  <a:schemeClr val="tx1"/>
                </a:solidFill>
                <a:latin typeface="+mn-lt"/>
              </a:rPr>
              <a:t>Par primerov:</a:t>
            </a:r>
            <a:r>
              <a:rPr lang="en-GB" sz="1200" kern="1200">
                <a:solidFill>
                  <a:schemeClr val="tx1"/>
                </a:solidFill>
                <a:latin typeface="+mn-lt"/>
              </a:rPr>
              <a:t> </a:t>
            </a:r>
            <a:r>
              <a:rPr lang="en-GB" sz="1200" kern="1200" dirty="0">
                <a:solidFill>
                  <a:schemeClr val="tx1"/>
                </a:solidFill>
                <a:latin typeface="+mn-lt"/>
              </a:rPr>
              <a:t>več tipkarskih napak v enem dokumentu, več dimenzij iste komponente zunaj specifikacij, več prask na enem izdelku itd. </a:t>
            </a:r>
          </a:p>
          <a:p>
            <a:endParaRPr lang="sl-SI" sz="1200" kern="1200" dirty="0">
              <a:solidFill>
                <a:schemeClr val="tx1"/>
              </a:solidFill>
              <a:latin typeface="+mn-lt"/>
              <a:ea typeface="+mn-ea"/>
              <a:cs typeface="+mn-cs"/>
            </a:endParaRPr>
          </a:p>
          <a:p>
            <a:r>
              <a:rPr lang="en-GB" sz="1200" kern="1200" dirty="0">
                <a:solidFill>
                  <a:schemeClr val="tx1"/>
                </a:solidFill>
                <a:latin typeface="+mn-lt"/>
              </a:rPr>
              <a:t>Povzamemo lahko, da je dovolj ena sama 'napaka', </a:t>
            </a:r>
            <a:r>
              <a:rPr lang="en-GB" sz="1200" kern="1200">
                <a:solidFill>
                  <a:schemeClr val="tx1"/>
                </a:solidFill>
                <a:latin typeface="+mn-lt"/>
              </a:rPr>
              <a:t>da </a:t>
            </a:r>
            <a:r>
              <a:rPr lang="sl-SI" sz="1200" kern="1200">
                <a:solidFill>
                  <a:schemeClr val="tx1"/>
                </a:solidFill>
                <a:latin typeface="+mn-lt"/>
              </a:rPr>
              <a:t>je </a:t>
            </a:r>
            <a:r>
              <a:rPr lang="en-GB" sz="1200" kern="1200">
                <a:solidFill>
                  <a:schemeClr val="tx1"/>
                </a:solidFill>
                <a:latin typeface="+mn-lt"/>
              </a:rPr>
              <a:t>izdelek </a:t>
            </a:r>
            <a:r>
              <a:rPr lang="en-GB" sz="1200" kern="1200" dirty="0">
                <a:solidFill>
                  <a:schemeClr val="tx1"/>
                </a:solidFill>
                <a:latin typeface="+mn-lt"/>
              </a:rPr>
              <a:t>'z napako'. En izdelek 'z napako' pa ima lahko tudi več 'napak'. Razlika je pomembna za izračunavanje izkoristka, kot je opisano v nadaljevanju. </a:t>
            </a:r>
          </a:p>
          <a:p>
            <a:pPr marL="0" marR="0" indent="0" algn="l" defTabSz="914400" rtl="0" eaLnBrk="1" fontAlgn="base" latinLnBrk="0" hangingPunct="1">
              <a:lnSpc>
                <a:spcPct val="100000"/>
              </a:lnSpc>
              <a:spcBef>
                <a:spcPct val="30000"/>
              </a:spcBef>
              <a:spcAft>
                <a:spcPct val="0"/>
              </a:spcAft>
              <a:buClrTx/>
              <a:buSzTx/>
              <a:buFontTx/>
              <a:buNone/>
              <a:tabLst/>
              <a:defRPr/>
            </a:pPr>
            <a:endParaRPr lang="sl-SI" sz="1200" kern="1200" dirty="0">
              <a:solidFill>
                <a:schemeClr val="tx1"/>
              </a:solidFill>
              <a:latin typeface="+mn-lt"/>
              <a:ea typeface="+mn-ea"/>
              <a:cs typeface="+mn-cs"/>
            </a:endParaRPr>
          </a:p>
          <a:p>
            <a:pPr eaLnBrk="1" hangingPunct="1"/>
            <a:r>
              <a:rPr lang="en-GB" sz="1200" kern="1200" dirty="0">
                <a:solidFill>
                  <a:schemeClr val="tx1"/>
                </a:solidFill>
                <a:latin typeface="+mn-lt"/>
              </a:rPr>
              <a:t>DPU je skupno število napak </a:t>
            </a:r>
            <a:r>
              <a:rPr lang="en-GB" sz="1200" kern="1200">
                <a:solidFill>
                  <a:schemeClr val="tx1"/>
                </a:solidFill>
                <a:latin typeface="+mn-lt"/>
              </a:rPr>
              <a:t>na enoto. Vrednost DPU je </a:t>
            </a:r>
            <a:r>
              <a:rPr lang="en-GB" sz="1200" kern="1200" dirty="0">
                <a:solidFill>
                  <a:schemeClr val="tx1"/>
                </a:solidFill>
                <a:latin typeface="+mn-lt"/>
              </a:rPr>
              <a:t>lahko večja od 1, saj ima lahko ena enota več napak (npr. motorni pokrov ima lahko več vdrtin </a:t>
            </a:r>
            <a:r>
              <a:rPr lang="en-GB" sz="1200" kern="1200">
                <a:solidFill>
                  <a:schemeClr val="tx1"/>
                </a:solidFill>
                <a:latin typeface="+mn-lt"/>
              </a:rPr>
              <a:t>in prask</a:t>
            </a:r>
            <a:r>
              <a:rPr lang="sl-SI" sz="1200" kern="1200">
                <a:solidFill>
                  <a:schemeClr val="tx1"/>
                </a:solidFill>
                <a:latin typeface="+mn-lt"/>
              </a:rPr>
              <a:t>,</a:t>
            </a:r>
            <a:r>
              <a:rPr lang="en-GB" sz="1200" kern="1200">
                <a:solidFill>
                  <a:schemeClr val="tx1"/>
                </a:solidFill>
                <a:latin typeface="+mn-lt"/>
              </a:rPr>
              <a:t> v </a:t>
            </a:r>
            <a:r>
              <a:rPr lang="en-GB" sz="1200" kern="1200" dirty="0">
                <a:solidFill>
                  <a:schemeClr val="tx1"/>
                </a:solidFill>
                <a:latin typeface="+mn-lt"/>
              </a:rPr>
              <a:t>dokumentu je lahko več kot ena tipkarska napaka). </a:t>
            </a:r>
            <a:endParaRPr lang="sl-SI" dirty="0">
              <a:latin typeface="Arial" pitchFamily="34" charset="0"/>
              <a:cs typeface="Arial" pitchFamily="34" charset="0"/>
            </a:endParaRPr>
          </a:p>
        </p:txBody>
      </p:sp>
    </p:spTree>
    <p:extLst>
      <p:ext uri="{BB962C8B-B14F-4D97-AF65-F5344CB8AC3E}">
        <p14:creationId xmlns:p14="http://schemas.microsoft.com/office/powerpoint/2010/main" val="3985407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en-GB" sz="1200" kern="1200" dirty="0">
                <a:solidFill>
                  <a:schemeClr val="tx1"/>
                </a:solidFill>
                <a:latin typeface="+mn-lt"/>
              </a:rPr>
              <a:t>Pri velikoserijski proizvodnji s strogimi zahtevami glede kakovosti se s pomočjo merila PPM navaja kakovost serije ali proizvodne linije. Kratica PPM pomeni število delov z napako na milijon. </a:t>
            </a:r>
          </a:p>
          <a:p>
            <a:endParaRPr lang="sl-SI" sz="1200" kern="1200" dirty="0">
              <a:solidFill>
                <a:schemeClr val="tx1"/>
              </a:solidFill>
              <a:latin typeface="+mn-lt"/>
              <a:ea typeface="+mn-ea"/>
              <a:cs typeface="+mn-cs"/>
            </a:endParaRPr>
          </a:p>
          <a:p>
            <a:r>
              <a:rPr lang="en-GB" sz="1200" kern="1200" dirty="0">
                <a:solidFill>
                  <a:schemeClr val="tx1"/>
                </a:solidFill>
                <a:latin typeface="+mn-lt"/>
              </a:rPr>
              <a:t>Primer je prikazan na diapozitivu.</a:t>
            </a:r>
          </a:p>
          <a:p>
            <a:endParaRPr lang="sl-SI" sz="1200" kern="1200" dirty="0">
              <a:solidFill>
                <a:schemeClr val="tx1"/>
              </a:solidFill>
              <a:latin typeface="+mn-lt"/>
              <a:ea typeface="+mn-ea"/>
              <a:cs typeface="+mn-cs"/>
            </a:endParaRPr>
          </a:p>
          <a:p>
            <a:r>
              <a:rPr dirty="0"/>
              <a:t>50 PPM pomeni, da lahko </a:t>
            </a:r>
            <a:r>
              <a:t>pri </a:t>
            </a:r>
            <a:r>
              <a:rPr lang="sl-SI"/>
              <a:t>enem </a:t>
            </a:r>
            <a:r>
              <a:t>proizvedenem milijonu </a:t>
            </a:r>
            <a:r>
              <a:rPr lang="sl-SI"/>
              <a:t>kosov </a:t>
            </a:r>
            <a:r>
              <a:t>pričakujemo </a:t>
            </a:r>
            <a:r>
              <a:rPr dirty="0"/>
              <a:t>50 takšnih izdelkov, </a:t>
            </a:r>
            <a:r>
              <a:t>ki </a:t>
            </a:r>
            <a:r>
              <a:rPr lang="sl-SI"/>
              <a:t>bodo </a:t>
            </a:r>
            <a:r>
              <a:t>poškodovani </a:t>
            </a:r>
            <a:r>
              <a:rPr dirty="0"/>
              <a:t>ali ne izpolnjujejo specifikacij.</a:t>
            </a:r>
            <a:r>
              <a:rPr lang="en-GB" sz="1200" kern="1200" dirty="0">
                <a:solidFill>
                  <a:schemeClr val="tx1"/>
                </a:solidFill>
                <a:latin typeface="+mn-lt"/>
              </a:rPr>
              <a:t> Pri 100.000 izdelanih kosih in zmogljivosti 50 PPM lahko pričakujemo, da 5 delov ne bo izpolnjevalo specifikacij</a:t>
            </a:r>
            <a:r>
              <a:rPr lang="en-GB" sz="1200" kern="1200">
                <a:solidFill>
                  <a:schemeClr val="tx1"/>
                </a:solidFill>
                <a:latin typeface="+mn-lt"/>
              </a:rPr>
              <a:t>. </a:t>
            </a:r>
            <a:r>
              <a:rPr lang="sl-SI" sz="1200" kern="1200">
                <a:solidFill>
                  <a:schemeClr val="tx1"/>
                </a:solidFill>
                <a:latin typeface="+mn-lt"/>
              </a:rPr>
              <a:t>Že </a:t>
            </a:r>
            <a:r>
              <a:rPr lang="en-GB" sz="1200" kern="1200">
                <a:solidFill>
                  <a:schemeClr val="tx1"/>
                </a:solidFill>
                <a:latin typeface="+mn-lt"/>
              </a:rPr>
              <a:t>50 </a:t>
            </a:r>
            <a:r>
              <a:rPr lang="en-GB" sz="1200" kern="1200" dirty="0">
                <a:solidFill>
                  <a:schemeClr val="tx1"/>
                </a:solidFill>
                <a:latin typeface="+mn-lt"/>
              </a:rPr>
              <a:t>PPM predstavlja precej visok standard kakovosti za marsikatero proizvodnjo, pri Six Sigma pa je predvidena še </a:t>
            </a:r>
            <a:r>
              <a:rPr lang="en-GB" sz="1200" kern="1200">
                <a:solidFill>
                  <a:schemeClr val="tx1"/>
                </a:solidFill>
                <a:latin typeface="+mn-lt"/>
              </a:rPr>
              <a:t>večja kakovost</a:t>
            </a:r>
            <a:r>
              <a:rPr lang="sl-SI" sz="1200" kern="1200">
                <a:solidFill>
                  <a:schemeClr val="tx1"/>
                </a:solidFill>
                <a:latin typeface="+mn-lt"/>
              </a:rPr>
              <a:t>:</a:t>
            </a:r>
            <a:r>
              <a:rPr lang="en-GB" sz="1200" kern="1200">
                <a:solidFill>
                  <a:schemeClr val="tx1"/>
                </a:solidFill>
                <a:latin typeface="+mn-lt"/>
              </a:rPr>
              <a:t> </a:t>
            </a:r>
            <a:r>
              <a:rPr lang="en-GB" sz="1200" kern="1200" dirty="0">
                <a:solidFill>
                  <a:schemeClr val="tx1"/>
                </a:solidFill>
                <a:latin typeface="+mn-lt"/>
              </a:rPr>
              <a:t>3,4 PPM.</a:t>
            </a:r>
            <a:endParaRPr lang="sl-SI" sz="1200" kern="1200" dirty="0">
              <a:solidFill>
                <a:schemeClr val="tx1"/>
              </a:solidFill>
              <a:latin typeface="+mn-lt"/>
              <a:ea typeface="+mn-ea"/>
              <a:cs typeface="+mn-cs"/>
            </a:endParaRPr>
          </a:p>
          <a:p>
            <a:endParaRPr lang="sl-SI" dirty="0"/>
          </a:p>
          <a:p>
            <a:endParaRPr lang="sl-SI" dirty="0"/>
          </a:p>
        </p:txBody>
      </p:sp>
      <p:sp>
        <p:nvSpPr>
          <p:cNvPr id="4" name="Tijdelijke aanduiding voor dianummer 3"/>
          <p:cNvSpPr>
            <a:spLocks noGrp="1"/>
          </p:cNvSpPr>
          <p:nvPr>
            <p:ph type="sldNum" sz="quarter" idx="10"/>
          </p:nvPr>
        </p:nvSpPr>
        <p:spPr>
          <a:xfrm>
            <a:off x="3884613" y="8685213"/>
            <a:ext cx="2971800" cy="457200"/>
          </a:xfrm>
          <a:prstGeom prst="rect">
            <a:avLst/>
          </a:prstGeom>
        </p:spPr>
        <p:txBody>
          <a:bodyPr/>
          <a:lstStyle/>
          <a:p>
            <a:pPr>
              <a:defRPr/>
            </a:pPr>
            <a:fld id="{A86B3B2B-CC94-4EFC-919B-8391B1EFD700}" type="slidenum">
              <a:rPr lang="nl-NL" smtClean="0"/>
              <a:pPr>
                <a:defRPr/>
              </a:pPr>
              <a:t>7</a:t>
            </a:fld>
            <a:endParaRPr lang="sl-SI"/>
          </a:p>
        </p:txBody>
      </p:sp>
    </p:spTree>
    <p:extLst>
      <p:ext uri="{BB962C8B-B14F-4D97-AF65-F5344CB8AC3E}">
        <p14:creationId xmlns:p14="http://schemas.microsoft.com/office/powerpoint/2010/main" val="2542943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jdelijke aanduiding voor dia-afbeelding 1"/>
          <p:cNvSpPr>
            <a:spLocks noGrp="1" noRot="1" noChangeAspect="1" noTextEdit="1"/>
          </p:cNvSpPr>
          <p:nvPr>
            <p:ph type="sldImg"/>
          </p:nvPr>
        </p:nvSpPr>
        <p:spPr>
          <a:ln/>
        </p:spPr>
      </p:sp>
      <p:sp>
        <p:nvSpPr>
          <p:cNvPr id="33795" name="Tijdelijke aanduiding voor notities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latin typeface="+mn-lt"/>
              </a:rPr>
              <a:t>Kratica DPMO pomeni število napak na milijon priložnosti oz. število neskladnosti na milijon priložnosti. Merilo DPMO je podobno PPM in se uporablja kot merilo kakovosti. </a:t>
            </a:r>
            <a:r>
              <a:rPr lang="en-GB" sz="1200" kern="1200">
                <a:solidFill>
                  <a:schemeClr val="tx1"/>
                </a:solidFill>
                <a:latin typeface="+mn-lt"/>
              </a:rPr>
              <a:t>DPMO se </a:t>
            </a:r>
            <a:r>
              <a:rPr lang="en-GB" sz="1200" kern="1200" dirty="0">
                <a:solidFill>
                  <a:schemeClr val="tx1"/>
                </a:solidFill>
                <a:latin typeface="+mn-lt"/>
              </a:rPr>
              <a:t>razlikuje </a:t>
            </a:r>
            <a:r>
              <a:rPr lang="en-GB" sz="1200" kern="1200">
                <a:solidFill>
                  <a:schemeClr val="tx1"/>
                </a:solidFill>
                <a:latin typeface="+mn-lt"/>
              </a:rPr>
              <a:t>od PPM</a:t>
            </a:r>
            <a:r>
              <a:rPr lang="sl-SI" sz="1200" kern="1200">
                <a:solidFill>
                  <a:schemeClr val="tx1"/>
                </a:solidFill>
                <a:latin typeface="+mn-lt"/>
              </a:rPr>
              <a:t> po tem</a:t>
            </a:r>
            <a:r>
              <a:rPr lang="en-GB" sz="1200" kern="1200">
                <a:solidFill>
                  <a:schemeClr val="tx1"/>
                </a:solidFill>
                <a:latin typeface="+mn-lt"/>
              </a:rPr>
              <a:t>, </a:t>
            </a:r>
            <a:r>
              <a:rPr lang="sl-SI" sz="1200" kern="1200">
                <a:solidFill>
                  <a:schemeClr val="tx1"/>
                </a:solidFill>
                <a:latin typeface="+mn-lt"/>
              </a:rPr>
              <a:t>da</a:t>
            </a:r>
            <a:r>
              <a:rPr lang="en-GB" sz="1200" kern="1200">
                <a:solidFill>
                  <a:schemeClr val="tx1"/>
                </a:solidFill>
                <a:latin typeface="+mn-lt"/>
              </a:rPr>
              <a:t> </a:t>
            </a:r>
            <a:r>
              <a:rPr lang="en-GB" sz="1200" kern="1200" dirty="0">
                <a:solidFill>
                  <a:schemeClr val="tx1"/>
                </a:solidFill>
                <a:latin typeface="+mn-lt"/>
              </a:rPr>
              <a:t>upošteva možnost, da </a:t>
            </a:r>
            <a:r>
              <a:rPr lang="en-GB" sz="1200" kern="1200">
                <a:solidFill>
                  <a:schemeClr val="tx1"/>
                </a:solidFill>
                <a:latin typeface="+mn-lt"/>
              </a:rPr>
              <a:t>lahko </a:t>
            </a:r>
            <a:r>
              <a:rPr lang="sl-SI" sz="1200" kern="1200">
                <a:solidFill>
                  <a:schemeClr val="tx1"/>
                </a:solidFill>
                <a:latin typeface="+mn-lt"/>
              </a:rPr>
              <a:t>pri</a:t>
            </a:r>
            <a:r>
              <a:rPr lang="en-GB" sz="1200" kern="1200">
                <a:solidFill>
                  <a:schemeClr val="tx1"/>
                </a:solidFill>
                <a:latin typeface="+mn-lt"/>
              </a:rPr>
              <a:t> pregled</a:t>
            </a:r>
            <a:r>
              <a:rPr lang="sl-SI" sz="1200" kern="1200">
                <a:solidFill>
                  <a:schemeClr val="tx1"/>
                </a:solidFill>
                <a:latin typeface="+mn-lt"/>
              </a:rPr>
              <a:t>u</a:t>
            </a:r>
            <a:r>
              <a:rPr lang="en-GB" sz="1200" kern="1200">
                <a:solidFill>
                  <a:schemeClr val="tx1"/>
                </a:solidFill>
                <a:latin typeface="+mn-lt"/>
              </a:rPr>
              <a:t> </a:t>
            </a:r>
            <a:r>
              <a:rPr lang="en-GB" sz="1200" kern="1200" dirty="0">
                <a:solidFill>
                  <a:schemeClr val="tx1"/>
                </a:solidFill>
                <a:latin typeface="+mn-lt"/>
              </a:rPr>
              <a:t>ene enote najdemo več napak </a:t>
            </a:r>
            <a:r>
              <a:rPr lang="en-GB" sz="1200" kern="1200">
                <a:solidFill>
                  <a:schemeClr val="tx1"/>
                </a:solidFill>
                <a:latin typeface="+mn-lt"/>
              </a:rPr>
              <a:t>iste vrste</a:t>
            </a:r>
            <a:r>
              <a:rPr lang="sl-SI" sz="1200" kern="1200">
                <a:solidFill>
                  <a:schemeClr val="tx1"/>
                </a:solidFill>
                <a:latin typeface="+mn-lt"/>
              </a:rPr>
              <a:t>,</a:t>
            </a:r>
            <a:r>
              <a:rPr lang="en-GB" sz="1200" kern="1200">
                <a:solidFill>
                  <a:schemeClr val="tx1"/>
                </a:solidFill>
                <a:latin typeface="+mn-lt"/>
              </a:rPr>
              <a:t> </a:t>
            </a:r>
            <a:r>
              <a:rPr lang="en-GB" sz="1200" kern="1200" dirty="0">
                <a:solidFill>
                  <a:schemeClr val="tx1"/>
                </a:solidFill>
                <a:latin typeface="+mn-lt"/>
              </a:rPr>
              <a:t>ali pa celo različne vrste napak.</a:t>
            </a:r>
            <a:endParaRPr lang="sl-SI" sz="1200" kern="1200" dirty="0">
              <a:solidFill>
                <a:schemeClr val="tx1"/>
              </a:solidFill>
              <a:latin typeface="+mn-lt"/>
              <a:ea typeface="+mn-ea"/>
              <a:cs typeface="+mn-cs"/>
            </a:endParaRPr>
          </a:p>
          <a:p>
            <a:endParaRPr lang="sl-SI" dirty="0">
              <a:latin typeface="Arial" pitchFamily="34" charset="0"/>
              <a:cs typeface="Arial" pitchFamily="34" charset="0"/>
            </a:endParaRPr>
          </a:p>
          <a:p>
            <a:r>
              <a:rPr lang="en-US" dirty="0">
                <a:latin typeface="Arial" pitchFamily="34" charset="0"/>
              </a:rPr>
              <a:t>Oglejmo si primer na diapozitivu:</a:t>
            </a:r>
          </a:p>
          <a:p>
            <a:endParaRPr lang="sl-SI" dirty="0">
              <a:latin typeface="Arial" pitchFamily="34" charset="0"/>
              <a:cs typeface="Arial" pitchFamily="34" charset="0"/>
            </a:endParaRPr>
          </a:p>
          <a:p>
            <a:r>
              <a:rPr lang="en-US" dirty="0">
                <a:latin typeface="Arial" pitchFamily="34" charset="0"/>
              </a:rPr>
              <a:t>Število priložnosti za napako je 2 * 30.000 = 60.000.</a:t>
            </a:r>
          </a:p>
          <a:p>
            <a:r>
              <a:rPr lang="en-US" baseline="0" dirty="0">
                <a:latin typeface="Arial" pitchFamily="34" charset="0"/>
              </a:rPr>
              <a:t>V tem primeru je bilo najdenih 53 napak.</a:t>
            </a:r>
          </a:p>
          <a:p>
            <a:r>
              <a:rPr lang="en-US" baseline="0" dirty="0">
                <a:latin typeface="Arial" pitchFamily="34" charset="0"/>
              </a:rPr>
              <a:t>DPMO = 53/60.000 * 1.000.000 = 883</a:t>
            </a:r>
            <a:endParaRPr lang="sl-SI" dirty="0">
              <a:latin typeface="Arial" pitchFamily="34" charset="0"/>
              <a:cs typeface="Arial" pitchFamily="34" charset="0"/>
            </a:endParaRPr>
          </a:p>
        </p:txBody>
      </p:sp>
      <p:sp>
        <p:nvSpPr>
          <p:cNvPr id="33796" name="Tijdelijke aanduiding voor dianummer 3"/>
          <p:cNvSpPr>
            <a:spLocks noGrp="1"/>
          </p:cNvSpPr>
          <p:nvPr>
            <p:ph type="sldNum" sz="quarter" idx="5"/>
          </p:nvPr>
        </p:nvSpPr>
        <p:spPr>
          <a:xfrm>
            <a:off x="3884613" y="8685213"/>
            <a:ext cx="2971800" cy="457200"/>
          </a:xfrm>
          <a:prstGeom prst="rect">
            <a:avLst/>
          </a:prstGeom>
          <a:noFill/>
        </p:spPr>
        <p:txBody>
          <a:bodyPr/>
          <a:lstStyle/>
          <a:p>
            <a:pPr defTabSz="911492"/>
            <a:fld id="{51E4374F-536E-4097-8380-B45A36680C58}" type="slidenum">
              <a:rPr lang="en-US" smtClean="0">
                <a:latin typeface="Arial" pitchFamily="34" charset="0"/>
                <a:cs typeface="Arial" pitchFamily="34" charset="0"/>
              </a:rPr>
              <a:pPr defTabSz="911492"/>
              <a:t>8</a:t>
            </a:fld>
            <a:endParaRPr lang="sl-SI" dirty="0">
              <a:latin typeface="Arial" pitchFamily="34" charset="0"/>
              <a:cs typeface="Arial" pitchFamily="34" charset="0"/>
            </a:endParaRPr>
          </a:p>
        </p:txBody>
      </p:sp>
    </p:spTree>
    <p:extLst>
      <p:ext uri="{BB962C8B-B14F-4D97-AF65-F5344CB8AC3E}">
        <p14:creationId xmlns:p14="http://schemas.microsoft.com/office/powerpoint/2010/main" val="1367522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xfrm>
            <a:off x="3884613" y="8685213"/>
            <a:ext cx="2971800" cy="457200"/>
          </a:xfrm>
          <a:prstGeom prst="rect">
            <a:avLst/>
          </a:prstGeom>
          <a:noFill/>
        </p:spPr>
        <p:txBody>
          <a:bodyPr/>
          <a:lstStyle/>
          <a:p>
            <a:pPr defTabSz="911492"/>
            <a:fld id="{C98FB565-5F57-4F3F-8BF7-E21A25FD58F6}" type="slidenum">
              <a:rPr lang="en-US" smtClean="0">
                <a:latin typeface="Arial" pitchFamily="34" charset="0"/>
                <a:cs typeface="Arial" pitchFamily="34" charset="0"/>
              </a:rPr>
              <a:pPr defTabSz="911492"/>
              <a:t>9</a:t>
            </a:fld>
            <a:endParaRPr lang="sl-SI" dirty="0">
              <a:latin typeface="Arial" pitchFamily="34" charset="0"/>
              <a:cs typeface="Arial"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Izkoristek je odstotek izdelkov, ki se predajo v naslednjo operacijo brez vseh napak. Najbolje ga lahko pojasnimo na primeru: </a:t>
            </a:r>
            <a:r>
              <a:rPr lang="sl-SI" sz="1200" kern="1200" dirty="0">
                <a:solidFill>
                  <a:schemeClr val="tx1"/>
                </a:solidFill>
                <a:latin typeface="+mn-lt"/>
              </a:rPr>
              <a:t>p</a:t>
            </a:r>
            <a:r>
              <a:rPr lang="en-GB" sz="1200" kern="1200" dirty="0" err="1">
                <a:solidFill>
                  <a:schemeClr val="tx1"/>
                </a:solidFill>
                <a:latin typeface="+mn-lt"/>
              </a:rPr>
              <a:t>rivzemimo</a:t>
            </a:r>
            <a:r>
              <a:rPr lang="en-GB" sz="1200" kern="1200" dirty="0">
                <a:solidFill>
                  <a:schemeClr val="tx1"/>
                </a:solidFill>
                <a:latin typeface="+mn-lt"/>
              </a:rPr>
              <a:t>, da izdelujemo del opekača v štirih zaporednih korakih procesa (A, B, C in D). V vsakem koraku procesa dobimo določeno število dobrih delov (Izhod) in določeno število slabih </a:t>
            </a:r>
            <a:r>
              <a:rPr lang="en-GB" sz="1200" kern="1200" dirty="0" err="1">
                <a:solidFill>
                  <a:schemeClr val="tx1"/>
                </a:solidFill>
                <a:latin typeface="+mn-lt"/>
              </a:rPr>
              <a:t>delov</a:t>
            </a:r>
            <a:r>
              <a:rPr lang="en-GB" sz="1200" kern="1200" dirty="0">
                <a:solidFill>
                  <a:schemeClr val="tx1"/>
                </a:solidFill>
                <a:latin typeface="+mn-lt"/>
              </a:rPr>
              <a:t> (</a:t>
            </a:r>
            <a:r>
              <a:rPr lang="sl-SI" sz="1200" kern="1200" dirty="0">
                <a:solidFill>
                  <a:schemeClr val="tx1"/>
                </a:solidFill>
                <a:latin typeface="+mn-lt"/>
              </a:rPr>
              <a:t>Š</a:t>
            </a:r>
            <a:r>
              <a:rPr lang="en-GB" sz="1200" kern="1200" dirty="0">
                <a:solidFill>
                  <a:schemeClr val="tx1"/>
                </a:solidFill>
                <a:latin typeface="+mn-lt"/>
              </a:rPr>
              <a:t>kart). Vsi dobri deli gredo v naslednji korak procesa, </a:t>
            </a:r>
            <a:r>
              <a:rPr lang="en-GB" sz="1200" kern="1200" dirty="0" err="1">
                <a:solidFill>
                  <a:schemeClr val="tx1"/>
                </a:solidFill>
                <a:latin typeface="+mn-lt"/>
              </a:rPr>
              <a:t>škar</a:t>
            </a:r>
            <a:r>
              <a:rPr lang="sl-SI" sz="1200" kern="1200" dirty="0">
                <a:solidFill>
                  <a:schemeClr val="tx1"/>
                </a:solidFill>
                <a:latin typeface="+mn-lt"/>
              </a:rPr>
              <a:t>t</a:t>
            </a:r>
            <a:r>
              <a:rPr lang="en-GB" sz="1200" kern="1200" dirty="0">
                <a:solidFill>
                  <a:schemeClr val="tx1"/>
                </a:solidFill>
                <a:latin typeface="+mn-lt"/>
              </a:rPr>
              <a:t>ne dele pa zavržemo. </a:t>
            </a:r>
          </a:p>
          <a:p>
            <a:pPr marL="0" marR="0" indent="0" algn="l" defTabSz="914400" rtl="0" eaLnBrk="1" fontAlgn="base" latinLnBrk="0" hangingPunct="1">
              <a:lnSpc>
                <a:spcPct val="100000"/>
              </a:lnSpc>
              <a:spcBef>
                <a:spcPct val="30000"/>
              </a:spcBef>
              <a:spcAft>
                <a:spcPct val="0"/>
              </a:spcAft>
              <a:buClrTx/>
              <a:buSzTx/>
              <a:buFontTx/>
              <a:buNone/>
              <a:tabLst/>
              <a:defRPr/>
            </a:pPr>
            <a:endParaRPr lang="sl-SI" sz="1200" kern="1200" dirty="0">
              <a:solidFill>
                <a:schemeClr val="tx1"/>
              </a:solidFill>
              <a:latin typeface="+mn-lt"/>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Izkoristek = skupno število izdelkov brez napak / skupno število izdelkov</a:t>
            </a:r>
          </a:p>
          <a:p>
            <a:pPr marL="0" marR="0" indent="0" algn="l" defTabSz="914400" rtl="0" eaLnBrk="1" fontAlgn="base" latinLnBrk="0" hangingPunct="1">
              <a:lnSpc>
                <a:spcPct val="100000"/>
              </a:lnSpc>
              <a:spcBef>
                <a:spcPct val="30000"/>
              </a:spcBef>
              <a:spcAft>
                <a:spcPct val="0"/>
              </a:spcAft>
              <a:buClrTx/>
              <a:buSzTx/>
              <a:buFontTx/>
              <a:buNone/>
              <a:tabLst/>
              <a:defRPr/>
            </a:pPr>
            <a:endParaRPr lang="sl-SI" sz="1200" kern="1200" baseline="0" dirty="0">
              <a:solidFill>
                <a:schemeClr val="tx1"/>
              </a:solidFill>
              <a:latin typeface="+mn-lt"/>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b="1" kern="1200" baseline="0" dirty="0">
                <a:solidFill>
                  <a:schemeClr val="tx1"/>
                </a:solidFill>
                <a:latin typeface="+mn-lt"/>
              </a:rPr>
              <a:t>Primer</a:t>
            </a:r>
            <a:endParaRPr lang="sl-SI" sz="1200" b="1" kern="1200" dirty="0">
              <a:solidFill>
                <a:schemeClr val="tx1"/>
              </a:solidFill>
              <a:latin typeface="+mn-lt"/>
              <a:ea typeface="+mn-ea"/>
              <a:cs typeface="+mn-cs"/>
            </a:endParaRPr>
          </a:p>
          <a:p>
            <a:pPr eaLnBrk="1" hangingPunct="1"/>
            <a:r>
              <a:rPr lang="en-US" dirty="0">
                <a:latin typeface="Arial" pitchFamily="34" charset="0"/>
              </a:rPr>
              <a:t>Izkoristek procesa A	: 90/100 = 90%</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a:latin typeface="Arial" pitchFamily="34" charset="0"/>
              </a:rPr>
              <a:t>Izkoristek procesa B	: 80/90 = 89%</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latin typeface="Arial" pitchFamily="34" charset="0"/>
              </a:rPr>
              <a:t>Itd.</a:t>
            </a:r>
          </a:p>
          <a:p>
            <a:pPr marL="0" marR="0" indent="0" algn="l" defTabSz="914400" rtl="0" eaLnBrk="1" fontAlgn="base" latinLnBrk="0" hangingPunct="1">
              <a:lnSpc>
                <a:spcPct val="100000"/>
              </a:lnSpc>
              <a:spcBef>
                <a:spcPct val="30000"/>
              </a:spcBef>
              <a:spcAft>
                <a:spcPct val="0"/>
              </a:spcAft>
              <a:buClrTx/>
              <a:buSzTx/>
              <a:buFontTx/>
              <a:buNone/>
              <a:tabLst/>
              <a:defRPr/>
            </a:pPr>
            <a:endParaRPr lang="sl-SI" baseline="0" dirty="0">
              <a:latin typeface="Arial" pitchFamily="34" charset="0"/>
              <a:cs typeface="Arial"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latin typeface="Arial" pitchFamily="34" charset="0"/>
              </a:rPr>
              <a:t>Skupni izkoristek procesa = Izkoristek A * Izkoristek B * Izkoristek C * Izkoristek D = 0,90 * 0,89 * 0,94 * 0,93 = 0,70</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latin typeface="Arial" pitchFamily="34" charset="0"/>
              </a:rPr>
              <a:t>To pomeni, da je bilo izdelanih samo 70% izdelkov brez napak.</a:t>
            </a:r>
          </a:p>
          <a:p>
            <a:pPr eaLnBrk="1" hangingPunct="1"/>
            <a:endParaRPr lang="sl-SI" dirty="0">
              <a:latin typeface="Arial" pitchFamily="34" charset="0"/>
              <a:cs typeface="Arial" pitchFamily="34" charset="0"/>
            </a:endParaRPr>
          </a:p>
        </p:txBody>
      </p:sp>
    </p:spTree>
    <p:extLst>
      <p:ext uri="{BB962C8B-B14F-4D97-AF65-F5344CB8AC3E}">
        <p14:creationId xmlns:p14="http://schemas.microsoft.com/office/powerpoint/2010/main" val="1839346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xfrm>
            <a:off x="3884613" y="8685213"/>
            <a:ext cx="2971800" cy="457200"/>
          </a:xfrm>
          <a:prstGeom prst="rect">
            <a:avLst/>
          </a:prstGeom>
          <a:noFill/>
        </p:spPr>
        <p:txBody>
          <a:bodyPr/>
          <a:lstStyle/>
          <a:p>
            <a:pPr defTabSz="911492"/>
            <a:fld id="{09C36A91-3D9F-443B-A704-19CC72A9BC66}" type="slidenum">
              <a:rPr lang="en-US" smtClean="0">
                <a:latin typeface="Arial" pitchFamily="34" charset="0"/>
                <a:cs typeface="Arial" pitchFamily="34" charset="0"/>
              </a:rPr>
              <a:pPr defTabSz="911492"/>
              <a:t>10</a:t>
            </a:fld>
            <a:endParaRPr lang="sl-SI" dirty="0">
              <a:latin typeface="Arial" pitchFamily="34" charset="0"/>
              <a:cs typeface="Arial" pitchFamily="34"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Namesto Izkoristka procesa se pogosto uporablja Izkoristek v vrsti korakov ali Izkoristek v prvem poskusu (FTR %). FTR % je verjetnost, da bo enota prešla skozi določeno število zaporednih korakov procesa brez napak. Glavna razlika med FTR in Izkoristkom procesa je v tem, da izdelki, ki niso 100 % v redu, vendar jih je mogoče dodelati ali popraviti, pri FTR% štejejo kot nesprejemljivi, ker niso bili dobri že v prvem poskusu. </a:t>
            </a:r>
            <a:endParaRPr lang="sl-SI" sz="1200" kern="1200" dirty="0">
              <a:solidFill>
                <a:schemeClr val="tx1"/>
              </a:solidFill>
              <a:latin typeface="+mn-lt"/>
              <a:ea typeface="+mn-ea"/>
              <a:cs typeface="+mn-cs"/>
            </a:endParaRPr>
          </a:p>
          <a:p>
            <a:pPr eaLnBrk="1" hangingPunct="1"/>
            <a:endParaRPr lang="sl-SI" dirty="0">
              <a:latin typeface="Arial" pitchFamily="34" charset="0"/>
              <a:cs typeface="Arial"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Izkoristek FTR = skupno število dobrih izdelkov v prvem poskusu / skupno število izdelkov</a:t>
            </a:r>
          </a:p>
          <a:p>
            <a:pPr marL="0" marR="0" indent="0" algn="l" defTabSz="914400" rtl="0" eaLnBrk="1" fontAlgn="base" latinLnBrk="0" hangingPunct="1">
              <a:lnSpc>
                <a:spcPct val="100000"/>
              </a:lnSpc>
              <a:spcBef>
                <a:spcPct val="30000"/>
              </a:spcBef>
              <a:spcAft>
                <a:spcPct val="0"/>
              </a:spcAft>
              <a:buClrTx/>
              <a:buSzTx/>
              <a:buFontTx/>
              <a:buNone/>
              <a:tabLst/>
              <a:defRPr/>
            </a:pPr>
            <a:endParaRPr lang="sl-SI" sz="1200" kern="1200" baseline="0" dirty="0">
              <a:solidFill>
                <a:schemeClr val="tx1"/>
              </a:solidFill>
              <a:latin typeface="+mn-lt"/>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b="1" kern="1200" baseline="0" dirty="0">
                <a:solidFill>
                  <a:schemeClr val="tx1"/>
                </a:solidFill>
                <a:latin typeface="+mn-lt"/>
              </a:rPr>
              <a:t>Primer</a:t>
            </a:r>
            <a:endParaRPr lang="sl-SI" sz="1200" b="1" kern="1200" dirty="0">
              <a:solidFill>
                <a:schemeClr val="tx1"/>
              </a:solidFill>
              <a:latin typeface="+mn-lt"/>
              <a:ea typeface="+mn-ea"/>
              <a:cs typeface="+mn-cs"/>
            </a:endParaRPr>
          </a:p>
          <a:p>
            <a:pPr eaLnBrk="1" hangingPunct="1"/>
            <a:r>
              <a:rPr lang="en-US" dirty="0">
                <a:latin typeface="Arial" pitchFamily="34" charset="0"/>
              </a:rPr>
              <a:t>FTR izkoristek procesa A: 85/100 = 85%</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a:latin typeface="Arial" pitchFamily="34" charset="0"/>
              </a:rPr>
              <a:t>Izkoristek procesa B: 73/90 = 81%</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latin typeface="Arial" pitchFamily="34" charset="0"/>
              </a:rPr>
              <a:t>Itd.</a:t>
            </a:r>
          </a:p>
          <a:p>
            <a:pPr marL="0" marR="0" indent="0" algn="l" defTabSz="914400" rtl="0" eaLnBrk="1" fontAlgn="base" latinLnBrk="0" hangingPunct="1">
              <a:lnSpc>
                <a:spcPct val="100000"/>
              </a:lnSpc>
              <a:spcBef>
                <a:spcPct val="30000"/>
              </a:spcBef>
              <a:spcAft>
                <a:spcPct val="0"/>
              </a:spcAft>
              <a:buClrTx/>
              <a:buSzTx/>
              <a:buFontTx/>
              <a:buNone/>
              <a:tabLst/>
              <a:defRPr/>
            </a:pPr>
            <a:endParaRPr lang="sl-SI" baseline="0" dirty="0">
              <a:latin typeface="Arial" pitchFamily="34" charset="0"/>
              <a:cs typeface="Arial" pitchFamily="34" charset="0"/>
            </a:endParaRPr>
          </a:p>
          <a:p>
            <a:r>
              <a:rPr lang="en-GB" sz="1200" kern="1200" dirty="0">
                <a:solidFill>
                  <a:schemeClr val="tx1"/>
                </a:solidFill>
                <a:latin typeface="+mn-lt"/>
              </a:rPr>
              <a:t>V vsakem koraku procesa je isto število dobrih delov, ki gredo naprej v naslednji korak, toda nekateri od teh izdelkov so bili dodelani, popravljeni ali izboljšani. </a:t>
            </a:r>
          </a:p>
          <a:p>
            <a:endParaRPr lang="sl-SI" sz="1200" kern="1200" dirty="0">
              <a:solidFill>
                <a:schemeClr val="tx1"/>
              </a:solidFill>
              <a:latin typeface="+mn-lt"/>
              <a:ea typeface="+mn-ea"/>
              <a:cs typeface="+mn-cs"/>
            </a:endParaRPr>
          </a:p>
          <a:p>
            <a:r>
              <a:rPr lang="en-GB" sz="1200" kern="1200" dirty="0">
                <a:solidFill>
                  <a:schemeClr val="tx1"/>
                </a:solidFill>
                <a:latin typeface="+mn-lt"/>
              </a:rPr>
              <a:t>Če upoštevamo, da nekateri izdelki niso bili dobri v prvem poskusu, je izkoristek FTR tega procesa: 0,85 x 0,81 x 0,90 x 0,87 = 54%</a:t>
            </a:r>
            <a:endParaRPr lang="sl-SI" sz="1200" kern="1200" dirty="0">
              <a:solidFill>
                <a:schemeClr val="tx1"/>
              </a:solidFill>
              <a:latin typeface="+mn-lt"/>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latin typeface="Arial" pitchFamily="34" charset="0"/>
              </a:rPr>
              <a:t>To pomeni, da je bilo že v prvem poskusu dobrih le 54 % izdelkov.</a:t>
            </a:r>
          </a:p>
          <a:p>
            <a:pPr marL="0" marR="0" indent="0" algn="l" defTabSz="914400" rtl="0" eaLnBrk="1" fontAlgn="base" latinLnBrk="0" hangingPunct="1">
              <a:lnSpc>
                <a:spcPct val="100000"/>
              </a:lnSpc>
              <a:spcBef>
                <a:spcPct val="30000"/>
              </a:spcBef>
              <a:spcAft>
                <a:spcPct val="0"/>
              </a:spcAft>
              <a:buClrTx/>
              <a:buSzTx/>
              <a:buFontTx/>
              <a:buNone/>
              <a:tabLst/>
              <a:defRPr/>
            </a:pPr>
            <a:endParaRPr lang="sl-SI" sz="1200" kern="1200" baseline="0" dirty="0">
              <a:solidFill>
                <a:schemeClr val="tx1"/>
              </a:solidFill>
              <a:latin typeface="+mn-lt"/>
              <a:ea typeface="+mn-ea"/>
              <a:cs typeface="+mn-cs"/>
            </a:endParaRPr>
          </a:p>
          <a:p>
            <a:pPr eaLnBrk="1" hangingPunct="1"/>
            <a:endParaRPr lang="sl-SI" dirty="0">
              <a:latin typeface="Arial" pitchFamily="34" charset="0"/>
              <a:cs typeface="Arial" pitchFamily="34" charset="0"/>
            </a:endParaRPr>
          </a:p>
        </p:txBody>
      </p:sp>
    </p:spTree>
    <p:extLst>
      <p:ext uri="{BB962C8B-B14F-4D97-AF65-F5344CB8AC3E}">
        <p14:creationId xmlns:p14="http://schemas.microsoft.com/office/powerpoint/2010/main" val="7560903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p:spPr>
      </p:sp>
      <p:sp>
        <p:nvSpPr>
          <p:cNvPr id="3" name="Notes Placeholder 2"/>
          <p:cNvSpPr>
            <a:spLocks noGrp="1"/>
          </p:cNvSpPr>
          <p:nvPr>
            <p:ph type="body" idx="1"/>
          </p:nvPr>
        </p:nvSpPr>
        <p:spPr>
          <a:xfrm>
            <a:off x="685800" y="4343400"/>
            <a:ext cx="5486400" cy="4114800"/>
          </a:xfrm>
          <a:prstGeom prst="rect">
            <a:avLst/>
          </a:prstGeom>
        </p:spPr>
        <p:txBody>
          <a:bodyPr/>
          <a:lstStyle/>
          <a:p>
            <a:r>
              <a:rPr lang="sl-SI" dirty="0"/>
              <a:t>V povzetku vam</a:t>
            </a:r>
            <a:r>
              <a:rPr lang="sl-SI" baseline="0" dirty="0"/>
              <a:t> različne metode za izračun izkoristka pomagajo identificirati skrite potrate ali ‚</a:t>
            </a:r>
            <a:r>
              <a:rPr lang="en-GB" dirty="0"/>
              <a:t>hidden factory</a:t>
            </a:r>
            <a:r>
              <a:rPr lang="sl-SI" dirty="0"/>
              <a:t>‘ dodelave znotraj procesa.</a:t>
            </a:r>
            <a:endParaRPr lang="en-GB" dirty="0"/>
          </a:p>
          <a:p>
            <a:endParaRPr lang="en-GB" dirty="0"/>
          </a:p>
        </p:txBody>
      </p:sp>
    </p:spTree>
    <p:extLst>
      <p:ext uri="{BB962C8B-B14F-4D97-AF65-F5344CB8AC3E}">
        <p14:creationId xmlns:p14="http://schemas.microsoft.com/office/powerpoint/2010/main" val="14927456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xfrm>
            <a:off x="3884613" y="8685213"/>
            <a:ext cx="2971800" cy="457200"/>
          </a:xfrm>
          <a:prstGeom prst="rect">
            <a:avLst/>
          </a:prstGeom>
          <a:noFill/>
        </p:spPr>
        <p:txBody>
          <a:bodyPr/>
          <a:lstStyle/>
          <a:p>
            <a:pPr defTabSz="911492"/>
            <a:fld id="{F4BA095C-BB21-459E-825B-0AED30B3016D}" type="slidenum">
              <a:rPr lang="en-US" smtClean="0"/>
              <a:pPr defTabSz="911492"/>
              <a:t>12</a:t>
            </a:fld>
            <a:endParaRPr lang="sl-SI" dirty="0"/>
          </a:p>
        </p:txBody>
      </p:sp>
      <p:sp>
        <p:nvSpPr>
          <p:cNvPr id="76803" name="Rectangle 2"/>
          <p:cNvSpPr>
            <a:spLocks noGrp="1" noRot="1" noChangeAspect="1" noChangeArrowheads="1" noTextEdit="1"/>
          </p:cNvSpPr>
          <p:nvPr>
            <p:ph type="sldImg"/>
          </p:nvPr>
        </p:nvSpPr>
        <p:spPr>
          <a:xfrm>
            <a:off x="1146175" y="685800"/>
            <a:ext cx="4575175" cy="3432175"/>
          </a:xfrm>
          <a:ln/>
        </p:spPr>
      </p:sp>
      <p:sp>
        <p:nvSpPr>
          <p:cNvPr id="76804" name="Rectangle 3"/>
          <p:cNvSpPr>
            <a:spLocks noGrp="1" noChangeArrowheads="1"/>
          </p:cNvSpPr>
          <p:nvPr>
            <p:ph type="body" idx="1"/>
          </p:nvPr>
        </p:nvSpPr>
        <p:spPr>
          <a:xfrm>
            <a:off x="685494" y="4341522"/>
            <a:ext cx="5487013" cy="4116005"/>
          </a:xfrm>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Preden nadaljujete z analizo procesnih podatkov, se morate prepričati, da so merilni sistem in podatki veljavni in zanesljivi. V tem poglavju podajamo uvod v metrologijo, znanost o meritvah. Metrologija pokriva vse teoretične in praktične vidike merjenja. To je eden od </a:t>
            </a:r>
            <a:r>
              <a:rPr lang="en-GB" sz="1200" kern="1200" dirty="0" err="1">
                <a:solidFill>
                  <a:schemeClr val="tx1"/>
                </a:solidFill>
                <a:latin typeface="+mn-lt"/>
              </a:rPr>
              <a:t>najpomembnejših</a:t>
            </a:r>
            <a:r>
              <a:rPr lang="en-GB" sz="1200" kern="1200" dirty="0">
                <a:solidFill>
                  <a:schemeClr val="tx1"/>
                </a:solidFill>
                <a:latin typeface="+mn-lt"/>
              </a:rPr>
              <a:t> </a:t>
            </a:r>
            <a:r>
              <a:rPr lang="en-GB" sz="1200" kern="1200" dirty="0" err="1">
                <a:solidFill>
                  <a:schemeClr val="tx1"/>
                </a:solidFill>
                <a:latin typeface="+mn-lt"/>
              </a:rPr>
              <a:t>elementov</a:t>
            </a:r>
            <a:r>
              <a:rPr lang="sl-SI" sz="1200" kern="1200" dirty="0">
                <a:solidFill>
                  <a:schemeClr val="tx1"/>
                </a:solidFill>
                <a:latin typeface="+mn-lt"/>
              </a:rPr>
              <a:t> vsakega</a:t>
            </a:r>
            <a:r>
              <a:rPr lang="en-GB" sz="1200" kern="1200" dirty="0">
                <a:solidFill>
                  <a:schemeClr val="tx1"/>
                </a:solidFill>
                <a:latin typeface="+mn-lt"/>
              </a:rPr>
              <a:t> projekta Lean Six Sigma, saj kakršnikoli </a:t>
            </a:r>
            <a:r>
              <a:rPr lang="en-GB" sz="1200" kern="1200" dirty="0" err="1">
                <a:solidFill>
                  <a:schemeClr val="tx1"/>
                </a:solidFill>
                <a:latin typeface="+mn-lt"/>
              </a:rPr>
              <a:t>zaključki</a:t>
            </a:r>
            <a:r>
              <a:rPr lang="en-GB" sz="1200" kern="1200" dirty="0">
                <a:solidFill>
                  <a:schemeClr val="tx1"/>
                </a:solidFill>
                <a:latin typeface="+mn-lt"/>
              </a:rPr>
              <a:t>,</a:t>
            </a:r>
            <a:r>
              <a:rPr lang="sl-SI" sz="1200" kern="1200" dirty="0">
                <a:solidFill>
                  <a:schemeClr val="tx1"/>
                </a:solidFill>
                <a:latin typeface="+mn-lt"/>
              </a:rPr>
              <a:t> ki so</a:t>
            </a:r>
            <a:r>
              <a:rPr lang="en-GB" sz="1200" kern="1200" dirty="0">
                <a:solidFill>
                  <a:schemeClr val="tx1"/>
                </a:solidFill>
                <a:latin typeface="+mn-lt"/>
              </a:rPr>
              <a:t> narejeni na podlagi podatkov pomanjkljive kakovosti, izmerjenih z nenatančnim in nezanesljivim sistemom, niso veljavni. V takem primeru ni nobene druge možnosti, kot da se analiza takoj ustavi in se najprej odpravijo težave z meritvami.</a:t>
            </a:r>
            <a:endParaRPr lang="sl-SI" sz="1200" kern="1200" dirty="0">
              <a:solidFill>
                <a:schemeClr val="tx1"/>
              </a:solidFill>
              <a:latin typeface="+mn-lt"/>
              <a:ea typeface="+mn-ea"/>
              <a:cs typeface="+mn-cs"/>
            </a:endParaRPr>
          </a:p>
          <a:p>
            <a:pPr eaLnBrk="1" hangingPunct="1"/>
            <a:endParaRPr lang="sl-SI" dirty="0"/>
          </a:p>
          <a:p>
            <a:r>
              <a:rPr lang="en-GB" sz="1200" kern="1200" dirty="0">
                <a:solidFill>
                  <a:schemeClr val="tx1"/>
                </a:solidFill>
                <a:latin typeface="+mn-lt"/>
              </a:rPr>
              <a:t>Variabilnost je lastna vsakemu merilnemu instrumentu. Poleg instrumenta obstajajo tudi drugi viri variabilnosti:</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kern="1200" dirty="0">
                <a:solidFill>
                  <a:schemeClr val="tx1"/>
                </a:solidFill>
                <a:latin typeface="+mn-lt"/>
              </a:rPr>
              <a:t>Operaterji, ki izvajajo meritve</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kern="1200" dirty="0">
                <a:solidFill>
                  <a:schemeClr val="tx1"/>
                </a:solidFill>
                <a:latin typeface="+mn-lt"/>
              </a:rPr>
              <a:t>Delovni postopki</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kern="1200" dirty="0">
                <a:solidFill>
                  <a:schemeClr val="tx1"/>
                </a:solidFill>
                <a:latin typeface="+mn-lt"/>
              </a:rPr>
              <a:t>Obrazci za zbiranje podatkov</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kern="1200" dirty="0">
                <a:solidFill>
                  <a:schemeClr val="tx1"/>
                </a:solidFill>
                <a:latin typeface="+mn-lt"/>
              </a:rPr>
              <a:t>Uporabljena orodja in pripomočki</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kern="1200" dirty="0">
                <a:solidFill>
                  <a:schemeClr val="tx1"/>
                </a:solidFill>
                <a:latin typeface="+mn-lt"/>
              </a:rPr>
              <a:t>Uporabljeni izračuni</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kern="1200" dirty="0">
                <a:solidFill>
                  <a:schemeClr val="tx1"/>
                </a:solidFill>
                <a:latin typeface="+mn-lt"/>
              </a:rPr>
              <a:t>Način in frekvenca odvzema vzorcev na liniji</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kern="1200" dirty="0">
                <a:solidFill>
                  <a:schemeClr val="tx1"/>
                </a:solidFill>
                <a:latin typeface="+mn-lt"/>
              </a:rPr>
              <a:t>Pogostost in tehnika umerjanja</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kern="1200" dirty="0">
                <a:solidFill>
                  <a:schemeClr val="tx1"/>
                </a:solidFill>
                <a:latin typeface="+mn-lt"/>
              </a:rPr>
              <a:t>Okolje (temperatura, vlaga, vibracije, svetloba itd.).</a:t>
            </a:r>
          </a:p>
          <a:p>
            <a:pPr marL="171450" lvl="0" indent="-171450">
              <a:buFont typeface="Arial" panose="020B0604020202020204" pitchFamily="34" charset="0"/>
              <a:buChar char="•"/>
            </a:pPr>
            <a:r>
              <a:rPr lang="en-GB" sz="1200" kern="1200" dirty="0">
                <a:solidFill>
                  <a:schemeClr val="tx1"/>
                </a:solidFill>
                <a:latin typeface="+mn-lt"/>
              </a:rPr>
              <a:t>Itd.</a:t>
            </a:r>
            <a:endParaRPr lang="sl-SI" sz="1200" kern="1200" dirty="0">
              <a:solidFill>
                <a:schemeClr val="tx1"/>
              </a:solidFill>
              <a:latin typeface="+mn-lt"/>
              <a:ea typeface="+mn-ea"/>
              <a:cs typeface="+mn-cs"/>
            </a:endParaRPr>
          </a:p>
          <a:p>
            <a:pPr eaLnBrk="1" hangingPunct="1"/>
            <a:endParaRPr lang="sl-SI" dirty="0"/>
          </a:p>
        </p:txBody>
      </p:sp>
    </p:spTree>
    <p:extLst>
      <p:ext uri="{BB962C8B-B14F-4D97-AF65-F5344CB8AC3E}">
        <p14:creationId xmlns:p14="http://schemas.microsoft.com/office/powerpoint/2010/main" val="2536594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xfrm>
            <a:off x="3884613" y="8685213"/>
            <a:ext cx="2971800" cy="457200"/>
          </a:xfrm>
          <a:prstGeom prst="rect">
            <a:avLst/>
          </a:prstGeom>
          <a:noFill/>
        </p:spPr>
        <p:txBody>
          <a:bodyPr/>
          <a:lstStyle/>
          <a:p>
            <a:pPr defTabSz="911492"/>
            <a:fld id="{1F62C62F-063A-4008-A2E7-E6E05F965246}" type="slidenum">
              <a:rPr lang="en-US" smtClean="0"/>
              <a:pPr defTabSz="911492"/>
              <a:t>13</a:t>
            </a:fld>
            <a:endParaRPr lang="sl-SI" dirty="0"/>
          </a:p>
        </p:txBody>
      </p:sp>
      <p:sp>
        <p:nvSpPr>
          <p:cNvPr id="77827" name="Rectangle 2"/>
          <p:cNvSpPr>
            <a:spLocks noGrp="1" noRot="1" noChangeAspect="1" noChangeArrowheads="1" noTextEdit="1"/>
          </p:cNvSpPr>
          <p:nvPr>
            <p:ph type="sldImg"/>
          </p:nvPr>
        </p:nvSpPr>
        <p:spPr>
          <a:xfrm>
            <a:off x="1146175" y="685800"/>
            <a:ext cx="4575175" cy="3432175"/>
          </a:xfrm>
          <a:ln/>
        </p:spPr>
      </p:sp>
      <p:sp>
        <p:nvSpPr>
          <p:cNvPr id="77828" name="Rectangle 3"/>
          <p:cNvSpPr>
            <a:spLocks noGrp="1" noChangeArrowheads="1"/>
          </p:cNvSpPr>
          <p:nvPr>
            <p:ph type="body" idx="1"/>
          </p:nvPr>
        </p:nvSpPr>
        <p:spPr>
          <a:xfrm>
            <a:off x="685494" y="4341522"/>
            <a:ext cx="5487013" cy="4116005"/>
          </a:xfrm>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Idealen merilni sistem bi izmeril resnično vrednost v vsakem poskusu. Toda . . . vsi vemo, da na svetu ni idealnih stvari! Kot </a:t>
            </a:r>
            <a:r>
              <a:rPr lang="en-GB" sz="1200" kern="1200">
                <a:solidFill>
                  <a:schemeClr val="tx1"/>
                </a:solidFill>
                <a:latin typeface="+mn-lt"/>
              </a:rPr>
              <a:t>vse drugo</a:t>
            </a:r>
            <a:r>
              <a:rPr lang="sl-SI" sz="1200" kern="1200">
                <a:solidFill>
                  <a:schemeClr val="tx1"/>
                </a:solidFill>
                <a:latin typeface="+mn-lt"/>
              </a:rPr>
              <a:t>,</a:t>
            </a:r>
            <a:r>
              <a:rPr lang="en-GB" sz="1200" kern="1200">
                <a:solidFill>
                  <a:schemeClr val="tx1"/>
                </a:solidFill>
                <a:latin typeface="+mn-lt"/>
              </a:rPr>
              <a:t> </a:t>
            </a:r>
            <a:r>
              <a:rPr lang="en-GB" sz="1200" kern="1200" dirty="0">
                <a:solidFill>
                  <a:schemeClr val="tx1"/>
                </a:solidFill>
                <a:latin typeface="+mn-lt"/>
              </a:rPr>
              <a:t>je tudi zbiranje podatkov in merjenje podatkov proces. Pridobivanje podatkov in merjenje </a:t>
            </a:r>
            <a:r>
              <a:rPr lang="en-GB" sz="1200" kern="1200">
                <a:solidFill>
                  <a:schemeClr val="tx1"/>
                </a:solidFill>
                <a:latin typeface="+mn-lt"/>
              </a:rPr>
              <a:t>je </a:t>
            </a:r>
            <a:r>
              <a:rPr lang="sl-SI" sz="1200" kern="1200">
                <a:solidFill>
                  <a:schemeClr val="tx1"/>
                </a:solidFill>
                <a:latin typeface="+mn-lt"/>
              </a:rPr>
              <a:t>neločljivo </a:t>
            </a:r>
            <a:r>
              <a:rPr lang="en-GB" sz="1200" kern="1200">
                <a:solidFill>
                  <a:schemeClr val="tx1"/>
                </a:solidFill>
                <a:latin typeface="+mn-lt"/>
              </a:rPr>
              <a:t>povezano </a:t>
            </a:r>
            <a:r>
              <a:rPr lang="en-GB" sz="1200" kern="1200" dirty="0">
                <a:solidFill>
                  <a:schemeClr val="tx1"/>
                </a:solidFill>
                <a:latin typeface="+mn-lt"/>
              </a:rPr>
              <a:t>z variabilnostjo in napakami.</a:t>
            </a:r>
            <a:endParaRPr lang="sl-SI" sz="1200" kern="1200" dirty="0">
              <a:solidFill>
                <a:schemeClr val="tx1"/>
              </a:solidFill>
              <a:latin typeface="+mn-lt"/>
              <a:ea typeface="+mn-ea"/>
              <a:cs typeface="+mn-cs"/>
            </a:endParaRPr>
          </a:p>
          <a:p>
            <a:pPr eaLnBrk="1" hangingPunct="1"/>
            <a:endParaRPr lang="sl-SI" dirty="0"/>
          </a:p>
          <a:p>
            <a:pPr eaLnBrk="1" hangingPunct="1"/>
            <a:r>
              <a:rPr lang="en-GB" sz="1200" kern="1200" dirty="0">
                <a:solidFill>
                  <a:schemeClr val="tx1"/>
                </a:solidFill>
                <a:latin typeface="+mn-lt"/>
              </a:rPr>
              <a:t>Ogledali si bomo, kako se izvede analiza merilnega sistema (MSA). </a:t>
            </a:r>
            <a:r>
              <a:rPr dirty="0"/>
              <a:t>MSA vam pove, kako točno je merilno orodje (oprema) in kako velik je vpliv merilnega procesa (npr</a:t>
            </a:r>
            <a:r>
              <a:t>. operater</a:t>
            </a:r>
            <a:r>
              <a:rPr lang="sl-SI"/>
              <a:t>ja</a:t>
            </a:r>
            <a:r>
              <a:t>, postopk</a:t>
            </a:r>
            <a:r>
              <a:rPr lang="sl-SI"/>
              <a:t>a</a:t>
            </a:r>
            <a:r>
              <a:t>, okolj</a:t>
            </a:r>
            <a:r>
              <a:rPr lang="sl-SI"/>
              <a:t>a</a:t>
            </a:r>
            <a:r>
              <a:t>).</a:t>
            </a:r>
            <a:r>
              <a:rPr lang="en-GB" sz="1200" kern="1200">
                <a:solidFill>
                  <a:schemeClr val="tx1"/>
                </a:solidFill>
                <a:latin typeface="+mn-lt"/>
              </a:rPr>
              <a:t> </a:t>
            </a:r>
            <a:r>
              <a:rPr lang="en-GB" sz="1200" kern="1200" dirty="0">
                <a:solidFill>
                  <a:schemeClr val="tx1"/>
                </a:solidFill>
                <a:latin typeface="+mn-lt"/>
              </a:rPr>
              <a:t>MSA ovrednoti testno metodo, merilne instrumente in celoten proces pridobivanja meritev za razumevanje, kako posledice merilnih napak vplivajo na odločitve o proizvodu ali procesu. </a:t>
            </a:r>
            <a:endParaRPr lang="sl-SI" dirty="0"/>
          </a:p>
        </p:txBody>
      </p:sp>
    </p:spTree>
    <p:extLst>
      <p:ext uri="{BB962C8B-B14F-4D97-AF65-F5344CB8AC3E}">
        <p14:creationId xmlns:p14="http://schemas.microsoft.com/office/powerpoint/2010/main" val="4204469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xfrm>
            <a:off x="3884613" y="8685213"/>
            <a:ext cx="2971800" cy="457200"/>
          </a:xfrm>
          <a:prstGeom prst="rect">
            <a:avLst/>
          </a:prstGeom>
          <a:noFill/>
        </p:spPr>
        <p:txBody>
          <a:bodyPr/>
          <a:lstStyle/>
          <a:p>
            <a:pPr defTabSz="911492"/>
            <a:fld id="{E984A544-54FF-4DD8-8B69-7D8055E389A7}" type="slidenum">
              <a:rPr lang="en-US" smtClean="0"/>
              <a:pPr defTabSz="911492"/>
              <a:t>14</a:t>
            </a:fld>
            <a:endParaRPr lang="sl-SI" dirty="0"/>
          </a:p>
        </p:txBody>
      </p:sp>
      <p:sp>
        <p:nvSpPr>
          <p:cNvPr id="78851" name="Rectangle 2"/>
          <p:cNvSpPr>
            <a:spLocks noGrp="1" noRot="1" noChangeAspect="1" noChangeArrowheads="1" noTextEdit="1"/>
          </p:cNvSpPr>
          <p:nvPr>
            <p:ph type="sldImg"/>
          </p:nvPr>
        </p:nvSpPr>
        <p:spPr>
          <a:xfrm>
            <a:off x="1146175" y="685800"/>
            <a:ext cx="4575175" cy="3432175"/>
          </a:xfrm>
          <a:ln/>
        </p:spPr>
      </p:sp>
      <p:sp>
        <p:nvSpPr>
          <p:cNvPr id="78852" name="Rectangle 3"/>
          <p:cNvSpPr>
            <a:spLocks noGrp="1" noChangeArrowheads="1"/>
          </p:cNvSpPr>
          <p:nvPr>
            <p:ph type="body" idx="1"/>
          </p:nvPr>
        </p:nvSpPr>
        <p:spPr>
          <a:xfrm>
            <a:off x="685494" y="4341522"/>
            <a:ext cx="5487013" cy="4116005"/>
          </a:xfrm>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Variabilnost procesa, ki jo opazimo (celotna variabilnost) z odčitavanjem merilnih podatkov na instrumentu, je vedno večja od dejanske variabilnost procesa. </a:t>
            </a:r>
            <a:r>
              <a:rPr lang="en-GB" sz="1200" kern="1200">
                <a:solidFill>
                  <a:schemeClr val="tx1"/>
                </a:solidFill>
                <a:latin typeface="+mn-lt"/>
              </a:rPr>
              <a:t>Razlog </a:t>
            </a:r>
            <a:r>
              <a:rPr lang="sl-SI" sz="1200" kern="1200">
                <a:solidFill>
                  <a:schemeClr val="tx1"/>
                </a:solidFill>
                <a:latin typeface="+mn-lt"/>
              </a:rPr>
              <a:t>je </a:t>
            </a:r>
            <a:r>
              <a:rPr lang="en-GB" sz="1200" kern="1200">
                <a:solidFill>
                  <a:schemeClr val="tx1"/>
                </a:solidFill>
                <a:latin typeface="+mn-lt"/>
              </a:rPr>
              <a:t>v </a:t>
            </a:r>
            <a:r>
              <a:rPr lang="en-GB" sz="1200" kern="1200" dirty="0">
                <a:solidFill>
                  <a:schemeClr val="tx1"/>
                </a:solidFill>
                <a:latin typeface="+mn-lt"/>
              </a:rPr>
              <a:t>tem, da moramo upoštevati tudi </a:t>
            </a:r>
            <a:r>
              <a:rPr lang="en-GB" sz="1200" kern="1200">
                <a:solidFill>
                  <a:schemeClr val="tx1"/>
                </a:solidFill>
                <a:latin typeface="+mn-lt"/>
              </a:rPr>
              <a:t>variabilnost merilnega </a:t>
            </a:r>
            <a:r>
              <a:rPr lang="en-GB" sz="1200" kern="1200" dirty="0">
                <a:solidFill>
                  <a:schemeClr val="tx1"/>
                </a:solidFill>
                <a:latin typeface="+mn-lt"/>
              </a:rPr>
              <a:t>sistema. To je prikazano s krivuljami in s formulo. </a:t>
            </a:r>
          </a:p>
          <a:p>
            <a:pPr marL="0" marR="0" indent="0" algn="l" defTabSz="914400" rtl="0" eaLnBrk="1" fontAlgn="base" latinLnBrk="0" hangingPunct="1">
              <a:lnSpc>
                <a:spcPct val="100000"/>
              </a:lnSpc>
              <a:spcBef>
                <a:spcPct val="30000"/>
              </a:spcBef>
              <a:spcAft>
                <a:spcPct val="0"/>
              </a:spcAft>
              <a:buClrTx/>
              <a:buSzTx/>
              <a:buFontTx/>
              <a:buNone/>
              <a:tabLst/>
              <a:defRPr/>
            </a:pPr>
            <a:endParaRPr lang="sl-SI" sz="1200" kern="1200" dirty="0">
              <a:solidFill>
                <a:schemeClr val="tx1"/>
              </a:solidFill>
              <a:latin typeface="+mn-lt"/>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Dober merilni sistem ima razmeroma </a:t>
            </a:r>
            <a:r>
              <a:rPr lang="en-GB" sz="1200" kern="1200">
                <a:solidFill>
                  <a:schemeClr val="tx1"/>
                </a:solidFill>
                <a:latin typeface="+mn-lt"/>
              </a:rPr>
              <a:t>majhno variabilnost. </a:t>
            </a:r>
            <a:r>
              <a:rPr lang="en-GB" sz="1200" kern="1200" dirty="0">
                <a:solidFill>
                  <a:schemeClr val="tx1"/>
                </a:solidFill>
                <a:latin typeface="+mn-lt"/>
              </a:rPr>
              <a:t>Obstaja več orodij za določanje variabilnost </a:t>
            </a:r>
            <a:r>
              <a:rPr lang="en-GB" sz="1200" kern="1200">
                <a:solidFill>
                  <a:schemeClr val="tx1"/>
                </a:solidFill>
                <a:latin typeface="+mn-lt"/>
              </a:rPr>
              <a:t>merilnega sistema</a:t>
            </a:r>
            <a:r>
              <a:rPr lang="sl-SI" sz="1200" kern="1200">
                <a:solidFill>
                  <a:schemeClr val="tx1"/>
                </a:solidFill>
                <a:latin typeface="+mn-lt"/>
              </a:rPr>
              <a:t>,</a:t>
            </a:r>
            <a:r>
              <a:rPr lang="en-GB" sz="1200" kern="1200">
                <a:solidFill>
                  <a:schemeClr val="tx1"/>
                </a:solidFill>
                <a:latin typeface="+mn-lt"/>
              </a:rPr>
              <a:t> </a:t>
            </a:r>
            <a:r>
              <a:rPr lang="sl-SI" sz="1200" kern="1200">
                <a:solidFill>
                  <a:schemeClr val="tx1"/>
                </a:solidFill>
                <a:latin typeface="+mn-lt"/>
              </a:rPr>
              <a:t>e</a:t>
            </a:r>
            <a:r>
              <a:rPr lang="en-GB" sz="1200" kern="1200">
                <a:solidFill>
                  <a:schemeClr val="tx1"/>
                </a:solidFill>
                <a:latin typeface="+mn-lt"/>
              </a:rPr>
              <a:t>no </a:t>
            </a:r>
            <a:r>
              <a:rPr lang="en-GB" sz="1200" kern="1200" dirty="0">
                <a:solidFill>
                  <a:schemeClr val="tx1"/>
                </a:solidFill>
                <a:latin typeface="+mn-lt"/>
              </a:rPr>
              <a:t>od </a:t>
            </a:r>
            <a:r>
              <a:rPr lang="en-GB" sz="1200" kern="1200">
                <a:solidFill>
                  <a:schemeClr val="tx1"/>
                </a:solidFill>
                <a:latin typeface="+mn-lt"/>
              </a:rPr>
              <a:t>njih </a:t>
            </a:r>
            <a:r>
              <a:rPr lang="sl-SI" sz="1200" kern="1200">
                <a:solidFill>
                  <a:schemeClr val="tx1"/>
                </a:solidFill>
                <a:latin typeface="+mn-lt"/>
              </a:rPr>
              <a:t>pa </a:t>
            </a:r>
            <a:r>
              <a:rPr lang="en-GB" sz="1200" kern="1200">
                <a:solidFill>
                  <a:schemeClr val="tx1"/>
                </a:solidFill>
                <a:latin typeface="+mn-lt"/>
              </a:rPr>
              <a:t>je </a:t>
            </a:r>
            <a:r>
              <a:rPr lang="en-GB" sz="1200" kern="1200" dirty="0">
                <a:solidFill>
                  <a:schemeClr val="tx1"/>
                </a:solidFill>
                <a:latin typeface="+mn-lt"/>
              </a:rPr>
              <a:t>študija ponovljivosti in obnovljivosti merila, ki jo bomo obravnavali </a:t>
            </a:r>
            <a:r>
              <a:rPr lang="en-GB" sz="1200" kern="1200">
                <a:solidFill>
                  <a:schemeClr val="tx1"/>
                </a:solidFill>
                <a:latin typeface="+mn-lt"/>
              </a:rPr>
              <a:t>na naslednjih diapozitiv</a:t>
            </a:r>
            <a:r>
              <a:rPr lang="sl-SI" sz="1200" kern="1200">
                <a:solidFill>
                  <a:schemeClr val="tx1"/>
                </a:solidFill>
                <a:latin typeface="+mn-lt"/>
              </a:rPr>
              <a:t>ih</a:t>
            </a:r>
            <a:r>
              <a:rPr lang="en-GB" sz="1200" kern="1200">
                <a:solidFill>
                  <a:schemeClr val="tx1"/>
                </a:solidFill>
                <a:latin typeface="+mn-lt"/>
              </a:rPr>
              <a:t>. </a:t>
            </a:r>
            <a:endParaRPr lang="sl-SI" sz="1200" kern="1200" dirty="0">
              <a:solidFill>
                <a:schemeClr val="tx1"/>
              </a:solidFill>
              <a:latin typeface="+mn-lt"/>
              <a:ea typeface="+mn-ea"/>
              <a:cs typeface="+mn-cs"/>
            </a:endParaRPr>
          </a:p>
          <a:p>
            <a:pPr eaLnBrk="1" hangingPunct="1"/>
            <a:endParaRPr lang="sl-SI" dirty="0"/>
          </a:p>
        </p:txBody>
      </p:sp>
    </p:spTree>
    <p:extLst>
      <p:ext uri="{BB962C8B-B14F-4D97-AF65-F5344CB8AC3E}">
        <p14:creationId xmlns:p14="http://schemas.microsoft.com/office/powerpoint/2010/main" val="577722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jdelijke aanduiding voor dia-afbeelding 1"/>
          <p:cNvSpPr>
            <a:spLocks noGrp="1" noRot="1" noChangeAspect="1" noTextEdit="1"/>
          </p:cNvSpPr>
          <p:nvPr>
            <p:ph type="sldImg"/>
          </p:nvPr>
        </p:nvSpPr>
        <p:spPr>
          <a:ln/>
        </p:spPr>
      </p:sp>
      <p:sp>
        <p:nvSpPr>
          <p:cNvPr id="80899" name="Tijdelijke aanduiding voor notities 2"/>
          <p:cNvSpPr>
            <a:spLocks noGrp="1"/>
          </p:cNvSpPr>
          <p:nvPr>
            <p:ph type="body" idx="1"/>
          </p:nvPr>
        </p:nvSpPr>
        <p:spPr>
          <a:noFill/>
          <a:ln/>
        </p:spPr>
        <p:txBody>
          <a:bodyPr/>
          <a:lstStyle/>
          <a:p>
            <a:r>
              <a:rPr lang="en-GB" sz="1200" kern="1200" dirty="0">
                <a:solidFill>
                  <a:schemeClr val="tx1"/>
                </a:solidFill>
                <a:latin typeface="+mn-lt"/>
              </a:rPr>
              <a:t>Za zmanjšanje variabilnosti merilnega sistema moramo identificirati in razumeti vplivne dejavnike. Napake merilnega sistema lahko razvrstimo v naslednje tri kategorije:</a:t>
            </a:r>
            <a:endParaRPr lang="sl-SI" sz="1200" kern="1200" dirty="0">
              <a:solidFill>
                <a:schemeClr val="tx1"/>
              </a:solidFill>
              <a:latin typeface="+mn-lt"/>
              <a:ea typeface="+mn-ea"/>
              <a:cs typeface="+mn-cs"/>
            </a:endParaRPr>
          </a:p>
          <a:p>
            <a:pPr lvl="0"/>
            <a:endParaRPr lang="sl-SI" sz="1200" b="1" kern="1200" dirty="0">
              <a:solidFill>
                <a:schemeClr val="tx1"/>
              </a:solidFill>
              <a:latin typeface="+mn-lt"/>
              <a:ea typeface="+mn-ea"/>
              <a:cs typeface="+mn-cs"/>
            </a:endParaRPr>
          </a:p>
          <a:p>
            <a:pPr lvl="0"/>
            <a:r>
              <a:rPr lang="en-GB" sz="1200" b="1" kern="1200" dirty="0">
                <a:solidFill>
                  <a:schemeClr val="tx1"/>
                </a:solidFill>
                <a:latin typeface="+mn-lt"/>
              </a:rPr>
              <a:t>Točnost</a:t>
            </a:r>
            <a:r>
              <a:rPr dirty="0"/>
              <a:t> </a:t>
            </a:r>
            <a:r>
              <a:rPr lang="en-GB" sz="1200" kern="1200" dirty="0">
                <a:solidFill>
                  <a:schemeClr val="tx1"/>
                </a:solidFill>
                <a:latin typeface="+mn-lt"/>
              </a:rPr>
              <a:t>Kako velika je sistematična napaka?</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u="none" kern="1200" dirty="0">
                <a:solidFill>
                  <a:schemeClr val="tx1"/>
                </a:solidFill>
                <a:latin typeface="+mn-lt"/>
              </a:rPr>
              <a:t>Odmik</a:t>
            </a:r>
            <a:r>
              <a:rPr lang="en-US" sz="1200" u="none" kern="1200" dirty="0">
                <a:solidFill>
                  <a:schemeClr val="tx1"/>
                </a:solidFill>
                <a:latin typeface="+mn-lt"/>
              </a:rPr>
              <a:t>		</a:t>
            </a:r>
            <a:r>
              <a:rPr lang="en-GB" sz="1200" u="none" kern="1200" dirty="0">
                <a:solidFill>
                  <a:schemeClr val="tx1"/>
                </a:solidFill>
                <a:latin typeface="+mn-lt"/>
              </a:rPr>
              <a:t>: Razlika med povprečjem meritev in resnično vrednostjo.</a:t>
            </a:r>
            <a:endParaRPr lang="sl-SI" sz="1200" u="none" kern="1200" dirty="0">
              <a:solidFill>
                <a:schemeClr val="tx1"/>
              </a:solidFill>
              <a:latin typeface="+mn-lt"/>
              <a:ea typeface="+mn-ea"/>
              <a:cs typeface="+mn-cs"/>
            </a:endParaRPr>
          </a:p>
          <a:p>
            <a:pPr marL="171450" lvl="0" indent="-171450">
              <a:buFont typeface="Arial" panose="020B0604020202020204" pitchFamily="34" charset="0"/>
              <a:buChar char="•"/>
            </a:pPr>
            <a:r>
              <a:rPr lang="en-GB" sz="1200" u="none" kern="1200" dirty="0">
                <a:solidFill>
                  <a:schemeClr val="tx1"/>
                </a:solidFill>
                <a:latin typeface="+mn-lt"/>
              </a:rPr>
              <a:t>Linearnost</a:t>
            </a:r>
            <a:r>
              <a:rPr lang="en-US" sz="1200" u="none" kern="1200" dirty="0">
                <a:solidFill>
                  <a:schemeClr val="tx1"/>
                </a:solidFill>
                <a:latin typeface="+mn-lt"/>
              </a:rPr>
              <a:t>		</a:t>
            </a:r>
            <a:r>
              <a:rPr lang="en-GB" sz="1200" u="none" kern="1200" dirty="0">
                <a:solidFill>
                  <a:schemeClr val="tx1"/>
                </a:solidFill>
                <a:latin typeface="+mn-lt"/>
              </a:rPr>
              <a:t>: </a:t>
            </a:r>
            <a:r>
              <a:rPr lang="en-GB" sz="1200" kern="1200" dirty="0">
                <a:solidFill>
                  <a:schemeClr val="tx1"/>
                </a:solidFill>
                <a:latin typeface="+mn-lt"/>
              </a:rPr>
              <a:t>Enaka točnost po celotnem merilnem razponu instrumenta.</a:t>
            </a:r>
            <a:endParaRPr lang="sl-SI" sz="1200" kern="1200" dirty="0">
              <a:solidFill>
                <a:schemeClr val="tx1"/>
              </a:solidFill>
              <a:latin typeface="+mn-lt"/>
              <a:ea typeface="+mn-ea"/>
              <a:cs typeface="+mn-cs"/>
            </a:endParaRPr>
          </a:p>
          <a:p>
            <a:r>
              <a:rPr lang="en-GB" sz="1200" kern="1200" dirty="0">
                <a:solidFill>
                  <a:schemeClr val="tx1"/>
                </a:solidFill>
                <a:latin typeface="+mn-lt"/>
              </a:rPr>
              <a:t> </a:t>
            </a:r>
            <a:endParaRPr lang="sl-SI" sz="1200" kern="1200" dirty="0">
              <a:solidFill>
                <a:schemeClr val="tx1"/>
              </a:solidFill>
              <a:latin typeface="+mn-lt"/>
              <a:ea typeface="+mn-ea"/>
              <a:cs typeface="+mn-cs"/>
            </a:endParaRPr>
          </a:p>
          <a:p>
            <a:pPr lvl="0"/>
            <a:r>
              <a:rPr lang="en-GB" sz="1200" b="1" kern="1200" dirty="0">
                <a:solidFill>
                  <a:schemeClr val="tx1"/>
                </a:solidFill>
                <a:latin typeface="+mn-lt"/>
              </a:rPr>
              <a:t>Natančnost</a:t>
            </a:r>
            <a:r>
              <a:rPr lang="en-GB" sz="1200" kern="1200" dirty="0">
                <a:solidFill>
                  <a:schemeClr val="tx1"/>
                </a:solidFill>
                <a:latin typeface="+mn-lt"/>
              </a:rPr>
              <a:t> Kako velika je variabilnost meritev?</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u="none" kern="1200" dirty="0">
                <a:solidFill>
                  <a:schemeClr val="tx1"/>
                </a:solidFill>
                <a:latin typeface="+mn-lt"/>
              </a:rPr>
              <a:t>Ponovljivost</a:t>
            </a:r>
            <a:r>
              <a:rPr lang="en-US" sz="1200" u="none" kern="1200" dirty="0">
                <a:solidFill>
                  <a:schemeClr val="tx1"/>
                </a:solidFill>
                <a:latin typeface="+mn-lt"/>
              </a:rPr>
              <a:t>	</a:t>
            </a:r>
            <a:r>
              <a:rPr lang="en-GB" sz="1200" u="none" kern="1200" dirty="0">
                <a:solidFill>
                  <a:schemeClr val="tx1"/>
                </a:solidFill>
                <a:latin typeface="+mn-lt"/>
              </a:rPr>
              <a:t>:</a:t>
            </a:r>
            <a:r>
              <a:rPr dirty="0"/>
              <a:t> </a:t>
            </a:r>
            <a:r>
              <a:rPr lang="en-GB" sz="1200" u="none" kern="1200" dirty="0">
                <a:solidFill>
                  <a:schemeClr val="tx1"/>
                </a:solidFill>
                <a:latin typeface="+mn-lt"/>
              </a:rPr>
              <a:t>Delež variabilnosti, ki ga povzroča sam merilni instrument.</a:t>
            </a:r>
            <a:endParaRPr lang="sl-SI" sz="1200" u="none" kern="1200" dirty="0">
              <a:solidFill>
                <a:schemeClr val="tx1"/>
              </a:solidFill>
              <a:latin typeface="+mn-lt"/>
              <a:ea typeface="+mn-ea"/>
              <a:cs typeface="+mn-cs"/>
            </a:endParaRPr>
          </a:p>
          <a:p>
            <a:pPr marL="171450" lvl="0" indent="-171450">
              <a:buFont typeface="Arial" panose="020B0604020202020204" pitchFamily="34" charset="0"/>
              <a:buChar char="•"/>
            </a:pPr>
            <a:r>
              <a:rPr lang="en-GB" sz="1200" u="none" kern="1200" dirty="0">
                <a:solidFill>
                  <a:schemeClr val="tx1"/>
                </a:solidFill>
                <a:latin typeface="+mn-lt"/>
              </a:rPr>
              <a:t>Obnovljivost</a:t>
            </a:r>
            <a:r>
              <a:rPr lang="en-US" sz="1200" u="none" kern="1200" dirty="0">
                <a:solidFill>
                  <a:schemeClr val="tx1"/>
                </a:solidFill>
                <a:latin typeface="+mn-lt"/>
              </a:rPr>
              <a:t>	</a:t>
            </a:r>
            <a:r>
              <a:rPr lang="en-GB" sz="1200" u="none" kern="1200" dirty="0">
                <a:solidFill>
                  <a:schemeClr val="tx1"/>
                </a:solidFill>
                <a:latin typeface="+mn-lt"/>
              </a:rPr>
              <a:t>: Delež variabilnosti, ki ga povzročajo merilni postopek, operater </a:t>
            </a:r>
            <a:r>
              <a:rPr lang="en-GB" sz="1200" u="none" kern="1200" dirty="0" err="1">
                <a:solidFill>
                  <a:schemeClr val="tx1"/>
                </a:solidFill>
                <a:latin typeface="+mn-lt"/>
              </a:rPr>
              <a:t>itd</a:t>
            </a:r>
            <a:r>
              <a:rPr lang="en-GB" sz="1200" u="none" kern="1200" dirty="0">
                <a:solidFill>
                  <a:schemeClr val="tx1"/>
                </a:solidFill>
                <a:latin typeface="+mn-lt"/>
              </a:rPr>
              <a:t>.</a:t>
            </a:r>
            <a:endParaRPr lang="sl-SI" sz="1200" u="none" kern="1200" dirty="0">
              <a:solidFill>
                <a:schemeClr val="tx1"/>
              </a:solidFill>
              <a:latin typeface="+mn-lt"/>
              <a:ea typeface="+mn-ea"/>
              <a:cs typeface="+mn-cs"/>
            </a:endParaRPr>
          </a:p>
          <a:p>
            <a:pPr marL="171450" lvl="0" indent="-171450">
              <a:buFont typeface="Arial" panose="020B0604020202020204" pitchFamily="34" charset="0"/>
              <a:buChar char="•"/>
            </a:pPr>
            <a:r>
              <a:rPr lang="en-GB" sz="1200" u="none" kern="1200" dirty="0">
                <a:solidFill>
                  <a:schemeClr val="tx1"/>
                </a:solidFill>
                <a:latin typeface="+mn-lt"/>
              </a:rPr>
              <a:t>Enakomernost</a:t>
            </a:r>
            <a:r>
              <a:rPr lang="en-US" sz="1200" u="none" kern="1200" dirty="0">
                <a:solidFill>
                  <a:schemeClr val="tx1"/>
                </a:solidFill>
                <a:latin typeface="+mn-lt"/>
              </a:rPr>
              <a:t>	</a:t>
            </a:r>
            <a:r>
              <a:rPr lang="en-GB" sz="1200" u="none" kern="1200" dirty="0">
                <a:solidFill>
                  <a:schemeClr val="tx1"/>
                </a:solidFill>
                <a:latin typeface="+mn-lt"/>
              </a:rPr>
              <a:t>: </a:t>
            </a:r>
            <a:r>
              <a:rPr dirty="0"/>
              <a:t>Konstantnost (enakomernost) variabilnosti meritev nad celotnim razponom merilnih karakteristik.</a:t>
            </a:r>
            <a:endParaRPr lang="sl-SI" sz="1200" kern="1200" dirty="0">
              <a:solidFill>
                <a:schemeClr val="tx1"/>
              </a:solidFill>
              <a:latin typeface="+mn-lt"/>
              <a:ea typeface="+mn-ea"/>
              <a:cs typeface="+mn-cs"/>
            </a:endParaRPr>
          </a:p>
          <a:p>
            <a:r>
              <a:rPr lang="en-GB" sz="1200" kern="1200" dirty="0">
                <a:solidFill>
                  <a:schemeClr val="tx1"/>
                </a:solidFill>
                <a:latin typeface="+mn-lt"/>
              </a:rPr>
              <a:t> </a:t>
            </a:r>
            <a:endParaRPr lang="sl-SI" sz="1200" kern="1200" dirty="0">
              <a:solidFill>
                <a:schemeClr val="tx1"/>
              </a:solidFill>
              <a:latin typeface="+mn-lt"/>
              <a:ea typeface="+mn-ea"/>
              <a:cs typeface="+mn-cs"/>
            </a:endParaRPr>
          </a:p>
          <a:p>
            <a:pPr lvl="0"/>
            <a:r>
              <a:rPr lang="en-GB" sz="1200" b="1" kern="1200" dirty="0">
                <a:solidFill>
                  <a:schemeClr val="tx1"/>
                </a:solidFill>
                <a:latin typeface="+mn-lt"/>
              </a:rPr>
              <a:t>Stabilnost</a:t>
            </a:r>
            <a:r>
              <a:rPr dirty="0"/>
              <a:t> </a:t>
            </a:r>
            <a:r>
              <a:rPr lang="en-GB" sz="1200" kern="1200" dirty="0">
                <a:solidFill>
                  <a:schemeClr val="tx1"/>
                </a:solidFill>
                <a:latin typeface="+mn-lt"/>
              </a:rPr>
              <a:t>Ali je merilni sistem stabilen v času?</a:t>
            </a:r>
            <a:endParaRPr lang="sl-SI" sz="1200" kern="1200" dirty="0">
              <a:solidFill>
                <a:schemeClr val="tx1"/>
              </a:solidFill>
              <a:latin typeface="+mn-lt"/>
              <a:ea typeface="+mn-ea"/>
              <a:cs typeface="+mn-cs"/>
            </a:endParaRPr>
          </a:p>
          <a:p>
            <a:endParaRPr lang="sl-SI" sz="1200" kern="1200" dirty="0">
              <a:solidFill>
                <a:schemeClr val="tx1"/>
              </a:solidFill>
              <a:latin typeface="+mn-lt"/>
              <a:ea typeface="+mn-ea"/>
              <a:cs typeface="+mn-cs"/>
            </a:endParaRPr>
          </a:p>
          <a:p>
            <a:r>
              <a:rPr lang="en-GB" sz="1200" kern="1200" dirty="0">
                <a:solidFill>
                  <a:schemeClr val="tx1"/>
                </a:solidFill>
                <a:latin typeface="+mn-lt"/>
              </a:rPr>
              <a:t>Če vprašate koga, kako dober je merilni sistem, boste morda dobili odgovor: "Odličen je, ker je bil nedavno umerjen." Ne pozabite, da je umerjanje </a:t>
            </a:r>
            <a:r>
              <a:rPr lang="en-GB" sz="1200" kern="1200" dirty="0" err="1">
                <a:solidFill>
                  <a:schemeClr val="tx1"/>
                </a:solidFill>
                <a:latin typeface="+mn-lt"/>
              </a:rPr>
              <a:t>samo</a:t>
            </a:r>
            <a:r>
              <a:rPr lang="en-GB" sz="1200" kern="1200" dirty="0">
                <a:solidFill>
                  <a:schemeClr val="tx1"/>
                </a:solidFill>
                <a:latin typeface="+mn-lt"/>
              </a:rPr>
              <a:t> e</a:t>
            </a:r>
            <a:r>
              <a:rPr lang="sl-SI" sz="1200" kern="1200" dirty="0">
                <a:solidFill>
                  <a:schemeClr val="tx1"/>
                </a:solidFill>
                <a:latin typeface="+mn-lt"/>
              </a:rPr>
              <a:t>de</a:t>
            </a:r>
            <a:r>
              <a:rPr lang="en-GB" sz="1200" kern="1200" dirty="0">
                <a:solidFill>
                  <a:schemeClr val="tx1"/>
                </a:solidFill>
                <a:latin typeface="+mn-lt"/>
              </a:rPr>
              <a:t>n od pogojev za dober merilni sistem. Umerjen sistem še ni garancija za natančnost </a:t>
            </a:r>
            <a:r>
              <a:rPr lang="en-GB" sz="1200" kern="1200" dirty="0" err="1">
                <a:solidFill>
                  <a:schemeClr val="tx1"/>
                </a:solidFill>
                <a:latin typeface="+mn-lt"/>
              </a:rPr>
              <a:t>ali</a:t>
            </a:r>
            <a:r>
              <a:rPr lang="en-GB" sz="1200" kern="1200" dirty="0">
                <a:solidFill>
                  <a:schemeClr val="tx1"/>
                </a:solidFill>
                <a:latin typeface="+mn-lt"/>
              </a:rPr>
              <a:t> </a:t>
            </a:r>
            <a:r>
              <a:rPr lang="en-GB" sz="1200" kern="1200" dirty="0" err="1">
                <a:solidFill>
                  <a:schemeClr val="tx1"/>
                </a:solidFill>
                <a:latin typeface="+mn-lt"/>
              </a:rPr>
              <a:t>stabilnost</a:t>
            </a:r>
            <a:r>
              <a:rPr lang="sl-SI" sz="1200" kern="1200" baseline="0" dirty="0">
                <a:solidFill>
                  <a:schemeClr val="tx1"/>
                </a:solidFill>
                <a:latin typeface="+mn-lt"/>
              </a:rPr>
              <a:t> in</a:t>
            </a:r>
            <a:r>
              <a:rPr lang="en-GB" sz="1200" kern="1200" dirty="0">
                <a:solidFill>
                  <a:schemeClr val="tx1"/>
                </a:solidFill>
                <a:latin typeface="+mn-lt"/>
              </a:rPr>
              <a:t> </a:t>
            </a:r>
            <a:r>
              <a:rPr lang="sl-SI" sz="1200" kern="1200" dirty="0">
                <a:solidFill>
                  <a:schemeClr val="tx1"/>
                </a:solidFill>
                <a:latin typeface="+mn-lt"/>
              </a:rPr>
              <a:t>z</a:t>
            </a:r>
            <a:r>
              <a:rPr lang="en-GB" sz="1200" kern="1200" dirty="0">
                <a:solidFill>
                  <a:schemeClr val="tx1"/>
                </a:solidFill>
                <a:latin typeface="+mn-lt"/>
              </a:rPr>
              <a:t> umerjanjem lahko zagotovimo le del točnosti.</a:t>
            </a:r>
            <a:endParaRPr lang="sl-SI" sz="1200" kern="1200" dirty="0">
              <a:solidFill>
                <a:schemeClr val="tx1"/>
              </a:solidFill>
              <a:latin typeface="+mn-lt"/>
              <a:ea typeface="+mn-ea"/>
              <a:cs typeface="+mn-cs"/>
            </a:endParaRPr>
          </a:p>
          <a:p>
            <a:endParaRPr lang="sl-SI" dirty="0"/>
          </a:p>
        </p:txBody>
      </p:sp>
      <p:sp>
        <p:nvSpPr>
          <p:cNvPr id="80900" name="Tijdelijke aanduiding voor dianummer 3"/>
          <p:cNvSpPr>
            <a:spLocks noGrp="1"/>
          </p:cNvSpPr>
          <p:nvPr>
            <p:ph type="sldNum" sz="quarter" idx="5"/>
          </p:nvPr>
        </p:nvSpPr>
        <p:spPr>
          <a:xfrm>
            <a:off x="3884613" y="8685213"/>
            <a:ext cx="2971800" cy="457200"/>
          </a:xfrm>
          <a:prstGeom prst="rect">
            <a:avLst/>
          </a:prstGeom>
          <a:noFill/>
        </p:spPr>
        <p:txBody>
          <a:bodyPr/>
          <a:lstStyle/>
          <a:p>
            <a:fld id="{32ECE0F7-7FFF-4F2B-A269-BC4854FCCE4A}" type="slidenum">
              <a:rPr lang="en-US" smtClean="0"/>
              <a:pPr/>
              <a:t>15</a:t>
            </a:fld>
            <a:endParaRPr lang="sl-SI" dirty="0"/>
          </a:p>
        </p:txBody>
      </p:sp>
    </p:spTree>
    <p:extLst>
      <p:ext uri="{BB962C8B-B14F-4D97-AF65-F5344CB8AC3E}">
        <p14:creationId xmlns:p14="http://schemas.microsoft.com/office/powerpoint/2010/main" val="3332193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p:cNvSpPr>
            <a:spLocks noGrp="1" noRot="1" noChangeAspect="1" noChangeArrowheads="1" noTextEdit="1"/>
          </p:cNvSpPr>
          <p:nvPr>
            <p:ph type="sldImg"/>
          </p:nvPr>
        </p:nvSpPr>
        <p:spPr>
          <a:xfrm>
            <a:off x="1143000" y="685800"/>
            <a:ext cx="4572000" cy="3429000"/>
          </a:xfrm>
          <a:prstGeom prst="rect">
            <a:avLst/>
          </a:prstGeom>
          <a:ln/>
        </p:spPr>
      </p:sp>
      <p:sp>
        <p:nvSpPr>
          <p:cNvPr id="92164" name="Rectangle 3"/>
          <p:cNvSpPr>
            <a:spLocks noGrp="1" noChangeArrowheads="1"/>
          </p:cNvSpPr>
          <p:nvPr>
            <p:ph type="body" idx="1"/>
          </p:nvPr>
        </p:nvSpPr>
        <p:spPr>
          <a:xfrm>
            <a:off x="685800" y="4343400"/>
            <a:ext cx="5486400" cy="4114800"/>
          </a:xfrm>
          <a:prstGeom prst="rect">
            <a:avLst/>
          </a:prstGeom>
          <a:noFill/>
          <a:ln/>
        </p:spPr>
        <p:txBody>
          <a:bodyPr/>
          <a:lstStyle/>
          <a:p>
            <a:pPr eaLnBrk="1" hangingPunct="1"/>
            <a:endParaRPr lang="en-US"/>
          </a:p>
        </p:txBody>
      </p:sp>
    </p:spTree>
    <p:extLst>
      <p:ext uri="{BB962C8B-B14F-4D97-AF65-F5344CB8AC3E}">
        <p14:creationId xmlns:p14="http://schemas.microsoft.com/office/powerpoint/2010/main" val="31707653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Rot="1" noChangeAspect="1" noChangeArrowheads="1" noTextEdit="1"/>
          </p:cNvSpPr>
          <p:nvPr>
            <p:ph type="sldImg"/>
          </p:nvPr>
        </p:nvSpPr>
        <p:spPr>
          <a:xfrm>
            <a:off x="1146175" y="685800"/>
            <a:ext cx="4575175" cy="3432175"/>
          </a:xfrm>
          <a:prstGeom prst="rect">
            <a:avLst/>
          </a:prstGeom>
          <a:ln/>
        </p:spPr>
      </p:sp>
      <p:sp>
        <p:nvSpPr>
          <p:cNvPr id="97284" name="Rectangle 3"/>
          <p:cNvSpPr>
            <a:spLocks noGrp="1" noChangeArrowheads="1"/>
          </p:cNvSpPr>
          <p:nvPr>
            <p:ph type="body" idx="1"/>
          </p:nvPr>
        </p:nvSpPr>
        <p:spPr>
          <a:xfrm>
            <a:off x="685494" y="4341522"/>
            <a:ext cx="5487013" cy="4116005"/>
          </a:xfrm>
          <a:prstGeom prst="rect">
            <a:avLst/>
          </a:prstGeom>
          <a:no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sl-SI" dirty="0"/>
              <a:t>Razločevanje (</a:t>
            </a:r>
            <a:r>
              <a:rPr lang="sl-SI" dirty="0" err="1"/>
              <a:t>discrimination</a:t>
            </a:r>
            <a:r>
              <a:rPr lang="sl-SI" dirty="0"/>
              <a:t>) </a:t>
            </a:r>
            <a:r>
              <a:rPr lang="en-GB" dirty="0"/>
              <a:t>&amp; </a:t>
            </a:r>
            <a:r>
              <a:rPr lang="sl-SI" dirty="0"/>
              <a:t>ločljivost (</a:t>
            </a:r>
            <a:r>
              <a:rPr lang="sl-SI" dirty="0" err="1"/>
              <a:t>resolution</a:t>
            </a:r>
            <a:r>
              <a:rPr lang="sl-SI" dirty="0"/>
              <a:t>)</a:t>
            </a:r>
            <a:endParaRPr lang="en-GB" dirty="0"/>
          </a:p>
          <a:p>
            <a:pPr eaLnBrk="1" hangingPunct="1"/>
            <a:endParaRPr lang="en-US" dirty="0"/>
          </a:p>
        </p:txBody>
      </p:sp>
    </p:spTree>
    <p:extLst>
      <p:ext uri="{BB962C8B-B14F-4D97-AF65-F5344CB8AC3E}">
        <p14:creationId xmlns:p14="http://schemas.microsoft.com/office/powerpoint/2010/main" val="6850792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xfrm>
            <a:off x="3884613" y="8685213"/>
            <a:ext cx="2971800" cy="457200"/>
          </a:xfrm>
          <a:prstGeom prst="rect">
            <a:avLst/>
          </a:prstGeom>
          <a:noFill/>
        </p:spPr>
        <p:txBody>
          <a:bodyPr/>
          <a:lstStyle/>
          <a:p>
            <a:fld id="{0E994807-7F33-4FA2-867C-8545D5CD72FC}" type="slidenum">
              <a:rPr lang="en-US" smtClean="0"/>
              <a:pPr/>
              <a:t>18</a:t>
            </a:fld>
            <a:endParaRPr lang="sl-SI" dirty="0"/>
          </a:p>
        </p:txBody>
      </p:sp>
      <p:sp>
        <p:nvSpPr>
          <p:cNvPr id="81923" name="Rectangle 2"/>
          <p:cNvSpPr>
            <a:spLocks noGrp="1" noRot="1" noChangeAspect="1" noChangeArrowheads="1" noTextEdit="1"/>
          </p:cNvSpPr>
          <p:nvPr>
            <p:ph type="sldImg"/>
          </p:nvPr>
        </p:nvSpPr>
        <p:spPr>
          <a:xfrm>
            <a:off x="1144588" y="685800"/>
            <a:ext cx="4576762" cy="3432175"/>
          </a:xfrm>
          <a:ln/>
        </p:spPr>
      </p:sp>
      <p:sp>
        <p:nvSpPr>
          <p:cNvPr id="81924" name="Rectangle 3"/>
          <p:cNvSpPr>
            <a:spLocks noGrp="1" noChangeArrowheads="1"/>
          </p:cNvSpPr>
          <p:nvPr>
            <p:ph type="body" idx="1"/>
          </p:nvPr>
        </p:nvSpPr>
        <p:spPr>
          <a:xfrm>
            <a:off x="685494" y="4341522"/>
            <a:ext cx="5487013" cy="4116005"/>
          </a:xfrm>
          <a:noFill/>
          <a:ln/>
        </p:spPr>
        <p:txBody>
          <a:bodyPr/>
          <a:lstStyle/>
          <a:p>
            <a:r>
              <a:rPr lang="en-GB" sz="1200" kern="1200" dirty="0">
                <a:solidFill>
                  <a:schemeClr val="tx1"/>
                </a:solidFill>
                <a:latin typeface="+mn-lt"/>
              </a:rPr>
              <a:t>Točnost merilnega </a:t>
            </a:r>
            <a:r>
              <a:rPr lang="en-GB" sz="1200" kern="1200">
                <a:solidFill>
                  <a:schemeClr val="tx1"/>
                </a:solidFill>
                <a:latin typeface="+mn-lt"/>
              </a:rPr>
              <a:t>sistema </a:t>
            </a:r>
            <a:r>
              <a:rPr lang="sl-SI" sz="1200" kern="1200" baseline="0">
                <a:solidFill>
                  <a:schemeClr val="tx1"/>
                </a:solidFill>
                <a:latin typeface="+mn-lt"/>
              </a:rPr>
              <a:t>oz. odmik </a:t>
            </a:r>
            <a:r>
              <a:rPr lang="en-GB" sz="1200" kern="1200">
                <a:solidFill>
                  <a:schemeClr val="tx1"/>
                </a:solidFill>
                <a:latin typeface="+mn-lt"/>
              </a:rPr>
              <a:t>je </a:t>
            </a:r>
            <a:r>
              <a:rPr lang="en-GB" sz="1200" kern="1200" dirty="0">
                <a:solidFill>
                  <a:schemeClr val="tx1"/>
                </a:solidFill>
                <a:latin typeface="+mn-lt"/>
              </a:rPr>
              <a:t>sistematična razlika med izmerjenim povprečjem in </a:t>
            </a:r>
            <a:r>
              <a:rPr lang="en-GB" sz="1200" kern="1200">
                <a:solidFill>
                  <a:schemeClr val="tx1"/>
                </a:solidFill>
                <a:latin typeface="+mn-lt"/>
              </a:rPr>
              <a:t>resnično vrednostjo.</a:t>
            </a:r>
            <a:endParaRPr lang="en-GB" sz="1200" kern="1200" dirty="0">
              <a:solidFill>
                <a:schemeClr val="tx1"/>
              </a:solidFill>
              <a:latin typeface="+mn-lt"/>
            </a:endParaRPr>
          </a:p>
          <a:p>
            <a:endParaRPr lang="sl-SI" sz="1200" kern="1200" dirty="0">
              <a:solidFill>
                <a:schemeClr val="tx1"/>
              </a:solidFill>
              <a:latin typeface="+mn-lt"/>
              <a:ea typeface="+mn-ea"/>
              <a:cs typeface="+mn-cs"/>
            </a:endParaRPr>
          </a:p>
          <a:p>
            <a:r>
              <a:rPr lang="en-GB" sz="1200" kern="1200" dirty="0">
                <a:solidFill>
                  <a:schemeClr val="tx1"/>
                </a:solidFill>
                <a:latin typeface="+mn-lt"/>
              </a:rPr>
              <a:t>Odmik je sestavljen iz:</a:t>
            </a:r>
            <a:endParaRPr lang="sl-SI" sz="1200" kern="1200" dirty="0">
              <a:solidFill>
                <a:schemeClr val="tx1"/>
              </a:solidFill>
              <a:latin typeface="+mn-lt"/>
              <a:ea typeface="+mn-ea"/>
              <a:cs typeface="+mn-cs"/>
            </a:endParaRPr>
          </a:p>
          <a:p>
            <a:endParaRPr lang="sl-SI" sz="1200" u="sng" kern="1200" dirty="0">
              <a:solidFill>
                <a:schemeClr val="tx1"/>
              </a:solidFill>
              <a:latin typeface="+mn-lt"/>
              <a:ea typeface="+mn-ea"/>
              <a:cs typeface="+mn-cs"/>
            </a:endParaRPr>
          </a:p>
          <a:p>
            <a:pPr marL="171450" indent="-171450">
              <a:buFont typeface="Arial" panose="020B0604020202020204" pitchFamily="34" charset="0"/>
              <a:buChar char="•"/>
            </a:pPr>
            <a:r>
              <a:rPr lang="en-GB" sz="1200" u="none" kern="1200" dirty="0">
                <a:solidFill>
                  <a:schemeClr val="tx1"/>
                </a:solidFill>
                <a:latin typeface="+mn-lt"/>
              </a:rPr>
              <a:t>Operaterjevega odmika</a:t>
            </a:r>
            <a:br/>
            <a:r>
              <a:rPr lang="en-GB" sz="1200" kern="1200" dirty="0">
                <a:solidFill>
                  <a:schemeClr val="tx1"/>
                </a:solidFill>
                <a:latin typeface="+mn-lt"/>
              </a:rPr>
              <a:t>Različni operaterji na istem predmetu izmerijo različne povprečne vrednosti. Tovrstno napako povzročijo tudi različna opazovanja ali izpeljava podatkov iz različnih podatkovnih baz. Operaterjev odmik lahko zmanjšamo s pravilnimi navodili za merjenje</a:t>
            </a:r>
            <a:r>
              <a:rPr lang="en-GB" sz="1200" kern="1200">
                <a:solidFill>
                  <a:schemeClr val="tx1"/>
                </a:solidFill>
                <a:latin typeface="+mn-lt"/>
              </a:rPr>
              <a:t>, </a:t>
            </a:r>
            <a:r>
              <a:rPr lang="sl-SI" sz="1200" kern="1200">
                <a:solidFill>
                  <a:schemeClr val="tx1"/>
                </a:solidFill>
                <a:latin typeface="+mn-lt"/>
              </a:rPr>
              <a:t>z </a:t>
            </a:r>
            <a:r>
              <a:rPr lang="en-GB" sz="1200" kern="1200">
                <a:solidFill>
                  <a:schemeClr val="tx1"/>
                </a:solidFill>
                <a:latin typeface="+mn-lt"/>
              </a:rPr>
              <a:t>usposabljanjem </a:t>
            </a:r>
            <a:r>
              <a:rPr lang="en-GB" sz="1200" kern="1200" dirty="0">
                <a:solidFill>
                  <a:schemeClr val="tx1"/>
                </a:solidFill>
                <a:latin typeface="+mn-lt"/>
              </a:rPr>
              <a:t>in jasnimi definicijami.</a:t>
            </a:r>
            <a:endParaRPr lang="sl-SI" sz="1200" kern="1200" dirty="0">
              <a:solidFill>
                <a:schemeClr val="tx1"/>
              </a:solidFill>
              <a:latin typeface="+mn-lt"/>
              <a:ea typeface="+mn-ea"/>
              <a:cs typeface="+mn-cs"/>
            </a:endParaRPr>
          </a:p>
          <a:p>
            <a:endParaRPr lang="sl-SI" sz="1200" u="sng" kern="1200" dirty="0">
              <a:solidFill>
                <a:schemeClr val="tx1"/>
              </a:solidFill>
              <a:latin typeface="+mn-lt"/>
              <a:ea typeface="+mn-ea"/>
              <a:cs typeface="+mn-cs"/>
            </a:endParaRPr>
          </a:p>
          <a:p>
            <a:pPr marL="171450" indent="-171450">
              <a:buFont typeface="Arial" panose="020B0604020202020204" pitchFamily="34" charset="0"/>
              <a:buChar char="•"/>
            </a:pPr>
            <a:r>
              <a:rPr lang="en-GB" sz="1200" u="none" kern="1200" dirty="0">
                <a:solidFill>
                  <a:schemeClr val="tx1"/>
                </a:solidFill>
                <a:latin typeface="+mn-lt"/>
              </a:rPr>
              <a:t>Odmik instrumenta</a:t>
            </a:r>
            <a:br/>
            <a:r>
              <a:rPr lang="en-GB" sz="1200" kern="1200" dirty="0">
                <a:solidFill>
                  <a:schemeClr val="tx1"/>
                </a:solidFill>
                <a:latin typeface="+mn-lt"/>
              </a:rPr>
              <a:t>Z različnimi instrumenti </a:t>
            </a:r>
            <a:r>
              <a:rPr lang="en-GB" sz="1200" kern="1200">
                <a:solidFill>
                  <a:schemeClr val="tx1"/>
                </a:solidFill>
                <a:latin typeface="+mn-lt"/>
              </a:rPr>
              <a:t>dobimo na istem predmetu</a:t>
            </a:r>
            <a:r>
              <a:rPr lang="sl-SI" sz="1200" kern="1200">
                <a:solidFill>
                  <a:schemeClr val="tx1"/>
                </a:solidFill>
                <a:latin typeface="+mn-lt"/>
              </a:rPr>
              <a:t> </a:t>
            </a:r>
            <a:r>
              <a:rPr lang="en-GB" sz="1200" kern="1200">
                <a:solidFill>
                  <a:schemeClr val="tx1"/>
                </a:solidFill>
                <a:latin typeface="+mn-lt"/>
              </a:rPr>
              <a:t>različne povprečne vrednosti. </a:t>
            </a:r>
            <a:r>
              <a:rPr lang="en-GB" sz="1200" kern="1200" dirty="0">
                <a:solidFill>
                  <a:schemeClr val="tx1"/>
                </a:solidFill>
                <a:latin typeface="+mn-lt"/>
              </a:rPr>
              <a:t>Ta vpliv lahko zmanjšamo z umerjanjem meril. Pomnite, da je odmik po umerjanju določen z referenčno vrednostjo, ki jo uporabite pri umerjanju.</a:t>
            </a:r>
            <a:endParaRPr lang="sl-SI" sz="1200" kern="1200" dirty="0">
              <a:solidFill>
                <a:schemeClr val="tx1"/>
              </a:solidFill>
              <a:latin typeface="+mn-lt"/>
              <a:ea typeface="+mn-ea"/>
              <a:cs typeface="+mn-cs"/>
            </a:endParaRPr>
          </a:p>
          <a:p>
            <a:pPr eaLnBrk="1" hangingPunct="1"/>
            <a:endParaRPr lang="sl-SI" dirty="0"/>
          </a:p>
        </p:txBody>
      </p:sp>
    </p:spTree>
    <p:extLst>
      <p:ext uri="{BB962C8B-B14F-4D97-AF65-F5344CB8AC3E}">
        <p14:creationId xmlns:p14="http://schemas.microsoft.com/office/powerpoint/2010/main" val="3744861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xfrm>
            <a:off x="3884613" y="8685213"/>
            <a:ext cx="2971800" cy="457200"/>
          </a:xfrm>
          <a:prstGeom prst="rect">
            <a:avLst/>
          </a:prstGeom>
          <a:noFill/>
        </p:spPr>
        <p:txBody>
          <a:bodyPr/>
          <a:lstStyle/>
          <a:p>
            <a:fld id="{B50D6FC7-7E07-4592-9B6C-7B3F1E7A6BB1}" type="slidenum">
              <a:rPr lang="en-US" smtClean="0"/>
              <a:pPr/>
              <a:t>19</a:t>
            </a:fld>
            <a:endParaRPr lang="sl-SI" dirty="0"/>
          </a:p>
        </p:txBody>
      </p:sp>
      <p:sp>
        <p:nvSpPr>
          <p:cNvPr id="86019" name="Rectangle 2"/>
          <p:cNvSpPr>
            <a:spLocks noGrp="1" noRot="1" noChangeAspect="1" noChangeArrowheads="1" noTextEdit="1"/>
          </p:cNvSpPr>
          <p:nvPr>
            <p:ph type="sldImg"/>
          </p:nvPr>
        </p:nvSpPr>
        <p:spPr>
          <a:xfrm>
            <a:off x="1144588" y="685800"/>
            <a:ext cx="4576762" cy="3432175"/>
          </a:xfrm>
          <a:ln/>
        </p:spPr>
      </p:sp>
      <p:sp>
        <p:nvSpPr>
          <p:cNvPr id="86020" name="Rectangle 3"/>
          <p:cNvSpPr>
            <a:spLocks noGrp="1" noChangeArrowheads="1"/>
          </p:cNvSpPr>
          <p:nvPr>
            <p:ph type="body" idx="1"/>
          </p:nvPr>
        </p:nvSpPr>
        <p:spPr>
          <a:xfrm>
            <a:off x="685494" y="4341522"/>
            <a:ext cx="5487013" cy="4116005"/>
          </a:xfrm>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Natančnost je celotna variabilnost merilnega sistema. Vanjo je vključena variabilnost, ki jo povzročata merilni instrument in merilni proces. Variabilnost natančnosti je mogoče ugotoviti z analizo merilnega sistema (študijo ponovljivosti in obnovljivosti merila, angl. Gage R&amp;R).</a:t>
            </a:r>
            <a:endParaRPr lang="sl-SI" sz="1200" kern="1200" dirty="0">
              <a:solidFill>
                <a:schemeClr val="tx1"/>
              </a:solidFill>
              <a:latin typeface="+mn-lt"/>
              <a:ea typeface="+mn-ea"/>
              <a:cs typeface="+mn-cs"/>
            </a:endParaRPr>
          </a:p>
          <a:p>
            <a:pPr eaLnBrk="1" hangingPunct="1"/>
            <a:endParaRPr lang="sl-SI" dirty="0"/>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b="1" u="none" kern="1200" dirty="0" err="1">
                <a:solidFill>
                  <a:schemeClr val="tx1"/>
                </a:solidFill>
                <a:latin typeface="+mn-lt"/>
              </a:rPr>
              <a:t>Ponovljivost</a:t>
            </a:r>
            <a:r>
              <a:rPr dirty="0"/>
              <a:t> </a:t>
            </a:r>
            <a:r>
              <a:rPr lang="sl-SI" dirty="0"/>
              <a:t>(</a:t>
            </a:r>
            <a:r>
              <a:rPr lang="sl-SI" dirty="0" err="1"/>
              <a:t>Repeatability</a:t>
            </a:r>
            <a:r>
              <a:rPr lang="sl-SI" dirty="0"/>
              <a:t>)</a:t>
            </a:r>
            <a:br>
              <a:rPr dirty="0"/>
            </a:br>
            <a:r>
              <a:rPr lang="en-GB" sz="1200" kern="1200" dirty="0">
                <a:solidFill>
                  <a:schemeClr val="tx1"/>
                </a:solidFill>
                <a:latin typeface="+mn-lt"/>
              </a:rPr>
              <a:t>Ponovljivost je tisti del lastne variabilnosti, ki jo povzroča sam merilni instrument. Gre za variabilnost pri meritvah, ki se ponavljajo brez </a:t>
            </a:r>
            <a:r>
              <a:rPr lang="en-GB" sz="1200" kern="1200" dirty="0" err="1">
                <a:solidFill>
                  <a:schemeClr val="tx1"/>
                </a:solidFill>
                <a:latin typeface="+mn-lt"/>
              </a:rPr>
              <a:t>spremembe</a:t>
            </a:r>
            <a:r>
              <a:rPr lang="en-GB" sz="1200" kern="1200" dirty="0">
                <a:solidFill>
                  <a:schemeClr val="tx1"/>
                </a:solidFill>
                <a:latin typeface="+mn-lt"/>
              </a:rPr>
              <a:t> </a:t>
            </a:r>
            <a:r>
              <a:rPr lang="sl-SI" sz="1200" kern="1200" dirty="0">
                <a:solidFill>
                  <a:schemeClr val="tx1"/>
                </a:solidFill>
                <a:latin typeface="+mn-lt"/>
              </a:rPr>
              <a:t>konfiguracije</a:t>
            </a:r>
            <a:r>
              <a:rPr lang="sl-SI" sz="1200" kern="1200" baseline="0" dirty="0">
                <a:solidFill>
                  <a:schemeClr val="tx1"/>
                </a:solidFill>
                <a:latin typeface="+mn-lt"/>
              </a:rPr>
              <a:t> </a:t>
            </a:r>
            <a:r>
              <a:rPr lang="en-GB" sz="1200" kern="1200" dirty="0">
                <a:solidFill>
                  <a:schemeClr val="tx1"/>
                </a:solidFill>
                <a:latin typeface="+mn-lt"/>
              </a:rPr>
              <a:t>in pogojev </a:t>
            </a:r>
            <a:r>
              <a:rPr lang="en-GB" sz="1200" kern="1200" dirty="0" err="1">
                <a:solidFill>
                  <a:schemeClr val="tx1"/>
                </a:solidFill>
                <a:latin typeface="+mn-lt"/>
              </a:rPr>
              <a:t>meritev</a:t>
            </a:r>
            <a:r>
              <a:rPr lang="en-GB" sz="1200" kern="1200" dirty="0">
                <a:solidFill>
                  <a:schemeClr val="tx1"/>
                </a:solidFill>
                <a:latin typeface="+mn-lt"/>
              </a:rPr>
              <a:t>.</a:t>
            </a:r>
            <a:endParaRPr lang="sl-SI" sz="1200" kern="1200" dirty="0">
              <a:solidFill>
                <a:schemeClr val="tx1"/>
              </a:solidFill>
              <a:latin typeface="+mn-lt"/>
              <a:ea typeface="+mn-ea"/>
              <a:cs typeface="+mn-cs"/>
            </a:endParaRP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noProof="0" dirty="0">
                <a:latin typeface="Arial" charset="0"/>
              </a:rPr>
              <a:t>Isti operater</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noProof="0" dirty="0">
                <a:latin typeface="Arial" charset="0"/>
              </a:rPr>
              <a:t>Ista konfiguracija meritve</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noProof="0" dirty="0">
                <a:latin typeface="Arial" charset="0"/>
              </a:rPr>
              <a:t>Isti merilni instrument</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noProof="0" dirty="0">
                <a:latin typeface="Arial" charset="0"/>
              </a:rPr>
              <a:t>Isti pogoji</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noProof="0" dirty="0">
                <a:latin typeface="Arial" charset="0"/>
              </a:rPr>
              <a:t>Kratkoročna</a:t>
            </a:r>
          </a:p>
          <a:p>
            <a:pPr eaLnBrk="1" hangingPunct="1"/>
            <a:endParaRPr lang="sl-SI" dirty="0"/>
          </a:p>
          <a:p>
            <a:r>
              <a:rPr lang="en-GB" sz="1200" b="1" u="none" kern="1200" dirty="0" err="1">
                <a:solidFill>
                  <a:schemeClr val="tx1"/>
                </a:solidFill>
                <a:latin typeface="+mn-lt"/>
              </a:rPr>
              <a:t>Obnovljivost</a:t>
            </a:r>
            <a:r>
              <a:rPr lang="sl-SI" sz="1200" b="1" u="none" kern="1200" dirty="0">
                <a:solidFill>
                  <a:schemeClr val="tx1"/>
                </a:solidFill>
                <a:latin typeface="+mn-lt"/>
              </a:rPr>
              <a:t> </a:t>
            </a:r>
            <a:r>
              <a:rPr lang="sl-SI" sz="1200" b="0" u="none" kern="1200" dirty="0">
                <a:solidFill>
                  <a:schemeClr val="tx1"/>
                </a:solidFill>
                <a:latin typeface="+mn-lt"/>
              </a:rPr>
              <a:t>(</a:t>
            </a:r>
            <a:r>
              <a:rPr lang="sl-SI" sz="1200" b="0" u="none" kern="1200" dirty="0" err="1">
                <a:solidFill>
                  <a:schemeClr val="tx1"/>
                </a:solidFill>
                <a:latin typeface="+mn-lt"/>
              </a:rPr>
              <a:t>Reproducibility</a:t>
            </a:r>
            <a:r>
              <a:rPr lang="sl-SI" sz="1200" b="0" u="none" kern="1200" dirty="0">
                <a:solidFill>
                  <a:schemeClr val="tx1"/>
                </a:solidFill>
                <a:latin typeface="+mn-lt"/>
              </a:rPr>
              <a:t>)</a:t>
            </a:r>
            <a:br>
              <a:rPr dirty="0"/>
            </a:br>
            <a:r>
              <a:rPr lang="en-GB" sz="1200" kern="1200" dirty="0">
                <a:solidFill>
                  <a:schemeClr val="tx1"/>
                </a:solidFill>
                <a:latin typeface="+mn-lt"/>
              </a:rPr>
              <a:t>Obnovljivost je del variabilnosti, ki jo prispeva merilni postopek. Gre za variabilnost pri ponovljenih meritvah iste spremenljivke v različnih pogojih (npr. različni operaterji, različne konfiguracije, različne testne enote, različni okoljski pogoji, dolgoročna).</a:t>
            </a:r>
            <a:endParaRPr lang="sl-SI" sz="1200" kern="1200" dirty="0">
              <a:solidFill>
                <a:schemeClr val="tx1"/>
              </a:solidFill>
              <a:latin typeface="+mn-lt"/>
              <a:ea typeface="+mn-ea"/>
              <a:cs typeface="+mn-cs"/>
            </a:endParaRPr>
          </a:p>
          <a:p>
            <a:r>
              <a:rPr lang="en-GB" sz="1200" kern="1200" dirty="0">
                <a:solidFill>
                  <a:schemeClr val="tx1"/>
                </a:solidFill>
                <a:latin typeface="+mn-lt"/>
              </a:rPr>
              <a:t>Obnovljivost je vsota dveh komponent variabilnosti: 'operater' ter 'interakcija med operaterjem in merjencem'. </a:t>
            </a:r>
            <a:endParaRPr lang="sl-SI" sz="1200" kern="1200" dirty="0">
              <a:solidFill>
                <a:schemeClr val="tx1"/>
              </a:solidFill>
              <a:latin typeface="+mn-lt"/>
              <a:ea typeface="+mn-ea"/>
              <a:cs typeface="+mn-cs"/>
            </a:endParaRPr>
          </a:p>
          <a:p>
            <a:endParaRPr lang="sl-SI" sz="1200" kern="1200" noProof="0" dirty="0">
              <a:solidFill>
                <a:schemeClr val="tx1"/>
              </a:solidFill>
              <a:latin typeface="+mn-lt"/>
              <a:ea typeface="+mn-ea"/>
              <a:cs typeface="+mn-cs"/>
            </a:endParaRPr>
          </a:p>
          <a:p>
            <a:r>
              <a:rPr lang="en-GB" sz="1600" noProof="0" dirty="0">
                <a:latin typeface="Arial" charset="0"/>
              </a:rPr>
              <a:t>Obnovljivost je torej variabilnost pri ponovljenih meritvah iste spremenljivke v različnih pogojih:</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sz="1600" noProof="0" dirty="0">
                <a:latin typeface="Arial" charset="0"/>
              </a:rPr>
              <a:t>Različni operaterji</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sz="1600" noProof="0" dirty="0">
                <a:latin typeface="Arial" charset="0"/>
              </a:rPr>
              <a:t>Različne konfiguracije</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sz="1600" baseline="0" noProof="0" dirty="0">
                <a:latin typeface="Arial" charset="0"/>
              </a:rPr>
              <a:t>Različne testne enote</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sz="1600" baseline="0" noProof="0" dirty="0">
                <a:latin typeface="Arial" charset="0"/>
              </a:rPr>
              <a:t>Različni okoljski pogoji</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sz="1600" baseline="0" noProof="0" dirty="0">
                <a:latin typeface="Arial" charset="0"/>
              </a:rPr>
              <a:t>Dolgoročna (merilni proces je pod nadzorom)</a:t>
            </a:r>
            <a:endParaRPr lang="sl-SI" sz="1600" noProof="0" dirty="0">
              <a:latin typeface="Arial" charset="0"/>
              <a:cs typeface="Arial" charset="0"/>
            </a:endParaRPr>
          </a:p>
          <a:p>
            <a:endParaRPr lang="sl-SI" sz="1600" noProof="0" dirty="0">
              <a:latin typeface="Arial" charset="0"/>
              <a:cs typeface="Arial" charset="0"/>
            </a:endParaRPr>
          </a:p>
        </p:txBody>
      </p:sp>
    </p:spTree>
    <p:extLst>
      <p:ext uri="{BB962C8B-B14F-4D97-AF65-F5344CB8AC3E}">
        <p14:creationId xmlns:p14="http://schemas.microsoft.com/office/powerpoint/2010/main" val="33341775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xfrm>
            <a:off x="3884613" y="8685213"/>
            <a:ext cx="2971800" cy="457200"/>
          </a:xfrm>
          <a:prstGeom prst="rect">
            <a:avLst/>
          </a:prstGeom>
          <a:noFill/>
        </p:spPr>
        <p:txBody>
          <a:bodyPr/>
          <a:lstStyle/>
          <a:p>
            <a:fld id="{0F5D61DD-ED9A-445B-A05A-97DBCD4A985F}" type="slidenum">
              <a:rPr lang="en-US" smtClean="0"/>
              <a:pPr/>
              <a:t>20</a:t>
            </a:fld>
            <a:endParaRPr lang="sl-SI" dirty="0"/>
          </a:p>
        </p:txBody>
      </p:sp>
      <p:sp>
        <p:nvSpPr>
          <p:cNvPr id="94211" name="Rectangle 2"/>
          <p:cNvSpPr>
            <a:spLocks noGrp="1" noRot="1" noChangeAspect="1" noChangeArrowheads="1" noTextEdit="1"/>
          </p:cNvSpPr>
          <p:nvPr>
            <p:ph type="sldImg"/>
          </p:nvPr>
        </p:nvSpPr>
        <p:spPr>
          <a:xfrm>
            <a:off x="1144588" y="685800"/>
            <a:ext cx="4576762" cy="3432175"/>
          </a:xfrm>
          <a:ln/>
        </p:spPr>
      </p:sp>
      <p:sp>
        <p:nvSpPr>
          <p:cNvPr id="94212" name="Rectangle 3"/>
          <p:cNvSpPr>
            <a:spLocks noGrp="1" noChangeArrowheads="1"/>
          </p:cNvSpPr>
          <p:nvPr>
            <p:ph type="body" idx="1"/>
          </p:nvPr>
        </p:nvSpPr>
        <p:spPr>
          <a:xfrm>
            <a:off x="685494" y="4341522"/>
            <a:ext cx="5487013" cy="4116005"/>
          </a:xfrm>
          <a:no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b="1" kern="1200" dirty="0">
                <a:solidFill>
                  <a:schemeClr val="tx1"/>
                </a:solidFill>
                <a:latin typeface="+mn-lt"/>
              </a:rPr>
              <a:t>Stabilnost:</a:t>
            </a:r>
            <a:r>
              <a:rPr lang="en-GB" sz="1200" kern="1200" dirty="0">
                <a:solidFill>
                  <a:schemeClr val="tx1"/>
                </a:solidFill>
                <a:latin typeface="+mn-lt"/>
              </a:rPr>
              <a:t> Ali je merilni sistem stabilen v času?</a:t>
            </a:r>
            <a:endParaRPr lang="sl-SI" sz="1200" kern="1200" dirty="0">
              <a:solidFill>
                <a:schemeClr val="tx1"/>
              </a:solidFill>
              <a:latin typeface="+mn-lt"/>
              <a:ea typeface="+mn-ea"/>
              <a:cs typeface="+mn-cs"/>
            </a:endParaRPr>
          </a:p>
          <a:p>
            <a:pPr eaLnBrk="1" hangingPunct="1"/>
            <a:endParaRPr lang="sl-SI" dirty="0"/>
          </a:p>
        </p:txBody>
      </p:sp>
    </p:spTree>
    <p:extLst>
      <p:ext uri="{BB962C8B-B14F-4D97-AF65-F5344CB8AC3E}">
        <p14:creationId xmlns:p14="http://schemas.microsoft.com/office/powerpoint/2010/main" val="13714059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1143000" y="685800"/>
            <a:ext cx="4572000" cy="3429000"/>
          </a:xfrm>
        </p:spPr>
      </p:sp>
      <p:sp>
        <p:nvSpPr>
          <p:cNvPr id="3" name="Tijdelijke aanduiding voor notities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latin typeface="+mn-lt"/>
              </a:rPr>
              <a:t>Pomnite, da je umerjanje </a:t>
            </a:r>
            <a:r>
              <a:rPr lang="en-GB" sz="1200" kern="1200">
                <a:solidFill>
                  <a:schemeClr val="tx1"/>
                </a:solidFill>
                <a:latin typeface="+mn-lt"/>
              </a:rPr>
              <a:t>le e</a:t>
            </a:r>
            <a:r>
              <a:rPr lang="sl-SI" sz="1200" kern="1200">
                <a:solidFill>
                  <a:schemeClr val="tx1"/>
                </a:solidFill>
                <a:latin typeface="+mn-lt"/>
              </a:rPr>
              <a:t>de</a:t>
            </a:r>
            <a:r>
              <a:rPr lang="en-GB" sz="1200" kern="1200">
                <a:solidFill>
                  <a:schemeClr val="tx1"/>
                </a:solidFill>
                <a:latin typeface="+mn-lt"/>
              </a:rPr>
              <a:t>n </a:t>
            </a:r>
            <a:r>
              <a:rPr lang="en-GB" sz="1200" kern="1200" dirty="0">
                <a:solidFill>
                  <a:schemeClr val="tx1"/>
                </a:solidFill>
                <a:latin typeface="+mn-lt"/>
              </a:rPr>
              <a:t>od pogojev za dober merilni sistem. Umerjen sistem še ni garancija za točnost, natančnost ali stabilnost. MSA se izvaja v kombinaciji z merjenci.</a:t>
            </a:r>
            <a:endParaRPr lang="sl-SI" sz="1200" kern="1200" dirty="0">
              <a:solidFill>
                <a:schemeClr val="tx1"/>
              </a:solidFill>
              <a:latin typeface="+mn-lt"/>
              <a:ea typeface="+mn-ea"/>
              <a:cs typeface="+mn-cs"/>
            </a:endParaRPr>
          </a:p>
          <a:p>
            <a:endParaRPr lang="sl-SI" sz="1200" kern="1200" dirty="0">
              <a:solidFill>
                <a:schemeClr val="tx1"/>
              </a:solidFill>
              <a:latin typeface="+mn-lt"/>
              <a:ea typeface="+mn-ea"/>
              <a:cs typeface="+mn-cs"/>
            </a:endParaRPr>
          </a:p>
          <a:p>
            <a:r>
              <a:rPr lang="en-GB" sz="1200" kern="1200" dirty="0">
                <a:solidFill>
                  <a:schemeClr val="tx1"/>
                </a:solidFill>
                <a:latin typeface="+mn-lt"/>
              </a:rPr>
              <a:t>Točnost se lahko ugotovi s študijo umerjanja. </a:t>
            </a:r>
            <a:r>
              <a:rPr dirty="0"/>
              <a:t>Variabilnost natančnosti se lahko določi z analizo ponovljivosti in obnovljivosti </a:t>
            </a:r>
            <a:r>
              <a:t>merilnega sistema</a:t>
            </a:r>
            <a:r>
              <a:rPr lang="en-GB" sz="1200" kern="1200">
                <a:solidFill>
                  <a:schemeClr val="tx1"/>
                </a:solidFill>
                <a:latin typeface="+mn-lt"/>
              </a:rPr>
              <a:t> (angl. </a:t>
            </a:r>
            <a:r>
              <a:rPr lang="en-GB" sz="1200" kern="1200" dirty="0">
                <a:solidFill>
                  <a:schemeClr val="tx1"/>
                </a:solidFill>
                <a:latin typeface="+mn-lt"/>
              </a:rPr>
              <a:t>Gage </a:t>
            </a:r>
            <a:r>
              <a:rPr lang="en-GB" sz="1200" kern="1200">
                <a:solidFill>
                  <a:schemeClr val="tx1"/>
                </a:solidFill>
                <a:latin typeface="+mn-lt"/>
              </a:rPr>
              <a:t>R&amp;R)</a:t>
            </a:r>
            <a:r>
              <a:rPr lang="sl-SI" sz="1200" kern="1200">
                <a:solidFill>
                  <a:schemeClr val="tx1"/>
                </a:solidFill>
                <a:latin typeface="+mn-lt"/>
              </a:rPr>
              <a:t>.</a:t>
            </a:r>
            <a:r>
              <a:rPr lang="en-GB" sz="1200" kern="1200">
                <a:solidFill>
                  <a:schemeClr val="tx1"/>
                </a:solidFill>
                <a:latin typeface="+mn-lt"/>
              </a:rPr>
              <a:t> </a:t>
            </a:r>
            <a:r>
              <a:rPr lang="en-GB" sz="1200" kern="1200" dirty="0">
                <a:solidFill>
                  <a:schemeClr val="tx1"/>
                </a:solidFill>
                <a:latin typeface="+mn-lt"/>
              </a:rPr>
              <a:t>Pri zveznih podatkih se uporabi zvezna študija ponovljivosti in obnovljivosti</a:t>
            </a:r>
            <a:r>
              <a:rPr lang="en-GB" sz="1200" kern="1200">
                <a:solidFill>
                  <a:schemeClr val="tx1"/>
                </a:solidFill>
                <a:latin typeface="+mn-lt"/>
              </a:rPr>
              <a:t>, </a:t>
            </a:r>
            <a:r>
              <a:rPr lang="sl-SI" sz="1200" kern="1200">
                <a:solidFill>
                  <a:schemeClr val="tx1"/>
                </a:solidFill>
                <a:latin typeface="+mn-lt"/>
              </a:rPr>
              <a:t>medtem ko se </a:t>
            </a:r>
            <a:r>
              <a:rPr lang="en-GB" sz="1200" kern="1200">
                <a:solidFill>
                  <a:schemeClr val="tx1"/>
                </a:solidFill>
                <a:latin typeface="+mn-lt"/>
              </a:rPr>
              <a:t>analiza </a:t>
            </a:r>
            <a:r>
              <a:rPr lang="en-GB" sz="1200" kern="1200" dirty="0">
                <a:solidFill>
                  <a:schemeClr val="tx1"/>
                </a:solidFill>
                <a:latin typeface="+mn-lt"/>
              </a:rPr>
              <a:t>ujemanja </a:t>
            </a:r>
            <a:r>
              <a:rPr lang="en-GB" sz="1200" kern="1200">
                <a:solidFill>
                  <a:schemeClr val="tx1"/>
                </a:solidFill>
                <a:latin typeface="+mn-lt"/>
              </a:rPr>
              <a:t>atributov uporabi </a:t>
            </a:r>
            <a:r>
              <a:rPr lang="en-GB" sz="1200" kern="1200" dirty="0">
                <a:solidFill>
                  <a:schemeClr val="tx1"/>
                </a:solidFill>
                <a:latin typeface="+mn-lt"/>
              </a:rPr>
              <a:t>za ocenjevanje ujemanja podatkov v obliki atributov. Meritve so v tem primeru subjektivne človeške ocene in ne neposredne fizikalne meritve, npr. rezultati vizualne kontrole, kjer je rezultat lahko samo dober ali slab izdelek.</a:t>
            </a:r>
            <a:endParaRPr lang="sl-SI" sz="1200" kern="1200" dirty="0">
              <a:solidFill>
                <a:schemeClr val="tx1"/>
              </a:solidFill>
              <a:latin typeface="+mn-lt"/>
              <a:ea typeface="+mn-ea"/>
              <a:cs typeface="+mn-cs"/>
            </a:endParaRPr>
          </a:p>
          <a:p>
            <a:endParaRPr lang="sl-SI" sz="1200" kern="1200" dirty="0">
              <a:solidFill>
                <a:schemeClr val="tx1"/>
              </a:solidFill>
              <a:latin typeface="+mn-lt"/>
              <a:ea typeface="+mn-ea"/>
              <a:cs typeface="+mn-cs"/>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dirty="0"/>
              <a:t>Študija ponovljivosti in obnovljivosti </a:t>
            </a:r>
            <a:r>
              <a:t>merila </a:t>
            </a:r>
            <a:r>
              <a:rPr lang="sl-SI"/>
              <a:t>določi </a:t>
            </a:r>
            <a:r>
              <a:t>natančnost </a:t>
            </a:r>
            <a:r>
              <a:rPr dirty="0"/>
              <a:t>z 10 deli, ki jih po trikrat izmerijo trije različni operaterji. Za izračun ponovljivosti sta potrebni vsaj dve seriji poizkusov. Napako merilne natančnosti je mogoče izračunati </a:t>
            </a:r>
            <a:r>
              <a:t>na </a:t>
            </a:r>
            <a:r>
              <a:rPr lang="sl-SI"/>
              <a:t>podlagi </a:t>
            </a:r>
            <a:r>
              <a:t>10 </a:t>
            </a:r>
            <a:r>
              <a:rPr dirty="0"/>
              <a:t>x 3 x 3 = 90 meritev.</a:t>
            </a:r>
            <a:r>
              <a:rPr lang="en-GB" sz="1200" kern="1200" baseline="0" dirty="0">
                <a:solidFill>
                  <a:schemeClr val="tx1"/>
                </a:solidFill>
                <a:latin typeface="+mn-lt"/>
              </a:rPr>
              <a:t> </a:t>
            </a:r>
            <a:endParaRPr lang="sl-SI" baseline="0" dirty="0"/>
          </a:p>
          <a:p>
            <a:pPr marL="0" marR="0" lvl="1" indent="0" algn="l" defTabSz="914400" rtl="0" eaLnBrk="0" fontAlgn="base" latinLnBrk="0" hangingPunct="0">
              <a:lnSpc>
                <a:spcPct val="100000"/>
              </a:lnSpc>
              <a:spcBef>
                <a:spcPct val="30000"/>
              </a:spcBef>
              <a:spcAft>
                <a:spcPct val="0"/>
              </a:spcAft>
              <a:buClrTx/>
              <a:buSzTx/>
              <a:buFontTx/>
              <a:buNone/>
              <a:tabLst/>
              <a:defRPr/>
            </a:pPr>
            <a:endParaRPr lang="sl-SI" baseline="0" dirty="0"/>
          </a:p>
          <a:p>
            <a:pPr marL="0" marR="0" lvl="1" indent="0" algn="l" defTabSz="914400" rtl="0" eaLnBrk="0" fontAlgn="base" latinLnBrk="0" hangingPunct="0">
              <a:lnSpc>
                <a:spcPct val="100000"/>
              </a:lnSpc>
              <a:spcBef>
                <a:spcPct val="30000"/>
              </a:spcBef>
              <a:spcAft>
                <a:spcPct val="0"/>
              </a:spcAft>
              <a:buClrTx/>
              <a:buSzTx/>
              <a:buFontTx/>
              <a:buNone/>
              <a:tabLst/>
              <a:defRPr/>
            </a:pPr>
            <a:endParaRPr lang="sl-SI" dirty="0"/>
          </a:p>
          <a:p>
            <a:endParaRPr lang="sl-SI" dirty="0"/>
          </a:p>
        </p:txBody>
      </p:sp>
      <p:sp>
        <p:nvSpPr>
          <p:cNvPr id="4" name="Tijdelijke aanduiding voor dianummer 3"/>
          <p:cNvSpPr>
            <a:spLocks noGrp="1"/>
          </p:cNvSpPr>
          <p:nvPr>
            <p:ph type="sldNum" sz="quarter" idx="10"/>
          </p:nvPr>
        </p:nvSpPr>
        <p:spPr>
          <a:xfrm>
            <a:off x="3884613" y="8685213"/>
            <a:ext cx="2971800" cy="457200"/>
          </a:xfrm>
          <a:prstGeom prst="rect">
            <a:avLst/>
          </a:prstGeom>
        </p:spPr>
        <p:txBody>
          <a:bodyPr/>
          <a:lstStyle/>
          <a:p>
            <a:pPr>
              <a:defRPr/>
            </a:pPr>
            <a:fld id="{C32B4CA9-F665-4A23-9BAD-D3F11E00DD8C}" type="slidenum">
              <a:rPr lang="nl-NL" smtClean="0"/>
              <a:pPr>
                <a:defRPr/>
              </a:pPr>
              <a:t>21</a:t>
            </a:fld>
            <a:endParaRPr lang="sl-SI"/>
          </a:p>
        </p:txBody>
      </p:sp>
    </p:spTree>
    <p:extLst>
      <p:ext uri="{BB962C8B-B14F-4D97-AF65-F5344CB8AC3E}">
        <p14:creationId xmlns:p14="http://schemas.microsoft.com/office/powerpoint/2010/main" val="12810008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xfrm>
            <a:off x="3884613" y="8685213"/>
            <a:ext cx="2971800" cy="457200"/>
          </a:xfrm>
          <a:prstGeom prst="rect">
            <a:avLst/>
          </a:prstGeom>
          <a:noFill/>
        </p:spPr>
        <p:txBody>
          <a:bodyPr/>
          <a:lstStyle/>
          <a:p>
            <a:fld id="{716400A4-07E1-4DD0-967F-F27E6C7A0921}" type="slidenum">
              <a:rPr lang="en-US" smtClean="0"/>
              <a:pPr/>
              <a:t>22</a:t>
            </a:fld>
            <a:endParaRPr lang="sl-SI" dirty="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r>
              <a:rPr lang="sl-SI" sz="1200" kern="1200">
                <a:solidFill>
                  <a:schemeClr val="tx1"/>
                </a:solidFill>
                <a:latin typeface="+mn-lt"/>
              </a:rPr>
              <a:t>P</a:t>
            </a:r>
            <a:r>
              <a:rPr lang="en-GB" sz="1200" kern="1200">
                <a:solidFill>
                  <a:schemeClr val="tx1"/>
                </a:solidFill>
                <a:latin typeface="+mn-lt"/>
              </a:rPr>
              <a:t>omemben </a:t>
            </a:r>
            <a:r>
              <a:rPr lang="sl-SI" sz="1200" kern="1200">
                <a:solidFill>
                  <a:schemeClr val="tx1"/>
                </a:solidFill>
                <a:latin typeface="+mn-lt"/>
              </a:rPr>
              <a:t>ni </a:t>
            </a:r>
            <a:r>
              <a:rPr lang="en-GB" sz="1200" kern="1200">
                <a:solidFill>
                  <a:schemeClr val="tx1"/>
                </a:solidFill>
                <a:latin typeface="+mn-lt"/>
              </a:rPr>
              <a:t>absolutni </a:t>
            </a:r>
            <a:r>
              <a:rPr lang="en-GB" sz="1200" kern="1200" dirty="0">
                <a:solidFill>
                  <a:schemeClr val="tx1"/>
                </a:solidFill>
                <a:latin typeface="+mn-lt"/>
              </a:rPr>
              <a:t>nivo ponovljivosti in obnovljivosti merila, ampak relativni nivo. Štoparica, ki se uporablja pri merjenju časa na maratonu, </a:t>
            </a:r>
            <a:r>
              <a:rPr lang="en-GB" sz="1200" kern="1200">
                <a:solidFill>
                  <a:schemeClr val="tx1"/>
                </a:solidFill>
                <a:latin typeface="+mn-lt"/>
              </a:rPr>
              <a:t>tako n</a:t>
            </a:r>
            <a:r>
              <a:rPr lang="sl-SI" sz="1200" kern="1200">
                <a:solidFill>
                  <a:schemeClr val="tx1"/>
                </a:solidFill>
                <a:latin typeface="+mn-lt"/>
              </a:rPr>
              <a:t>i</a:t>
            </a:r>
            <a:r>
              <a:rPr lang="sl-SI" sz="1200" kern="1200" baseline="0">
                <a:solidFill>
                  <a:schemeClr val="tx1"/>
                </a:solidFill>
                <a:latin typeface="+mn-lt"/>
              </a:rPr>
              <a:t> </a:t>
            </a:r>
            <a:r>
              <a:rPr lang="en-GB" sz="1200" kern="1200">
                <a:solidFill>
                  <a:schemeClr val="tx1"/>
                </a:solidFill>
                <a:latin typeface="+mn-lt"/>
              </a:rPr>
              <a:t>sprejemljiva </a:t>
            </a:r>
            <a:r>
              <a:rPr lang="en-GB" sz="1200" kern="1200" dirty="0">
                <a:solidFill>
                  <a:schemeClr val="tx1"/>
                </a:solidFill>
                <a:latin typeface="+mn-lt"/>
              </a:rPr>
              <a:t>za merjenje teka na 100 metrov. Voltmeter za merjenje v gospodinjstvu ni sprejemljiv za merjenje napetosti na elektronskih komponentah. Z drugimi besedami, merilni sistem mora biti primeren za svoj namen. </a:t>
            </a:r>
          </a:p>
          <a:p>
            <a:endParaRPr lang="sl-SI" sz="1200" kern="1200" baseline="0" dirty="0">
              <a:solidFill>
                <a:schemeClr val="tx1"/>
              </a:solidFill>
              <a:latin typeface="+mn-lt"/>
              <a:ea typeface="+mn-ea"/>
              <a:cs typeface="+mn-cs"/>
            </a:endParaRPr>
          </a:p>
          <a:p>
            <a:r>
              <a:rPr lang="en-GB" sz="1200" kern="1200" baseline="0" dirty="0">
                <a:solidFill>
                  <a:schemeClr val="tx1"/>
                </a:solidFill>
                <a:latin typeface="+mn-lt"/>
              </a:rPr>
              <a:t>Sprejemljivost ponovljivosti in obnovljivosti merila se ocenjuje na podlagi odstotnega razmerja variabilnosti ponovljivosti in obnovljivosti merila v primerjavi z variabilnostjo </a:t>
            </a:r>
            <a:r>
              <a:rPr lang="en-GB" sz="1200" kern="1200" baseline="0">
                <a:solidFill>
                  <a:schemeClr val="tx1"/>
                </a:solidFill>
                <a:latin typeface="+mn-lt"/>
              </a:rPr>
              <a:t>procesa (</a:t>
            </a:r>
            <a:r>
              <a:rPr lang="en-GB" sz="1200" kern="1200" baseline="0" dirty="0">
                <a:solidFill>
                  <a:schemeClr val="tx1"/>
                </a:solidFill>
                <a:latin typeface="+mn-lt"/>
              </a:rPr>
              <a:t>gage R&amp;R %) in toleranco kupca (P/T%).</a:t>
            </a:r>
          </a:p>
          <a:p>
            <a:endParaRPr lang="sl-SI" sz="1200" kern="1200" baseline="0" dirty="0">
              <a:solidFill>
                <a:schemeClr val="tx1"/>
              </a:solidFill>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latin typeface="+mn-lt"/>
              </a:rPr>
              <a:t>Sposobnost merila kvantificirajo </a:t>
            </a:r>
            <a:r>
              <a:rPr lang="en-GB" sz="1200" kern="1200">
                <a:solidFill>
                  <a:schemeClr val="tx1"/>
                </a:solidFill>
                <a:latin typeface="+mn-lt"/>
              </a:rPr>
              <a:t>štirje indeksi</a:t>
            </a:r>
            <a:r>
              <a:rPr lang="sl-SI" sz="1200" kern="1200">
                <a:solidFill>
                  <a:schemeClr val="tx1"/>
                </a:solidFill>
                <a:latin typeface="+mn-lt"/>
              </a:rPr>
              <a:t>,</a:t>
            </a:r>
            <a:r>
              <a:rPr lang="en-GB" sz="1200" kern="1200">
                <a:solidFill>
                  <a:schemeClr val="tx1"/>
                </a:solidFill>
                <a:latin typeface="+mn-lt"/>
              </a:rPr>
              <a:t> </a:t>
            </a:r>
            <a:r>
              <a:rPr lang="sl-SI" sz="1200" kern="1200">
                <a:solidFill>
                  <a:schemeClr val="tx1"/>
                </a:solidFill>
                <a:latin typeface="+mn-lt"/>
              </a:rPr>
              <a:t>n</a:t>
            </a:r>
            <a:r>
              <a:rPr lang="en-GB" sz="1200" kern="1200">
                <a:solidFill>
                  <a:schemeClr val="tx1"/>
                </a:solidFill>
                <a:latin typeface="+mn-lt"/>
              </a:rPr>
              <a:t>ajpogosteje se </a:t>
            </a:r>
            <a:r>
              <a:rPr lang="en-GB" sz="1200" kern="1200" dirty="0">
                <a:solidFill>
                  <a:schemeClr val="tx1"/>
                </a:solidFill>
                <a:latin typeface="+mn-lt"/>
              </a:rPr>
              <a:t>uporabljata % tolerance (%P/T) ter % variabilnosti študije (%R&amp;R).</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kern="1200" dirty="0">
                <a:solidFill>
                  <a:schemeClr val="tx1"/>
                </a:solidFill>
                <a:latin typeface="+mn-lt"/>
              </a:rPr>
              <a:t>%</a:t>
            </a:r>
            <a:r>
              <a:rPr dirty="0"/>
              <a:t> </a:t>
            </a:r>
            <a:r>
              <a:rPr lang="en-GB" sz="1200" kern="1200" dirty="0">
                <a:solidFill>
                  <a:schemeClr val="tx1"/>
                </a:solidFill>
                <a:latin typeface="+mn-lt"/>
              </a:rPr>
              <a:t>tolerance ali</a:t>
            </a:r>
            <a:r>
              <a:rPr dirty="0"/>
              <a:t> </a:t>
            </a:r>
            <a:r>
              <a:rPr lang="en-GB" sz="1200" kern="1200" dirty="0">
                <a:solidFill>
                  <a:schemeClr val="tx1"/>
                </a:solidFill>
                <a:latin typeface="+mn-lt"/>
              </a:rPr>
              <a:t>% P/T </a:t>
            </a:r>
            <a:r>
              <a:rPr lang="en-US" sz="1200" kern="1200" dirty="0">
                <a:solidFill>
                  <a:schemeClr val="tx1"/>
                </a:solidFill>
                <a:latin typeface="+mn-lt"/>
              </a:rPr>
              <a:t>	</a:t>
            </a:r>
            <a:r>
              <a:rPr lang="en-GB" sz="1200" kern="1200">
                <a:solidFill>
                  <a:schemeClr val="tx1"/>
                </a:solidFill>
                <a:latin typeface="+mn-lt"/>
              </a:rPr>
              <a:t>                   :</a:t>
            </a:r>
            <a:r>
              <a:t> </a:t>
            </a:r>
            <a:r>
              <a:rPr lang="en-GB" sz="1200" kern="1200" dirty="0">
                <a:solidFill>
                  <a:schemeClr val="tx1"/>
                </a:solidFill>
                <a:latin typeface="+mn-lt"/>
              </a:rPr>
              <a:t>P/T razmerje</a:t>
            </a:r>
            <a:endParaRPr lang="sl-SI" sz="1200" kern="1200" dirty="0">
              <a:solidFill>
                <a:schemeClr val="tx1"/>
              </a:solidFill>
              <a:latin typeface="+mn-lt"/>
              <a:ea typeface="+mn-ea"/>
              <a:cs typeface="+mn-cs"/>
            </a:endParaRPr>
          </a:p>
          <a:p>
            <a:pPr marL="171450" lvl="0" indent="-171450">
              <a:buFont typeface="Arial" panose="020B0604020202020204" pitchFamily="34" charset="0"/>
              <a:buChar char="•"/>
            </a:pPr>
            <a:r>
              <a:rPr lang="en-GB" sz="1200" kern="1200" dirty="0">
                <a:solidFill>
                  <a:schemeClr val="tx1"/>
                </a:solidFill>
                <a:latin typeface="+mn-lt"/>
              </a:rPr>
              <a:t>% variabilnosti študije, ali % R&amp;R </a:t>
            </a:r>
            <a:r>
              <a:rPr lang="en-US" sz="1200" kern="1200" dirty="0">
                <a:solidFill>
                  <a:schemeClr val="tx1"/>
                </a:solidFill>
                <a:latin typeface="+mn-lt"/>
              </a:rPr>
              <a:t>	</a:t>
            </a:r>
            <a:r>
              <a:rPr lang="en-GB" sz="1200" kern="1200" dirty="0">
                <a:solidFill>
                  <a:schemeClr val="tx1"/>
                </a:solidFill>
                <a:latin typeface="+mn-lt"/>
              </a:rPr>
              <a:t>: razmerje variabilnosti</a:t>
            </a:r>
            <a:endParaRPr lang="sl-SI" sz="1200" kern="1200" dirty="0">
              <a:solidFill>
                <a:schemeClr val="tx1"/>
              </a:solidFill>
              <a:latin typeface="+mn-lt"/>
              <a:ea typeface="+mn-ea"/>
              <a:cs typeface="+mn-cs"/>
            </a:endParaRPr>
          </a:p>
          <a:p>
            <a:pPr eaLnBrk="1" hangingPunct="1"/>
            <a:endParaRPr lang="sl-SI" dirty="0"/>
          </a:p>
        </p:txBody>
      </p:sp>
    </p:spTree>
    <p:extLst>
      <p:ext uri="{BB962C8B-B14F-4D97-AF65-F5344CB8AC3E}">
        <p14:creationId xmlns:p14="http://schemas.microsoft.com/office/powerpoint/2010/main" val="12756887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xfrm>
            <a:off x="3884613" y="8685213"/>
            <a:ext cx="2971800" cy="457200"/>
          </a:xfrm>
          <a:prstGeom prst="rect">
            <a:avLst/>
          </a:prstGeom>
          <a:noFill/>
        </p:spPr>
        <p:txBody>
          <a:bodyPr/>
          <a:lstStyle/>
          <a:p>
            <a:fld id="{C62072D0-F285-4FDE-B17E-33CF967D43F0}" type="slidenum">
              <a:rPr lang="en-US" smtClean="0"/>
              <a:pPr/>
              <a:t>23</a:t>
            </a:fld>
            <a:endParaRPr lang="sl-SI" dirty="0"/>
          </a:p>
        </p:txBody>
      </p:sp>
      <p:sp>
        <p:nvSpPr>
          <p:cNvPr id="103427" name="Rectangle 2"/>
          <p:cNvSpPr>
            <a:spLocks noGrp="1" noRot="1" noChangeAspect="1" noChangeArrowheads="1" noTextEdit="1"/>
          </p:cNvSpPr>
          <p:nvPr>
            <p:ph type="sldImg"/>
          </p:nvPr>
        </p:nvSpPr>
        <p:spPr>
          <a:xfrm>
            <a:off x="1144588" y="685800"/>
            <a:ext cx="4576762" cy="3432175"/>
          </a:xfrm>
          <a:ln/>
        </p:spPr>
      </p:sp>
      <p:sp>
        <p:nvSpPr>
          <p:cNvPr id="103428" name="Rectangle 3"/>
          <p:cNvSpPr>
            <a:spLocks noGrp="1" noChangeArrowheads="1"/>
          </p:cNvSpPr>
          <p:nvPr>
            <p:ph type="body" idx="1"/>
          </p:nvPr>
        </p:nvSpPr>
        <p:spPr>
          <a:xfrm>
            <a:off x="685494" y="4341522"/>
            <a:ext cx="5487013" cy="4116005"/>
          </a:xfrm>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Skupina Automotive Industry Action Group (AIAG) je postavila norme za sprejemljivost meril na podlagi ene od štirih študij meril (mi smo predstavili samo dve). Manjši kot je rezultat študije v odstotkih, boljši je merilni sistem.</a:t>
            </a:r>
          </a:p>
          <a:p>
            <a:pPr marL="0" marR="0" indent="0" algn="l" defTabSz="914400" rtl="0" eaLnBrk="1" fontAlgn="base" latinLnBrk="0" hangingPunct="1">
              <a:lnSpc>
                <a:spcPct val="100000"/>
              </a:lnSpc>
              <a:spcBef>
                <a:spcPct val="30000"/>
              </a:spcBef>
              <a:spcAft>
                <a:spcPct val="0"/>
              </a:spcAft>
              <a:buClrTx/>
              <a:buSzTx/>
              <a:buFontTx/>
              <a:buNone/>
              <a:tabLst/>
              <a:defRPr/>
            </a:pPr>
            <a:endParaRPr lang="sl-SI" sz="1200" kern="1200" dirty="0">
              <a:solidFill>
                <a:schemeClr val="tx1"/>
              </a:solidFill>
              <a:latin typeface="+mn-lt"/>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sz="1200" kern="1200" dirty="0">
                <a:solidFill>
                  <a:schemeClr val="tx1"/>
                </a:solidFill>
                <a:latin typeface="+mn-lt"/>
              </a:rPr>
              <a:t>Če</a:t>
            </a:r>
            <a:r>
              <a:rPr dirty="0"/>
              <a:t> </a:t>
            </a:r>
            <a:r>
              <a:rPr lang="en-GB" sz="1200" kern="1200" dirty="0">
                <a:solidFill>
                  <a:schemeClr val="tx1"/>
                </a:solidFill>
                <a:latin typeface="+mn-lt"/>
              </a:rPr>
              <a:t>je % natančnost/toleranca in % R&amp;R: </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sz="1200" kern="1200" baseline="0" dirty="0">
                <a:solidFill>
                  <a:schemeClr val="tx1"/>
                </a:solidFill>
                <a:latin typeface="+mn-lt"/>
              </a:rPr>
              <a:t>&lt; 10%, pomeni, da je</a:t>
            </a:r>
            <a:r>
              <a:rPr lang="en-US" sz="1200" kern="1200" baseline="0" dirty="0">
                <a:solidFill>
                  <a:schemeClr val="tx1"/>
                </a:solidFill>
                <a:latin typeface="+mn-lt"/>
              </a:rPr>
              <a:t>			</a:t>
            </a:r>
            <a:r>
              <a:rPr lang="en-GB" sz="1200" kern="1200" baseline="0" dirty="0">
                <a:solidFill>
                  <a:schemeClr val="tx1"/>
                </a:solidFill>
                <a:latin typeface="+mn-lt"/>
              </a:rPr>
              <a:t>merilni sistem odličen</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sz="1200" kern="1200" baseline="0" dirty="0">
                <a:solidFill>
                  <a:schemeClr val="tx1"/>
                </a:solidFill>
                <a:latin typeface="+mn-lt"/>
              </a:rPr>
              <a:t>med 10% in 30%, pomeni</a:t>
            </a:r>
            <a:r>
              <a:rPr lang="en-US" sz="1200" kern="1200" baseline="0" dirty="0">
                <a:solidFill>
                  <a:schemeClr val="tx1"/>
                </a:solidFill>
                <a:latin typeface="+mn-lt"/>
              </a:rPr>
              <a:t>		</a:t>
            </a:r>
            <a:r>
              <a:rPr lang="en-GB" sz="1200" kern="1200" baseline="0" dirty="0">
                <a:solidFill>
                  <a:schemeClr val="tx1"/>
                </a:solidFill>
                <a:latin typeface="+mn-lt"/>
              </a:rPr>
              <a:t>merilni sistem je sprejemljiv</a:t>
            </a:r>
          </a:p>
          <a:p>
            <a:pPr marL="171450" marR="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GB" sz="1200" kern="1200" baseline="0" dirty="0">
                <a:solidFill>
                  <a:schemeClr val="tx1"/>
                </a:solidFill>
                <a:latin typeface="+mn-lt"/>
              </a:rPr>
              <a:t>&gt; 30%, pomeni</a:t>
            </a:r>
            <a:r>
              <a:rPr lang="en-US" sz="1200" kern="1200" baseline="0" dirty="0">
                <a:solidFill>
                  <a:schemeClr val="tx1"/>
                </a:solidFill>
                <a:latin typeface="+mn-lt"/>
              </a:rPr>
              <a:t>	</a:t>
            </a:r>
            <a:r>
              <a:rPr lang="en-US" sz="1200" kern="1200" baseline="0">
                <a:solidFill>
                  <a:schemeClr val="tx1"/>
                </a:solidFill>
                <a:latin typeface="+mn-lt"/>
              </a:rPr>
              <a:t>	</a:t>
            </a:r>
            <a:r>
              <a:rPr lang="sl-SI" sz="1200" kern="1200" baseline="0">
                <a:solidFill>
                  <a:schemeClr val="tx1"/>
                </a:solidFill>
                <a:latin typeface="+mn-lt"/>
              </a:rPr>
              <a:t>	</a:t>
            </a:r>
            <a:r>
              <a:rPr lang="en-GB" sz="1200" kern="1200" baseline="0">
                <a:solidFill>
                  <a:schemeClr val="tx1"/>
                </a:solidFill>
                <a:latin typeface="+mn-lt"/>
              </a:rPr>
              <a:t>merilni </a:t>
            </a:r>
            <a:r>
              <a:rPr lang="en-GB" sz="1200" kern="1200" baseline="0" dirty="0">
                <a:solidFill>
                  <a:schemeClr val="tx1"/>
                </a:solidFill>
                <a:latin typeface="+mn-lt"/>
              </a:rPr>
              <a:t>sistem ni dober</a:t>
            </a:r>
            <a:endParaRPr lang="sl-SI" sz="1200" kern="1200" dirty="0">
              <a:solidFill>
                <a:schemeClr val="tx1"/>
              </a:solidFill>
              <a:latin typeface="+mn-lt"/>
              <a:ea typeface="+mn-ea"/>
              <a:cs typeface="+mn-cs"/>
            </a:endParaRPr>
          </a:p>
          <a:p>
            <a:pPr eaLnBrk="1" hangingPunct="1"/>
            <a:endParaRPr lang="sl-SI" dirty="0"/>
          </a:p>
        </p:txBody>
      </p:sp>
    </p:spTree>
    <p:extLst>
      <p:ext uri="{BB962C8B-B14F-4D97-AF65-F5344CB8AC3E}">
        <p14:creationId xmlns:p14="http://schemas.microsoft.com/office/powerpoint/2010/main" val="1172951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a:prstGeom prst="rect">
            <a:avLst/>
          </a:prstGeom>
        </p:spPr>
      </p:sp>
      <p:sp>
        <p:nvSpPr>
          <p:cNvPr id="3" name="Espace réservé des commentaires 2"/>
          <p:cNvSpPr>
            <a:spLocks noGrp="1"/>
          </p:cNvSpPr>
          <p:nvPr>
            <p:ph type="body" idx="1"/>
          </p:nvPr>
        </p:nvSpPr>
        <p:spPr>
          <a:xfrm>
            <a:off x="685800" y="4343400"/>
            <a:ext cx="5486400" cy="4114800"/>
          </a:xfrm>
          <a:prstGeom prst="rect">
            <a:avLst/>
          </a:prstGeom>
        </p:spPr>
        <p:txBody>
          <a:bodyPr>
            <a:normAutofit/>
          </a:bodyPr>
          <a:lstStyle/>
          <a:p>
            <a:endParaRPr lang="fr-FR" dirty="0"/>
          </a:p>
        </p:txBody>
      </p:sp>
    </p:spTree>
    <p:extLst>
      <p:ext uri="{BB962C8B-B14F-4D97-AF65-F5344CB8AC3E}">
        <p14:creationId xmlns:p14="http://schemas.microsoft.com/office/powerpoint/2010/main" val="34942345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09638" y="431800"/>
            <a:ext cx="5038725" cy="3779838"/>
          </a:xfrm>
        </p:spPr>
      </p:sp>
      <p:sp>
        <p:nvSpPr>
          <p:cNvPr id="3" name="Notizenplatzhalter 2"/>
          <p:cNvSpPr>
            <a:spLocks noGrp="1"/>
          </p:cNvSpPr>
          <p:nvPr>
            <p:ph type="body" idx="1"/>
          </p:nvPr>
        </p:nvSpPr>
        <p:spPr/>
        <p:txBody>
          <a:bodyPr>
            <a:normAutofit fontScale="92500" lnSpcReduction="20000"/>
          </a:bodyPr>
          <a:lstStyle/>
          <a:p>
            <a:pPr>
              <a:spcBef>
                <a:spcPts val="0"/>
              </a:spcBef>
            </a:pPr>
            <a:r>
              <a:rPr lang="fr-FR" sz="1200" dirty="0">
                <a:latin typeface="Arial" pitchFamily="34" charset="0"/>
              </a:rPr>
              <a:t>To </a:t>
            </a:r>
            <a:r>
              <a:rPr lang="fr-FR" sz="1200" dirty="0" err="1">
                <a:latin typeface="Arial" pitchFamily="34" charset="0"/>
              </a:rPr>
              <a:t>učno</a:t>
            </a:r>
            <a:r>
              <a:rPr lang="fr-FR" sz="1200" dirty="0">
                <a:latin typeface="Arial" pitchFamily="34" charset="0"/>
              </a:rPr>
              <a:t> </a:t>
            </a:r>
            <a:r>
              <a:rPr lang="fr-FR" sz="1200" dirty="0" err="1">
                <a:latin typeface="Arial" pitchFamily="34" charset="0"/>
              </a:rPr>
              <a:t>gradivo</a:t>
            </a:r>
            <a:r>
              <a:rPr lang="fr-FR" sz="1200" dirty="0">
                <a:latin typeface="Arial" pitchFamily="34" charset="0"/>
              </a:rPr>
              <a:t> je </a:t>
            </a:r>
            <a:r>
              <a:rPr lang="fr-FR" sz="1200" dirty="0" err="1">
                <a:latin typeface="Arial" pitchFamily="34" charset="0"/>
              </a:rPr>
              <a:t>bilo</a:t>
            </a:r>
            <a:r>
              <a:rPr lang="fr-FR" sz="1200" dirty="0">
                <a:latin typeface="Arial" pitchFamily="34" charset="0"/>
              </a:rPr>
              <a:t> </a:t>
            </a:r>
            <a:r>
              <a:rPr lang="fr-FR" sz="1200" dirty="0" err="1">
                <a:latin typeface="Arial" pitchFamily="34" charset="0"/>
              </a:rPr>
              <a:t>certificirano</a:t>
            </a:r>
            <a:r>
              <a:rPr lang="fr-FR" sz="1200" dirty="0">
                <a:latin typeface="Arial" pitchFamily="34" charset="0"/>
              </a:rPr>
              <a:t> v </a:t>
            </a:r>
            <a:r>
              <a:rPr lang="fr-FR" sz="1200" dirty="0" err="1">
                <a:latin typeface="Arial" pitchFamily="34" charset="0"/>
              </a:rPr>
              <a:t>skladu</a:t>
            </a:r>
            <a:r>
              <a:rPr lang="fr-FR" sz="1200" dirty="0">
                <a:latin typeface="Arial" pitchFamily="34" charset="0"/>
              </a:rPr>
              <a:t> s </a:t>
            </a:r>
            <a:r>
              <a:rPr lang="fr-FR" sz="1200" dirty="0" err="1">
                <a:latin typeface="Arial" pitchFamily="34" charset="0"/>
              </a:rPr>
              <a:t>pravili</a:t>
            </a:r>
            <a:r>
              <a:rPr lang="fr-FR" sz="1200" dirty="0">
                <a:latin typeface="Arial" pitchFamily="34" charset="0"/>
              </a:rPr>
              <a:t> </a:t>
            </a:r>
            <a:r>
              <a:rPr lang="fr-FR" sz="1200" b="1" dirty="0">
                <a:latin typeface="Arial" pitchFamily="34" charset="0"/>
              </a:rPr>
              <a:t>ECQA – </a:t>
            </a:r>
            <a:r>
              <a:rPr lang="fr-FR" sz="1200" b="1" dirty="0" err="1">
                <a:latin typeface="Arial" pitchFamily="34" charset="0"/>
              </a:rPr>
              <a:t>Evropskega</a:t>
            </a:r>
            <a:r>
              <a:rPr lang="fr-FR" sz="1200" b="1" dirty="0">
                <a:latin typeface="Arial" pitchFamily="34" charset="0"/>
              </a:rPr>
              <a:t> </a:t>
            </a:r>
            <a:r>
              <a:rPr lang="fr-FR" sz="1200" b="1" dirty="0" err="1">
                <a:latin typeface="Arial" pitchFamily="34" charset="0"/>
              </a:rPr>
              <a:t>združenja</a:t>
            </a:r>
            <a:r>
              <a:rPr lang="fr-FR" sz="1200" b="1" dirty="0">
                <a:latin typeface="Arial" pitchFamily="34" charset="0"/>
              </a:rPr>
              <a:t> </a:t>
            </a:r>
            <a:r>
              <a:rPr lang="fr-FR" sz="1200" b="1" dirty="0" err="1">
                <a:latin typeface="Arial" pitchFamily="34" charset="0"/>
              </a:rPr>
              <a:t>za</a:t>
            </a:r>
            <a:r>
              <a:rPr lang="fr-FR" sz="1200" b="1" dirty="0">
                <a:latin typeface="Arial" pitchFamily="34" charset="0"/>
              </a:rPr>
              <a:t> </a:t>
            </a:r>
            <a:r>
              <a:rPr lang="fr-FR" sz="1200" b="1" dirty="0" err="1">
                <a:latin typeface="Arial" pitchFamily="34" charset="0"/>
              </a:rPr>
              <a:t>certificiranje</a:t>
            </a:r>
            <a:r>
              <a:rPr lang="fr-FR" sz="1200" b="1" dirty="0">
                <a:latin typeface="Arial" pitchFamily="34" charset="0"/>
              </a:rPr>
              <a:t> in </a:t>
            </a:r>
            <a:r>
              <a:rPr lang="fr-FR" sz="1200" b="1" dirty="0" err="1">
                <a:latin typeface="Arial" pitchFamily="34" charset="0"/>
              </a:rPr>
              <a:t>kvalificiranje</a:t>
            </a:r>
            <a:r>
              <a:rPr lang="fr-FR" sz="1200" dirty="0">
                <a:latin typeface="Arial" pitchFamily="34" charset="0"/>
              </a:rPr>
              <a:t>.</a:t>
            </a:r>
          </a:p>
          <a:p>
            <a:pPr>
              <a:spcBef>
                <a:spcPts val="0"/>
              </a:spcBef>
            </a:pPr>
            <a:endParaRPr lang="fr-FR" sz="1200" b="1" dirty="0">
              <a:latin typeface="Arial" pitchFamily="34" charset="0"/>
              <a:cs typeface="Arial" pitchFamily="34" charset="0"/>
            </a:endParaRPr>
          </a:p>
          <a:p>
            <a:pPr>
              <a:spcBef>
                <a:spcPts val="0"/>
              </a:spcBef>
            </a:pPr>
            <a:r>
              <a:rPr lang="fr-FR" sz="1200" dirty="0" err="1">
                <a:latin typeface="Arial" pitchFamily="34" charset="0"/>
              </a:rPr>
              <a:t>Učno</a:t>
            </a:r>
            <a:r>
              <a:rPr lang="fr-FR" sz="1200" dirty="0">
                <a:latin typeface="Arial" pitchFamily="34" charset="0"/>
              </a:rPr>
              <a:t> </a:t>
            </a:r>
            <a:r>
              <a:rPr lang="fr-FR" sz="1200" dirty="0" err="1">
                <a:latin typeface="Arial" pitchFamily="34" charset="0"/>
              </a:rPr>
              <a:t>gradivo</a:t>
            </a:r>
            <a:r>
              <a:rPr lang="fr-FR" sz="1200" dirty="0">
                <a:latin typeface="Arial" pitchFamily="34" charset="0"/>
              </a:rPr>
              <a:t> je </a:t>
            </a:r>
            <a:r>
              <a:rPr lang="fr-FR" sz="1200" dirty="0" err="1">
                <a:latin typeface="Arial" pitchFamily="34" charset="0"/>
              </a:rPr>
              <a:t>bilo</a:t>
            </a:r>
            <a:r>
              <a:rPr lang="fr-FR" sz="1200" dirty="0">
                <a:latin typeface="Arial" pitchFamily="34" charset="0"/>
              </a:rPr>
              <a:t> </a:t>
            </a:r>
            <a:r>
              <a:rPr lang="fr-FR" sz="1200" dirty="0" err="1">
                <a:latin typeface="Arial" pitchFamily="34" charset="0"/>
              </a:rPr>
              <a:t>usklajeno</a:t>
            </a:r>
            <a:r>
              <a:rPr lang="fr-FR" sz="1200" dirty="0">
                <a:latin typeface="Arial" pitchFamily="34" charset="0"/>
              </a:rPr>
              <a:t> </a:t>
            </a:r>
            <a:r>
              <a:rPr lang="fr-FR" sz="1200" dirty="0" err="1">
                <a:latin typeface="Arial" pitchFamily="34" charset="0"/>
              </a:rPr>
              <a:t>med</a:t>
            </a:r>
            <a:r>
              <a:rPr lang="fr-FR" sz="1200" dirty="0">
                <a:latin typeface="Arial" pitchFamily="34" charset="0"/>
              </a:rPr>
              <a:t> </a:t>
            </a:r>
            <a:r>
              <a:rPr lang="fr-FR" sz="1200" dirty="0" err="1">
                <a:latin typeface="Arial" pitchFamily="34" charset="0"/>
              </a:rPr>
              <a:t>univerzami</a:t>
            </a:r>
            <a:r>
              <a:rPr lang="fr-FR" sz="1200" dirty="0">
                <a:latin typeface="Arial" pitchFamily="34" charset="0"/>
              </a:rPr>
              <a:t> in  </a:t>
            </a:r>
            <a:r>
              <a:rPr lang="fr-FR" sz="1200" dirty="0" err="1">
                <a:latin typeface="Arial" pitchFamily="34" charset="0"/>
              </a:rPr>
              <a:t>industrijo</a:t>
            </a:r>
            <a:r>
              <a:rPr lang="fr-FR" sz="1200" dirty="0">
                <a:latin typeface="Arial" pitchFamily="34" charset="0"/>
              </a:rPr>
              <a:t> v </a:t>
            </a:r>
            <a:r>
              <a:rPr lang="fr-FR" sz="1200" dirty="0" err="1">
                <a:latin typeface="Arial" pitchFamily="34" charset="0"/>
              </a:rPr>
              <a:t>okviru</a:t>
            </a:r>
            <a:r>
              <a:rPr lang="fr-FR" sz="1200" dirty="0">
                <a:latin typeface="Arial" pitchFamily="34" charset="0"/>
              </a:rPr>
              <a:t> </a:t>
            </a:r>
            <a:r>
              <a:rPr lang="fr-FR" sz="1200" dirty="0" err="1">
                <a:latin typeface="Arial" pitchFamily="34" charset="0"/>
              </a:rPr>
              <a:t>mednarodnega</a:t>
            </a:r>
            <a:r>
              <a:rPr lang="fr-FR" sz="1200" baseline="0" dirty="0">
                <a:latin typeface="Arial" pitchFamily="34" charset="0"/>
              </a:rPr>
              <a:t> </a:t>
            </a:r>
            <a:r>
              <a:rPr lang="fr-FR" sz="1200" baseline="0" dirty="0" err="1">
                <a:latin typeface="Arial" pitchFamily="34" charset="0"/>
              </a:rPr>
              <a:t>konzorcija</a:t>
            </a:r>
            <a:r>
              <a:rPr lang="fr-FR" sz="1200" baseline="0" dirty="0">
                <a:latin typeface="Arial" pitchFamily="34" charset="0"/>
              </a:rPr>
              <a:t> </a:t>
            </a:r>
            <a:r>
              <a:rPr lang="fr-FR" sz="1200" baseline="0" dirty="0" err="1">
                <a:latin typeface="Arial" pitchFamily="34" charset="0"/>
              </a:rPr>
              <a:t>projekta</a:t>
            </a:r>
            <a:r>
              <a:rPr lang="fr-FR" sz="1200" baseline="0" dirty="0">
                <a:latin typeface="Arial" pitchFamily="34" charset="0"/>
              </a:rPr>
              <a:t> </a:t>
            </a:r>
            <a:br>
              <a:rPr lang="fr-FR" dirty="0"/>
            </a:br>
            <a:r>
              <a:rPr lang="fr-FR" sz="1200" b="1" dirty="0">
                <a:latin typeface="Arial" pitchFamily="34" charset="0"/>
              </a:rPr>
              <a:t>“</a:t>
            </a:r>
            <a:r>
              <a:rPr lang="fr-FR" sz="1200" b="1" dirty="0">
                <a:solidFill>
                  <a:srgbClr val="000099"/>
                </a:solidFill>
                <a:latin typeface="Tw Cen MT" pitchFamily="34" charset="0"/>
              </a:rPr>
              <a:t>Automotive </a:t>
            </a:r>
            <a:r>
              <a:rPr lang="fr-FR" sz="1200" b="1" dirty="0" err="1">
                <a:solidFill>
                  <a:srgbClr val="000099"/>
                </a:solidFill>
                <a:latin typeface="Tw Cen MT" pitchFamily="34" charset="0"/>
              </a:rPr>
              <a:t>Quality</a:t>
            </a:r>
            <a:r>
              <a:rPr lang="fr-FR" sz="1200" b="1" dirty="0">
                <a:solidFill>
                  <a:srgbClr val="000099"/>
                </a:solidFill>
                <a:latin typeface="Tw Cen MT" pitchFamily="34" charset="0"/>
              </a:rPr>
              <a:t> </a:t>
            </a:r>
            <a:r>
              <a:rPr lang="fr-FR" sz="1200" b="1" dirty="0" err="1">
                <a:solidFill>
                  <a:srgbClr val="000099"/>
                </a:solidFill>
                <a:latin typeface="Tw Cen MT" pitchFamily="34" charset="0"/>
              </a:rPr>
              <a:t>Universities</a:t>
            </a:r>
            <a:r>
              <a:rPr lang="fr-FR" sz="1200" b="1" dirty="0">
                <a:solidFill>
                  <a:srgbClr val="000099"/>
                </a:solidFill>
                <a:latin typeface="Tw Cen MT" pitchFamily="34" charset="0"/>
              </a:rPr>
              <a:t> – </a:t>
            </a:r>
            <a:r>
              <a:rPr lang="fr-FR" sz="1200" b="1" dirty="0" err="1">
                <a:solidFill>
                  <a:srgbClr val="000099"/>
                </a:solidFill>
                <a:latin typeface="Tw Cen MT" pitchFamily="34" charset="0"/>
              </a:rPr>
              <a:t>AutoUniverse</a:t>
            </a:r>
            <a:r>
              <a:rPr lang="fr-FR" sz="1200" b="1" dirty="0">
                <a:solidFill>
                  <a:srgbClr val="000099"/>
                </a:solidFill>
                <a:latin typeface="Tw Cen MT" pitchFamily="34" charset="0"/>
              </a:rPr>
              <a:t> (AQU)</a:t>
            </a:r>
            <a:r>
              <a:rPr lang="fr-FR" sz="1200" b="1" dirty="0">
                <a:latin typeface="Arial" pitchFamily="34" charset="0"/>
              </a:rPr>
              <a:t>”:</a:t>
            </a:r>
          </a:p>
          <a:p>
            <a:pPr>
              <a:spcBef>
                <a:spcPts val="0"/>
              </a:spcBef>
            </a:pPr>
            <a:endParaRPr lang="fr-FR" sz="1200" dirty="0">
              <a:latin typeface="Arial" pitchFamily="34" charset="0"/>
              <a:cs typeface="Arial" pitchFamily="34" charset="0"/>
            </a:endParaRPr>
          </a:p>
          <a:p>
            <a:pPr>
              <a:spcBef>
                <a:spcPts val="0"/>
              </a:spcBef>
            </a:pPr>
            <a:r>
              <a:rPr lang="fr-FR" sz="1200" b="1" dirty="0">
                <a:latin typeface="Arial" pitchFamily="34" charset="0"/>
                <a:cs typeface="Arial" pitchFamily="34" charset="0"/>
              </a:rPr>
              <a:t>VSB – </a:t>
            </a:r>
            <a:r>
              <a:rPr lang="fr-FR" sz="1200" b="1" dirty="0" err="1">
                <a:latin typeface="Arial" pitchFamily="34" charset="0"/>
                <a:cs typeface="Arial" pitchFamily="34" charset="0"/>
              </a:rPr>
              <a:t>Technical</a:t>
            </a:r>
            <a:r>
              <a:rPr lang="fr-FR" sz="1200" b="1" dirty="0">
                <a:latin typeface="Arial" pitchFamily="34" charset="0"/>
                <a:cs typeface="Arial" pitchFamily="34" charset="0"/>
              </a:rPr>
              <a:t> </a:t>
            </a:r>
            <a:r>
              <a:rPr lang="fr-FR" sz="1200" b="1" dirty="0" err="1">
                <a:latin typeface="Arial" pitchFamily="34" charset="0"/>
                <a:cs typeface="Arial" pitchFamily="34" charset="0"/>
              </a:rPr>
              <a:t>University</a:t>
            </a:r>
            <a:r>
              <a:rPr lang="fr-FR" sz="1200" b="1" dirty="0">
                <a:latin typeface="Arial" pitchFamily="34" charset="0"/>
                <a:cs typeface="Arial" pitchFamily="34" charset="0"/>
              </a:rPr>
              <a:t> of Ostrava</a:t>
            </a:r>
            <a:r>
              <a:rPr lang="fr-FR" sz="1200" dirty="0">
                <a:latin typeface="Arial" pitchFamily="34" charset="0"/>
                <a:cs typeface="Arial" pitchFamily="34" charset="0"/>
              </a:rPr>
              <a:t>, </a:t>
            </a:r>
            <a:r>
              <a:rPr lang="fr-FR" sz="1200" dirty="0" err="1">
                <a:latin typeface="Arial" pitchFamily="34" charset="0"/>
                <a:cs typeface="Arial" pitchFamily="34" charset="0"/>
              </a:rPr>
              <a:t>Faculty</a:t>
            </a:r>
            <a:r>
              <a:rPr lang="fr-FR" sz="1200" dirty="0">
                <a:latin typeface="Arial" pitchFamily="34" charset="0"/>
                <a:cs typeface="Arial" pitchFamily="34" charset="0"/>
              </a:rPr>
              <a:t> of </a:t>
            </a:r>
            <a:r>
              <a:rPr lang="fr-FR" sz="1200" dirty="0" err="1">
                <a:latin typeface="Arial" pitchFamily="34" charset="0"/>
                <a:cs typeface="Arial" pitchFamily="34" charset="0"/>
              </a:rPr>
              <a:t>Electrical</a:t>
            </a:r>
            <a:r>
              <a:rPr lang="fr-FR" sz="1200" dirty="0">
                <a:latin typeface="Arial" pitchFamily="34" charset="0"/>
                <a:cs typeface="Arial" pitchFamily="34" charset="0"/>
              </a:rPr>
              <a:t> Engineering and Computer Science, </a:t>
            </a:r>
            <a:r>
              <a:rPr lang="fr-FR" sz="1200" dirty="0" err="1">
                <a:latin typeface="Arial" pitchFamily="34" charset="0"/>
                <a:cs typeface="Arial" pitchFamily="34" charset="0"/>
              </a:rPr>
              <a:t>Češka</a:t>
            </a:r>
            <a:r>
              <a:rPr lang="fr-FR" sz="1200" dirty="0">
                <a:latin typeface="Arial" pitchFamily="34" charset="0"/>
                <a:cs typeface="Arial" pitchFamily="34" charset="0"/>
              </a:rPr>
              <a:t>, www.fei.vsb.cz/en</a:t>
            </a:r>
          </a:p>
          <a:p>
            <a:pPr>
              <a:spcBef>
                <a:spcPts val="0"/>
              </a:spcBef>
            </a:pPr>
            <a:r>
              <a:rPr lang="fr-FR" sz="1200" b="1" dirty="0">
                <a:latin typeface="Arial" pitchFamily="34" charset="0"/>
                <a:cs typeface="Arial" pitchFamily="34" charset="0"/>
              </a:rPr>
              <a:t>Graz </a:t>
            </a:r>
            <a:r>
              <a:rPr lang="fr-FR" sz="1200" b="1" dirty="0" err="1">
                <a:latin typeface="Arial" pitchFamily="34" charset="0"/>
                <a:cs typeface="Arial" pitchFamily="34" charset="0"/>
              </a:rPr>
              <a:t>University</a:t>
            </a:r>
            <a:r>
              <a:rPr lang="fr-FR" sz="1200" b="1" dirty="0">
                <a:latin typeface="Arial" pitchFamily="34" charset="0"/>
                <a:cs typeface="Arial" pitchFamily="34" charset="0"/>
              </a:rPr>
              <a:t> of </a:t>
            </a:r>
            <a:r>
              <a:rPr lang="fr-FR" sz="1200" b="1" dirty="0" err="1">
                <a:latin typeface="Arial" pitchFamily="34" charset="0"/>
                <a:cs typeface="Arial" pitchFamily="34" charset="0"/>
              </a:rPr>
              <a:t>Technology</a:t>
            </a:r>
            <a:r>
              <a:rPr lang="fr-FR" sz="1200" dirty="0">
                <a:latin typeface="Arial" pitchFamily="34" charset="0"/>
                <a:cs typeface="Arial" pitchFamily="34" charset="0"/>
              </a:rPr>
              <a:t>, Institute for </a:t>
            </a:r>
            <a:r>
              <a:rPr lang="fr-FR" sz="1200" dirty="0" err="1">
                <a:latin typeface="Arial" pitchFamily="34" charset="0"/>
                <a:cs typeface="Arial" pitchFamily="34" charset="0"/>
              </a:rPr>
              <a:t>Technical</a:t>
            </a:r>
            <a:r>
              <a:rPr lang="fr-FR" sz="1200" dirty="0">
                <a:latin typeface="Arial" pitchFamily="34" charset="0"/>
                <a:cs typeface="Arial" pitchFamily="34" charset="0"/>
              </a:rPr>
              <a:t> </a:t>
            </a:r>
            <a:r>
              <a:rPr lang="fr-FR" sz="1200" dirty="0" err="1">
                <a:latin typeface="Arial" pitchFamily="34" charset="0"/>
                <a:cs typeface="Arial" pitchFamily="34" charset="0"/>
              </a:rPr>
              <a:t>Informatics</a:t>
            </a:r>
            <a:r>
              <a:rPr lang="fr-FR" sz="1200" dirty="0">
                <a:latin typeface="Arial" pitchFamily="34" charset="0"/>
                <a:cs typeface="Arial" pitchFamily="34" charset="0"/>
              </a:rPr>
              <a:t>, </a:t>
            </a:r>
            <a:r>
              <a:rPr lang="fr-FR" sz="1200" dirty="0" err="1">
                <a:latin typeface="Arial" pitchFamily="34" charset="0"/>
                <a:cs typeface="Arial" pitchFamily="34" charset="0"/>
              </a:rPr>
              <a:t>Avstrija</a:t>
            </a:r>
            <a:r>
              <a:rPr lang="fr-FR" sz="1200" dirty="0">
                <a:latin typeface="Arial" pitchFamily="34" charset="0"/>
                <a:cs typeface="Arial" pitchFamily="34" charset="0"/>
              </a:rPr>
              <a:t>, www.iti.tugraz.at</a:t>
            </a:r>
          </a:p>
          <a:p>
            <a:pPr defTabSz="990478">
              <a:spcBef>
                <a:spcPts val="0"/>
              </a:spcBef>
              <a:defRPr/>
            </a:pPr>
            <a:r>
              <a:rPr lang="fr-FR" sz="1200" b="1" dirty="0" err="1"/>
              <a:t>University</a:t>
            </a:r>
            <a:r>
              <a:rPr lang="fr-FR" sz="1200" b="1" dirty="0"/>
              <a:t> of </a:t>
            </a:r>
            <a:r>
              <a:rPr lang="fr-FR" sz="1200" b="1" dirty="0" err="1"/>
              <a:t>Applied</a:t>
            </a:r>
            <a:r>
              <a:rPr lang="fr-FR" sz="1200" b="1" dirty="0"/>
              <a:t> Sciences </a:t>
            </a:r>
            <a:r>
              <a:rPr lang="fr-FR" sz="1200" b="1" dirty="0">
                <a:latin typeface="Arial" pitchFamily="34" charset="0"/>
                <a:cs typeface="Arial" pitchFamily="34" charset="0"/>
              </a:rPr>
              <a:t>JOANNEUM</a:t>
            </a:r>
            <a:r>
              <a:rPr lang="fr-FR" sz="1200" b="1" dirty="0"/>
              <a:t>, </a:t>
            </a:r>
            <a:r>
              <a:rPr lang="fr-FR" sz="1200" dirty="0"/>
              <a:t>Institute for Automotive Engineering, Graz, </a:t>
            </a:r>
            <a:r>
              <a:rPr lang="fr-FR" sz="1200" dirty="0" err="1">
                <a:latin typeface="Arial" pitchFamily="34" charset="0"/>
                <a:cs typeface="Arial" pitchFamily="34" charset="0"/>
              </a:rPr>
              <a:t>Avstrija</a:t>
            </a:r>
            <a:r>
              <a:rPr lang="fr-FR" sz="1200" dirty="0"/>
              <a:t>, https://www.fh-joanneum.at/en/institut/automotive-engineering/</a:t>
            </a:r>
          </a:p>
          <a:p>
            <a:pPr defTabSz="990478">
              <a:spcBef>
                <a:spcPts val="0"/>
              </a:spcBef>
              <a:defRPr/>
            </a:pPr>
            <a:r>
              <a:rPr lang="fr-FR" sz="1200" b="1" dirty="0" err="1">
                <a:latin typeface="Arial" pitchFamily="34" charset="0"/>
                <a:cs typeface="Arial" pitchFamily="34" charset="0"/>
              </a:rPr>
              <a:t>EMIRAcle</a:t>
            </a:r>
            <a:r>
              <a:rPr lang="fr-FR" sz="1200" b="1" dirty="0">
                <a:latin typeface="Arial" pitchFamily="34" charset="0"/>
                <a:cs typeface="Arial" pitchFamily="34" charset="0"/>
              </a:rPr>
              <a:t> – </a:t>
            </a:r>
            <a:r>
              <a:rPr lang="fr-FR" sz="1200" b="1" dirty="0" err="1">
                <a:latin typeface="Arial" pitchFamily="34" charset="0"/>
                <a:cs typeface="Arial" pitchFamily="34" charset="0"/>
              </a:rPr>
              <a:t>European</a:t>
            </a:r>
            <a:r>
              <a:rPr lang="fr-FR" sz="1200" b="1" dirty="0">
                <a:latin typeface="Arial" pitchFamily="34" charset="0"/>
                <a:cs typeface="Arial" pitchFamily="34" charset="0"/>
              </a:rPr>
              <a:t> </a:t>
            </a:r>
            <a:r>
              <a:rPr lang="fr-FR" sz="1200" b="1" dirty="0" err="1">
                <a:latin typeface="Arial" pitchFamily="34" charset="0"/>
                <a:cs typeface="Arial" pitchFamily="34" charset="0"/>
              </a:rPr>
              <a:t>Manufacturing</a:t>
            </a:r>
            <a:r>
              <a:rPr lang="fr-FR" sz="1200" b="1" dirty="0">
                <a:latin typeface="Arial" pitchFamily="34" charset="0"/>
                <a:cs typeface="Arial" pitchFamily="34" charset="0"/>
              </a:rPr>
              <a:t> and Innovation </a:t>
            </a:r>
            <a:r>
              <a:rPr lang="fr-FR" sz="1200" b="1" dirty="0" err="1">
                <a:latin typeface="Arial" pitchFamily="34" charset="0"/>
                <a:cs typeface="Arial" pitchFamily="34" charset="0"/>
              </a:rPr>
              <a:t>Research</a:t>
            </a:r>
            <a:r>
              <a:rPr lang="fr-FR" sz="1200" b="1" baseline="0" dirty="0">
                <a:latin typeface="Arial" pitchFamily="34" charset="0"/>
                <a:cs typeface="Arial" pitchFamily="34" charset="0"/>
              </a:rPr>
              <a:t> Association</a:t>
            </a:r>
            <a:r>
              <a:rPr lang="fr-FR" sz="1200" dirty="0">
                <a:latin typeface="Arial" pitchFamily="34" charset="0"/>
                <a:cs typeface="Arial" pitchFamily="34" charset="0"/>
              </a:rPr>
              <a:t>, </a:t>
            </a:r>
            <a:r>
              <a:rPr lang="fr-FR" sz="1200" dirty="0" err="1">
                <a:latin typeface="Arial" pitchFamily="34" charset="0"/>
                <a:cs typeface="Arial" pitchFamily="34" charset="0"/>
              </a:rPr>
              <a:t>Belgija</a:t>
            </a:r>
            <a:r>
              <a:rPr lang="fr-FR" sz="1200" dirty="0">
                <a:latin typeface="Arial" pitchFamily="34" charset="0"/>
                <a:cs typeface="Arial" pitchFamily="34" charset="0"/>
              </a:rPr>
              <a:t>, http://www.emiracle.eu/</a:t>
            </a:r>
          </a:p>
          <a:p>
            <a:pPr defTabSz="990478">
              <a:spcBef>
                <a:spcPts val="0"/>
              </a:spcBef>
              <a:defRPr/>
            </a:pPr>
            <a:r>
              <a:rPr lang="fr-FR" sz="1200" b="1" dirty="0" err="1"/>
              <a:t>Univerza</a:t>
            </a:r>
            <a:r>
              <a:rPr lang="fr-FR" sz="1200" b="1" dirty="0"/>
              <a:t> v </a:t>
            </a:r>
            <a:r>
              <a:rPr lang="fr-FR" sz="1200" b="1" dirty="0" err="1"/>
              <a:t>Mariboru</a:t>
            </a:r>
            <a:r>
              <a:rPr lang="fr-FR" sz="1200" b="1" dirty="0"/>
              <a:t>,</a:t>
            </a:r>
            <a:r>
              <a:rPr lang="fr-FR" sz="1200" dirty="0"/>
              <a:t> </a:t>
            </a:r>
            <a:r>
              <a:rPr lang="fr-FR" sz="1200" dirty="0" err="1"/>
              <a:t>Fakulteta</a:t>
            </a:r>
            <a:r>
              <a:rPr lang="fr-FR" sz="1200" dirty="0"/>
              <a:t> </a:t>
            </a:r>
            <a:r>
              <a:rPr lang="fr-FR" sz="1200" dirty="0" err="1"/>
              <a:t>za</a:t>
            </a:r>
            <a:r>
              <a:rPr lang="fr-FR" sz="1200" dirty="0"/>
              <a:t> </a:t>
            </a:r>
            <a:r>
              <a:rPr lang="fr-FR" sz="1200" dirty="0" err="1"/>
              <a:t>elektrotehniko</a:t>
            </a:r>
            <a:r>
              <a:rPr lang="fr-FR" sz="1200" dirty="0"/>
              <a:t>, </a:t>
            </a:r>
            <a:r>
              <a:rPr lang="fr-FR" sz="1200" dirty="0" err="1"/>
              <a:t>računalništvo</a:t>
            </a:r>
            <a:r>
              <a:rPr lang="fr-FR" sz="1200" baseline="0" dirty="0"/>
              <a:t> in </a:t>
            </a:r>
            <a:r>
              <a:rPr lang="fr-FR" sz="1200" baseline="0" dirty="0" err="1"/>
              <a:t>informatiko</a:t>
            </a:r>
            <a:r>
              <a:rPr lang="fr-FR" sz="1200" dirty="0"/>
              <a:t>, Slovenija, https://feri.um.si/</a:t>
            </a:r>
            <a:endParaRPr lang="fr-FR" sz="1200" dirty="0">
              <a:latin typeface="Arial" pitchFamily="34" charset="0"/>
              <a:cs typeface="Arial" pitchFamily="34" charset="0"/>
            </a:endParaRPr>
          </a:p>
          <a:p>
            <a:pPr>
              <a:spcBef>
                <a:spcPts val="0"/>
              </a:spcBef>
            </a:pPr>
            <a:r>
              <a:rPr lang="fr-FR" sz="1200" b="1" dirty="0">
                <a:latin typeface="Arial" pitchFamily="34" charset="0"/>
                <a:cs typeface="Arial" pitchFamily="34" charset="0"/>
              </a:rPr>
              <a:t>ISCN Ltd./</a:t>
            </a:r>
            <a:r>
              <a:rPr lang="fr-FR" sz="1200" b="1" dirty="0" err="1">
                <a:latin typeface="Arial" pitchFamily="34" charset="0"/>
                <a:cs typeface="Arial" pitchFamily="34" charset="0"/>
              </a:rPr>
              <a:t>Ges.m.b.H</a:t>
            </a:r>
            <a:r>
              <a:rPr lang="fr-FR" sz="1200" dirty="0">
                <a:latin typeface="Arial" pitchFamily="34" charset="0"/>
                <a:cs typeface="Arial" pitchFamily="34" charset="0"/>
              </a:rPr>
              <a:t>, </a:t>
            </a:r>
            <a:r>
              <a:rPr lang="fr-FR" sz="1200" dirty="0" err="1">
                <a:latin typeface="Arial" pitchFamily="34" charset="0"/>
                <a:cs typeface="Arial" pitchFamily="34" charset="0"/>
              </a:rPr>
              <a:t>Irska</a:t>
            </a:r>
            <a:r>
              <a:rPr lang="fr-FR" sz="1200" dirty="0">
                <a:latin typeface="Arial" pitchFamily="34" charset="0"/>
                <a:cs typeface="Arial" pitchFamily="34" charset="0"/>
              </a:rPr>
              <a:t>/</a:t>
            </a:r>
            <a:r>
              <a:rPr lang="fr-FR" sz="1200" dirty="0" err="1">
                <a:latin typeface="Arial" pitchFamily="34" charset="0"/>
                <a:cs typeface="Arial" pitchFamily="34" charset="0"/>
              </a:rPr>
              <a:t>Avstrija</a:t>
            </a:r>
            <a:r>
              <a:rPr lang="fr-FR" sz="1200" dirty="0">
                <a:latin typeface="Arial" pitchFamily="34" charset="0"/>
                <a:cs typeface="Arial" pitchFamily="34" charset="0"/>
              </a:rPr>
              <a:t>, www.iscn.com</a:t>
            </a:r>
          </a:p>
          <a:p>
            <a:pPr>
              <a:spcBef>
                <a:spcPts val="0"/>
              </a:spcBef>
            </a:pPr>
            <a:r>
              <a:rPr lang="fr-FR" sz="1200" b="1" dirty="0">
                <a:latin typeface="Arial" pitchFamily="34" charset="0"/>
                <a:cs typeface="Arial" pitchFamily="34" charset="0"/>
              </a:rPr>
              <a:t>ECQA – </a:t>
            </a:r>
            <a:r>
              <a:rPr lang="fr-FR" sz="1200" b="1" dirty="0" err="1">
                <a:latin typeface="Arial" pitchFamily="34" charset="0"/>
                <a:cs typeface="Arial" pitchFamily="34" charset="0"/>
              </a:rPr>
              <a:t>European</a:t>
            </a:r>
            <a:r>
              <a:rPr lang="fr-FR" sz="1200" b="1" dirty="0">
                <a:latin typeface="Arial" pitchFamily="34" charset="0"/>
                <a:cs typeface="Arial" pitchFamily="34" charset="0"/>
              </a:rPr>
              <a:t> Certification and Qualification Association</a:t>
            </a:r>
            <a:r>
              <a:rPr lang="fr-FR" sz="1200" dirty="0">
                <a:latin typeface="Arial" pitchFamily="34" charset="0"/>
                <a:cs typeface="Arial" pitchFamily="34" charset="0"/>
              </a:rPr>
              <a:t>, </a:t>
            </a:r>
            <a:r>
              <a:rPr lang="fr-FR" sz="1200" dirty="0" err="1">
                <a:latin typeface="Arial" pitchFamily="34" charset="0"/>
                <a:cs typeface="Arial" pitchFamily="34" charset="0"/>
              </a:rPr>
              <a:t>Avstrija</a:t>
            </a:r>
            <a:r>
              <a:rPr lang="fr-FR" sz="1200" dirty="0">
                <a:latin typeface="Arial" pitchFamily="34" charset="0"/>
                <a:cs typeface="Arial" pitchFamily="34" charset="0"/>
              </a:rPr>
              <a:t>, www.ecqa.org</a:t>
            </a:r>
          </a:p>
          <a:p>
            <a:pPr>
              <a:lnSpc>
                <a:spcPct val="80000"/>
              </a:lnSpc>
            </a:pPr>
            <a:endParaRPr lang="fr-FR" sz="1200" dirty="0">
              <a:latin typeface="Arial" pitchFamily="34" charset="0"/>
              <a:cs typeface="Arial" pitchFamily="34" charset="0"/>
            </a:endParaRPr>
          </a:p>
          <a:p>
            <a:pPr>
              <a:spcBef>
                <a:spcPts val="0"/>
              </a:spcBef>
            </a:pPr>
            <a:r>
              <a:rPr lang="fr-FR" sz="1200" dirty="0">
                <a:latin typeface="Arial" pitchFamily="34" charset="0"/>
              </a:rPr>
              <a:t>Ta </a:t>
            </a:r>
            <a:r>
              <a:rPr lang="fr-FR" sz="1200" dirty="0" err="1">
                <a:latin typeface="Arial" pitchFamily="34" charset="0"/>
              </a:rPr>
              <a:t>projekt</a:t>
            </a:r>
            <a:r>
              <a:rPr lang="fr-FR" sz="1200" dirty="0">
                <a:latin typeface="Arial" pitchFamily="34" charset="0"/>
              </a:rPr>
              <a:t> je </a:t>
            </a:r>
            <a:r>
              <a:rPr lang="fr-FR" sz="1200" dirty="0" err="1">
                <a:latin typeface="Arial" pitchFamily="34" charset="0"/>
              </a:rPr>
              <a:t>bil</a:t>
            </a:r>
            <a:r>
              <a:rPr lang="fr-FR" sz="1200" dirty="0">
                <a:latin typeface="Arial" pitchFamily="34" charset="0"/>
              </a:rPr>
              <a:t> </a:t>
            </a:r>
            <a:r>
              <a:rPr lang="fr-FR" sz="1200" dirty="0" err="1">
                <a:latin typeface="Arial" pitchFamily="34" charset="0"/>
              </a:rPr>
              <a:t>financiran</a:t>
            </a:r>
            <a:r>
              <a:rPr lang="fr-FR" sz="1200" dirty="0">
                <a:latin typeface="Arial" pitchFamily="34" charset="0"/>
              </a:rPr>
              <a:t> s </a:t>
            </a:r>
            <a:r>
              <a:rPr lang="fr-FR" sz="1200" dirty="0" err="1">
                <a:latin typeface="Arial" pitchFamily="34" charset="0"/>
              </a:rPr>
              <a:t>podporo</a:t>
            </a:r>
            <a:r>
              <a:rPr lang="fr-FR" sz="1200" dirty="0">
                <a:latin typeface="Arial" pitchFamily="34" charset="0"/>
              </a:rPr>
              <a:t> </a:t>
            </a:r>
            <a:r>
              <a:rPr lang="fr-FR" sz="1200" dirty="0" err="1">
                <a:latin typeface="Arial" pitchFamily="34" charset="0"/>
              </a:rPr>
              <a:t>programa</a:t>
            </a:r>
            <a:r>
              <a:rPr lang="fr-FR" sz="1200" dirty="0">
                <a:latin typeface="Arial" pitchFamily="34" charset="0"/>
              </a:rPr>
              <a:t> </a:t>
            </a:r>
            <a:r>
              <a:rPr lang="fr-FR" sz="1200" dirty="0"/>
              <a:t>Erasmus+</a:t>
            </a:r>
            <a:r>
              <a:rPr lang="fr-FR" sz="1200" dirty="0">
                <a:latin typeface="Arial" pitchFamily="34" charset="0"/>
              </a:rPr>
              <a:t> </a:t>
            </a:r>
            <a:r>
              <a:rPr lang="fr-FR" sz="1200" dirty="0" err="1">
                <a:latin typeface="Arial" pitchFamily="34" charset="0"/>
              </a:rPr>
              <a:t>Evropske</a:t>
            </a:r>
            <a:r>
              <a:rPr lang="fr-FR" sz="1200" dirty="0">
                <a:latin typeface="Arial" pitchFamily="34" charset="0"/>
              </a:rPr>
              <a:t> </a:t>
            </a:r>
            <a:r>
              <a:rPr lang="fr-FR" sz="1200" dirty="0" err="1">
                <a:latin typeface="Arial" pitchFamily="34" charset="0"/>
              </a:rPr>
              <a:t>komisije</a:t>
            </a:r>
            <a:r>
              <a:rPr lang="fr-FR" sz="1200" dirty="0">
                <a:latin typeface="Arial" pitchFamily="34" charset="0"/>
              </a:rPr>
              <a:t> po </a:t>
            </a:r>
            <a:r>
              <a:rPr lang="fr-FR" sz="1200" dirty="0" err="1">
                <a:latin typeface="Arial" pitchFamily="34" charset="0"/>
              </a:rPr>
              <a:t>pogodbi</a:t>
            </a:r>
            <a:r>
              <a:rPr lang="fr-FR" sz="1200" dirty="0">
                <a:latin typeface="Arial" pitchFamily="34" charset="0"/>
              </a:rPr>
              <a:t> </a:t>
            </a:r>
            <a:r>
              <a:rPr lang="fr-FR" sz="1200" dirty="0"/>
              <a:t>2015-1-CZ01-KA203-013986 - 2015 – 2017</a:t>
            </a:r>
            <a:r>
              <a:rPr lang="fr-FR" sz="1200" dirty="0">
                <a:latin typeface="Arial" pitchFamily="34" charset="0"/>
              </a:rPr>
              <a:t>.</a:t>
            </a:r>
          </a:p>
          <a:p>
            <a:pPr marL="0" marR="0" lvl="0" indent="0" algn="l" defTabSz="914400" rtl="0" eaLnBrk="0" fontAlgn="base" latinLnBrk="0" hangingPunct="0">
              <a:lnSpc>
                <a:spcPct val="100000"/>
              </a:lnSpc>
              <a:spcBef>
                <a:spcPts val="0"/>
              </a:spcBef>
              <a:spcAft>
                <a:spcPct val="0"/>
              </a:spcAft>
              <a:buClrTx/>
              <a:buSzTx/>
              <a:buFontTx/>
              <a:buNone/>
              <a:tabLst/>
              <a:defRPr/>
            </a:pPr>
            <a:r>
              <a:rPr lang="fr-FR" sz="1200" dirty="0">
                <a:latin typeface="Arial" pitchFamily="34" charset="0"/>
                <a:cs typeface="Arial" pitchFamily="34" charset="0"/>
              </a:rPr>
              <a:t>AQUA – </a:t>
            </a:r>
            <a:r>
              <a:rPr lang="fr-FR" sz="1200" dirty="0" err="1">
                <a:latin typeface="Arial" pitchFamily="34" charset="0"/>
                <a:cs typeface="Arial" pitchFamily="34" charset="0"/>
              </a:rPr>
              <a:t>Zavezništvo</a:t>
            </a:r>
            <a:r>
              <a:rPr lang="fr-FR" sz="1200" dirty="0">
                <a:latin typeface="Arial" pitchFamily="34" charset="0"/>
                <a:cs typeface="Arial" pitchFamily="34" charset="0"/>
              </a:rPr>
              <a:t> </a:t>
            </a:r>
            <a:r>
              <a:rPr lang="fr-FR" sz="1200" dirty="0" err="1">
                <a:latin typeface="Arial" pitchFamily="34" charset="0"/>
                <a:cs typeface="Arial" pitchFamily="34" charset="0"/>
              </a:rPr>
              <a:t>znanja</a:t>
            </a:r>
            <a:r>
              <a:rPr lang="fr-FR" sz="1200" dirty="0">
                <a:latin typeface="Arial" pitchFamily="34" charset="0"/>
                <a:cs typeface="Arial" pitchFamily="34" charset="0"/>
              </a:rPr>
              <a:t> </a:t>
            </a:r>
            <a:r>
              <a:rPr lang="fr-FR" sz="1200" dirty="0" err="1">
                <a:latin typeface="Arial" pitchFamily="34" charset="0"/>
                <a:cs typeface="Arial" pitchFamily="34" charset="0"/>
              </a:rPr>
              <a:t>za</a:t>
            </a:r>
            <a:r>
              <a:rPr lang="fr-FR" sz="1200" dirty="0">
                <a:latin typeface="Arial" pitchFamily="34" charset="0"/>
                <a:cs typeface="Arial" pitchFamily="34" charset="0"/>
              </a:rPr>
              <a:t> </a:t>
            </a:r>
            <a:r>
              <a:rPr lang="fr-FR" sz="1200" dirty="0" err="1">
                <a:latin typeface="Arial" pitchFamily="34" charset="0"/>
                <a:cs typeface="Arial" pitchFamily="34" charset="0"/>
              </a:rPr>
              <a:t>kakovost</a:t>
            </a:r>
            <a:r>
              <a:rPr lang="fr-FR" sz="1200" dirty="0">
                <a:latin typeface="Arial" pitchFamily="34" charset="0"/>
                <a:cs typeface="Arial" pitchFamily="34" charset="0"/>
              </a:rPr>
              <a:t> </a:t>
            </a:r>
            <a:r>
              <a:rPr lang="fr-FR" sz="1200" dirty="0" err="1">
                <a:latin typeface="Arial" pitchFamily="34" charset="0"/>
                <a:cs typeface="Arial" pitchFamily="34" charset="0"/>
              </a:rPr>
              <a:t>usposabljanja</a:t>
            </a:r>
            <a:r>
              <a:rPr lang="fr-FR" sz="1200" dirty="0">
                <a:latin typeface="Arial" pitchFamily="34" charset="0"/>
                <a:cs typeface="Arial" pitchFamily="34" charset="0"/>
              </a:rPr>
              <a:t> in </a:t>
            </a:r>
            <a:r>
              <a:rPr lang="fr-FR" sz="1200" dirty="0" err="1">
                <a:latin typeface="Arial" pitchFamily="34" charset="0"/>
                <a:cs typeface="Arial" pitchFamily="34" charset="0"/>
              </a:rPr>
              <a:t>odličnost</a:t>
            </a:r>
            <a:r>
              <a:rPr lang="fr-FR" sz="1200" dirty="0">
                <a:latin typeface="Arial" pitchFamily="34" charset="0"/>
                <a:cs typeface="Arial" pitchFamily="34" charset="0"/>
              </a:rPr>
              <a:t> v </a:t>
            </a:r>
            <a:r>
              <a:rPr lang="fr-FR" sz="1200" dirty="0" err="1">
                <a:latin typeface="Arial" pitchFamily="34" charset="0"/>
                <a:cs typeface="Arial" pitchFamily="34" charset="0"/>
              </a:rPr>
              <a:t>avtomobilski</a:t>
            </a:r>
            <a:r>
              <a:rPr lang="fr-FR" sz="1200" dirty="0">
                <a:latin typeface="Arial" pitchFamily="34" charset="0"/>
                <a:cs typeface="Arial" pitchFamily="34" charset="0"/>
              </a:rPr>
              <a:t> </a:t>
            </a:r>
            <a:r>
              <a:rPr lang="fr-FR" sz="1200" dirty="0" err="1">
                <a:latin typeface="Arial" pitchFamily="34" charset="0"/>
                <a:cs typeface="Arial" pitchFamily="34" charset="0"/>
              </a:rPr>
              <a:t>industriji</a:t>
            </a:r>
            <a:r>
              <a:rPr lang="fr-FR" sz="1200" dirty="0">
                <a:latin typeface="Arial" pitchFamily="34" charset="0"/>
                <a:cs typeface="Arial" pitchFamily="34" charset="0"/>
              </a:rPr>
              <a:t> je </a:t>
            </a:r>
            <a:r>
              <a:rPr lang="fr-FR" sz="1200" dirty="0" err="1">
                <a:latin typeface="Arial" pitchFamily="34" charset="0"/>
                <a:cs typeface="Arial" pitchFamily="34" charset="0"/>
              </a:rPr>
              <a:t>vzpostavilo</a:t>
            </a:r>
            <a:r>
              <a:rPr lang="fr-FR" sz="1200" baseline="0" dirty="0">
                <a:latin typeface="Arial" pitchFamily="34" charset="0"/>
                <a:cs typeface="Arial" pitchFamily="34" charset="0"/>
              </a:rPr>
              <a:t> </a:t>
            </a:r>
            <a:r>
              <a:rPr lang="fr-FR" sz="1200" baseline="0" dirty="0" err="1">
                <a:latin typeface="Arial" pitchFamily="34" charset="0"/>
                <a:cs typeface="Arial" pitchFamily="34" charset="0"/>
              </a:rPr>
              <a:t>zavezništvo</a:t>
            </a:r>
            <a:r>
              <a:rPr lang="fr-FR" sz="1200" baseline="0" dirty="0">
                <a:latin typeface="Arial" pitchFamily="34" charset="0"/>
                <a:cs typeface="Arial" pitchFamily="34" charset="0"/>
              </a:rPr>
              <a:t> </a:t>
            </a:r>
            <a:r>
              <a:rPr lang="fr-FR" sz="1200" baseline="0" dirty="0" err="1">
                <a:latin typeface="Arial" pitchFamily="34" charset="0"/>
                <a:cs typeface="Arial" pitchFamily="34" charset="0"/>
              </a:rPr>
              <a:t>za</a:t>
            </a:r>
            <a:r>
              <a:rPr lang="fr-FR" sz="1200" baseline="0" dirty="0">
                <a:latin typeface="Arial" pitchFamily="34" charset="0"/>
                <a:cs typeface="Arial" pitchFamily="34" charset="0"/>
              </a:rPr>
              <a:t> </a:t>
            </a:r>
            <a:r>
              <a:rPr lang="fr-FR" sz="1200" baseline="0" dirty="0" err="1">
                <a:latin typeface="Arial" pitchFamily="34" charset="0"/>
                <a:cs typeface="Arial" pitchFamily="34" charset="0"/>
              </a:rPr>
              <a:t>kakovost</a:t>
            </a:r>
            <a:r>
              <a:rPr lang="fr-FR" sz="1200" baseline="0" dirty="0">
                <a:latin typeface="Arial" pitchFamily="34" charset="0"/>
                <a:cs typeface="Arial" pitchFamily="34" charset="0"/>
              </a:rPr>
              <a:t> </a:t>
            </a:r>
            <a:r>
              <a:rPr lang="fr-FR" sz="1200" dirty="0"/>
              <a:t>– LLP </a:t>
            </a:r>
            <a:r>
              <a:rPr lang="fr-FR" sz="1200" dirty="0" err="1"/>
              <a:t>projekt</a:t>
            </a:r>
            <a:r>
              <a:rPr lang="fr-FR" sz="1200" dirty="0"/>
              <a:t> </a:t>
            </a:r>
            <a:r>
              <a:rPr lang="fr-FR" sz="1200" dirty="0">
                <a:latin typeface="Arial" pitchFamily="34" charset="0"/>
                <a:cs typeface="Arial" pitchFamily="34" charset="0"/>
              </a:rPr>
              <a:t>EAC-2012-0635 -</a:t>
            </a:r>
            <a:r>
              <a:rPr lang="fr-FR" sz="1200" dirty="0"/>
              <a:t> 2013 – 2014.</a:t>
            </a:r>
          </a:p>
          <a:p>
            <a:pPr defTabSz="844083">
              <a:spcBef>
                <a:spcPts val="0"/>
              </a:spcBef>
            </a:pPr>
            <a:r>
              <a:rPr lang="fr-FR" sz="1200" dirty="0">
                <a:solidFill>
                  <a:srgbClr val="000099"/>
                </a:solidFill>
                <a:latin typeface="Arial" pitchFamily="34" charset="0"/>
              </a:rPr>
              <a:t>Ta </a:t>
            </a:r>
            <a:r>
              <a:rPr lang="fr-FR" sz="1200" dirty="0" err="1">
                <a:solidFill>
                  <a:srgbClr val="000099"/>
                </a:solidFill>
                <a:latin typeface="Arial" pitchFamily="34" charset="0"/>
              </a:rPr>
              <a:t>publikacija</a:t>
            </a:r>
            <a:r>
              <a:rPr lang="fr-FR" sz="1200" dirty="0">
                <a:solidFill>
                  <a:srgbClr val="000099"/>
                </a:solidFill>
                <a:latin typeface="Arial" pitchFamily="34" charset="0"/>
              </a:rPr>
              <a:t>/</a:t>
            </a:r>
            <a:r>
              <a:rPr lang="fr-FR" sz="1200" dirty="0" err="1">
                <a:solidFill>
                  <a:srgbClr val="000099"/>
                </a:solidFill>
                <a:latin typeface="Arial" pitchFamily="34" charset="0"/>
              </a:rPr>
              <a:t>sporočilo</a:t>
            </a:r>
            <a:r>
              <a:rPr lang="fr-FR" sz="1200" dirty="0">
                <a:solidFill>
                  <a:srgbClr val="000099"/>
                </a:solidFill>
                <a:latin typeface="Arial" pitchFamily="34" charset="0"/>
              </a:rPr>
              <a:t> </a:t>
            </a:r>
            <a:r>
              <a:rPr lang="fr-FR" sz="1200" dirty="0" err="1">
                <a:solidFill>
                  <a:srgbClr val="000099"/>
                </a:solidFill>
                <a:latin typeface="Arial" pitchFamily="34" charset="0"/>
              </a:rPr>
              <a:t>odraža</a:t>
            </a:r>
            <a:r>
              <a:rPr lang="fr-FR" sz="1200" dirty="0">
                <a:solidFill>
                  <a:srgbClr val="000099"/>
                </a:solidFill>
                <a:latin typeface="Arial" pitchFamily="34" charset="0"/>
              </a:rPr>
              <a:t> </a:t>
            </a:r>
            <a:r>
              <a:rPr lang="fr-FR" sz="1200" dirty="0" err="1">
                <a:solidFill>
                  <a:srgbClr val="000099"/>
                </a:solidFill>
                <a:latin typeface="Arial" pitchFamily="34" charset="0"/>
              </a:rPr>
              <a:t>stališče</a:t>
            </a:r>
            <a:r>
              <a:rPr lang="fr-FR" sz="1200" dirty="0">
                <a:solidFill>
                  <a:srgbClr val="000099"/>
                </a:solidFill>
                <a:latin typeface="Arial" pitchFamily="34" charset="0"/>
              </a:rPr>
              <a:t> </a:t>
            </a:r>
            <a:r>
              <a:rPr lang="fr-FR" sz="1200" dirty="0" err="1">
                <a:solidFill>
                  <a:srgbClr val="000099"/>
                </a:solidFill>
                <a:latin typeface="Arial" pitchFamily="34" charset="0"/>
              </a:rPr>
              <a:t>avtorjev</a:t>
            </a:r>
            <a:r>
              <a:rPr lang="fr-FR" sz="1200" dirty="0">
                <a:solidFill>
                  <a:srgbClr val="000099"/>
                </a:solidFill>
                <a:latin typeface="Arial" pitchFamily="34" charset="0"/>
              </a:rPr>
              <a:t> in </a:t>
            </a:r>
            <a:r>
              <a:rPr lang="fr-FR" sz="1200" dirty="0" err="1">
                <a:solidFill>
                  <a:srgbClr val="000099"/>
                </a:solidFill>
                <a:latin typeface="Arial" pitchFamily="34" charset="0"/>
              </a:rPr>
              <a:t>Komisija</a:t>
            </a:r>
            <a:r>
              <a:rPr lang="fr-FR" sz="1200" dirty="0">
                <a:solidFill>
                  <a:srgbClr val="000099"/>
                </a:solidFill>
                <a:latin typeface="Arial" pitchFamily="34" charset="0"/>
              </a:rPr>
              <a:t> ne </a:t>
            </a:r>
            <a:r>
              <a:rPr lang="fr-FR" sz="1200" dirty="0" err="1">
                <a:solidFill>
                  <a:srgbClr val="000099"/>
                </a:solidFill>
                <a:latin typeface="Arial" pitchFamily="34" charset="0"/>
              </a:rPr>
              <a:t>prevzema</a:t>
            </a:r>
            <a:r>
              <a:rPr lang="fr-FR" sz="1200" dirty="0">
                <a:solidFill>
                  <a:srgbClr val="000099"/>
                </a:solidFill>
                <a:latin typeface="Arial" pitchFamily="34" charset="0"/>
              </a:rPr>
              <a:t> </a:t>
            </a:r>
            <a:r>
              <a:rPr lang="fr-FR" sz="1200" dirty="0" err="1">
                <a:solidFill>
                  <a:srgbClr val="000099"/>
                </a:solidFill>
                <a:latin typeface="Arial" pitchFamily="34" charset="0"/>
              </a:rPr>
              <a:t>odgovornosti</a:t>
            </a:r>
            <a:r>
              <a:rPr lang="fr-FR" sz="1200" dirty="0">
                <a:solidFill>
                  <a:srgbClr val="000099"/>
                </a:solidFill>
                <a:latin typeface="Arial" pitchFamily="34" charset="0"/>
              </a:rPr>
              <a:t> </a:t>
            </a:r>
            <a:r>
              <a:rPr lang="fr-FR" sz="1200" dirty="0" err="1">
                <a:solidFill>
                  <a:srgbClr val="000099"/>
                </a:solidFill>
                <a:latin typeface="Arial" pitchFamily="34" charset="0"/>
              </a:rPr>
              <a:t>za</a:t>
            </a:r>
            <a:r>
              <a:rPr lang="fr-FR" sz="1200" dirty="0">
                <a:solidFill>
                  <a:srgbClr val="000099"/>
                </a:solidFill>
                <a:latin typeface="Arial" pitchFamily="34" charset="0"/>
              </a:rPr>
              <a:t> </a:t>
            </a:r>
            <a:r>
              <a:rPr lang="fr-FR" sz="1200" dirty="0" err="1">
                <a:solidFill>
                  <a:srgbClr val="000099"/>
                </a:solidFill>
                <a:latin typeface="Arial" pitchFamily="34" charset="0"/>
              </a:rPr>
              <a:t>kakršnokoli</a:t>
            </a:r>
            <a:r>
              <a:rPr lang="fr-FR" sz="1200" dirty="0">
                <a:solidFill>
                  <a:srgbClr val="000099"/>
                </a:solidFill>
                <a:latin typeface="Arial" pitchFamily="34" charset="0"/>
              </a:rPr>
              <a:t> </a:t>
            </a:r>
            <a:r>
              <a:rPr lang="fr-FR" sz="1200" dirty="0" err="1">
                <a:solidFill>
                  <a:srgbClr val="000099"/>
                </a:solidFill>
                <a:latin typeface="Arial" pitchFamily="34" charset="0"/>
              </a:rPr>
              <a:t>uporabo</a:t>
            </a:r>
            <a:r>
              <a:rPr lang="fr-FR" sz="1200" dirty="0">
                <a:solidFill>
                  <a:srgbClr val="000099"/>
                </a:solidFill>
                <a:latin typeface="Arial" pitchFamily="34" charset="0"/>
              </a:rPr>
              <a:t> </a:t>
            </a:r>
            <a:r>
              <a:rPr lang="fr-FR" sz="1200" dirty="0" err="1">
                <a:solidFill>
                  <a:srgbClr val="000099"/>
                </a:solidFill>
                <a:latin typeface="Arial" pitchFamily="34" charset="0"/>
              </a:rPr>
              <a:t>informacij</a:t>
            </a:r>
            <a:r>
              <a:rPr lang="fr-FR" sz="1200" dirty="0">
                <a:solidFill>
                  <a:srgbClr val="000099"/>
                </a:solidFill>
                <a:latin typeface="Arial" pitchFamily="34" charset="0"/>
              </a:rPr>
              <a:t>, </a:t>
            </a:r>
            <a:r>
              <a:rPr lang="fr-FR" sz="1200" dirty="0" err="1">
                <a:solidFill>
                  <a:srgbClr val="000099"/>
                </a:solidFill>
                <a:latin typeface="Arial" pitchFamily="34" charset="0"/>
              </a:rPr>
              <a:t>ki</a:t>
            </a:r>
            <a:r>
              <a:rPr lang="fr-FR" sz="1200" dirty="0">
                <a:solidFill>
                  <a:srgbClr val="000099"/>
                </a:solidFill>
                <a:latin typeface="Arial" pitchFamily="34" charset="0"/>
              </a:rPr>
              <a:t> </a:t>
            </a:r>
            <a:r>
              <a:rPr lang="fr-FR" sz="1200" dirty="0" err="1">
                <a:solidFill>
                  <a:srgbClr val="000099"/>
                </a:solidFill>
                <a:latin typeface="Arial" pitchFamily="34" charset="0"/>
              </a:rPr>
              <a:t>jih</a:t>
            </a:r>
            <a:r>
              <a:rPr lang="fr-FR" sz="1200" dirty="0">
                <a:solidFill>
                  <a:srgbClr val="000099"/>
                </a:solidFill>
                <a:latin typeface="Arial" pitchFamily="34" charset="0"/>
              </a:rPr>
              <a:t> </a:t>
            </a:r>
            <a:r>
              <a:rPr lang="fr-FR" sz="1200" dirty="0" err="1">
                <a:solidFill>
                  <a:srgbClr val="000099"/>
                </a:solidFill>
                <a:latin typeface="Arial" pitchFamily="34" charset="0"/>
              </a:rPr>
              <a:t>vsebuje</a:t>
            </a:r>
            <a:r>
              <a:rPr lang="fr-FR" sz="1200" dirty="0">
                <a:solidFill>
                  <a:srgbClr val="000099"/>
                </a:solidFill>
                <a:latin typeface="Arial" pitchFamily="34" charset="0"/>
              </a:rPr>
              <a:t>. </a:t>
            </a:r>
          </a:p>
        </p:txBody>
      </p:sp>
      <p:sp>
        <p:nvSpPr>
          <p:cNvPr id="6"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r>
              <a:rPr dirty="0"/>
              <a:t>U1.E1-Varnost-</a:t>
            </a:r>
            <a:fld id="{A86B3B2B-CC94-4EFC-919B-8391B1EFD700}" type="slidenum">
              <a:rPr lang="nl-NL" smtClean="0"/>
              <a:pPr>
                <a:defRPr/>
              </a:pPr>
              <a:t>25</a:t>
            </a:fld>
            <a:endParaRPr lang="sl-SI" dirty="0"/>
          </a:p>
        </p:txBody>
      </p:sp>
    </p:spTree>
    <p:extLst>
      <p:ext uri="{BB962C8B-B14F-4D97-AF65-F5344CB8AC3E}">
        <p14:creationId xmlns:p14="http://schemas.microsoft.com/office/powerpoint/2010/main" val="4104114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1.tiff"/><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a:xfrm>
            <a:off x="720725" y="1484784"/>
            <a:ext cx="7920038" cy="5040312"/>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457200" y="1440000"/>
            <a:ext cx="4038600"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inhoud 3"/>
          <p:cNvSpPr>
            <a:spLocks noGrp="1"/>
          </p:cNvSpPr>
          <p:nvPr>
            <p:ph sz="half" idx="2"/>
          </p:nvPr>
        </p:nvSpPr>
        <p:spPr>
          <a:xfrm>
            <a:off x="4648200" y="1440000"/>
            <a:ext cx="4038600"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dirty="0"/>
              <a:t>Klik om de stijl te bewerken</a:t>
            </a:r>
          </a:p>
        </p:txBody>
      </p:sp>
      <p:sp>
        <p:nvSpPr>
          <p:cNvPr id="3" name="Tijdelijke aanduiding voor teks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dirty="0"/>
              <a:t>Klik om de modelstijlen te bewerken</a:t>
            </a:r>
          </a:p>
        </p:txBody>
      </p:sp>
      <p:sp>
        <p:nvSpPr>
          <p:cNvPr id="4" name="Tijdelijke aanduiding voor inhoud 3"/>
          <p:cNvSpPr>
            <a:spLocks noGrp="1"/>
          </p:cNvSpPr>
          <p:nvPr>
            <p:ph sz="half" idx="2"/>
          </p:nvPr>
        </p:nvSpPr>
        <p:spPr>
          <a:xfrm>
            <a:off x="457200" y="2174875"/>
            <a:ext cx="4040188"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5" name="Tijdelijke aanduiding voor teks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dirty="0"/>
              <a:t>Klik om de modelstijlen te bewerken</a:t>
            </a:r>
          </a:p>
        </p:txBody>
      </p:sp>
      <p:sp>
        <p:nvSpPr>
          <p:cNvPr id="6" name="Tijdelijke aanduiding voor inhoud 5"/>
          <p:cNvSpPr>
            <a:spLocks noGrp="1"/>
          </p:cNvSpPr>
          <p:nvPr>
            <p:ph sz="quarter" idx="4"/>
          </p:nvPr>
        </p:nvSpPr>
        <p:spPr>
          <a:xfrm>
            <a:off x="4645025" y="2174875"/>
            <a:ext cx="4041775"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3" descr="image"/>
          <p:cNvPicPr>
            <a:picLocks noChangeAspect="1" noChangeArrowheads="1"/>
          </p:cNvPicPr>
          <p:nvPr userDrawn="1"/>
        </p:nvPicPr>
        <p:blipFill>
          <a:blip r:embed="rId2" cstate="print">
            <a:lum bright="70000" contrast="-70000"/>
            <a:grayscl/>
          </a:blip>
          <a:srcRect/>
          <a:stretch>
            <a:fillRect/>
          </a:stretch>
        </p:blipFill>
        <p:spPr bwMode="auto">
          <a:xfrm>
            <a:off x="2411413" y="2317750"/>
            <a:ext cx="6732587" cy="3703638"/>
          </a:xfrm>
          <a:prstGeom prst="rect">
            <a:avLst/>
          </a:prstGeom>
          <a:noFill/>
          <a:ln w="9525">
            <a:noFill/>
            <a:miter lim="800000"/>
            <a:headEnd/>
            <a:tailEnd/>
          </a:ln>
        </p:spPr>
      </p:pic>
      <p:sp>
        <p:nvSpPr>
          <p:cNvPr id="5" name="Line 3"/>
          <p:cNvSpPr>
            <a:spLocks noChangeShapeType="1"/>
          </p:cNvSpPr>
          <p:nvPr/>
        </p:nvSpPr>
        <p:spPr bwMode="auto">
          <a:xfrm flipV="1">
            <a:off x="1403350" y="1428750"/>
            <a:ext cx="7489825" cy="0"/>
          </a:xfrm>
          <a:prstGeom prst="line">
            <a:avLst/>
          </a:prstGeom>
          <a:noFill/>
          <a:ln w="38100">
            <a:solidFill>
              <a:srgbClr val="333399"/>
            </a:solidFill>
            <a:round/>
            <a:headEnd/>
            <a:tailEnd/>
          </a:ln>
          <a:effectLst/>
        </p:spPr>
        <p:txBody>
          <a:bodyPr wrap="none" anchor="ctr"/>
          <a:lstStyle/>
          <a:p>
            <a:pPr>
              <a:defRPr/>
            </a:pPr>
            <a:endParaRPr lang="en-US"/>
          </a:p>
        </p:txBody>
      </p:sp>
      <p:sp>
        <p:nvSpPr>
          <p:cNvPr id="6" name="Line 4"/>
          <p:cNvSpPr>
            <a:spLocks noChangeShapeType="1"/>
          </p:cNvSpPr>
          <p:nvPr/>
        </p:nvSpPr>
        <p:spPr bwMode="auto">
          <a:xfrm>
            <a:off x="312738" y="6015038"/>
            <a:ext cx="8580437" cy="6350"/>
          </a:xfrm>
          <a:prstGeom prst="line">
            <a:avLst/>
          </a:prstGeom>
          <a:noFill/>
          <a:ln w="38100">
            <a:solidFill>
              <a:srgbClr val="333399"/>
            </a:solidFill>
            <a:round/>
            <a:headEnd/>
            <a:tailEnd/>
          </a:ln>
          <a:effectLst/>
        </p:spPr>
        <p:txBody>
          <a:bodyPr wrap="none" anchor="ctr"/>
          <a:lstStyle/>
          <a:p>
            <a:pPr>
              <a:defRPr/>
            </a:pPr>
            <a:endParaRPr lang="en-US"/>
          </a:p>
        </p:txBody>
      </p:sp>
      <p:sp>
        <p:nvSpPr>
          <p:cNvPr id="9" name="Text Box 12"/>
          <p:cNvSpPr txBox="1">
            <a:spLocks noChangeArrowheads="1"/>
          </p:cNvSpPr>
          <p:nvPr userDrawn="1"/>
        </p:nvSpPr>
        <p:spPr bwMode="auto">
          <a:xfrm>
            <a:off x="1792965" y="497505"/>
            <a:ext cx="7058025" cy="461665"/>
          </a:xfrm>
          <a:prstGeom prst="rect">
            <a:avLst/>
          </a:prstGeom>
          <a:noFill/>
          <a:ln w="9525">
            <a:noFill/>
            <a:miter lim="800000"/>
            <a:headEnd/>
            <a:tailEnd/>
          </a:ln>
          <a:effectLst/>
        </p:spPr>
        <p:txBody>
          <a:bodyPr>
            <a:spAutoFit/>
          </a:bodyPr>
          <a:lstStyle/>
          <a:p>
            <a:pPr algn="ctr">
              <a:defRPr/>
            </a:pPr>
            <a:r>
              <a:rPr lang="en-US" sz="2400" b="1" u="none" noProof="0" dirty="0">
                <a:solidFill>
                  <a:srgbClr val="000099"/>
                </a:solidFill>
                <a:latin typeface="Arial" pitchFamily="34" charset="0"/>
                <a:cs typeface="Arial" pitchFamily="34" charset="0"/>
              </a:rPr>
              <a:t>Automotive Quality Universe</a:t>
            </a:r>
            <a:endParaRPr lang="en-GB" sz="2400" b="1" u="none" noProof="0" dirty="0">
              <a:solidFill>
                <a:srgbClr val="000099"/>
              </a:solidFill>
              <a:latin typeface="Arial" pitchFamily="34" charset="0"/>
              <a:cs typeface="Arial" pitchFamily="34" charset="0"/>
            </a:endParaRPr>
          </a:p>
        </p:txBody>
      </p:sp>
      <p:sp>
        <p:nvSpPr>
          <p:cNvPr id="10" name="Rectangle 46"/>
          <p:cNvSpPr>
            <a:spLocks noChangeArrowheads="1"/>
          </p:cNvSpPr>
          <p:nvPr userDrawn="1"/>
        </p:nvSpPr>
        <p:spPr bwMode="auto">
          <a:xfrm>
            <a:off x="0" y="0"/>
            <a:ext cx="1143000" cy="6858000"/>
          </a:xfrm>
          <a:prstGeom prst="rect">
            <a:avLst/>
          </a:prstGeom>
          <a:solidFill>
            <a:srgbClr val="354994"/>
          </a:solidFill>
          <a:ln w="9525">
            <a:noFill/>
            <a:miter lim="800000"/>
            <a:headEnd/>
            <a:tailEnd/>
          </a:ln>
          <a:effectLst/>
        </p:spPr>
        <p:txBody>
          <a:bodyPr wrap="none" anchor="ctr"/>
          <a:lstStyle/>
          <a:p>
            <a:pPr>
              <a:defRPr/>
            </a:pPr>
            <a:endParaRPr lang="fr-FR"/>
          </a:p>
        </p:txBody>
      </p:sp>
      <p:pic>
        <p:nvPicPr>
          <p:cNvPr id="11" name="Picture 58"/>
          <p:cNvPicPr>
            <a:picLocks noChangeAspect="1" noChangeArrowheads="1"/>
          </p:cNvPicPr>
          <p:nvPr userDrawn="1"/>
        </p:nvPicPr>
        <p:blipFill>
          <a:blip r:embed="rId3" cstate="print"/>
          <a:srcRect l="18750" r="6250" b="10257"/>
          <a:stretch>
            <a:fillRect/>
          </a:stretch>
        </p:blipFill>
        <p:spPr bwMode="auto">
          <a:xfrm>
            <a:off x="0" y="6191250"/>
            <a:ext cx="609600" cy="666750"/>
          </a:xfrm>
          <a:prstGeom prst="rect">
            <a:avLst/>
          </a:prstGeom>
          <a:noFill/>
          <a:ln w="9525">
            <a:noFill/>
            <a:miter lim="800000"/>
            <a:headEnd/>
            <a:tailEnd/>
          </a:ln>
        </p:spPr>
      </p:pic>
      <p:pic>
        <p:nvPicPr>
          <p:cNvPr id="12" name="Picture 59"/>
          <p:cNvPicPr>
            <a:picLocks noChangeAspect="1" noChangeArrowheads="1"/>
          </p:cNvPicPr>
          <p:nvPr userDrawn="1"/>
        </p:nvPicPr>
        <p:blipFill>
          <a:blip r:embed="rId3" cstate="print"/>
          <a:srcRect l="28125" r="6250" b="7693"/>
          <a:stretch>
            <a:fillRect/>
          </a:stretch>
        </p:blipFill>
        <p:spPr bwMode="auto">
          <a:xfrm>
            <a:off x="0" y="4343400"/>
            <a:ext cx="533400" cy="685800"/>
          </a:xfrm>
          <a:prstGeom prst="rect">
            <a:avLst/>
          </a:prstGeom>
          <a:noFill/>
          <a:ln w="9525">
            <a:noFill/>
            <a:miter lim="800000"/>
            <a:headEnd/>
            <a:tailEnd/>
          </a:ln>
        </p:spPr>
      </p:pic>
      <p:pic>
        <p:nvPicPr>
          <p:cNvPr id="13" name="Picture 60"/>
          <p:cNvPicPr>
            <a:picLocks noChangeAspect="1" noChangeArrowheads="1"/>
          </p:cNvPicPr>
          <p:nvPr userDrawn="1"/>
        </p:nvPicPr>
        <p:blipFill>
          <a:blip r:embed="rId4" cstate="print"/>
          <a:srcRect b="3786"/>
          <a:stretch>
            <a:fillRect/>
          </a:stretch>
        </p:blipFill>
        <p:spPr bwMode="auto">
          <a:xfrm>
            <a:off x="304800" y="5334000"/>
            <a:ext cx="762000" cy="685800"/>
          </a:xfrm>
          <a:prstGeom prst="rect">
            <a:avLst/>
          </a:prstGeom>
          <a:noFill/>
          <a:ln w="9525">
            <a:noFill/>
            <a:miter lim="800000"/>
            <a:headEnd/>
            <a:tailEnd/>
          </a:ln>
        </p:spPr>
      </p:pic>
      <p:pic>
        <p:nvPicPr>
          <p:cNvPr id="14" name="Picture 11"/>
          <p:cNvPicPr>
            <a:picLocks noChangeAspect="1" noChangeArrowheads="1"/>
          </p:cNvPicPr>
          <p:nvPr userDrawn="1"/>
        </p:nvPicPr>
        <p:blipFill>
          <a:blip r:embed="rId5" cstate="print"/>
          <a:srcRect/>
          <a:stretch>
            <a:fillRect/>
          </a:stretch>
        </p:blipFill>
        <p:spPr bwMode="auto">
          <a:xfrm>
            <a:off x="7391722" y="4997450"/>
            <a:ext cx="1428750" cy="931863"/>
          </a:xfrm>
          <a:prstGeom prst="rect">
            <a:avLst/>
          </a:prstGeom>
          <a:noFill/>
          <a:ln w="9525">
            <a:noFill/>
            <a:miter lim="800000"/>
            <a:headEnd/>
            <a:tailEnd/>
          </a:ln>
        </p:spPr>
      </p:pic>
      <p:sp>
        <p:nvSpPr>
          <p:cNvPr id="15" name="Text Box 10"/>
          <p:cNvSpPr txBox="1">
            <a:spLocks noChangeArrowheads="1"/>
          </p:cNvSpPr>
          <p:nvPr userDrawn="1"/>
        </p:nvSpPr>
        <p:spPr bwMode="auto">
          <a:xfrm>
            <a:off x="4786313" y="6234113"/>
            <a:ext cx="1604962" cy="338137"/>
          </a:xfrm>
          <a:prstGeom prst="rect">
            <a:avLst/>
          </a:prstGeom>
          <a:noFill/>
          <a:ln w="9525">
            <a:noFill/>
            <a:miter lim="800000"/>
            <a:headEnd/>
            <a:tailEnd/>
          </a:ln>
          <a:effectLst/>
        </p:spPr>
        <p:txBody>
          <a:bodyPr>
            <a:spAutoFit/>
          </a:bodyPr>
          <a:lstStyle/>
          <a:p>
            <a:pPr algn="r">
              <a:defRPr/>
            </a:pPr>
            <a:r>
              <a:rPr lang="en-GB" sz="1600" b="1" u="none" dirty="0">
                <a:solidFill>
                  <a:srgbClr val="000099"/>
                </a:solidFill>
                <a:latin typeface="Arial" pitchFamily="34" charset="0"/>
                <a:cs typeface="Arial" pitchFamily="34" charset="0"/>
              </a:rPr>
              <a:t>www.ecqa.org</a:t>
            </a:r>
          </a:p>
        </p:txBody>
      </p:sp>
      <p:sp>
        <p:nvSpPr>
          <p:cNvPr id="372738" name="Rectangle 2"/>
          <p:cNvSpPr>
            <a:spLocks noGrp="1" noChangeArrowheads="1"/>
          </p:cNvSpPr>
          <p:nvPr>
            <p:ph type="subTitle" idx="1"/>
          </p:nvPr>
        </p:nvSpPr>
        <p:spPr>
          <a:xfrm>
            <a:off x="1643042" y="3284538"/>
            <a:ext cx="7000924" cy="1752600"/>
          </a:xfrm>
        </p:spPr>
        <p:txBody>
          <a:bodyPr/>
          <a:lstStyle>
            <a:lvl1pPr marL="0" indent="0" algn="ctr">
              <a:buFontTx/>
              <a:buNone/>
              <a:defRPr b="1"/>
            </a:lvl1pPr>
          </a:lstStyle>
          <a:p>
            <a:r>
              <a:rPr lang="en-US" dirty="0"/>
              <a:t>Click to edit </a:t>
            </a:r>
            <a:r>
              <a:rPr lang="sl-SI" dirty="0"/>
              <a:t>Element</a:t>
            </a:r>
            <a:r>
              <a:rPr lang="en-US" dirty="0"/>
              <a:t> subtitle style</a:t>
            </a:r>
          </a:p>
        </p:txBody>
      </p:sp>
      <p:sp>
        <p:nvSpPr>
          <p:cNvPr id="372741" name="Rectangle 5"/>
          <p:cNvSpPr>
            <a:spLocks noGrp="1" noChangeArrowheads="1"/>
          </p:cNvSpPr>
          <p:nvPr>
            <p:ph type="ctrTitle"/>
          </p:nvPr>
        </p:nvSpPr>
        <p:spPr>
          <a:xfrm>
            <a:off x="1643041" y="1773238"/>
            <a:ext cx="7000925" cy="1470025"/>
          </a:xfrm>
        </p:spPr>
        <p:txBody>
          <a:bodyPr/>
          <a:lstStyle>
            <a:lvl1pPr>
              <a:defRPr sz="3200"/>
            </a:lvl1pPr>
          </a:lstStyle>
          <a:p>
            <a:r>
              <a:rPr lang="sl-SI" dirty="0"/>
              <a:t>CLICK HERE TO ADD UNIT TITLE</a:t>
            </a:r>
            <a:endParaRPr lang="en-US" dirty="0"/>
          </a:p>
        </p:txBody>
      </p:sp>
      <p:pic>
        <p:nvPicPr>
          <p:cNvPr id="2" name="Obrázek 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263055" y="185575"/>
            <a:ext cx="808838" cy="1085527"/>
          </a:xfrm>
          <a:prstGeom prst="rect">
            <a:avLst/>
          </a:prstGeom>
        </p:spPr>
      </p:pic>
      <p:pic>
        <p:nvPicPr>
          <p:cNvPr id="21" name="Obrázek 20"/>
          <p:cNvPicPr>
            <a:picLocks noChangeAspect="1"/>
          </p:cNvPicPr>
          <p:nvPr userDrawn="1"/>
        </p:nvPicPr>
        <p:blipFill>
          <a:blip r:embed="rId7"/>
          <a:stretch>
            <a:fillRect/>
          </a:stretch>
        </p:blipFill>
        <p:spPr>
          <a:xfrm>
            <a:off x="1223793" y="5250223"/>
            <a:ext cx="2451850" cy="589831"/>
          </a:xfrm>
          <a:prstGeom prst="rect">
            <a:avLst/>
          </a:prstGeom>
        </p:spPr>
      </p:pic>
      <p:sp>
        <p:nvSpPr>
          <p:cNvPr id="20" name="Text Box 6"/>
          <p:cNvSpPr txBox="1">
            <a:spLocks noChangeArrowheads="1"/>
          </p:cNvSpPr>
          <p:nvPr userDrawn="1"/>
        </p:nvSpPr>
        <p:spPr bwMode="auto">
          <a:xfrm>
            <a:off x="6948488" y="6296025"/>
            <a:ext cx="1871662" cy="276225"/>
          </a:xfrm>
          <a:prstGeom prst="rect">
            <a:avLst/>
          </a:prstGeom>
          <a:noFill/>
          <a:ln w="9525">
            <a:noFill/>
            <a:miter lim="800000"/>
            <a:headEnd/>
            <a:tailEnd/>
          </a:ln>
          <a:effectLst/>
        </p:spPr>
        <p:txBody>
          <a:bodyPr>
            <a:spAutoFit/>
          </a:bodyPr>
          <a:lstStyle/>
          <a:p>
            <a:pPr algn="r">
              <a:defRPr/>
            </a:pPr>
            <a:r>
              <a:rPr lang="en-GB" sz="1200" u="none" noProof="0" dirty="0">
                <a:solidFill>
                  <a:srgbClr val="000099"/>
                </a:solidFill>
                <a:latin typeface="Arial" pitchFamily="34" charset="0"/>
                <a:cs typeface="Arial" pitchFamily="34" charset="0"/>
              </a:rPr>
              <a:t>3</a:t>
            </a:r>
            <a:r>
              <a:rPr lang="sl-SI" sz="1200" u="none" noProof="0" dirty="0">
                <a:solidFill>
                  <a:srgbClr val="000099"/>
                </a:solidFill>
                <a:latin typeface="Arial" pitchFamily="34" charset="0"/>
                <a:cs typeface="Arial" pitchFamily="34" charset="0"/>
              </a:rPr>
              <a:t>. izdaja</a:t>
            </a:r>
            <a:endParaRPr lang="en-GB" sz="1200" u="none" noProof="0" dirty="0">
              <a:solidFill>
                <a:srgbClr val="000099"/>
              </a:solidFill>
              <a:latin typeface="Arial" pitchFamily="34" charset="0"/>
              <a:cs typeface="Arial" pitchFamily="34" charset="0"/>
            </a:endParaRPr>
          </a:p>
        </p:txBody>
      </p:sp>
      <p:sp>
        <p:nvSpPr>
          <p:cNvPr id="22" name="Text Box 8"/>
          <p:cNvSpPr txBox="1">
            <a:spLocks noChangeArrowheads="1"/>
          </p:cNvSpPr>
          <p:nvPr userDrawn="1"/>
        </p:nvSpPr>
        <p:spPr bwMode="auto">
          <a:xfrm>
            <a:off x="1285875" y="5989638"/>
            <a:ext cx="3311525" cy="692150"/>
          </a:xfrm>
          <a:prstGeom prst="rect">
            <a:avLst/>
          </a:prstGeom>
          <a:noFill/>
          <a:ln w="9525">
            <a:noFill/>
            <a:miter lim="800000"/>
            <a:headEnd/>
            <a:tailEnd/>
          </a:ln>
          <a:effectLst/>
        </p:spPr>
        <p:txBody>
          <a:bodyPr>
            <a:spAutoFit/>
          </a:bodyPr>
          <a:lstStyle/>
          <a:p>
            <a:pPr algn="ctr">
              <a:defRPr/>
            </a:pPr>
            <a:endParaRPr lang="en-GB" sz="900" u="none" noProof="0" dirty="0">
              <a:solidFill>
                <a:srgbClr val="000099"/>
              </a:solidFill>
              <a:latin typeface="Tw Cen MT" pitchFamily="34" charset="-18"/>
            </a:endParaRPr>
          </a:p>
          <a:p>
            <a:pPr>
              <a:defRPr/>
            </a:pPr>
            <a:r>
              <a:rPr lang="en-GB" sz="1200" u="none" noProof="0" dirty="0" err="1">
                <a:solidFill>
                  <a:srgbClr val="000099"/>
                </a:solidFill>
                <a:latin typeface="Arial" pitchFamily="34" charset="0"/>
              </a:rPr>
              <a:t>ECQA</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certificirano</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učno</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gradivo</a:t>
            </a:r>
            <a:r>
              <a:rPr lang="en-GB" sz="1200" u="none" noProof="0" dirty="0">
                <a:solidFill>
                  <a:srgbClr val="000099"/>
                </a:solidFill>
                <a:latin typeface="Arial" pitchFamily="34" charset="0"/>
              </a:rPr>
              <a:t> </a:t>
            </a:r>
          </a:p>
          <a:p>
            <a:pPr algn="ctr">
              <a:defRPr/>
            </a:pPr>
            <a:endParaRPr lang="sl-SI" sz="600" u="none" noProof="0" dirty="0">
              <a:solidFill>
                <a:srgbClr val="000099"/>
              </a:solidFill>
              <a:latin typeface="Arial" pitchFamily="34" charset="0"/>
              <a:cs typeface="Arial" pitchFamily="34" charset="0"/>
            </a:endParaRPr>
          </a:p>
          <a:p>
            <a:pPr>
              <a:defRPr/>
            </a:pPr>
            <a:r>
              <a:rPr lang="en-GB" sz="1200" u="none" noProof="0" dirty="0" err="1">
                <a:solidFill>
                  <a:srgbClr val="000099"/>
                </a:solidFill>
                <a:latin typeface="Arial" pitchFamily="34" charset="0"/>
              </a:rPr>
              <a:t>Avtorji</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AQU</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Odbor</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za</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učna</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gradiva</a:t>
            </a:r>
            <a:r>
              <a:rPr lang="en-GB" sz="1200" u="none" noProof="0" dirty="0">
                <a:solidFill>
                  <a:srgbClr val="000099"/>
                </a:solidFill>
                <a:latin typeface="Arial" pitchFamily="34" charset="0"/>
              </a:rPr>
              <a:t> </a:t>
            </a:r>
            <a:endParaRPr lang="sl-SI" sz="1200" u="none" noProof="0" dirty="0">
              <a:solidFill>
                <a:srgbClr val="000099"/>
              </a:solidFill>
              <a:latin typeface="Arial" pitchFamily="34" charset="0"/>
              <a:cs typeface="Arial" pitchFamily="34" charset="0"/>
            </a:endParaRPr>
          </a:p>
        </p:txBody>
      </p:sp>
      <p:sp>
        <p:nvSpPr>
          <p:cNvPr id="23" name="Text Box 5"/>
          <p:cNvSpPr txBox="1">
            <a:spLocks noChangeArrowheads="1"/>
          </p:cNvSpPr>
          <p:nvPr userDrawn="1"/>
        </p:nvSpPr>
        <p:spPr bwMode="auto">
          <a:xfrm>
            <a:off x="3546085" y="5142424"/>
            <a:ext cx="3551783" cy="707886"/>
          </a:xfrm>
          <a:prstGeom prst="rect">
            <a:avLst/>
          </a:prstGeom>
          <a:noFill/>
          <a:ln w="9525">
            <a:noFill/>
            <a:miter lim="800000"/>
            <a:headEnd/>
            <a:tailEnd/>
          </a:ln>
        </p:spPr>
        <p:txBody>
          <a:bodyPr wrap="square">
            <a:spAutoFit/>
          </a:bodyPr>
          <a:lstStyle/>
          <a:p>
            <a:pPr algn="ctr"/>
            <a:r>
              <a:rPr lang="en-US" sz="800" u="none" noProof="0" dirty="0">
                <a:solidFill>
                  <a:srgbClr val="000099"/>
                </a:solidFill>
                <a:latin typeface="Tw Cen MT" pitchFamily="34" charset="0"/>
              </a:rPr>
              <a:t>Automotive Quality Universities – </a:t>
            </a:r>
            <a:r>
              <a:rPr lang="en-US" sz="800" u="none" noProof="0" dirty="0" err="1">
                <a:solidFill>
                  <a:srgbClr val="000099"/>
                </a:solidFill>
                <a:latin typeface="Tw Cen MT" pitchFamily="34" charset="0"/>
              </a:rPr>
              <a:t>AutoUniverse</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AQU</a:t>
            </a:r>
            <a:r>
              <a:rPr lang="en-US" sz="800" u="none" noProof="0" dirty="0">
                <a:solidFill>
                  <a:srgbClr val="000099"/>
                </a:solidFill>
                <a:latin typeface="Tw Cen MT" pitchFamily="34" charset="0"/>
              </a:rPr>
              <a:t>).</a:t>
            </a:r>
          </a:p>
          <a:p>
            <a:pPr algn="ctr"/>
            <a:r>
              <a:rPr lang="sl-SI" sz="800" u="none" noProof="0" dirty="0">
                <a:solidFill>
                  <a:srgbClr val="000099"/>
                </a:solidFill>
                <a:latin typeface="Tw Cen MT" pitchFamily="34" charset="0"/>
              </a:rPr>
              <a:t>Ta projekt je bil sofinanciran v okviru programa </a:t>
            </a:r>
            <a:r>
              <a:rPr lang="sl-SI" sz="800" u="none" noProof="0" dirty="0" err="1">
                <a:solidFill>
                  <a:srgbClr val="000099"/>
                </a:solidFill>
                <a:latin typeface="Tw Cen MT" pitchFamily="34" charset="0"/>
              </a:rPr>
              <a:t>Evropsek</a:t>
            </a:r>
            <a:r>
              <a:rPr lang="sl-SI" sz="800" u="none" baseline="0" noProof="0" dirty="0">
                <a:solidFill>
                  <a:srgbClr val="000099"/>
                </a:solidFill>
                <a:latin typeface="Tw Cen MT" pitchFamily="34" charset="0"/>
              </a:rPr>
              <a:t> unije </a:t>
            </a:r>
            <a:r>
              <a:rPr lang="sl-SI" sz="800" u="none" noProof="0" dirty="0">
                <a:solidFill>
                  <a:srgbClr val="000099"/>
                </a:solidFill>
                <a:latin typeface="Tw Cen MT" pitchFamily="34" charset="0"/>
              </a:rPr>
              <a:t>E</a:t>
            </a:r>
            <a:r>
              <a:rPr lang="en-US" sz="800" u="none" noProof="0" dirty="0" err="1">
                <a:solidFill>
                  <a:srgbClr val="000099"/>
                </a:solidFill>
                <a:latin typeface="Tw Cen MT" pitchFamily="34" charset="0"/>
              </a:rPr>
              <a:t>rasmus</a:t>
            </a:r>
            <a:r>
              <a:rPr lang="en-US" sz="800" u="none" noProof="0" dirty="0">
                <a:solidFill>
                  <a:srgbClr val="000099"/>
                </a:solidFill>
                <a:latin typeface="Tw Cen MT" pitchFamily="34" charset="0"/>
              </a:rPr>
              <a:t>+ - 2015-1-CZ01-KA203-013986. Ta </a:t>
            </a:r>
            <a:r>
              <a:rPr lang="en-US" sz="800" u="none" noProof="0" dirty="0" err="1">
                <a:solidFill>
                  <a:srgbClr val="000099"/>
                </a:solidFill>
                <a:latin typeface="Tw Cen MT" pitchFamily="34" charset="0"/>
              </a:rPr>
              <a:t>publikacija</a:t>
            </a:r>
            <a:r>
              <a:rPr lang="en-US" sz="800" u="none" noProof="0" dirty="0">
                <a:solidFill>
                  <a:srgbClr val="000099"/>
                </a:solidFill>
                <a:latin typeface="Tw Cen MT" pitchFamily="34" charset="0"/>
              </a:rPr>
              <a:t>/</a:t>
            </a:r>
            <a:r>
              <a:rPr lang="en-US" sz="800" u="none" noProof="0" dirty="0" err="1">
                <a:solidFill>
                  <a:srgbClr val="000099"/>
                </a:solidFill>
                <a:latin typeface="Tw Cen MT" pitchFamily="34" charset="0"/>
              </a:rPr>
              <a:t>sporočilo</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odraža</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stališče</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avtorjev</a:t>
            </a:r>
            <a:r>
              <a:rPr lang="en-US" sz="800" u="none" noProof="0" dirty="0">
                <a:solidFill>
                  <a:srgbClr val="000099"/>
                </a:solidFill>
                <a:latin typeface="Tw Cen MT" pitchFamily="34" charset="0"/>
              </a:rPr>
              <a:t> in </a:t>
            </a:r>
            <a:r>
              <a:rPr lang="en-US" sz="800" u="none" noProof="0" dirty="0" err="1">
                <a:solidFill>
                  <a:srgbClr val="000099"/>
                </a:solidFill>
                <a:latin typeface="Tw Cen MT" pitchFamily="34" charset="0"/>
              </a:rPr>
              <a:t>Komisija</a:t>
            </a:r>
            <a:r>
              <a:rPr lang="en-US" sz="800" u="none" noProof="0" dirty="0">
                <a:solidFill>
                  <a:srgbClr val="000099"/>
                </a:solidFill>
                <a:latin typeface="Tw Cen MT" pitchFamily="34" charset="0"/>
              </a:rPr>
              <a:t> ne </a:t>
            </a:r>
            <a:r>
              <a:rPr lang="en-US" sz="800" u="none" noProof="0" dirty="0" err="1">
                <a:solidFill>
                  <a:srgbClr val="000099"/>
                </a:solidFill>
                <a:latin typeface="Tw Cen MT" pitchFamily="34" charset="0"/>
              </a:rPr>
              <a:t>prevzema</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odgovornosti</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za</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kakršnokoli</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uporabo</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informacij</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ki</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jih</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vsebuje</a:t>
            </a:r>
            <a:r>
              <a:rPr lang="en-US" sz="800" u="none" noProof="0" dirty="0">
                <a:solidFill>
                  <a:srgbClr val="000099"/>
                </a:solidFill>
                <a:latin typeface="Tw Cen MT" pitchFamily="34" charset="0"/>
              </a:rPr>
              <a:t>. </a:t>
            </a:r>
          </a:p>
        </p:txBody>
      </p:sp>
    </p:spTree>
    <p:extLst>
      <p:ext uri="{BB962C8B-B14F-4D97-AF65-F5344CB8AC3E}">
        <p14:creationId xmlns:p14="http://schemas.microsoft.com/office/powerpoint/2010/main" val="3868321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a:defRPr sz="2400"/>
            </a:lvl2pPr>
            <a:lvl4pPr>
              <a:defRPr sz="20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6006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3"/>
          <p:cNvSpPr>
            <a:spLocks noGrp="1"/>
          </p:cNvSpPr>
          <p:nvPr>
            <p:ph type="dt" sz="half" idx="14"/>
          </p:nvPr>
        </p:nvSpPr>
        <p:spPr>
          <a:xfrm>
            <a:off x="457200" y="6356350"/>
            <a:ext cx="2133600" cy="365125"/>
          </a:xfrm>
          <a:prstGeom prst="rect">
            <a:avLst/>
          </a:prstGeom>
        </p:spPr>
        <p:txBody>
          <a:bodyPr/>
          <a:lstStyle>
            <a:lvl1pPr>
              <a:defRPr/>
            </a:lvl1pPr>
          </a:lstStyle>
          <a:p>
            <a:pPr>
              <a:defRPr/>
            </a:pPr>
            <a:fld id="{9AEB5608-A7D4-466B-9979-0543F5333B10}" type="datetime1">
              <a:rPr lang="nl-NL"/>
              <a:pPr>
                <a:defRPr/>
              </a:pPr>
              <a:t>27-11-2023</a:t>
            </a:fld>
            <a:endParaRPr lang="nl-NL"/>
          </a:p>
        </p:txBody>
      </p:sp>
      <p:sp>
        <p:nvSpPr>
          <p:cNvPr id="7" name="Tijdelijke aanduiding voor dianummer 5"/>
          <p:cNvSpPr>
            <a:spLocks noGrp="1"/>
          </p:cNvSpPr>
          <p:nvPr>
            <p:ph type="sldNum" sz="quarter" idx="16"/>
          </p:nvPr>
        </p:nvSpPr>
        <p:spPr>
          <a:xfrm>
            <a:off x="6553200" y="6356350"/>
            <a:ext cx="2133600" cy="365125"/>
          </a:xfrm>
          <a:prstGeom prst="rect">
            <a:avLst/>
          </a:prstGeom>
        </p:spPr>
        <p:txBody>
          <a:bodyPr/>
          <a:lstStyle>
            <a:lvl1pPr>
              <a:defRPr/>
            </a:lvl1pPr>
          </a:lstStyle>
          <a:p>
            <a:pPr>
              <a:defRPr/>
            </a:pPr>
            <a:fld id="{91DFF323-BF0C-4A48-A7DB-3A7BE4CB3DF7}" type="slidenum">
              <a:rPr lang="nl-NL"/>
              <a:pPr>
                <a:defRPr/>
              </a:pPr>
              <a:t>‹#›</a:t>
            </a:fld>
            <a:endParaRPr lang="nl-NL"/>
          </a:p>
        </p:txBody>
      </p:sp>
    </p:spTree>
    <p:extLst>
      <p:ext uri="{BB962C8B-B14F-4D97-AF65-F5344CB8AC3E}">
        <p14:creationId xmlns:p14="http://schemas.microsoft.com/office/powerpoint/2010/main" val="3200753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a:xfrm>
            <a:off x="720726" y="1340768"/>
            <a:ext cx="7920038" cy="5040312"/>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8" name="Tijdelijke aanduiding voor tekst 7"/>
          <p:cNvSpPr>
            <a:spLocks noGrp="1"/>
          </p:cNvSpPr>
          <p:nvPr>
            <p:ph type="body" sz="quarter" idx="13"/>
          </p:nvPr>
        </p:nvSpPr>
        <p:spPr>
          <a:xfrm>
            <a:off x="1296000" y="6669360"/>
            <a:ext cx="1331784" cy="203040"/>
          </a:xfrm>
        </p:spPr>
        <p:txBody>
          <a:bodyPr tIns="36000" bIns="36000"/>
          <a:lstStyle>
            <a:lvl1pPr algn="l">
              <a:defRPr sz="1000" b="0">
                <a:solidFill>
                  <a:schemeClr val="bg1"/>
                </a:solidFill>
              </a:defRPr>
            </a:lvl1pPr>
          </a:lstStyle>
          <a:p>
            <a:pPr lvl="0"/>
            <a:r>
              <a:rPr lang="nl-NL"/>
              <a:t>Klik om de modelstijlen te bewerken</a:t>
            </a:r>
          </a:p>
        </p:txBody>
      </p:sp>
      <p:sp>
        <p:nvSpPr>
          <p:cNvPr id="5" name="Tijdelijke aanduiding voor voettekst 4"/>
          <p:cNvSpPr>
            <a:spLocks noGrp="1"/>
          </p:cNvSpPr>
          <p:nvPr>
            <p:ph type="ftr" sz="quarter" idx="14"/>
          </p:nvPr>
        </p:nvSpPr>
        <p:spPr/>
        <p:txBody>
          <a:bodyPr/>
          <a:lstStyle>
            <a:lvl1pPr>
              <a:defRPr/>
            </a:lvl1pPr>
          </a:lstStyle>
          <a:p>
            <a:pPr>
              <a:defRPr/>
            </a:pPr>
            <a:endParaRPr lang="nl-NL"/>
          </a:p>
        </p:txBody>
      </p:sp>
    </p:spTree>
    <p:extLst>
      <p:ext uri="{BB962C8B-B14F-4D97-AF65-F5344CB8AC3E}">
        <p14:creationId xmlns:p14="http://schemas.microsoft.com/office/powerpoint/2010/main" val="289218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tif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jdelijke aanduiding voor titel 1"/>
          <p:cNvSpPr>
            <a:spLocks noGrp="1"/>
          </p:cNvSpPr>
          <p:nvPr>
            <p:ph type="title"/>
          </p:nvPr>
        </p:nvSpPr>
        <p:spPr bwMode="auto">
          <a:xfrm>
            <a:off x="1765300" y="238125"/>
            <a:ext cx="6478588" cy="6000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nl-NL"/>
              <a:t>Click here for slide title</a:t>
            </a:r>
            <a:endParaRPr lang="nl-NL" altLang="nl-NL"/>
          </a:p>
        </p:txBody>
      </p:sp>
      <p:sp>
        <p:nvSpPr>
          <p:cNvPr id="1027" name="Tijdelijke aanduiding voor tekst 2"/>
          <p:cNvSpPr>
            <a:spLocks noGrp="1"/>
          </p:cNvSpPr>
          <p:nvPr>
            <p:ph type="body" idx="1"/>
          </p:nvPr>
        </p:nvSpPr>
        <p:spPr bwMode="auto">
          <a:xfrm>
            <a:off x="720725" y="1341438"/>
            <a:ext cx="7920038"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ltLang="nl-NL"/>
              <a:t>Klik om de modelstijlen te bewerken</a:t>
            </a:r>
          </a:p>
          <a:p>
            <a:pPr lvl="1"/>
            <a:r>
              <a:rPr lang="nl-NL" altLang="nl-NL"/>
              <a:t>Tweede niveau</a:t>
            </a:r>
          </a:p>
          <a:p>
            <a:pPr lvl="2"/>
            <a:r>
              <a:rPr lang="nl-NL" altLang="nl-NL"/>
              <a:t>Derde niveau</a:t>
            </a:r>
          </a:p>
          <a:p>
            <a:pPr lvl="3"/>
            <a:r>
              <a:rPr lang="nl-NL" altLang="nl-NL"/>
              <a:t>Vierde niveau</a:t>
            </a:r>
          </a:p>
          <a:p>
            <a:pPr lvl="4"/>
            <a:r>
              <a:rPr lang="nl-NL" altLang="nl-NL"/>
              <a:t>Vijfde niveau</a:t>
            </a:r>
          </a:p>
        </p:txBody>
      </p:sp>
      <p:sp>
        <p:nvSpPr>
          <p:cNvPr id="1032" name="Line 3"/>
          <p:cNvSpPr>
            <a:spLocks noChangeShapeType="1"/>
          </p:cNvSpPr>
          <p:nvPr/>
        </p:nvSpPr>
        <p:spPr bwMode="auto">
          <a:xfrm flipV="1">
            <a:off x="1403350" y="928688"/>
            <a:ext cx="7489825" cy="0"/>
          </a:xfrm>
          <a:prstGeom prst="line">
            <a:avLst/>
          </a:prstGeom>
          <a:noFill/>
          <a:ln w="38100">
            <a:solidFill>
              <a:srgbClr val="333399"/>
            </a:solidFill>
            <a:round/>
            <a:headEnd/>
            <a:tailEnd/>
          </a:ln>
        </p:spPr>
        <p:txBody>
          <a:bodyPr wrap="none" anchor="ctr"/>
          <a:lstStyle/>
          <a:p>
            <a:endParaRPr lang="sv-SE"/>
          </a:p>
        </p:txBody>
      </p:sp>
      <p:sp>
        <p:nvSpPr>
          <p:cNvPr id="3" name="Line 4"/>
          <p:cNvSpPr>
            <a:spLocks noChangeShapeType="1"/>
          </p:cNvSpPr>
          <p:nvPr/>
        </p:nvSpPr>
        <p:spPr bwMode="auto">
          <a:xfrm>
            <a:off x="312738" y="6664325"/>
            <a:ext cx="8602662" cy="4763"/>
          </a:xfrm>
          <a:prstGeom prst="line">
            <a:avLst/>
          </a:prstGeom>
          <a:noFill/>
          <a:ln w="38100">
            <a:solidFill>
              <a:srgbClr val="333399"/>
            </a:solidFill>
            <a:round/>
            <a:headEnd/>
            <a:tailEnd/>
          </a:ln>
        </p:spPr>
        <p:txBody>
          <a:bodyPr wrap="none" anchor="ctr"/>
          <a:lstStyle/>
          <a:p>
            <a:endParaRPr lang="sv-SE"/>
          </a:p>
        </p:txBody>
      </p:sp>
      <p:sp>
        <p:nvSpPr>
          <p:cNvPr id="11" name="Rectangle 9"/>
          <p:cNvSpPr>
            <a:spLocks noChangeArrowheads="1"/>
          </p:cNvSpPr>
          <p:nvPr userDrawn="1"/>
        </p:nvSpPr>
        <p:spPr bwMode="auto">
          <a:xfrm>
            <a:off x="7272807" y="6683375"/>
            <a:ext cx="1871193"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altLang="nl-NL" sz="1200" b="1" i="0" u="none" strike="noStrike" kern="0" cap="none" spc="0" normalizeH="0" baseline="0" noProof="0" dirty="0">
                <a:ln>
                  <a:noFill/>
                </a:ln>
                <a:solidFill>
                  <a:srgbClr val="002060"/>
                </a:solidFill>
                <a:effectLst/>
                <a:uLnTx/>
                <a:uFillTx/>
                <a:latin typeface="Calibri" pitchFamily="34" charset="0"/>
                <a:cs typeface="Arial" charset="0"/>
              </a:rPr>
              <a:t>U4.E1-SIXSIGMA-</a:t>
            </a:r>
            <a:fld id="{583DABBC-1C65-4A90-A85E-E309129F042D}" type="slidenum">
              <a:rPr kumimoji="0" lang="nl-NL" altLang="nl-NL" sz="1200" b="1" i="0" u="none" strike="noStrike" kern="0" cap="none" spc="0" normalizeH="0" baseline="0" noProof="0" smtClean="0">
                <a:ln>
                  <a:noFill/>
                </a:ln>
                <a:solidFill>
                  <a:srgbClr val="002060"/>
                </a:solidFill>
                <a:effectLst/>
                <a:uLnTx/>
                <a:uFillTx/>
                <a:latin typeface="Calibri" pitchFamily="34" charset="0"/>
                <a:cs typeface="Arial" charset="0"/>
              </a:rPr>
              <a:pPr marL="0" marR="0" lvl="0" indent="0" algn="ctr" defTabSz="914400" eaLnBrk="1" fontAlgn="auto" latinLnBrk="0" hangingPunct="1">
                <a:lnSpc>
                  <a:spcPct val="100000"/>
                </a:lnSpc>
                <a:spcBef>
                  <a:spcPts val="0"/>
                </a:spcBef>
                <a:spcAft>
                  <a:spcPts val="0"/>
                </a:spcAft>
                <a:buClrTx/>
                <a:buSzTx/>
                <a:buFontTx/>
                <a:buNone/>
                <a:tabLst/>
                <a:defRPr/>
              </a:pPr>
              <a:t>‹#›</a:t>
            </a:fld>
            <a:endParaRPr kumimoji="0" lang="nl-NL" altLang="nl-NL" sz="1200" b="1" i="0" u="none" strike="noStrike" kern="0" cap="none" spc="0" normalizeH="0" baseline="0" noProof="0" dirty="0">
              <a:ln>
                <a:noFill/>
              </a:ln>
              <a:solidFill>
                <a:srgbClr val="002060"/>
              </a:solidFill>
              <a:effectLst/>
              <a:uLnTx/>
              <a:uFillTx/>
              <a:latin typeface="Calibri" pitchFamily="34" charset="0"/>
              <a:cs typeface="Arial" charset="0"/>
            </a:endParaRPr>
          </a:p>
        </p:txBody>
      </p:sp>
      <p:pic>
        <p:nvPicPr>
          <p:cNvPr id="12" name="Obrázek 11"/>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312738" y="114623"/>
            <a:ext cx="808838" cy="1085527"/>
          </a:xfrm>
          <a:prstGeom prst="rect">
            <a:avLst/>
          </a:prstGeom>
        </p:spPr>
      </p:pic>
      <p:sp>
        <p:nvSpPr>
          <p:cNvPr id="9" name="Tijdelijke aanduiding voor voettekst 4"/>
          <p:cNvSpPr>
            <a:spLocks noGrp="1"/>
          </p:cNvSpPr>
          <p:nvPr>
            <p:ph type="ftr" sz="quarter" idx="3"/>
          </p:nvPr>
        </p:nvSpPr>
        <p:spPr>
          <a:xfrm>
            <a:off x="3852863" y="6710363"/>
            <a:ext cx="1439862" cy="161925"/>
          </a:xfrm>
          <a:prstGeom prst="rect">
            <a:avLst/>
          </a:prstGeom>
        </p:spPr>
        <p:txBody>
          <a:bodyPr vert="horz" lIns="91440" tIns="45720" rIns="91440" bIns="45720" rtlCol="0" anchor="ctr"/>
          <a:lstStyle>
            <a:lvl1pPr algn="l" fontAlgn="auto">
              <a:spcBef>
                <a:spcPts val="0"/>
              </a:spcBef>
              <a:spcAft>
                <a:spcPts val="0"/>
              </a:spcAft>
              <a:defRPr sz="1000">
                <a:solidFill>
                  <a:srgbClr val="002060"/>
                </a:solidFill>
                <a:latin typeface="+mn-lt"/>
                <a:cs typeface="+mn-cs"/>
              </a:defRPr>
            </a:lvl1pPr>
          </a:lstStyle>
          <a:p>
            <a:pPr algn="ctr">
              <a:defRPr/>
            </a:pPr>
            <a:r>
              <a:rPr lang="nl-NL" dirty="0"/>
              <a:t>3</a:t>
            </a:r>
            <a:r>
              <a:rPr lang="sl-SI" dirty="0"/>
              <a:t>. izdaja</a:t>
            </a:r>
            <a:endParaRPr lang="nl-NL" dirty="0"/>
          </a:p>
        </p:txBody>
      </p:sp>
      <p:sp>
        <p:nvSpPr>
          <p:cNvPr id="10" name="Text Box 20"/>
          <p:cNvSpPr txBox="1">
            <a:spLocks noChangeArrowheads="1"/>
          </p:cNvSpPr>
          <p:nvPr userDrawn="1"/>
        </p:nvSpPr>
        <p:spPr bwMode="auto">
          <a:xfrm>
            <a:off x="252413" y="6697663"/>
            <a:ext cx="129540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0" bIns="0" anchor="b"/>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spcBef>
                <a:spcPct val="20000"/>
              </a:spcBef>
              <a:buClr>
                <a:srgbClr val="0000FF"/>
              </a:buClr>
              <a:buSzPct val="125000"/>
              <a:defRPr/>
            </a:pPr>
            <a:r>
              <a:rPr lang="en-GB" sz="1000" dirty="0" err="1">
                <a:solidFill>
                  <a:srgbClr val="000099"/>
                </a:solidFill>
                <a:latin typeface="Arial" pitchFamily="34" charset="0"/>
                <a:cs typeface="Arial" pitchFamily="34" charset="0"/>
              </a:rPr>
              <a:t>ECQA</a:t>
            </a:r>
            <a:r>
              <a:rPr lang="en-GB" sz="1000" dirty="0">
                <a:solidFill>
                  <a:srgbClr val="000099"/>
                </a:solidFill>
                <a:latin typeface="Arial" pitchFamily="34" charset="0"/>
                <a:cs typeface="Arial" pitchFamily="34" charset="0"/>
              </a:rPr>
              <a:t> </a:t>
            </a:r>
            <a:r>
              <a:rPr lang="sl-SI" sz="1000" dirty="0">
                <a:solidFill>
                  <a:srgbClr val="000099"/>
                </a:solidFill>
                <a:latin typeface="Arial" pitchFamily="34" charset="0"/>
                <a:cs typeface="Arial" pitchFamily="34" charset="0"/>
              </a:rPr>
              <a:t>certificirano</a:t>
            </a:r>
            <a:r>
              <a:rPr lang="sl-SI" sz="1000" baseline="0" dirty="0">
                <a:solidFill>
                  <a:srgbClr val="000099"/>
                </a:solidFill>
                <a:latin typeface="Arial" pitchFamily="34" charset="0"/>
                <a:cs typeface="Arial" pitchFamily="34" charset="0"/>
              </a:rPr>
              <a:t> učno gradivo</a:t>
            </a:r>
            <a:endParaRPr lang="en-US" sz="1000" dirty="0">
              <a:solidFill>
                <a:srgbClr val="002060"/>
              </a:solidFill>
            </a:endParaRPr>
          </a:p>
        </p:txBody>
      </p:sp>
    </p:spTree>
  </p:cSld>
  <p:clrMap bg1="lt1" tx1="dk1" bg2="lt2" tx2="dk2" accent1="accent1" accent2="accent2" accent3="accent3" accent4="accent4" accent5="accent5" accent6="accent6" hlink="hlink" folHlink="folHlink"/>
  <p:sldLayoutIdLst>
    <p:sldLayoutId id="2147483906" r:id="rId1"/>
    <p:sldLayoutId id="2147483908" r:id="rId2"/>
    <p:sldLayoutId id="2147483909" r:id="rId3"/>
    <p:sldLayoutId id="2147483910" r:id="rId4"/>
    <p:sldLayoutId id="2147483917" r:id="rId5"/>
    <p:sldLayoutId id="2147483918" r:id="rId6"/>
    <p:sldLayoutId id="2147483919" r:id="rId7"/>
    <p:sldLayoutId id="2147483920" r:id="rId8"/>
  </p:sldLayoutIdLst>
  <p:hf sldNum="0" hdr="0" dt="0"/>
  <p:txStyles>
    <p:titleStyle>
      <a:lvl1pPr algn="ctr" rtl="0" eaLnBrk="0" fontAlgn="base" hangingPunct="0">
        <a:spcBef>
          <a:spcPct val="0"/>
        </a:spcBef>
        <a:spcAft>
          <a:spcPct val="0"/>
        </a:spcAft>
        <a:defRPr lang="nl-NL" sz="28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b="1">
          <a:solidFill>
            <a:schemeClr val="tx1"/>
          </a:solidFill>
          <a:latin typeface="Arial" charset="0"/>
          <a:cs typeface="Arial" charset="0"/>
        </a:defRPr>
      </a:lvl2pPr>
      <a:lvl3pPr algn="ctr" rtl="0" eaLnBrk="0" fontAlgn="base" hangingPunct="0">
        <a:spcBef>
          <a:spcPct val="0"/>
        </a:spcBef>
        <a:spcAft>
          <a:spcPct val="0"/>
        </a:spcAft>
        <a:defRPr sz="2800" b="1">
          <a:solidFill>
            <a:schemeClr val="tx1"/>
          </a:solidFill>
          <a:latin typeface="Arial" charset="0"/>
          <a:cs typeface="Arial" charset="0"/>
        </a:defRPr>
      </a:lvl3pPr>
      <a:lvl4pPr algn="ctr" rtl="0" eaLnBrk="0" fontAlgn="base" hangingPunct="0">
        <a:spcBef>
          <a:spcPct val="0"/>
        </a:spcBef>
        <a:spcAft>
          <a:spcPct val="0"/>
        </a:spcAft>
        <a:defRPr sz="2800" b="1">
          <a:solidFill>
            <a:schemeClr val="tx1"/>
          </a:solidFill>
          <a:latin typeface="Arial" charset="0"/>
          <a:cs typeface="Arial" charset="0"/>
        </a:defRPr>
      </a:lvl4pPr>
      <a:lvl5pPr algn="ctr" rtl="0" eaLnBrk="0" fontAlgn="base" hangingPunct="0">
        <a:spcBef>
          <a:spcPct val="0"/>
        </a:spcBef>
        <a:spcAft>
          <a:spcPct val="0"/>
        </a:spcAft>
        <a:defRPr sz="2800" b="1">
          <a:solidFill>
            <a:schemeClr val="tx1"/>
          </a:solidFill>
          <a:latin typeface="Arial" charset="0"/>
          <a:cs typeface="Arial" charset="0"/>
        </a:defRPr>
      </a:lvl5pPr>
      <a:lvl6pPr marL="457200" algn="ctr" rtl="0" fontAlgn="base">
        <a:spcBef>
          <a:spcPct val="0"/>
        </a:spcBef>
        <a:spcAft>
          <a:spcPct val="0"/>
        </a:spcAft>
        <a:defRPr sz="2800" b="1">
          <a:solidFill>
            <a:srgbClr val="FEF6D6"/>
          </a:solidFill>
          <a:latin typeface="Arial" charset="0"/>
          <a:cs typeface="Arial" charset="0"/>
        </a:defRPr>
      </a:lvl6pPr>
      <a:lvl7pPr marL="914400" algn="ctr" rtl="0" fontAlgn="base">
        <a:spcBef>
          <a:spcPct val="0"/>
        </a:spcBef>
        <a:spcAft>
          <a:spcPct val="0"/>
        </a:spcAft>
        <a:defRPr sz="2800" b="1">
          <a:solidFill>
            <a:srgbClr val="FEF6D6"/>
          </a:solidFill>
          <a:latin typeface="Arial" charset="0"/>
          <a:cs typeface="Arial" charset="0"/>
        </a:defRPr>
      </a:lvl7pPr>
      <a:lvl8pPr marL="1371600" algn="ctr" rtl="0" fontAlgn="base">
        <a:spcBef>
          <a:spcPct val="0"/>
        </a:spcBef>
        <a:spcAft>
          <a:spcPct val="0"/>
        </a:spcAft>
        <a:defRPr sz="2800" b="1">
          <a:solidFill>
            <a:srgbClr val="FEF6D6"/>
          </a:solidFill>
          <a:latin typeface="Arial" charset="0"/>
          <a:cs typeface="Arial" charset="0"/>
        </a:defRPr>
      </a:lvl8pPr>
      <a:lvl9pPr marL="1828800" algn="ctr" rtl="0" fontAlgn="base">
        <a:spcBef>
          <a:spcPct val="0"/>
        </a:spcBef>
        <a:spcAft>
          <a:spcPct val="0"/>
        </a:spcAft>
        <a:defRPr sz="2800" b="1">
          <a:solidFill>
            <a:srgbClr val="FEF6D6"/>
          </a:solidFill>
          <a:latin typeface="Arial" charset="0"/>
          <a:cs typeface="Arial" charset="0"/>
        </a:defRPr>
      </a:lvl9pPr>
    </p:titleStyle>
    <p:bodyStyle>
      <a:lvl1pPr marL="342900" indent="-342900" algn="l" rtl="0" eaLnBrk="0" fontAlgn="base" hangingPunct="0">
        <a:spcBef>
          <a:spcPct val="20000"/>
        </a:spcBef>
        <a:spcAft>
          <a:spcPct val="0"/>
        </a:spcAft>
        <a:buFont typeface="Arial" charset="0"/>
        <a:defRPr sz="2400" b="1" kern="1200">
          <a:solidFill>
            <a:schemeClr val="tx1"/>
          </a:solidFill>
          <a:latin typeface="Arial" pitchFamily="34" charset="0"/>
          <a:ea typeface="+mn-ea"/>
          <a:cs typeface="Arial" pitchFamily="34" charset="0"/>
        </a:defRPr>
      </a:lvl1pPr>
      <a:lvl2pPr marL="444500" indent="-265113" algn="l" rtl="0" eaLnBrk="0" fontAlgn="base" hangingPunct="0">
        <a:spcBef>
          <a:spcPct val="20000"/>
        </a:spcBef>
        <a:spcAft>
          <a:spcPct val="0"/>
        </a:spcAft>
        <a:buClr>
          <a:srgbClr val="0000FF"/>
        </a:buClr>
        <a:buSzPct val="120000"/>
        <a:buFont typeface="Arial" charset="0"/>
        <a:buChar char="•"/>
        <a:defRPr sz="1600" b="1" kern="1200">
          <a:solidFill>
            <a:schemeClr val="tx1"/>
          </a:solidFill>
          <a:latin typeface="Arial" pitchFamily="34" charset="0"/>
          <a:ea typeface="+mn-ea"/>
          <a:cs typeface="Arial" pitchFamily="34" charset="0"/>
        </a:defRPr>
      </a:lvl2pPr>
      <a:lvl3pPr marL="982663" indent="-265113" algn="l" rtl="0" eaLnBrk="0" fontAlgn="base" hangingPunct="0">
        <a:spcBef>
          <a:spcPct val="20000"/>
        </a:spcBef>
        <a:spcAft>
          <a:spcPct val="0"/>
        </a:spcAft>
        <a:buClr>
          <a:srgbClr val="0000FF"/>
        </a:buClr>
        <a:buSzPct val="120000"/>
        <a:buFont typeface="Arial" charset="0"/>
        <a:buChar char="•"/>
        <a:defRPr sz="1600" kern="1200">
          <a:solidFill>
            <a:schemeClr val="tx1"/>
          </a:solidFill>
          <a:latin typeface="Arial" pitchFamily="34" charset="0"/>
          <a:ea typeface="+mn-ea"/>
          <a:cs typeface="Arial" pitchFamily="34" charset="0"/>
        </a:defRPr>
      </a:lvl3pPr>
      <a:lvl4pPr marL="1520825" indent="-265113" algn="l" rtl="0" eaLnBrk="0" fontAlgn="base" hangingPunct="0">
        <a:spcBef>
          <a:spcPct val="20000"/>
        </a:spcBef>
        <a:spcAft>
          <a:spcPct val="0"/>
        </a:spcAft>
        <a:buClr>
          <a:srgbClr val="0000FF"/>
        </a:buClr>
        <a:buSzPct val="120000"/>
        <a:buFont typeface="Arial" charset="0"/>
        <a:buChar char="•"/>
        <a:defRPr sz="1400" kern="1200">
          <a:solidFill>
            <a:schemeClr val="tx1"/>
          </a:solidFill>
          <a:latin typeface="Arial" pitchFamily="34" charset="0"/>
          <a:ea typeface="+mn-ea"/>
          <a:cs typeface="Arial" pitchFamily="34" charset="0"/>
        </a:defRPr>
      </a:lvl4pPr>
      <a:lvl5pPr marL="2057400" indent="-263525" algn="l" rtl="0" eaLnBrk="0" fontAlgn="base" hangingPunct="0">
        <a:spcBef>
          <a:spcPct val="20000"/>
        </a:spcBef>
        <a:spcAft>
          <a:spcPct val="0"/>
        </a:spcAft>
        <a:buClr>
          <a:srgbClr val="0000FF"/>
        </a:buClr>
        <a:buSzPct val="120000"/>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tif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0.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12.wmf"/><Relationship Id="rId4" Type="http://schemas.openxmlformats.org/officeDocument/2006/relationships/diagramLayout" Target="../diagrams/layout1.xml"/><Relationship Id="rId9"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14.wmf"/><Relationship Id="rId5" Type="http://schemas.openxmlformats.org/officeDocument/2006/relationships/oleObject" Target="../embeddings/oleObject6.bin"/><Relationship Id="rId4" Type="http://schemas.openxmlformats.org/officeDocument/2006/relationships/image" Target="../media/image13.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16.wmf"/><Relationship Id="rId5" Type="http://schemas.openxmlformats.org/officeDocument/2006/relationships/oleObject" Target="../embeddings/oleObject8.bin"/><Relationship Id="rId4" Type="http://schemas.openxmlformats.org/officeDocument/2006/relationships/image" Target="../media/image15.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403350" y="1773238"/>
            <a:ext cx="7561263" cy="1470025"/>
          </a:xfrm>
        </p:spPr>
        <p:txBody>
          <a:bodyPr/>
          <a:lstStyle/>
          <a:p>
            <a:pPr marL="533400" indent="-533400"/>
            <a:r>
              <a:rPr lang="en-GB" dirty="0">
                <a:latin typeface="Arial" charset="0"/>
                <a:cs typeface="Arial" charset="0"/>
              </a:rPr>
              <a:t>4</a:t>
            </a:r>
            <a:r>
              <a:rPr lang="sl-SI" dirty="0">
                <a:latin typeface="Arial" charset="0"/>
                <a:cs typeface="Arial" charset="0"/>
              </a:rPr>
              <a:t>. enota</a:t>
            </a:r>
            <a:r>
              <a:rPr lang="en-GB" dirty="0">
                <a:latin typeface="Arial" charset="0"/>
                <a:cs typeface="Arial" charset="0"/>
              </a:rPr>
              <a:t>: </a:t>
            </a:r>
            <a:r>
              <a:rPr lang="en-GB" sz="2800" dirty="0" err="1">
                <a:latin typeface="Arial" charset="0"/>
              </a:rPr>
              <a:t>Merjenje</a:t>
            </a:r>
            <a:endParaRPr lang="en-GB" sz="2800" dirty="0">
              <a:latin typeface="Arial" charset="0"/>
              <a:cs typeface="Arial" charset="0"/>
            </a:endParaRPr>
          </a:p>
        </p:txBody>
      </p:sp>
      <p:sp>
        <p:nvSpPr>
          <p:cNvPr id="3075" name="Rectangle 3"/>
          <p:cNvSpPr>
            <a:spLocks noGrp="1" noChangeArrowheads="1"/>
          </p:cNvSpPr>
          <p:nvPr>
            <p:ph type="subTitle" idx="1"/>
          </p:nvPr>
        </p:nvSpPr>
        <p:spPr>
          <a:xfrm>
            <a:off x="1403350" y="3284538"/>
            <a:ext cx="7489825" cy="1752600"/>
          </a:xfrm>
        </p:spPr>
        <p:txBody>
          <a:bodyPr/>
          <a:lstStyle/>
          <a:p>
            <a:pPr marL="609600" indent="-609600"/>
            <a:r>
              <a:rPr lang="en-GB" b="0" dirty="0">
                <a:latin typeface="Arial" charset="0"/>
                <a:cs typeface="Arial" charset="0"/>
              </a:rPr>
              <a:t>1.</a:t>
            </a:r>
            <a:r>
              <a:rPr lang="en-GB" b="0" dirty="0">
                <a:latin typeface="Arial" charset="0"/>
              </a:rPr>
              <a:t> element</a:t>
            </a:r>
            <a:r>
              <a:rPr lang="en-GB" b="0" dirty="0">
                <a:latin typeface="Arial" charset="0"/>
                <a:cs typeface="Arial" charset="0"/>
              </a:rPr>
              <a:t>: </a:t>
            </a:r>
            <a:r>
              <a:rPr lang="en-GB" dirty="0" err="1">
                <a:latin typeface="Arial" charset="0"/>
              </a:rPr>
              <a:t>Meritve</a:t>
            </a:r>
            <a:endParaRPr lang="en-GB" dirty="0">
              <a:latin typeface="Arial" charset="0"/>
              <a:cs typeface="Arial" charset="0"/>
            </a:endParaRPr>
          </a:p>
          <a:p>
            <a:pPr marL="609600" indent="-609600"/>
            <a:endParaRPr lang="en-GB" dirty="0">
              <a:latin typeface="Arial" charset="0"/>
              <a:cs typeface="Arial" charset="0"/>
            </a:endParaRPr>
          </a:p>
          <a:p>
            <a:pPr marL="609600" indent="-609600"/>
            <a:r>
              <a:rPr lang="en-GB" b="0" dirty="0" err="1">
                <a:latin typeface="Arial" charset="0"/>
              </a:rPr>
              <a:t>Podkomponenta</a:t>
            </a:r>
            <a:r>
              <a:rPr lang="en-GB" b="0" dirty="0">
                <a:latin typeface="Arial" charset="0"/>
                <a:cs typeface="Arial" charset="0"/>
              </a:rPr>
              <a:t>: </a:t>
            </a:r>
            <a:r>
              <a:rPr lang="en-GB" dirty="0">
                <a:latin typeface="Arial" charset="0"/>
                <a:cs typeface="Arial" charset="0"/>
              </a:rPr>
              <a:t>Six Sigma</a:t>
            </a:r>
          </a:p>
          <a:p>
            <a:pPr marL="609600" indent="-609600"/>
            <a:endParaRPr lang="en-GB" dirty="0">
              <a:latin typeface="Arial" charset="0"/>
              <a:cs typeface="Arial" charset="0"/>
            </a:endParaRPr>
          </a:p>
        </p:txBody>
      </p:sp>
    </p:spTree>
    <p:extLst>
      <p:ext uri="{BB962C8B-B14F-4D97-AF65-F5344CB8AC3E}">
        <p14:creationId xmlns:p14="http://schemas.microsoft.com/office/powerpoint/2010/main" val="3165734798"/>
      </p:ext>
    </p:extLst>
  </p:cSld>
  <p:clrMapOvr>
    <a:masterClrMapping/>
  </p:clrMapOvr>
  <p:transition advTm="13166"/>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Auto Universe Ecosystem</a:t>
            </a:r>
            <a:endParaRPr lang="cs-CZ" dirty="0"/>
          </a:p>
        </p:txBody>
      </p:sp>
      <p:sp>
        <p:nvSpPr>
          <p:cNvPr id="3" name="Zástupný symbol pro obsah 2"/>
          <p:cNvSpPr>
            <a:spLocks noGrp="1"/>
          </p:cNvSpPr>
          <p:nvPr>
            <p:ph idx="1"/>
          </p:nvPr>
        </p:nvSpPr>
        <p:spPr>
          <a:xfrm>
            <a:off x="1907705" y="1341438"/>
            <a:ext cx="6733058" cy="5040312"/>
          </a:xfrm>
        </p:spPr>
        <p:txBody>
          <a:bodyPr/>
          <a:lstStyle/>
          <a:p>
            <a:r>
              <a:rPr lang="sl-SI" sz="2800" dirty="0"/>
              <a:t>Projekt </a:t>
            </a:r>
            <a:r>
              <a:rPr lang="nl-NL" sz="2800" dirty="0"/>
              <a:t>Auto Universe je združil gradivo za usposabljanje na univerzah in</a:t>
            </a:r>
            <a:r>
              <a:rPr lang="sl-SI" sz="2800" dirty="0"/>
              <a:t> v</a:t>
            </a:r>
            <a:r>
              <a:rPr lang="nl-NL" sz="2800" dirty="0"/>
              <a:t> industriji (september 2015 - september 2017)</a:t>
            </a:r>
          </a:p>
          <a:p>
            <a:r>
              <a:rPr lang="nl-NL" sz="1800" dirty="0"/>
              <a:t>Usposabljanje je priznano na ravni univerz z ECTS in </a:t>
            </a:r>
            <a:r>
              <a:rPr lang="sl-SI" sz="1800" dirty="0"/>
              <a:t>v </a:t>
            </a:r>
            <a:r>
              <a:rPr lang="nl-NL" sz="1800" dirty="0"/>
              <a:t>avtomobilsk</a:t>
            </a:r>
            <a:r>
              <a:rPr lang="sl-SI" sz="1800" dirty="0"/>
              <a:t>i</a:t>
            </a:r>
            <a:r>
              <a:rPr lang="nl-NL" sz="1800" dirty="0"/>
              <a:t> industrij</a:t>
            </a:r>
            <a:r>
              <a:rPr lang="sl-SI" sz="1800" dirty="0"/>
              <a:t>i</a:t>
            </a:r>
            <a:r>
              <a:rPr lang="nl-NL" sz="1800" dirty="0"/>
              <a:t>.</a:t>
            </a:r>
            <a:endParaRPr lang="sl-SI" sz="1800" dirty="0"/>
          </a:p>
          <a:p>
            <a:endParaRPr lang="sl-SI" sz="1800" dirty="0"/>
          </a:p>
          <a:p>
            <a:r>
              <a:rPr lang="sl-SI" sz="2800" dirty="0"/>
              <a:t>Zavezništvo </a:t>
            </a:r>
            <a:r>
              <a:rPr lang="sl-SI" sz="2800" dirty="0" err="1"/>
              <a:t>AQUA</a:t>
            </a:r>
            <a:r>
              <a:rPr lang="sl-SI" sz="2800" dirty="0"/>
              <a:t> je vzpostavilo zavezništvo za kakovost – </a:t>
            </a:r>
            <a:r>
              <a:rPr lang="sl-SI" sz="2800" dirty="0" err="1"/>
              <a:t>LLP</a:t>
            </a:r>
            <a:r>
              <a:rPr lang="sl-SI" sz="2800" dirty="0"/>
              <a:t> projekt EAC-2012-0635 - 2013 – 2014.</a:t>
            </a:r>
          </a:p>
        </p:txBody>
      </p:sp>
      <p:pic>
        <p:nvPicPr>
          <p:cNvPr id="6" name="Picture 2" descr="\\192.168.0.251\volumef\dev_projects_2007\pj2013-002-aqua\wp20000\aqualogo.jpg"/>
          <p:cNvPicPr>
            <a:picLocks noChangeAspect="1" noChangeArrowheads="1"/>
          </p:cNvPicPr>
          <p:nvPr/>
        </p:nvPicPr>
        <p:blipFill>
          <a:blip r:embed="rId3" cstate="print"/>
          <a:srcRect/>
          <a:stretch>
            <a:fillRect/>
          </a:stretch>
        </p:blipFill>
        <p:spPr bwMode="auto">
          <a:xfrm>
            <a:off x="134142" y="4293096"/>
            <a:ext cx="1773563" cy="1771488"/>
          </a:xfrm>
          <a:prstGeom prst="rect">
            <a:avLst/>
          </a:prstGeom>
          <a:noFill/>
        </p:spPr>
      </p:pic>
      <p:pic>
        <p:nvPicPr>
          <p:cNvPr id="7" name="Obrázek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4859" y="1484784"/>
            <a:ext cx="1152128" cy="1546251"/>
          </a:xfrm>
          <a:prstGeom prst="rect">
            <a:avLst/>
          </a:prstGeom>
        </p:spPr>
      </p:pic>
    </p:spTree>
    <p:extLst>
      <p:ext uri="{BB962C8B-B14F-4D97-AF65-F5344CB8AC3E}">
        <p14:creationId xmlns:p14="http://schemas.microsoft.com/office/powerpoint/2010/main" val="1845413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sl-SI" dirty="0"/>
              <a:t>Učni cilji</a:t>
            </a:r>
            <a:endParaRPr lang="de-AT" dirty="0"/>
          </a:p>
        </p:txBody>
      </p:sp>
      <p:sp>
        <p:nvSpPr>
          <p:cNvPr id="3" name="Inhaltsplatzhalter 2"/>
          <p:cNvSpPr>
            <a:spLocks noGrp="1"/>
          </p:cNvSpPr>
          <p:nvPr>
            <p:ph idx="1"/>
          </p:nvPr>
        </p:nvSpPr>
        <p:spPr>
          <a:xfrm>
            <a:off x="720724" y="1341438"/>
            <a:ext cx="8243764" cy="5183906"/>
          </a:xfrm>
        </p:spPr>
        <p:txBody>
          <a:bodyPr/>
          <a:lstStyle/>
          <a:p>
            <a:r>
              <a:rPr lang="en-US" dirty="0"/>
              <a:t>AQUA.U4.E1 </a:t>
            </a:r>
            <a:r>
              <a:rPr lang="en-GB" dirty="0" err="1">
                <a:latin typeface="Arial" charset="0"/>
              </a:rPr>
              <a:t>Meritve</a:t>
            </a:r>
            <a:r>
              <a:rPr lang="en-US" dirty="0"/>
              <a:t>	</a:t>
            </a:r>
          </a:p>
          <a:p>
            <a:endParaRPr lang="en-US" dirty="0"/>
          </a:p>
          <a:p>
            <a:pPr indent="0">
              <a:spcBef>
                <a:spcPts val="0"/>
              </a:spcBef>
            </a:pPr>
            <a:r>
              <a:rPr lang="en-US" dirty="0"/>
              <a:t>T</a:t>
            </a:r>
            <a:r>
              <a:rPr lang="sl-SI" dirty="0"/>
              <a:t>a </a:t>
            </a:r>
            <a:r>
              <a:rPr lang="en-US" dirty="0"/>
              <a:t>element </a:t>
            </a:r>
            <a:r>
              <a:rPr lang="sl-SI" dirty="0"/>
              <a:t>vsebuje učne cilje</a:t>
            </a:r>
            <a:r>
              <a:rPr lang="en-US" dirty="0"/>
              <a:t>. </a:t>
            </a:r>
            <a:r>
              <a:rPr lang="sl-SI" dirty="0"/>
              <a:t>Ta predstavitev naslavlja kriterij zmogljivosti v povezavi s</a:t>
            </a:r>
            <a:r>
              <a:rPr lang="en-US" dirty="0"/>
              <a:t> Six Sigma. </a:t>
            </a:r>
          </a:p>
          <a:p>
            <a:pPr indent="0">
              <a:spcBef>
                <a:spcPts val="0"/>
              </a:spcBef>
            </a:pPr>
            <a:endParaRPr lang="en-US" sz="1600" dirty="0"/>
          </a:p>
          <a:p>
            <a:pPr indent="0">
              <a:spcBef>
                <a:spcPts val="0"/>
              </a:spcBef>
            </a:pPr>
            <a:r>
              <a:rPr lang="en-US" dirty="0"/>
              <a:t>AQUA.U4.E1.PC4 </a:t>
            </a:r>
            <a:r>
              <a:rPr lang="sl-SI" dirty="0"/>
              <a:t>Izračun metrik zmogljivosti procesa, kot so delov na </a:t>
            </a:r>
            <a:r>
              <a:rPr lang="en-US" dirty="0"/>
              <a:t>mil</a:t>
            </a:r>
            <a:r>
              <a:rPr lang="sl-SI" dirty="0" err="1"/>
              <a:t>ij</a:t>
            </a:r>
            <a:r>
              <a:rPr lang="en-US" dirty="0"/>
              <a:t>on (PPM), </a:t>
            </a:r>
            <a:r>
              <a:rPr lang="sl-SI" dirty="0"/>
              <a:t>okvar na </a:t>
            </a:r>
            <a:r>
              <a:rPr lang="en-US" dirty="0"/>
              <a:t>mil</a:t>
            </a:r>
            <a:r>
              <a:rPr lang="sl-SI" dirty="0" err="1"/>
              <a:t>ij</a:t>
            </a:r>
            <a:r>
              <a:rPr lang="en-US" dirty="0"/>
              <a:t>on </a:t>
            </a:r>
            <a:r>
              <a:rPr lang="sl-SI" dirty="0"/>
              <a:t>priložnosti </a:t>
            </a:r>
            <a:r>
              <a:rPr lang="en-US" dirty="0"/>
              <a:t>(DPMO), </a:t>
            </a:r>
            <a:r>
              <a:rPr lang="sl-SI" dirty="0"/>
              <a:t>okvar na enoto</a:t>
            </a:r>
            <a:r>
              <a:rPr lang="en-US" dirty="0"/>
              <a:t> (DPU), </a:t>
            </a:r>
            <a:r>
              <a:rPr lang="sl-SI" dirty="0"/>
              <a:t>izkoristek </a:t>
            </a:r>
            <a:r>
              <a:rPr lang="en-US" dirty="0" err="1"/>
              <a:t>proces</a:t>
            </a:r>
            <a:r>
              <a:rPr lang="sl-SI" dirty="0"/>
              <a:t>a</a:t>
            </a:r>
            <a:r>
              <a:rPr lang="en-US" dirty="0"/>
              <a:t> </a:t>
            </a:r>
            <a:r>
              <a:rPr lang="sl-SI" dirty="0"/>
              <a:t>in izkoristek v prvem poskusu (</a:t>
            </a:r>
            <a:r>
              <a:rPr lang="en-US" dirty="0"/>
              <a:t> First Time Right yield</a:t>
            </a:r>
            <a:r>
              <a:rPr lang="sl-SI" dirty="0"/>
              <a:t>)</a:t>
            </a:r>
            <a:r>
              <a:rPr lang="en-US" dirty="0"/>
              <a:t>. </a:t>
            </a:r>
            <a:r>
              <a:rPr lang="sl-SI" dirty="0"/>
              <a:t>Razumevanje različnih faktorjev, ki vplivajo na merjenje variabilnosti sistema (</a:t>
            </a:r>
            <a:r>
              <a:rPr lang="sl-SI" dirty="0" err="1"/>
              <a:t>MSA</a:t>
            </a:r>
            <a:r>
              <a:rPr lang="sl-SI" dirty="0"/>
              <a:t> -</a:t>
            </a:r>
            <a:r>
              <a:rPr lang="en-US" dirty="0"/>
              <a:t> Measurement System Variation</a:t>
            </a:r>
            <a:r>
              <a:rPr lang="sl-SI" dirty="0"/>
              <a:t>): natančnost </a:t>
            </a:r>
            <a:r>
              <a:rPr lang="en-US" dirty="0"/>
              <a:t>(</a:t>
            </a:r>
            <a:r>
              <a:rPr lang="sl-SI" dirty="0"/>
              <a:t>pristranskost</a:t>
            </a:r>
            <a:r>
              <a:rPr lang="en-US" dirty="0"/>
              <a:t>), </a:t>
            </a:r>
            <a:r>
              <a:rPr lang="sl-SI" dirty="0"/>
              <a:t>preciznost </a:t>
            </a:r>
            <a:r>
              <a:rPr lang="en-US" dirty="0"/>
              <a:t>(</a:t>
            </a:r>
            <a:r>
              <a:rPr lang="sl-SI" dirty="0"/>
              <a:t>ponovljivost </a:t>
            </a:r>
            <a:r>
              <a:rPr lang="en-US" dirty="0"/>
              <a:t>and </a:t>
            </a:r>
            <a:r>
              <a:rPr lang="sl-SI" dirty="0" err="1"/>
              <a:t>reproduktivnost</a:t>
            </a:r>
            <a:r>
              <a:rPr lang="en-US" dirty="0"/>
              <a:t>) </a:t>
            </a:r>
            <a:r>
              <a:rPr lang="sl-SI" dirty="0"/>
              <a:t>in stabilnost</a:t>
            </a:r>
            <a:r>
              <a:rPr lang="en-US" dirty="0"/>
              <a:t>.</a:t>
            </a:r>
          </a:p>
        </p:txBody>
      </p:sp>
    </p:spTree>
    <p:extLst>
      <p:ext uri="{BB962C8B-B14F-4D97-AF65-F5344CB8AC3E}">
        <p14:creationId xmlns:p14="http://schemas.microsoft.com/office/powerpoint/2010/main" val="801344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dirty="0"/>
              <a:t>Merila zmogljivosti procesa</a:t>
            </a:r>
            <a:endParaRPr lang="sl-SI" sz="2400" dirty="0"/>
          </a:p>
        </p:txBody>
      </p:sp>
      <p:sp>
        <p:nvSpPr>
          <p:cNvPr id="9219" name="Rectangle 3"/>
          <p:cNvSpPr>
            <a:spLocks noGrp="1" noChangeArrowheads="1"/>
          </p:cNvSpPr>
          <p:nvPr>
            <p:ph idx="1"/>
          </p:nvPr>
        </p:nvSpPr>
        <p:spPr/>
        <p:txBody>
          <a:bodyPr/>
          <a:lstStyle/>
          <a:p>
            <a:pPr marL="0" indent="0" eaLnBrk="1" hangingPunct="1"/>
            <a:r>
              <a:rPr dirty="0"/>
              <a:t>Pomen meril</a:t>
            </a:r>
            <a:endParaRPr lang="sl-SI" dirty="0"/>
          </a:p>
          <a:p>
            <a:pPr lvl="1" eaLnBrk="1" hangingPunct="1"/>
            <a:endParaRPr lang="sl-SI" dirty="0"/>
          </a:p>
          <a:p>
            <a:pPr lvl="1" eaLnBrk="1" hangingPunct="1"/>
            <a:r>
              <a:rPr lang="en-US" sz="1600" dirty="0"/>
              <a:t>Dve pomembni vodstveni nalogi: </a:t>
            </a:r>
            <a:r>
              <a:rPr lang="en-US" sz="1600" dirty="0">
                <a:solidFill>
                  <a:srgbClr val="CB0F01"/>
                </a:solidFill>
              </a:rPr>
              <a:t>vzdrževanje</a:t>
            </a:r>
            <a:r>
              <a:rPr lang="en-US" sz="1600" dirty="0"/>
              <a:t> in </a:t>
            </a:r>
            <a:r>
              <a:rPr lang="en-US" sz="1600" dirty="0">
                <a:solidFill>
                  <a:srgbClr val="CB0F01"/>
                </a:solidFill>
              </a:rPr>
              <a:t>izboljševanje</a:t>
            </a:r>
            <a:endParaRPr lang="sl-SI" sz="1600" dirty="0">
              <a:solidFill>
                <a:srgbClr val="C80F00"/>
              </a:solidFill>
            </a:endParaRPr>
          </a:p>
          <a:p>
            <a:pPr lvl="1" eaLnBrk="1" hangingPunct="1"/>
            <a:endParaRPr lang="sl-SI" sz="1600" dirty="0"/>
          </a:p>
          <a:p>
            <a:pPr lvl="1" eaLnBrk="1" hangingPunct="1"/>
            <a:r>
              <a:rPr lang="en-US" sz="1600" dirty="0"/>
              <a:t>Zmogljivost mora </a:t>
            </a:r>
            <a:r>
              <a:rPr lang="en-US" sz="1600"/>
              <a:t>postati merljiva,</a:t>
            </a:r>
            <a:r>
              <a:rPr lang="sl-SI" sz="1600"/>
              <a:t> </a:t>
            </a:r>
            <a:r>
              <a:rPr lang="en-US" sz="1600"/>
              <a:t>da </a:t>
            </a:r>
            <a:r>
              <a:rPr lang="en-US" sz="1600" dirty="0"/>
              <a:t>se lahko borimo </a:t>
            </a:r>
            <a:r>
              <a:rPr lang="en-US" sz="1600"/>
              <a:t>proti </a:t>
            </a:r>
            <a:r>
              <a:rPr lang="sl-SI" sz="1600"/>
              <a:t>njenemu </a:t>
            </a:r>
            <a:r>
              <a:rPr lang="en-US" sz="1600"/>
              <a:t>zmanjševanj</a:t>
            </a:r>
            <a:r>
              <a:rPr lang="sl-SI" sz="1600"/>
              <a:t>u</a:t>
            </a:r>
            <a:endParaRPr lang="sl-SI" sz="1600" dirty="0"/>
          </a:p>
          <a:p>
            <a:pPr lvl="1" eaLnBrk="1" hangingPunct="1"/>
            <a:endParaRPr lang="sl-SI" sz="1600" dirty="0"/>
          </a:p>
          <a:p>
            <a:pPr lvl="1" eaLnBrk="1" hangingPunct="1"/>
            <a:r>
              <a:rPr lang="en-US" sz="1600" dirty="0"/>
              <a:t>Zmogljivost mora postati merljiva, da lahko razkrijemo rezultate izboljšav</a:t>
            </a:r>
            <a:endParaRPr lang="sl-SI" sz="1600" dirty="0"/>
          </a:p>
          <a:p>
            <a:pPr lvl="1" eaLnBrk="1" hangingPunct="1"/>
            <a:endParaRPr lang="sl-SI" dirty="0"/>
          </a:p>
        </p:txBody>
      </p:sp>
    </p:spTree>
    <p:extLst>
      <p:ext uri="{BB962C8B-B14F-4D97-AF65-F5344CB8AC3E}">
        <p14:creationId xmlns:p14="http://schemas.microsoft.com/office/powerpoint/2010/main" val="1683965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dirty="0"/>
              <a:t>Metrike zmogljivosti procesov</a:t>
            </a:r>
            <a:endParaRPr lang="sl-SI" sz="2400"/>
          </a:p>
        </p:txBody>
      </p:sp>
      <p:sp>
        <p:nvSpPr>
          <p:cNvPr id="10243" name="Rectangle 3"/>
          <p:cNvSpPr>
            <a:spLocks noGrp="1" noChangeArrowheads="1"/>
          </p:cNvSpPr>
          <p:nvPr>
            <p:ph idx="1"/>
          </p:nvPr>
        </p:nvSpPr>
        <p:spPr/>
        <p:txBody>
          <a:bodyPr/>
          <a:lstStyle/>
          <a:p>
            <a:pPr marL="0" indent="0" eaLnBrk="1" hangingPunct="1"/>
            <a:r>
              <a:rPr dirty="0"/>
              <a:t>Metrike Lean Six Sigma</a:t>
            </a:r>
          </a:p>
          <a:p>
            <a:pPr lvl="1" eaLnBrk="1" hangingPunct="1"/>
            <a:endParaRPr lang="sl-SI" dirty="0"/>
          </a:p>
          <a:p>
            <a:pPr lvl="1" eaLnBrk="1" hangingPunct="1"/>
            <a:r>
              <a:rPr lang="en-GB" sz="1600" dirty="0"/>
              <a:t>Metrika = kazalnik zmogljivosti</a:t>
            </a:r>
          </a:p>
          <a:p>
            <a:pPr lvl="1" eaLnBrk="1" hangingPunct="1"/>
            <a:endParaRPr lang="sl-SI" sz="1600" dirty="0"/>
          </a:p>
          <a:p>
            <a:pPr lvl="1" eaLnBrk="1" hangingPunct="1"/>
            <a:r>
              <a:rPr lang="en-GB" sz="1600" dirty="0"/>
              <a:t>Lean in Six Sigma imata vsak svoje kazalnike zmogljivosti,</a:t>
            </a:r>
            <a:br/>
            <a:r>
              <a:rPr lang="en-GB" sz="1600" dirty="0"/>
              <a:t>ki pokrivajo </a:t>
            </a:r>
            <a:r>
              <a:rPr lang="en-GB" sz="1600"/>
              <a:t>različne </a:t>
            </a:r>
            <a:r>
              <a:rPr lang="sl-SI" sz="1600"/>
              <a:t>vidike</a:t>
            </a:r>
            <a:endParaRPr lang="en-GB" sz="1600" dirty="0"/>
          </a:p>
          <a:p>
            <a:pPr lvl="1" eaLnBrk="1" hangingPunct="1"/>
            <a:endParaRPr lang="sl-SI" sz="1600" dirty="0"/>
          </a:p>
          <a:p>
            <a:pPr lvl="1" eaLnBrk="1" hangingPunct="1"/>
            <a:endParaRPr lang="sl-SI" sz="1600" dirty="0"/>
          </a:p>
          <a:p>
            <a:pPr lvl="1" eaLnBrk="1" hangingPunct="1">
              <a:buFontTx/>
              <a:buNone/>
            </a:pPr>
            <a:r>
              <a:rPr lang="en-GB" sz="1600" dirty="0"/>
              <a:t>Težišče</a:t>
            </a:r>
          </a:p>
          <a:p>
            <a:pPr lvl="1" eaLnBrk="1" hangingPunct="1"/>
            <a:r>
              <a:rPr lang="en-GB" sz="1600" dirty="0"/>
              <a:t>Metrike Six Sigma se osredotočajo na kakovost in sposobnost</a:t>
            </a:r>
          </a:p>
          <a:p>
            <a:pPr lvl="2" eaLnBrk="1" hangingPunct="1"/>
            <a:r>
              <a:rPr dirty="0"/>
              <a:t>Npr. DpU, PPM, DPMO, izkoristek</a:t>
            </a:r>
          </a:p>
          <a:p>
            <a:pPr lvl="1" eaLnBrk="1" hangingPunct="1"/>
            <a:endParaRPr lang="sl-SI" dirty="0"/>
          </a:p>
          <a:p>
            <a:pPr lvl="1" eaLnBrk="1" hangingPunct="1"/>
            <a:endParaRPr lang="sl-SI" dirty="0"/>
          </a:p>
        </p:txBody>
      </p:sp>
    </p:spTree>
    <p:extLst>
      <p:ext uri="{BB962C8B-B14F-4D97-AF65-F5344CB8AC3E}">
        <p14:creationId xmlns:p14="http://schemas.microsoft.com/office/powerpoint/2010/main" val="182065960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dirty="0"/>
              <a:t>Metrike zmogljivosti procesov</a:t>
            </a:r>
            <a:endParaRPr lang="sl-SI" sz="2400" dirty="0"/>
          </a:p>
        </p:txBody>
      </p:sp>
      <p:sp>
        <p:nvSpPr>
          <p:cNvPr id="1028" name="Rectangle 3"/>
          <p:cNvSpPr>
            <a:spLocks noGrp="1" noChangeArrowheads="1"/>
          </p:cNvSpPr>
          <p:nvPr>
            <p:ph idx="1"/>
          </p:nvPr>
        </p:nvSpPr>
        <p:spPr/>
        <p:txBody>
          <a:bodyPr/>
          <a:lstStyle/>
          <a:p>
            <a:pPr marL="0" indent="0" eaLnBrk="1" hangingPunct="1"/>
            <a:r>
              <a:rPr lang="en-GB" dirty="0">
                <a:solidFill>
                  <a:srgbClr val="C00000"/>
                </a:solidFill>
              </a:rPr>
              <a:t>D</a:t>
            </a:r>
            <a:r>
              <a:rPr dirty="0"/>
              <a:t>efects </a:t>
            </a:r>
            <a:r>
              <a:rPr lang="en-GB" dirty="0">
                <a:solidFill>
                  <a:srgbClr val="C00000"/>
                </a:solidFill>
              </a:rPr>
              <a:t>p</a:t>
            </a:r>
            <a:r>
              <a:rPr dirty="0"/>
              <a:t>er </a:t>
            </a:r>
            <a:r>
              <a:rPr lang="en-GB" dirty="0">
                <a:solidFill>
                  <a:srgbClr val="C00000"/>
                </a:solidFill>
              </a:rPr>
              <a:t>U</a:t>
            </a:r>
            <a:r>
              <a:rPr dirty="0"/>
              <a:t>nit – število napak na enoto</a:t>
            </a:r>
          </a:p>
          <a:p>
            <a:pPr marL="0" indent="0" eaLnBrk="1" hangingPunct="1"/>
            <a:endParaRPr lang="sl-SI" sz="1600" dirty="0"/>
          </a:p>
          <a:p>
            <a:pPr lvl="1" eaLnBrk="1" hangingPunct="1"/>
            <a:r>
              <a:rPr lang="en-GB" sz="1600" dirty="0"/>
              <a:t>DPU je število napak na enoto</a:t>
            </a:r>
          </a:p>
          <a:p>
            <a:pPr lvl="1" eaLnBrk="1" hangingPunct="1"/>
            <a:r>
              <a:rPr lang="en-GB" sz="1600" dirty="0"/>
              <a:t>Vrednost DPU je lahko večja od 1, saj </a:t>
            </a:r>
            <a:r>
              <a:rPr lang="en-GB" sz="1600"/>
              <a:t>ima l</a:t>
            </a:r>
            <a:r>
              <a:rPr lang="sl-SI" sz="1600"/>
              <a:t>a</a:t>
            </a:r>
            <a:r>
              <a:rPr lang="en-GB" sz="1600"/>
              <a:t>hko </a:t>
            </a:r>
            <a:r>
              <a:rPr lang="sl-SI" sz="1600"/>
              <a:t>ena </a:t>
            </a:r>
            <a:r>
              <a:rPr lang="en-GB" sz="1600"/>
              <a:t>enota </a:t>
            </a:r>
            <a:r>
              <a:rPr lang="sl-SI" sz="1600"/>
              <a:t>tudi </a:t>
            </a:r>
            <a:r>
              <a:rPr lang="en-GB" sz="1600"/>
              <a:t>več </a:t>
            </a:r>
            <a:r>
              <a:rPr lang="en-GB" sz="1600" dirty="0"/>
              <a:t>napak</a:t>
            </a:r>
          </a:p>
          <a:p>
            <a:pPr lvl="1" eaLnBrk="1" hangingPunct="1">
              <a:buFont typeface="Arial" pitchFamily="34" charset="0"/>
              <a:buNone/>
            </a:pPr>
            <a:r>
              <a:rPr lang="en-US" dirty="0"/>
              <a:t>	</a:t>
            </a:r>
            <a:r>
              <a:rPr lang="en-GB" sz="1600" b="0" dirty="0"/>
              <a:t>Na primer: motorni pokrov je lahko vdrt in/ali opraskan</a:t>
            </a:r>
          </a:p>
          <a:p>
            <a:pPr lvl="1" eaLnBrk="1" hangingPunct="1">
              <a:buFontTx/>
              <a:buNone/>
            </a:pPr>
            <a:endParaRPr lang="sl-SI" sz="1600" b="0" dirty="0"/>
          </a:p>
          <a:p>
            <a:pPr marL="0" indent="0" eaLnBrk="1" hangingPunct="1"/>
            <a:r>
              <a:rPr lang="en-GB" sz="1600" dirty="0"/>
              <a:t>Primer:</a:t>
            </a:r>
          </a:p>
          <a:p>
            <a:pPr lvl="1" eaLnBrk="1" hangingPunct="1"/>
            <a:r>
              <a:rPr lang="en-GB" sz="1600" dirty="0"/>
              <a:t>Število enot</a:t>
            </a:r>
            <a:r>
              <a:rPr lang="en-US" sz="1600" dirty="0"/>
              <a:t>	</a:t>
            </a:r>
            <a:r>
              <a:rPr lang="en-GB" sz="1600" dirty="0"/>
              <a:t>=</a:t>
            </a:r>
            <a:r>
              <a:rPr lang="en-US" sz="1600" dirty="0"/>
              <a:t>	</a:t>
            </a:r>
            <a:r>
              <a:rPr lang="en-GB" sz="1600" dirty="0"/>
              <a:t>30</a:t>
            </a:r>
            <a:r>
              <a:rPr lang="en-US" sz="1600" dirty="0"/>
              <a:t>	</a:t>
            </a:r>
            <a:r>
              <a:rPr lang="en-GB" sz="1600" dirty="0"/>
              <a:t>število pregledanih pokrovov</a:t>
            </a:r>
          </a:p>
          <a:p>
            <a:pPr lvl="1" eaLnBrk="1" hangingPunct="1"/>
            <a:r>
              <a:rPr lang="en-GB" sz="1600" dirty="0"/>
              <a:t>Število napak</a:t>
            </a:r>
            <a:r>
              <a:rPr lang="en-US" sz="1600" dirty="0"/>
              <a:t>	</a:t>
            </a:r>
            <a:r>
              <a:rPr lang="en-GB" sz="1600" dirty="0"/>
              <a:t>=</a:t>
            </a:r>
            <a:r>
              <a:rPr lang="en-US" sz="1600" dirty="0"/>
              <a:t>	</a:t>
            </a:r>
            <a:r>
              <a:rPr lang="en-GB" sz="1600" dirty="0"/>
              <a:t>53</a:t>
            </a:r>
            <a:r>
              <a:rPr lang="en-US" sz="1600" dirty="0"/>
              <a:t>	</a:t>
            </a:r>
            <a:r>
              <a:rPr lang="en-GB" sz="1600" dirty="0"/>
              <a:t>število vdrtin </a:t>
            </a:r>
            <a:r>
              <a:rPr lang="en-GB" sz="1600"/>
              <a:t>+ število</a:t>
            </a:r>
            <a:r>
              <a:rPr lang="sl-SI" sz="1600"/>
              <a:t> prask</a:t>
            </a:r>
            <a:endParaRPr lang="en-GB" sz="1600" dirty="0"/>
          </a:p>
          <a:p>
            <a:pPr lvl="1" eaLnBrk="1" hangingPunct="1">
              <a:buFont typeface="Arial" pitchFamily="34" charset="0"/>
              <a:buNone/>
            </a:pPr>
            <a:r>
              <a:rPr lang="en-US" dirty="0"/>
              <a:t>				</a:t>
            </a:r>
          </a:p>
          <a:p>
            <a:pPr lvl="1" eaLnBrk="1" hangingPunct="1"/>
            <a:endParaRPr lang="sl-SI" sz="1600" dirty="0"/>
          </a:p>
          <a:p>
            <a:pPr lvl="1" eaLnBrk="1" hangingPunct="1"/>
            <a:endParaRPr lang="sl-SI" sz="1600" dirty="0"/>
          </a:p>
          <a:p>
            <a:pPr lvl="1" eaLnBrk="1" hangingPunct="1"/>
            <a:endParaRPr lang="sl-SI" sz="1600" dirty="0"/>
          </a:p>
          <a:p>
            <a:pPr lvl="1" eaLnBrk="1" hangingPunct="1"/>
            <a:endParaRPr lang="sl-SI" sz="1600" dirty="0"/>
          </a:p>
          <a:p>
            <a:pPr lvl="1" algn="ctr" eaLnBrk="1" hangingPunct="1">
              <a:buFontTx/>
              <a:buNone/>
            </a:pPr>
            <a:r>
              <a:rPr lang="en-GB" sz="1600" dirty="0"/>
              <a:t>Na motorni pokrov imamo torej povprečno 1,77 napake</a:t>
            </a:r>
            <a:endParaRPr lang="sl-SI" sz="1600" b="0" dirty="0"/>
          </a:p>
        </p:txBody>
      </p:sp>
      <p:graphicFrame>
        <p:nvGraphicFramePr>
          <p:cNvPr id="184324" name="Object 4"/>
          <p:cNvGraphicFramePr>
            <a:graphicFrameLocks noChangeAspect="1"/>
          </p:cNvGraphicFramePr>
          <p:nvPr/>
        </p:nvGraphicFramePr>
        <p:xfrm>
          <a:off x="2916238" y="5157788"/>
          <a:ext cx="3076575" cy="588962"/>
        </p:xfrm>
        <a:graphic>
          <a:graphicData uri="http://schemas.openxmlformats.org/presentationml/2006/ole">
            <mc:AlternateContent xmlns:mc="http://schemas.openxmlformats.org/markup-compatibility/2006">
              <mc:Choice xmlns:v="urn:schemas-microsoft-com:vml" Requires="v">
                <p:oleObj name="Equation" r:id="rId3" imgW="2057400" imgH="393480" progId="Equation.3">
                  <p:embed/>
                </p:oleObj>
              </mc:Choice>
              <mc:Fallback>
                <p:oleObj name="Equation" r:id="rId3" imgW="2057400" imgH="393480" progId="Equation.3">
                  <p:embed/>
                  <p:pic>
                    <p:nvPicPr>
                      <p:cNvPr id="0" name=""/>
                      <p:cNvPicPr>
                        <a:picLocks noChangeAspect="1" noChangeArrowheads="1"/>
                      </p:cNvPicPr>
                      <p:nvPr/>
                    </p:nvPicPr>
                    <p:blipFill>
                      <a:blip r:embed="rId4"/>
                      <a:srcRect/>
                      <a:stretch>
                        <a:fillRect/>
                      </a:stretch>
                    </p:blipFill>
                    <p:spPr bwMode="auto">
                      <a:xfrm>
                        <a:off x="2916238" y="5157788"/>
                        <a:ext cx="3076575" cy="588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74032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324"/>
                                        </p:tgtEl>
                                        <p:attrNameLst>
                                          <p:attrName>style.visibility</p:attrName>
                                        </p:attrNameLst>
                                      </p:cBhvr>
                                      <p:to>
                                        <p:strVal val="visible"/>
                                      </p:to>
                                    </p:set>
                                    <p:anim calcmode="lin" valueType="num">
                                      <p:cBhvr additive="base">
                                        <p:cTn id="7" dur="500" fill="hold"/>
                                        <p:tgtEl>
                                          <p:spTgt spid="184324"/>
                                        </p:tgtEl>
                                        <p:attrNameLst>
                                          <p:attrName>ppt_x</p:attrName>
                                        </p:attrNameLst>
                                      </p:cBhvr>
                                      <p:tavLst>
                                        <p:tav tm="0">
                                          <p:val>
                                            <p:strVal val="#ppt_x"/>
                                          </p:val>
                                        </p:tav>
                                        <p:tav tm="100000">
                                          <p:val>
                                            <p:strVal val="#ppt_x"/>
                                          </p:val>
                                        </p:tav>
                                      </p:tavLst>
                                    </p:anim>
                                    <p:anim calcmode="lin" valueType="num">
                                      <p:cBhvr additive="base">
                                        <p:cTn id="8" dur="500" fill="hold"/>
                                        <p:tgtEl>
                                          <p:spTgt spid="18432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28">
                                            <p:txEl>
                                              <p:pRg st="14" end="14"/>
                                            </p:txEl>
                                          </p:spTgt>
                                        </p:tgtEl>
                                        <p:attrNameLst>
                                          <p:attrName>style.visibility</p:attrName>
                                        </p:attrNameLst>
                                      </p:cBhvr>
                                      <p:to>
                                        <p:strVal val="visible"/>
                                      </p:to>
                                    </p:set>
                                    <p:anim calcmode="lin" valueType="num">
                                      <p:cBhvr additive="base">
                                        <p:cTn id="13" dur="500" fill="hold"/>
                                        <p:tgtEl>
                                          <p:spTgt spid="1028">
                                            <p:txEl>
                                              <p:pRg st="14" end="1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8">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dirty="0"/>
              <a:t>Metrike zmogljivosti procesov</a:t>
            </a:r>
            <a:endParaRPr lang="sl-SI" dirty="0"/>
          </a:p>
        </p:txBody>
      </p:sp>
      <p:sp>
        <p:nvSpPr>
          <p:cNvPr id="3" name="Tijdelijke aanduiding voor inhoud 2"/>
          <p:cNvSpPr>
            <a:spLocks noGrp="1"/>
          </p:cNvSpPr>
          <p:nvPr>
            <p:ph idx="1"/>
          </p:nvPr>
        </p:nvSpPr>
        <p:spPr/>
        <p:txBody>
          <a:bodyPr/>
          <a:lstStyle/>
          <a:p>
            <a:r>
              <a:rPr lang="en-GB" dirty="0">
                <a:solidFill>
                  <a:srgbClr val="C00000"/>
                </a:solidFill>
              </a:rPr>
              <a:t>P</a:t>
            </a:r>
            <a:r>
              <a:rPr dirty="0"/>
              <a:t>arts </a:t>
            </a:r>
            <a:r>
              <a:rPr lang="en-GB" dirty="0">
                <a:solidFill>
                  <a:srgbClr val="C00000"/>
                </a:solidFill>
              </a:rPr>
              <a:t>p</a:t>
            </a:r>
            <a:r>
              <a:rPr dirty="0"/>
              <a:t>er </a:t>
            </a:r>
            <a:r>
              <a:rPr lang="en-GB" dirty="0">
                <a:solidFill>
                  <a:srgbClr val="C00000"/>
                </a:solidFill>
              </a:rPr>
              <a:t>M</a:t>
            </a:r>
            <a:r>
              <a:rPr dirty="0"/>
              <a:t>illion – </a:t>
            </a:r>
            <a:r>
              <a:t>deli </a:t>
            </a:r>
            <a:r>
              <a:rPr lang="sl-SI"/>
              <a:t>z napako </a:t>
            </a:r>
            <a:r>
              <a:t>na </a:t>
            </a:r>
            <a:r>
              <a:rPr dirty="0"/>
              <a:t>milijon</a:t>
            </a:r>
          </a:p>
          <a:p>
            <a:pPr lvl="1"/>
            <a:endParaRPr lang="sl-SI" sz="1600" dirty="0"/>
          </a:p>
          <a:p>
            <a:r>
              <a:rPr lang="en-GB" sz="1600" dirty="0"/>
              <a:t>Primer:</a:t>
            </a:r>
          </a:p>
          <a:p>
            <a:pPr lvl="1"/>
            <a:r>
              <a:rPr lang="en-GB" sz="1600" dirty="0"/>
              <a:t>Število enot</a:t>
            </a:r>
            <a:r>
              <a:rPr lang="en-US" sz="1600" dirty="0"/>
              <a:t>	</a:t>
            </a:r>
            <a:r>
              <a:rPr lang="en-GB" sz="1600" dirty="0"/>
              <a:t>=</a:t>
            </a:r>
            <a:r>
              <a:rPr lang="en-US" sz="1600" dirty="0"/>
              <a:t>	</a:t>
            </a:r>
            <a:r>
              <a:rPr lang="en-GB" sz="1600" dirty="0"/>
              <a:t>30.000</a:t>
            </a:r>
            <a:r>
              <a:rPr lang="en-US" sz="1600" dirty="0"/>
              <a:t>	</a:t>
            </a:r>
            <a:r>
              <a:rPr lang="en-GB" sz="1600" dirty="0"/>
              <a:t>število pokrovov</a:t>
            </a:r>
          </a:p>
          <a:p>
            <a:pPr lvl="1"/>
            <a:r>
              <a:rPr lang="en-GB" sz="1600" dirty="0"/>
              <a:t>Število napak</a:t>
            </a:r>
            <a:r>
              <a:rPr lang="en-US" sz="1600" dirty="0"/>
              <a:t>	</a:t>
            </a:r>
            <a:r>
              <a:rPr lang="en-GB" sz="1600" dirty="0"/>
              <a:t>=</a:t>
            </a:r>
            <a:r>
              <a:rPr lang="en-US" sz="1600" dirty="0"/>
              <a:t>	</a:t>
            </a:r>
            <a:r>
              <a:rPr lang="en-GB" sz="1600" dirty="0"/>
              <a:t>53</a:t>
            </a:r>
            <a:r>
              <a:rPr lang="en-US" sz="1600" dirty="0"/>
              <a:t>	</a:t>
            </a:r>
            <a:r>
              <a:rPr lang="en-GB" sz="1600" dirty="0"/>
              <a:t>število vdrtin / prask</a:t>
            </a:r>
          </a:p>
          <a:p>
            <a:pPr lvl="1">
              <a:buNone/>
            </a:pPr>
            <a:r>
              <a:rPr lang="en-US" dirty="0"/>
              <a:t>				</a:t>
            </a:r>
          </a:p>
          <a:p>
            <a:pPr lvl="1"/>
            <a:endParaRPr lang="sl-SI" sz="1600" dirty="0"/>
          </a:p>
          <a:p>
            <a:pPr lvl="1"/>
            <a:endParaRPr lang="sl-SI" sz="1600" dirty="0"/>
          </a:p>
          <a:p>
            <a:pPr lvl="1"/>
            <a:endParaRPr lang="sl-SI" sz="1600" dirty="0"/>
          </a:p>
          <a:p>
            <a:pPr lvl="1"/>
            <a:endParaRPr lang="sl-SI" sz="1600" dirty="0"/>
          </a:p>
          <a:p>
            <a:endParaRPr lang="sl-SI" sz="1600" dirty="0"/>
          </a:p>
        </p:txBody>
      </p:sp>
      <p:graphicFrame>
        <p:nvGraphicFramePr>
          <p:cNvPr id="78849" name="Object 1"/>
          <p:cNvGraphicFramePr>
            <a:graphicFrameLocks noChangeAspect="1"/>
          </p:cNvGraphicFramePr>
          <p:nvPr/>
        </p:nvGraphicFramePr>
        <p:xfrm>
          <a:off x="2119313" y="3644900"/>
          <a:ext cx="4708525" cy="623888"/>
        </p:xfrm>
        <a:graphic>
          <a:graphicData uri="http://schemas.openxmlformats.org/presentationml/2006/ole">
            <mc:AlternateContent xmlns:mc="http://schemas.openxmlformats.org/markup-compatibility/2006">
              <mc:Choice xmlns:v="urn:schemas-microsoft-com:vml" Requires="v">
                <p:oleObj name="Equation" r:id="rId3" imgW="3149280" imgH="419040" progId="Equation.3">
                  <p:embed/>
                </p:oleObj>
              </mc:Choice>
              <mc:Fallback>
                <p:oleObj name="Equation" r:id="rId3" imgW="3149280" imgH="419040" progId="Equation.3">
                  <p:embed/>
                  <p:pic>
                    <p:nvPicPr>
                      <p:cNvPr id="0" name=""/>
                      <p:cNvPicPr>
                        <a:picLocks noChangeAspect="1" noChangeArrowheads="1"/>
                      </p:cNvPicPr>
                      <p:nvPr/>
                    </p:nvPicPr>
                    <p:blipFill>
                      <a:blip r:embed="rId4"/>
                      <a:srcRect/>
                      <a:stretch>
                        <a:fillRect/>
                      </a:stretch>
                    </p:blipFill>
                    <p:spPr bwMode="auto">
                      <a:xfrm>
                        <a:off x="2119313" y="3644900"/>
                        <a:ext cx="4708525" cy="623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70660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8849"/>
                                        </p:tgtEl>
                                        <p:attrNameLst>
                                          <p:attrName>style.visibility</p:attrName>
                                        </p:attrNameLst>
                                      </p:cBhvr>
                                      <p:to>
                                        <p:strVal val="visible"/>
                                      </p:to>
                                    </p:set>
                                    <p:anim calcmode="lin" valueType="num">
                                      <p:cBhvr additive="base">
                                        <p:cTn id="7" dur="500" fill="hold"/>
                                        <p:tgtEl>
                                          <p:spTgt spid="78849"/>
                                        </p:tgtEl>
                                        <p:attrNameLst>
                                          <p:attrName>ppt_x</p:attrName>
                                        </p:attrNameLst>
                                      </p:cBhvr>
                                      <p:tavLst>
                                        <p:tav tm="0">
                                          <p:val>
                                            <p:strVal val="#ppt_x"/>
                                          </p:val>
                                        </p:tav>
                                        <p:tav tm="100000">
                                          <p:val>
                                            <p:strVal val="#ppt_x"/>
                                          </p:val>
                                        </p:tav>
                                      </p:tavLst>
                                    </p:anim>
                                    <p:anim calcmode="lin" valueType="num">
                                      <p:cBhvr additive="base">
                                        <p:cTn id="8" dur="500" fill="hold"/>
                                        <p:tgtEl>
                                          <p:spTgt spid="788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el 1"/>
          <p:cNvSpPr>
            <a:spLocks noGrp="1"/>
          </p:cNvSpPr>
          <p:nvPr>
            <p:ph type="title"/>
          </p:nvPr>
        </p:nvSpPr>
        <p:spPr/>
        <p:txBody>
          <a:bodyPr/>
          <a:lstStyle/>
          <a:p>
            <a:pPr eaLnBrk="1" hangingPunct="1"/>
            <a:r>
              <a:rPr dirty="0"/>
              <a:t>Metrike zmogljivosti procesov</a:t>
            </a:r>
            <a:endParaRPr lang="sl-SI"/>
          </a:p>
        </p:txBody>
      </p:sp>
      <p:sp>
        <p:nvSpPr>
          <p:cNvPr id="2052" name="Tijdelijke aanduiding voor inhoud 2"/>
          <p:cNvSpPr>
            <a:spLocks noGrp="1"/>
          </p:cNvSpPr>
          <p:nvPr>
            <p:ph idx="1"/>
          </p:nvPr>
        </p:nvSpPr>
        <p:spPr/>
        <p:txBody>
          <a:bodyPr/>
          <a:lstStyle/>
          <a:p>
            <a:pPr eaLnBrk="1" hangingPunct="1"/>
            <a:r>
              <a:rPr lang="en-GB" dirty="0">
                <a:solidFill>
                  <a:srgbClr val="C00000"/>
                </a:solidFill>
              </a:rPr>
              <a:t>D</a:t>
            </a:r>
            <a:r>
              <a:rPr dirty="0"/>
              <a:t>efects </a:t>
            </a:r>
            <a:r>
              <a:rPr lang="en-GB" dirty="0">
                <a:solidFill>
                  <a:srgbClr val="C00000"/>
                </a:solidFill>
              </a:rPr>
              <a:t>p</a:t>
            </a:r>
            <a:r>
              <a:rPr dirty="0"/>
              <a:t>er </a:t>
            </a:r>
            <a:r>
              <a:rPr lang="en-GB" dirty="0">
                <a:solidFill>
                  <a:srgbClr val="C00000"/>
                </a:solidFill>
              </a:rPr>
              <a:t>M</a:t>
            </a:r>
            <a:r>
              <a:rPr dirty="0"/>
              <a:t>illion </a:t>
            </a:r>
            <a:r>
              <a:rPr lang="en-GB" dirty="0">
                <a:solidFill>
                  <a:srgbClr val="C00000"/>
                </a:solidFill>
              </a:rPr>
              <a:t>O</a:t>
            </a:r>
            <a:r>
              <a:rPr dirty="0"/>
              <a:t>pportunities (DPMO) - število napak na milijon priložnosti</a:t>
            </a:r>
          </a:p>
          <a:p>
            <a:pPr eaLnBrk="1" hangingPunct="1"/>
            <a:endParaRPr lang="sl-SI" dirty="0"/>
          </a:p>
          <a:p>
            <a:pPr lvl="1" eaLnBrk="1" hangingPunct="1"/>
            <a:r>
              <a:rPr lang="en-GB" sz="1600" dirty="0"/>
              <a:t>Priložnosti</a:t>
            </a:r>
            <a:r>
              <a:rPr lang="en-US" sz="1600"/>
              <a:t>	</a:t>
            </a:r>
            <a:r>
              <a:rPr lang="en-GB" sz="1600"/>
              <a:t>=</a:t>
            </a:r>
            <a:r>
              <a:rPr lang="en-US" sz="1600" dirty="0"/>
              <a:t>	</a:t>
            </a:r>
            <a:r>
              <a:rPr lang="en-GB" sz="1600" dirty="0"/>
              <a:t>2</a:t>
            </a:r>
            <a:r>
              <a:rPr lang="en-US" sz="1600" dirty="0"/>
              <a:t>	</a:t>
            </a:r>
            <a:r>
              <a:rPr lang="en-GB" sz="1600" dirty="0"/>
              <a:t>možni napaki na vsaki enoti: </a:t>
            </a:r>
            <a:r>
              <a:rPr lang="en-US" sz="1600" dirty="0"/>
              <a:t>				</a:t>
            </a:r>
            <a:r>
              <a:rPr lang="en-US" sz="1600"/>
              <a:t>	</a:t>
            </a:r>
            <a:r>
              <a:rPr lang="en-GB" sz="1600"/>
              <a:t>vdrtina </a:t>
            </a:r>
            <a:r>
              <a:rPr lang="en-GB" sz="1600" dirty="0"/>
              <a:t>ali praska</a:t>
            </a:r>
          </a:p>
          <a:p>
            <a:pPr lvl="1" eaLnBrk="1" hangingPunct="1"/>
            <a:r>
              <a:rPr lang="en-GB" sz="1600" dirty="0"/>
              <a:t>Število enot</a:t>
            </a:r>
            <a:r>
              <a:rPr lang="en-US" sz="1600" dirty="0"/>
              <a:t>	</a:t>
            </a:r>
            <a:r>
              <a:rPr lang="en-GB" sz="1600" dirty="0"/>
              <a:t>=</a:t>
            </a:r>
            <a:r>
              <a:rPr lang="en-US" sz="1600" dirty="0"/>
              <a:t>	</a:t>
            </a:r>
            <a:r>
              <a:rPr lang="en-GB" sz="1600" dirty="0"/>
              <a:t>30.000</a:t>
            </a:r>
            <a:r>
              <a:rPr lang="en-US" sz="1600" dirty="0"/>
              <a:t>	</a:t>
            </a:r>
            <a:r>
              <a:rPr lang="en-GB" sz="1600" dirty="0"/>
              <a:t>število pokrovov</a:t>
            </a:r>
          </a:p>
          <a:p>
            <a:pPr lvl="1" eaLnBrk="1" hangingPunct="1"/>
            <a:endParaRPr lang="sl-SI" sz="1600" dirty="0"/>
          </a:p>
          <a:p>
            <a:pPr lvl="1" eaLnBrk="1" hangingPunct="1"/>
            <a:r>
              <a:rPr lang="en-GB" sz="1600" dirty="0"/>
              <a:t>Število napak</a:t>
            </a:r>
            <a:r>
              <a:rPr lang="en-US" sz="1600" dirty="0"/>
              <a:t>	</a:t>
            </a:r>
            <a:r>
              <a:rPr lang="en-GB" sz="1600" dirty="0"/>
              <a:t>=</a:t>
            </a:r>
            <a:r>
              <a:rPr lang="en-US" sz="1600" dirty="0"/>
              <a:t>	</a:t>
            </a:r>
            <a:r>
              <a:rPr lang="en-GB" sz="1600" dirty="0"/>
              <a:t>53</a:t>
            </a:r>
            <a:r>
              <a:rPr lang="en-US" sz="1600" dirty="0"/>
              <a:t>	</a:t>
            </a:r>
            <a:r>
              <a:rPr lang="en-GB" sz="1600" dirty="0"/>
              <a:t>število vdrtin + prask</a:t>
            </a:r>
          </a:p>
          <a:p>
            <a:pPr lvl="1" eaLnBrk="1" hangingPunct="1"/>
            <a:endParaRPr lang="sl-SI" sz="1600" dirty="0"/>
          </a:p>
          <a:p>
            <a:pPr lvl="1" eaLnBrk="1" hangingPunct="1"/>
            <a:endParaRPr lang="sl-SI" sz="1600" dirty="0"/>
          </a:p>
          <a:p>
            <a:pPr lvl="1" eaLnBrk="1" hangingPunct="1"/>
            <a:endParaRPr lang="sl-SI" sz="1600" dirty="0"/>
          </a:p>
          <a:p>
            <a:pPr lvl="1" eaLnBrk="1" hangingPunct="1"/>
            <a:endParaRPr lang="sl-SI" sz="1600" dirty="0"/>
          </a:p>
          <a:p>
            <a:pPr lvl="1" eaLnBrk="1" hangingPunct="1"/>
            <a:endParaRPr lang="sl-SI" sz="1600" dirty="0"/>
          </a:p>
          <a:p>
            <a:pPr lvl="1" eaLnBrk="1" hangingPunct="1"/>
            <a:endParaRPr lang="sl-SI" sz="1600" dirty="0"/>
          </a:p>
        </p:txBody>
      </p:sp>
      <p:graphicFrame>
        <p:nvGraphicFramePr>
          <p:cNvPr id="184324" name="Object 4"/>
          <p:cNvGraphicFramePr>
            <a:graphicFrameLocks noChangeAspect="1"/>
          </p:cNvGraphicFramePr>
          <p:nvPr/>
        </p:nvGraphicFramePr>
        <p:xfrm>
          <a:off x="1992313" y="4295775"/>
          <a:ext cx="5645150" cy="665163"/>
        </p:xfrm>
        <a:graphic>
          <a:graphicData uri="http://schemas.openxmlformats.org/presentationml/2006/ole">
            <mc:AlternateContent xmlns:mc="http://schemas.openxmlformats.org/markup-compatibility/2006">
              <mc:Choice xmlns:v="urn:schemas-microsoft-com:vml" Requires="v">
                <p:oleObj name="Equation" r:id="rId3" imgW="3771720" imgH="444240" progId="Equation.3">
                  <p:embed/>
                </p:oleObj>
              </mc:Choice>
              <mc:Fallback>
                <p:oleObj name="Equation" r:id="rId3" imgW="3771720" imgH="444240" progId="Equation.3">
                  <p:embed/>
                  <p:pic>
                    <p:nvPicPr>
                      <p:cNvPr id="0" name=""/>
                      <p:cNvPicPr>
                        <a:picLocks noChangeAspect="1" noChangeArrowheads="1"/>
                      </p:cNvPicPr>
                      <p:nvPr/>
                    </p:nvPicPr>
                    <p:blipFill>
                      <a:blip r:embed="rId4"/>
                      <a:srcRect/>
                      <a:stretch>
                        <a:fillRect/>
                      </a:stretch>
                    </p:blipFill>
                    <p:spPr bwMode="auto">
                      <a:xfrm>
                        <a:off x="1992313" y="4295775"/>
                        <a:ext cx="5645150" cy="665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267745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324"/>
                                        </p:tgtEl>
                                        <p:attrNameLst>
                                          <p:attrName>style.visibility</p:attrName>
                                        </p:attrNameLst>
                                      </p:cBhvr>
                                      <p:to>
                                        <p:strVal val="visible"/>
                                      </p:to>
                                    </p:set>
                                    <p:anim calcmode="lin" valueType="num">
                                      <p:cBhvr additive="base">
                                        <p:cTn id="7" dur="500" fill="hold"/>
                                        <p:tgtEl>
                                          <p:spTgt spid="184324"/>
                                        </p:tgtEl>
                                        <p:attrNameLst>
                                          <p:attrName>ppt_x</p:attrName>
                                        </p:attrNameLst>
                                      </p:cBhvr>
                                      <p:tavLst>
                                        <p:tav tm="0">
                                          <p:val>
                                            <p:strVal val="#ppt_x"/>
                                          </p:val>
                                        </p:tav>
                                        <p:tav tm="100000">
                                          <p:val>
                                            <p:strVal val="#ppt_x"/>
                                          </p:val>
                                        </p:tav>
                                      </p:tavLst>
                                    </p:anim>
                                    <p:anim calcmode="lin" valueType="num">
                                      <p:cBhvr additive="base">
                                        <p:cTn id="8" dur="500" fill="hold"/>
                                        <p:tgtEl>
                                          <p:spTgt spid="1843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2"/>
          <p:cNvSpPr>
            <a:spLocks noGrp="1" noChangeArrowheads="1"/>
          </p:cNvSpPr>
          <p:nvPr>
            <p:ph type="title"/>
          </p:nvPr>
        </p:nvSpPr>
        <p:spPr>
          <a:xfrm>
            <a:off x="720725" y="238125"/>
            <a:ext cx="6478588" cy="600075"/>
          </a:xfrm>
        </p:spPr>
        <p:txBody>
          <a:bodyPr/>
          <a:lstStyle/>
          <a:p>
            <a:pPr eaLnBrk="1" hangingPunct="1"/>
            <a:r>
              <a:rPr lang="en-US" dirty="0">
                <a:latin typeface="Arial" charset="0"/>
              </a:rPr>
              <a:t>Metrike zmogljivosti procesov</a:t>
            </a:r>
            <a:endParaRPr lang="sl-SI" sz="2400" dirty="0">
              <a:latin typeface="Arial" charset="0"/>
              <a:cs typeface="Arial" charset="0"/>
            </a:endParaRPr>
          </a:p>
        </p:txBody>
      </p:sp>
      <p:sp>
        <p:nvSpPr>
          <p:cNvPr id="67" name="Rectangle 3"/>
          <p:cNvSpPr>
            <a:spLocks noGrp="1" noChangeArrowheads="1"/>
          </p:cNvSpPr>
          <p:nvPr>
            <p:ph idx="1"/>
          </p:nvPr>
        </p:nvSpPr>
        <p:spPr>
          <a:xfrm>
            <a:off x="720725" y="1439863"/>
            <a:ext cx="7920038" cy="5040312"/>
          </a:xfrm>
        </p:spPr>
        <p:txBody>
          <a:bodyPr/>
          <a:lstStyle/>
          <a:p>
            <a:r>
              <a:rPr dirty="0" err="1"/>
              <a:t>Izkoristek</a:t>
            </a:r>
            <a:r>
              <a:rPr dirty="0"/>
              <a:t> </a:t>
            </a:r>
            <a:r>
              <a:rPr dirty="0" err="1"/>
              <a:t>procesa</a:t>
            </a:r>
            <a:r>
              <a:rPr lang="sl-SI" dirty="0"/>
              <a:t> </a:t>
            </a:r>
            <a:r>
              <a:rPr lang="sl-SI" sz="1600" dirty="0"/>
              <a:t>(</a:t>
            </a:r>
            <a:r>
              <a:rPr lang="sl-SI" sz="1600" dirty="0" err="1"/>
              <a:t>Process</a:t>
            </a:r>
            <a:r>
              <a:rPr lang="sl-SI" sz="1600" dirty="0"/>
              <a:t> </a:t>
            </a:r>
            <a:r>
              <a:rPr lang="sl-SI" sz="1600" dirty="0" err="1"/>
              <a:t>Yield</a:t>
            </a:r>
            <a:r>
              <a:rPr lang="sl-SI" sz="1600" dirty="0"/>
              <a:t>)</a:t>
            </a:r>
            <a:endParaRPr lang="sl-SI" sz="11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marL="179387" lvl="1" indent="0">
              <a:buNone/>
            </a:pPr>
            <a:r>
              <a:rPr lang="en-US" sz="1600" dirty="0" err="1"/>
              <a:t>Skupni</a:t>
            </a:r>
            <a:r>
              <a:rPr lang="en-US" sz="1600" dirty="0"/>
              <a:t> </a:t>
            </a:r>
            <a:r>
              <a:rPr lang="en-US" sz="1600" dirty="0" err="1"/>
              <a:t>izk</a:t>
            </a:r>
            <a:r>
              <a:rPr lang="sl-SI" sz="1600" dirty="0"/>
              <a:t>ori</a:t>
            </a:r>
            <a:r>
              <a:rPr lang="en-US" sz="1600" dirty="0" err="1"/>
              <a:t>stek</a:t>
            </a:r>
            <a:r>
              <a:rPr lang="en-US" sz="1600" dirty="0"/>
              <a:t> pro</a:t>
            </a:r>
            <a:r>
              <a:rPr lang="sl-SI" sz="1600" dirty="0" err="1"/>
              <a:t>ce</a:t>
            </a:r>
            <a:r>
              <a:rPr lang="en-US" sz="1600" dirty="0" err="1"/>
              <a:t>sa</a:t>
            </a:r>
            <a:r>
              <a:rPr lang="en-US" sz="1600" dirty="0"/>
              <a:t> </a:t>
            </a:r>
            <a:r>
              <a:rPr lang="sl-SI" sz="1050" dirty="0"/>
              <a:t>(Total </a:t>
            </a:r>
            <a:r>
              <a:rPr lang="sl-SI" sz="1050" dirty="0" err="1"/>
              <a:t>Process</a:t>
            </a:r>
            <a:r>
              <a:rPr lang="sl-SI" sz="1050" dirty="0"/>
              <a:t> </a:t>
            </a:r>
            <a:r>
              <a:rPr lang="sl-SI" sz="1050" dirty="0" err="1"/>
              <a:t>Yield</a:t>
            </a:r>
            <a:r>
              <a:rPr lang="sl-SI" sz="1050" dirty="0"/>
              <a:t> TPY)</a:t>
            </a:r>
            <a:r>
              <a:rPr lang="sl-SI" sz="1000" dirty="0"/>
              <a:t>   </a:t>
            </a:r>
            <a:r>
              <a:rPr lang="en-US" sz="1600" dirty="0"/>
              <a:t>= 0,90 x 0,89 x 0,94 x 0,93 = 70%</a:t>
            </a:r>
          </a:p>
          <a:p>
            <a:pPr lvl="1"/>
            <a:endParaRPr lang="sl-SI" sz="1600" dirty="0"/>
          </a:p>
        </p:txBody>
      </p:sp>
      <p:graphicFrame>
        <p:nvGraphicFramePr>
          <p:cNvPr id="68" name="Tabel 67"/>
          <p:cNvGraphicFramePr>
            <a:graphicFrameLocks noGrp="1"/>
          </p:cNvGraphicFramePr>
          <p:nvPr>
            <p:extLst>
              <p:ext uri="{D42A27DB-BD31-4B8C-83A1-F6EECF244321}">
                <p14:modId xmlns:p14="http://schemas.microsoft.com/office/powerpoint/2010/main" val="1238775614"/>
              </p:ext>
            </p:extLst>
          </p:nvPr>
        </p:nvGraphicFramePr>
        <p:xfrm>
          <a:off x="720000" y="1980000"/>
          <a:ext cx="7092360" cy="1828800"/>
        </p:xfrm>
        <a:graphic>
          <a:graphicData uri="http://schemas.openxmlformats.org/drawingml/2006/table">
            <a:tbl>
              <a:tblPr firstRow="1" bandRow="1">
                <a:tableStyleId>{5C22544A-7EE6-4342-B048-85BDC9FD1C3A}</a:tableStyleId>
              </a:tblPr>
              <a:tblGrid>
                <a:gridCol w="1020082">
                  <a:extLst>
                    <a:ext uri="{9D8B030D-6E8A-4147-A177-3AD203B41FA5}">
                      <a16:colId xmlns:a16="http://schemas.microsoft.com/office/drawing/2014/main" val="20000"/>
                    </a:ext>
                  </a:extLst>
                </a:gridCol>
                <a:gridCol w="1103726">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1901360">
                  <a:extLst>
                    <a:ext uri="{9D8B030D-6E8A-4147-A177-3AD203B41FA5}">
                      <a16:colId xmlns:a16="http://schemas.microsoft.com/office/drawing/2014/main" val="20003"/>
                    </a:ext>
                  </a:extLst>
                </a:gridCol>
                <a:gridCol w="1508858">
                  <a:extLst>
                    <a:ext uri="{9D8B030D-6E8A-4147-A177-3AD203B41FA5}">
                      <a16:colId xmlns:a16="http://schemas.microsoft.com/office/drawing/2014/main" val="20004"/>
                    </a:ext>
                  </a:extLst>
                </a:gridCol>
                <a:gridCol w="838254">
                  <a:extLst>
                    <a:ext uri="{9D8B030D-6E8A-4147-A177-3AD203B41FA5}">
                      <a16:colId xmlns:a16="http://schemas.microsoft.com/office/drawing/2014/main" val="20005"/>
                    </a:ext>
                  </a:extLst>
                </a:gridCol>
              </a:tblGrid>
              <a:tr h="324000">
                <a:tc>
                  <a:txBody>
                    <a:bodyPr/>
                    <a:lstStyle/>
                    <a:p>
                      <a:pPr algn="ctr"/>
                      <a:r>
                        <a:rPr lang="nl-NL" dirty="0">
                          <a:latin typeface="Arial" pitchFamily="34" charset="0"/>
                        </a:rPr>
                        <a:t>Proces</a:t>
                      </a:r>
                      <a:endParaRPr lang="sl-SI" dirty="0">
                        <a:latin typeface="Arial" pitchFamily="34" charset="0"/>
                      </a:endParaRPr>
                    </a:p>
                  </a:txBody>
                  <a:tcPr marL="45720" marR="45720" anchor="ctr"/>
                </a:tc>
                <a:tc>
                  <a:txBody>
                    <a:bodyPr/>
                    <a:lstStyle/>
                    <a:p>
                      <a:pPr algn="ctr"/>
                      <a:r>
                        <a:rPr lang="nl-NL" dirty="0">
                          <a:latin typeface="Arial" pitchFamily="34" charset="0"/>
                        </a:rPr>
                        <a:t>Škart</a:t>
                      </a:r>
                      <a:endParaRPr lang="sl-SI" dirty="0">
                        <a:latin typeface="Arial" pitchFamily="34" charset="0"/>
                      </a:endParaRPr>
                    </a:p>
                  </a:txBody>
                  <a:tcPr marL="45720" marR="45720" anchor="ctr"/>
                </a:tc>
                <a:tc>
                  <a:txBody>
                    <a:bodyPr/>
                    <a:lstStyle/>
                    <a:p>
                      <a:pPr algn="ctr"/>
                      <a:r>
                        <a:rPr lang="nl-NL" dirty="0">
                          <a:latin typeface="Arial" pitchFamily="34" charset="0"/>
                        </a:rPr>
                        <a:t>Izhod</a:t>
                      </a:r>
                      <a:endParaRPr lang="sl-SI" dirty="0">
                        <a:latin typeface="Arial" pitchFamily="34" charset="0"/>
                      </a:endParaRPr>
                    </a:p>
                  </a:txBody>
                  <a:tcPr marL="45720" marR="45720" anchor="ctr"/>
                </a:tc>
                <a:tc gridSpan="3">
                  <a:txBody>
                    <a:bodyPr/>
                    <a:lstStyle/>
                    <a:p>
                      <a:pPr algn="ctr"/>
                      <a:r>
                        <a:rPr dirty="0" err="1"/>
                        <a:t>Izkoristek</a:t>
                      </a:r>
                      <a:r>
                        <a:rPr dirty="0"/>
                        <a:t> </a:t>
                      </a:r>
                      <a:r>
                        <a:rPr dirty="0" err="1"/>
                        <a:t>procesa</a:t>
                      </a:r>
                      <a:endParaRPr lang="sl-SI" dirty="0">
                        <a:latin typeface="Arial" pitchFamily="34" charset="0"/>
                      </a:endParaRPr>
                    </a:p>
                  </a:txBody>
                  <a:tcPr marL="45720" marR="45720" anchor="ctr"/>
                </a:tc>
                <a:tc hMerge="1">
                  <a:txBody>
                    <a:bodyPr/>
                    <a:lstStyle/>
                    <a:p>
                      <a:pPr algn="ctr"/>
                      <a:endParaRPr lang="nl-NL" dirty="0"/>
                    </a:p>
                  </a:txBody>
                  <a:tcPr marL="45720" marR="45720" anchor="ctr"/>
                </a:tc>
                <a:tc hMerge="1">
                  <a:txBody>
                    <a:bodyPr/>
                    <a:lstStyle/>
                    <a:p>
                      <a:pPr algn="ctr"/>
                      <a:endParaRPr lang="nl-NL" dirty="0"/>
                    </a:p>
                  </a:txBody>
                  <a:tcPr marL="45720" marR="45720" anchor="ctr"/>
                </a:tc>
                <a:extLst>
                  <a:ext uri="{0D108BD9-81ED-4DB2-BD59-A6C34878D82A}">
                    <a16:rowId xmlns:a16="http://schemas.microsoft.com/office/drawing/2014/main" val="10000"/>
                  </a:ext>
                </a:extLst>
              </a:tr>
              <a:tr h="324000">
                <a:tc>
                  <a:txBody>
                    <a:bodyPr/>
                    <a:lstStyle/>
                    <a:p>
                      <a:pPr algn="ctr"/>
                      <a:r>
                        <a:rPr lang="nl-NL" dirty="0">
                          <a:latin typeface="Arial" pitchFamily="34" charset="0"/>
                        </a:rPr>
                        <a:t>A</a:t>
                      </a:r>
                      <a:endParaRPr lang="sl-SI" dirty="0">
                        <a:latin typeface="Arial" pitchFamily="34" charset="0"/>
                      </a:endParaRPr>
                    </a:p>
                  </a:txBody>
                  <a:tcPr marL="45720" marR="45720" anchor="ctr"/>
                </a:tc>
                <a:tc>
                  <a:txBody>
                    <a:bodyPr/>
                    <a:lstStyle/>
                    <a:p>
                      <a:pPr algn="ctr"/>
                      <a:r>
                        <a:rPr lang="nl-NL" dirty="0">
                          <a:latin typeface="Arial" pitchFamily="34" charset="0"/>
                        </a:rPr>
                        <a:t>10</a:t>
                      </a:r>
                      <a:endParaRPr lang="sl-SI" dirty="0">
                        <a:latin typeface="Arial" pitchFamily="34" charset="0"/>
                      </a:endParaRPr>
                    </a:p>
                  </a:txBody>
                  <a:tcPr marL="45720" marR="45720" anchor="ctr"/>
                </a:tc>
                <a:tc>
                  <a:txBody>
                    <a:bodyPr/>
                    <a:lstStyle/>
                    <a:p>
                      <a:pPr algn="ctr"/>
                      <a:r>
                        <a:rPr lang="nl-NL" dirty="0">
                          <a:latin typeface="Arial" pitchFamily="34" charset="0"/>
                        </a:rPr>
                        <a:t>90</a:t>
                      </a:r>
                      <a:endParaRPr lang="sl-SI" dirty="0">
                        <a:latin typeface="Arial" pitchFamily="34" charset="0"/>
                      </a:endParaRPr>
                    </a:p>
                  </a:txBody>
                  <a:tcPr marL="45720" marR="45720"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charset="0"/>
                        </a:rPr>
                        <a:t>90 / (90+10)</a:t>
                      </a:r>
                    </a:p>
                  </a:txBody>
                  <a:tcPr/>
                </a:tc>
                <a:tc>
                  <a:txBody>
                    <a:bodyPr/>
                    <a:lstStyle/>
                    <a:p>
                      <a:r>
                        <a:rPr lang="en-US" dirty="0">
                          <a:latin typeface="Arial" charset="0"/>
                        </a:rPr>
                        <a:t>= 90 /100</a:t>
                      </a:r>
                      <a:endParaRPr lang="sl-SI" dirty="0">
                        <a:latin typeface="Arial" pitchFamily="34" charset="0"/>
                      </a:endParaRPr>
                    </a:p>
                  </a:txBody>
                  <a:tcPr/>
                </a:tc>
                <a:tc>
                  <a:txBody>
                    <a:bodyPr/>
                    <a:lstStyle/>
                    <a:p>
                      <a:r>
                        <a:rPr lang="en-US" dirty="0">
                          <a:latin typeface="Arial" charset="0"/>
                        </a:rPr>
                        <a:t>= 90%</a:t>
                      </a:r>
                      <a:endParaRPr lang="sl-SI" dirty="0">
                        <a:latin typeface="Arial" pitchFamily="34" charset="0"/>
                      </a:endParaRPr>
                    </a:p>
                  </a:txBody>
                  <a:tcPr/>
                </a:tc>
                <a:extLst>
                  <a:ext uri="{0D108BD9-81ED-4DB2-BD59-A6C34878D82A}">
                    <a16:rowId xmlns:a16="http://schemas.microsoft.com/office/drawing/2014/main" val="10001"/>
                  </a:ext>
                </a:extLst>
              </a:tr>
              <a:tr h="324000">
                <a:tc>
                  <a:txBody>
                    <a:bodyPr/>
                    <a:lstStyle/>
                    <a:p>
                      <a:pPr algn="ctr"/>
                      <a:r>
                        <a:rPr lang="nl-NL" dirty="0">
                          <a:latin typeface="Arial" pitchFamily="34" charset="0"/>
                        </a:rPr>
                        <a:t>B</a:t>
                      </a:r>
                      <a:endParaRPr lang="sl-SI" dirty="0">
                        <a:latin typeface="Arial" pitchFamily="34" charset="0"/>
                      </a:endParaRPr>
                    </a:p>
                  </a:txBody>
                  <a:tcPr marL="45720" marR="45720" anchor="ctr"/>
                </a:tc>
                <a:tc>
                  <a:txBody>
                    <a:bodyPr/>
                    <a:lstStyle/>
                    <a:p>
                      <a:pPr algn="ctr"/>
                      <a:r>
                        <a:rPr lang="nl-NL" dirty="0">
                          <a:latin typeface="Arial" pitchFamily="34" charset="0"/>
                        </a:rPr>
                        <a:t>10</a:t>
                      </a:r>
                      <a:endParaRPr lang="sl-SI" dirty="0">
                        <a:latin typeface="Arial" pitchFamily="34" charset="0"/>
                      </a:endParaRPr>
                    </a:p>
                  </a:txBody>
                  <a:tcPr marL="45720" marR="45720" anchor="ctr"/>
                </a:tc>
                <a:tc>
                  <a:txBody>
                    <a:bodyPr/>
                    <a:lstStyle/>
                    <a:p>
                      <a:pPr algn="ctr"/>
                      <a:r>
                        <a:rPr lang="nl-NL" dirty="0">
                          <a:latin typeface="Arial" pitchFamily="34" charset="0"/>
                        </a:rPr>
                        <a:t>80</a:t>
                      </a:r>
                      <a:endParaRPr lang="sl-SI" dirty="0">
                        <a:latin typeface="Arial" pitchFamily="34" charset="0"/>
                      </a:endParaRPr>
                    </a:p>
                  </a:txBody>
                  <a:tcPr marL="45720" marR="45720"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charset="0"/>
                        </a:rPr>
                        <a:t>80 / (80+10)</a:t>
                      </a:r>
                    </a:p>
                  </a:txBody>
                  <a:tcPr/>
                </a:tc>
                <a:tc>
                  <a:txBody>
                    <a:bodyPr/>
                    <a:lstStyle/>
                    <a:p>
                      <a:r>
                        <a:rPr lang="en-US" dirty="0">
                          <a:latin typeface="Arial" charset="0"/>
                        </a:rPr>
                        <a:t>= 80 / 90</a:t>
                      </a:r>
                      <a:endParaRPr lang="sl-SI" dirty="0">
                        <a:latin typeface="Arial" pitchFamily="34" charset="0"/>
                      </a:endParaRPr>
                    </a:p>
                  </a:txBody>
                  <a:tcPr/>
                </a:tc>
                <a:tc>
                  <a:txBody>
                    <a:bodyPr/>
                    <a:lstStyle/>
                    <a:p>
                      <a:r>
                        <a:rPr lang="en-US" dirty="0">
                          <a:latin typeface="Arial" charset="0"/>
                        </a:rPr>
                        <a:t>= 89%</a:t>
                      </a:r>
                      <a:endParaRPr lang="sl-SI" dirty="0">
                        <a:latin typeface="Arial" pitchFamily="34" charset="0"/>
                      </a:endParaRPr>
                    </a:p>
                  </a:txBody>
                  <a:tcPr/>
                </a:tc>
                <a:extLst>
                  <a:ext uri="{0D108BD9-81ED-4DB2-BD59-A6C34878D82A}">
                    <a16:rowId xmlns:a16="http://schemas.microsoft.com/office/drawing/2014/main" val="10002"/>
                  </a:ext>
                </a:extLst>
              </a:tr>
              <a:tr h="324000">
                <a:tc>
                  <a:txBody>
                    <a:bodyPr/>
                    <a:lstStyle/>
                    <a:p>
                      <a:pPr algn="ctr"/>
                      <a:r>
                        <a:rPr lang="nl-NL" dirty="0">
                          <a:latin typeface="Arial" pitchFamily="34" charset="0"/>
                        </a:rPr>
                        <a:t>C</a:t>
                      </a:r>
                      <a:endParaRPr lang="sl-SI" dirty="0">
                        <a:latin typeface="Arial" pitchFamily="34" charset="0"/>
                      </a:endParaRPr>
                    </a:p>
                  </a:txBody>
                  <a:tcPr marL="45720" marR="45720" anchor="ctr"/>
                </a:tc>
                <a:tc>
                  <a:txBody>
                    <a:bodyPr/>
                    <a:lstStyle/>
                    <a:p>
                      <a:pPr algn="ctr"/>
                      <a:r>
                        <a:rPr lang="nl-NL" dirty="0">
                          <a:latin typeface="Arial" pitchFamily="34" charset="0"/>
                        </a:rPr>
                        <a:t>5</a:t>
                      </a:r>
                      <a:endParaRPr lang="sl-SI" dirty="0">
                        <a:latin typeface="Arial" pitchFamily="34" charset="0"/>
                      </a:endParaRPr>
                    </a:p>
                  </a:txBody>
                  <a:tcPr marL="45720" marR="45720" anchor="ctr"/>
                </a:tc>
                <a:tc>
                  <a:txBody>
                    <a:bodyPr/>
                    <a:lstStyle/>
                    <a:p>
                      <a:pPr algn="ctr"/>
                      <a:r>
                        <a:rPr lang="nl-NL" dirty="0">
                          <a:latin typeface="Arial" pitchFamily="34" charset="0"/>
                        </a:rPr>
                        <a:t>75</a:t>
                      </a:r>
                      <a:endParaRPr lang="sl-SI" dirty="0">
                        <a:latin typeface="Arial" pitchFamily="34" charset="0"/>
                      </a:endParaRPr>
                    </a:p>
                  </a:txBody>
                  <a:tcPr marL="45720" marR="45720"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charset="0"/>
                        </a:rPr>
                        <a:t>75 / (75+5)</a:t>
                      </a:r>
                    </a:p>
                  </a:txBody>
                  <a:tcPr/>
                </a:tc>
                <a:tc>
                  <a:txBody>
                    <a:bodyPr/>
                    <a:lstStyle/>
                    <a:p>
                      <a:r>
                        <a:rPr lang="en-US" dirty="0">
                          <a:latin typeface="Arial" charset="0"/>
                        </a:rPr>
                        <a:t>= 75 / 80</a:t>
                      </a:r>
                      <a:endParaRPr lang="sl-SI" dirty="0">
                        <a:latin typeface="Arial" pitchFamily="34" charset="0"/>
                      </a:endParaRPr>
                    </a:p>
                  </a:txBody>
                  <a:tcPr/>
                </a:tc>
                <a:tc>
                  <a:txBody>
                    <a:bodyPr/>
                    <a:lstStyle/>
                    <a:p>
                      <a:r>
                        <a:rPr lang="en-US" dirty="0">
                          <a:latin typeface="Arial" charset="0"/>
                        </a:rPr>
                        <a:t>= 94%</a:t>
                      </a:r>
                      <a:endParaRPr lang="sl-SI" dirty="0">
                        <a:latin typeface="Arial" pitchFamily="34" charset="0"/>
                      </a:endParaRPr>
                    </a:p>
                  </a:txBody>
                  <a:tcPr/>
                </a:tc>
                <a:extLst>
                  <a:ext uri="{0D108BD9-81ED-4DB2-BD59-A6C34878D82A}">
                    <a16:rowId xmlns:a16="http://schemas.microsoft.com/office/drawing/2014/main" val="10003"/>
                  </a:ext>
                </a:extLst>
              </a:tr>
              <a:tr h="324000">
                <a:tc>
                  <a:txBody>
                    <a:bodyPr/>
                    <a:lstStyle/>
                    <a:p>
                      <a:pPr algn="ctr"/>
                      <a:r>
                        <a:rPr lang="nl-NL" dirty="0">
                          <a:latin typeface="Arial" pitchFamily="34" charset="0"/>
                        </a:rPr>
                        <a:t>D</a:t>
                      </a:r>
                      <a:endParaRPr lang="sl-SI" dirty="0">
                        <a:latin typeface="Arial" pitchFamily="34" charset="0"/>
                      </a:endParaRPr>
                    </a:p>
                  </a:txBody>
                  <a:tcPr marL="45720" marR="45720" anchor="ctr"/>
                </a:tc>
                <a:tc>
                  <a:txBody>
                    <a:bodyPr/>
                    <a:lstStyle/>
                    <a:p>
                      <a:pPr algn="ctr"/>
                      <a:r>
                        <a:rPr lang="nl-NL" dirty="0">
                          <a:latin typeface="Arial" pitchFamily="34" charset="0"/>
                        </a:rPr>
                        <a:t>5</a:t>
                      </a:r>
                      <a:endParaRPr lang="sl-SI" dirty="0">
                        <a:latin typeface="Arial" pitchFamily="34" charset="0"/>
                      </a:endParaRPr>
                    </a:p>
                  </a:txBody>
                  <a:tcPr marL="45720" marR="45720" anchor="ctr"/>
                </a:tc>
                <a:tc>
                  <a:txBody>
                    <a:bodyPr/>
                    <a:lstStyle/>
                    <a:p>
                      <a:pPr algn="ctr"/>
                      <a:r>
                        <a:rPr lang="nl-NL" dirty="0">
                          <a:latin typeface="Arial" pitchFamily="34" charset="0"/>
                        </a:rPr>
                        <a:t>70</a:t>
                      </a:r>
                      <a:endParaRPr lang="sl-SI" dirty="0">
                        <a:latin typeface="Arial" pitchFamily="34" charset="0"/>
                      </a:endParaRPr>
                    </a:p>
                  </a:txBody>
                  <a:tcPr marL="45720" marR="45720"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charset="0"/>
                        </a:rPr>
                        <a:t>70 / (70+5)</a:t>
                      </a:r>
                    </a:p>
                  </a:txBody>
                  <a:tcPr/>
                </a:tc>
                <a:tc>
                  <a:txBody>
                    <a:bodyPr/>
                    <a:lstStyle/>
                    <a:p>
                      <a:r>
                        <a:rPr lang="en-US" dirty="0">
                          <a:latin typeface="Arial" charset="0"/>
                        </a:rPr>
                        <a:t>= 70 / 75</a:t>
                      </a:r>
                      <a:endParaRPr lang="sl-SI" dirty="0">
                        <a:latin typeface="Arial" pitchFamily="34" charset="0"/>
                      </a:endParaRPr>
                    </a:p>
                  </a:txBody>
                  <a:tcPr/>
                </a:tc>
                <a:tc>
                  <a:txBody>
                    <a:bodyPr/>
                    <a:lstStyle/>
                    <a:p>
                      <a:r>
                        <a:rPr lang="en-US" dirty="0">
                          <a:latin typeface="Arial" charset="0"/>
                        </a:rPr>
                        <a:t>= 93%</a:t>
                      </a:r>
                      <a:endParaRPr lang="sl-SI" dirty="0">
                        <a:latin typeface="Arial" pitchFamily="34" charset="0"/>
                      </a:endParaRPr>
                    </a:p>
                  </a:txBody>
                  <a:tcPr/>
                </a:tc>
                <a:extLst>
                  <a:ext uri="{0D108BD9-81ED-4DB2-BD59-A6C34878D82A}">
                    <a16:rowId xmlns:a16="http://schemas.microsoft.com/office/drawing/2014/main" val="10004"/>
                  </a:ext>
                </a:extLst>
              </a:tr>
            </a:tbl>
          </a:graphicData>
        </a:graphic>
      </p:graphicFrame>
      <p:sp>
        <p:nvSpPr>
          <p:cNvPr id="69" name="Rectangle 6"/>
          <p:cNvSpPr>
            <a:spLocks noChangeArrowheads="1"/>
          </p:cNvSpPr>
          <p:nvPr/>
        </p:nvSpPr>
        <p:spPr bwMode="auto">
          <a:xfrm>
            <a:off x="3563182" y="2357703"/>
            <a:ext cx="4249178" cy="1442864"/>
          </a:xfrm>
          <a:prstGeom prst="rect">
            <a:avLst/>
          </a:prstGeom>
          <a:solidFill>
            <a:schemeClr val="bg1"/>
          </a:solidFill>
          <a:ln w="9525">
            <a:noFill/>
            <a:miter lim="800000"/>
            <a:headEnd/>
            <a:tailEnd/>
          </a:ln>
        </p:spPr>
        <p:txBody>
          <a:bodyPr wrap="none" anchor="ctr"/>
          <a:lstStyle/>
          <a:p>
            <a:endParaRPr lang="sv-SE"/>
          </a:p>
        </p:txBody>
      </p:sp>
      <p:sp>
        <p:nvSpPr>
          <p:cNvPr id="70" name="Rectangle 6"/>
          <p:cNvSpPr>
            <a:spLocks noChangeArrowheads="1"/>
          </p:cNvSpPr>
          <p:nvPr/>
        </p:nvSpPr>
        <p:spPr bwMode="auto">
          <a:xfrm>
            <a:off x="5256136" y="5949577"/>
            <a:ext cx="3254361" cy="355104"/>
          </a:xfrm>
          <a:prstGeom prst="rect">
            <a:avLst/>
          </a:prstGeom>
          <a:solidFill>
            <a:schemeClr val="bg1"/>
          </a:solidFill>
          <a:ln w="9525">
            <a:noFill/>
            <a:miter lim="800000"/>
            <a:headEnd/>
            <a:tailEnd/>
          </a:ln>
        </p:spPr>
        <p:txBody>
          <a:bodyPr wrap="none" anchor="ctr"/>
          <a:lstStyle/>
          <a:p>
            <a:endParaRPr lang="sv-SE"/>
          </a:p>
        </p:txBody>
      </p:sp>
      <p:sp>
        <p:nvSpPr>
          <p:cNvPr id="71" name="Rechthoek 70"/>
          <p:cNvSpPr/>
          <p:nvPr/>
        </p:nvSpPr>
        <p:spPr>
          <a:xfrm>
            <a:off x="755576" y="432924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A</a:t>
            </a:r>
            <a:endParaRPr lang="sl-SI" dirty="0">
              <a:latin typeface="Arial" pitchFamily="34" charset="0"/>
            </a:endParaRPr>
          </a:p>
        </p:txBody>
      </p:sp>
      <p:sp>
        <p:nvSpPr>
          <p:cNvPr id="72" name="Rechthoek 71"/>
          <p:cNvSpPr/>
          <p:nvPr/>
        </p:nvSpPr>
        <p:spPr>
          <a:xfrm>
            <a:off x="2737148" y="432924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B</a:t>
            </a:r>
            <a:endParaRPr lang="sl-SI" dirty="0">
              <a:latin typeface="Arial" pitchFamily="34" charset="0"/>
            </a:endParaRPr>
          </a:p>
        </p:txBody>
      </p:sp>
      <p:sp>
        <p:nvSpPr>
          <p:cNvPr id="73" name="Rechthoek 72"/>
          <p:cNvSpPr/>
          <p:nvPr/>
        </p:nvSpPr>
        <p:spPr>
          <a:xfrm>
            <a:off x="4718720" y="432924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C</a:t>
            </a:r>
            <a:endParaRPr lang="sl-SI" dirty="0">
              <a:latin typeface="Arial" pitchFamily="34" charset="0"/>
            </a:endParaRPr>
          </a:p>
        </p:txBody>
      </p:sp>
      <p:sp>
        <p:nvSpPr>
          <p:cNvPr id="74" name="Rechthoek 73"/>
          <p:cNvSpPr/>
          <p:nvPr/>
        </p:nvSpPr>
        <p:spPr>
          <a:xfrm>
            <a:off x="6700292" y="432924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D</a:t>
            </a:r>
            <a:endParaRPr lang="sl-SI" dirty="0">
              <a:latin typeface="Arial" pitchFamily="34" charset="0"/>
            </a:endParaRPr>
          </a:p>
        </p:txBody>
      </p:sp>
      <p:cxnSp>
        <p:nvCxnSpPr>
          <p:cNvPr id="75" name="Rechte verbindingslijn met pijl 74"/>
          <p:cNvCxnSpPr>
            <a:stCxn id="71" idx="3"/>
            <a:endCxn id="72" idx="1"/>
          </p:cNvCxnSpPr>
          <p:nvPr/>
        </p:nvCxnSpPr>
        <p:spPr>
          <a:xfrm>
            <a:off x="1835576" y="468924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Rechte verbindingslijn met pijl 75"/>
          <p:cNvCxnSpPr>
            <a:stCxn id="72" idx="3"/>
            <a:endCxn id="73" idx="1"/>
          </p:cNvCxnSpPr>
          <p:nvPr/>
        </p:nvCxnSpPr>
        <p:spPr>
          <a:xfrm>
            <a:off x="3817148" y="468924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7" name="Rechte verbindingslijn met pijl 76"/>
          <p:cNvCxnSpPr>
            <a:stCxn id="73" idx="3"/>
            <a:endCxn id="74" idx="1"/>
          </p:cNvCxnSpPr>
          <p:nvPr/>
        </p:nvCxnSpPr>
        <p:spPr>
          <a:xfrm>
            <a:off x="5798720" y="468924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Rechte verbindingslijn met pijl 77"/>
          <p:cNvCxnSpPr>
            <a:stCxn id="74" idx="3"/>
          </p:cNvCxnSpPr>
          <p:nvPr/>
        </p:nvCxnSpPr>
        <p:spPr>
          <a:xfrm>
            <a:off x="7780292" y="468924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9" name="Rechthoek 78"/>
          <p:cNvSpPr/>
          <p:nvPr/>
        </p:nvSpPr>
        <p:spPr>
          <a:xfrm>
            <a:off x="755576" y="5301288"/>
            <a:ext cx="1080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À</a:t>
            </a:r>
            <a:endParaRPr lang="sl-SI" dirty="0">
              <a:latin typeface="Arial" pitchFamily="34" charset="0"/>
            </a:endParaRPr>
          </a:p>
        </p:txBody>
      </p:sp>
      <p:sp>
        <p:nvSpPr>
          <p:cNvPr id="80" name="Rechthoek 79"/>
          <p:cNvSpPr/>
          <p:nvPr/>
        </p:nvSpPr>
        <p:spPr>
          <a:xfrm>
            <a:off x="2737148" y="5301288"/>
            <a:ext cx="1080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B</a:t>
            </a:r>
            <a:endParaRPr lang="sl-SI" dirty="0">
              <a:latin typeface="Arial" pitchFamily="34" charset="0"/>
            </a:endParaRPr>
          </a:p>
        </p:txBody>
      </p:sp>
      <p:sp>
        <p:nvSpPr>
          <p:cNvPr id="81" name="Rechthoek 80"/>
          <p:cNvSpPr/>
          <p:nvPr/>
        </p:nvSpPr>
        <p:spPr>
          <a:xfrm>
            <a:off x="4718720" y="5301288"/>
            <a:ext cx="1080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C</a:t>
            </a:r>
            <a:endParaRPr lang="sl-SI" dirty="0">
              <a:latin typeface="Arial" pitchFamily="34" charset="0"/>
            </a:endParaRPr>
          </a:p>
        </p:txBody>
      </p:sp>
      <p:sp>
        <p:nvSpPr>
          <p:cNvPr id="82" name="Rechthoek 81"/>
          <p:cNvSpPr/>
          <p:nvPr/>
        </p:nvSpPr>
        <p:spPr>
          <a:xfrm>
            <a:off x="6700292" y="5301288"/>
            <a:ext cx="1080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D</a:t>
            </a:r>
            <a:endParaRPr lang="sl-SI" dirty="0">
              <a:latin typeface="Arial" pitchFamily="34" charset="0"/>
            </a:endParaRPr>
          </a:p>
        </p:txBody>
      </p:sp>
      <p:cxnSp>
        <p:nvCxnSpPr>
          <p:cNvPr id="83" name="Rechte verbindingslijn met pijl 82"/>
          <p:cNvCxnSpPr>
            <a:stCxn id="71" idx="2"/>
          </p:cNvCxnSpPr>
          <p:nvPr/>
        </p:nvCxnSpPr>
        <p:spPr>
          <a:xfrm>
            <a:off x="1295576" y="504924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Rechte verbindingslijn met pijl 83"/>
          <p:cNvCxnSpPr>
            <a:stCxn id="72" idx="2"/>
          </p:cNvCxnSpPr>
          <p:nvPr/>
        </p:nvCxnSpPr>
        <p:spPr>
          <a:xfrm>
            <a:off x="3277148" y="504924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5" name="Rechte verbindingslijn met pijl 84"/>
          <p:cNvCxnSpPr>
            <a:stCxn id="73" idx="2"/>
          </p:cNvCxnSpPr>
          <p:nvPr/>
        </p:nvCxnSpPr>
        <p:spPr>
          <a:xfrm>
            <a:off x="5258720" y="504924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6" name="Rechte verbindingslijn met pijl 85"/>
          <p:cNvCxnSpPr>
            <a:stCxn id="74" idx="2"/>
          </p:cNvCxnSpPr>
          <p:nvPr/>
        </p:nvCxnSpPr>
        <p:spPr>
          <a:xfrm>
            <a:off x="7240292" y="504924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7" name="Tekstvak 86"/>
          <p:cNvSpPr txBox="1"/>
          <p:nvPr/>
        </p:nvSpPr>
        <p:spPr>
          <a:xfrm>
            <a:off x="1835696" y="4293016"/>
            <a:ext cx="540000" cy="360000"/>
          </a:xfrm>
          <a:prstGeom prst="rect">
            <a:avLst/>
          </a:prstGeom>
          <a:noFill/>
        </p:spPr>
        <p:txBody>
          <a:bodyPr wrap="square" rtlCol="0">
            <a:spAutoFit/>
          </a:bodyPr>
          <a:lstStyle/>
          <a:p>
            <a:r>
              <a:rPr dirty="0"/>
              <a:t>90</a:t>
            </a:r>
            <a:endParaRPr lang="sl-SI" dirty="0"/>
          </a:p>
        </p:txBody>
      </p:sp>
      <p:sp>
        <p:nvSpPr>
          <p:cNvPr id="88" name="Tekstvak 87"/>
          <p:cNvSpPr txBox="1"/>
          <p:nvPr/>
        </p:nvSpPr>
        <p:spPr>
          <a:xfrm>
            <a:off x="3851920" y="4293016"/>
            <a:ext cx="540000" cy="369332"/>
          </a:xfrm>
          <a:prstGeom prst="rect">
            <a:avLst/>
          </a:prstGeom>
          <a:noFill/>
        </p:spPr>
        <p:txBody>
          <a:bodyPr wrap="square" rtlCol="0">
            <a:spAutoFit/>
          </a:bodyPr>
          <a:lstStyle/>
          <a:p>
            <a:r>
              <a:rPr dirty="0"/>
              <a:t>80</a:t>
            </a:r>
            <a:endParaRPr lang="sl-SI" dirty="0"/>
          </a:p>
        </p:txBody>
      </p:sp>
      <p:sp>
        <p:nvSpPr>
          <p:cNvPr id="89" name="Tekstvak 88"/>
          <p:cNvSpPr txBox="1"/>
          <p:nvPr/>
        </p:nvSpPr>
        <p:spPr>
          <a:xfrm>
            <a:off x="5796136" y="4293016"/>
            <a:ext cx="540000" cy="369332"/>
          </a:xfrm>
          <a:prstGeom prst="rect">
            <a:avLst/>
          </a:prstGeom>
          <a:noFill/>
        </p:spPr>
        <p:txBody>
          <a:bodyPr wrap="square" rtlCol="0">
            <a:spAutoFit/>
          </a:bodyPr>
          <a:lstStyle/>
          <a:p>
            <a:r>
              <a:rPr dirty="0"/>
              <a:t>75</a:t>
            </a:r>
            <a:endParaRPr lang="sl-SI" dirty="0"/>
          </a:p>
        </p:txBody>
      </p:sp>
      <p:sp>
        <p:nvSpPr>
          <p:cNvPr id="90" name="Tekstvak 89"/>
          <p:cNvSpPr txBox="1"/>
          <p:nvPr/>
        </p:nvSpPr>
        <p:spPr>
          <a:xfrm>
            <a:off x="7812360" y="4293016"/>
            <a:ext cx="540000" cy="369332"/>
          </a:xfrm>
          <a:prstGeom prst="rect">
            <a:avLst/>
          </a:prstGeom>
          <a:noFill/>
        </p:spPr>
        <p:txBody>
          <a:bodyPr wrap="square" rtlCol="0">
            <a:spAutoFit/>
          </a:bodyPr>
          <a:lstStyle/>
          <a:p>
            <a:r>
              <a:rPr dirty="0"/>
              <a:t>70</a:t>
            </a:r>
            <a:endParaRPr lang="sl-SI" dirty="0"/>
          </a:p>
        </p:txBody>
      </p:sp>
      <p:sp>
        <p:nvSpPr>
          <p:cNvPr id="91" name="Tekstvak 90"/>
          <p:cNvSpPr txBox="1"/>
          <p:nvPr/>
        </p:nvSpPr>
        <p:spPr>
          <a:xfrm>
            <a:off x="1295696" y="5085104"/>
            <a:ext cx="540000" cy="369332"/>
          </a:xfrm>
          <a:prstGeom prst="rect">
            <a:avLst/>
          </a:prstGeom>
          <a:noFill/>
        </p:spPr>
        <p:txBody>
          <a:bodyPr wrap="square" rtlCol="0">
            <a:spAutoFit/>
          </a:bodyPr>
          <a:lstStyle/>
          <a:p>
            <a:r>
              <a:rPr dirty="0"/>
              <a:t>10</a:t>
            </a:r>
            <a:endParaRPr lang="sl-SI" dirty="0"/>
          </a:p>
        </p:txBody>
      </p:sp>
      <p:sp>
        <p:nvSpPr>
          <p:cNvPr id="92" name="Tekstvak 91"/>
          <p:cNvSpPr txBox="1"/>
          <p:nvPr/>
        </p:nvSpPr>
        <p:spPr>
          <a:xfrm>
            <a:off x="3311920" y="5085144"/>
            <a:ext cx="540000" cy="369332"/>
          </a:xfrm>
          <a:prstGeom prst="rect">
            <a:avLst/>
          </a:prstGeom>
          <a:noFill/>
        </p:spPr>
        <p:txBody>
          <a:bodyPr wrap="square" rtlCol="0">
            <a:spAutoFit/>
          </a:bodyPr>
          <a:lstStyle/>
          <a:p>
            <a:r>
              <a:rPr dirty="0"/>
              <a:t>10</a:t>
            </a:r>
            <a:endParaRPr lang="sl-SI" dirty="0"/>
          </a:p>
        </p:txBody>
      </p:sp>
      <p:sp>
        <p:nvSpPr>
          <p:cNvPr id="93" name="Tekstvak 92"/>
          <p:cNvSpPr txBox="1"/>
          <p:nvPr/>
        </p:nvSpPr>
        <p:spPr>
          <a:xfrm>
            <a:off x="5256136" y="5085104"/>
            <a:ext cx="540000" cy="369332"/>
          </a:xfrm>
          <a:prstGeom prst="rect">
            <a:avLst/>
          </a:prstGeom>
          <a:noFill/>
        </p:spPr>
        <p:txBody>
          <a:bodyPr wrap="square" rtlCol="0">
            <a:spAutoFit/>
          </a:bodyPr>
          <a:lstStyle/>
          <a:p>
            <a:r>
              <a:rPr dirty="0"/>
              <a:t>5</a:t>
            </a:r>
            <a:endParaRPr lang="sl-SI" dirty="0"/>
          </a:p>
        </p:txBody>
      </p:sp>
      <p:sp>
        <p:nvSpPr>
          <p:cNvPr id="94" name="Tekstvak 93"/>
          <p:cNvSpPr txBox="1"/>
          <p:nvPr/>
        </p:nvSpPr>
        <p:spPr>
          <a:xfrm>
            <a:off x="7272360" y="5085104"/>
            <a:ext cx="540000" cy="369332"/>
          </a:xfrm>
          <a:prstGeom prst="rect">
            <a:avLst/>
          </a:prstGeom>
          <a:noFill/>
        </p:spPr>
        <p:txBody>
          <a:bodyPr wrap="square" rtlCol="0">
            <a:spAutoFit/>
          </a:bodyPr>
          <a:lstStyle/>
          <a:p>
            <a:r>
              <a:rPr dirty="0"/>
              <a:t>5</a:t>
            </a:r>
            <a:endParaRPr lang="sl-SI" dirty="0"/>
          </a:p>
        </p:txBody>
      </p:sp>
    </p:spTree>
    <p:extLst>
      <p:ext uri="{BB962C8B-B14F-4D97-AF65-F5344CB8AC3E}">
        <p14:creationId xmlns:p14="http://schemas.microsoft.com/office/powerpoint/2010/main" val="353844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20725" y="238125"/>
            <a:ext cx="6478588" cy="600075"/>
          </a:xfrm>
        </p:spPr>
        <p:txBody>
          <a:bodyPr/>
          <a:lstStyle/>
          <a:p>
            <a:pPr eaLnBrk="1" hangingPunct="1"/>
            <a:r>
              <a:rPr lang="en-US" dirty="0" err="1">
                <a:latin typeface="Arial" charset="0"/>
              </a:rPr>
              <a:t>Metrike</a:t>
            </a:r>
            <a:r>
              <a:rPr lang="en-US" dirty="0">
                <a:latin typeface="Arial" charset="0"/>
              </a:rPr>
              <a:t> </a:t>
            </a:r>
            <a:r>
              <a:rPr lang="en-US" dirty="0" err="1">
                <a:latin typeface="Arial" charset="0"/>
              </a:rPr>
              <a:t>zmogljivosti</a:t>
            </a:r>
            <a:r>
              <a:rPr lang="en-US" dirty="0">
                <a:latin typeface="Arial" charset="0"/>
              </a:rPr>
              <a:t> </a:t>
            </a:r>
            <a:r>
              <a:rPr lang="en-US" dirty="0" err="1">
                <a:latin typeface="Arial" charset="0"/>
              </a:rPr>
              <a:t>procesov</a:t>
            </a:r>
            <a:endParaRPr lang="sl-SI" sz="2400" dirty="0">
              <a:latin typeface="Arial" charset="0"/>
              <a:cs typeface="Arial" charset="0"/>
            </a:endParaRPr>
          </a:p>
        </p:txBody>
      </p:sp>
      <p:sp>
        <p:nvSpPr>
          <p:cNvPr id="9" name="Rectangle 3"/>
          <p:cNvSpPr>
            <a:spLocks noGrp="1" noChangeArrowheads="1"/>
          </p:cNvSpPr>
          <p:nvPr>
            <p:ph idx="1"/>
          </p:nvPr>
        </p:nvSpPr>
        <p:spPr>
          <a:xfrm>
            <a:off x="720725" y="1439863"/>
            <a:ext cx="7920038" cy="5040312"/>
          </a:xfrm>
        </p:spPr>
        <p:txBody>
          <a:bodyPr/>
          <a:lstStyle/>
          <a:p>
            <a:r>
              <a:rPr dirty="0"/>
              <a:t>Izkoristek v </a:t>
            </a:r>
            <a:r>
              <a:rPr dirty="0" err="1"/>
              <a:t>prvem</a:t>
            </a:r>
            <a:r>
              <a:rPr dirty="0"/>
              <a:t> </a:t>
            </a:r>
            <a:r>
              <a:rPr dirty="0" err="1"/>
              <a:t>poskusu</a:t>
            </a:r>
            <a:r>
              <a:rPr lang="sl-SI" dirty="0"/>
              <a:t> </a:t>
            </a:r>
            <a:r>
              <a:rPr lang="sl-SI" sz="1600" dirty="0"/>
              <a:t>(First Time </a:t>
            </a:r>
            <a:r>
              <a:rPr lang="sl-SI" sz="1600" dirty="0" err="1"/>
              <a:t>Right</a:t>
            </a:r>
            <a:r>
              <a:rPr lang="sl-SI" sz="1600" dirty="0"/>
              <a:t>/</a:t>
            </a:r>
            <a:r>
              <a:rPr lang="sl-SI" sz="1600" dirty="0" err="1"/>
              <a:t>Yield</a:t>
            </a:r>
            <a:r>
              <a:rPr lang="sl-SI" sz="1600" dirty="0"/>
              <a:t> FTR/FTY)</a:t>
            </a:r>
            <a:endParaRPr lang="sl-SI" sz="11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lvl="1"/>
            <a:endParaRPr lang="sl-SI" sz="1600" dirty="0"/>
          </a:p>
          <a:p>
            <a:pPr marL="179387" lvl="1" indent="0">
              <a:buNone/>
            </a:pPr>
            <a:r>
              <a:rPr lang="en-US" sz="1600" dirty="0"/>
              <a:t>Izkoristek v vrsti </a:t>
            </a:r>
            <a:r>
              <a:rPr lang="en-US" sz="1600" dirty="0" err="1"/>
              <a:t>korakov</a:t>
            </a:r>
            <a:r>
              <a:rPr lang="en-US" sz="1600" dirty="0"/>
              <a:t> </a:t>
            </a:r>
            <a:r>
              <a:rPr lang="sl-SI" sz="1050" dirty="0"/>
              <a:t>(</a:t>
            </a:r>
            <a:r>
              <a:rPr lang="sl-SI" sz="1050" dirty="0" err="1"/>
              <a:t>Rolled</a:t>
            </a:r>
            <a:r>
              <a:rPr lang="sl-SI" sz="1050" dirty="0"/>
              <a:t> </a:t>
            </a:r>
            <a:r>
              <a:rPr lang="sl-SI" sz="1050" dirty="0" err="1"/>
              <a:t>Throughput</a:t>
            </a:r>
            <a:r>
              <a:rPr lang="sl-SI" sz="1050" dirty="0"/>
              <a:t> </a:t>
            </a:r>
            <a:r>
              <a:rPr lang="sl-SI" sz="1050" dirty="0" err="1"/>
              <a:t>Yield</a:t>
            </a:r>
            <a:r>
              <a:rPr lang="sl-SI" sz="1050" dirty="0"/>
              <a:t> RTY) </a:t>
            </a:r>
            <a:r>
              <a:rPr lang="en-US" sz="1600" dirty="0"/>
              <a:t>= 0,85 x 0,81 x 0,90 x 0,87 = 54%</a:t>
            </a:r>
          </a:p>
        </p:txBody>
      </p:sp>
      <p:sp>
        <p:nvSpPr>
          <p:cNvPr id="10" name="Rectangle 5"/>
          <p:cNvSpPr>
            <a:spLocks noChangeArrowheads="1"/>
          </p:cNvSpPr>
          <p:nvPr/>
        </p:nvSpPr>
        <p:spPr bwMode="auto">
          <a:xfrm>
            <a:off x="5628680" y="5924657"/>
            <a:ext cx="2952767" cy="304800"/>
          </a:xfrm>
          <a:prstGeom prst="rect">
            <a:avLst/>
          </a:prstGeom>
          <a:solidFill>
            <a:schemeClr val="bg1"/>
          </a:solidFill>
          <a:ln w="9525">
            <a:noFill/>
            <a:miter lim="800000"/>
            <a:headEnd/>
            <a:tailEnd/>
          </a:ln>
        </p:spPr>
        <p:txBody>
          <a:bodyPr wrap="none" anchor="ctr"/>
          <a:lstStyle/>
          <a:p>
            <a:endParaRPr lang="sv-SE"/>
          </a:p>
        </p:txBody>
      </p:sp>
      <p:graphicFrame>
        <p:nvGraphicFramePr>
          <p:cNvPr id="11" name="Tabel 10"/>
          <p:cNvGraphicFramePr>
            <a:graphicFrameLocks noGrp="1"/>
          </p:cNvGraphicFramePr>
          <p:nvPr>
            <p:extLst>
              <p:ext uri="{D42A27DB-BD31-4B8C-83A1-F6EECF244321}">
                <p14:modId xmlns:p14="http://schemas.microsoft.com/office/powerpoint/2010/main" val="4198858231"/>
              </p:ext>
            </p:extLst>
          </p:nvPr>
        </p:nvGraphicFramePr>
        <p:xfrm>
          <a:off x="720000" y="1980000"/>
          <a:ext cx="8172480" cy="1828800"/>
        </p:xfrm>
        <a:graphic>
          <a:graphicData uri="http://schemas.openxmlformats.org/drawingml/2006/table">
            <a:tbl>
              <a:tblPr firstRow="1" bandRow="1">
                <a:tableStyleId>{5C22544A-7EE6-4342-B048-85BDC9FD1C3A}</a:tableStyleId>
              </a:tblPr>
              <a:tblGrid>
                <a:gridCol w="1020082">
                  <a:extLst>
                    <a:ext uri="{9D8B030D-6E8A-4147-A177-3AD203B41FA5}">
                      <a16:colId xmlns:a16="http://schemas.microsoft.com/office/drawing/2014/main" val="20000"/>
                    </a:ext>
                  </a:extLst>
                </a:gridCol>
                <a:gridCol w="815694">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864096">
                  <a:extLst>
                    <a:ext uri="{9D8B030D-6E8A-4147-A177-3AD203B41FA5}">
                      <a16:colId xmlns:a16="http://schemas.microsoft.com/office/drawing/2014/main" val="20003"/>
                    </a:ext>
                  </a:extLst>
                </a:gridCol>
                <a:gridCol w="1973368">
                  <a:extLst>
                    <a:ext uri="{9D8B030D-6E8A-4147-A177-3AD203B41FA5}">
                      <a16:colId xmlns:a16="http://schemas.microsoft.com/office/drawing/2014/main" val="20004"/>
                    </a:ext>
                  </a:extLst>
                </a:gridCol>
                <a:gridCol w="1508858">
                  <a:extLst>
                    <a:ext uri="{9D8B030D-6E8A-4147-A177-3AD203B41FA5}">
                      <a16:colId xmlns:a16="http://schemas.microsoft.com/office/drawing/2014/main" val="20005"/>
                    </a:ext>
                  </a:extLst>
                </a:gridCol>
                <a:gridCol w="838254">
                  <a:extLst>
                    <a:ext uri="{9D8B030D-6E8A-4147-A177-3AD203B41FA5}">
                      <a16:colId xmlns:a16="http://schemas.microsoft.com/office/drawing/2014/main" val="20006"/>
                    </a:ext>
                  </a:extLst>
                </a:gridCol>
              </a:tblGrid>
              <a:tr h="324000">
                <a:tc>
                  <a:txBody>
                    <a:bodyPr/>
                    <a:lstStyle/>
                    <a:p>
                      <a:pPr algn="ctr"/>
                      <a:r>
                        <a:rPr lang="nl-NL" dirty="0">
                          <a:latin typeface="Arial" pitchFamily="34" charset="0"/>
                        </a:rPr>
                        <a:t>Proces</a:t>
                      </a:r>
                      <a:endParaRPr lang="sl-SI" dirty="0">
                        <a:latin typeface="Arial" pitchFamily="34" charset="0"/>
                      </a:endParaRPr>
                    </a:p>
                  </a:txBody>
                  <a:tcPr marL="45720" marR="45720" anchor="ctr"/>
                </a:tc>
                <a:tc>
                  <a:txBody>
                    <a:bodyPr/>
                    <a:lstStyle/>
                    <a:p>
                      <a:pPr algn="ctr"/>
                      <a:r>
                        <a:rPr lang="nl-NL" dirty="0">
                          <a:latin typeface="Arial" pitchFamily="34" charset="0"/>
                        </a:rPr>
                        <a:t>Škart</a:t>
                      </a:r>
                      <a:endParaRPr lang="sl-SI" dirty="0">
                        <a:latin typeface="Arial" pitchFamily="34" charset="0"/>
                      </a:endParaRPr>
                    </a:p>
                  </a:txBody>
                  <a:tcPr marL="45720" marR="45720" anchor="ctr"/>
                </a:tc>
                <a:tc>
                  <a:txBody>
                    <a:bodyPr/>
                    <a:lstStyle/>
                    <a:p>
                      <a:pPr algn="ctr"/>
                      <a:r>
                        <a:rPr lang="nl-NL" dirty="0">
                          <a:latin typeface="Arial" pitchFamily="34" charset="0"/>
                        </a:rPr>
                        <a:t>Dodelava</a:t>
                      </a:r>
                      <a:endParaRPr lang="sl-SI" dirty="0">
                        <a:latin typeface="Arial" pitchFamily="34" charset="0"/>
                      </a:endParaRPr>
                    </a:p>
                  </a:txBody>
                  <a:tcPr marL="45720" marR="45720" anchor="ctr"/>
                </a:tc>
                <a:tc>
                  <a:txBody>
                    <a:bodyPr/>
                    <a:lstStyle/>
                    <a:p>
                      <a:pPr algn="ctr"/>
                      <a:r>
                        <a:rPr lang="nl-NL" dirty="0">
                          <a:latin typeface="Arial" pitchFamily="34" charset="0"/>
                        </a:rPr>
                        <a:t>Izhod</a:t>
                      </a:r>
                      <a:endParaRPr lang="sl-SI" dirty="0">
                        <a:latin typeface="Arial" pitchFamily="34" charset="0"/>
                      </a:endParaRPr>
                    </a:p>
                  </a:txBody>
                  <a:tcPr marL="45720" marR="45720" anchor="ctr"/>
                </a:tc>
                <a:tc gridSpan="3">
                  <a:txBody>
                    <a:bodyPr/>
                    <a:lstStyle/>
                    <a:p>
                      <a:pPr algn="ctr"/>
                      <a:r>
                        <a:rPr lang="nl-NL" dirty="0">
                          <a:latin typeface="Arial" pitchFamily="34" charset="0"/>
                        </a:rPr>
                        <a:t>Izkoristek v prvem poskusu</a:t>
                      </a:r>
                      <a:endParaRPr lang="sl-SI" dirty="0">
                        <a:latin typeface="Arial" pitchFamily="34" charset="0"/>
                      </a:endParaRPr>
                    </a:p>
                  </a:txBody>
                  <a:tcPr marL="45720" marR="45720" anchor="ctr"/>
                </a:tc>
                <a:tc hMerge="1">
                  <a:txBody>
                    <a:bodyPr/>
                    <a:lstStyle/>
                    <a:p>
                      <a:pPr algn="ctr"/>
                      <a:endParaRPr lang="nl-NL" dirty="0"/>
                    </a:p>
                  </a:txBody>
                  <a:tcPr marL="45720" marR="45720" anchor="ctr"/>
                </a:tc>
                <a:tc hMerge="1">
                  <a:txBody>
                    <a:bodyPr/>
                    <a:lstStyle/>
                    <a:p>
                      <a:pPr algn="ctr"/>
                      <a:endParaRPr lang="nl-NL" dirty="0"/>
                    </a:p>
                  </a:txBody>
                  <a:tcPr marL="45720" marR="45720" anchor="ctr"/>
                </a:tc>
                <a:extLst>
                  <a:ext uri="{0D108BD9-81ED-4DB2-BD59-A6C34878D82A}">
                    <a16:rowId xmlns:a16="http://schemas.microsoft.com/office/drawing/2014/main" val="10000"/>
                  </a:ext>
                </a:extLst>
              </a:tr>
              <a:tr h="324000">
                <a:tc>
                  <a:txBody>
                    <a:bodyPr/>
                    <a:lstStyle/>
                    <a:p>
                      <a:pPr algn="ctr"/>
                      <a:r>
                        <a:rPr lang="nl-NL" dirty="0">
                          <a:latin typeface="Arial" pitchFamily="34" charset="0"/>
                        </a:rPr>
                        <a:t>A</a:t>
                      </a:r>
                      <a:endParaRPr lang="sl-SI" dirty="0">
                        <a:latin typeface="Arial" pitchFamily="34" charset="0"/>
                      </a:endParaRPr>
                    </a:p>
                  </a:txBody>
                  <a:tcPr marL="45720" marR="45720" anchor="ctr"/>
                </a:tc>
                <a:tc>
                  <a:txBody>
                    <a:bodyPr/>
                    <a:lstStyle/>
                    <a:p>
                      <a:pPr algn="ctr"/>
                      <a:r>
                        <a:rPr lang="nl-NL" dirty="0">
                          <a:latin typeface="Arial" pitchFamily="34" charset="0"/>
                        </a:rPr>
                        <a:t>10</a:t>
                      </a:r>
                      <a:endParaRPr lang="sl-SI" dirty="0">
                        <a:latin typeface="Arial" pitchFamily="34" charset="0"/>
                      </a:endParaRPr>
                    </a:p>
                  </a:txBody>
                  <a:tcPr marL="45720" marR="45720" anchor="ctr"/>
                </a:tc>
                <a:tc>
                  <a:txBody>
                    <a:bodyPr/>
                    <a:lstStyle/>
                    <a:p>
                      <a:pPr algn="ctr"/>
                      <a:r>
                        <a:rPr lang="nl-NL" dirty="0">
                          <a:latin typeface="Arial" pitchFamily="34" charset="0"/>
                        </a:rPr>
                        <a:t>5</a:t>
                      </a:r>
                      <a:endParaRPr lang="sl-SI" dirty="0">
                        <a:latin typeface="Arial" pitchFamily="34" charset="0"/>
                      </a:endParaRPr>
                    </a:p>
                  </a:txBody>
                  <a:tcPr marL="45720" marR="45720" anchor="ctr"/>
                </a:tc>
                <a:tc>
                  <a:txBody>
                    <a:bodyPr/>
                    <a:lstStyle/>
                    <a:p>
                      <a:pPr algn="ctr"/>
                      <a:r>
                        <a:rPr lang="nl-NL" dirty="0">
                          <a:latin typeface="Arial" pitchFamily="34" charset="0"/>
                        </a:rPr>
                        <a:t>90</a:t>
                      </a:r>
                      <a:endParaRPr lang="sl-SI" dirty="0">
                        <a:latin typeface="Arial" pitchFamily="34" charset="0"/>
                      </a:endParaRPr>
                    </a:p>
                  </a:txBody>
                  <a:tcPr marL="45720" marR="45720"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charset="0"/>
                        </a:rPr>
                        <a:t>(90-5) / (90+10)</a:t>
                      </a:r>
                    </a:p>
                  </a:txBody>
                  <a:tcPr/>
                </a:tc>
                <a:tc>
                  <a:txBody>
                    <a:bodyPr/>
                    <a:lstStyle/>
                    <a:p>
                      <a:r>
                        <a:rPr lang="en-US" dirty="0">
                          <a:latin typeface="Arial" charset="0"/>
                        </a:rPr>
                        <a:t>= 85 /100</a:t>
                      </a:r>
                      <a:endParaRPr lang="sl-SI" dirty="0">
                        <a:latin typeface="Arial" pitchFamily="34" charset="0"/>
                      </a:endParaRPr>
                    </a:p>
                  </a:txBody>
                  <a:tcPr/>
                </a:tc>
                <a:tc>
                  <a:txBody>
                    <a:bodyPr/>
                    <a:lstStyle/>
                    <a:p>
                      <a:r>
                        <a:rPr lang="en-US" dirty="0">
                          <a:latin typeface="Arial" charset="0"/>
                        </a:rPr>
                        <a:t>= 85%</a:t>
                      </a:r>
                      <a:endParaRPr lang="sl-SI" dirty="0">
                        <a:latin typeface="Arial" pitchFamily="34" charset="0"/>
                      </a:endParaRPr>
                    </a:p>
                  </a:txBody>
                  <a:tcPr/>
                </a:tc>
                <a:extLst>
                  <a:ext uri="{0D108BD9-81ED-4DB2-BD59-A6C34878D82A}">
                    <a16:rowId xmlns:a16="http://schemas.microsoft.com/office/drawing/2014/main" val="10001"/>
                  </a:ext>
                </a:extLst>
              </a:tr>
              <a:tr h="324000">
                <a:tc>
                  <a:txBody>
                    <a:bodyPr/>
                    <a:lstStyle/>
                    <a:p>
                      <a:pPr algn="ctr"/>
                      <a:r>
                        <a:rPr lang="nl-NL" dirty="0">
                          <a:latin typeface="Arial" pitchFamily="34" charset="0"/>
                        </a:rPr>
                        <a:t>B</a:t>
                      </a:r>
                      <a:endParaRPr lang="sl-SI" dirty="0">
                        <a:latin typeface="Arial" pitchFamily="34" charset="0"/>
                      </a:endParaRPr>
                    </a:p>
                  </a:txBody>
                  <a:tcPr marL="45720" marR="45720" anchor="ctr"/>
                </a:tc>
                <a:tc>
                  <a:txBody>
                    <a:bodyPr/>
                    <a:lstStyle/>
                    <a:p>
                      <a:pPr algn="ctr"/>
                      <a:r>
                        <a:rPr lang="nl-NL" dirty="0">
                          <a:latin typeface="Arial" pitchFamily="34" charset="0"/>
                        </a:rPr>
                        <a:t>10</a:t>
                      </a:r>
                      <a:endParaRPr lang="sl-SI" dirty="0">
                        <a:latin typeface="Arial" pitchFamily="34" charset="0"/>
                      </a:endParaRPr>
                    </a:p>
                  </a:txBody>
                  <a:tcPr marL="45720" marR="45720" anchor="ctr"/>
                </a:tc>
                <a:tc>
                  <a:txBody>
                    <a:bodyPr/>
                    <a:lstStyle/>
                    <a:p>
                      <a:pPr algn="ctr"/>
                      <a:r>
                        <a:rPr lang="nl-NL" dirty="0">
                          <a:latin typeface="Arial" pitchFamily="34" charset="0"/>
                        </a:rPr>
                        <a:t>7</a:t>
                      </a:r>
                      <a:endParaRPr lang="sl-SI" dirty="0">
                        <a:latin typeface="Arial" pitchFamily="34" charset="0"/>
                      </a:endParaRPr>
                    </a:p>
                  </a:txBody>
                  <a:tcPr marL="45720" marR="45720" anchor="ctr"/>
                </a:tc>
                <a:tc>
                  <a:txBody>
                    <a:bodyPr/>
                    <a:lstStyle/>
                    <a:p>
                      <a:pPr algn="ctr"/>
                      <a:r>
                        <a:rPr lang="nl-NL" dirty="0">
                          <a:latin typeface="Arial" pitchFamily="34" charset="0"/>
                        </a:rPr>
                        <a:t>80</a:t>
                      </a:r>
                      <a:endParaRPr lang="sl-SI" dirty="0">
                        <a:latin typeface="Arial" pitchFamily="34" charset="0"/>
                      </a:endParaRPr>
                    </a:p>
                  </a:txBody>
                  <a:tcPr marL="45720" marR="45720"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charset="0"/>
                        </a:rPr>
                        <a:t>(80-7) / (80+10)</a:t>
                      </a:r>
                    </a:p>
                  </a:txBody>
                  <a:tcPr/>
                </a:tc>
                <a:tc>
                  <a:txBody>
                    <a:bodyPr/>
                    <a:lstStyle/>
                    <a:p>
                      <a:r>
                        <a:rPr lang="en-US" dirty="0">
                          <a:latin typeface="Arial" charset="0"/>
                        </a:rPr>
                        <a:t>= 73 / 90</a:t>
                      </a:r>
                      <a:endParaRPr lang="sl-SI" dirty="0">
                        <a:latin typeface="Arial" pitchFamily="34" charset="0"/>
                      </a:endParaRPr>
                    </a:p>
                  </a:txBody>
                  <a:tcPr/>
                </a:tc>
                <a:tc>
                  <a:txBody>
                    <a:bodyPr/>
                    <a:lstStyle/>
                    <a:p>
                      <a:r>
                        <a:rPr lang="en-US" dirty="0">
                          <a:latin typeface="Arial" charset="0"/>
                        </a:rPr>
                        <a:t>= 81%</a:t>
                      </a:r>
                      <a:endParaRPr lang="sl-SI" dirty="0">
                        <a:latin typeface="Arial" pitchFamily="34" charset="0"/>
                      </a:endParaRPr>
                    </a:p>
                  </a:txBody>
                  <a:tcPr/>
                </a:tc>
                <a:extLst>
                  <a:ext uri="{0D108BD9-81ED-4DB2-BD59-A6C34878D82A}">
                    <a16:rowId xmlns:a16="http://schemas.microsoft.com/office/drawing/2014/main" val="10002"/>
                  </a:ext>
                </a:extLst>
              </a:tr>
              <a:tr h="324000">
                <a:tc>
                  <a:txBody>
                    <a:bodyPr/>
                    <a:lstStyle/>
                    <a:p>
                      <a:pPr algn="ctr"/>
                      <a:r>
                        <a:rPr lang="nl-NL" dirty="0">
                          <a:latin typeface="Arial" pitchFamily="34" charset="0"/>
                        </a:rPr>
                        <a:t>C</a:t>
                      </a:r>
                      <a:endParaRPr lang="sl-SI" dirty="0">
                        <a:latin typeface="Arial" pitchFamily="34" charset="0"/>
                      </a:endParaRPr>
                    </a:p>
                  </a:txBody>
                  <a:tcPr marL="45720" marR="45720" anchor="ctr"/>
                </a:tc>
                <a:tc>
                  <a:txBody>
                    <a:bodyPr/>
                    <a:lstStyle/>
                    <a:p>
                      <a:pPr algn="ctr"/>
                      <a:r>
                        <a:rPr lang="nl-NL" dirty="0">
                          <a:latin typeface="Arial" pitchFamily="34" charset="0"/>
                        </a:rPr>
                        <a:t>5</a:t>
                      </a:r>
                      <a:endParaRPr lang="sl-SI" dirty="0">
                        <a:latin typeface="Arial" pitchFamily="34" charset="0"/>
                      </a:endParaRPr>
                    </a:p>
                  </a:txBody>
                  <a:tcPr marL="45720" marR="45720" anchor="ctr"/>
                </a:tc>
                <a:tc>
                  <a:txBody>
                    <a:bodyPr/>
                    <a:lstStyle/>
                    <a:p>
                      <a:pPr algn="ctr"/>
                      <a:r>
                        <a:rPr lang="nl-NL" dirty="0">
                          <a:latin typeface="Arial" pitchFamily="34" charset="0"/>
                        </a:rPr>
                        <a:t>3</a:t>
                      </a:r>
                      <a:endParaRPr lang="sl-SI" dirty="0">
                        <a:latin typeface="Arial" pitchFamily="34" charset="0"/>
                      </a:endParaRPr>
                    </a:p>
                  </a:txBody>
                  <a:tcPr marL="45720" marR="45720" anchor="ctr"/>
                </a:tc>
                <a:tc>
                  <a:txBody>
                    <a:bodyPr/>
                    <a:lstStyle/>
                    <a:p>
                      <a:pPr algn="ctr"/>
                      <a:r>
                        <a:rPr lang="nl-NL" dirty="0">
                          <a:latin typeface="Arial" pitchFamily="34" charset="0"/>
                        </a:rPr>
                        <a:t>75</a:t>
                      </a:r>
                      <a:endParaRPr lang="sl-SI" dirty="0">
                        <a:latin typeface="Arial" pitchFamily="34" charset="0"/>
                      </a:endParaRPr>
                    </a:p>
                  </a:txBody>
                  <a:tcPr marL="45720" marR="45720"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charset="0"/>
                        </a:rPr>
                        <a:t>(75-3) / (75+5)</a:t>
                      </a:r>
                    </a:p>
                  </a:txBody>
                  <a:tcPr/>
                </a:tc>
                <a:tc>
                  <a:txBody>
                    <a:bodyPr/>
                    <a:lstStyle/>
                    <a:p>
                      <a:r>
                        <a:rPr lang="en-US" dirty="0">
                          <a:latin typeface="Arial" charset="0"/>
                        </a:rPr>
                        <a:t>= 72 / 80</a:t>
                      </a:r>
                      <a:endParaRPr lang="sl-SI" dirty="0">
                        <a:latin typeface="Arial" pitchFamily="34" charset="0"/>
                      </a:endParaRPr>
                    </a:p>
                  </a:txBody>
                  <a:tcPr/>
                </a:tc>
                <a:tc>
                  <a:txBody>
                    <a:bodyPr/>
                    <a:lstStyle/>
                    <a:p>
                      <a:r>
                        <a:rPr lang="en-US" dirty="0">
                          <a:latin typeface="Arial" charset="0"/>
                        </a:rPr>
                        <a:t>= 90%</a:t>
                      </a:r>
                      <a:endParaRPr lang="sl-SI" dirty="0">
                        <a:latin typeface="Arial" pitchFamily="34" charset="0"/>
                      </a:endParaRPr>
                    </a:p>
                  </a:txBody>
                  <a:tcPr/>
                </a:tc>
                <a:extLst>
                  <a:ext uri="{0D108BD9-81ED-4DB2-BD59-A6C34878D82A}">
                    <a16:rowId xmlns:a16="http://schemas.microsoft.com/office/drawing/2014/main" val="10003"/>
                  </a:ext>
                </a:extLst>
              </a:tr>
              <a:tr h="324000">
                <a:tc>
                  <a:txBody>
                    <a:bodyPr/>
                    <a:lstStyle/>
                    <a:p>
                      <a:pPr algn="ctr"/>
                      <a:r>
                        <a:rPr lang="nl-NL" dirty="0">
                          <a:latin typeface="Arial" pitchFamily="34" charset="0"/>
                        </a:rPr>
                        <a:t>D</a:t>
                      </a:r>
                      <a:endParaRPr lang="sl-SI" dirty="0">
                        <a:latin typeface="Arial" pitchFamily="34" charset="0"/>
                      </a:endParaRPr>
                    </a:p>
                  </a:txBody>
                  <a:tcPr marL="45720" marR="45720" anchor="ctr"/>
                </a:tc>
                <a:tc>
                  <a:txBody>
                    <a:bodyPr/>
                    <a:lstStyle/>
                    <a:p>
                      <a:pPr algn="ctr"/>
                      <a:r>
                        <a:rPr lang="nl-NL" dirty="0">
                          <a:latin typeface="Arial" pitchFamily="34" charset="0"/>
                        </a:rPr>
                        <a:t>5</a:t>
                      </a:r>
                      <a:endParaRPr lang="sl-SI" dirty="0">
                        <a:latin typeface="Arial" pitchFamily="34" charset="0"/>
                      </a:endParaRPr>
                    </a:p>
                  </a:txBody>
                  <a:tcPr marL="45720" marR="45720" anchor="ctr"/>
                </a:tc>
                <a:tc>
                  <a:txBody>
                    <a:bodyPr/>
                    <a:lstStyle/>
                    <a:p>
                      <a:pPr algn="ctr"/>
                      <a:r>
                        <a:rPr lang="nl-NL" dirty="0">
                          <a:latin typeface="Arial" pitchFamily="34" charset="0"/>
                        </a:rPr>
                        <a:t>5</a:t>
                      </a:r>
                      <a:endParaRPr lang="sl-SI" dirty="0">
                        <a:latin typeface="Arial" pitchFamily="34" charset="0"/>
                      </a:endParaRPr>
                    </a:p>
                  </a:txBody>
                  <a:tcPr marL="45720" marR="45720" anchor="ctr"/>
                </a:tc>
                <a:tc>
                  <a:txBody>
                    <a:bodyPr/>
                    <a:lstStyle/>
                    <a:p>
                      <a:pPr algn="ctr"/>
                      <a:r>
                        <a:rPr lang="nl-NL" dirty="0">
                          <a:latin typeface="Arial" pitchFamily="34" charset="0"/>
                        </a:rPr>
                        <a:t>70</a:t>
                      </a:r>
                      <a:endParaRPr lang="sl-SI" dirty="0">
                        <a:latin typeface="Arial" pitchFamily="34" charset="0"/>
                      </a:endParaRPr>
                    </a:p>
                  </a:txBody>
                  <a:tcPr marL="45720" marR="45720"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charset="0"/>
                        </a:rPr>
                        <a:t>(70-5) / (70+5)</a:t>
                      </a:r>
                    </a:p>
                  </a:txBody>
                  <a:tcPr/>
                </a:tc>
                <a:tc>
                  <a:txBody>
                    <a:bodyPr/>
                    <a:lstStyle/>
                    <a:p>
                      <a:r>
                        <a:rPr lang="en-US" dirty="0">
                          <a:latin typeface="Arial" charset="0"/>
                        </a:rPr>
                        <a:t>= 65 / 75</a:t>
                      </a:r>
                      <a:endParaRPr lang="sl-SI" dirty="0">
                        <a:latin typeface="Arial" pitchFamily="34" charset="0"/>
                      </a:endParaRPr>
                    </a:p>
                  </a:txBody>
                  <a:tcPr/>
                </a:tc>
                <a:tc>
                  <a:txBody>
                    <a:bodyPr/>
                    <a:lstStyle/>
                    <a:p>
                      <a:r>
                        <a:rPr lang="en-US" dirty="0">
                          <a:latin typeface="Arial" charset="0"/>
                        </a:rPr>
                        <a:t>= 87%</a:t>
                      </a:r>
                      <a:endParaRPr lang="sl-SI" dirty="0">
                        <a:latin typeface="Arial" pitchFamily="34" charset="0"/>
                      </a:endParaRPr>
                    </a:p>
                  </a:txBody>
                  <a:tcPr/>
                </a:tc>
                <a:extLst>
                  <a:ext uri="{0D108BD9-81ED-4DB2-BD59-A6C34878D82A}">
                    <a16:rowId xmlns:a16="http://schemas.microsoft.com/office/drawing/2014/main" val="10004"/>
                  </a:ext>
                </a:extLst>
              </a:tr>
            </a:tbl>
          </a:graphicData>
        </a:graphic>
      </p:graphicFrame>
      <p:sp>
        <p:nvSpPr>
          <p:cNvPr id="12" name="Rectangle 6"/>
          <p:cNvSpPr>
            <a:spLocks noChangeArrowheads="1"/>
          </p:cNvSpPr>
          <p:nvPr/>
        </p:nvSpPr>
        <p:spPr bwMode="auto">
          <a:xfrm>
            <a:off x="4554561" y="2361584"/>
            <a:ext cx="4337919" cy="1447216"/>
          </a:xfrm>
          <a:prstGeom prst="rect">
            <a:avLst/>
          </a:prstGeom>
          <a:solidFill>
            <a:schemeClr val="bg1"/>
          </a:solidFill>
          <a:ln w="9525">
            <a:noFill/>
            <a:miter lim="800000"/>
            <a:headEnd/>
            <a:tailEnd/>
          </a:ln>
        </p:spPr>
        <p:txBody>
          <a:bodyPr wrap="none" anchor="ctr"/>
          <a:lstStyle/>
          <a:p>
            <a:endParaRPr lang="sv-SE"/>
          </a:p>
        </p:txBody>
      </p:sp>
      <p:sp>
        <p:nvSpPr>
          <p:cNvPr id="21" name="Rechthoek 20"/>
          <p:cNvSpPr/>
          <p:nvPr/>
        </p:nvSpPr>
        <p:spPr>
          <a:xfrm>
            <a:off x="755576" y="5301288"/>
            <a:ext cx="1080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À</a:t>
            </a:r>
            <a:endParaRPr lang="sl-SI" dirty="0">
              <a:latin typeface="Arial" pitchFamily="34" charset="0"/>
            </a:endParaRPr>
          </a:p>
        </p:txBody>
      </p:sp>
      <p:sp>
        <p:nvSpPr>
          <p:cNvPr id="22" name="Rechthoek 21"/>
          <p:cNvSpPr/>
          <p:nvPr/>
        </p:nvSpPr>
        <p:spPr>
          <a:xfrm>
            <a:off x="2737148" y="5301288"/>
            <a:ext cx="1080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B</a:t>
            </a:r>
            <a:endParaRPr lang="sl-SI" dirty="0">
              <a:latin typeface="Arial" pitchFamily="34" charset="0"/>
            </a:endParaRPr>
          </a:p>
        </p:txBody>
      </p:sp>
      <p:sp>
        <p:nvSpPr>
          <p:cNvPr id="23" name="Rechthoek 22"/>
          <p:cNvSpPr/>
          <p:nvPr/>
        </p:nvSpPr>
        <p:spPr>
          <a:xfrm>
            <a:off x="4718720" y="5301288"/>
            <a:ext cx="1080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C</a:t>
            </a:r>
            <a:endParaRPr lang="sl-SI" dirty="0">
              <a:latin typeface="Arial" pitchFamily="34" charset="0"/>
            </a:endParaRPr>
          </a:p>
        </p:txBody>
      </p:sp>
      <p:sp>
        <p:nvSpPr>
          <p:cNvPr id="24" name="Rechthoek 23"/>
          <p:cNvSpPr/>
          <p:nvPr/>
        </p:nvSpPr>
        <p:spPr>
          <a:xfrm>
            <a:off x="6700292" y="5301288"/>
            <a:ext cx="1080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D</a:t>
            </a:r>
            <a:endParaRPr lang="sl-SI" dirty="0">
              <a:latin typeface="Arial" pitchFamily="34" charset="0"/>
            </a:endParaRPr>
          </a:p>
        </p:txBody>
      </p:sp>
      <p:grpSp>
        <p:nvGrpSpPr>
          <p:cNvPr id="2" name="Skupina 1"/>
          <p:cNvGrpSpPr/>
          <p:nvPr/>
        </p:nvGrpSpPr>
        <p:grpSpPr>
          <a:xfrm>
            <a:off x="342628" y="4581128"/>
            <a:ext cx="8477844" cy="1368152"/>
            <a:chOff x="204020" y="4293096"/>
            <a:chExt cx="8477844" cy="1368152"/>
          </a:xfrm>
        </p:grpSpPr>
        <p:sp>
          <p:nvSpPr>
            <p:cNvPr id="13" name="Rechthoek 12"/>
            <p:cNvSpPr/>
            <p:nvPr/>
          </p:nvSpPr>
          <p:spPr>
            <a:xfrm>
              <a:off x="755576" y="432932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A</a:t>
              </a:r>
              <a:endParaRPr lang="sl-SI" dirty="0">
                <a:latin typeface="Arial" pitchFamily="34" charset="0"/>
              </a:endParaRPr>
            </a:p>
          </p:txBody>
        </p:sp>
        <p:sp>
          <p:nvSpPr>
            <p:cNvPr id="14" name="Rechthoek 13"/>
            <p:cNvSpPr/>
            <p:nvPr/>
          </p:nvSpPr>
          <p:spPr>
            <a:xfrm>
              <a:off x="2737148" y="432932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B</a:t>
              </a:r>
              <a:endParaRPr lang="sl-SI" dirty="0">
                <a:latin typeface="Arial" pitchFamily="34" charset="0"/>
              </a:endParaRPr>
            </a:p>
          </p:txBody>
        </p:sp>
        <p:sp>
          <p:nvSpPr>
            <p:cNvPr id="15" name="Rechthoek 14"/>
            <p:cNvSpPr/>
            <p:nvPr/>
          </p:nvSpPr>
          <p:spPr>
            <a:xfrm>
              <a:off x="4718720" y="432932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C</a:t>
              </a:r>
              <a:endParaRPr lang="sl-SI" dirty="0">
                <a:latin typeface="Arial" pitchFamily="34" charset="0"/>
              </a:endParaRPr>
            </a:p>
          </p:txBody>
        </p:sp>
        <p:sp>
          <p:nvSpPr>
            <p:cNvPr id="16" name="Rechthoek 15"/>
            <p:cNvSpPr/>
            <p:nvPr/>
          </p:nvSpPr>
          <p:spPr>
            <a:xfrm>
              <a:off x="6700292" y="432932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Arial" pitchFamily="34" charset="0"/>
                </a:rPr>
                <a:t>D</a:t>
              </a:r>
              <a:endParaRPr lang="sl-SI" dirty="0">
                <a:latin typeface="Arial" pitchFamily="34" charset="0"/>
              </a:endParaRPr>
            </a:p>
          </p:txBody>
        </p:sp>
        <p:cxnSp>
          <p:nvCxnSpPr>
            <p:cNvPr id="17" name="Rechte verbindingslijn met pijl 16"/>
            <p:cNvCxnSpPr>
              <a:stCxn id="13" idx="3"/>
              <a:endCxn id="14" idx="1"/>
            </p:cNvCxnSpPr>
            <p:nvPr/>
          </p:nvCxnSpPr>
          <p:spPr>
            <a:xfrm>
              <a:off x="1835576" y="468932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Rechte verbindingslijn met pijl 17"/>
            <p:cNvCxnSpPr>
              <a:stCxn id="14" idx="3"/>
              <a:endCxn id="15" idx="1"/>
            </p:cNvCxnSpPr>
            <p:nvPr/>
          </p:nvCxnSpPr>
          <p:spPr>
            <a:xfrm>
              <a:off x="3817148" y="468932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Rechte verbindingslijn met pijl 18"/>
            <p:cNvCxnSpPr>
              <a:stCxn id="15" idx="3"/>
              <a:endCxn id="16" idx="1"/>
            </p:cNvCxnSpPr>
            <p:nvPr/>
          </p:nvCxnSpPr>
          <p:spPr>
            <a:xfrm>
              <a:off x="5798720" y="468932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Rechte verbindingslijn met pijl 19"/>
            <p:cNvCxnSpPr>
              <a:stCxn id="16" idx="3"/>
            </p:cNvCxnSpPr>
            <p:nvPr/>
          </p:nvCxnSpPr>
          <p:spPr>
            <a:xfrm>
              <a:off x="7780292" y="468932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Rechte verbindingslijn met pijl 24"/>
            <p:cNvCxnSpPr>
              <a:stCxn id="13" idx="2"/>
            </p:cNvCxnSpPr>
            <p:nvPr/>
          </p:nvCxnSpPr>
          <p:spPr>
            <a:xfrm>
              <a:off x="1295576" y="504932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Rechte verbindingslijn met pijl 25"/>
            <p:cNvCxnSpPr>
              <a:stCxn id="14" idx="2"/>
            </p:cNvCxnSpPr>
            <p:nvPr/>
          </p:nvCxnSpPr>
          <p:spPr>
            <a:xfrm>
              <a:off x="3277148" y="504932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Rechte verbindingslijn met pijl 26"/>
            <p:cNvCxnSpPr>
              <a:stCxn id="15" idx="2"/>
            </p:cNvCxnSpPr>
            <p:nvPr/>
          </p:nvCxnSpPr>
          <p:spPr>
            <a:xfrm>
              <a:off x="5258720" y="504932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Rechte verbindingslijn met pijl 27"/>
            <p:cNvCxnSpPr>
              <a:stCxn id="16" idx="2"/>
            </p:cNvCxnSpPr>
            <p:nvPr/>
          </p:nvCxnSpPr>
          <p:spPr>
            <a:xfrm>
              <a:off x="7240292" y="504932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kstvak 28"/>
            <p:cNvSpPr txBox="1"/>
            <p:nvPr/>
          </p:nvSpPr>
          <p:spPr>
            <a:xfrm>
              <a:off x="1835696" y="4293096"/>
              <a:ext cx="540000" cy="360000"/>
            </a:xfrm>
            <a:prstGeom prst="rect">
              <a:avLst/>
            </a:prstGeom>
            <a:noFill/>
          </p:spPr>
          <p:txBody>
            <a:bodyPr wrap="square" rtlCol="0">
              <a:spAutoFit/>
            </a:bodyPr>
            <a:lstStyle/>
            <a:p>
              <a:r>
                <a:rPr dirty="0"/>
                <a:t>90</a:t>
              </a:r>
              <a:endParaRPr lang="sl-SI" dirty="0"/>
            </a:p>
          </p:txBody>
        </p:sp>
        <p:sp>
          <p:nvSpPr>
            <p:cNvPr id="30" name="Tekstvak 29"/>
            <p:cNvSpPr txBox="1"/>
            <p:nvPr/>
          </p:nvSpPr>
          <p:spPr>
            <a:xfrm>
              <a:off x="3851920" y="4293096"/>
              <a:ext cx="540000" cy="369332"/>
            </a:xfrm>
            <a:prstGeom prst="rect">
              <a:avLst/>
            </a:prstGeom>
            <a:noFill/>
          </p:spPr>
          <p:txBody>
            <a:bodyPr wrap="square" rtlCol="0">
              <a:spAutoFit/>
            </a:bodyPr>
            <a:lstStyle/>
            <a:p>
              <a:r>
                <a:rPr dirty="0"/>
                <a:t>80</a:t>
              </a:r>
              <a:endParaRPr lang="sl-SI" dirty="0"/>
            </a:p>
          </p:txBody>
        </p:sp>
        <p:sp>
          <p:nvSpPr>
            <p:cNvPr id="31" name="Tekstvak 30"/>
            <p:cNvSpPr txBox="1"/>
            <p:nvPr/>
          </p:nvSpPr>
          <p:spPr>
            <a:xfrm>
              <a:off x="5796136" y="4293096"/>
              <a:ext cx="540000" cy="369332"/>
            </a:xfrm>
            <a:prstGeom prst="rect">
              <a:avLst/>
            </a:prstGeom>
            <a:noFill/>
          </p:spPr>
          <p:txBody>
            <a:bodyPr wrap="square" rtlCol="0">
              <a:spAutoFit/>
            </a:bodyPr>
            <a:lstStyle/>
            <a:p>
              <a:r>
                <a:rPr dirty="0"/>
                <a:t>75</a:t>
              </a:r>
              <a:endParaRPr lang="sl-SI" dirty="0"/>
            </a:p>
          </p:txBody>
        </p:sp>
        <p:sp>
          <p:nvSpPr>
            <p:cNvPr id="32" name="Tekstvak 31"/>
            <p:cNvSpPr txBox="1"/>
            <p:nvPr/>
          </p:nvSpPr>
          <p:spPr>
            <a:xfrm>
              <a:off x="7812360" y="4293096"/>
              <a:ext cx="540000" cy="369332"/>
            </a:xfrm>
            <a:prstGeom prst="rect">
              <a:avLst/>
            </a:prstGeom>
            <a:noFill/>
          </p:spPr>
          <p:txBody>
            <a:bodyPr wrap="square" rtlCol="0">
              <a:spAutoFit/>
            </a:bodyPr>
            <a:lstStyle/>
            <a:p>
              <a:r>
                <a:rPr dirty="0"/>
                <a:t>70</a:t>
              </a:r>
              <a:endParaRPr lang="sl-SI" dirty="0"/>
            </a:p>
          </p:txBody>
        </p:sp>
        <p:sp>
          <p:nvSpPr>
            <p:cNvPr id="33" name="Tekstvak 32"/>
            <p:cNvSpPr txBox="1"/>
            <p:nvPr/>
          </p:nvSpPr>
          <p:spPr>
            <a:xfrm>
              <a:off x="1259632" y="5291876"/>
              <a:ext cx="540000" cy="369332"/>
            </a:xfrm>
            <a:prstGeom prst="rect">
              <a:avLst/>
            </a:prstGeom>
            <a:noFill/>
          </p:spPr>
          <p:txBody>
            <a:bodyPr wrap="square" rtlCol="0">
              <a:spAutoFit/>
            </a:bodyPr>
            <a:lstStyle/>
            <a:p>
              <a:r>
                <a:rPr dirty="0"/>
                <a:t>10</a:t>
              </a:r>
              <a:endParaRPr lang="sl-SI" dirty="0"/>
            </a:p>
          </p:txBody>
        </p:sp>
        <p:sp>
          <p:nvSpPr>
            <p:cNvPr id="34" name="Tekstvak 33"/>
            <p:cNvSpPr txBox="1"/>
            <p:nvPr/>
          </p:nvSpPr>
          <p:spPr>
            <a:xfrm>
              <a:off x="3275856" y="5291916"/>
              <a:ext cx="540000" cy="369332"/>
            </a:xfrm>
            <a:prstGeom prst="rect">
              <a:avLst/>
            </a:prstGeom>
            <a:noFill/>
          </p:spPr>
          <p:txBody>
            <a:bodyPr wrap="square" rtlCol="0">
              <a:spAutoFit/>
            </a:bodyPr>
            <a:lstStyle/>
            <a:p>
              <a:r>
                <a:rPr dirty="0"/>
                <a:t>10</a:t>
              </a:r>
              <a:endParaRPr lang="sl-SI" dirty="0"/>
            </a:p>
          </p:txBody>
        </p:sp>
        <p:sp>
          <p:nvSpPr>
            <p:cNvPr id="35" name="Tekstvak 34"/>
            <p:cNvSpPr txBox="1"/>
            <p:nvPr/>
          </p:nvSpPr>
          <p:spPr>
            <a:xfrm>
              <a:off x="5220072" y="5291876"/>
              <a:ext cx="540000" cy="369332"/>
            </a:xfrm>
            <a:prstGeom prst="rect">
              <a:avLst/>
            </a:prstGeom>
            <a:noFill/>
          </p:spPr>
          <p:txBody>
            <a:bodyPr wrap="square" rtlCol="0">
              <a:spAutoFit/>
            </a:bodyPr>
            <a:lstStyle/>
            <a:p>
              <a:r>
                <a:rPr dirty="0"/>
                <a:t>5</a:t>
              </a:r>
              <a:endParaRPr lang="sl-SI" dirty="0"/>
            </a:p>
          </p:txBody>
        </p:sp>
        <p:sp>
          <p:nvSpPr>
            <p:cNvPr id="36" name="Tekstvak 35"/>
            <p:cNvSpPr txBox="1"/>
            <p:nvPr/>
          </p:nvSpPr>
          <p:spPr>
            <a:xfrm>
              <a:off x="7236296" y="5291876"/>
              <a:ext cx="540000" cy="369332"/>
            </a:xfrm>
            <a:prstGeom prst="rect">
              <a:avLst/>
            </a:prstGeom>
            <a:noFill/>
          </p:spPr>
          <p:txBody>
            <a:bodyPr wrap="square" rtlCol="0">
              <a:spAutoFit/>
            </a:bodyPr>
            <a:lstStyle/>
            <a:p>
              <a:r>
                <a:rPr dirty="0"/>
                <a:t>5</a:t>
              </a:r>
              <a:endParaRPr lang="sl-SI" dirty="0"/>
            </a:p>
          </p:txBody>
        </p:sp>
        <p:cxnSp>
          <p:nvCxnSpPr>
            <p:cNvPr id="37" name="Gebogen verbindingslijn 36"/>
            <p:cNvCxnSpPr>
              <a:stCxn id="13" idx="2"/>
            </p:cNvCxnSpPr>
            <p:nvPr/>
          </p:nvCxnSpPr>
          <p:spPr>
            <a:xfrm rot="5400000" flipH="1">
              <a:off x="845576" y="4599325"/>
              <a:ext cx="360000" cy="540000"/>
            </a:xfrm>
            <a:prstGeom prst="bentConnector4">
              <a:avLst>
                <a:gd name="adj1" fmla="val -63500"/>
                <a:gd name="adj2" fmla="val 15842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Gebogen verbindingslijn 37"/>
            <p:cNvCxnSpPr>
              <a:stCxn id="14" idx="2"/>
              <a:endCxn id="14" idx="1"/>
            </p:cNvCxnSpPr>
            <p:nvPr/>
          </p:nvCxnSpPr>
          <p:spPr>
            <a:xfrm rot="5400000" flipH="1">
              <a:off x="2827148" y="4599325"/>
              <a:ext cx="360000" cy="540000"/>
            </a:xfrm>
            <a:prstGeom prst="bentConnector4">
              <a:avLst>
                <a:gd name="adj1" fmla="val -63500"/>
                <a:gd name="adj2" fmla="val 14233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Gebogen verbindingslijn 38"/>
            <p:cNvCxnSpPr>
              <a:stCxn id="15" idx="2"/>
              <a:endCxn id="15" idx="1"/>
            </p:cNvCxnSpPr>
            <p:nvPr/>
          </p:nvCxnSpPr>
          <p:spPr>
            <a:xfrm rot="5400000" flipH="1">
              <a:off x="4808720" y="4599325"/>
              <a:ext cx="360000" cy="540000"/>
            </a:xfrm>
            <a:prstGeom prst="bentConnector4">
              <a:avLst>
                <a:gd name="adj1" fmla="val -63500"/>
                <a:gd name="adj2" fmla="val 14233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Gebogen verbindingslijn 39"/>
            <p:cNvCxnSpPr>
              <a:stCxn id="16" idx="2"/>
              <a:endCxn id="16" idx="1"/>
            </p:cNvCxnSpPr>
            <p:nvPr/>
          </p:nvCxnSpPr>
          <p:spPr>
            <a:xfrm rot="5400000" flipH="1">
              <a:off x="6790292" y="4599325"/>
              <a:ext cx="360000" cy="540000"/>
            </a:xfrm>
            <a:prstGeom prst="bentConnector4">
              <a:avLst>
                <a:gd name="adj1" fmla="val -63500"/>
                <a:gd name="adj2" fmla="val 142333"/>
              </a:avLst>
            </a:prstGeom>
            <a:ln>
              <a:tailEnd type="arrow"/>
            </a:ln>
          </p:spPr>
          <p:style>
            <a:lnRef idx="1">
              <a:schemeClr val="accent1"/>
            </a:lnRef>
            <a:fillRef idx="0">
              <a:schemeClr val="accent1"/>
            </a:fillRef>
            <a:effectRef idx="0">
              <a:schemeClr val="accent1"/>
            </a:effectRef>
            <a:fontRef idx="minor">
              <a:schemeClr val="tx1"/>
            </a:fontRef>
          </p:style>
        </p:cxnSp>
        <p:sp>
          <p:nvSpPr>
            <p:cNvPr id="41" name="Tekstvak 40"/>
            <p:cNvSpPr txBox="1"/>
            <p:nvPr/>
          </p:nvSpPr>
          <p:spPr>
            <a:xfrm>
              <a:off x="204020" y="4715852"/>
              <a:ext cx="540000" cy="369332"/>
            </a:xfrm>
            <a:prstGeom prst="rect">
              <a:avLst/>
            </a:prstGeom>
            <a:noFill/>
          </p:spPr>
          <p:txBody>
            <a:bodyPr wrap="square" rtlCol="0">
              <a:spAutoFit/>
            </a:bodyPr>
            <a:lstStyle/>
            <a:p>
              <a:r>
                <a:rPr dirty="0"/>
                <a:t>5</a:t>
              </a:r>
              <a:endParaRPr lang="sl-SI" dirty="0"/>
            </a:p>
          </p:txBody>
        </p:sp>
        <p:sp>
          <p:nvSpPr>
            <p:cNvPr id="42" name="Tekstvak 41"/>
            <p:cNvSpPr txBox="1"/>
            <p:nvPr/>
          </p:nvSpPr>
          <p:spPr>
            <a:xfrm>
              <a:off x="2268183" y="4715852"/>
              <a:ext cx="540000" cy="369332"/>
            </a:xfrm>
            <a:prstGeom prst="rect">
              <a:avLst/>
            </a:prstGeom>
            <a:noFill/>
          </p:spPr>
          <p:txBody>
            <a:bodyPr wrap="square" rtlCol="0">
              <a:spAutoFit/>
            </a:bodyPr>
            <a:lstStyle/>
            <a:p>
              <a:r>
                <a:rPr dirty="0"/>
                <a:t>7</a:t>
              </a:r>
              <a:endParaRPr lang="sl-SI" dirty="0"/>
            </a:p>
          </p:txBody>
        </p:sp>
        <p:sp>
          <p:nvSpPr>
            <p:cNvPr id="43" name="Tekstvak 42"/>
            <p:cNvSpPr txBox="1"/>
            <p:nvPr/>
          </p:nvSpPr>
          <p:spPr>
            <a:xfrm>
              <a:off x="4236907" y="4715852"/>
              <a:ext cx="540000" cy="369332"/>
            </a:xfrm>
            <a:prstGeom prst="rect">
              <a:avLst/>
            </a:prstGeom>
            <a:noFill/>
          </p:spPr>
          <p:txBody>
            <a:bodyPr wrap="square" rtlCol="0">
              <a:spAutoFit/>
            </a:bodyPr>
            <a:lstStyle/>
            <a:p>
              <a:r>
                <a:rPr dirty="0"/>
                <a:t>3</a:t>
              </a:r>
              <a:endParaRPr lang="sl-SI" dirty="0"/>
            </a:p>
          </p:txBody>
        </p:sp>
        <p:sp>
          <p:nvSpPr>
            <p:cNvPr id="44" name="Tekstvak 43"/>
            <p:cNvSpPr txBox="1"/>
            <p:nvPr/>
          </p:nvSpPr>
          <p:spPr>
            <a:xfrm>
              <a:off x="6228623" y="4715852"/>
              <a:ext cx="540000" cy="369332"/>
            </a:xfrm>
            <a:prstGeom prst="rect">
              <a:avLst/>
            </a:prstGeom>
            <a:noFill/>
          </p:spPr>
          <p:txBody>
            <a:bodyPr wrap="square" rtlCol="0">
              <a:spAutoFit/>
            </a:bodyPr>
            <a:lstStyle/>
            <a:p>
              <a:r>
                <a:rPr dirty="0"/>
                <a:t>5</a:t>
              </a:r>
            </a:p>
          </p:txBody>
        </p:sp>
      </p:grpSp>
    </p:spTree>
    <p:extLst>
      <p:ext uri="{BB962C8B-B14F-4D97-AF65-F5344CB8AC3E}">
        <p14:creationId xmlns:p14="http://schemas.microsoft.com/office/powerpoint/2010/main" val="189055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grpId="0" nodeType="clickEffect">
                                  <p:stCondLst>
                                    <p:cond delay="0"/>
                                  </p:stCondLst>
                                  <p:childTnLst>
                                    <p:animEffect transition="out" filter="blinds(horizontal)">
                                      <p:cBhvr>
                                        <p:cTn id="10" dur="500"/>
                                        <p:tgtEl>
                                          <p:spTgt spid="10"/>
                                        </p:tgtEl>
                                      </p:cBhvr>
                                    </p:animEffect>
                                    <p:set>
                                      <p:cBhvr>
                                        <p:cTn id="11"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latin typeface="Arial" charset="0"/>
              </a:rPr>
              <a:t>Metrike</a:t>
            </a:r>
            <a:r>
              <a:rPr lang="en-US" dirty="0">
                <a:latin typeface="Arial" charset="0"/>
              </a:rPr>
              <a:t> </a:t>
            </a:r>
            <a:r>
              <a:rPr lang="en-US" dirty="0" err="1">
                <a:latin typeface="Arial" charset="0"/>
              </a:rPr>
              <a:t>zmogljivosti</a:t>
            </a:r>
            <a:r>
              <a:rPr lang="en-US" dirty="0">
                <a:latin typeface="Arial" charset="0"/>
              </a:rPr>
              <a:t> </a:t>
            </a:r>
            <a:r>
              <a:rPr lang="en-US" dirty="0" err="1">
                <a:latin typeface="Arial" charset="0"/>
              </a:rPr>
              <a:t>procesov</a:t>
            </a:r>
            <a:endParaRPr lang="nl-NL" dirty="0"/>
          </a:p>
        </p:txBody>
      </p:sp>
      <p:sp>
        <p:nvSpPr>
          <p:cNvPr id="4" name="Rectangle 6"/>
          <p:cNvSpPr>
            <a:spLocks noGrp="1" noChangeArrowheads="1"/>
          </p:cNvSpPr>
          <p:nvPr>
            <p:ph idx="1"/>
          </p:nvPr>
        </p:nvSpPr>
        <p:spPr/>
        <p:txBody>
          <a:bodyPr/>
          <a:lstStyle/>
          <a:p>
            <a:pPr marL="0" indent="0" eaLnBrk="1" hangingPunct="1"/>
            <a:r>
              <a:rPr lang="sl-SI" dirty="0">
                <a:latin typeface="Arial" charset="0"/>
                <a:cs typeface="Arial" charset="0"/>
              </a:rPr>
              <a:t>Povzetek izkoristka</a:t>
            </a:r>
            <a:r>
              <a:rPr lang="nl-NL" dirty="0">
                <a:latin typeface="Arial" charset="0"/>
                <a:cs typeface="Arial" charset="0"/>
              </a:rPr>
              <a:t> </a:t>
            </a:r>
          </a:p>
          <a:p>
            <a:pPr lvl="1" eaLnBrk="1" hangingPunct="1"/>
            <a:endParaRPr lang="nl-NL" b="0" dirty="0">
              <a:latin typeface="Arial" charset="0"/>
              <a:cs typeface="Arial" charset="0"/>
            </a:endParaRPr>
          </a:p>
        </p:txBody>
      </p:sp>
      <p:graphicFrame>
        <p:nvGraphicFramePr>
          <p:cNvPr id="5" name="Grafiek 4"/>
          <p:cNvGraphicFramePr>
            <a:graphicFrameLocks/>
          </p:cNvGraphicFramePr>
          <p:nvPr>
            <p:extLst>
              <p:ext uri="{D42A27DB-BD31-4B8C-83A1-F6EECF244321}">
                <p14:modId xmlns:p14="http://schemas.microsoft.com/office/powerpoint/2010/main" val="3236131762"/>
              </p:ext>
            </p:extLst>
          </p:nvPr>
        </p:nvGraphicFramePr>
        <p:xfrm>
          <a:off x="1887911" y="3933056"/>
          <a:ext cx="4086225" cy="24384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hteraccolade 5"/>
          <p:cNvSpPr/>
          <p:nvPr/>
        </p:nvSpPr>
        <p:spPr>
          <a:xfrm>
            <a:off x="5960123" y="5085184"/>
            <a:ext cx="360040" cy="512057"/>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dirty="0">
              <a:latin typeface="Arial" pitchFamily="34" charset="0"/>
            </a:endParaRPr>
          </a:p>
        </p:txBody>
      </p:sp>
      <p:sp>
        <p:nvSpPr>
          <p:cNvPr id="7" name="Tekstvak 6"/>
          <p:cNvSpPr txBox="1"/>
          <p:nvPr/>
        </p:nvSpPr>
        <p:spPr>
          <a:xfrm>
            <a:off x="6444208" y="5158998"/>
            <a:ext cx="2160240" cy="369332"/>
          </a:xfrm>
          <a:prstGeom prst="rect">
            <a:avLst/>
          </a:prstGeom>
          <a:noFill/>
        </p:spPr>
        <p:txBody>
          <a:bodyPr wrap="square" rtlCol="0">
            <a:spAutoFit/>
          </a:bodyPr>
          <a:lstStyle/>
          <a:p>
            <a:r>
              <a:rPr lang="nl-NL" dirty="0">
                <a:latin typeface="Arial" panose="020B0604020202020204" pitchFamily="34" charset="0"/>
                <a:cs typeface="Arial" panose="020B0604020202020204" pitchFamily="34" charset="0"/>
              </a:rPr>
              <a:t>‘</a:t>
            </a:r>
            <a:r>
              <a:rPr lang="nl-NL" dirty="0" err="1">
                <a:latin typeface="Arial" panose="020B0604020202020204" pitchFamily="34" charset="0"/>
                <a:cs typeface="Arial" panose="020B0604020202020204" pitchFamily="34" charset="0"/>
              </a:rPr>
              <a:t>Hidden</a:t>
            </a:r>
            <a:r>
              <a:rPr lang="nl-NL" dirty="0">
                <a:latin typeface="Arial" panose="020B0604020202020204" pitchFamily="34" charset="0"/>
                <a:cs typeface="Arial" panose="020B0604020202020204" pitchFamily="34" charset="0"/>
              </a:rPr>
              <a:t> </a:t>
            </a:r>
            <a:r>
              <a:rPr lang="nl-NL" dirty="0" err="1">
                <a:latin typeface="Arial" panose="020B0604020202020204" pitchFamily="34" charset="0"/>
                <a:cs typeface="Arial" panose="020B0604020202020204" pitchFamily="34" charset="0"/>
              </a:rPr>
              <a:t>factory</a:t>
            </a:r>
            <a:r>
              <a:rPr lang="nl-NL" dirty="0">
                <a:latin typeface="Arial" panose="020B0604020202020204" pitchFamily="34" charset="0"/>
                <a:cs typeface="Arial" panose="020B0604020202020204" pitchFamily="34" charset="0"/>
              </a:rPr>
              <a:t>’</a:t>
            </a:r>
          </a:p>
        </p:txBody>
      </p:sp>
      <p:graphicFrame>
        <p:nvGraphicFramePr>
          <p:cNvPr id="8" name="Tabel 7"/>
          <p:cNvGraphicFramePr>
            <a:graphicFrameLocks noGrp="1"/>
          </p:cNvGraphicFramePr>
          <p:nvPr>
            <p:extLst>
              <p:ext uri="{D42A27DB-BD31-4B8C-83A1-F6EECF244321}">
                <p14:modId xmlns:p14="http://schemas.microsoft.com/office/powerpoint/2010/main" val="227804543"/>
              </p:ext>
            </p:extLst>
          </p:nvPr>
        </p:nvGraphicFramePr>
        <p:xfrm>
          <a:off x="971600" y="1988840"/>
          <a:ext cx="7128000" cy="1774051"/>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324000">
                  <a:extLst>
                    <a:ext uri="{9D8B030D-6E8A-4147-A177-3AD203B41FA5}">
                      <a16:colId xmlns:a16="http://schemas.microsoft.com/office/drawing/2014/main" val="20007"/>
                    </a:ext>
                  </a:extLst>
                </a:gridCol>
                <a:gridCol w="900000">
                  <a:extLst>
                    <a:ext uri="{9D8B030D-6E8A-4147-A177-3AD203B41FA5}">
                      <a16:colId xmlns:a16="http://schemas.microsoft.com/office/drawing/2014/main" val="20008"/>
                    </a:ext>
                  </a:extLst>
                </a:gridCol>
                <a:gridCol w="900000">
                  <a:extLst>
                    <a:ext uri="{9D8B030D-6E8A-4147-A177-3AD203B41FA5}">
                      <a16:colId xmlns:a16="http://schemas.microsoft.com/office/drawing/2014/main" val="20009"/>
                    </a:ext>
                  </a:extLst>
                </a:gridCol>
              </a:tblGrid>
              <a:tr h="455507">
                <a:tc>
                  <a:txBody>
                    <a:bodyPr/>
                    <a:lstStyle/>
                    <a:p>
                      <a:pPr algn="ctr" fontAlgn="t"/>
                      <a:r>
                        <a:rPr lang="nl-NL" sz="1000" u="none" strike="noStrike" dirty="0">
                          <a:effectLst/>
                          <a:latin typeface="Arial" pitchFamily="34" charset="0"/>
                        </a:rPr>
                        <a:t>Proces</a:t>
                      </a:r>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t"/>
                      <a:r>
                        <a:rPr lang="sl-SI" sz="1000" b="1" i="0" u="none" strike="noStrike" dirty="0">
                          <a:solidFill>
                            <a:schemeClr val="bg1"/>
                          </a:solidFill>
                          <a:effectLst/>
                          <a:latin typeface="Arial" pitchFamily="34" charset="0"/>
                        </a:rPr>
                        <a:t>Izhod</a:t>
                      </a:r>
                      <a:endParaRPr lang="nl-NL" sz="1000" b="1" i="0" u="none" strike="noStrike" dirty="0">
                        <a:solidFill>
                          <a:schemeClr val="bg1"/>
                        </a:solidFill>
                        <a:effectLst/>
                        <a:latin typeface="Arial" pitchFamily="34" charset="0"/>
                      </a:endParaRPr>
                    </a:p>
                  </a:txBody>
                  <a:tcPr marL="9525" marR="9525" marT="8467" marB="0" anchor="ctr"/>
                </a:tc>
                <a:tc>
                  <a:txBody>
                    <a:bodyPr/>
                    <a:lstStyle/>
                    <a:p>
                      <a:pPr algn="ctr" fontAlgn="t"/>
                      <a:r>
                        <a:rPr lang="sl-SI" sz="1000" u="none" strike="noStrike" dirty="0">
                          <a:effectLst/>
                          <a:latin typeface="Arial" pitchFamily="34" charset="0"/>
                        </a:rPr>
                        <a:t>Škart</a:t>
                      </a:r>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t"/>
                      <a:r>
                        <a:rPr lang="sl-SI" sz="1000" u="none" strike="noStrike" dirty="0">
                          <a:effectLst/>
                          <a:latin typeface="Arial" pitchFamily="34" charset="0"/>
                        </a:rPr>
                        <a:t>Dodelava</a:t>
                      </a:r>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t"/>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t"/>
                      <a:r>
                        <a:rPr lang="sl-SI" sz="1000" u="none" strike="noStrike" dirty="0">
                          <a:effectLst/>
                          <a:latin typeface="Arial" pitchFamily="34" charset="0"/>
                        </a:rPr>
                        <a:t>Izkoristek</a:t>
                      </a:r>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t"/>
                      <a:r>
                        <a:rPr lang="sl-SI" sz="1000" u="none" strike="noStrike" dirty="0">
                          <a:effectLst/>
                          <a:latin typeface="Arial" pitchFamily="34" charset="0"/>
                        </a:rPr>
                        <a:t>Skupni</a:t>
                      </a:r>
                      <a:r>
                        <a:rPr lang="sl-SI" sz="1000" u="none" strike="noStrike" baseline="0" dirty="0">
                          <a:effectLst/>
                          <a:latin typeface="Arial" pitchFamily="34" charset="0"/>
                        </a:rPr>
                        <a:t> izkoristek</a:t>
                      </a:r>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t"/>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t"/>
                      <a:r>
                        <a:rPr lang="sl-SI" sz="1000" u="none" strike="noStrike" dirty="0" err="1">
                          <a:effectLst/>
                          <a:latin typeface="Arial" pitchFamily="34" charset="0"/>
                        </a:rPr>
                        <a:t>FTR</a:t>
                      </a:r>
                      <a:r>
                        <a:rPr lang="sl-SI" sz="1000" u="none" strike="noStrike" dirty="0">
                          <a:effectLst/>
                          <a:latin typeface="Arial" pitchFamily="34" charset="0"/>
                        </a:rPr>
                        <a:t> izkoristek</a:t>
                      </a:r>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t"/>
                      <a:r>
                        <a:rPr lang="sl-SI" sz="1000" u="none" strike="noStrike" dirty="0">
                          <a:effectLst/>
                          <a:latin typeface="Arial" pitchFamily="34" charset="0"/>
                        </a:rPr>
                        <a:t>Pretočni izkoristek</a:t>
                      </a:r>
                      <a:endParaRPr lang="nl-NL" sz="1000" b="1" i="0" u="none" strike="noStrike" dirty="0">
                        <a:solidFill>
                          <a:srgbClr val="000000"/>
                        </a:solidFill>
                        <a:effectLst/>
                        <a:latin typeface="Arial" pitchFamily="34" charset="0"/>
                      </a:endParaRPr>
                    </a:p>
                  </a:txBody>
                  <a:tcPr marL="9525" marR="9525" marT="8467" marB="0" anchor="ctr"/>
                </a:tc>
                <a:extLst>
                  <a:ext uri="{0D108BD9-81ED-4DB2-BD59-A6C34878D82A}">
                    <a16:rowId xmlns:a16="http://schemas.microsoft.com/office/drawing/2014/main" val="10000"/>
                  </a:ext>
                </a:extLst>
              </a:tr>
              <a:tr h="329636">
                <a:tc>
                  <a:txBody>
                    <a:bodyPr/>
                    <a:lstStyle/>
                    <a:p>
                      <a:pPr algn="ctr" fontAlgn="b"/>
                      <a:r>
                        <a:rPr lang="nl-NL" sz="1000" u="none" strike="noStrike" dirty="0">
                          <a:effectLst/>
                          <a:latin typeface="Arial" pitchFamily="34" charset="0"/>
                        </a:rPr>
                        <a:t>A</a:t>
                      </a:r>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90</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10</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5</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90%</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90%</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85%</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85%</a:t>
                      </a:r>
                      <a:endParaRPr lang="nl-NL" sz="1000" b="0" i="0" u="none" strike="noStrike" dirty="0">
                        <a:solidFill>
                          <a:srgbClr val="000000"/>
                        </a:solidFill>
                        <a:effectLst/>
                        <a:latin typeface="Arial" pitchFamily="34" charset="0"/>
                      </a:endParaRPr>
                    </a:p>
                  </a:txBody>
                  <a:tcPr marL="9525" marR="9525" marT="8467" marB="0" anchor="ctr"/>
                </a:tc>
                <a:extLst>
                  <a:ext uri="{0D108BD9-81ED-4DB2-BD59-A6C34878D82A}">
                    <a16:rowId xmlns:a16="http://schemas.microsoft.com/office/drawing/2014/main" val="10001"/>
                  </a:ext>
                </a:extLst>
              </a:tr>
              <a:tr h="329636">
                <a:tc>
                  <a:txBody>
                    <a:bodyPr/>
                    <a:lstStyle/>
                    <a:p>
                      <a:pPr algn="ctr" fontAlgn="b"/>
                      <a:r>
                        <a:rPr lang="nl-NL" sz="1000" u="none" strike="noStrike" dirty="0">
                          <a:effectLst/>
                          <a:latin typeface="Arial" pitchFamily="34" charset="0"/>
                        </a:rPr>
                        <a:t>B</a:t>
                      </a:r>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80</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10</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7</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89%</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80%</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81%</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69%</a:t>
                      </a:r>
                      <a:endParaRPr lang="nl-NL" sz="1000" b="0" i="0" u="none" strike="noStrike" dirty="0">
                        <a:solidFill>
                          <a:srgbClr val="000000"/>
                        </a:solidFill>
                        <a:effectLst/>
                        <a:latin typeface="Arial" pitchFamily="34" charset="0"/>
                      </a:endParaRPr>
                    </a:p>
                  </a:txBody>
                  <a:tcPr marL="9525" marR="9525" marT="8467" marB="0" anchor="ctr"/>
                </a:tc>
                <a:extLst>
                  <a:ext uri="{0D108BD9-81ED-4DB2-BD59-A6C34878D82A}">
                    <a16:rowId xmlns:a16="http://schemas.microsoft.com/office/drawing/2014/main" val="10002"/>
                  </a:ext>
                </a:extLst>
              </a:tr>
              <a:tr h="329636">
                <a:tc>
                  <a:txBody>
                    <a:bodyPr/>
                    <a:lstStyle/>
                    <a:p>
                      <a:pPr algn="ctr" fontAlgn="b"/>
                      <a:r>
                        <a:rPr lang="nl-NL" sz="1000" u="none" strike="noStrike" dirty="0">
                          <a:effectLst/>
                          <a:latin typeface="Arial" pitchFamily="34" charset="0"/>
                        </a:rPr>
                        <a:t>C</a:t>
                      </a:r>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75</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5</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3</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94%</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75%</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90%</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62%</a:t>
                      </a:r>
                      <a:endParaRPr lang="nl-NL" sz="1000" b="0" i="0" u="none" strike="noStrike" dirty="0">
                        <a:solidFill>
                          <a:srgbClr val="000000"/>
                        </a:solidFill>
                        <a:effectLst/>
                        <a:latin typeface="Arial" pitchFamily="34" charset="0"/>
                      </a:endParaRPr>
                    </a:p>
                  </a:txBody>
                  <a:tcPr marL="9525" marR="9525" marT="8467" marB="0" anchor="ctr"/>
                </a:tc>
                <a:extLst>
                  <a:ext uri="{0D108BD9-81ED-4DB2-BD59-A6C34878D82A}">
                    <a16:rowId xmlns:a16="http://schemas.microsoft.com/office/drawing/2014/main" val="10003"/>
                  </a:ext>
                </a:extLst>
              </a:tr>
              <a:tr h="329636">
                <a:tc>
                  <a:txBody>
                    <a:bodyPr/>
                    <a:lstStyle/>
                    <a:p>
                      <a:pPr algn="ctr" fontAlgn="b"/>
                      <a:r>
                        <a:rPr lang="nl-NL" sz="1000" u="none" strike="noStrike" dirty="0">
                          <a:effectLst/>
                          <a:latin typeface="Arial" pitchFamily="34" charset="0"/>
                        </a:rPr>
                        <a:t>D</a:t>
                      </a:r>
                      <a:endParaRPr lang="nl-NL" sz="1000" b="1"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70</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5</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5</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93%</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70%</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87%</a:t>
                      </a:r>
                      <a:endParaRPr lang="nl-NL" sz="1000" b="0" i="0" u="none" strike="noStrike" dirty="0">
                        <a:solidFill>
                          <a:srgbClr val="000000"/>
                        </a:solidFill>
                        <a:effectLst/>
                        <a:latin typeface="Arial" pitchFamily="34" charset="0"/>
                      </a:endParaRPr>
                    </a:p>
                  </a:txBody>
                  <a:tcPr marL="9525" marR="9525" marT="8467" marB="0" anchor="ctr"/>
                </a:tc>
                <a:tc>
                  <a:txBody>
                    <a:bodyPr/>
                    <a:lstStyle/>
                    <a:p>
                      <a:pPr algn="ctr" fontAlgn="b"/>
                      <a:r>
                        <a:rPr lang="nl-NL" sz="1000" u="none" strike="noStrike" dirty="0">
                          <a:effectLst/>
                          <a:latin typeface="Arial" pitchFamily="34" charset="0"/>
                        </a:rPr>
                        <a:t>54%</a:t>
                      </a:r>
                      <a:endParaRPr lang="nl-NL" sz="1000" b="0" i="0" u="none" strike="noStrike" dirty="0">
                        <a:solidFill>
                          <a:srgbClr val="000000"/>
                        </a:solidFill>
                        <a:effectLst/>
                        <a:latin typeface="Arial" pitchFamily="34" charset="0"/>
                      </a:endParaRPr>
                    </a:p>
                  </a:txBody>
                  <a:tcPr marL="9525" marR="9525" marT="8467"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22957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el 3"/>
          <p:cNvSpPr>
            <a:spLocks noGrp="1"/>
          </p:cNvSpPr>
          <p:nvPr>
            <p:ph type="title"/>
          </p:nvPr>
        </p:nvSpPr>
        <p:spPr/>
        <p:txBody>
          <a:bodyPr/>
          <a:lstStyle/>
          <a:p>
            <a:r>
              <a:rPr lang="en-GB" noProof="0"/>
              <a:t>Analiza merilnega sistema</a:t>
            </a:r>
            <a:endParaRPr lang="sl-SI" noProof="0" dirty="0"/>
          </a:p>
        </p:txBody>
      </p:sp>
      <p:sp>
        <p:nvSpPr>
          <p:cNvPr id="5122" name="Rectangle 5"/>
          <p:cNvSpPr>
            <a:spLocks noGrp="1" noChangeArrowheads="1"/>
          </p:cNvSpPr>
          <p:nvPr>
            <p:ph idx="1"/>
          </p:nvPr>
        </p:nvSpPr>
        <p:spPr/>
        <p:txBody>
          <a:bodyPr/>
          <a:lstStyle/>
          <a:p>
            <a:r>
              <a:rPr lang="en-GB" noProof="0" dirty="0"/>
              <a:t>Merilni proces</a:t>
            </a:r>
          </a:p>
          <a:p>
            <a:pPr lvl="1"/>
            <a:endParaRPr lang="sl-SI" sz="1600" noProof="0" dirty="0"/>
          </a:p>
          <a:p>
            <a:pPr lvl="1"/>
            <a:endParaRPr lang="sl-SI" sz="1600" dirty="0"/>
          </a:p>
          <a:p>
            <a:pPr lvl="1"/>
            <a:endParaRPr lang="sl-SI" sz="1600" noProof="0" dirty="0"/>
          </a:p>
          <a:p>
            <a:pPr lvl="1"/>
            <a:endParaRPr lang="sl-SI" sz="1600" noProof="0" dirty="0"/>
          </a:p>
          <a:p>
            <a:pPr lvl="1"/>
            <a:r>
              <a:rPr lang="en-GB" sz="1600" noProof="0" dirty="0"/>
              <a:t>Variabilnost je lastna vsakemu merilnemu instrumentu. Poleg instrumenta obstajajo tudi drugi viri variabilnosti:</a:t>
            </a:r>
          </a:p>
          <a:p>
            <a:pPr lvl="1"/>
            <a:endParaRPr lang="sl-SI" sz="1600" noProof="0" dirty="0"/>
          </a:p>
          <a:p>
            <a:pPr lvl="1"/>
            <a:r>
              <a:rPr lang="en-GB" sz="1600" noProof="0" dirty="0"/>
              <a:t>Operaterji, ki izvajajo meritve</a:t>
            </a:r>
          </a:p>
          <a:p>
            <a:pPr lvl="1"/>
            <a:r>
              <a:rPr lang="en-GB" sz="1600" noProof="0" dirty="0"/>
              <a:t>Delovni postopki</a:t>
            </a:r>
          </a:p>
          <a:p>
            <a:pPr lvl="1"/>
            <a:r>
              <a:rPr lang="en-GB" sz="1600" noProof="0" dirty="0"/>
              <a:t>Obrazci za zbiranje podatkov</a:t>
            </a:r>
          </a:p>
          <a:p>
            <a:pPr lvl="1"/>
            <a:r>
              <a:rPr lang="en-GB" sz="1600" noProof="0" dirty="0"/>
              <a:t>Uporabljena orodja in pripomočki</a:t>
            </a:r>
          </a:p>
          <a:p>
            <a:pPr lvl="1"/>
            <a:r>
              <a:rPr lang="en-GB" sz="1600" noProof="0" dirty="0"/>
              <a:t>Uporabljeni izračuni</a:t>
            </a:r>
          </a:p>
          <a:p>
            <a:pPr lvl="1"/>
            <a:r>
              <a:rPr lang="en-GB" sz="1600" noProof="0" dirty="0"/>
              <a:t>Način in frekvenca odvzema vzorcev na liniji</a:t>
            </a:r>
          </a:p>
          <a:p>
            <a:pPr lvl="1"/>
            <a:r>
              <a:rPr lang="en-GB" sz="1600" noProof="0" dirty="0"/>
              <a:t>Pogostost in tehnika umerjanja</a:t>
            </a:r>
          </a:p>
          <a:p>
            <a:pPr lvl="1"/>
            <a:r>
              <a:rPr lang="en-GB" sz="1600" noProof="0" dirty="0"/>
              <a:t>Okolje (temperatura, vlaga, vibracije, svetloba itd.).</a:t>
            </a:r>
          </a:p>
          <a:p>
            <a:pPr lvl="1"/>
            <a:r>
              <a:rPr lang="en-GB" sz="1600" noProof="0" dirty="0"/>
              <a:t>. . . </a:t>
            </a:r>
          </a:p>
          <a:p>
            <a:endParaRPr lang="sl-SI" sz="1600" noProof="0" dirty="0"/>
          </a:p>
        </p:txBody>
      </p:sp>
      <p:grpSp>
        <p:nvGrpSpPr>
          <p:cNvPr id="4" name="Group 28"/>
          <p:cNvGrpSpPr>
            <a:grpSpLocks/>
          </p:cNvGrpSpPr>
          <p:nvPr/>
        </p:nvGrpSpPr>
        <p:grpSpPr bwMode="auto">
          <a:xfrm>
            <a:off x="4716016" y="1052736"/>
            <a:ext cx="4320480" cy="1800200"/>
            <a:chOff x="242" y="920"/>
            <a:chExt cx="5652" cy="1922"/>
          </a:xfrm>
        </p:grpSpPr>
        <p:sp>
          <p:nvSpPr>
            <p:cNvPr id="5" name="Rectangle 5"/>
            <p:cNvSpPr>
              <a:spLocks noChangeArrowheads="1"/>
            </p:cNvSpPr>
            <p:nvPr/>
          </p:nvSpPr>
          <p:spPr bwMode="auto">
            <a:xfrm>
              <a:off x="1293" y="997"/>
              <a:ext cx="3375" cy="1845"/>
            </a:xfrm>
            <a:prstGeom prst="rect">
              <a:avLst/>
            </a:prstGeom>
            <a:gradFill rotWithShape="1">
              <a:gsLst>
                <a:gs pos="0">
                  <a:srgbClr val="FFFFFF"/>
                </a:gs>
                <a:gs pos="100000">
                  <a:srgbClr val="939DB7"/>
                </a:gs>
              </a:gsLst>
              <a:lin ang="2700000" scaled="1"/>
            </a:gradFill>
            <a:ln w="9525">
              <a:solidFill>
                <a:schemeClr val="tx1"/>
              </a:solidFill>
              <a:miter lim="800000"/>
              <a:headEnd/>
              <a:tailEnd/>
            </a:ln>
          </p:spPr>
          <p:txBody>
            <a:bodyPr wrap="none" anchor="ctr"/>
            <a:lstStyle/>
            <a:p>
              <a:pPr algn="ctr"/>
              <a:r>
                <a:rPr lang="en-US" sz="1000" dirty="0">
                  <a:latin typeface="Arial" pitchFamily="34" charset="0"/>
                </a:rPr>
                <a:t>Merilni </a:t>
              </a:r>
            </a:p>
            <a:p>
              <a:pPr algn="ctr"/>
              <a:r>
                <a:rPr lang="en-US" sz="1000" dirty="0">
                  <a:latin typeface="Arial" pitchFamily="34" charset="0"/>
                </a:rPr>
                <a:t>proces</a:t>
              </a:r>
              <a:endParaRPr lang="sl-SI" sz="1000" dirty="0">
                <a:latin typeface="Arial" pitchFamily="34" charset="0"/>
                <a:ea typeface="Verdana" pitchFamily="34" charset="0"/>
                <a:cs typeface="Arial" pitchFamily="34" charset="0"/>
              </a:endParaRPr>
            </a:p>
          </p:txBody>
        </p:sp>
        <p:sp>
          <p:nvSpPr>
            <p:cNvPr id="6" name="Text Box 6"/>
            <p:cNvSpPr txBox="1">
              <a:spLocks noChangeArrowheads="1"/>
            </p:cNvSpPr>
            <p:nvPr/>
          </p:nvSpPr>
          <p:spPr bwMode="auto">
            <a:xfrm>
              <a:off x="1416" y="2502"/>
              <a:ext cx="1183" cy="243"/>
            </a:xfrm>
            <a:prstGeom prst="rect">
              <a:avLst/>
            </a:prstGeom>
            <a:noFill/>
            <a:ln w="9525">
              <a:noFill/>
              <a:miter lim="800000"/>
              <a:headEnd/>
              <a:tailEnd/>
            </a:ln>
          </p:spPr>
          <p:txBody>
            <a:bodyPr wrap="none">
              <a:spAutoFit/>
            </a:bodyPr>
            <a:lstStyle/>
            <a:p>
              <a:r>
                <a:rPr lang="en-US" sz="1000" dirty="0">
                  <a:latin typeface="Arial" pitchFamily="34" charset="0"/>
                </a:rPr>
                <a:t>Okolje</a:t>
              </a:r>
              <a:endParaRPr lang="sl-SI" sz="1000" dirty="0">
                <a:latin typeface="Arial" pitchFamily="34" charset="0"/>
                <a:ea typeface="Verdana" pitchFamily="34" charset="0"/>
                <a:cs typeface="Arial" pitchFamily="34" charset="0"/>
              </a:endParaRPr>
            </a:p>
          </p:txBody>
        </p:sp>
        <p:sp>
          <p:nvSpPr>
            <p:cNvPr id="7" name="Text Box 7"/>
            <p:cNvSpPr txBox="1">
              <a:spLocks noChangeArrowheads="1"/>
            </p:cNvSpPr>
            <p:nvPr/>
          </p:nvSpPr>
          <p:spPr bwMode="auto">
            <a:xfrm>
              <a:off x="4702" y="1357"/>
              <a:ext cx="1192" cy="243"/>
            </a:xfrm>
            <a:prstGeom prst="rect">
              <a:avLst/>
            </a:prstGeom>
            <a:noFill/>
            <a:ln w="9525">
              <a:noFill/>
              <a:miter lim="800000"/>
              <a:headEnd/>
              <a:tailEnd/>
            </a:ln>
          </p:spPr>
          <p:txBody>
            <a:bodyPr wrap="none">
              <a:spAutoFit/>
            </a:bodyPr>
            <a:lstStyle/>
            <a:p>
              <a:r>
                <a:rPr lang="en-US" sz="1000" b="1" dirty="0">
                  <a:latin typeface="Arial" pitchFamily="34" charset="0"/>
                </a:rPr>
                <a:t>Meritve</a:t>
              </a:r>
              <a:endParaRPr lang="sl-SI" sz="1000" b="1" dirty="0">
                <a:latin typeface="Arial" pitchFamily="34" charset="0"/>
                <a:ea typeface="Verdana" pitchFamily="34" charset="0"/>
                <a:cs typeface="Arial" pitchFamily="34" charset="0"/>
              </a:endParaRPr>
            </a:p>
          </p:txBody>
        </p:sp>
        <p:sp>
          <p:nvSpPr>
            <p:cNvPr id="8" name="Text Box 8"/>
            <p:cNvSpPr txBox="1">
              <a:spLocks noChangeArrowheads="1"/>
            </p:cNvSpPr>
            <p:nvPr/>
          </p:nvSpPr>
          <p:spPr bwMode="auto">
            <a:xfrm>
              <a:off x="242" y="920"/>
              <a:ext cx="1037" cy="411"/>
            </a:xfrm>
            <a:prstGeom prst="rect">
              <a:avLst/>
            </a:prstGeom>
            <a:noFill/>
            <a:ln w="9525">
              <a:noFill/>
              <a:miter lim="800000"/>
              <a:headEnd/>
              <a:tailEnd/>
            </a:ln>
          </p:spPr>
          <p:txBody>
            <a:bodyPr wrap="square">
              <a:spAutoFit/>
            </a:bodyPr>
            <a:lstStyle/>
            <a:p>
              <a:r>
                <a:rPr lang="en-US" sz="1000" b="1" dirty="0">
                  <a:latin typeface="Arial" pitchFamily="34" charset="0"/>
                </a:rPr>
                <a:t>Merjeni CTQ-ji</a:t>
              </a:r>
              <a:endParaRPr lang="sl-SI" sz="1000" b="1" dirty="0">
                <a:latin typeface="Arial" pitchFamily="34" charset="0"/>
                <a:ea typeface="Verdana" pitchFamily="34" charset="0"/>
                <a:cs typeface="Arial" pitchFamily="34" charset="0"/>
              </a:endParaRPr>
            </a:p>
          </p:txBody>
        </p:sp>
        <p:sp>
          <p:nvSpPr>
            <p:cNvPr id="9" name="Line 9"/>
            <p:cNvSpPr>
              <a:spLocks noChangeShapeType="1"/>
            </p:cNvSpPr>
            <p:nvPr/>
          </p:nvSpPr>
          <p:spPr bwMode="auto">
            <a:xfrm>
              <a:off x="481" y="1823"/>
              <a:ext cx="816" cy="0"/>
            </a:xfrm>
            <a:prstGeom prst="line">
              <a:avLst/>
            </a:prstGeom>
            <a:noFill/>
            <a:ln w="76200">
              <a:solidFill>
                <a:schemeClr val="tx1"/>
              </a:solidFill>
              <a:round/>
              <a:headEnd/>
              <a:tailEnd type="triangle" w="med" len="med"/>
            </a:ln>
          </p:spPr>
          <p:txBody>
            <a:bodyPr wrap="none" anchor="ctr"/>
            <a:lstStyle/>
            <a:p>
              <a:endParaRPr lang="nl-NL" sz="1000">
                <a:latin typeface="Verdana" pitchFamily="34" charset="0"/>
                <a:ea typeface="Verdana" pitchFamily="34" charset="0"/>
                <a:cs typeface="Verdana" pitchFamily="34" charset="0"/>
              </a:endParaRPr>
            </a:p>
          </p:txBody>
        </p:sp>
        <p:sp>
          <p:nvSpPr>
            <p:cNvPr id="10" name="Line 10"/>
            <p:cNvSpPr>
              <a:spLocks noChangeShapeType="1"/>
            </p:cNvSpPr>
            <p:nvPr/>
          </p:nvSpPr>
          <p:spPr bwMode="auto">
            <a:xfrm>
              <a:off x="4688" y="1823"/>
              <a:ext cx="816" cy="0"/>
            </a:xfrm>
            <a:prstGeom prst="line">
              <a:avLst/>
            </a:prstGeom>
            <a:noFill/>
            <a:ln w="76200">
              <a:solidFill>
                <a:schemeClr val="tx1"/>
              </a:solidFill>
              <a:round/>
              <a:headEnd/>
              <a:tailEnd type="triangle" w="med" len="med"/>
            </a:ln>
          </p:spPr>
          <p:txBody>
            <a:bodyPr wrap="none" anchor="ctr"/>
            <a:lstStyle/>
            <a:p>
              <a:endParaRPr lang="nl-NL" sz="1000">
                <a:latin typeface="Verdana" pitchFamily="34" charset="0"/>
                <a:ea typeface="Verdana" pitchFamily="34" charset="0"/>
                <a:cs typeface="Verdana" pitchFamily="34" charset="0"/>
              </a:endParaRPr>
            </a:p>
          </p:txBody>
        </p:sp>
        <p:sp>
          <p:nvSpPr>
            <p:cNvPr id="11" name="Oval 11"/>
            <p:cNvSpPr>
              <a:spLocks noChangeArrowheads="1"/>
            </p:cNvSpPr>
            <p:nvPr/>
          </p:nvSpPr>
          <p:spPr bwMode="auto">
            <a:xfrm>
              <a:off x="1992" y="1391"/>
              <a:ext cx="1872" cy="1104"/>
            </a:xfrm>
            <a:prstGeom prst="ellipse">
              <a:avLst/>
            </a:prstGeom>
            <a:noFill/>
            <a:ln w="9525">
              <a:solidFill>
                <a:schemeClr val="tx1"/>
              </a:solidFill>
              <a:round/>
              <a:headEnd/>
              <a:tailEnd/>
            </a:ln>
          </p:spPr>
          <p:txBody>
            <a:bodyPr wrap="none" anchor="ctr"/>
            <a:lstStyle/>
            <a:p>
              <a:endParaRPr lang="nl-NL" sz="1000">
                <a:latin typeface="Arial" pitchFamily="34" charset="0"/>
                <a:ea typeface="Verdana" pitchFamily="34" charset="0"/>
                <a:cs typeface="Arial" pitchFamily="34" charset="0"/>
              </a:endParaRPr>
            </a:p>
          </p:txBody>
        </p:sp>
        <p:sp>
          <p:nvSpPr>
            <p:cNvPr id="12" name="Oval 12"/>
            <p:cNvSpPr>
              <a:spLocks noChangeArrowheads="1"/>
            </p:cNvSpPr>
            <p:nvPr/>
          </p:nvSpPr>
          <p:spPr bwMode="auto">
            <a:xfrm>
              <a:off x="2520" y="1103"/>
              <a:ext cx="933" cy="479"/>
            </a:xfrm>
            <a:prstGeom prst="ellipse">
              <a:avLst/>
            </a:prstGeom>
            <a:gradFill rotWithShape="1">
              <a:gsLst>
                <a:gs pos="0">
                  <a:srgbClr val="FFFFFF"/>
                </a:gs>
                <a:gs pos="50000">
                  <a:srgbClr val="F8FDC7"/>
                </a:gs>
                <a:gs pos="100000">
                  <a:srgbClr val="FFFFFF"/>
                </a:gs>
              </a:gsLst>
              <a:lin ang="2700000" scaled="1"/>
            </a:gradFill>
            <a:ln w="9525">
              <a:solidFill>
                <a:schemeClr val="tx1"/>
              </a:solidFill>
              <a:round/>
              <a:headEnd/>
              <a:tailEnd/>
            </a:ln>
          </p:spPr>
          <p:txBody>
            <a:bodyPr wrap="none" anchor="ctr"/>
            <a:lstStyle/>
            <a:p>
              <a:pPr algn="ctr"/>
              <a:r>
                <a:rPr lang="en-US" sz="1000" dirty="0">
                  <a:latin typeface="Arial" pitchFamily="34" charset="0"/>
                </a:rPr>
                <a:t>Referenca</a:t>
              </a:r>
              <a:endParaRPr lang="sl-SI" sz="1000" dirty="0">
                <a:latin typeface="Arial" pitchFamily="34" charset="0"/>
                <a:ea typeface="Verdana" pitchFamily="34" charset="0"/>
                <a:cs typeface="Arial" pitchFamily="34" charset="0"/>
              </a:endParaRPr>
            </a:p>
          </p:txBody>
        </p:sp>
        <p:sp>
          <p:nvSpPr>
            <p:cNvPr id="13" name="Oval 13"/>
            <p:cNvSpPr>
              <a:spLocks noChangeArrowheads="1"/>
            </p:cNvSpPr>
            <p:nvPr/>
          </p:nvSpPr>
          <p:spPr bwMode="auto">
            <a:xfrm>
              <a:off x="3579" y="1583"/>
              <a:ext cx="1044" cy="494"/>
            </a:xfrm>
            <a:prstGeom prst="ellipse">
              <a:avLst/>
            </a:prstGeom>
            <a:solidFill>
              <a:srgbClr val="F2E2FE"/>
            </a:solidFill>
            <a:ln w="9525">
              <a:solidFill>
                <a:schemeClr val="tx1"/>
              </a:solidFill>
              <a:round/>
              <a:headEnd/>
              <a:tailEnd/>
            </a:ln>
          </p:spPr>
          <p:txBody>
            <a:bodyPr wrap="none" anchor="ctr"/>
            <a:lstStyle/>
            <a:p>
              <a:pPr algn="ctr"/>
              <a:r>
                <a:rPr lang="en-US" sz="1000" dirty="0">
                  <a:latin typeface="Arial" pitchFamily="34" charset="0"/>
                </a:rPr>
                <a:t>Oprema</a:t>
              </a:r>
              <a:endParaRPr lang="sl-SI" sz="1000" dirty="0">
                <a:latin typeface="Arial" pitchFamily="34" charset="0"/>
                <a:ea typeface="Verdana" pitchFamily="34" charset="0"/>
                <a:cs typeface="Arial" pitchFamily="34" charset="0"/>
              </a:endParaRPr>
            </a:p>
          </p:txBody>
        </p:sp>
        <p:sp>
          <p:nvSpPr>
            <p:cNvPr id="14" name="Oval 14"/>
            <p:cNvSpPr>
              <a:spLocks noChangeArrowheads="1"/>
            </p:cNvSpPr>
            <p:nvPr/>
          </p:nvSpPr>
          <p:spPr bwMode="auto">
            <a:xfrm>
              <a:off x="2520" y="2207"/>
              <a:ext cx="978" cy="500"/>
            </a:xfrm>
            <a:prstGeom prst="ellipse">
              <a:avLst/>
            </a:prstGeom>
            <a:gradFill rotWithShape="1">
              <a:gsLst>
                <a:gs pos="0">
                  <a:srgbClr val="FFFFFF"/>
                </a:gs>
                <a:gs pos="50000">
                  <a:srgbClr val="B3EBFF"/>
                </a:gs>
                <a:gs pos="100000">
                  <a:srgbClr val="FFFFFF"/>
                </a:gs>
              </a:gsLst>
              <a:lin ang="2700000" scaled="1"/>
            </a:gradFill>
            <a:ln w="9525">
              <a:solidFill>
                <a:schemeClr val="tx1"/>
              </a:solidFill>
              <a:round/>
              <a:headEnd/>
              <a:tailEnd/>
            </a:ln>
          </p:spPr>
          <p:txBody>
            <a:bodyPr wrap="none" anchor="ctr"/>
            <a:lstStyle/>
            <a:p>
              <a:pPr algn="ctr"/>
              <a:r>
                <a:rPr lang="en-US" sz="1000" dirty="0">
                  <a:latin typeface="Arial" pitchFamily="34" charset="0"/>
                </a:rPr>
                <a:t>Postopek</a:t>
              </a:r>
            </a:p>
          </p:txBody>
        </p:sp>
        <p:sp>
          <p:nvSpPr>
            <p:cNvPr id="15" name="Oval 15"/>
            <p:cNvSpPr>
              <a:spLocks noChangeArrowheads="1"/>
            </p:cNvSpPr>
            <p:nvPr/>
          </p:nvSpPr>
          <p:spPr bwMode="auto">
            <a:xfrm>
              <a:off x="1464" y="1583"/>
              <a:ext cx="909" cy="494"/>
            </a:xfrm>
            <a:prstGeom prst="ellipse">
              <a:avLst/>
            </a:prstGeom>
            <a:gradFill rotWithShape="1">
              <a:gsLst>
                <a:gs pos="0">
                  <a:srgbClr val="FFE1E1"/>
                </a:gs>
                <a:gs pos="100000">
                  <a:srgbClr val="FFFFFF"/>
                </a:gs>
              </a:gsLst>
              <a:lin ang="5400000" scaled="1"/>
            </a:gradFill>
            <a:ln w="9525">
              <a:solidFill>
                <a:schemeClr val="tx1"/>
              </a:solidFill>
              <a:round/>
              <a:headEnd/>
              <a:tailEnd/>
            </a:ln>
          </p:spPr>
          <p:txBody>
            <a:bodyPr wrap="none" anchor="ctr"/>
            <a:lstStyle/>
            <a:p>
              <a:pPr algn="ctr"/>
              <a:r>
                <a:rPr lang="en-US" sz="1000" dirty="0">
                  <a:latin typeface="Arial" pitchFamily="34" charset="0"/>
                </a:rPr>
                <a:t>Operater</a:t>
              </a:r>
            </a:p>
          </p:txBody>
        </p:sp>
      </p:grpSp>
    </p:spTree>
    <p:extLst>
      <p:ext uri="{BB962C8B-B14F-4D97-AF65-F5344CB8AC3E}">
        <p14:creationId xmlns:p14="http://schemas.microsoft.com/office/powerpoint/2010/main" val="181416543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jdelijke aanduiding voor inhoud 3"/>
          <p:cNvSpPr>
            <a:spLocks noGrp="1"/>
          </p:cNvSpPr>
          <p:nvPr>
            <p:ph idx="1"/>
          </p:nvPr>
        </p:nvSpPr>
        <p:spPr/>
        <p:txBody>
          <a:bodyPr/>
          <a:lstStyle/>
          <a:p>
            <a:pPr eaLnBrk="1" hangingPunct="1"/>
            <a:r>
              <a:rPr lang="en-GB" noProof="0" dirty="0">
                <a:latin typeface="Arial" charset="0"/>
              </a:rPr>
              <a:t>Merilni proces</a:t>
            </a:r>
          </a:p>
          <a:p>
            <a:pPr lvl="1" eaLnBrk="1" hangingPunct="1"/>
            <a:endParaRPr lang="sl-SI" noProof="0" dirty="0">
              <a:latin typeface="Arial" charset="0"/>
              <a:cs typeface="Arial" charset="0"/>
            </a:endParaRPr>
          </a:p>
          <a:p>
            <a:pPr lvl="1" eaLnBrk="1" hangingPunct="1"/>
            <a:r>
              <a:rPr lang="en-GB" sz="1600" noProof="0" dirty="0">
                <a:latin typeface="Arial" charset="0"/>
              </a:rPr>
              <a:t>Idealen merilni sistem bi izmeril </a:t>
            </a:r>
            <a:r>
              <a:rPr lang="en-GB" sz="1600" u="sng" noProof="0" dirty="0">
                <a:latin typeface="Arial" charset="0"/>
              </a:rPr>
              <a:t>resnično vrednost</a:t>
            </a:r>
            <a:r>
              <a:rPr dirty="0"/>
              <a:t> </a:t>
            </a:r>
            <a:r>
              <a:rPr lang="en-GB" sz="1600" u="sng" noProof="0" dirty="0">
                <a:latin typeface="Arial" charset="0"/>
              </a:rPr>
              <a:t>v vsakem poskusu</a:t>
            </a:r>
            <a:r>
              <a:rPr lang="en-GB" sz="1600" noProof="0" dirty="0">
                <a:latin typeface="Arial" charset="0"/>
              </a:rPr>
              <a:t>.</a:t>
            </a:r>
          </a:p>
          <a:p>
            <a:pPr lvl="1" algn="ctr" eaLnBrk="1" hangingPunct="1">
              <a:buFont typeface="Arial" charset="0"/>
              <a:buNone/>
            </a:pPr>
            <a:br/>
            <a:br/>
            <a:r>
              <a:rPr lang="en-GB" sz="1600" noProof="0" dirty="0">
                <a:latin typeface="Arial" charset="0"/>
              </a:rPr>
              <a:t>Toda . . . vsi vemo, da na svetu ni idealnih stvari!</a:t>
            </a:r>
            <a:br/>
            <a:r>
              <a:rPr lang="en-GB" sz="1600" noProof="0" dirty="0">
                <a:latin typeface="Arial" charset="0"/>
              </a:rPr>
              <a:t>Vsak proces ima variabilnost... tudi merilni proces!</a:t>
            </a:r>
          </a:p>
          <a:p>
            <a:pPr lvl="1" eaLnBrk="1" hangingPunct="1"/>
            <a:endParaRPr lang="sl-SI" sz="1600" noProof="0" dirty="0">
              <a:latin typeface="Arial" charset="0"/>
              <a:cs typeface="Arial" charset="0"/>
            </a:endParaRPr>
          </a:p>
          <a:p>
            <a:pPr lvl="1" eaLnBrk="1" hangingPunct="1"/>
            <a:endParaRPr lang="sl-SI" sz="1600" noProof="0" dirty="0">
              <a:latin typeface="Arial" charset="0"/>
              <a:cs typeface="Arial" charset="0"/>
            </a:endParaRPr>
          </a:p>
          <a:p>
            <a:pPr eaLnBrk="1" hangingPunct="1"/>
            <a:r>
              <a:rPr lang="en-GB" sz="1600" noProof="0" dirty="0">
                <a:latin typeface="Arial" charset="0"/>
              </a:rPr>
              <a:t>MSA – </a:t>
            </a:r>
            <a:r>
              <a:rPr lang="en-GB" sz="1600" noProof="0" dirty="0">
                <a:solidFill>
                  <a:srgbClr val="C00000"/>
                </a:solidFill>
                <a:latin typeface="Arial" charset="0"/>
              </a:rPr>
              <a:t>M</a:t>
            </a:r>
            <a:r>
              <a:rPr lang="en-GB" sz="1600" noProof="0" dirty="0">
                <a:latin typeface="Arial" charset="0"/>
              </a:rPr>
              <a:t>easurement </a:t>
            </a:r>
            <a:r>
              <a:rPr lang="en-GB" sz="1600" noProof="0">
                <a:solidFill>
                  <a:srgbClr val="C00000"/>
                </a:solidFill>
                <a:latin typeface="Arial" charset="0"/>
              </a:rPr>
              <a:t>S</a:t>
            </a:r>
            <a:r>
              <a:rPr lang="en-GB" sz="1600" noProof="0">
                <a:latin typeface="Arial" charset="0"/>
              </a:rPr>
              <a:t>ystem </a:t>
            </a:r>
            <a:r>
              <a:rPr lang="en-GB" sz="1600" noProof="0">
                <a:solidFill>
                  <a:srgbClr val="C00000"/>
                </a:solidFill>
                <a:latin typeface="Arial" charset="0"/>
              </a:rPr>
              <a:t>A</a:t>
            </a:r>
            <a:r>
              <a:rPr lang="sl-SI" sz="1600" noProof="0">
                <a:latin typeface="Arial" charset="0"/>
              </a:rPr>
              <a:t>nalysis </a:t>
            </a:r>
            <a:r>
              <a:rPr lang="en-GB" sz="1600" noProof="0">
                <a:latin typeface="Arial" charset="0"/>
              </a:rPr>
              <a:t>– </a:t>
            </a:r>
            <a:r>
              <a:rPr lang="en-GB" sz="1600" noProof="0" dirty="0">
                <a:latin typeface="Arial" charset="0"/>
              </a:rPr>
              <a:t>analiza merilnega procesa vam pove: </a:t>
            </a:r>
          </a:p>
          <a:p>
            <a:pPr lvl="1" eaLnBrk="1" hangingPunct="1"/>
            <a:endParaRPr lang="sl-SI" sz="1600" noProof="0" dirty="0">
              <a:latin typeface="Arial" charset="0"/>
              <a:cs typeface="Arial" charset="0"/>
            </a:endParaRPr>
          </a:p>
          <a:p>
            <a:pPr lvl="1" eaLnBrk="1" hangingPunct="1"/>
            <a:r>
              <a:rPr lang="en-GB" sz="1600" noProof="0" dirty="0">
                <a:latin typeface="Arial" charset="0"/>
              </a:rPr>
              <a:t>Kako točno je vaše merilno orodje (oprema)</a:t>
            </a:r>
          </a:p>
          <a:p>
            <a:pPr lvl="1" eaLnBrk="1" hangingPunct="1"/>
            <a:endParaRPr lang="sl-SI" sz="1600" noProof="0" dirty="0">
              <a:latin typeface="Arial" charset="0"/>
              <a:cs typeface="Arial" charset="0"/>
            </a:endParaRPr>
          </a:p>
          <a:p>
            <a:pPr lvl="1" eaLnBrk="1" hangingPunct="1"/>
            <a:r>
              <a:rPr lang="en-GB" sz="1600" noProof="0" dirty="0">
                <a:latin typeface="Arial" charset="0"/>
              </a:rPr>
              <a:t>Kako velik je vpliv merilnega procesa (npr. operaterja in postopka).</a:t>
            </a:r>
          </a:p>
          <a:p>
            <a:pPr eaLnBrk="1" hangingPunct="1"/>
            <a:endParaRPr lang="sl-SI" sz="1600" noProof="0" dirty="0">
              <a:latin typeface="Arial" charset="0"/>
              <a:cs typeface="Arial" charset="0"/>
            </a:endParaRPr>
          </a:p>
        </p:txBody>
      </p:sp>
      <p:sp>
        <p:nvSpPr>
          <p:cNvPr id="6147" name="Titel 4"/>
          <p:cNvSpPr>
            <a:spLocks noGrp="1"/>
          </p:cNvSpPr>
          <p:nvPr>
            <p:ph type="title"/>
          </p:nvPr>
        </p:nvSpPr>
        <p:spPr/>
        <p:txBody>
          <a:bodyPr/>
          <a:lstStyle/>
          <a:p>
            <a:pPr eaLnBrk="1" hangingPunct="1"/>
            <a:r>
              <a:rPr lang="en-GB" noProof="0" dirty="0">
                <a:latin typeface="Arial" charset="0"/>
              </a:rPr>
              <a:t>Analiza merilnega sistema</a:t>
            </a:r>
          </a:p>
        </p:txBody>
      </p:sp>
    </p:spTree>
    <p:extLst>
      <p:ext uri="{BB962C8B-B14F-4D97-AF65-F5344CB8AC3E}">
        <p14:creationId xmlns:p14="http://schemas.microsoft.com/office/powerpoint/2010/main" val="265678959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jdelijke aanduiding voor inhoud 25"/>
          <p:cNvSpPr>
            <a:spLocks noGrp="1"/>
          </p:cNvSpPr>
          <p:nvPr>
            <p:ph idx="1"/>
          </p:nvPr>
        </p:nvSpPr>
        <p:spPr/>
        <p:txBody>
          <a:bodyPr/>
          <a:lstStyle/>
          <a:p>
            <a:pPr eaLnBrk="1" hangingPunct="1"/>
            <a:r>
              <a:rPr lang="en-GB" noProof="0" dirty="0">
                <a:latin typeface="Arial" charset="0"/>
              </a:rPr>
              <a:t>Opazovana variabilnost procesa</a:t>
            </a:r>
          </a:p>
          <a:p>
            <a:pPr lvl="1" eaLnBrk="1" hangingPunct="1"/>
            <a:endParaRPr lang="sl-SI" noProof="0" dirty="0">
              <a:latin typeface="Arial" charset="0"/>
              <a:cs typeface="Arial" charset="0"/>
            </a:endParaRPr>
          </a:p>
          <a:p>
            <a:pPr lvl="1" eaLnBrk="1" hangingPunct="1"/>
            <a:r>
              <a:rPr lang="en-GB" sz="1600" noProof="0" dirty="0">
                <a:latin typeface="Arial" charset="0"/>
              </a:rPr>
              <a:t>Celotna variabilnost (ki jo opazite)</a:t>
            </a:r>
          </a:p>
          <a:p>
            <a:pPr lvl="1" eaLnBrk="1" hangingPunct="1"/>
            <a:endParaRPr lang="sl-SI" sz="1600" noProof="0" dirty="0">
              <a:latin typeface="Arial" charset="0"/>
              <a:cs typeface="Arial" charset="0"/>
            </a:endParaRPr>
          </a:p>
          <a:p>
            <a:pPr lvl="1" eaLnBrk="1" hangingPunct="1"/>
            <a:r>
              <a:rPr lang="en-GB" sz="1600" noProof="0" dirty="0">
                <a:latin typeface="Arial" charset="0"/>
              </a:rPr>
              <a:t>Dejanska variabilnost procesa</a:t>
            </a:r>
          </a:p>
          <a:p>
            <a:pPr lvl="1" eaLnBrk="1" hangingPunct="1"/>
            <a:endParaRPr lang="sl-SI" sz="1600" noProof="0" dirty="0">
              <a:latin typeface="Arial" charset="0"/>
              <a:cs typeface="Arial" charset="0"/>
            </a:endParaRPr>
          </a:p>
          <a:p>
            <a:pPr lvl="1" eaLnBrk="1" hangingPunct="1"/>
            <a:r>
              <a:rPr lang="en-GB" sz="1600" noProof="0" dirty="0">
                <a:latin typeface="Arial" charset="0"/>
              </a:rPr>
              <a:t>Variabilnost, ki jo</a:t>
            </a:r>
            <a:br/>
            <a:r>
              <a:rPr lang="en-GB" sz="1600" noProof="0" dirty="0">
                <a:latin typeface="Arial" charset="0"/>
              </a:rPr>
              <a:t>povzroči merilni sistem</a:t>
            </a:r>
          </a:p>
        </p:txBody>
      </p:sp>
      <p:graphicFrame>
        <p:nvGraphicFramePr>
          <p:cNvPr id="4" name="Diagram 3"/>
          <p:cNvGraphicFramePr/>
          <p:nvPr/>
        </p:nvGraphicFramePr>
        <p:xfrm>
          <a:off x="1187624" y="4077072"/>
          <a:ext cx="2971800" cy="182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172" name="Rectangle 21"/>
          <p:cNvSpPr>
            <a:spLocks noChangeArrowheads="1"/>
          </p:cNvSpPr>
          <p:nvPr/>
        </p:nvSpPr>
        <p:spPr bwMode="auto">
          <a:xfrm>
            <a:off x="4648200" y="3570288"/>
            <a:ext cx="3035300" cy="74612"/>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nl-NL" dirty="0"/>
          </a:p>
        </p:txBody>
      </p:sp>
      <p:sp>
        <p:nvSpPr>
          <p:cNvPr id="7173" name="Rectangle 22"/>
          <p:cNvSpPr>
            <a:spLocks noChangeArrowheads="1"/>
          </p:cNvSpPr>
          <p:nvPr/>
        </p:nvSpPr>
        <p:spPr bwMode="auto">
          <a:xfrm>
            <a:off x="4648200" y="4675188"/>
            <a:ext cx="3035300" cy="74612"/>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nl-NL" dirty="0"/>
          </a:p>
        </p:txBody>
      </p:sp>
      <p:sp>
        <p:nvSpPr>
          <p:cNvPr id="7174" name="Rectangle 23"/>
          <p:cNvSpPr>
            <a:spLocks noChangeArrowheads="1"/>
          </p:cNvSpPr>
          <p:nvPr/>
        </p:nvSpPr>
        <p:spPr bwMode="auto">
          <a:xfrm>
            <a:off x="4627563" y="2681288"/>
            <a:ext cx="3035300" cy="74612"/>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p>
            <a:endParaRPr lang="nl-NL" dirty="0"/>
          </a:p>
        </p:txBody>
      </p:sp>
      <p:grpSp>
        <p:nvGrpSpPr>
          <p:cNvPr id="2" name="Group 24"/>
          <p:cNvGrpSpPr>
            <a:grpSpLocks/>
          </p:cNvGrpSpPr>
          <p:nvPr/>
        </p:nvGrpSpPr>
        <p:grpSpPr bwMode="auto">
          <a:xfrm>
            <a:off x="5149850" y="3041650"/>
            <a:ext cx="2071688" cy="515938"/>
            <a:chOff x="2496" y="1152"/>
            <a:chExt cx="1665" cy="541"/>
          </a:xfrm>
        </p:grpSpPr>
        <p:sp>
          <p:nvSpPr>
            <p:cNvPr id="7191" name="Freeform 25"/>
            <p:cNvSpPr>
              <a:spLocks/>
            </p:cNvSpPr>
            <p:nvPr/>
          </p:nvSpPr>
          <p:spPr bwMode="auto">
            <a:xfrm>
              <a:off x="2496" y="1621"/>
              <a:ext cx="420" cy="72"/>
            </a:xfrm>
            <a:custGeom>
              <a:avLst/>
              <a:gdLst>
                <a:gd name="T0" fmla="*/ 7 w 420"/>
                <a:gd name="T1" fmla="*/ 71 h 72"/>
                <a:gd name="T2" fmla="*/ 22 w 420"/>
                <a:gd name="T3" fmla="*/ 71 h 72"/>
                <a:gd name="T4" fmla="*/ 36 w 420"/>
                <a:gd name="T5" fmla="*/ 71 h 72"/>
                <a:gd name="T6" fmla="*/ 51 w 420"/>
                <a:gd name="T7" fmla="*/ 71 h 72"/>
                <a:gd name="T8" fmla="*/ 65 w 420"/>
                <a:gd name="T9" fmla="*/ 71 h 72"/>
                <a:gd name="T10" fmla="*/ 79 w 420"/>
                <a:gd name="T11" fmla="*/ 71 h 72"/>
                <a:gd name="T12" fmla="*/ 94 w 420"/>
                <a:gd name="T13" fmla="*/ 71 h 72"/>
                <a:gd name="T14" fmla="*/ 101 w 420"/>
                <a:gd name="T15" fmla="*/ 68 h 72"/>
                <a:gd name="T16" fmla="*/ 116 w 420"/>
                <a:gd name="T17" fmla="*/ 68 h 72"/>
                <a:gd name="T18" fmla="*/ 130 w 420"/>
                <a:gd name="T19" fmla="*/ 68 h 72"/>
                <a:gd name="T20" fmla="*/ 145 w 420"/>
                <a:gd name="T21" fmla="*/ 68 h 72"/>
                <a:gd name="T22" fmla="*/ 159 w 420"/>
                <a:gd name="T23" fmla="*/ 68 h 72"/>
                <a:gd name="T24" fmla="*/ 173 w 420"/>
                <a:gd name="T25" fmla="*/ 68 h 72"/>
                <a:gd name="T26" fmla="*/ 188 w 420"/>
                <a:gd name="T27" fmla="*/ 68 h 72"/>
                <a:gd name="T28" fmla="*/ 203 w 420"/>
                <a:gd name="T29" fmla="*/ 64 h 72"/>
                <a:gd name="T30" fmla="*/ 216 w 420"/>
                <a:gd name="T31" fmla="*/ 64 h 72"/>
                <a:gd name="T32" fmla="*/ 231 w 420"/>
                <a:gd name="T33" fmla="*/ 64 h 72"/>
                <a:gd name="T34" fmla="*/ 238 w 420"/>
                <a:gd name="T35" fmla="*/ 61 h 72"/>
                <a:gd name="T36" fmla="*/ 253 w 420"/>
                <a:gd name="T37" fmla="*/ 61 h 72"/>
                <a:gd name="T38" fmla="*/ 260 w 420"/>
                <a:gd name="T39" fmla="*/ 58 h 72"/>
                <a:gd name="T40" fmla="*/ 274 w 420"/>
                <a:gd name="T41" fmla="*/ 58 h 72"/>
                <a:gd name="T42" fmla="*/ 289 w 420"/>
                <a:gd name="T43" fmla="*/ 54 h 72"/>
                <a:gd name="T44" fmla="*/ 296 w 420"/>
                <a:gd name="T45" fmla="*/ 51 h 72"/>
                <a:gd name="T46" fmla="*/ 310 w 420"/>
                <a:gd name="T47" fmla="*/ 51 h 72"/>
                <a:gd name="T48" fmla="*/ 318 w 420"/>
                <a:gd name="T49" fmla="*/ 47 h 72"/>
                <a:gd name="T50" fmla="*/ 332 w 420"/>
                <a:gd name="T51" fmla="*/ 44 h 72"/>
                <a:gd name="T52" fmla="*/ 340 w 420"/>
                <a:gd name="T53" fmla="*/ 41 h 72"/>
                <a:gd name="T54" fmla="*/ 346 w 420"/>
                <a:gd name="T55" fmla="*/ 37 h 72"/>
                <a:gd name="T56" fmla="*/ 354 w 420"/>
                <a:gd name="T57" fmla="*/ 34 h 72"/>
                <a:gd name="T58" fmla="*/ 361 w 420"/>
                <a:gd name="T59" fmla="*/ 31 h 72"/>
                <a:gd name="T60" fmla="*/ 368 w 420"/>
                <a:gd name="T61" fmla="*/ 27 h 72"/>
                <a:gd name="T62" fmla="*/ 376 w 420"/>
                <a:gd name="T63" fmla="*/ 24 h 72"/>
                <a:gd name="T64" fmla="*/ 383 w 420"/>
                <a:gd name="T65" fmla="*/ 20 h 72"/>
                <a:gd name="T66" fmla="*/ 390 w 420"/>
                <a:gd name="T67" fmla="*/ 17 h 72"/>
                <a:gd name="T68" fmla="*/ 404 w 420"/>
                <a:gd name="T69" fmla="*/ 10 h 72"/>
                <a:gd name="T70" fmla="*/ 412 w 420"/>
                <a:gd name="T71" fmla="*/ 7 h 72"/>
                <a:gd name="T72" fmla="*/ 419 w 420"/>
                <a:gd name="T73" fmla="*/ 3 h 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20"/>
                <a:gd name="T112" fmla="*/ 0 h 72"/>
                <a:gd name="T113" fmla="*/ 420 w 420"/>
                <a:gd name="T114" fmla="*/ 72 h 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20" h="72">
                  <a:moveTo>
                    <a:pt x="0" y="71"/>
                  </a:moveTo>
                  <a:lnTo>
                    <a:pt x="7" y="71"/>
                  </a:lnTo>
                  <a:lnTo>
                    <a:pt x="15" y="71"/>
                  </a:lnTo>
                  <a:lnTo>
                    <a:pt x="22" y="71"/>
                  </a:lnTo>
                  <a:lnTo>
                    <a:pt x="29" y="71"/>
                  </a:lnTo>
                  <a:lnTo>
                    <a:pt x="36" y="71"/>
                  </a:lnTo>
                  <a:lnTo>
                    <a:pt x="43" y="71"/>
                  </a:lnTo>
                  <a:lnTo>
                    <a:pt x="51" y="71"/>
                  </a:lnTo>
                  <a:lnTo>
                    <a:pt x="58" y="71"/>
                  </a:lnTo>
                  <a:lnTo>
                    <a:pt x="65" y="71"/>
                  </a:lnTo>
                  <a:lnTo>
                    <a:pt x="72" y="71"/>
                  </a:lnTo>
                  <a:lnTo>
                    <a:pt x="79" y="71"/>
                  </a:lnTo>
                  <a:lnTo>
                    <a:pt x="87" y="71"/>
                  </a:lnTo>
                  <a:lnTo>
                    <a:pt x="94" y="71"/>
                  </a:lnTo>
                  <a:lnTo>
                    <a:pt x="101" y="71"/>
                  </a:lnTo>
                  <a:lnTo>
                    <a:pt x="101" y="68"/>
                  </a:lnTo>
                  <a:lnTo>
                    <a:pt x="109" y="68"/>
                  </a:lnTo>
                  <a:lnTo>
                    <a:pt x="116" y="68"/>
                  </a:lnTo>
                  <a:lnTo>
                    <a:pt x="123" y="68"/>
                  </a:lnTo>
                  <a:lnTo>
                    <a:pt x="130" y="68"/>
                  </a:lnTo>
                  <a:lnTo>
                    <a:pt x="137" y="68"/>
                  </a:lnTo>
                  <a:lnTo>
                    <a:pt x="145" y="68"/>
                  </a:lnTo>
                  <a:lnTo>
                    <a:pt x="152" y="68"/>
                  </a:lnTo>
                  <a:lnTo>
                    <a:pt x="159" y="68"/>
                  </a:lnTo>
                  <a:lnTo>
                    <a:pt x="166" y="68"/>
                  </a:lnTo>
                  <a:lnTo>
                    <a:pt x="173" y="68"/>
                  </a:lnTo>
                  <a:lnTo>
                    <a:pt x="181" y="68"/>
                  </a:lnTo>
                  <a:lnTo>
                    <a:pt x="188" y="68"/>
                  </a:lnTo>
                  <a:lnTo>
                    <a:pt x="195" y="64"/>
                  </a:lnTo>
                  <a:lnTo>
                    <a:pt x="203" y="64"/>
                  </a:lnTo>
                  <a:lnTo>
                    <a:pt x="209" y="64"/>
                  </a:lnTo>
                  <a:lnTo>
                    <a:pt x="216" y="64"/>
                  </a:lnTo>
                  <a:lnTo>
                    <a:pt x="224" y="64"/>
                  </a:lnTo>
                  <a:lnTo>
                    <a:pt x="231" y="64"/>
                  </a:lnTo>
                  <a:lnTo>
                    <a:pt x="231" y="61"/>
                  </a:lnTo>
                  <a:lnTo>
                    <a:pt x="238" y="61"/>
                  </a:lnTo>
                  <a:lnTo>
                    <a:pt x="246" y="61"/>
                  </a:lnTo>
                  <a:lnTo>
                    <a:pt x="253" y="61"/>
                  </a:lnTo>
                  <a:lnTo>
                    <a:pt x="260" y="61"/>
                  </a:lnTo>
                  <a:lnTo>
                    <a:pt x="260" y="58"/>
                  </a:lnTo>
                  <a:lnTo>
                    <a:pt x="267" y="58"/>
                  </a:lnTo>
                  <a:lnTo>
                    <a:pt x="274" y="58"/>
                  </a:lnTo>
                  <a:lnTo>
                    <a:pt x="282" y="54"/>
                  </a:lnTo>
                  <a:lnTo>
                    <a:pt x="289" y="54"/>
                  </a:lnTo>
                  <a:lnTo>
                    <a:pt x="296" y="54"/>
                  </a:lnTo>
                  <a:lnTo>
                    <a:pt x="296" y="51"/>
                  </a:lnTo>
                  <a:lnTo>
                    <a:pt x="303" y="51"/>
                  </a:lnTo>
                  <a:lnTo>
                    <a:pt x="310" y="51"/>
                  </a:lnTo>
                  <a:lnTo>
                    <a:pt x="310" y="47"/>
                  </a:lnTo>
                  <a:lnTo>
                    <a:pt x="318" y="47"/>
                  </a:lnTo>
                  <a:lnTo>
                    <a:pt x="325" y="44"/>
                  </a:lnTo>
                  <a:lnTo>
                    <a:pt x="332" y="44"/>
                  </a:lnTo>
                  <a:lnTo>
                    <a:pt x="332" y="41"/>
                  </a:lnTo>
                  <a:lnTo>
                    <a:pt x="340" y="41"/>
                  </a:lnTo>
                  <a:lnTo>
                    <a:pt x="340" y="37"/>
                  </a:lnTo>
                  <a:lnTo>
                    <a:pt x="346" y="37"/>
                  </a:lnTo>
                  <a:lnTo>
                    <a:pt x="354" y="37"/>
                  </a:lnTo>
                  <a:lnTo>
                    <a:pt x="354" y="34"/>
                  </a:lnTo>
                  <a:lnTo>
                    <a:pt x="361" y="34"/>
                  </a:lnTo>
                  <a:lnTo>
                    <a:pt x="361" y="31"/>
                  </a:lnTo>
                  <a:lnTo>
                    <a:pt x="368" y="31"/>
                  </a:lnTo>
                  <a:lnTo>
                    <a:pt x="368" y="27"/>
                  </a:lnTo>
                  <a:lnTo>
                    <a:pt x="376" y="27"/>
                  </a:lnTo>
                  <a:lnTo>
                    <a:pt x="376" y="24"/>
                  </a:lnTo>
                  <a:lnTo>
                    <a:pt x="383" y="24"/>
                  </a:lnTo>
                  <a:lnTo>
                    <a:pt x="383" y="20"/>
                  </a:lnTo>
                  <a:lnTo>
                    <a:pt x="390" y="20"/>
                  </a:lnTo>
                  <a:lnTo>
                    <a:pt x="390" y="17"/>
                  </a:lnTo>
                  <a:lnTo>
                    <a:pt x="397" y="14"/>
                  </a:lnTo>
                  <a:lnTo>
                    <a:pt x="404" y="10"/>
                  </a:lnTo>
                  <a:lnTo>
                    <a:pt x="404" y="7"/>
                  </a:lnTo>
                  <a:lnTo>
                    <a:pt x="412" y="7"/>
                  </a:lnTo>
                  <a:lnTo>
                    <a:pt x="412" y="3"/>
                  </a:lnTo>
                  <a:lnTo>
                    <a:pt x="419" y="3"/>
                  </a:lnTo>
                  <a:lnTo>
                    <a:pt x="419" y="0"/>
                  </a:lnTo>
                </a:path>
              </a:pathLst>
            </a:custGeom>
            <a:noFill/>
            <a:ln w="28575" cap="rnd" cmpd="sng">
              <a:solidFill>
                <a:srgbClr val="FF3300"/>
              </a:solidFill>
              <a:prstDash val="solid"/>
              <a:round/>
              <a:headEnd type="none" w="med" len="med"/>
              <a:tailEnd type="none" w="med" len="med"/>
            </a:ln>
          </p:spPr>
          <p:txBody>
            <a:bodyPr/>
            <a:lstStyle/>
            <a:p>
              <a:endParaRPr lang="nl-NL" dirty="0"/>
            </a:p>
          </p:txBody>
        </p:sp>
        <p:sp>
          <p:nvSpPr>
            <p:cNvPr id="7192" name="Freeform 26"/>
            <p:cNvSpPr>
              <a:spLocks/>
            </p:cNvSpPr>
            <p:nvPr/>
          </p:nvSpPr>
          <p:spPr bwMode="auto">
            <a:xfrm>
              <a:off x="2915" y="1152"/>
              <a:ext cx="418" cy="470"/>
            </a:xfrm>
            <a:custGeom>
              <a:avLst/>
              <a:gdLst>
                <a:gd name="T0" fmla="*/ 7 w 418"/>
                <a:gd name="T1" fmla="*/ 466 h 470"/>
                <a:gd name="T2" fmla="*/ 15 w 418"/>
                <a:gd name="T3" fmla="*/ 459 h 470"/>
                <a:gd name="T4" fmla="*/ 29 w 418"/>
                <a:gd name="T5" fmla="*/ 449 h 470"/>
                <a:gd name="T6" fmla="*/ 36 w 418"/>
                <a:gd name="T7" fmla="*/ 442 h 470"/>
                <a:gd name="T8" fmla="*/ 43 w 418"/>
                <a:gd name="T9" fmla="*/ 435 h 470"/>
                <a:gd name="T10" fmla="*/ 50 w 418"/>
                <a:gd name="T11" fmla="*/ 428 h 470"/>
                <a:gd name="T12" fmla="*/ 58 w 418"/>
                <a:gd name="T13" fmla="*/ 421 h 470"/>
                <a:gd name="T14" fmla="*/ 64 w 418"/>
                <a:gd name="T15" fmla="*/ 415 h 470"/>
                <a:gd name="T16" fmla="*/ 72 w 418"/>
                <a:gd name="T17" fmla="*/ 405 h 470"/>
                <a:gd name="T18" fmla="*/ 86 w 418"/>
                <a:gd name="T19" fmla="*/ 394 h 470"/>
                <a:gd name="T20" fmla="*/ 93 w 418"/>
                <a:gd name="T21" fmla="*/ 384 h 470"/>
                <a:gd name="T22" fmla="*/ 101 w 418"/>
                <a:gd name="T23" fmla="*/ 374 h 470"/>
                <a:gd name="T24" fmla="*/ 108 w 418"/>
                <a:gd name="T25" fmla="*/ 364 h 470"/>
                <a:gd name="T26" fmla="*/ 115 w 418"/>
                <a:gd name="T27" fmla="*/ 353 h 470"/>
                <a:gd name="T28" fmla="*/ 122 w 418"/>
                <a:gd name="T29" fmla="*/ 347 h 470"/>
                <a:gd name="T30" fmla="*/ 129 w 418"/>
                <a:gd name="T31" fmla="*/ 336 h 470"/>
                <a:gd name="T32" fmla="*/ 137 w 418"/>
                <a:gd name="T33" fmla="*/ 326 h 470"/>
                <a:gd name="T34" fmla="*/ 144 w 418"/>
                <a:gd name="T35" fmla="*/ 316 h 470"/>
                <a:gd name="T36" fmla="*/ 151 w 418"/>
                <a:gd name="T37" fmla="*/ 306 h 470"/>
                <a:gd name="T38" fmla="*/ 158 w 418"/>
                <a:gd name="T39" fmla="*/ 296 h 470"/>
                <a:gd name="T40" fmla="*/ 165 w 418"/>
                <a:gd name="T41" fmla="*/ 285 h 470"/>
                <a:gd name="T42" fmla="*/ 172 w 418"/>
                <a:gd name="T43" fmla="*/ 275 h 470"/>
                <a:gd name="T44" fmla="*/ 180 w 418"/>
                <a:gd name="T45" fmla="*/ 265 h 470"/>
                <a:gd name="T46" fmla="*/ 187 w 418"/>
                <a:gd name="T47" fmla="*/ 255 h 470"/>
                <a:gd name="T48" fmla="*/ 194 w 418"/>
                <a:gd name="T49" fmla="*/ 245 h 470"/>
                <a:gd name="T50" fmla="*/ 194 w 418"/>
                <a:gd name="T51" fmla="*/ 235 h 470"/>
                <a:gd name="T52" fmla="*/ 201 w 418"/>
                <a:gd name="T53" fmla="*/ 224 h 470"/>
                <a:gd name="T54" fmla="*/ 208 w 418"/>
                <a:gd name="T55" fmla="*/ 217 h 470"/>
                <a:gd name="T56" fmla="*/ 215 w 418"/>
                <a:gd name="T57" fmla="*/ 207 h 470"/>
                <a:gd name="T58" fmla="*/ 223 w 418"/>
                <a:gd name="T59" fmla="*/ 197 h 470"/>
                <a:gd name="T60" fmla="*/ 230 w 418"/>
                <a:gd name="T61" fmla="*/ 187 h 470"/>
                <a:gd name="T62" fmla="*/ 237 w 418"/>
                <a:gd name="T63" fmla="*/ 177 h 470"/>
                <a:gd name="T64" fmla="*/ 245 w 418"/>
                <a:gd name="T65" fmla="*/ 166 h 470"/>
                <a:gd name="T66" fmla="*/ 245 w 418"/>
                <a:gd name="T67" fmla="*/ 156 h 470"/>
                <a:gd name="T68" fmla="*/ 251 w 418"/>
                <a:gd name="T69" fmla="*/ 149 h 470"/>
                <a:gd name="T70" fmla="*/ 259 w 418"/>
                <a:gd name="T71" fmla="*/ 139 h 470"/>
                <a:gd name="T72" fmla="*/ 266 w 418"/>
                <a:gd name="T73" fmla="*/ 129 h 470"/>
                <a:gd name="T74" fmla="*/ 273 w 418"/>
                <a:gd name="T75" fmla="*/ 119 h 470"/>
                <a:gd name="T76" fmla="*/ 280 w 418"/>
                <a:gd name="T77" fmla="*/ 108 h 470"/>
                <a:gd name="T78" fmla="*/ 288 w 418"/>
                <a:gd name="T79" fmla="*/ 98 h 470"/>
                <a:gd name="T80" fmla="*/ 294 w 418"/>
                <a:gd name="T81" fmla="*/ 88 h 470"/>
                <a:gd name="T82" fmla="*/ 302 w 418"/>
                <a:gd name="T83" fmla="*/ 78 h 470"/>
                <a:gd name="T84" fmla="*/ 309 w 418"/>
                <a:gd name="T85" fmla="*/ 71 h 470"/>
                <a:gd name="T86" fmla="*/ 316 w 418"/>
                <a:gd name="T87" fmla="*/ 64 h 470"/>
                <a:gd name="T88" fmla="*/ 324 w 418"/>
                <a:gd name="T89" fmla="*/ 58 h 470"/>
                <a:gd name="T90" fmla="*/ 331 w 418"/>
                <a:gd name="T91" fmla="*/ 48 h 470"/>
                <a:gd name="T92" fmla="*/ 337 w 418"/>
                <a:gd name="T93" fmla="*/ 37 h 470"/>
                <a:gd name="T94" fmla="*/ 352 w 418"/>
                <a:gd name="T95" fmla="*/ 30 h 470"/>
                <a:gd name="T96" fmla="*/ 359 w 418"/>
                <a:gd name="T97" fmla="*/ 24 h 470"/>
                <a:gd name="T98" fmla="*/ 367 w 418"/>
                <a:gd name="T99" fmla="*/ 17 h 470"/>
                <a:gd name="T100" fmla="*/ 381 w 418"/>
                <a:gd name="T101" fmla="*/ 10 h 470"/>
                <a:gd name="T102" fmla="*/ 395 w 418"/>
                <a:gd name="T103" fmla="*/ 7 h 470"/>
                <a:gd name="T104" fmla="*/ 410 w 418"/>
                <a:gd name="T105" fmla="*/ 3 h 47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18"/>
                <a:gd name="T160" fmla="*/ 0 h 470"/>
                <a:gd name="T161" fmla="*/ 418 w 418"/>
                <a:gd name="T162" fmla="*/ 470 h 47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18" h="470">
                  <a:moveTo>
                    <a:pt x="0" y="469"/>
                  </a:moveTo>
                  <a:lnTo>
                    <a:pt x="0" y="466"/>
                  </a:lnTo>
                  <a:lnTo>
                    <a:pt x="7" y="466"/>
                  </a:lnTo>
                  <a:lnTo>
                    <a:pt x="7" y="462"/>
                  </a:lnTo>
                  <a:lnTo>
                    <a:pt x="15" y="462"/>
                  </a:lnTo>
                  <a:lnTo>
                    <a:pt x="15" y="459"/>
                  </a:lnTo>
                  <a:lnTo>
                    <a:pt x="21" y="456"/>
                  </a:lnTo>
                  <a:lnTo>
                    <a:pt x="21" y="452"/>
                  </a:lnTo>
                  <a:lnTo>
                    <a:pt x="29" y="449"/>
                  </a:lnTo>
                  <a:lnTo>
                    <a:pt x="29" y="445"/>
                  </a:lnTo>
                  <a:lnTo>
                    <a:pt x="36" y="445"/>
                  </a:lnTo>
                  <a:lnTo>
                    <a:pt x="36" y="442"/>
                  </a:lnTo>
                  <a:lnTo>
                    <a:pt x="36" y="438"/>
                  </a:lnTo>
                  <a:lnTo>
                    <a:pt x="43" y="438"/>
                  </a:lnTo>
                  <a:lnTo>
                    <a:pt x="43" y="435"/>
                  </a:lnTo>
                  <a:lnTo>
                    <a:pt x="43" y="432"/>
                  </a:lnTo>
                  <a:lnTo>
                    <a:pt x="50" y="432"/>
                  </a:lnTo>
                  <a:lnTo>
                    <a:pt x="50" y="428"/>
                  </a:lnTo>
                  <a:lnTo>
                    <a:pt x="50" y="425"/>
                  </a:lnTo>
                  <a:lnTo>
                    <a:pt x="58" y="425"/>
                  </a:lnTo>
                  <a:lnTo>
                    <a:pt x="58" y="421"/>
                  </a:lnTo>
                  <a:lnTo>
                    <a:pt x="58" y="418"/>
                  </a:lnTo>
                  <a:lnTo>
                    <a:pt x="64" y="418"/>
                  </a:lnTo>
                  <a:lnTo>
                    <a:pt x="64" y="415"/>
                  </a:lnTo>
                  <a:lnTo>
                    <a:pt x="64" y="411"/>
                  </a:lnTo>
                  <a:lnTo>
                    <a:pt x="72" y="408"/>
                  </a:lnTo>
                  <a:lnTo>
                    <a:pt x="72" y="405"/>
                  </a:lnTo>
                  <a:lnTo>
                    <a:pt x="79" y="401"/>
                  </a:lnTo>
                  <a:lnTo>
                    <a:pt x="79" y="398"/>
                  </a:lnTo>
                  <a:lnTo>
                    <a:pt x="86" y="394"/>
                  </a:lnTo>
                  <a:lnTo>
                    <a:pt x="86" y="391"/>
                  </a:lnTo>
                  <a:lnTo>
                    <a:pt x="86" y="387"/>
                  </a:lnTo>
                  <a:lnTo>
                    <a:pt x="93" y="384"/>
                  </a:lnTo>
                  <a:lnTo>
                    <a:pt x="93" y="381"/>
                  </a:lnTo>
                  <a:lnTo>
                    <a:pt x="101" y="377"/>
                  </a:lnTo>
                  <a:lnTo>
                    <a:pt x="101" y="374"/>
                  </a:lnTo>
                  <a:lnTo>
                    <a:pt x="101" y="371"/>
                  </a:lnTo>
                  <a:lnTo>
                    <a:pt x="108" y="367"/>
                  </a:lnTo>
                  <a:lnTo>
                    <a:pt x="108" y="364"/>
                  </a:lnTo>
                  <a:lnTo>
                    <a:pt x="115" y="360"/>
                  </a:lnTo>
                  <a:lnTo>
                    <a:pt x="115" y="357"/>
                  </a:lnTo>
                  <a:lnTo>
                    <a:pt x="115" y="353"/>
                  </a:lnTo>
                  <a:lnTo>
                    <a:pt x="115" y="350"/>
                  </a:lnTo>
                  <a:lnTo>
                    <a:pt x="122" y="350"/>
                  </a:lnTo>
                  <a:lnTo>
                    <a:pt x="122" y="347"/>
                  </a:lnTo>
                  <a:lnTo>
                    <a:pt x="122" y="343"/>
                  </a:lnTo>
                  <a:lnTo>
                    <a:pt x="129" y="340"/>
                  </a:lnTo>
                  <a:lnTo>
                    <a:pt x="129" y="336"/>
                  </a:lnTo>
                  <a:lnTo>
                    <a:pt x="129" y="333"/>
                  </a:lnTo>
                  <a:lnTo>
                    <a:pt x="137" y="330"/>
                  </a:lnTo>
                  <a:lnTo>
                    <a:pt x="137" y="326"/>
                  </a:lnTo>
                  <a:lnTo>
                    <a:pt x="137" y="323"/>
                  </a:lnTo>
                  <a:lnTo>
                    <a:pt x="144" y="320"/>
                  </a:lnTo>
                  <a:lnTo>
                    <a:pt x="144" y="316"/>
                  </a:lnTo>
                  <a:lnTo>
                    <a:pt x="144" y="313"/>
                  </a:lnTo>
                  <a:lnTo>
                    <a:pt x="151" y="309"/>
                  </a:lnTo>
                  <a:lnTo>
                    <a:pt x="151" y="306"/>
                  </a:lnTo>
                  <a:lnTo>
                    <a:pt x="151" y="302"/>
                  </a:lnTo>
                  <a:lnTo>
                    <a:pt x="158" y="299"/>
                  </a:lnTo>
                  <a:lnTo>
                    <a:pt x="158" y="296"/>
                  </a:lnTo>
                  <a:lnTo>
                    <a:pt x="158" y="292"/>
                  </a:lnTo>
                  <a:lnTo>
                    <a:pt x="165" y="289"/>
                  </a:lnTo>
                  <a:lnTo>
                    <a:pt x="165" y="285"/>
                  </a:lnTo>
                  <a:lnTo>
                    <a:pt x="165" y="282"/>
                  </a:lnTo>
                  <a:lnTo>
                    <a:pt x="172" y="279"/>
                  </a:lnTo>
                  <a:lnTo>
                    <a:pt x="172" y="275"/>
                  </a:lnTo>
                  <a:lnTo>
                    <a:pt x="172" y="272"/>
                  </a:lnTo>
                  <a:lnTo>
                    <a:pt x="180" y="269"/>
                  </a:lnTo>
                  <a:lnTo>
                    <a:pt x="180" y="265"/>
                  </a:lnTo>
                  <a:lnTo>
                    <a:pt x="180" y="262"/>
                  </a:lnTo>
                  <a:lnTo>
                    <a:pt x="180" y="258"/>
                  </a:lnTo>
                  <a:lnTo>
                    <a:pt x="187" y="255"/>
                  </a:lnTo>
                  <a:lnTo>
                    <a:pt x="187" y="251"/>
                  </a:lnTo>
                  <a:lnTo>
                    <a:pt x="187" y="248"/>
                  </a:lnTo>
                  <a:lnTo>
                    <a:pt x="194" y="245"/>
                  </a:lnTo>
                  <a:lnTo>
                    <a:pt x="194" y="241"/>
                  </a:lnTo>
                  <a:lnTo>
                    <a:pt x="194" y="238"/>
                  </a:lnTo>
                  <a:lnTo>
                    <a:pt x="194" y="235"/>
                  </a:lnTo>
                  <a:lnTo>
                    <a:pt x="201" y="231"/>
                  </a:lnTo>
                  <a:lnTo>
                    <a:pt x="201" y="228"/>
                  </a:lnTo>
                  <a:lnTo>
                    <a:pt x="201" y="224"/>
                  </a:lnTo>
                  <a:lnTo>
                    <a:pt x="208" y="224"/>
                  </a:lnTo>
                  <a:lnTo>
                    <a:pt x="208" y="221"/>
                  </a:lnTo>
                  <a:lnTo>
                    <a:pt x="208" y="217"/>
                  </a:lnTo>
                  <a:lnTo>
                    <a:pt x="208" y="214"/>
                  </a:lnTo>
                  <a:lnTo>
                    <a:pt x="215" y="211"/>
                  </a:lnTo>
                  <a:lnTo>
                    <a:pt x="215" y="207"/>
                  </a:lnTo>
                  <a:lnTo>
                    <a:pt x="215" y="204"/>
                  </a:lnTo>
                  <a:lnTo>
                    <a:pt x="223" y="200"/>
                  </a:lnTo>
                  <a:lnTo>
                    <a:pt x="223" y="197"/>
                  </a:lnTo>
                  <a:lnTo>
                    <a:pt x="223" y="194"/>
                  </a:lnTo>
                  <a:lnTo>
                    <a:pt x="230" y="190"/>
                  </a:lnTo>
                  <a:lnTo>
                    <a:pt x="230" y="187"/>
                  </a:lnTo>
                  <a:lnTo>
                    <a:pt x="230" y="184"/>
                  </a:lnTo>
                  <a:lnTo>
                    <a:pt x="230" y="180"/>
                  </a:lnTo>
                  <a:lnTo>
                    <a:pt x="237" y="177"/>
                  </a:lnTo>
                  <a:lnTo>
                    <a:pt x="237" y="173"/>
                  </a:lnTo>
                  <a:lnTo>
                    <a:pt x="237" y="170"/>
                  </a:lnTo>
                  <a:lnTo>
                    <a:pt x="245" y="166"/>
                  </a:lnTo>
                  <a:lnTo>
                    <a:pt x="245" y="163"/>
                  </a:lnTo>
                  <a:lnTo>
                    <a:pt x="245" y="160"/>
                  </a:lnTo>
                  <a:lnTo>
                    <a:pt x="245" y="156"/>
                  </a:lnTo>
                  <a:lnTo>
                    <a:pt x="251" y="156"/>
                  </a:lnTo>
                  <a:lnTo>
                    <a:pt x="251" y="153"/>
                  </a:lnTo>
                  <a:lnTo>
                    <a:pt x="251" y="149"/>
                  </a:lnTo>
                  <a:lnTo>
                    <a:pt x="259" y="146"/>
                  </a:lnTo>
                  <a:lnTo>
                    <a:pt x="259" y="143"/>
                  </a:lnTo>
                  <a:lnTo>
                    <a:pt x="259" y="139"/>
                  </a:lnTo>
                  <a:lnTo>
                    <a:pt x="259" y="136"/>
                  </a:lnTo>
                  <a:lnTo>
                    <a:pt x="266" y="133"/>
                  </a:lnTo>
                  <a:lnTo>
                    <a:pt x="266" y="129"/>
                  </a:lnTo>
                  <a:lnTo>
                    <a:pt x="266" y="126"/>
                  </a:lnTo>
                  <a:lnTo>
                    <a:pt x="273" y="122"/>
                  </a:lnTo>
                  <a:lnTo>
                    <a:pt x="273" y="119"/>
                  </a:lnTo>
                  <a:lnTo>
                    <a:pt x="273" y="115"/>
                  </a:lnTo>
                  <a:lnTo>
                    <a:pt x="280" y="112"/>
                  </a:lnTo>
                  <a:lnTo>
                    <a:pt x="280" y="108"/>
                  </a:lnTo>
                  <a:lnTo>
                    <a:pt x="280" y="105"/>
                  </a:lnTo>
                  <a:lnTo>
                    <a:pt x="288" y="102"/>
                  </a:lnTo>
                  <a:lnTo>
                    <a:pt x="288" y="98"/>
                  </a:lnTo>
                  <a:lnTo>
                    <a:pt x="294" y="95"/>
                  </a:lnTo>
                  <a:lnTo>
                    <a:pt x="294" y="92"/>
                  </a:lnTo>
                  <a:lnTo>
                    <a:pt x="294" y="88"/>
                  </a:lnTo>
                  <a:lnTo>
                    <a:pt x="302" y="85"/>
                  </a:lnTo>
                  <a:lnTo>
                    <a:pt x="302" y="82"/>
                  </a:lnTo>
                  <a:lnTo>
                    <a:pt x="302" y="78"/>
                  </a:lnTo>
                  <a:lnTo>
                    <a:pt x="309" y="78"/>
                  </a:lnTo>
                  <a:lnTo>
                    <a:pt x="309" y="75"/>
                  </a:lnTo>
                  <a:lnTo>
                    <a:pt x="309" y="71"/>
                  </a:lnTo>
                  <a:lnTo>
                    <a:pt x="309" y="68"/>
                  </a:lnTo>
                  <a:lnTo>
                    <a:pt x="316" y="68"/>
                  </a:lnTo>
                  <a:lnTo>
                    <a:pt x="316" y="64"/>
                  </a:lnTo>
                  <a:lnTo>
                    <a:pt x="316" y="61"/>
                  </a:lnTo>
                  <a:lnTo>
                    <a:pt x="324" y="61"/>
                  </a:lnTo>
                  <a:lnTo>
                    <a:pt x="324" y="58"/>
                  </a:lnTo>
                  <a:lnTo>
                    <a:pt x="324" y="54"/>
                  </a:lnTo>
                  <a:lnTo>
                    <a:pt x="331" y="51"/>
                  </a:lnTo>
                  <a:lnTo>
                    <a:pt x="331" y="48"/>
                  </a:lnTo>
                  <a:lnTo>
                    <a:pt x="337" y="44"/>
                  </a:lnTo>
                  <a:lnTo>
                    <a:pt x="337" y="41"/>
                  </a:lnTo>
                  <a:lnTo>
                    <a:pt x="337" y="37"/>
                  </a:lnTo>
                  <a:lnTo>
                    <a:pt x="345" y="37"/>
                  </a:lnTo>
                  <a:lnTo>
                    <a:pt x="345" y="34"/>
                  </a:lnTo>
                  <a:lnTo>
                    <a:pt x="352" y="30"/>
                  </a:lnTo>
                  <a:lnTo>
                    <a:pt x="352" y="27"/>
                  </a:lnTo>
                  <a:lnTo>
                    <a:pt x="359" y="27"/>
                  </a:lnTo>
                  <a:lnTo>
                    <a:pt x="359" y="24"/>
                  </a:lnTo>
                  <a:lnTo>
                    <a:pt x="359" y="20"/>
                  </a:lnTo>
                  <a:lnTo>
                    <a:pt x="367" y="20"/>
                  </a:lnTo>
                  <a:lnTo>
                    <a:pt x="367" y="17"/>
                  </a:lnTo>
                  <a:lnTo>
                    <a:pt x="374" y="17"/>
                  </a:lnTo>
                  <a:lnTo>
                    <a:pt x="374" y="13"/>
                  </a:lnTo>
                  <a:lnTo>
                    <a:pt x="381" y="10"/>
                  </a:lnTo>
                  <a:lnTo>
                    <a:pt x="388" y="10"/>
                  </a:lnTo>
                  <a:lnTo>
                    <a:pt x="388" y="7"/>
                  </a:lnTo>
                  <a:lnTo>
                    <a:pt x="395" y="7"/>
                  </a:lnTo>
                  <a:lnTo>
                    <a:pt x="395" y="3"/>
                  </a:lnTo>
                  <a:lnTo>
                    <a:pt x="402" y="3"/>
                  </a:lnTo>
                  <a:lnTo>
                    <a:pt x="410" y="3"/>
                  </a:lnTo>
                  <a:lnTo>
                    <a:pt x="410" y="0"/>
                  </a:lnTo>
                  <a:lnTo>
                    <a:pt x="417" y="0"/>
                  </a:lnTo>
                </a:path>
              </a:pathLst>
            </a:custGeom>
            <a:noFill/>
            <a:ln w="28575" cap="rnd" cmpd="sng">
              <a:solidFill>
                <a:srgbClr val="FF3300"/>
              </a:solidFill>
              <a:prstDash val="solid"/>
              <a:round/>
              <a:headEnd type="none" w="med" len="med"/>
              <a:tailEnd type="none" w="med" len="med"/>
            </a:ln>
          </p:spPr>
          <p:txBody>
            <a:bodyPr/>
            <a:lstStyle/>
            <a:p>
              <a:endParaRPr lang="nl-NL" dirty="0"/>
            </a:p>
          </p:txBody>
        </p:sp>
        <p:sp>
          <p:nvSpPr>
            <p:cNvPr id="7193" name="Freeform 27"/>
            <p:cNvSpPr>
              <a:spLocks/>
            </p:cNvSpPr>
            <p:nvPr/>
          </p:nvSpPr>
          <p:spPr bwMode="auto">
            <a:xfrm>
              <a:off x="3332" y="1152"/>
              <a:ext cx="418" cy="463"/>
            </a:xfrm>
            <a:custGeom>
              <a:avLst/>
              <a:gdLst>
                <a:gd name="T0" fmla="*/ 14 w 418"/>
                <a:gd name="T1" fmla="*/ 0 h 463"/>
                <a:gd name="T2" fmla="*/ 29 w 418"/>
                <a:gd name="T3" fmla="*/ 3 h 463"/>
                <a:gd name="T4" fmla="*/ 36 w 418"/>
                <a:gd name="T5" fmla="*/ 10 h 463"/>
                <a:gd name="T6" fmla="*/ 50 w 418"/>
                <a:gd name="T7" fmla="*/ 17 h 463"/>
                <a:gd name="T8" fmla="*/ 64 w 418"/>
                <a:gd name="T9" fmla="*/ 20 h 463"/>
                <a:gd name="T10" fmla="*/ 72 w 418"/>
                <a:gd name="T11" fmla="*/ 27 h 463"/>
                <a:gd name="T12" fmla="*/ 79 w 418"/>
                <a:gd name="T13" fmla="*/ 37 h 463"/>
                <a:gd name="T14" fmla="*/ 86 w 418"/>
                <a:gd name="T15" fmla="*/ 44 h 463"/>
                <a:gd name="T16" fmla="*/ 101 w 418"/>
                <a:gd name="T17" fmla="*/ 54 h 463"/>
                <a:gd name="T18" fmla="*/ 107 w 418"/>
                <a:gd name="T19" fmla="*/ 61 h 463"/>
                <a:gd name="T20" fmla="*/ 115 w 418"/>
                <a:gd name="T21" fmla="*/ 68 h 463"/>
                <a:gd name="T22" fmla="*/ 115 w 418"/>
                <a:gd name="T23" fmla="*/ 78 h 463"/>
                <a:gd name="T24" fmla="*/ 122 w 418"/>
                <a:gd name="T25" fmla="*/ 85 h 463"/>
                <a:gd name="T26" fmla="*/ 129 w 418"/>
                <a:gd name="T27" fmla="*/ 95 h 463"/>
                <a:gd name="T28" fmla="*/ 144 w 418"/>
                <a:gd name="T29" fmla="*/ 105 h 463"/>
                <a:gd name="T30" fmla="*/ 150 w 418"/>
                <a:gd name="T31" fmla="*/ 115 h 463"/>
                <a:gd name="T32" fmla="*/ 158 w 418"/>
                <a:gd name="T33" fmla="*/ 126 h 463"/>
                <a:gd name="T34" fmla="*/ 165 w 418"/>
                <a:gd name="T35" fmla="*/ 136 h 463"/>
                <a:gd name="T36" fmla="*/ 165 w 418"/>
                <a:gd name="T37" fmla="*/ 146 h 463"/>
                <a:gd name="T38" fmla="*/ 172 w 418"/>
                <a:gd name="T39" fmla="*/ 156 h 463"/>
                <a:gd name="T40" fmla="*/ 180 w 418"/>
                <a:gd name="T41" fmla="*/ 163 h 463"/>
                <a:gd name="T42" fmla="*/ 187 w 418"/>
                <a:gd name="T43" fmla="*/ 173 h 463"/>
                <a:gd name="T44" fmla="*/ 194 w 418"/>
                <a:gd name="T45" fmla="*/ 183 h 463"/>
                <a:gd name="T46" fmla="*/ 201 w 418"/>
                <a:gd name="T47" fmla="*/ 193 h 463"/>
                <a:gd name="T48" fmla="*/ 208 w 418"/>
                <a:gd name="T49" fmla="*/ 204 h 463"/>
                <a:gd name="T50" fmla="*/ 215 w 418"/>
                <a:gd name="T51" fmla="*/ 214 h 463"/>
                <a:gd name="T52" fmla="*/ 215 w 418"/>
                <a:gd name="T53" fmla="*/ 224 h 463"/>
                <a:gd name="T54" fmla="*/ 223 w 418"/>
                <a:gd name="T55" fmla="*/ 231 h 463"/>
                <a:gd name="T56" fmla="*/ 230 w 418"/>
                <a:gd name="T57" fmla="*/ 241 h 463"/>
                <a:gd name="T58" fmla="*/ 237 w 418"/>
                <a:gd name="T59" fmla="*/ 251 h 463"/>
                <a:gd name="T60" fmla="*/ 244 w 418"/>
                <a:gd name="T61" fmla="*/ 262 h 463"/>
                <a:gd name="T62" fmla="*/ 251 w 418"/>
                <a:gd name="T63" fmla="*/ 272 h 463"/>
                <a:gd name="T64" fmla="*/ 259 w 418"/>
                <a:gd name="T65" fmla="*/ 282 h 463"/>
                <a:gd name="T66" fmla="*/ 266 w 418"/>
                <a:gd name="T67" fmla="*/ 292 h 463"/>
                <a:gd name="T68" fmla="*/ 273 w 418"/>
                <a:gd name="T69" fmla="*/ 302 h 463"/>
                <a:gd name="T70" fmla="*/ 280 w 418"/>
                <a:gd name="T71" fmla="*/ 313 h 463"/>
                <a:gd name="T72" fmla="*/ 287 w 418"/>
                <a:gd name="T73" fmla="*/ 323 h 463"/>
                <a:gd name="T74" fmla="*/ 294 w 418"/>
                <a:gd name="T75" fmla="*/ 333 h 463"/>
                <a:gd name="T76" fmla="*/ 302 w 418"/>
                <a:gd name="T77" fmla="*/ 343 h 463"/>
                <a:gd name="T78" fmla="*/ 309 w 418"/>
                <a:gd name="T79" fmla="*/ 350 h 463"/>
                <a:gd name="T80" fmla="*/ 309 w 418"/>
                <a:gd name="T81" fmla="*/ 360 h 463"/>
                <a:gd name="T82" fmla="*/ 324 w 418"/>
                <a:gd name="T83" fmla="*/ 370 h 463"/>
                <a:gd name="T84" fmla="*/ 330 w 418"/>
                <a:gd name="T85" fmla="*/ 380 h 463"/>
                <a:gd name="T86" fmla="*/ 337 w 418"/>
                <a:gd name="T87" fmla="*/ 391 h 463"/>
                <a:gd name="T88" fmla="*/ 345 w 418"/>
                <a:gd name="T89" fmla="*/ 401 h 463"/>
                <a:gd name="T90" fmla="*/ 359 w 418"/>
                <a:gd name="T91" fmla="*/ 411 h 463"/>
                <a:gd name="T92" fmla="*/ 367 w 418"/>
                <a:gd name="T93" fmla="*/ 418 h 463"/>
                <a:gd name="T94" fmla="*/ 374 w 418"/>
                <a:gd name="T95" fmla="*/ 425 h 463"/>
                <a:gd name="T96" fmla="*/ 381 w 418"/>
                <a:gd name="T97" fmla="*/ 432 h 463"/>
                <a:gd name="T98" fmla="*/ 388 w 418"/>
                <a:gd name="T99" fmla="*/ 438 h 463"/>
                <a:gd name="T100" fmla="*/ 395 w 418"/>
                <a:gd name="T101" fmla="*/ 445 h 463"/>
                <a:gd name="T102" fmla="*/ 402 w 418"/>
                <a:gd name="T103" fmla="*/ 455 h 463"/>
                <a:gd name="T104" fmla="*/ 417 w 418"/>
                <a:gd name="T105" fmla="*/ 462 h 46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18"/>
                <a:gd name="T160" fmla="*/ 0 h 463"/>
                <a:gd name="T161" fmla="*/ 418 w 418"/>
                <a:gd name="T162" fmla="*/ 463 h 46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18" h="463">
                  <a:moveTo>
                    <a:pt x="0" y="0"/>
                  </a:moveTo>
                  <a:lnTo>
                    <a:pt x="7" y="0"/>
                  </a:lnTo>
                  <a:lnTo>
                    <a:pt x="14" y="0"/>
                  </a:lnTo>
                  <a:lnTo>
                    <a:pt x="14" y="3"/>
                  </a:lnTo>
                  <a:lnTo>
                    <a:pt x="21" y="3"/>
                  </a:lnTo>
                  <a:lnTo>
                    <a:pt x="29" y="3"/>
                  </a:lnTo>
                  <a:lnTo>
                    <a:pt x="29" y="7"/>
                  </a:lnTo>
                  <a:lnTo>
                    <a:pt x="36" y="7"/>
                  </a:lnTo>
                  <a:lnTo>
                    <a:pt x="36" y="10"/>
                  </a:lnTo>
                  <a:lnTo>
                    <a:pt x="43" y="10"/>
                  </a:lnTo>
                  <a:lnTo>
                    <a:pt x="50" y="13"/>
                  </a:lnTo>
                  <a:lnTo>
                    <a:pt x="50" y="17"/>
                  </a:lnTo>
                  <a:lnTo>
                    <a:pt x="57" y="17"/>
                  </a:lnTo>
                  <a:lnTo>
                    <a:pt x="57" y="20"/>
                  </a:lnTo>
                  <a:lnTo>
                    <a:pt x="64" y="20"/>
                  </a:lnTo>
                  <a:lnTo>
                    <a:pt x="64" y="24"/>
                  </a:lnTo>
                  <a:lnTo>
                    <a:pt x="64" y="27"/>
                  </a:lnTo>
                  <a:lnTo>
                    <a:pt x="72" y="27"/>
                  </a:lnTo>
                  <a:lnTo>
                    <a:pt x="72" y="30"/>
                  </a:lnTo>
                  <a:lnTo>
                    <a:pt x="79" y="34"/>
                  </a:lnTo>
                  <a:lnTo>
                    <a:pt x="79" y="37"/>
                  </a:lnTo>
                  <a:lnTo>
                    <a:pt x="86" y="37"/>
                  </a:lnTo>
                  <a:lnTo>
                    <a:pt x="86" y="41"/>
                  </a:lnTo>
                  <a:lnTo>
                    <a:pt x="86" y="44"/>
                  </a:lnTo>
                  <a:lnTo>
                    <a:pt x="93" y="48"/>
                  </a:lnTo>
                  <a:lnTo>
                    <a:pt x="93" y="51"/>
                  </a:lnTo>
                  <a:lnTo>
                    <a:pt x="101" y="54"/>
                  </a:lnTo>
                  <a:lnTo>
                    <a:pt x="101" y="58"/>
                  </a:lnTo>
                  <a:lnTo>
                    <a:pt x="101" y="61"/>
                  </a:lnTo>
                  <a:lnTo>
                    <a:pt x="107" y="61"/>
                  </a:lnTo>
                  <a:lnTo>
                    <a:pt x="107" y="64"/>
                  </a:lnTo>
                  <a:lnTo>
                    <a:pt x="107" y="68"/>
                  </a:lnTo>
                  <a:lnTo>
                    <a:pt x="115" y="68"/>
                  </a:lnTo>
                  <a:lnTo>
                    <a:pt x="115" y="71"/>
                  </a:lnTo>
                  <a:lnTo>
                    <a:pt x="115" y="75"/>
                  </a:lnTo>
                  <a:lnTo>
                    <a:pt x="115" y="78"/>
                  </a:lnTo>
                  <a:lnTo>
                    <a:pt x="122" y="78"/>
                  </a:lnTo>
                  <a:lnTo>
                    <a:pt x="122" y="82"/>
                  </a:lnTo>
                  <a:lnTo>
                    <a:pt x="122" y="85"/>
                  </a:lnTo>
                  <a:lnTo>
                    <a:pt x="129" y="88"/>
                  </a:lnTo>
                  <a:lnTo>
                    <a:pt x="129" y="92"/>
                  </a:lnTo>
                  <a:lnTo>
                    <a:pt x="129" y="95"/>
                  </a:lnTo>
                  <a:lnTo>
                    <a:pt x="137" y="98"/>
                  </a:lnTo>
                  <a:lnTo>
                    <a:pt x="137" y="102"/>
                  </a:lnTo>
                  <a:lnTo>
                    <a:pt x="144" y="105"/>
                  </a:lnTo>
                  <a:lnTo>
                    <a:pt x="144" y="108"/>
                  </a:lnTo>
                  <a:lnTo>
                    <a:pt x="144" y="112"/>
                  </a:lnTo>
                  <a:lnTo>
                    <a:pt x="150" y="115"/>
                  </a:lnTo>
                  <a:lnTo>
                    <a:pt x="150" y="119"/>
                  </a:lnTo>
                  <a:lnTo>
                    <a:pt x="150" y="122"/>
                  </a:lnTo>
                  <a:lnTo>
                    <a:pt x="158" y="126"/>
                  </a:lnTo>
                  <a:lnTo>
                    <a:pt x="158" y="129"/>
                  </a:lnTo>
                  <a:lnTo>
                    <a:pt x="158" y="133"/>
                  </a:lnTo>
                  <a:lnTo>
                    <a:pt x="165" y="136"/>
                  </a:lnTo>
                  <a:lnTo>
                    <a:pt x="165" y="139"/>
                  </a:lnTo>
                  <a:lnTo>
                    <a:pt x="165" y="143"/>
                  </a:lnTo>
                  <a:lnTo>
                    <a:pt x="165" y="146"/>
                  </a:lnTo>
                  <a:lnTo>
                    <a:pt x="172" y="149"/>
                  </a:lnTo>
                  <a:lnTo>
                    <a:pt x="172" y="153"/>
                  </a:lnTo>
                  <a:lnTo>
                    <a:pt x="172" y="156"/>
                  </a:lnTo>
                  <a:lnTo>
                    <a:pt x="180" y="156"/>
                  </a:lnTo>
                  <a:lnTo>
                    <a:pt x="180" y="160"/>
                  </a:lnTo>
                  <a:lnTo>
                    <a:pt x="180" y="163"/>
                  </a:lnTo>
                  <a:lnTo>
                    <a:pt x="180" y="166"/>
                  </a:lnTo>
                  <a:lnTo>
                    <a:pt x="187" y="170"/>
                  </a:lnTo>
                  <a:lnTo>
                    <a:pt x="187" y="173"/>
                  </a:lnTo>
                  <a:lnTo>
                    <a:pt x="187" y="177"/>
                  </a:lnTo>
                  <a:lnTo>
                    <a:pt x="194" y="180"/>
                  </a:lnTo>
                  <a:lnTo>
                    <a:pt x="194" y="183"/>
                  </a:lnTo>
                  <a:lnTo>
                    <a:pt x="194" y="187"/>
                  </a:lnTo>
                  <a:lnTo>
                    <a:pt x="194" y="190"/>
                  </a:lnTo>
                  <a:lnTo>
                    <a:pt x="201" y="193"/>
                  </a:lnTo>
                  <a:lnTo>
                    <a:pt x="201" y="197"/>
                  </a:lnTo>
                  <a:lnTo>
                    <a:pt x="201" y="200"/>
                  </a:lnTo>
                  <a:lnTo>
                    <a:pt x="208" y="204"/>
                  </a:lnTo>
                  <a:lnTo>
                    <a:pt x="208" y="207"/>
                  </a:lnTo>
                  <a:lnTo>
                    <a:pt x="208" y="211"/>
                  </a:lnTo>
                  <a:lnTo>
                    <a:pt x="215" y="214"/>
                  </a:lnTo>
                  <a:lnTo>
                    <a:pt x="215" y="217"/>
                  </a:lnTo>
                  <a:lnTo>
                    <a:pt x="215" y="221"/>
                  </a:lnTo>
                  <a:lnTo>
                    <a:pt x="215" y="224"/>
                  </a:lnTo>
                  <a:lnTo>
                    <a:pt x="223" y="224"/>
                  </a:lnTo>
                  <a:lnTo>
                    <a:pt x="223" y="228"/>
                  </a:lnTo>
                  <a:lnTo>
                    <a:pt x="223" y="231"/>
                  </a:lnTo>
                  <a:lnTo>
                    <a:pt x="230" y="234"/>
                  </a:lnTo>
                  <a:lnTo>
                    <a:pt x="230" y="238"/>
                  </a:lnTo>
                  <a:lnTo>
                    <a:pt x="230" y="241"/>
                  </a:lnTo>
                  <a:lnTo>
                    <a:pt x="230" y="244"/>
                  </a:lnTo>
                  <a:lnTo>
                    <a:pt x="237" y="248"/>
                  </a:lnTo>
                  <a:lnTo>
                    <a:pt x="237" y="251"/>
                  </a:lnTo>
                  <a:lnTo>
                    <a:pt x="237" y="255"/>
                  </a:lnTo>
                  <a:lnTo>
                    <a:pt x="244" y="258"/>
                  </a:lnTo>
                  <a:lnTo>
                    <a:pt x="244" y="262"/>
                  </a:lnTo>
                  <a:lnTo>
                    <a:pt x="244" y="265"/>
                  </a:lnTo>
                  <a:lnTo>
                    <a:pt x="244" y="269"/>
                  </a:lnTo>
                  <a:lnTo>
                    <a:pt x="251" y="272"/>
                  </a:lnTo>
                  <a:lnTo>
                    <a:pt x="251" y="275"/>
                  </a:lnTo>
                  <a:lnTo>
                    <a:pt x="251" y="279"/>
                  </a:lnTo>
                  <a:lnTo>
                    <a:pt x="259" y="282"/>
                  </a:lnTo>
                  <a:lnTo>
                    <a:pt x="259" y="285"/>
                  </a:lnTo>
                  <a:lnTo>
                    <a:pt x="259" y="289"/>
                  </a:lnTo>
                  <a:lnTo>
                    <a:pt x="266" y="292"/>
                  </a:lnTo>
                  <a:lnTo>
                    <a:pt x="266" y="296"/>
                  </a:lnTo>
                  <a:lnTo>
                    <a:pt x="266" y="299"/>
                  </a:lnTo>
                  <a:lnTo>
                    <a:pt x="273" y="302"/>
                  </a:lnTo>
                  <a:lnTo>
                    <a:pt x="273" y="306"/>
                  </a:lnTo>
                  <a:lnTo>
                    <a:pt x="273" y="309"/>
                  </a:lnTo>
                  <a:lnTo>
                    <a:pt x="280" y="313"/>
                  </a:lnTo>
                  <a:lnTo>
                    <a:pt x="280" y="316"/>
                  </a:lnTo>
                  <a:lnTo>
                    <a:pt x="280" y="319"/>
                  </a:lnTo>
                  <a:lnTo>
                    <a:pt x="287" y="323"/>
                  </a:lnTo>
                  <a:lnTo>
                    <a:pt x="287" y="326"/>
                  </a:lnTo>
                  <a:lnTo>
                    <a:pt x="287" y="329"/>
                  </a:lnTo>
                  <a:lnTo>
                    <a:pt x="294" y="333"/>
                  </a:lnTo>
                  <a:lnTo>
                    <a:pt x="294" y="336"/>
                  </a:lnTo>
                  <a:lnTo>
                    <a:pt x="294" y="340"/>
                  </a:lnTo>
                  <a:lnTo>
                    <a:pt x="302" y="343"/>
                  </a:lnTo>
                  <a:lnTo>
                    <a:pt x="302" y="347"/>
                  </a:lnTo>
                  <a:lnTo>
                    <a:pt x="302" y="350"/>
                  </a:lnTo>
                  <a:lnTo>
                    <a:pt x="309" y="350"/>
                  </a:lnTo>
                  <a:lnTo>
                    <a:pt x="309" y="353"/>
                  </a:lnTo>
                  <a:lnTo>
                    <a:pt x="309" y="357"/>
                  </a:lnTo>
                  <a:lnTo>
                    <a:pt x="309" y="360"/>
                  </a:lnTo>
                  <a:lnTo>
                    <a:pt x="316" y="364"/>
                  </a:lnTo>
                  <a:lnTo>
                    <a:pt x="316" y="367"/>
                  </a:lnTo>
                  <a:lnTo>
                    <a:pt x="324" y="370"/>
                  </a:lnTo>
                  <a:lnTo>
                    <a:pt x="324" y="374"/>
                  </a:lnTo>
                  <a:lnTo>
                    <a:pt x="324" y="377"/>
                  </a:lnTo>
                  <a:lnTo>
                    <a:pt x="330" y="380"/>
                  </a:lnTo>
                  <a:lnTo>
                    <a:pt x="330" y="384"/>
                  </a:lnTo>
                  <a:lnTo>
                    <a:pt x="337" y="387"/>
                  </a:lnTo>
                  <a:lnTo>
                    <a:pt x="337" y="391"/>
                  </a:lnTo>
                  <a:lnTo>
                    <a:pt x="337" y="394"/>
                  </a:lnTo>
                  <a:lnTo>
                    <a:pt x="345" y="398"/>
                  </a:lnTo>
                  <a:lnTo>
                    <a:pt x="345" y="401"/>
                  </a:lnTo>
                  <a:lnTo>
                    <a:pt x="352" y="404"/>
                  </a:lnTo>
                  <a:lnTo>
                    <a:pt x="352" y="408"/>
                  </a:lnTo>
                  <a:lnTo>
                    <a:pt x="359" y="411"/>
                  </a:lnTo>
                  <a:lnTo>
                    <a:pt x="359" y="414"/>
                  </a:lnTo>
                  <a:lnTo>
                    <a:pt x="359" y="418"/>
                  </a:lnTo>
                  <a:lnTo>
                    <a:pt x="367" y="418"/>
                  </a:lnTo>
                  <a:lnTo>
                    <a:pt x="367" y="421"/>
                  </a:lnTo>
                  <a:lnTo>
                    <a:pt x="367" y="425"/>
                  </a:lnTo>
                  <a:lnTo>
                    <a:pt x="374" y="425"/>
                  </a:lnTo>
                  <a:lnTo>
                    <a:pt x="374" y="428"/>
                  </a:lnTo>
                  <a:lnTo>
                    <a:pt x="374" y="432"/>
                  </a:lnTo>
                  <a:lnTo>
                    <a:pt x="381" y="432"/>
                  </a:lnTo>
                  <a:lnTo>
                    <a:pt x="381" y="435"/>
                  </a:lnTo>
                  <a:lnTo>
                    <a:pt x="381" y="438"/>
                  </a:lnTo>
                  <a:lnTo>
                    <a:pt x="388" y="438"/>
                  </a:lnTo>
                  <a:lnTo>
                    <a:pt x="388" y="442"/>
                  </a:lnTo>
                  <a:lnTo>
                    <a:pt x="388" y="445"/>
                  </a:lnTo>
                  <a:lnTo>
                    <a:pt x="395" y="445"/>
                  </a:lnTo>
                  <a:lnTo>
                    <a:pt x="395" y="449"/>
                  </a:lnTo>
                  <a:lnTo>
                    <a:pt x="402" y="452"/>
                  </a:lnTo>
                  <a:lnTo>
                    <a:pt x="402" y="455"/>
                  </a:lnTo>
                  <a:lnTo>
                    <a:pt x="410" y="459"/>
                  </a:lnTo>
                  <a:lnTo>
                    <a:pt x="410" y="462"/>
                  </a:lnTo>
                  <a:lnTo>
                    <a:pt x="417" y="462"/>
                  </a:lnTo>
                </a:path>
              </a:pathLst>
            </a:custGeom>
            <a:noFill/>
            <a:ln w="28575" cap="rnd" cmpd="sng">
              <a:solidFill>
                <a:srgbClr val="FF3300"/>
              </a:solidFill>
              <a:prstDash val="solid"/>
              <a:round/>
              <a:headEnd type="none" w="med" len="med"/>
              <a:tailEnd type="none" w="med" len="med"/>
            </a:ln>
          </p:spPr>
          <p:txBody>
            <a:bodyPr/>
            <a:lstStyle/>
            <a:p>
              <a:endParaRPr lang="nl-NL" dirty="0"/>
            </a:p>
          </p:txBody>
        </p:sp>
        <p:sp>
          <p:nvSpPr>
            <p:cNvPr id="7194" name="Freeform 28"/>
            <p:cNvSpPr>
              <a:spLocks/>
            </p:cNvSpPr>
            <p:nvPr/>
          </p:nvSpPr>
          <p:spPr bwMode="auto">
            <a:xfrm>
              <a:off x="3749" y="1614"/>
              <a:ext cx="412" cy="79"/>
            </a:xfrm>
            <a:custGeom>
              <a:avLst/>
              <a:gdLst>
                <a:gd name="T0" fmla="*/ 0 w 412"/>
                <a:gd name="T1" fmla="*/ 3 h 79"/>
                <a:gd name="T2" fmla="*/ 7 w 412"/>
                <a:gd name="T3" fmla="*/ 7 h 79"/>
                <a:gd name="T4" fmla="*/ 14 w 412"/>
                <a:gd name="T5" fmla="*/ 10 h 79"/>
                <a:gd name="T6" fmla="*/ 21 w 412"/>
                <a:gd name="T7" fmla="*/ 14 h 79"/>
                <a:gd name="T8" fmla="*/ 29 w 412"/>
                <a:gd name="T9" fmla="*/ 21 h 79"/>
                <a:gd name="T10" fmla="*/ 36 w 412"/>
                <a:gd name="T11" fmla="*/ 27 h 79"/>
                <a:gd name="T12" fmla="*/ 43 w 412"/>
                <a:gd name="T13" fmla="*/ 31 h 79"/>
                <a:gd name="T14" fmla="*/ 50 w 412"/>
                <a:gd name="T15" fmla="*/ 34 h 79"/>
                <a:gd name="T16" fmla="*/ 57 w 412"/>
                <a:gd name="T17" fmla="*/ 37 h 79"/>
                <a:gd name="T18" fmla="*/ 65 w 412"/>
                <a:gd name="T19" fmla="*/ 41 h 79"/>
                <a:gd name="T20" fmla="*/ 72 w 412"/>
                <a:gd name="T21" fmla="*/ 44 h 79"/>
                <a:gd name="T22" fmla="*/ 86 w 412"/>
                <a:gd name="T23" fmla="*/ 44 h 79"/>
                <a:gd name="T24" fmla="*/ 94 w 412"/>
                <a:gd name="T25" fmla="*/ 48 h 79"/>
                <a:gd name="T26" fmla="*/ 100 w 412"/>
                <a:gd name="T27" fmla="*/ 51 h 79"/>
                <a:gd name="T28" fmla="*/ 115 w 412"/>
                <a:gd name="T29" fmla="*/ 54 h 79"/>
                <a:gd name="T30" fmla="*/ 122 w 412"/>
                <a:gd name="T31" fmla="*/ 58 h 79"/>
                <a:gd name="T32" fmla="*/ 130 w 412"/>
                <a:gd name="T33" fmla="*/ 61 h 79"/>
                <a:gd name="T34" fmla="*/ 144 w 412"/>
                <a:gd name="T35" fmla="*/ 61 h 79"/>
                <a:gd name="T36" fmla="*/ 158 w 412"/>
                <a:gd name="T37" fmla="*/ 65 h 79"/>
                <a:gd name="T38" fmla="*/ 166 w 412"/>
                <a:gd name="T39" fmla="*/ 68 h 79"/>
                <a:gd name="T40" fmla="*/ 180 w 412"/>
                <a:gd name="T41" fmla="*/ 68 h 79"/>
                <a:gd name="T42" fmla="*/ 194 w 412"/>
                <a:gd name="T43" fmla="*/ 68 h 79"/>
                <a:gd name="T44" fmla="*/ 202 w 412"/>
                <a:gd name="T45" fmla="*/ 71 h 79"/>
                <a:gd name="T46" fmla="*/ 216 w 412"/>
                <a:gd name="T47" fmla="*/ 71 h 79"/>
                <a:gd name="T48" fmla="*/ 231 w 412"/>
                <a:gd name="T49" fmla="*/ 71 h 79"/>
                <a:gd name="T50" fmla="*/ 245 w 412"/>
                <a:gd name="T51" fmla="*/ 75 h 79"/>
                <a:gd name="T52" fmla="*/ 259 w 412"/>
                <a:gd name="T53" fmla="*/ 75 h 79"/>
                <a:gd name="T54" fmla="*/ 274 w 412"/>
                <a:gd name="T55" fmla="*/ 75 h 79"/>
                <a:gd name="T56" fmla="*/ 288 w 412"/>
                <a:gd name="T57" fmla="*/ 75 h 79"/>
                <a:gd name="T58" fmla="*/ 303 w 412"/>
                <a:gd name="T59" fmla="*/ 75 h 79"/>
                <a:gd name="T60" fmla="*/ 317 w 412"/>
                <a:gd name="T61" fmla="*/ 75 h 79"/>
                <a:gd name="T62" fmla="*/ 324 w 412"/>
                <a:gd name="T63" fmla="*/ 78 h 79"/>
                <a:gd name="T64" fmla="*/ 339 w 412"/>
                <a:gd name="T65" fmla="*/ 78 h 79"/>
                <a:gd name="T66" fmla="*/ 353 w 412"/>
                <a:gd name="T67" fmla="*/ 78 h 79"/>
                <a:gd name="T68" fmla="*/ 368 w 412"/>
                <a:gd name="T69" fmla="*/ 78 h 79"/>
                <a:gd name="T70" fmla="*/ 382 w 412"/>
                <a:gd name="T71" fmla="*/ 78 h 79"/>
                <a:gd name="T72" fmla="*/ 396 w 412"/>
                <a:gd name="T73" fmla="*/ 78 h 79"/>
                <a:gd name="T74" fmla="*/ 411 w 412"/>
                <a:gd name="T75" fmla="*/ 78 h 7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2"/>
                <a:gd name="T115" fmla="*/ 0 h 79"/>
                <a:gd name="T116" fmla="*/ 412 w 412"/>
                <a:gd name="T117" fmla="*/ 79 h 7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2" h="79">
                  <a:moveTo>
                    <a:pt x="0" y="0"/>
                  </a:moveTo>
                  <a:lnTo>
                    <a:pt x="0" y="3"/>
                  </a:lnTo>
                  <a:lnTo>
                    <a:pt x="7" y="3"/>
                  </a:lnTo>
                  <a:lnTo>
                    <a:pt x="7" y="7"/>
                  </a:lnTo>
                  <a:lnTo>
                    <a:pt x="7" y="10"/>
                  </a:lnTo>
                  <a:lnTo>
                    <a:pt x="14" y="10"/>
                  </a:lnTo>
                  <a:lnTo>
                    <a:pt x="14" y="14"/>
                  </a:lnTo>
                  <a:lnTo>
                    <a:pt x="21" y="14"/>
                  </a:lnTo>
                  <a:lnTo>
                    <a:pt x="21" y="17"/>
                  </a:lnTo>
                  <a:lnTo>
                    <a:pt x="29" y="21"/>
                  </a:lnTo>
                  <a:lnTo>
                    <a:pt x="36" y="24"/>
                  </a:lnTo>
                  <a:lnTo>
                    <a:pt x="36" y="27"/>
                  </a:lnTo>
                  <a:lnTo>
                    <a:pt x="43" y="27"/>
                  </a:lnTo>
                  <a:lnTo>
                    <a:pt x="43" y="31"/>
                  </a:lnTo>
                  <a:lnTo>
                    <a:pt x="50" y="31"/>
                  </a:lnTo>
                  <a:lnTo>
                    <a:pt x="50" y="34"/>
                  </a:lnTo>
                  <a:lnTo>
                    <a:pt x="57" y="34"/>
                  </a:lnTo>
                  <a:lnTo>
                    <a:pt x="57" y="37"/>
                  </a:lnTo>
                  <a:lnTo>
                    <a:pt x="65" y="37"/>
                  </a:lnTo>
                  <a:lnTo>
                    <a:pt x="65" y="41"/>
                  </a:lnTo>
                  <a:lnTo>
                    <a:pt x="72" y="41"/>
                  </a:lnTo>
                  <a:lnTo>
                    <a:pt x="72" y="44"/>
                  </a:lnTo>
                  <a:lnTo>
                    <a:pt x="79" y="44"/>
                  </a:lnTo>
                  <a:lnTo>
                    <a:pt x="86" y="44"/>
                  </a:lnTo>
                  <a:lnTo>
                    <a:pt x="86" y="48"/>
                  </a:lnTo>
                  <a:lnTo>
                    <a:pt x="94" y="48"/>
                  </a:lnTo>
                  <a:lnTo>
                    <a:pt x="94" y="51"/>
                  </a:lnTo>
                  <a:lnTo>
                    <a:pt x="100" y="51"/>
                  </a:lnTo>
                  <a:lnTo>
                    <a:pt x="108" y="54"/>
                  </a:lnTo>
                  <a:lnTo>
                    <a:pt x="115" y="54"/>
                  </a:lnTo>
                  <a:lnTo>
                    <a:pt x="115" y="58"/>
                  </a:lnTo>
                  <a:lnTo>
                    <a:pt x="122" y="58"/>
                  </a:lnTo>
                  <a:lnTo>
                    <a:pt x="130" y="58"/>
                  </a:lnTo>
                  <a:lnTo>
                    <a:pt x="130" y="61"/>
                  </a:lnTo>
                  <a:lnTo>
                    <a:pt x="137" y="61"/>
                  </a:lnTo>
                  <a:lnTo>
                    <a:pt x="144" y="61"/>
                  </a:lnTo>
                  <a:lnTo>
                    <a:pt x="151" y="65"/>
                  </a:lnTo>
                  <a:lnTo>
                    <a:pt x="158" y="65"/>
                  </a:lnTo>
                  <a:lnTo>
                    <a:pt x="166" y="65"/>
                  </a:lnTo>
                  <a:lnTo>
                    <a:pt x="166" y="68"/>
                  </a:lnTo>
                  <a:lnTo>
                    <a:pt x="173" y="68"/>
                  </a:lnTo>
                  <a:lnTo>
                    <a:pt x="180" y="68"/>
                  </a:lnTo>
                  <a:lnTo>
                    <a:pt x="187" y="68"/>
                  </a:lnTo>
                  <a:lnTo>
                    <a:pt x="194" y="68"/>
                  </a:lnTo>
                  <a:lnTo>
                    <a:pt x="194" y="71"/>
                  </a:lnTo>
                  <a:lnTo>
                    <a:pt x="202" y="71"/>
                  </a:lnTo>
                  <a:lnTo>
                    <a:pt x="209" y="71"/>
                  </a:lnTo>
                  <a:lnTo>
                    <a:pt x="216" y="71"/>
                  </a:lnTo>
                  <a:lnTo>
                    <a:pt x="223" y="71"/>
                  </a:lnTo>
                  <a:lnTo>
                    <a:pt x="231" y="71"/>
                  </a:lnTo>
                  <a:lnTo>
                    <a:pt x="237" y="75"/>
                  </a:lnTo>
                  <a:lnTo>
                    <a:pt x="245" y="75"/>
                  </a:lnTo>
                  <a:lnTo>
                    <a:pt x="252" y="75"/>
                  </a:lnTo>
                  <a:lnTo>
                    <a:pt x="259" y="75"/>
                  </a:lnTo>
                  <a:lnTo>
                    <a:pt x="267" y="75"/>
                  </a:lnTo>
                  <a:lnTo>
                    <a:pt x="274" y="75"/>
                  </a:lnTo>
                  <a:lnTo>
                    <a:pt x="281" y="75"/>
                  </a:lnTo>
                  <a:lnTo>
                    <a:pt x="288" y="75"/>
                  </a:lnTo>
                  <a:lnTo>
                    <a:pt x="295" y="75"/>
                  </a:lnTo>
                  <a:lnTo>
                    <a:pt x="303" y="75"/>
                  </a:lnTo>
                  <a:lnTo>
                    <a:pt x="310" y="75"/>
                  </a:lnTo>
                  <a:lnTo>
                    <a:pt x="317" y="75"/>
                  </a:lnTo>
                  <a:lnTo>
                    <a:pt x="324" y="75"/>
                  </a:lnTo>
                  <a:lnTo>
                    <a:pt x="324" y="78"/>
                  </a:lnTo>
                  <a:lnTo>
                    <a:pt x="331" y="78"/>
                  </a:lnTo>
                  <a:lnTo>
                    <a:pt x="339" y="78"/>
                  </a:lnTo>
                  <a:lnTo>
                    <a:pt x="346" y="78"/>
                  </a:lnTo>
                  <a:lnTo>
                    <a:pt x="353" y="78"/>
                  </a:lnTo>
                  <a:lnTo>
                    <a:pt x="360" y="78"/>
                  </a:lnTo>
                  <a:lnTo>
                    <a:pt x="368" y="78"/>
                  </a:lnTo>
                  <a:lnTo>
                    <a:pt x="374" y="78"/>
                  </a:lnTo>
                  <a:lnTo>
                    <a:pt x="382" y="78"/>
                  </a:lnTo>
                  <a:lnTo>
                    <a:pt x="389" y="78"/>
                  </a:lnTo>
                  <a:lnTo>
                    <a:pt x="396" y="78"/>
                  </a:lnTo>
                  <a:lnTo>
                    <a:pt x="404" y="78"/>
                  </a:lnTo>
                  <a:lnTo>
                    <a:pt x="411" y="78"/>
                  </a:lnTo>
                </a:path>
              </a:pathLst>
            </a:custGeom>
            <a:noFill/>
            <a:ln w="28575" cap="rnd" cmpd="sng">
              <a:solidFill>
                <a:srgbClr val="FF3300"/>
              </a:solidFill>
              <a:prstDash val="solid"/>
              <a:round/>
              <a:headEnd type="none" w="med" len="med"/>
              <a:tailEnd type="none" w="med" len="med"/>
            </a:ln>
          </p:spPr>
          <p:txBody>
            <a:bodyPr/>
            <a:lstStyle/>
            <a:p>
              <a:endParaRPr lang="nl-NL" dirty="0"/>
            </a:p>
          </p:txBody>
        </p:sp>
      </p:grpSp>
      <p:grpSp>
        <p:nvGrpSpPr>
          <p:cNvPr id="3" name="Group 29"/>
          <p:cNvGrpSpPr>
            <a:grpSpLocks/>
          </p:cNvGrpSpPr>
          <p:nvPr/>
        </p:nvGrpSpPr>
        <p:grpSpPr bwMode="auto">
          <a:xfrm>
            <a:off x="5162550" y="4127500"/>
            <a:ext cx="2071688" cy="515938"/>
            <a:chOff x="2496" y="1836"/>
            <a:chExt cx="1665" cy="541"/>
          </a:xfrm>
        </p:grpSpPr>
        <p:sp>
          <p:nvSpPr>
            <p:cNvPr id="7187" name="Freeform 30"/>
            <p:cNvSpPr>
              <a:spLocks/>
            </p:cNvSpPr>
            <p:nvPr/>
          </p:nvSpPr>
          <p:spPr bwMode="auto">
            <a:xfrm>
              <a:off x="2496" y="2305"/>
              <a:ext cx="420" cy="72"/>
            </a:xfrm>
            <a:custGeom>
              <a:avLst/>
              <a:gdLst>
                <a:gd name="T0" fmla="*/ 7 w 420"/>
                <a:gd name="T1" fmla="*/ 71 h 72"/>
                <a:gd name="T2" fmla="*/ 22 w 420"/>
                <a:gd name="T3" fmla="*/ 71 h 72"/>
                <a:gd name="T4" fmla="*/ 36 w 420"/>
                <a:gd name="T5" fmla="*/ 71 h 72"/>
                <a:gd name="T6" fmla="*/ 51 w 420"/>
                <a:gd name="T7" fmla="*/ 71 h 72"/>
                <a:gd name="T8" fmla="*/ 65 w 420"/>
                <a:gd name="T9" fmla="*/ 71 h 72"/>
                <a:gd name="T10" fmla="*/ 79 w 420"/>
                <a:gd name="T11" fmla="*/ 71 h 72"/>
                <a:gd name="T12" fmla="*/ 94 w 420"/>
                <a:gd name="T13" fmla="*/ 71 h 72"/>
                <a:gd name="T14" fmla="*/ 101 w 420"/>
                <a:gd name="T15" fmla="*/ 68 h 72"/>
                <a:gd name="T16" fmla="*/ 116 w 420"/>
                <a:gd name="T17" fmla="*/ 68 h 72"/>
                <a:gd name="T18" fmla="*/ 130 w 420"/>
                <a:gd name="T19" fmla="*/ 68 h 72"/>
                <a:gd name="T20" fmla="*/ 145 w 420"/>
                <a:gd name="T21" fmla="*/ 68 h 72"/>
                <a:gd name="T22" fmla="*/ 159 w 420"/>
                <a:gd name="T23" fmla="*/ 68 h 72"/>
                <a:gd name="T24" fmla="*/ 173 w 420"/>
                <a:gd name="T25" fmla="*/ 68 h 72"/>
                <a:gd name="T26" fmla="*/ 188 w 420"/>
                <a:gd name="T27" fmla="*/ 68 h 72"/>
                <a:gd name="T28" fmla="*/ 203 w 420"/>
                <a:gd name="T29" fmla="*/ 64 h 72"/>
                <a:gd name="T30" fmla="*/ 216 w 420"/>
                <a:gd name="T31" fmla="*/ 64 h 72"/>
                <a:gd name="T32" fmla="*/ 231 w 420"/>
                <a:gd name="T33" fmla="*/ 64 h 72"/>
                <a:gd name="T34" fmla="*/ 238 w 420"/>
                <a:gd name="T35" fmla="*/ 61 h 72"/>
                <a:gd name="T36" fmla="*/ 253 w 420"/>
                <a:gd name="T37" fmla="*/ 61 h 72"/>
                <a:gd name="T38" fmla="*/ 260 w 420"/>
                <a:gd name="T39" fmla="*/ 58 h 72"/>
                <a:gd name="T40" fmla="*/ 274 w 420"/>
                <a:gd name="T41" fmla="*/ 58 h 72"/>
                <a:gd name="T42" fmla="*/ 289 w 420"/>
                <a:gd name="T43" fmla="*/ 54 h 72"/>
                <a:gd name="T44" fmla="*/ 296 w 420"/>
                <a:gd name="T45" fmla="*/ 51 h 72"/>
                <a:gd name="T46" fmla="*/ 310 w 420"/>
                <a:gd name="T47" fmla="*/ 51 h 72"/>
                <a:gd name="T48" fmla="*/ 318 w 420"/>
                <a:gd name="T49" fmla="*/ 47 h 72"/>
                <a:gd name="T50" fmla="*/ 332 w 420"/>
                <a:gd name="T51" fmla="*/ 44 h 72"/>
                <a:gd name="T52" fmla="*/ 340 w 420"/>
                <a:gd name="T53" fmla="*/ 41 h 72"/>
                <a:gd name="T54" fmla="*/ 346 w 420"/>
                <a:gd name="T55" fmla="*/ 37 h 72"/>
                <a:gd name="T56" fmla="*/ 354 w 420"/>
                <a:gd name="T57" fmla="*/ 34 h 72"/>
                <a:gd name="T58" fmla="*/ 361 w 420"/>
                <a:gd name="T59" fmla="*/ 31 h 72"/>
                <a:gd name="T60" fmla="*/ 368 w 420"/>
                <a:gd name="T61" fmla="*/ 27 h 72"/>
                <a:gd name="T62" fmla="*/ 376 w 420"/>
                <a:gd name="T63" fmla="*/ 24 h 72"/>
                <a:gd name="T64" fmla="*/ 383 w 420"/>
                <a:gd name="T65" fmla="*/ 20 h 72"/>
                <a:gd name="T66" fmla="*/ 390 w 420"/>
                <a:gd name="T67" fmla="*/ 17 h 72"/>
                <a:gd name="T68" fmla="*/ 404 w 420"/>
                <a:gd name="T69" fmla="*/ 10 h 72"/>
                <a:gd name="T70" fmla="*/ 412 w 420"/>
                <a:gd name="T71" fmla="*/ 7 h 72"/>
                <a:gd name="T72" fmla="*/ 419 w 420"/>
                <a:gd name="T73" fmla="*/ 3 h 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20"/>
                <a:gd name="T112" fmla="*/ 0 h 72"/>
                <a:gd name="T113" fmla="*/ 420 w 420"/>
                <a:gd name="T114" fmla="*/ 72 h 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20" h="72">
                  <a:moveTo>
                    <a:pt x="0" y="71"/>
                  </a:moveTo>
                  <a:lnTo>
                    <a:pt x="7" y="71"/>
                  </a:lnTo>
                  <a:lnTo>
                    <a:pt x="15" y="71"/>
                  </a:lnTo>
                  <a:lnTo>
                    <a:pt x="22" y="71"/>
                  </a:lnTo>
                  <a:lnTo>
                    <a:pt x="29" y="71"/>
                  </a:lnTo>
                  <a:lnTo>
                    <a:pt x="36" y="71"/>
                  </a:lnTo>
                  <a:lnTo>
                    <a:pt x="43" y="71"/>
                  </a:lnTo>
                  <a:lnTo>
                    <a:pt x="51" y="71"/>
                  </a:lnTo>
                  <a:lnTo>
                    <a:pt x="58" y="71"/>
                  </a:lnTo>
                  <a:lnTo>
                    <a:pt x="65" y="71"/>
                  </a:lnTo>
                  <a:lnTo>
                    <a:pt x="72" y="71"/>
                  </a:lnTo>
                  <a:lnTo>
                    <a:pt x="79" y="71"/>
                  </a:lnTo>
                  <a:lnTo>
                    <a:pt x="87" y="71"/>
                  </a:lnTo>
                  <a:lnTo>
                    <a:pt x="94" y="71"/>
                  </a:lnTo>
                  <a:lnTo>
                    <a:pt x="101" y="71"/>
                  </a:lnTo>
                  <a:lnTo>
                    <a:pt x="101" y="68"/>
                  </a:lnTo>
                  <a:lnTo>
                    <a:pt x="109" y="68"/>
                  </a:lnTo>
                  <a:lnTo>
                    <a:pt x="116" y="68"/>
                  </a:lnTo>
                  <a:lnTo>
                    <a:pt x="123" y="68"/>
                  </a:lnTo>
                  <a:lnTo>
                    <a:pt x="130" y="68"/>
                  </a:lnTo>
                  <a:lnTo>
                    <a:pt x="137" y="68"/>
                  </a:lnTo>
                  <a:lnTo>
                    <a:pt x="145" y="68"/>
                  </a:lnTo>
                  <a:lnTo>
                    <a:pt x="152" y="68"/>
                  </a:lnTo>
                  <a:lnTo>
                    <a:pt x="159" y="68"/>
                  </a:lnTo>
                  <a:lnTo>
                    <a:pt x="166" y="68"/>
                  </a:lnTo>
                  <a:lnTo>
                    <a:pt x="173" y="68"/>
                  </a:lnTo>
                  <a:lnTo>
                    <a:pt x="181" y="68"/>
                  </a:lnTo>
                  <a:lnTo>
                    <a:pt x="188" y="68"/>
                  </a:lnTo>
                  <a:lnTo>
                    <a:pt x="195" y="64"/>
                  </a:lnTo>
                  <a:lnTo>
                    <a:pt x="203" y="64"/>
                  </a:lnTo>
                  <a:lnTo>
                    <a:pt x="209" y="64"/>
                  </a:lnTo>
                  <a:lnTo>
                    <a:pt x="216" y="64"/>
                  </a:lnTo>
                  <a:lnTo>
                    <a:pt x="224" y="64"/>
                  </a:lnTo>
                  <a:lnTo>
                    <a:pt x="231" y="64"/>
                  </a:lnTo>
                  <a:lnTo>
                    <a:pt x="231" y="61"/>
                  </a:lnTo>
                  <a:lnTo>
                    <a:pt x="238" y="61"/>
                  </a:lnTo>
                  <a:lnTo>
                    <a:pt x="246" y="61"/>
                  </a:lnTo>
                  <a:lnTo>
                    <a:pt x="253" y="61"/>
                  </a:lnTo>
                  <a:lnTo>
                    <a:pt x="260" y="61"/>
                  </a:lnTo>
                  <a:lnTo>
                    <a:pt x="260" y="58"/>
                  </a:lnTo>
                  <a:lnTo>
                    <a:pt x="267" y="58"/>
                  </a:lnTo>
                  <a:lnTo>
                    <a:pt x="274" y="58"/>
                  </a:lnTo>
                  <a:lnTo>
                    <a:pt x="282" y="54"/>
                  </a:lnTo>
                  <a:lnTo>
                    <a:pt x="289" y="54"/>
                  </a:lnTo>
                  <a:lnTo>
                    <a:pt x="296" y="54"/>
                  </a:lnTo>
                  <a:lnTo>
                    <a:pt x="296" y="51"/>
                  </a:lnTo>
                  <a:lnTo>
                    <a:pt x="303" y="51"/>
                  </a:lnTo>
                  <a:lnTo>
                    <a:pt x="310" y="51"/>
                  </a:lnTo>
                  <a:lnTo>
                    <a:pt x="310" y="47"/>
                  </a:lnTo>
                  <a:lnTo>
                    <a:pt x="318" y="47"/>
                  </a:lnTo>
                  <a:lnTo>
                    <a:pt x="325" y="44"/>
                  </a:lnTo>
                  <a:lnTo>
                    <a:pt x="332" y="44"/>
                  </a:lnTo>
                  <a:lnTo>
                    <a:pt x="332" y="41"/>
                  </a:lnTo>
                  <a:lnTo>
                    <a:pt x="340" y="41"/>
                  </a:lnTo>
                  <a:lnTo>
                    <a:pt x="340" y="37"/>
                  </a:lnTo>
                  <a:lnTo>
                    <a:pt x="346" y="37"/>
                  </a:lnTo>
                  <a:lnTo>
                    <a:pt x="354" y="37"/>
                  </a:lnTo>
                  <a:lnTo>
                    <a:pt x="354" y="34"/>
                  </a:lnTo>
                  <a:lnTo>
                    <a:pt x="361" y="34"/>
                  </a:lnTo>
                  <a:lnTo>
                    <a:pt x="361" y="31"/>
                  </a:lnTo>
                  <a:lnTo>
                    <a:pt x="368" y="31"/>
                  </a:lnTo>
                  <a:lnTo>
                    <a:pt x="368" y="27"/>
                  </a:lnTo>
                  <a:lnTo>
                    <a:pt x="376" y="27"/>
                  </a:lnTo>
                  <a:lnTo>
                    <a:pt x="376" y="24"/>
                  </a:lnTo>
                  <a:lnTo>
                    <a:pt x="383" y="24"/>
                  </a:lnTo>
                  <a:lnTo>
                    <a:pt x="383" y="20"/>
                  </a:lnTo>
                  <a:lnTo>
                    <a:pt x="390" y="20"/>
                  </a:lnTo>
                  <a:lnTo>
                    <a:pt x="390" y="17"/>
                  </a:lnTo>
                  <a:lnTo>
                    <a:pt x="397" y="14"/>
                  </a:lnTo>
                  <a:lnTo>
                    <a:pt x="404" y="10"/>
                  </a:lnTo>
                  <a:lnTo>
                    <a:pt x="404" y="7"/>
                  </a:lnTo>
                  <a:lnTo>
                    <a:pt x="412" y="7"/>
                  </a:lnTo>
                  <a:lnTo>
                    <a:pt x="412" y="3"/>
                  </a:lnTo>
                  <a:lnTo>
                    <a:pt x="419" y="3"/>
                  </a:lnTo>
                  <a:lnTo>
                    <a:pt x="419" y="0"/>
                  </a:lnTo>
                </a:path>
              </a:pathLst>
            </a:custGeom>
            <a:noFill/>
            <a:ln w="28575" cap="rnd" cmpd="sng">
              <a:solidFill>
                <a:srgbClr val="FF3300"/>
              </a:solidFill>
              <a:prstDash val="solid"/>
              <a:round/>
              <a:headEnd type="none" w="med" len="med"/>
              <a:tailEnd type="none" w="med" len="med"/>
            </a:ln>
          </p:spPr>
          <p:txBody>
            <a:bodyPr/>
            <a:lstStyle/>
            <a:p>
              <a:endParaRPr lang="nl-NL" dirty="0"/>
            </a:p>
          </p:txBody>
        </p:sp>
        <p:sp>
          <p:nvSpPr>
            <p:cNvPr id="7188" name="Freeform 31"/>
            <p:cNvSpPr>
              <a:spLocks/>
            </p:cNvSpPr>
            <p:nvPr/>
          </p:nvSpPr>
          <p:spPr bwMode="auto">
            <a:xfrm>
              <a:off x="2915" y="1836"/>
              <a:ext cx="418" cy="470"/>
            </a:xfrm>
            <a:custGeom>
              <a:avLst/>
              <a:gdLst>
                <a:gd name="T0" fmla="*/ 7 w 418"/>
                <a:gd name="T1" fmla="*/ 466 h 470"/>
                <a:gd name="T2" fmla="*/ 15 w 418"/>
                <a:gd name="T3" fmla="*/ 459 h 470"/>
                <a:gd name="T4" fmla="*/ 29 w 418"/>
                <a:gd name="T5" fmla="*/ 449 h 470"/>
                <a:gd name="T6" fmla="*/ 36 w 418"/>
                <a:gd name="T7" fmla="*/ 442 h 470"/>
                <a:gd name="T8" fmla="*/ 43 w 418"/>
                <a:gd name="T9" fmla="*/ 435 h 470"/>
                <a:gd name="T10" fmla="*/ 50 w 418"/>
                <a:gd name="T11" fmla="*/ 428 h 470"/>
                <a:gd name="T12" fmla="*/ 58 w 418"/>
                <a:gd name="T13" fmla="*/ 421 h 470"/>
                <a:gd name="T14" fmla="*/ 64 w 418"/>
                <a:gd name="T15" fmla="*/ 415 h 470"/>
                <a:gd name="T16" fmla="*/ 72 w 418"/>
                <a:gd name="T17" fmla="*/ 405 h 470"/>
                <a:gd name="T18" fmla="*/ 86 w 418"/>
                <a:gd name="T19" fmla="*/ 394 h 470"/>
                <a:gd name="T20" fmla="*/ 93 w 418"/>
                <a:gd name="T21" fmla="*/ 384 h 470"/>
                <a:gd name="T22" fmla="*/ 101 w 418"/>
                <a:gd name="T23" fmla="*/ 374 h 470"/>
                <a:gd name="T24" fmla="*/ 108 w 418"/>
                <a:gd name="T25" fmla="*/ 364 h 470"/>
                <a:gd name="T26" fmla="*/ 115 w 418"/>
                <a:gd name="T27" fmla="*/ 353 h 470"/>
                <a:gd name="T28" fmla="*/ 122 w 418"/>
                <a:gd name="T29" fmla="*/ 347 h 470"/>
                <a:gd name="T30" fmla="*/ 129 w 418"/>
                <a:gd name="T31" fmla="*/ 336 h 470"/>
                <a:gd name="T32" fmla="*/ 137 w 418"/>
                <a:gd name="T33" fmla="*/ 326 h 470"/>
                <a:gd name="T34" fmla="*/ 144 w 418"/>
                <a:gd name="T35" fmla="*/ 316 h 470"/>
                <a:gd name="T36" fmla="*/ 151 w 418"/>
                <a:gd name="T37" fmla="*/ 306 h 470"/>
                <a:gd name="T38" fmla="*/ 158 w 418"/>
                <a:gd name="T39" fmla="*/ 296 h 470"/>
                <a:gd name="T40" fmla="*/ 165 w 418"/>
                <a:gd name="T41" fmla="*/ 285 h 470"/>
                <a:gd name="T42" fmla="*/ 172 w 418"/>
                <a:gd name="T43" fmla="*/ 275 h 470"/>
                <a:gd name="T44" fmla="*/ 180 w 418"/>
                <a:gd name="T45" fmla="*/ 265 h 470"/>
                <a:gd name="T46" fmla="*/ 187 w 418"/>
                <a:gd name="T47" fmla="*/ 255 h 470"/>
                <a:gd name="T48" fmla="*/ 194 w 418"/>
                <a:gd name="T49" fmla="*/ 245 h 470"/>
                <a:gd name="T50" fmla="*/ 194 w 418"/>
                <a:gd name="T51" fmla="*/ 235 h 470"/>
                <a:gd name="T52" fmla="*/ 201 w 418"/>
                <a:gd name="T53" fmla="*/ 224 h 470"/>
                <a:gd name="T54" fmla="*/ 208 w 418"/>
                <a:gd name="T55" fmla="*/ 217 h 470"/>
                <a:gd name="T56" fmla="*/ 215 w 418"/>
                <a:gd name="T57" fmla="*/ 207 h 470"/>
                <a:gd name="T58" fmla="*/ 223 w 418"/>
                <a:gd name="T59" fmla="*/ 197 h 470"/>
                <a:gd name="T60" fmla="*/ 230 w 418"/>
                <a:gd name="T61" fmla="*/ 187 h 470"/>
                <a:gd name="T62" fmla="*/ 237 w 418"/>
                <a:gd name="T63" fmla="*/ 177 h 470"/>
                <a:gd name="T64" fmla="*/ 245 w 418"/>
                <a:gd name="T65" fmla="*/ 166 h 470"/>
                <a:gd name="T66" fmla="*/ 245 w 418"/>
                <a:gd name="T67" fmla="*/ 156 h 470"/>
                <a:gd name="T68" fmla="*/ 251 w 418"/>
                <a:gd name="T69" fmla="*/ 149 h 470"/>
                <a:gd name="T70" fmla="*/ 259 w 418"/>
                <a:gd name="T71" fmla="*/ 139 h 470"/>
                <a:gd name="T72" fmla="*/ 266 w 418"/>
                <a:gd name="T73" fmla="*/ 129 h 470"/>
                <a:gd name="T74" fmla="*/ 273 w 418"/>
                <a:gd name="T75" fmla="*/ 119 h 470"/>
                <a:gd name="T76" fmla="*/ 280 w 418"/>
                <a:gd name="T77" fmla="*/ 108 h 470"/>
                <a:gd name="T78" fmla="*/ 288 w 418"/>
                <a:gd name="T79" fmla="*/ 98 h 470"/>
                <a:gd name="T80" fmla="*/ 294 w 418"/>
                <a:gd name="T81" fmla="*/ 88 h 470"/>
                <a:gd name="T82" fmla="*/ 302 w 418"/>
                <a:gd name="T83" fmla="*/ 78 h 470"/>
                <a:gd name="T84" fmla="*/ 309 w 418"/>
                <a:gd name="T85" fmla="*/ 71 h 470"/>
                <a:gd name="T86" fmla="*/ 316 w 418"/>
                <a:gd name="T87" fmla="*/ 64 h 470"/>
                <a:gd name="T88" fmla="*/ 324 w 418"/>
                <a:gd name="T89" fmla="*/ 58 h 470"/>
                <a:gd name="T90" fmla="*/ 331 w 418"/>
                <a:gd name="T91" fmla="*/ 48 h 470"/>
                <a:gd name="T92" fmla="*/ 337 w 418"/>
                <a:gd name="T93" fmla="*/ 37 h 470"/>
                <a:gd name="T94" fmla="*/ 352 w 418"/>
                <a:gd name="T95" fmla="*/ 30 h 470"/>
                <a:gd name="T96" fmla="*/ 359 w 418"/>
                <a:gd name="T97" fmla="*/ 24 h 470"/>
                <a:gd name="T98" fmla="*/ 367 w 418"/>
                <a:gd name="T99" fmla="*/ 17 h 470"/>
                <a:gd name="T100" fmla="*/ 381 w 418"/>
                <a:gd name="T101" fmla="*/ 10 h 470"/>
                <a:gd name="T102" fmla="*/ 395 w 418"/>
                <a:gd name="T103" fmla="*/ 7 h 470"/>
                <a:gd name="T104" fmla="*/ 410 w 418"/>
                <a:gd name="T105" fmla="*/ 3 h 47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18"/>
                <a:gd name="T160" fmla="*/ 0 h 470"/>
                <a:gd name="T161" fmla="*/ 418 w 418"/>
                <a:gd name="T162" fmla="*/ 470 h 47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18" h="470">
                  <a:moveTo>
                    <a:pt x="0" y="469"/>
                  </a:moveTo>
                  <a:lnTo>
                    <a:pt x="0" y="466"/>
                  </a:lnTo>
                  <a:lnTo>
                    <a:pt x="7" y="466"/>
                  </a:lnTo>
                  <a:lnTo>
                    <a:pt x="7" y="462"/>
                  </a:lnTo>
                  <a:lnTo>
                    <a:pt x="15" y="462"/>
                  </a:lnTo>
                  <a:lnTo>
                    <a:pt x="15" y="459"/>
                  </a:lnTo>
                  <a:lnTo>
                    <a:pt x="21" y="456"/>
                  </a:lnTo>
                  <a:lnTo>
                    <a:pt x="21" y="452"/>
                  </a:lnTo>
                  <a:lnTo>
                    <a:pt x="29" y="449"/>
                  </a:lnTo>
                  <a:lnTo>
                    <a:pt x="29" y="445"/>
                  </a:lnTo>
                  <a:lnTo>
                    <a:pt x="36" y="445"/>
                  </a:lnTo>
                  <a:lnTo>
                    <a:pt x="36" y="442"/>
                  </a:lnTo>
                  <a:lnTo>
                    <a:pt x="36" y="438"/>
                  </a:lnTo>
                  <a:lnTo>
                    <a:pt x="43" y="438"/>
                  </a:lnTo>
                  <a:lnTo>
                    <a:pt x="43" y="435"/>
                  </a:lnTo>
                  <a:lnTo>
                    <a:pt x="43" y="432"/>
                  </a:lnTo>
                  <a:lnTo>
                    <a:pt x="50" y="432"/>
                  </a:lnTo>
                  <a:lnTo>
                    <a:pt x="50" y="428"/>
                  </a:lnTo>
                  <a:lnTo>
                    <a:pt x="50" y="425"/>
                  </a:lnTo>
                  <a:lnTo>
                    <a:pt x="58" y="425"/>
                  </a:lnTo>
                  <a:lnTo>
                    <a:pt x="58" y="421"/>
                  </a:lnTo>
                  <a:lnTo>
                    <a:pt x="58" y="418"/>
                  </a:lnTo>
                  <a:lnTo>
                    <a:pt x="64" y="418"/>
                  </a:lnTo>
                  <a:lnTo>
                    <a:pt x="64" y="415"/>
                  </a:lnTo>
                  <a:lnTo>
                    <a:pt x="64" y="411"/>
                  </a:lnTo>
                  <a:lnTo>
                    <a:pt x="72" y="408"/>
                  </a:lnTo>
                  <a:lnTo>
                    <a:pt x="72" y="405"/>
                  </a:lnTo>
                  <a:lnTo>
                    <a:pt x="79" y="401"/>
                  </a:lnTo>
                  <a:lnTo>
                    <a:pt x="79" y="398"/>
                  </a:lnTo>
                  <a:lnTo>
                    <a:pt x="86" y="394"/>
                  </a:lnTo>
                  <a:lnTo>
                    <a:pt x="86" y="391"/>
                  </a:lnTo>
                  <a:lnTo>
                    <a:pt x="86" y="387"/>
                  </a:lnTo>
                  <a:lnTo>
                    <a:pt x="93" y="384"/>
                  </a:lnTo>
                  <a:lnTo>
                    <a:pt x="93" y="381"/>
                  </a:lnTo>
                  <a:lnTo>
                    <a:pt x="101" y="377"/>
                  </a:lnTo>
                  <a:lnTo>
                    <a:pt x="101" y="374"/>
                  </a:lnTo>
                  <a:lnTo>
                    <a:pt x="101" y="371"/>
                  </a:lnTo>
                  <a:lnTo>
                    <a:pt x="108" y="367"/>
                  </a:lnTo>
                  <a:lnTo>
                    <a:pt x="108" y="364"/>
                  </a:lnTo>
                  <a:lnTo>
                    <a:pt x="115" y="360"/>
                  </a:lnTo>
                  <a:lnTo>
                    <a:pt x="115" y="357"/>
                  </a:lnTo>
                  <a:lnTo>
                    <a:pt x="115" y="353"/>
                  </a:lnTo>
                  <a:lnTo>
                    <a:pt x="115" y="350"/>
                  </a:lnTo>
                  <a:lnTo>
                    <a:pt x="122" y="350"/>
                  </a:lnTo>
                  <a:lnTo>
                    <a:pt x="122" y="347"/>
                  </a:lnTo>
                  <a:lnTo>
                    <a:pt x="122" y="343"/>
                  </a:lnTo>
                  <a:lnTo>
                    <a:pt x="129" y="340"/>
                  </a:lnTo>
                  <a:lnTo>
                    <a:pt x="129" y="336"/>
                  </a:lnTo>
                  <a:lnTo>
                    <a:pt x="129" y="333"/>
                  </a:lnTo>
                  <a:lnTo>
                    <a:pt x="137" y="330"/>
                  </a:lnTo>
                  <a:lnTo>
                    <a:pt x="137" y="326"/>
                  </a:lnTo>
                  <a:lnTo>
                    <a:pt x="137" y="323"/>
                  </a:lnTo>
                  <a:lnTo>
                    <a:pt x="144" y="320"/>
                  </a:lnTo>
                  <a:lnTo>
                    <a:pt x="144" y="316"/>
                  </a:lnTo>
                  <a:lnTo>
                    <a:pt x="144" y="313"/>
                  </a:lnTo>
                  <a:lnTo>
                    <a:pt x="151" y="309"/>
                  </a:lnTo>
                  <a:lnTo>
                    <a:pt x="151" y="306"/>
                  </a:lnTo>
                  <a:lnTo>
                    <a:pt x="151" y="302"/>
                  </a:lnTo>
                  <a:lnTo>
                    <a:pt x="158" y="299"/>
                  </a:lnTo>
                  <a:lnTo>
                    <a:pt x="158" y="296"/>
                  </a:lnTo>
                  <a:lnTo>
                    <a:pt x="158" y="292"/>
                  </a:lnTo>
                  <a:lnTo>
                    <a:pt x="165" y="289"/>
                  </a:lnTo>
                  <a:lnTo>
                    <a:pt x="165" y="285"/>
                  </a:lnTo>
                  <a:lnTo>
                    <a:pt x="165" y="282"/>
                  </a:lnTo>
                  <a:lnTo>
                    <a:pt x="172" y="279"/>
                  </a:lnTo>
                  <a:lnTo>
                    <a:pt x="172" y="275"/>
                  </a:lnTo>
                  <a:lnTo>
                    <a:pt x="172" y="272"/>
                  </a:lnTo>
                  <a:lnTo>
                    <a:pt x="180" y="269"/>
                  </a:lnTo>
                  <a:lnTo>
                    <a:pt x="180" y="265"/>
                  </a:lnTo>
                  <a:lnTo>
                    <a:pt x="180" y="262"/>
                  </a:lnTo>
                  <a:lnTo>
                    <a:pt x="180" y="258"/>
                  </a:lnTo>
                  <a:lnTo>
                    <a:pt x="187" y="255"/>
                  </a:lnTo>
                  <a:lnTo>
                    <a:pt x="187" y="251"/>
                  </a:lnTo>
                  <a:lnTo>
                    <a:pt x="187" y="248"/>
                  </a:lnTo>
                  <a:lnTo>
                    <a:pt x="194" y="245"/>
                  </a:lnTo>
                  <a:lnTo>
                    <a:pt x="194" y="241"/>
                  </a:lnTo>
                  <a:lnTo>
                    <a:pt x="194" y="238"/>
                  </a:lnTo>
                  <a:lnTo>
                    <a:pt x="194" y="235"/>
                  </a:lnTo>
                  <a:lnTo>
                    <a:pt x="201" y="231"/>
                  </a:lnTo>
                  <a:lnTo>
                    <a:pt x="201" y="228"/>
                  </a:lnTo>
                  <a:lnTo>
                    <a:pt x="201" y="224"/>
                  </a:lnTo>
                  <a:lnTo>
                    <a:pt x="208" y="224"/>
                  </a:lnTo>
                  <a:lnTo>
                    <a:pt x="208" y="221"/>
                  </a:lnTo>
                  <a:lnTo>
                    <a:pt x="208" y="217"/>
                  </a:lnTo>
                  <a:lnTo>
                    <a:pt x="208" y="214"/>
                  </a:lnTo>
                  <a:lnTo>
                    <a:pt x="215" y="211"/>
                  </a:lnTo>
                  <a:lnTo>
                    <a:pt x="215" y="207"/>
                  </a:lnTo>
                  <a:lnTo>
                    <a:pt x="215" y="204"/>
                  </a:lnTo>
                  <a:lnTo>
                    <a:pt x="223" y="200"/>
                  </a:lnTo>
                  <a:lnTo>
                    <a:pt x="223" y="197"/>
                  </a:lnTo>
                  <a:lnTo>
                    <a:pt x="223" y="194"/>
                  </a:lnTo>
                  <a:lnTo>
                    <a:pt x="230" y="190"/>
                  </a:lnTo>
                  <a:lnTo>
                    <a:pt x="230" y="187"/>
                  </a:lnTo>
                  <a:lnTo>
                    <a:pt x="230" y="184"/>
                  </a:lnTo>
                  <a:lnTo>
                    <a:pt x="230" y="180"/>
                  </a:lnTo>
                  <a:lnTo>
                    <a:pt x="237" y="177"/>
                  </a:lnTo>
                  <a:lnTo>
                    <a:pt x="237" y="173"/>
                  </a:lnTo>
                  <a:lnTo>
                    <a:pt x="237" y="170"/>
                  </a:lnTo>
                  <a:lnTo>
                    <a:pt x="245" y="166"/>
                  </a:lnTo>
                  <a:lnTo>
                    <a:pt x="245" y="163"/>
                  </a:lnTo>
                  <a:lnTo>
                    <a:pt x="245" y="160"/>
                  </a:lnTo>
                  <a:lnTo>
                    <a:pt x="245" y="156"/>
                  </a:lnTo>
                  <a:lnTo>
                    <a:pt x="251" y="156"/>
                  </a:lnTo>
                  <a:lnTo>
                    <a:pt x="251" y="153"/>
                  </a:lnTo>
                  <a:lnTo>
                    <a:pt x="251" y="149"/>
                  </a:lnTo>
                  <a:lnTo>
                    <a:pt x="259" y="146"/>
                  </a:lnTo>
                  <a:lnTo>
                    <a:pt x="259" y="143"/>
                  </a:lnTo>
                  <a:lnTo>
                    <a:pt x="259" y="139"/>
                  </a:lnTo>
                  <a:lnTo>
                    <a:pt x="259" y="136"/>
                  </a:lnTo>
                  <a:lnTo>
                    <a:pt x="266" y="133"/>
                  </a:lnTo>
                  <a:lnTo>
                    <a:pt x="266" y="129"/>
                  </a:lnTo>
                  <a:lnTo>
                    <a:pt x="266" y="126"/>
                  </a:lnTo>
                  <a:lnTo>
                    <a:pt x="273" y="122"/>
                  </a:lnTo>
                  <a:lnTo>
                    <a:pt x="273" y="119"/>
                  </a:lnTo>
                  <a:lnTo>
                    <a:pt x="273" y="115"/>
                  </a:lnTo>
                  <a:lnTo>
                    <a:pt x="280" y="112"/>
                  </a:lnTo>
                  <a:lnTo>
                    <a:pt x="280" y="108"/>
                  </a:lnTo>
                  <a:lnTo>
                    <a:pt x="280" y="105"/>
                  </a:lnTo>
                  <a:lnTo>
                    <a:pt x="288" y="102"/>
                  </a:lnTo>
                  <a:lnTo>
                    <a:pt x="288" y="98"/>
                  </a:lnTo>
                  <a:lnTo>
                    <a:pt x="294" y="95"/>
                  </a:lnTo>
                  <a:lnTo>
                    <a:pt x="294" y="92"/>
                  </a:lnTo>
                  <a:lnTo>
                    <a:pt x="294" y="88"/>
                  </a:lnTo>
                  <a:lnTo>
                    <a:pt x="302" y="85"/>
                  </a:lnTo>
                  <a:lnTo>
                    <a:pt x="302" y="82"/>
                  </a:lnTo>
                  <a:lnTo>
                    <a:pt x="302" y="78"/>
                  </a:lnTo>
                  <a:lnTo>
                    <a:pt x="309" y="78"/>
                  </a:lnTo>
                  <a:lnTo>
                    <a:pt x="309" y="75"/>
                  </a:lnTo>
                  <a:lnTo>
                    <a:pt x="309" y="71"/>
                  </a:lnTo>
                  <a:lnTo>
                    <a:pt x="309" y="68"/>
                  </a:lnTo>
                  <a:lnTo>
                    <a:pt x="316" y="68"/>
                  </a:lnTo>
                  <a:lnTo>
                    <a:pt x="316" y="64"/>
                  </a:lnTo>
                  <a:lnTo>
                    <a:pt x="316" y="61"/>
                  </a:lnTo>
                  <a:lnTo>
                    <a:pt x="324" y="61"/>
                  </a:lnTo>
                  <a:lnTo>
                    <a:pt x="324" y="58"/>
                  </a:lnTo>
                  <a:lnTo>
                    <a:pt x="324" y="54"/>
                  </a:lnTo>
                  <a:lnTo>
                    <a:pt x="331" y="51"/>
                  </a:lnTo>
                  <a:lnTo>
                    <a:pt x="331" y="48"/>
                  </a:lnTo>
                  <a:lnTo>
                    <a:pt x="337" y="44"/>
                  </a:lnTo>
                  <a:lnTo>
                    <a:pt x="337" y="41"/>
                  </a:lnTo>
                  <a:lnTo>
                    <a:pt x="337" y="37"/>
                  </a:lnTo>
                  <a:lnTo>
                    <a:pt x="345" y="37"/>
                  </a:lnTo>
                  <a:lnTo>
                    <a:pt x="345" y="34"/>
                  </a:lnTo>
                  <a:lnTo>
                    <a:pt x="352" y="30"/>
                  </a:lnTo>
                  <a:lnTo>
                    <a:pt x="352" y="27"/>
                  </a:lnTo>
                  <a:lnTo>
                    <a:pt x="359" y="27"/>
                  </a:lnTo>
                  <a:lnTo>
                    <a:pt x="359" y="24"/>
                  </a:lnTo>
                  <a:lnTo>
                    <a:pt x="359" y="20"/>
                  </a:lnTo>
                  <a:lnTo>
                    <a:pt x="367" y="20"/>
                  </a:lnTo>
                  <a:lnTo>
                    <a:pt x="367" y="17"/>
                  </a:lnTo>
                  <a:lnTo>
                    <a:pt x="374" y="17"/>
                  </a:lnTo>
                  <a:lnTo>
                    <a:pt x="374" y="13"/>
                  </a:lnTo>
                  <a:lnTo>
                    <a:pt x="381" y="10"/>
                  </a:lnTo>
                  <a:lnTo>
                    <a:pt x="388" y="10"/>
                  </a:lnTo>
                  <a:lnTo>
                    <a:pt x="388" y="7"/>
                  </a:lnTo>
                  <a:lnTo>
                    <a:pt x="395" y="7"/>
                  </a:lnTo>
                  <a:lnTo>
                    <a:pt x="395" y="3"/>
                  </a:lnTo>
                  <a:lnTo>
                    <a:pt x="402" y="3"/>
                  </a:lnTo>
                  <a:lnTo>
                    <a:pt x="410" y="3"/>
                  </a:lnTo>
                  <a:lnTo>
                    <a:pt x="410" y="0"/>
                  </a:lnTo>
                  <a:lnTo>
                    <a:pt x="417" y="0"/>
                  </a:lnTo>
                </a:path>
              </a:pathLst>
            </a:custGeom>
            <a:noFill/>
            <a:ln w="28575" cap="rnd" cmpd="sng">
              <a:solidFill>
                <a:srgbClr val="FF3300"/>
              </a:solidFill>
              <a:prstDash val="solid"/>
              <a:round/>
              <a:headEnd type="none" w="med" len="med"/>
              <a:tailEnd type="none" w="med" len="med"/>
            </a:ln>
          </p:spPr>
          <p:txBody>
            <a:bodyPr/>
            <a:lstStyle/>
            <a:p>
              <a:endParaRPr lang="nl-NL" dirty="0"/>
            </a:p>
          </p:txBody>
        </p:sp>
        <p:sp>
          <p:nvSpPr>
            <p:cNvPr id="7189" name="Freeform 32"/>
            <p:cNvSpPr>
              <a:spLocks/>
            </p:cNvSpPr>
            <p:nvPr/>
          </p:nvSpPr>
          <p:spPr bwMode="auto">
            <a:xfrm>
              <a:off x="3332" y="1836"/>
              <a:ext cx="418" cy="463"/>
            </a:xfrm>
            <a:custGeom>
              <a:avLst/>
              <a:gdLst>
                <a:gd name="T0" fmla="*/ 14 w 418"/>
                <a:gd name="T1" fmla="*/ 0 h 463"/>
                <a:gd name="T2" fmla="*/ 29 w 418"/>
                <a:gd name="T3" fmla="*/ 3 h 463"/>
                <a:gd name="T4" fmla="*/ 36 w 418"/>
                <a:gd name="T5" fmla="*/ 10 h 463"/>
                <a:gd name="T6" fmla="*/ 50 w 418"/>
                <a:gd name="T7" fmla="*/ 17 h 463"/>
                <a:gd name="T8" fmla="*/ 64 w 418"/>
                <a:gd name="T9" fmla="*/ 20 h 463"/>
                <a:gd name="T10" fmla="*/ 72 w 418"/>
                <a:gd name="T11" fmla="*/ 27 h 463"/>
                <a:gd name="T12" fmla="*/ 79 w 418"/>
                <a:gd name="T13" fmla="*/ 37 h 463"/>
                <a:gd name="T14" fmla="*/ 86 w 418"/>
                <a:gd name="T15" fmla="*/ 44 h 463"/>
                <a:gd name="T16" fmla="*/ 101 w 418"/>
                <a:gd name="T17" fmla="*/ 54 h 463"/>
                <a:gd name="T18" fmla="*/ 107 w 418"/>
                <a:gd name="T19" fmla="*/ 61 h 463"/>
                <a:gd name="T20" fmla="*/ 115 w 418"/>
                <a:gd name="T21" fmla="*/ 68 h 463"/>
                <a:gd name="T22" fmla="*/ 115 w 418"/>
                <a:gd name="T23" fmla="*/ 78 h 463"/>
                <a:gd name="T24" fmla="*/ 122 w 418"/>
                <a:gd name="T25" fmla="*/ 85 h 463"/>
                <a:gd name="T26" fmla="*/ 129 w 418"/>
                <a:gd name="T27" fmla="*/ 95 h 463"/>
                <a:gd name="T28" fmla="*/ 144 w 418"/>
                <a:gd name="T29" fmla="*/ 105 h 463"/>
                <a:gd name="T30" fmla="*/ 150 w 418"/>
                <a:gd name="T31" fmla="*/ 115 h 463"/>
                <a:gd name="T32" fmla="*/ 158 w 418"/>
                <a:gd name="T33" fmla="*/ 126 h 463"/>
                <a:gd name="T34" fmla="*/ 165 w 418"/>
                <a:gd name="T35" fmla="*/ 136 h 463"/>
                <a:gd name="T36" fmla="*/ 165 w 418"/>
                <a:gd name="T37" fmla="*/ 146 h 463"/>
                <a:gd name="T38" fmla="*/ 172 w 418"/>
                <a:gd name="T39" fmla="*/ 156 h 463"/>
                <a:gd name="T40" fmla="*/ 180 w 418"/>
                <a:gd name="T41" fmla="*/ 163 h 463"/>
                <a:gd name="T42" fmla="*/ 187 w 418"/>
                <a:gd name="T43" fmla="*/ 173 h 463"/>
                <a:gd name="T44" fmla="*/ 194 w 418"/>
                <a:gd name="T45" fmla="*/ 183 h 463"/>
                <a:gd name="T46" fmla="*/ 201 w 418"/>
                <a:gd name="T47" fmla="*/ 193 h 463"/>
                <a:gd name="T48" fmla="*/ 208 w 418"/>
                <a:gd name="T49" fmla="*/ 204 h 463"/>
                <a:gd name="T50" fmla="*/ 215 w 418"/>
                <a:gd name="T51" fmla="*/ 214 h 463"/>
                <a:gd name="T52" fmla="*/ 215 w 418"/>
                <a:gd name="T53" fmla="*/ 224 h 463"/>
                <a:gd name="T54" fmla="*/ 223 w 418"/>
                <a:gd name="T55" fmla="*/ 231 h 463"/>
                <a:gd name="T56" fmla="*/ 230 w 418"/>
                <a:gd name="T57" fmla="*/ 241 h 463"/>
                <a:gd name="T58" fmla="*/ 237 w 418"/>
                <a:gd name="T59" fmla="*/ 251 h 463"/>
                <a:gd name="T60" fmla="*/ 244 w 418"/>
                <a:gd name="T61" fmla="*/ 262 h 463"/>
                <a:gd name="T62" fmla="*/ 251 w 418"/>
                <a:gd name="T63" fmla="*/ 272 h 463"/>
                <a:gd name="T64" fmla="*/ 259 w 418"/>
                <a:gd name="T65" fmla="*/ 282 h 463"/>
                <a:gd name="T66" fmla="*/ 266 w 418"/>
                <a:gd name="T67" fmla="*/ 292 h 463"/>
                <a:gd name="T68" fmla="*/ 273 w 418"/>
                <a:gd name="T69" fmla="*/ 302 h 463"/>
                <a:gd name="T70" fmla="*/ 280 w 418"/>
                <a:gd name="T71" fmla="*/ 313 h 463"/>
                <a:gd name="T72" fmla="*/ 287 w 418"/>
                <a:gd name="T73" fmla="*/ 323 h 463"/>
                <a:gd name="T74" fmla="*/ 294 w 418"/>
                <a:gd name="T75" fmla="*/ 333 h 463"/>
                <a:gd name="T76" fmla="*/ 302 w 418"/>
                <a:gd name="T77" fmla="*/ 343 h 463"/>
                <a:gd name="T78" fmla="*/ 309 w 418"/>
                <a:gd name="T79" fmla="*/ 350 h 463"/>
                <a:gd name="T80" fmla="*/ 309 w 418"/>
                <a:gd name="T81" fmla="*/ 360 h 463"/>
                <a:gd name="T82" fmla="*/ 324 w 418"/>
                <a:gd name="T83" fmla="*/ 370 h 463"/>
                <a:gd name="T84" fmla="*/ 330 w 418"/>
                <a:gd name="T85" fmla="*/ 380 h 463"/>
                <a:gd name="T86" fmla="*/ 337 w 418"/>
                <a:gd name="T87" fmla="*/ 391 h 463"/>
                <a:gd name="T88" fmla="*/ 345 w 418"/>
                <a:gd name="T89" fmla="*/ 401 h 463"/>
                <a:gd name="T90" fmla="*/ 359 w 418"/>
                <a:gd name="T91" fmla="*/ 411 h 463"/>
                <a:gd name="T92" fmla="*/ 367 w 418"/>
                <a:gd name="T93" fmla="*/ 418 h 463"/>
                <a:gd name="T94" fmla="*/ 374 w 418"/>
                <a:gd name="T95" fmla="*/ 425 h 463"/>
                <a:gd name="T96" fmla="*/ 381 w 418"/>
                <a:gd name="T97" fmla="*/ 432 h 463"/>
                <a:gd name="T98" fmla="*/ 388 w 418"/>
                <a:gd name="T99" fmla="*/ 438 h 463"/>
                <a:gd name="T100" fmla="*/ 395 w 418"/>
                <a:gd name="T101" fmla="*/ 445 h 463"/>
                <a:gd name="T102" fmla="*/ 402 w 418"/>
                <a:gd name="T103" fmla="*/ 455 h 463"/>
                <a:gd name="T104" fmla="*/ 417 w 418"/>
                <a:gd name="T105" fmla="*/ 462 h 46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18"/>
                <a:gd name="T160" fmla="*/ 0 h 463"/>
                <a:gd name="T161" fmla="*/ 418 w 418"/>
                <a:gd name="T162" fmla="*/ 463 h 46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18" h="463">
                  <a:moveTo>
                    <a:pt x="0" y="0"/>
                  </a:moveTo>
                  <a:lnTo>
                    <a:pt x="7" y="0"/>
                  </a:lnTo>
                  <a:lnTo>
                    <a:pt x="14" y="0"/>
                  </a:lnTo>
                  <a:lnTo>
                    <a:pt x="14" y="3"/>
                  </a:lnTo>
                  <a:lnTo>
                    <a:pt x="21" y="3"/>
                  </a:lnTo>
                  <a:lnTo>
                    <a:pt x="29" y="3"/>
                  </a:lnTo>
                  <a:lnTo>
                    <a:pt x="29" y="7"/>
                  </a:lnTo>
                  <a:lnTo>
                    <a:pt x="36" y="7"/>
                  </a:lnTo>
                  <a:lnTo>
                    <a:pt x="36" y="10"/>
                  </a:lnTo>
                  <a:lnTo>
                    <a:pt x="43" y="10"/>
                  </a:lnTo>
                  <a:lnTo>
                    <a:pt x="50" y="13"/>
                  </a:lnTo>
                  <a:lnTo>
                    <a:pt x="50" y="17"/>
                  </a:lnTo>
                  <a:lnTo>
                    <a:pt x="57" y="17"/>
                  </a:lnTo>
                  <a:lnTo>
                    <a:pt x="57" y="20"/>
                  </a:lnTo>
                  <a:lnTo>
                    <a:pt x="64" y="20"/>
                  </a:lnTo>
                  <a:lnTo>
                    <a:pt x="64" y="24"/>
                  </a:lnTo>
                  <a:lnTo>
                    <a:pt x="64" y="27"/>
                  </a:lnTo>
                  <a:lnTo>
                    <a:pt x="72" y="27"/>
                  </a:lnTo>
                  <a:lnTo>
                    <a:pt x="72" y="30"/>
                  </a:lnTo>
                  <a:lnTo>
                    <a:pt x="79" y="34"/>
                  </a:lnTo>
                  <a:lnTo>
                    <a:pt x="79" y="37"/>
                  </a:lnTo>
                  <a:lnTo>
                    <a:pt x="86" y="37"/>
                  </a:lnTo>
                  <a:lnTo>
                    <a:pt x="86" y="41"/>
                  </a:lnTo>
                  <a:lnTo>
                    <a:pt x="86" y="44"/>
                  </a:lnTo>
                  <a:lnTo>
                    <a:pt x="93" y="48"/>
                  </a:lnTo>
                  <a:lnTo>
                    <a:pt x="93" y="51"/>
                  </a:lnTo>
                  <a:lnTo>
                    <a:pt x="101" y="54"/>
                  </a:lnTo>
                  <a:lnTo>
                    <a:pt x="101" y="58"/>
                  </a:lnTo>
                  <a:lnTo>
                    <a:pt x="101" y="61"/>
                  </a:lnTo>
                  <a:lnTo>
                    <a:pt x="107" y="61"/>
                  </a:lnTo>
                  <a:lnTo>
                    <a:pt x="107" y="64"/>
                  </a:lnTo>
                  <a:lnTo>
                    <a:pt x="107" y="68"/>
                  </a:lnTo>
                  <a:lnTo>
                    <a:pt x="115" y="68"/>
                  </a:lnTo>
                  <a:lnTo>
                    <a:pt x="115" y="71"/>
                  </a:lnTo>
                  <a:lnTo>
                    <a:pt x="115" y="75"/>
                  </a:lnTo>
                  <a:lnTo>
                    <a:pt x="115" y="78"/>
                  </a:lnTo>
                  <a:lnTo>
                    <a:pt x="122" y="78"/>
                  </a:lnTo>
                  <a:lnTo>
                    <a:pt x="122" y="82"/>
                  </a:lnTo>
                  <a:lnTo>
                    <a:pt x="122" y="85"/>
                  </a:lnTo>
                  <a:lnTo>
                    <a:pt x="129" y="88"/>
                  </a:lnTo>
                  <a:lnTo>
                    <a:pt x="129" y="92"/>
                  </a:lnTo>
                  <a:lnTo>
                    <a:pt x="129" y="95"/>
                  </a:lnTo>
                  <a:lnTo>
                    <a:pt x="137" y="98"/>
                  </a:lnTo>
                  <a:lnTo>
                    <a:pt x="137" y="102"/>
                  </a:lnTo>
                  <a:lnTo>
                    <a:pt x="144" y="105"/>
                  </a:lnTo>
                  <a:lnTo>
                    <a:pt x="144" y="108"/>
                  </a:lnTo>
                  <a:lnTo>
                    <a:pt x="144" y="112"/>
                  </a:lnTo>
                  <a:lnTo>
                    <a:pt x="150" y="115"/>
                  </a:lnTo>
                  <a:lnTo>
                    <a:pt x="150" y="119"/>
                  </a:lnTo>
                  <a:lnTo>
                    <a:pt x="150" y="122"/>
                  </a:lnTo>
                  <a:lnTo>
                    <a:pt x="158" y="126"/>
                  </a:lnTo>
                  <a:lnTo>
                    <a:pt x="158" y="129"/>
                  </a:lnTo>
                  <a:lnTo>
                    <a:pt x="158" y="133"/>
                  </a:lnTo>
                  <a:lnTo>
                    <a:pt x="165" y="136"/>
                  </a:lnTo>
                  <a:lnTo>
                    <a:pt x="165" y="139"/>
                  </a:lnTo>
                  <a:lnTo>
                    <a:pt x="165" y="143"/>
                  </a:lnTo>
                  <a:lnTo>
                    <a:pt x="165" y="146"/>
                  </a:lnTo>
                  <a:lnTo>
                    <a:pt x="172" y="149"/>
                  </a:lnTo>
                  <a:lnTo>
                    <a:pt x="172" y="153"/>
                  </a:lnTo>
                  <a:lnTo>
                    <a:pt x="172" y="156"/>
                  </a:lnTo>
                  <a:lnTo>
                    <a:pt x="180" y="156"/>
                  </a:lnTo>
                  <a:lnTo>
                    <a:pt x="180" y="160"/>
                  </a:lnTo>
                  <a:lnTo>
                    <a:pt x="180" y="163"/>
                  </a:lnTo>
                  <a:lnTo>
                    <a:pt x="180" y="166"/>
                  </a:lnTo>
                  <a:lnTo>
                    <a:pt x="187" y="170"/>
                  </a:lnTo>
                  <a:lnTo>
                    <a:pt x="187" y="173"/>
                  </a:lnTo>
                  <a:lnTo>
                    <a:pt x="187" y="177"/>
                  </a:lnTo>
                  <a:lnTo>
                    <a:pt x="194" y="180"/>
                  </a:lnTo>
                  <a:lnTo>
                    <a:pt x="194" y="183"/>
                  </a:lnTo>
                  <a:lnTo>
                    <a:pt x="194" y="187"/>
                  </a:lnTo>
                  <a:lnTo>
                    <a:pt x="194" y="190"/>
                  </a:lnTo>
                  <a:lnTo>
                    <a:pt x="201" y="193"/>
                  </a:lnTo>
                  <a:lnTo>
                    <a:pt x="201" y="197"/>
                  </a:lnTo>
                  <a:lnTo>
                    <a:pt x="201" y="200"/>
                  </a:lnTo>
                  <a:lnTo>
                    <a:pt x="208" y="204"/>
                  </a:lnTo>
                  <a:lnTo>
                    <a:pt x="208" y="207"/>
                  </a:lnTo>
                  <a:lnTo>
                    <a:pt x="208" y="211"/>
                  </a:lnTo>
                  <a:lnTo>
                    <a:pt x="215" y="214"/>
                  </a:lnTo>
                  <a:lnTo>
                    <a:pt x="215" y="217"/>
                  </a:lnTo>
                  <a:lnTo>
                    <a:pt x="215" y="221"/>
                  </a:lnTo>
                  <a:lnTo>
                    <a:pt x="215" y="224"/>
                  </a:lnTo>
                  <a:lnTo>
                    <a:pt x="223" y="224"/>
                  </a:lnTo>
                  <a:lnTo>
                    <a:pt x="223" y="228"/>
                  </a:lnTo>
                  <a:lnTo>
                    <a:pt x="223" y="231"/>
                  </a:lnTo>
                  <a:lnTo>
                    <a:pt x="230" y="234"/>
                  </a:lnTo>
                  <a:lnTo>
                    <a:pt x="230" y="238"/>
                  </a:lnTo>
                  <a:lnTo>
                    <a:pt x="230" y="241"/>
                  </a:lnTo>
                  <a:lnTo>
                    <a:pt x="230" y="244"/>
                  </a:lnTo>
                  <a:lnTo>
                    <a:pt x="237" y="248"/>
                  </a:lnTo>
                  <a:lnTo>
                    <a:pt x="237" y="251"/>
                  </a:lnTo>
                  <a:lnTo>
                    <a:pt x="237" y="255"/>
                  </a:lnTo>
                  <a:lnTo>
                    <a:pt x="244" y="258"/>
                  </a:lnTo>
                  <a:lnTo>
                    <a:pt x="244" y="262"/>
                  </a:lnTo>
                  <a:lnTo>
                    <a:pt x="244" y="265"/>
                  </a:lnTo>
                  <a:lnTo>
                    <a:pt x="244" y="269"/>
                  </a:lnTo>
                  <a:lnTo>
                    <a:pt x="251" y="272"/>
                  </a:lnTo>
                  <a:lnTo>
                    <a:pt x="251" y="275"/>
                  </a:lnTo>
                  <a:lnTo>
                    <a:pt x="251" y="279"/>
                  </a:lnTo>
                  <a:lnTo>
                    <a:pt x="259" y="282"/>
                  </a:lnTo>
                  <a:lnTo>
                    <a:pt x="259" y="285"/>
                  </a:lnTo>
                  <a:lnTo>
                    <a:pt x="259" y="289"/>
                  </a:lnTo>
                  <a:lnTo>
                    <a:pt x="266" y="292"/>
                  </a:lnTo>
                  <a:lnTo>
                    <a:pt x="266" y="296"/>
                  </a:lnTo>
                  <a:lnTo>
                    <a:pt x="266" y="299"/>
                  </a:lnTo>
                  <a:lnTo>
                    <a:pt x="273" y="302"/>
                  </a:lnTo>
                  <a:lnTo>
                    <a:pt x="273" y="306"/>
                  </a:lnTo>
                  <a:lnTo>
                    <a:pt x="273" y="309"/>
                  </a:lnTo>
                  <a:lnTo>
                    <a:pt x="280" y="313"/>
                  </a:lnTo>
                  <a:lnTo>
                    <a:pt x="280" y="316"/>
                  </a:lnTo>
                  <a:lnTo>
                    <a:pt x="280" y="319"/>
                  </a:lnTo>
                  <a:lnTo>
                    <a:pt x="287" y="323"/>
                  </a:lnTo>
                  <a:lnTo>
                    <a:pt x="287" y="326"/>
                  </a:lnTo>
                  <a:lnTo>
                    <a:pt x="287" y="329"/>
                  </a:lnTo>
                  <a:lnTo>
                    <a:pt x="294" y="333"/>
                  </a:lnTo>
                  <a:lnTo>
                    <a:pt x="294" y="336"/>
                  </a:lnTo>
                  <a:lnTo>
                    <a:pt x="294" y="340"/>
                  </a:lnTo>
                  <a:lnTo>
                    <a:pt x="302" y="343"/>
                  </a:lnTo>
                  <a:lnTo>
                    <a:pt x="302" y="347"/>
                  </a:lnTo>
                  <a:lnTo>
                    <a:pt x="302" y="350"/>
                  </a:lnTo>
                  <a:lnTo>
                    <a:pt x="309" y="350"/>
                  </a:lnTo>
                  <a:lnTo>
                    <a:pt x="309" y="353"/>
                  </a:lnTo>
                  <a:lnTo>
                    <a:pt x="309" y="357"/>
                  </a:lnTo>
                  <a:lnTo>
                    <a:pt x="309" y="360"/>
                  </a:lnTo>
                  <a:lnTo>
                    <a:pt x="316" y="364"/>
                  </a:lnTo>
                  <a:lnTo>
                    <a:pt x="316" y="367"/>
                  </a:lnTo>
                  <a:lnTo>
                    <a:pt x="324" y="370"/>
                  </a:lnTo>
                  <a:lnTo>
                    <a:pt x="324" y="374"/>
                  </a:lnTo>
                  <a:lnTo>
                    <a:pt x="324" y="377"/>
                  </a:lnTo>
                  <a:lnTo>
                    <a:pt x="330" y="380"/>
                  </a:lnTo>
                  <a:lnTo>
                    <a:pt x="330" y="384"/>
                  </a:lnTo>
                  <a:lnTo>
                    <a:pt x="337" y="387"/>
                  </a:lnTo>
                  <a:lnTo>
                    <a:pt x="337" y="391"/>
                  </a:lnTo>
                  <a:lnTo>
                    <a:pt x="337" y="394"/>
                  </a:lnTo>
                  <a:lnTo>
                    <a:pt x="345" y="398"/>
                  </a:lnTo>
                  <a:lnTo>
                    <a:pt x="345" y="401"/>
                  </a:lnTo>
                  <a:lnTo>
                    <a:pt x="352" y="404"/>
                  </a:lnTo>
                  <a:lnTo>
                    <a:pt x="352" y="408"/>
                  </a:lnTo>
                  <a:lnTo>
                    <a:pt x="359" y="411"/>
                  </a:lnTo>
                  <a:lnTo>
                    <a:pt x="359" y="414"/>
                  </a:lnTo>
                  <a:lnTo>
                    <a:pt x="359" y="418"/>
                  </a:lnTo>
                  <a:lnTo>
                    <a:pt x="367" y="418"/>
                  </a:lnTo>
                  <a:lnTo>
                    <a:pt x="367" y="421"/>
                  </a:lnTo>
                  <a:lnTo>
                    <a:pt x="367" y="425"/>
                  </a:lnTo>
                  <a:lnTo>
                    <a:pt x="374" y="425"/>
                  </a:lnTo>
                  <a:lnTo>
                    <a:pt x="374" y="428"/>
                  </a:lnTo>
                  <a:lnTo>
                    <a:pt x="374" y="432"/>
                  </a:lnTo>
                  <a:lnTo>
                    <a:pt x="381" y="432"/>
                  </a:lnTo>
                  <a:lnTo>
                    <a:pt x="381" y="435"/>
                  </a:lnTo>
                  <a:lnTo>
                    <a:pt x="381" y="438"/>
                  </a:lnTo>
                  <a:lnTo>
                    <a:pt x="388" y="438"/>
                  </a:lnTo>
                  <a:lnTo>
                    <a:pt x="388" y="442"/>
                  </a:lnTo>
                  <a:lnTo>
                    <a:pt x="388" y="445"/>
                  </a:lnTo>
                  <a:lnTo>
                    <a:pt x="395" y="445"/>
                  </a:lnTo>
                  <a:lnTo>
                    <a:pt x="395" y="449"/>
                  </a:lnTo>
                  <a:lnTo>
                    <a:pt x="402" y="452"/>
                  </a:lnTo>
                  <a:lnTo>
                    <a:pt x="402" y="455"/>
                  </a:lnTo>
                  <a:lnTo>
                    <a:pt x="410" y="459"/>
                  </a:lnTo>
                  <a:lnTo>
                    <a:pt x="410" y="462"/>
                  </a:lnTo>
                  <a:lnTo>
                    <a:pt x="417" y="462"/>
                  </a:lnTo>
                </a:path>
              </a:pathLst>
            </a:custGeom>
            <a:noFill/>
            <a:ln w="28575" cap="rnd" cmpd="sng">
              <a:solidFill>
                <a:srgbClr val="FF3300"/>
              </a:solidFill>
              <a:prstDash val="solid"/>
              <a:round/>
              <a:headEnd type="none" w="med" len="med"/>
              <a:tailEnd type="none" w="med" len="med"/>
            </a:ln>
          </p:spPr>
          <p:txBody>
            <a:bodyPr/>
            <a:lstStyle/>
            <a:p>
              <a:endParaRPr lang="nl-NL" dirty="0"/>
            </a:p>
          </p:txBody>
        </p:sp>
        <p:sp>
          <p:nvSpPr>
            <p:cNvPr id="7190" name="Freeform 33"/>
            <p:cNvSpPr>
              <a:spLocks/>
            </p:cNvSpPr>
            <p:nvPr/>
          </p:nvSpPr>
          <p:spPr bwMode="auto">
            <a:xfrm>
              <a:off x="3749" y="2298"/>
              <a:ext cx="412" cy="79"/>
            </a:xfrm>
            <a:custGeom>
              <a:avLst/>
              <a:gdLst>
                <a:gd name="T0" fmla="*/ 0 w 412"/>
                <a:gd name="T1" fmla="*/ 3 h 79"/>
                <a:gd name="T2" fmla="*/ 7 w 412"/>
                <a:gd name="T3" fmla="*/ 7 h 79"/>
                <a:gd name="T4" fmla="*/ 14 w 412"/>
                <a:gd name="T5" fmla="*/ 10 h 79"/>
                <a:gd name="T6" fmla="*/ 21 w 412"/>
                <a:gd name="T7" fmla="*/ 14 h 79"/>
                <a:gd name="T8" fmla="*/ 29 w 412"/>
                <a:gd name="T9" fmla="*/ 21 h 79"/>
                <a:gd name="T10" fmla="*/ 36 w 412"/>
                <a:gd name="T11" fmla="*/ 27 h 79"/>
                <a:gd name="T12" fmla="*/ 43 w 412"/>
                <a:gd name="T13" fmla="*/ 31 h 79"/>
                <a:gd name="T14" fmla="*/ 50 w 412"/>
                <a:gd name="T15" fmla="*/ 34 h 79"/>
                <a:gd name="T16" fmla="*/ 57 w 412"/>
                <a:gd name="T17" fmla="*/ 37 h 79"/>
                <a:gd name="T18" fmla="*/ 65 w 412"/>
                <a:gd name="T19" fmla="*/ 41 h 79"/>
                <a:gd name="T20" fmla="*/ 72 w 412"/>
                <a:gd name="T21" fmla="*/ 44 h 79"/>
                <a:gd name="T22" fmla="*/ 86 w 412"/>
                <a:gd name="T23" fmla="*/ 44 h 79"/>
                <a:gd name="T24" fmla="*/ 94 w 412"/>
                <a:gd name="T25" fmla="*/ 48 h 79"/>
                <a:gd name="T26" fmla="*/ 100 w 412"/>
                <a:gd name="T27" fmla="*/ 51 h 79"/>
                <a:gd name="T28" fmla="*/ 115 w 412"/>
                <a:gd name="T29" fmla="*/ 54 h 79"/>
                <a:gd name="T30" fmla="*/ 122 w 412"/>
                <a:gd name="T31" fmla="*/ 58 h 79"/>
                <a:gd name="T32" fmla="*/ 130 w 412"/>
                <a:gd name="T33" fmla="*/ 61 h 79"/>
                <a:gd name="T34" fmla="*/ 144 w 412"/>
                <a:gd name="T35" fmla="*/ 61 h 79"/>
                <a:gd name="T36" fmla="*/ 158 w 412"/>
                <a:gd name="T37" fmla="*/ 65 h 79"/>
                <a:gd name="T38" fmla="*/ 166 w 412"/>
                <a:gd name="T39" fmla="*/ 68 h 79"/>
                <a:gd name="T40" fmla="*/ 180 w 412"/>
                <a:gd name="T41" fmla="*/ 68 h 79"/>
                <a:gd name="T42" fmla="*/ 194 w 412"/>
                <a:gd name="T43" fmla="*/ 68 h 79"/>
                <a:gd name="T44" fmla="*/ 202 w 412"/>
                <a:gd name="T45" fmla="*/ 71 h 79"/>
                <a:gd name="T46" fmla="*/ 216 w 412"/>
                <a:gd name="T47" fmla="*/ 71 h 79"/>
                <a:gd name="T48" fmla="*/ 231 w 412"/>
                <a:gd name="T49" fmla="*/ 71 h 79"/>
                <a:gd name="T50" fmla="*/ 245 w 412"/>
                <a:gd name="T51" fmla="*/ 75 h 79"/>
                <a:gd name="T52" fmla="*/ 259 w 412"/>
                <a:gd name="T53" fmla="*/ 75 h 79"/>
                <a:gd name="T54" fmla="*/ 274 w 412"/>
                <a:gd name="T55" fmla="*/ 75 h 79"/>
                <a:gd name="T56" fmla="*/ 288 w 412"/>
                <a:gd name="T57" fmla="*/ 75 h 79"/>
                <a:gd name="T58" fmla="*/ 303 w 412"/>
                <a:gd name="T59" fmla="*/ 75 h 79"/>
                <a:gd name="T60" fmla="*/ 317 w 412"/>
                <a:gd name="T61" fmla="*/ 75 h 79"/>
                <a:gd name="T62" fmla="*/ 324 w 412"/>
                <a:gd name="T63" fmla="*/ 78 h 79"/>
                <a:gd name="T64" fmla="*/ 339 w 412"/>
                <a:gd name="T65" fmla="*/ 78 h 79"/>
                <a:gd name="T66" fmla="*/ 353 w 412"/>
                <a:gd name="T67" fmla="*/ 78 h 79"/>
                <a:gd name="T68" fmla="*/ 368 w 412"/>
                <a:gd name="T69" fmla="*/ 78 h 79"/>
                <a:gd name="T70" fmla="*/ 382 w 412"/>
                <a:gd name="T71" fmla="*/ 78 h 79"/>
                <a:gd name="T72" fmla="*/ 396 w 412"/>
                <a:gd name="T73" fmla="*/ 78 h 79"/>
                <a:gd name="T74" fmla="*/ 411 w 412"/>
                <a:gd name="T75" fmla="*/ 78 h 7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12"/>
                <a:gd name="T115" fmla="*/ 0 h 79"/>
                <a:gd name="T116" fmla="*/ 412 w 412"/>
                <a:gd name="T117" fmla="*/ 79 h 7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12" h="79">
                  <a:moveTo>
                    <a:pt x="0" y="0"/>
                  </a:moveTo>
                  <a:lnTo>
                    <a:pt x="0" y="3"/>
                  </a:lnTo>
                  <a:lnTo>
                    <a:pt x="7" y="3"/>
                  </a:lnTo>
                  <a:lnTo>
                    <a:pt x="7" y="7"/>
                  </a:lnTo>
                  <a:lnTo>
                    <a:pt x="7" y="10"/>
                  </a:lnTo>
                  <a:lnTo>
                    <a:pt x="14" y="10"/>
                  </a:lnTo>
                  <a:lnTo>
                    <a:pt x="14" y="14"/>
                  </a:lnTo>
                  <a:lnTo>
                    <a:pt x="21" y="14"/>
                  </a:lnTo>
                  <a:lnTo>
                    <a:pt x="21" y="17"/>
                  </a:lnTo>
                  <a:lnTo>
                    <a:pt x="29" y="21"/>
                  </a:lnTo>
                  <a:lnTo>
                    <a:pt x="36" y="24"/>
                  </a:lnTo>
                  <a:lnTo>
                    <a:pt x="36" y="27"/>
                  </a:lnTo>
                  <a:lnTo>
                    <a:pt x="43" y="27"/>
                  </a:lnTo>
                  <a:lnTo>
                    <a:pt x="43" y="31"/>
                  </a:lnTo>
                  <a:lnTo>
                    <a:pt x="50" y="31"/>
                  </a:lnTo>
                  <a:lnTo>
                    <a:pt x="50" y="34"/>
                  </a:lnTo>
                  <a:lnTo>
                    <a:pt x="57" y="34"/>
                  </a:lnTo>
                  <a:lnTo>
                    <a:pt x="57" y="37"/>
                  </a:lnTo>
                  <a:lnTo>
                    <a:pt x="65" y="37"/>
                  </a:lnTo>
                  <a:lnTo>
                    <a:pt x="65" y="41"/>
                  </a:lnTo>
                  <a:lnTo>
                    <a:pt x="72" y="41"/>
                  </a:lnTo>
                  <a:lnTo>
                    <a:pt x="72" y="44"/>
                  </a:lnTo>
                  <a:lnTo>
                    <a:pt x="79" y="44"/>
                  </a:lnTo>
                  <a:lnTo>
                    <a:pt x="86" y="44"/>
                  </a:lnTo>
                  <a:lnTo>
                    <a:pt x="86" y="48"/>
                  </a:lnTo>
                  <a:lnTo>
                    <a:pt x="94" y="48"/>
                  </a:lnTo>
                  <a:lnTo>
                    <a:pt x="94" y="51"/>
                  </a:lnTo>
                  <a:lnTo>
                    <a:pt x="100" y="51"/>
                  </a:lnTo>
                  <a:lnTo>
                    <a:pt x="108" y="54"/>
                  </a:lnTo>
                  <a:lnTo>
                    <a:pt x="115" y="54"/>
                  </a:lnTo>
                  <a:lnTo>
                    <a:pt x="115" y="58"/>
                  </a:lnTo>
                  <a:lnTo>
                    <a:pt x="122" y="58"/>
                  </a:lnTo>
                  <a:lnTo>
                    <a:pt x="130" y="58"/>
                  </a:lnTo>
                  <a:lnTo>
                    <a:pt x="130" y="61"/>
                  </a:lnTo>
                  <a:lnTo>
                    <a:pt x="137" y="61"/>
                  </a:lnTo>
                  <a:lnTo>
                    <a:pt x="144" y="61"/>
                  </a:lnTo>
                  <a:lnTo>
                    <a:pt x="151" y="65"/>
                  </a:lnTo>
                  <a:lnTo>
                    <a:pt x="158" y="65"/>
                  </a:lnTo>
                  <a:lnTo>
                    <a:pt x="166" y="65"/>
                  </a:lnTo>
                  <a:lnTo>
                    <a:pt x="166" y="68"/>
                  </a:lnTo>
                  <a:lnTo>
                    <a:pt x="173" y="68"/>
                  </a:lnTo>
                  <a:lnTo>
                    <a:pt x="180" y="68"/>
                  </a:lnTo>
                  <a:lnTo>
                    <a:pt x="187" y="68"/>
                  </a:lnTo>
                  <a:lnTo>
                    <a:pt x="194" y="68"/>
                  </a:lnTo>
                  <a:lnTo>
                    <a:pt x="194" y="71"/>
                  </a:lnTo>
                  <a:lnTo>
                    <a:pt x="202" y="71"/>
                  </a:lnTo>
                  <a:lnTo>
                    <a:pt x="209" y="71"/>
                  </a:lnTo>
                  <a:lnTo>
                    <a:pt x="216" y="71"/>
                  </a:lnTo>
                  <a:lnTo>
                    <a:pt x="223" y="71"/>
                  </a:lnTo>
                  <a:lnTo>
                    <a:pt x="231" y="71"/>
                  </a:lnTo>
                  <a:lnTo>
                    <a:pt x="237" y="75"/>
                  </a:lnTo>
                  <a:lnTo>
                    <a:pt x="245" y="75"/>
                  </a:lnTo>
                  <a:lnTo>
                    <a:pt x="252" y="75"/>
                  </a:lnTo>
                  <a:lnTo>
                    <a:pt x="259" y="75"/>
                  </a:lnTo>
                  <a:lnTo>
                    <a:pt x="267" y="75"/>
                  </a:lnTo>
                  <a:lnTo>
                    <a:pt x="274" y="75"/>
                  </a:lnTo>
                  <a:lnTo>
                    <a:pt x="281" y="75"/>
                  </a:lnTo>
                  <a:lnTo>
                    <a:pt x="288" y="75"/>
                  </a:lnTo>
                  <a:lnTo>
                    <a:pt x="295" y="75"/>
                  </a:lnTo>
                  <a:lnTo>
                    <a:pt x="303" y="75"/>
                  </a:lnTo>
                  <a:lnTo>
                    <a:pt x="310" y="75"/>
                  </a:lnTo>
                  <a:lnTo>
                    <a:pt x="317" y="75"/>
                  </a:lnTo>
                  <a:lnTo>
                    <a:pt x="324" y="75"/>
                  </a:lnTo>
                  <a:lnTo>
                    <a:pt x="324" y="78"/>
                  </a:lnTo>
                  <a:lnTo>
                    <a:pt x="331" y="78"/>
                  </a:lnTo>
                  <a:lnTo>
                    <a:pt x="339" y="78"/>
                  </a:lnTo>
                  <a:lnTo>
                    <a:pt x="346" y="78"/>
                  </a:lnTo>
                  <a:lnTo>
                    <a:pt x="353" y="78"/>
                  </a:lnTo>
                  <a:lnTo>
                    <a:pt x="360" y="78"/>
                  </a:lnTo>
                  <a:lnTo>
                    <a:pt x="368" y="78"/>
                  </a:lnTo>
                  <a:lnTo>
                    <a:pt x="374" y="78"/>
                  </a:lnTo>
                  <a:lnTo>
                    <a:pt x="382" y="78"/>
                  </a:lnTo>
                  <a:lnTo>
                    <a:pt x="389" y="78"/>
                  </a:lnTo>
                  <a:lnTo>
                    <a:pt x="396" y="78"/>
                  </a:lnTo>
                  <a:lnTo>
                    <a:pt x="404" y="78"/>
                  </a:lnTo>
                  <a:lnTo>
                    <a:pt x="411" y="78"/>
                  </a:lnTo>
                </a:path>
              </a:pathLst>
            </a:custGeom>
            <a:noFill/>
            <a:ln w="28575" cap="rnd" cmpd="sng">
              <a:solidFill>
                <a:srgbClr val="FF3300"/>
              </a:solidFill>
              <a:prstDash val="solid"/>
              <a:round/>
              <a:headEnd type="none" w="med" len="med"/>
              <a:tailEnd type="none" w="med" len="med"/>
            </a:ln>
          </p:spPr>
          <p:txBody>
            <a:bodyPr/>
            <a:lstStyle/>
            <a:p>
              <a:endParaRPr lang="nl-NL" dirty="0"/>
            </a:p>
          </p:txBody>
        </p:sp>
      </p:grpSp>
      <p:pic>
        <p:nvPicPr>
          <p:cNvPr id="7177" name="Picture 34"/>
          <p:cNvPicPr>
            <a:picLocks noChangeAspect="1" noChangeArrowheads="1"/>
          </p:cNvPicPr>
          <p:nvPr/>
        </p:nvPicPr>
        <p:blipFill>
          <a:blip r:embed="rId8" cstate="print"/>
          <a:srcRect l="11191" r="16904"/>
          <a:stretch>
            <a:fillRect/>
          </a:stretch>
        </p:blipFill>
        <p:spPr bwMode="auto">
          <a:xfrm>
            <a:off x="4651375" y="2051050"/>
            <a:ext cx="3005138" cy="666750"/>
          </a:xfrm>
          <a:prstGeom prst="rect">
            <a:avLst/>
          </a:prstGeom>
          <a:noFill/>
          <a:ln w="9525">
            <a:noFill/>
            <a:miter lim="800000"/>
            <a:headEnd/>
            <a:tailEnd/>
          </a:ln>
        </p:spPr>
      </p:pic>
      <p:sp>
        <p:nvSpPr>
          <p:cNvPr id="7178" name="Text Box 35"/>
          <p:cNvSpPr txBox="1">
            <a:spLocks noChangeArrowheads="1"/>
          </p:cNvSpPr>
          <p:nvPr/>
        </p:nvSpPr>
        <p:spPr bwMode="auto">
          <a:xfrm>
            <a:off x="7874000" y="3152775"/>
            <a:ext cx="1052513" cy="584200"/>
          </a:xfrm>
          <a:prstGeom prst="rect">
            <a:avLst/>
          </a:prstGeom>
          <a:noFill/>
          <a:ln w="9525">
            <a:noFill/>
            <a:miter lim="800000"/>
            <a:headEnd/>
            <a:tailEnd/>
          </a:ln>
        </p:spPr>
        <p:txBody>
          <a:bodyPr wrap="none">
            <a:spAutoFit/>
          </a:bodyPr>
          <a:lstStyle/>
          <a:p>
            <a:pPr algn="ctr"/>
            <a:r>
              <a:rPr lang="en-US" sz="1600" b="1" dirty="0"/>
              <a:t>Variabilnost</a:t>
            </a:r>
          </a:p>
          <a:p>
            <a:pPr algn="ctr"/>
            <a:r>
              <a:rPr lang="en-US" sz="1600" b="1" dirty="0"/>
              <a:t>izdelka</a:t>
            </a:r>
          </a:p>
        </p:txBody>
      </p:sp>
      <p:sp>
        <p:nvSpPr>
          <p:cNvPr id="7179" name="Text Box 36"/>
          <p:cNvSpPr txBox="1">
            <a:spLocks noChangeArrowheads="1"/>
          </p:cNvSpPr>
          <p:nvPr/>
        </p:nvSpPr>
        <p:spPr bwMode="auto">
          <a:xfrm>
            <a:off x="7934325" y="4343400"/>
            <a:ext cx="1052513" cy="584200"/>
          </a:xfrm>
          <a:prstGeom prst="rect">
            <a:avLst/>
          </a:prstGeom>
          <a:noFill/>
          <a:ln w="9525">
            <a:noFill/>
            <a:miter lim="800000"/>
            <a:headEnd/>
            <a:tailEnd/>
          </a:ln>
        </p:spPr>
        <p:txBody>
          <a:bodyPr wrap="none">
            <a:spAutoFit/>
          </a:bodyPr>
          <a:lstStyle/>
          <a:p>
            <a:pPr algn="ctr"/>
            <a:r>
              <a:rPr lang="en-US" sz="1600" b="1" dirty="0"/>
              <a:t>Variabilnost</a:t>
            </a:r>
          </a:p>
          <a:p>
            <a:pPr algn="ctr"/>
            <a:r>
              <a:rPr lang="en-US" sz="1600" b="1" dirty="0"/>
              <a:t>merila</a:t>
            </a:r>
          </a:p>
        </p:txBody>
      </p:sp>
      <p:sp>
        <p:nvSpPr>
          <p:cNvPr id="7180" name="Text Box 37"/>
          <p:cNvSpPr txBox="1">
            <a:spLocks noChangeArrowheads="1"/>
          </p:cNvSpPr>
          <p:nvPr/>
        </p:nvSpPr>
        <p:spPr bwMode="auto">
          <a:xfrm>
            <a:off x="7896225" y="1981200"/>
            <a:ext cx="1052513" cy="1077913"/>
          </a:xfrm>
          <a:prstGeom prst="rect">
            <a:avLst/>
          </a:prstGeom>
          <a:noFill/>
          <a:ln w="9525">
            <a:noFill/>
            <a:miter lim="800000"/>
            <a:headEnd/>
            <a:tailEnd/>
          </a:ln>
        </p:spPr>
        <p:txBody>
          <a:bodyPr wrap="none">
            <a:spAutoFit/>
          </a:bodyPr>
          <a:lstStyle/>
          <a:p>
            <a:pPr algn="ctr"/>
            <a:r>
              <a:rPr lang="en-US" sz="1600" b="1" dirty="0"/>
              <a:t>Celotna</a:t>
            </a:r>
          </a:p>
          <a:p>
            <a:pPr algn="ctr"/>
            <a:r>
              <a:rPr lang="en-US" sz="1600" b="1" dirty="0"/>
              <a:t>variabilnost</a:t>
            </a:r>
          </a:p>
          <a:p>
            <a:pPr algn="ctr"/>
            <a:endParaRPr lang="sl-SI" sz="1600" b="1" dirty="0"/>
          </a:p>
          <a:p>
            <a:pPr algn="ctr"/>
            <a:r>
              <a:rPr lang="en-US" sz="1600" b="1" dirty="0"/>
              <a:t>=</a:t>
            </a:r>
          </a:p>
        </p:txBody>
      </p:sp>
      <p:sp>
        <p:nvSpPr>
          <p:cNvPr id="7181" name="Text Box 38"/>
          <p:cNvSpPr txBox="1">
            <a:spLocks noChangeArrowheads="1"/>
          </p:cNvSpPr>
          <p:nvPr/>
        </p:nvSpPr>
        <p:spPr bwMode="auto">
          <a:xfrm>
            <a:off x="8305800" y="3854450"/>
            <a:ext cx="303213" cy="336550"/>
          </a:xfrm>
          <a:prstGeom prst="rect">
            <a:avLst/>
          </a:prstGeom>
          <a:noFill/>
          <a:ln w="9525">
            <a:noFill/>
            <a:miter lim="800000"/>
            <a:headEnd/>
            <a:tailEnd/>
          </a:ln>
        </p:spPr>
        <p:txBody>
          <a:bodyPr wrap="none">
            <a:spAutoFit/>
          </a:bodyPr>
          <a:lstStyle/>
          <a:p>
            <a:r>
              <a:rPr lang="en-US" sz="1600" b="1" dirty="0"/>
              <a:t>+</a:t>
            </a:r>
          </a:p>
        </p:txBody>
      </p:sp>
      <p:cxnSp>
        <p:nvCxnSpPr>
          <p:cNvPr id="28" name="Rechte verbindingslijn met pijl 27"/>
          <p:cNvCxnSpPr/>
          <p:nvPr/>
        </p:nvCxnSpPr>
        <p:spPr>
          <a:xfrm>
            <a:off x="3851275" y="3716338"/>
            <a:ext cx="1371600" cy="609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Rechte verbindingslijn met pijl 29"/>
          <p:cNvCxnSpPr/>
          <p:nvPr/>
        </p:nvCxnSpPr>
        <p:spPr>
          <a:xfrm>
            <a:off x="4270375" y="3124200"/>
            <a:ext cx="762000" cy="228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Rechte verbindingslijn met pijl 31"/>
          <p:cNvCxnSpPr/>
          <p:nvPr/>
        </p:nvCxnSpPr>
        <p:spPr>
          <a:xfrm>
            <a:off x="4787900" y="2276475"/>
            <a:ext cx="9144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185" name="Object 2">
            <a:hlinkClick r:id="" action="ppaction://ole?verb=0"/>
          </p:cNvPr>
          <p:cNvGraphicFramePr>
            <a:graphicFrameLocks noChangeAspect="1"/>
          </p:cNvGraphicFramePr>
          <p:nvPr/>
        </p:nvGraphicFramePr>
        <p:xfrm>
          <a:off x="663575" y="6021388"/>
          <a:ext cx="3727450" cy="511175"/>
        </p:xfrm>
        <a:graphic>
          <a:graphicData uri="http://schemas.openxmlformats.org/presentationml/2006/ole">
            <mc:AlternateContent xmlns:mc="http://schemas.openxmlformats.org/markup-compatibility/2006">
              <mc:Choice xmlns:v="urn:schemas-microsoft-com:vml" Requires="v">
                <p:oleObj name="Equation" r:id="rId9" imgW="1841400" imgH="253800" progId="Equation.3">
                  <p:embed/>
                </p:oleObj>
              </mc:Choice>
              <mc:Fallback>
                <p:oleObj name="Equation" r:id="rId9" imgW="1841400" imgH="253800" progId="Equation.3">
                  <p:embed/>
                  <p:pic>
                    <p:nvPicPr>
                      <p:cNvPr id="0" name=""/>
                      <p:cNvPicPr>
                        <a:picLocks noChangeAspect="1" noChangeArrowheads="1"/>
                      </p:cNvPicPr>
                      <p:nvPr/>
                    </p:nvPicPr>
                    <p:blipFill>
                      <a:blip r:embed="rId10"/>
                      <a:srcRect/>
                      <a:stretch>
                        <a:fillRect/>
                      </a:stretch>
                    </p:blipFill>
                    <p:spPr bwMode="auto">
                      <a:xfrm>
                        <a:off x="663575" y="6021388"/>
                        <a:ext cx="3727450"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6" name="Titel 4"/>
          <p:cNvSpPr>
            <a:spLocks noGrp="1"/>
          </p:cNvSpPr>
          <p:nvPr>
            <p:ph type="title"/>
          </p:nvPr>
        </p:nvSpPr>
        <p:spPr/>
        <p:txBody>
          <a:bodyPr/>
          <a:lstStyle/>
          <a:p>
            <a:pPr eaLnBrk="1" hangingPunct="1"/>
            <a:r>
              <a:rPr lang="en-GB" noProof="0" dirty="0">
                <a:latin typeface="Arial" charset="0"/>
              </a:rPr>
              <a:t>Analiza merilnega sistema</a:t>
            </a:r>
          </a:p>
        </p:txBody>
      </p:sp>
    </p:spTree>
    <p:extLst>
      <p:ext uri="{BB962C8B-B14F-4D97-AF65-F5344CB8AC3E}">
        <p14:creationId xmlns:p14="http://schemas.microsoft.com/office/powerpoint/2010/main" val="123181351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el 1"/>
          <p:cNvSpPr>
            <a:spLocks noGrp="1"/>
          </p:cNvSpPr>
          <p:nvPr>
            <p:ph type="title"/>
          </p:nvPr>
        </p:nvSpPr>
        <p:spPr/>
        <p:txBody>
          <a:bodyPr/>
          <a:lstStyle/>
          <a:p>
            <a:r>
              <a:rPr lang="en-GB" noProof="0" dirty="0">
                <a:latin typeface="Arial" charset="0"/>
              </a:rPr>
              <a:t>Analiza merilnega sistema</a:t>
            </a:r>
          </a:p>
        </p:txBody>
      </p:sp>
      <p:sp>
        <p:nvSpPr>
          <p:cNvPr id="9219" name="Tijdelijke aanduiding voor inhoud 2"/>
          <p:cNvSpPr>
            <a:spLocks noGrp="1"/>
          </p:cNvSpPr>
          <p:nvPr>
            <p:ph idx="1"/>
          </p:nvPr>
        </p:nvSpPr>
        <p:spPr>
          <a:xfrm>
            <a:off x="720725" y="1341437"/>
            <a:ext cx="7920038" cy="5278437"/>
          </a:xfrm>
        </p:spPr>
        <p:txBody>
          <a:bodyPr/>
          <a:lstStyle/>
          <a:p>
            <a:r>
              <a:rPr lang="en-GB" noProof="0" dirty="0" err="1">
                <a:latin typeface="Arial" charset="0"/>
              </a:rPr>
              <a:t>Variabilnost</a:t>
            </a:r>
            <a:r>
              <a:rPr lang="en-GB" noProof="0" dirty="0">
                <a:latin typeface="Arial" charset="0"/>
              </a:rPr>
              <a:t> </a:t>
            </a:r>
            <a:r>
              <a:rPr lang="en-GB" noProof="0" dirty="0" err="1">
                <a:latin typeface="Arial" charset="0"/>
              </a:rPr>
              <a:t>meritev</a:t>
            </a:r>
            <a:endParaRPr lang="sl-SI" sz="1600" noProof="0" dirty="0">
              <a:latin typeface="Arial" charset="0"/>
              <a:cs typeface="Arial" charset="0"/>
            </a:endParaRPr>
          </a:p>
          <a:p>
            <a:pPr lvl="1">
              <a:buFont typeface="Arial" charset="0"/>
              <a:buNone/>
            </a:pPr>
            <a:r>
              <a:rPr lang="en-US" dirty="0"/>
              <a:t>	</a:t>
            </a:r>
            <a:r>
              <a:rPr lang="en-GB" sz="1600" noProof="0" dirty="0">
                <a:latin typeface="Arial" charset="0"/>
              </a:rPr>
              <a:t>Da bi zmanjšali variabilnost merilnega sistema, moramo identificirati </a:t>
            </a:r>
          </a:p>
          <a:p>
            <a:pPr lvl="1">
              <a:buFont typeface="Arial" charset="0"/>
              <a:buNone/>
            </a:pPr>
            <a:r>
              <a:rPr lang="en-US" sz="1600" noProof="0" dirty="0">
                <a:latin typeface="Arial" charset="0"/>
              </a:rPr>
              <a:t>	</a:t>
            </a:r>
            <a:r>
              <a:rPr lang="en-GB" sz="1600" noProof="0" dirty="0">
                <a:latin typeface="Arial" charset="0"/>
              </a:rPr>
              <a:t>in razumeti vplivne dejavnike.</a:t>
            </a:r>
          </a:p>
          <a:p>
            <a:pPr lvl="1"/>
            <a:endParaRPr lang="sl-SI" sz="1600" noProof="0" dirty="0">
              <a:latin typeface="Arial" charset="0"/>
              <a:cs typeface="Arial" charset="0"/>
            </a:endParaRPr>
          </a:p>
          <a:p>
            <a:pPr lvl="1"/>
            <a:r>
              <a:rPr lang="en-GB" sz="1600" noProof="0" dirty="0" err="1">
                <a:latin typeface="Arial" charset="0"/>
              </a:rPr>
              <a:t>Točnost</a:t>
            </a:r>
            <a:r>
              <a:rPr lang="en-GB" sz="1600" noProof="0" dirty="0">
                <a:latin typeface="Arial" charset="0"/>
              </a:rPr>
              <a:t>:</a:t>
            </a:r>
            <a:r>
              <a:rPr lang="sl-SI" sz="1600" noProof="0" dirty="0">
                <a:latin typeface="Arial" charset="0"/>
              </a:rPr>
              <a:t> Kako velika je sistematična napaka?</a:t>
            </a:r>
            <a:endParaRPr lang="en-GB" noProof="0" dirty="0">
              <a:latin typeface="Arial" charset="0"/>
            </a:endParaRPr>
          </a:p>
          <a:p>
            <a:pPr lvl="2"/>
            <a:r>
              <a:rPr lang="sl-SI" b="1" dirty="0">
                <a:latin typeface="Arial" charset="0"/>
              </a:rPr>
              <a:t>Odmik</a:t>
            </a:r>
            <a:r>
              <a:rPr lang="sl-SI" dirty="0">
                <a:latin typeface="Arial" charset="0"/>
              </a:rPr>
              <a:t>: r</a:t>
            </a:r>
            <a:r>
              <a:rPr lang="en-GB" dirty="0" err="1">
                <a:latin typeface="Arial" charset="0"/>
              </a:rPr>
              <a:t>azlika</a:t>
            </a:r>
            <a:r>
              <a:rPr lang="en-GB" dirty="0">
                <a:latin typeface="Arial" charset="0"/>
              </a:rPr>
              <a:t> med </a:t>
            </a:r>
            <a:r>
              <a:rPr lang="en-GB" b="1" dirty="0" err="1">
                <a:latin typeface="Arial" charset="0"/>
              </a:rPr>
              <a:t>povprečjem</a:t>
            </a:r>
            <a:r>
              <a:rPr lang="en-GB" dirty="0">
                <a:latin typeface="Arial" charset="0"/>
              </a:rPr>
              <a:t> </a:t>
            </a:r>
            <a:r>
              <a:rPr lang="en-GB" dirty="0" err="1">
                <a:latin typeface="Arial" charset="0"/>
              </a:rPr>
              <a:t>meritev</a:t>
            </a:r>
            <a:r>
              <a:rPr lang="en-GB" dirty="0">
                <a:latin typeface="Arial" charset="0"/>
              </a:rPr>
              <a:t> in </a:t>
            </a:r>
            <a:r>
              <a:rPr lang="en-GB" b="1" dirty="0" err="1">
                <a:latin typeface="Arial" charset="0"/>
              </a:rPr>
              <a:t>resnično</a:t>
            </a:r>
            <a:r>
              <a:rPr lang="en-GB" dirty="0">
                <a:latin typeface="Arial" charset="0"/>
              </a:rPr>
              <a:t> </a:t>
            </a:r>
            <a:r>
              <a:rPr lang="en-GB" b="1" dirty="0" err="1">
                <a:latin typeface="Arial" charset="0"/>
              </a:rPr>
              <a:t>vrednostjo</a:t>
            </a:r>
            <a:endParaRPr lang="en-GB" b="1" dirty="0">
              <a:latin typeface="Arial" charset="0"/>
            </a:endParaRPr>
          </a:p>
          <a:p>
            <a:pPr lvl="2"/>
            <a:r>
              <a:rPr lang="en-GB" b="1" noProof="0" dirty="0" err="1">
                <a:latin typeface="Arial" charset="0"/>
              </a:rPr>
              <a:t>Linearnost</a:t>
            </a:r>
            <a:r>
              <a:rPr lang="en-GB" noProof="0" dirty="0">
                <a:latin typeface="Arial" charset="0"/>
              </a:rPr>
              <a:t>: </a:t>
            </a:r>
            <a:r>
              <a:rPr lang="en-GB" noProof="0" dirty="0" err="1">
                <a:latin typeface="Arial" charset="0"/>
              </a:rPr>
              <a:t>enaka</a:t>
            </a:r>
            <a:r>
              <a:rPr lang="en-GB" noProof="0" dirty="0">
                <a:latin typeface="Arial" charset="0"/>
              </a:rPr>
              <a:t> </a:t>
            </a:r>
            <a:r>
              <a:rPr lang="en-GB" noProof="0" dirty="0" err="1">
                <a:latin typeface="Arial" charset="0"/>
              </a:rPr>
              <a:t>točnost</a:t>
            </a:r>
            <a:r>
              <a:rPr lang="en-GB" noProof="0" dirty="0">
                <a:latin typeface="Arial" charset="0"/>
              </a:rPr>
              <a:t> po </a:t>
            </a:r>
            <a:r>
              <a:rPr lang="en-GB" noProof="0" dirty="0" err="1">
                <a:latin typeface="Arial" charset="0"/>
              </a:rPr>
              <a:t>celotnem</a:t>
            </a:r>
            <a:r>
              <a:rPr lang="en-GB" noProof="0" dirty="0">
                <a:latin typeface="Arial" charset="0"/>
              </a:rPr>
              <a:t> </a:t>
            </a:r>
            <a:r>
              <a:rPr lang="en-GB" b="1" noProof="0" dirty="0" err="1">
                <a:latin typeface="Arial" charset="0"/>
              </a:rPr>
              <a:t>merilnem</a:t>
            </a:r>
            <a:r>
              <a:rPr lang="en-GB" noProof="0" dirty="0">
                <a:latin typeface="Arial" charset="0"/>
              </a:rPr>
              <a:t> </a:t>
            </a:r>
            <a:r>
              <a:rPr lang="en-GB" b="1" noProof="0" dirty="0" err="1">
                <a:latin typeface="Arial" charset="0"/>
              </a:rPr>
              <a:t>razponu</a:t>
            </a:r>
            <a:r>
              <a:rPr lang="en-GB" b="1" noProof="0" dirty="0">
                <a:latin typeface="Arial" charset="0"/>
              </a:rPr>
              <a:t> </a:t>
            </a:r>
            <a:r>
              <a:rPr lang="en-GB" b="1" noProof="0" dirty="0" err="1">
                <a:latin typeface="Arial" charset="0"/>
              </a:rPr>
              <a:t>instrumenta</a:t>
            </a:r>
            <a:r>
              <a:rPr lang="en-GB" noProof="0" dirty="0">
                <a:latin typeface="Arial" charset="0"/>
              </a:rPr>
              <a:t>.</a:t>
            </a:r>
            <a:endParaRPr lang="sl-SI" noProof="0" dirty="0">
              <a:latin typeface="Arial" charset="0"/>
            </a:endParaRPr>
          </a:p>
          <a:p>
            <a:pPr lvl="1"/>
            <a:endParaRPr lang="sl-SI" sz="1600" noProof="0" dirty="0">
              <a:latin typeface="Arial" charset="0"/>
              <a:cs typeface="Arial" charset="0"/>
            </a:endParaRPr>
          </a:p>
          <a:p>
            <a:pPr lvl="1"/>
            <a:r>
              <a:rPr lang="en-GB" sz="1600" noProof="0" dirty="0">
                <a:latin typeface="Arial" charset="0"/>
              </a:rPr>
              <a:t>Natančnost: Kako velika je variabilnost meritev?</a:t>
            </a:r>
          </a:p>
          <a:p>
            <a:pPr lvl="2"/>
            <a:r>
              <a:rPr lang="en-GB" b="1" dirty="0" err="1">
                <a:latin typeface="Arial" charset="0"/>
              </a:rPr>
              <a:t>Ponovljivost</a:t>
            </a:r>
            <a:r>
              <a:rPr lang="en-GB" dirty="0">
                <a:latin typeface="Arial" charset="0"/>
              </a:rPr>
              <a:t>: </a:t>
            </a:r>
            <a:r>
              <a:rPr lang="en-GB" dirty="0" err="1">
                <a:latin typeface="Arial" charset="0"/>
              </a:rPr>
              <a:t>kolikšen</a:t>
            </a:r>
            <a:r>
              <a:rPr lang="en-GB" dirty="0">
                <a:latin typeface="Arial" charset="0"/>
              </a:rPr>
              <a:t> je </a:t>
            </a:r>
            <a:r>
              <a:rPr lang="en-GB" dirty="0" err="1">
                <a:latin typeface="Arial" charset="0"/>
              </a:rPr>
              <a:t>delež</a:t>
            </a:r>
            <a:r>
              <a:rPr lang="en-GB" dirty="0">
                <a:latin typeface="Arial" charset="0"/>
              </a:rPr>
              <a:t> </a:t>
            </a:r>
            <a:r>
              <a:rPr lang="en-GB" dirty="0" err="1">
                <a:latin typeface="Arial" charset="0"/>
              </a:rPr>
              <a:t>variabilnosti</a:t>
            </a:r>
            <a:r>
              <a:rPr lang="en-GB" dirty="0">
                <a:latin typeface="Arial" charset="0"/>
              </a:rPr>
              <a:t>, </a:t>
            </a:r>
            <a:r>
              <a:rPr lang="en-GB" dirty="0" err="1">
                <a:latin typeface="Arial" charset="0"/>
              </a:rPr>
              <a:t>ki</a:t>
            </a:r>
            <a:r>
              <a:rPr lang="en-GB" dirty="0">
                <a:latin typeface="Arial" charset="0"/>
              </a:rPr>
              <a:t> </a:t>
            </a:r>
            <a:r>
              <a:rPr lang="en-GB" dirty="0" err="1">
                <a:latin typeface="Arial" charset="0"/>
              </a:rPr>
              <a:t>ga</a:t>
            </a:r>
            <a:r>
              <a:rPr lang="en-GB" dirty="0">
                <a:latin typeface="Arial" charset="0"/>
              </a:rPr>
              <a:t> </a:t>
            </a:r>
            <a:r>
              <a:rPr lang="en-GB" dirty="0" err="1">
                <a:latin typeface="Arial" charset="0"/>
              </a:rPr>
              <a:t>prinaša</a:t>
            </a:r>
            <a:r>
              <a:rPr lang="en-GB" dirty="0">
                <a:latin typeface="Arial" charset="0"/>
              </a:rPr>
              <a:t> </a:t>
            </a:r>
            <a:r>
              <a:rPr lang="en-GB" dirty="0" err="1">
                <a:latin typeface="Arial" charset="0"/>
              </a:rPr>
              <a:t>sam</a:t>
            </a:r>
            <a:r>
              <a:rPr lang="en-GB" dirty="0">
                <a:latin typeface="Arial" charset="0"/>
              </a:rPr>
              <a:t> </a:t>
            </a:r>
            <a:r>
              <a:rPr lang="en-GB" b="1" dirty="0" err="1">
                <a:latin typeface="Arial" charset="0"/>
              </a:rPr>
              <a:t>merilni</a:t>
            </a:r>
            <a:r>
              <a:rPr lang="en-GB" b="1" dirty="0">
                <a:latin typeface="Arial" charset="0"/>
              </a:rPr>
              <a:t> instrument</a:t>
            </a:r>
            <a:r>
              <a:rPr lang="en-GB" dirty="0">
                <a:latin typeface="Arial" charset="0"/>
              </a:rPr>
              <a:t>?</a:t>
            </a:r>
          </a:p>
          <a:p>
            <a:pPr lvl="2"/>
            <a:r>
              <a:rPr lang="en-GB" b="1" noProof="0" dirty="0" err="1">
                <a:latin typeface="Arial" charset="0"/>
              </a:rPr>
              <a:t>Obnovljivost</a:t>
            </a:r>
            <a:r>
              <a:rPr lang="en-GB" noProof="0" dirty="0">
                <a:latin typeface="Arial" charset="0"/>
              </a:rPr>
              <a:t>: kolikšen je delež variabilnosti, ki ga prinašajo </a:t>
            </a:r>
            <a:r>
              <a:rPr lang="en-GB" b="1" noProof="0" dirty="0">
                <a:latin typeface="Arial" charset="0"/>
              </a:rPr>
              <a:t>merilni postopek, operater </a:t>
            </a:r>
            <a:r>
              <a:rPr lang="en-GB" noProof="0" dirty="0">
                <a:latin typeface="Arial" charset="0"/>
              </a:rPr>
              <a:t>itd.?</a:t>
            </a:r>
          </a:p>
          <a:p>
            <a:pPr lvl="2"/>
            <a:r>
              <a:rPr lang="en-GB" b="1" noProof="0" dirty="0" err="1">
                <a:latin typeface="Arial" charset="0"/>
              </a:rPr>
              <a:t>Enakomernost</a:t>
            </a:r>
            <a:r>
              <a:rPr lang="en-GB" noProof="0" dirty="0">
                <a:latin typeface="Arial" charset="0"/>
              </a:rPr>
              <a:t>: ali je variabilnost meritev enaka po celotnem </a:t>
            </a:r>
            <a:r>
              <a:rPr lang="en-GB" b="1" noProof="0" dirty="0" err="1">
                <a:latin typeface="Arial" charset="0"/>
              </a:rPr>
              <a:t>razponu</a:t>
            </a:r>
            <a:r>
              <a:rPr lang="en-GB" b="1" noProof="0" dirty="0">
                <a:latin typeface="Arial" charset="0"/>
              </a:rPr>
              <a:t> </a:t>
            </a:r>
            <a:r>
              <a:rPr lang="en-GB" b="1" noProof="0" dirty="0" err="1">
                <a:latin typeface="Arial" charset="0"/>
              </a:rPr>
              <a:t>instrumenta</a:t>
            </a:r>
            <a:r>
              <a:rPr lang="sl-SI" noProof="0" dirty="0">
                <a:latin typeface="Arial" charset="0"/>
              </a:rPr>
              <a:t>?</a:t>
            </a:r>
            <a:endParaRPr lang="en-GB" noProof="0" dirty="0">
              <a:latin typeface="Arial" charset="0"/>
            </a:endParaRPr>
          </a:p>
          <a:p>
            <a:pPr lvl="1"/>
            <a:endParaRPr lang="sl-SI" sz="1600" noProof="0" dirty="0">
              <a:latin typeface="Arial" charset="0"/>
              <a:cs typeface="Arial" charset="0"/>
            </a:endParaRPr>
          </a:p>
          <a:p>
            <a:pPr lvl="1"/>
            <a:r>
              <a:rPr lang="en-GB" sz="1600" noProof="0" dirty="0">
                <a:latin typeface="Arial" charset="0"/>
              </a:rPr>
              <a:t>Stabilnost: Ali je merilni sistem stabilen v času?</a:t>
            </a:r>
          </a:p>
        </p:txBody>
      </p:sp>
    </p:spTree>
    <p:extLst>
      <p:ext uri="{BB962C8B-B14F-4D97-AF65-F5344CB8AC3E}">
        <p14:creationId xmlns:p14="http://schemas.microsoft.com/office/powerpoint/2010/main" val="3405981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687763" y="1362075"/>
            <a:ext cx="2097087" cy="1985963"/>
            <a:chOff x="3575" y="877"/>
            <a:chExt cx="1321" cy="1251"/>
          </a:xfrm>
        </p:grpSpPr>
        <p:grpSp>
          <p:nvGrpSpPr>
            <p:cNvPr id="3" name="Group 3"/>
            <p:cNvGrpSpPr>
              <a:grpSpLocks/>
            </p:cNvGrpSpPr>
            <p:nvPr/>
          </p:nvGrpSpPr>
          <p:grpSpPr bwMode="auto">
            <a:xfrm>
              <a:off x="3575" y="996"/>
              <a:ext cx="1172" cy="1132"/>
              <a:chOff x="3575" y="996"/>
              <a:chExt cx="1172" cy="1132"/>
            </a:xfrm>
          </p:grpSpPr>
          <p:grpSp>
            <p:nvGrpSpPr>
              <p:cNvPr id="4" name="Group 4"/>
              <p:cNvGrpSpPr>
                <a:grpSpLocks/>
              </p:cNvGrpSpPr>
              <p:nvPr/>
            </p:nvGrpSpPr>
            <p:grpSpPr bwMode="auto">
              <a:xfrm>
                <a:off x="3575" y="996"/>
                <a:ext cx="1172" cy="1132"/>
                <a:chOff x="1785" y="1065"/>
                <a:chExt cx="2190" cy="2190"/>
              </a:xfrm>
            </p:grpSpPr>
            <p:grpSp>
              <p:nvGrpSpPr>
                <p:cNvPr id="5" name="Group 5"/>
                <p:cNvGrpSpPr>
                  <a:grpSpLocks/>
                </p:cNvGrpSpPr>
                <p:nvPr/>
              </p:nvGrpSpPr>
              <p:grpSpPr bwMode="auto">
                <a:xfrm>
                  <a:off x="1785" y="1065"/>
                  <a:ext cx="2190" cy="2190"/>
                  <a:chOff x="1785" y="1065"/>
                  <a:chExt cx="2190" cy="2190"/>
                </a:xfrm>
              </p:grpSpPr>
              <p:sp>
                <p:nvSpPr>
                  <p:cNvPr id="20729" name="Oval 6"/>
                  <p:cNvSpPr>
                    <a:spLocks noChangeArrowheads="1"/>
                  </p:cNvSpPr>
                  <p:nvPr/>
                </p:nvSpPr>
                <p:spPr bwMode="auto">
                  <a:xfrm>
                    <a:off x="1785" y="1065"/>
                    <a:ext cx="2190" cy="2190"/>
                  </a:xfrm>
                  <a:prstGeom prst="ellipse">
                    <a:avLst/>
                  </a:prstGeom>
                  <a:solidFill>
                    <a:srgbClr val="FF0000"/>
                  </a:solidFill>
                  <a:ln w="9525">
                    <a:solidFill>
                      <a:schemeClr val="tx1"/>
                    </a:solidFill>
                    <a:round/>
                    <a:headEnd/>
                    <a:tailEnd/>
                  </a:ln>
                </p:spPr>
                <p:txBody>
                  <a:bodyPr/>
                  <a:lstStyle/>
                  <a:p>
                    <a:endParaRPr lang="en-US"/>
                  </a:p>
                </p:txBody>
              </p:sp>
              <p:sp>
                <p:nvSpPr>
                  <p:cNvPr id="20730" name="Oval 7"/>
                  <p:cNvSpPr>
                    <a:spLocks noChangeArrowheads="1"/>
                  </p:cNvSpPr>
                  <p:nvPr/>
                </p:nvSpPr>
                <p:spPr bwMode="auto">
                  <a:xfrm>
                    <a:off x="2017" y="1286"/>
                    <a:ext cx="1724" cy="1740"/>
                  </a:xfrm>
                  <a:prstGeom prst="ellipse">
                    <a:avLst/>
                  </a:prstGeom>
                  <a:solidFill>
                    <a:srgbClr val="FFFFFF"/>
                  </a:solidFill>
                  <a:ln w="9525">
                    <a:solidFill>
                      <a:schemeClr val="tx1"/>
                    </a:solidFill>
                    <a:round/>
                    <a:headEnd/>
                    <a:tailEnd/>
                  </a:ln>
                </p:spPr>
                <p:txBody>
                  <a:bodyPr/>
                  <a:lstStyle/>
                  <a:p>
                    <a:endParaRPr lang="en-US"/>
                  </a:p>
                </p:txBody>
              </p:sp>
            </p:grpSp>
            <p:sp>
              <p:nvSpPr>
                <p:cNvPr id="20728" name="Oval 8"/>
                <p:cNvSpPr>
                  <a:spLocks noChangeArrowheads="1"/>
                </p:cNvSpPr>
                <p:nvPr/>
              </p:nvSpPr>
              <p:spPr bwMode="auto">
                <a:xfrm>
                  <a:off x="2250" y="1522"/>
                  <a:ext cx="1258" cy="1268"/>
                </a:xfrm>
                <a:prstGeom prst="ellipse">
                  <a:avLst/>
                </a:prstGeom>
                <a:solidFill>
                  <a:srgbClr val="0000FF"/>
                </a:solidFill>
                <a:ln w="9525">
                  <a:solidFill>
                    <a:schemeClr val="tx1"/>
                  </a:solidFill>
                  <a:round/>
                  <a:headEnd/>
                  <a:tailEnd/>
                </a:ln>
              </p:spPr>
              <p:txBody>
                <a:bodyPr/>
                <a:lstStyle/>
                <a:p>
                  <a:endParaRPr lang="en-US"/>
                </a:p>
              </p:txBody>
            </p:sp>
          </p:grpSp>
          <p:sp>
            <p:nvSpPr>
              <p:cNvPr id="20725" name="Oval 9"/>
              <p:cNvSpPr>
                <a:spLocks noChangeArrowheads="1"/>
              </p:cNvSpPr>
              <p:nvPr/>
            </p:nvSpPr>
            <p:spPr bwMode="auto">
              <a:xfrm>
                <a:off x="3946" y="1352"/>
                <a:ext cx="429" cy="416"/>
              </a:xfrm>
              <a:prstGeom prst="ellipse">
                <a:avLst/>
              </a:prstGeom>
              <a:solidFill>
                <a:srgbClr val="FFFFFF"/>
              </a:solidFill>
              <a:ln w="9525">
                <a:solidFill>
                  <a:schemeClr val="tx1"/>
                </a:solidFill>
                <a:round/>
                <a:headEnd/>
                <a:tailEnd/>
              </a:ln>
            </p:spPr>
            <p:txBody>
              <a:bodyPr/>
              <a:lstStyle/>
              <a:p>
                <a:endParaRPr lang="en-US"/>
              </a:p>
            </p:txBody>
          </p:sp>
          <p:sp>
            <p:nvSpPr>
              <p:cNvPr id="20726" name="Oval 10"/>
              <p:cNvSpPr>
                <a:spLocks noChangeArrowheads="1"/>
              </p:cNvSpPr>
              <p:nvPr/>
            </p:nvSpPr>
            <p:spPr bwMode="auto">
              <a:xfrm>
                <a:off x="4071" y="1472"/>
                <a:ext cx="179" cy="176"/>
              </a:xfrm>
              <a:prstGeom prst="ellipse">
                <a:avLst/>
              </a:prstGeom>
              <a:solidFill>
                <a:srgbClr val="FF0000"/>
              </a:solidFill>
              <a:ln w="9525">
                <a:solidFill>
                  <a:schemeClr val="tx1"/>
                </a:solidFill>
                <a:round/>
                <a:headEnd/>
                <a:tailEnd/>
              </a:ln>
            </p:spPr>
            <p:txBody>
              <a:bodyPr/>
              <a:lstStyle/>
              <a:p>
                <a:endParaRPr lang="en-US"/>
              </a:p>
            </p:txBody>
          </p:sp>
        </p:grpSp>
        <p:grpSp>
          <p:nvGrpSpPr>
            <p:cNvPr id="6" name="Group 11"/>
            <p:cNvGrpSpPr>
              <a:grpSpLocks/>
            </p:cNvGrpSpPr>
            <p:nvPr/>
          </p:nvGrpSpPr>
          <p:grpSpPr bwMode="auto">
            <a:xfrm>
              <a:off x="4339" y="877"/>
              <a:ext cx="557" cy="516"/>
              <a:chOff x="2812" y="1263"/>
              <a:chExt cx="1042" cy="998"/>
            </a:xfrm>
          </p:grpSpPr>
          <p:grpSp>
            <p:nvGrpSpPr>
              <p:cNvPr id="7" name="Group 12"/>
              <p:cNvGrpSpPr>
                <a:grpSpLocks/>
              </p:cNvGrpSpPr>
              <p:nvPr/>
            </p:nvGrpSpPr>
            <p:grpSpPr bwMode="auto">
              <a:xfrm>
                <a:off x="2898" y="1456"/>
                <a:ext cx="910" cy="708"/>
                <a:chOff x="2898" y="1456"/>
                <a:chExt cx="910" cy="708"/>
              </a:xfrm>
            </p:grpSpPr>
            <p:sp>
              <p:nvSpPr>
                <p:cNvPr id="20709" name="Freeform 13"/>
                <p:cNvSpPr>
                  <a:spLocks/>
                </p:cNvSpPr>
                <p:nvPr/>
              </p:nvSpPr>
              <p:spPr bwMode="auto">
                <a:xfrm>
                  <a:off x="2907" y="2116"/>
                  <a:ext cx="68" cy="47"/>
                </a:xfrm>
                <a:custGeom>
                  <a:avLst/>
                  <a:gdLst>
                    <a:gd name="T0" fmla="*/ 0 w 68"/>
                    <a:gd name="T1" fmla="*/ 22 h 47"/>
                    <a:gd name="T2" fmla="*/ 31 w 68"/>
                    <a:gd name="T3" fmla="*/ 0 h 47"/>
                    <a:gd name="T4" fmla="*/ 68 w 68"/>
                    <a:gd name="T5" fmla="*/ 47 h 47"/>
                    <a:gd name="T6" fmla="*/ 12 w 68"/>
                    <a:gd name="T7" fmla="*/ 39 h 47"/>
                    <a:gd name="T8" fmla="*/ 0 w 68"/>
                    <a:gd name="T9" fmla="*/ 22 h 47"/>
                    <a:gd name="T10" fmla="*/ 0 60000 65536"/>
                    <a:gd name="T11" fmla="*/ 0 60000 65536"/>
                    <a:gd name="T12" fmla="*/ 0 60000 65536"/>
                    <a:gd name="T13" fmla="*/ 0 60000 65536"/>
                    <a:gd name="T14" fmla="*/ 0 60000 65536"/>
                    <a:gd name="T15" fmla="*/ 0 w 68"/>
                    <a:gd name="T16" fmla="*/ 0 h 47"/>
                    <a:gd name="T17" fmla="*/ 68 w 68"/>
                    <a:gd name="T18" fmla="*/ 47 h 47"/>
                  </a:gdLst>
                  <a:ahLst/>
                  <a:cxnLst>
                    <a:cxn ang="T10">
                      <a:pos x="T0" y="T1"/>
                    </a:cxn>
                    <a:cxn ang="T11">
                      <a:pos x="T2" y="T3"/>
                    </a:cxn>
                    <a:cxn ang="T12">
                      <a:pos x="T4" y="T5"/>
                    </a:cxn>
                    <a:cxn ang="T13">
                      <a:pos x="T6" y="T7"/>
                    </a:cxn>
                    <a:cxn ang="T14">
                      <a:pos x="T8" y="T9"/>
                    </a:cxn>
                  </a:cxnLst>
                  <a:rect l="T15" t="T16" r="T17" b="T18"/>
                  <a:pathLst>
                    <a:path w="68" h="47">
                      <a:moveTo>
                        <a:pt x="0" y="22"/>
                      </a:moveTo>
                      <a:lnTo>
                        <a:pt x="31" y="0"/>
                      </a:lnTo>
                      <a:lnTo>
                        <a:pt x="68" y="47"/>
                      </a:lnTo>
                      <a:lnTo>
                        <a:pt x="12" y="39"/>
                      </a:lnTo>
                      <a:lnTo>
                        <a:pt x="0" y="22"/>
                      </a:lnTo>
                      <a:close/>
                    </a:path>
                  </a:pathLst>
                </a:custGeom>
                <a:solidFill>
                  <a:srgbClr val="3F3F3F"/>
                </a:solidFill>
                <a:ln w="9525">
                  <a:solidFill>
                    <a:schemeClr val="tx1"/>
                  </a:solidFill>
                  <a:round/>
                  <a:headEnd/>
                  <a:tailEnd/>
                </a:ln>
              </p:spPr>
              <p:txBody>
                <a:bodyPr/>
                <a:lstStyle/>
                <a:p>
                  <a:endParaRPr lang="sv-SE"/>
                </a:p>
              </p:txBody>
            </p:sp>
            <p:sp>
              <p:nvSpPr>
                <p:cNvPr id="20710" name="Freeform 14"/>
                <p:cNvSpPr>
                  <a:spLocks/>
                </p:cNvSpPr>
                <p:nvPr/>
              </p:nvSpPr>
              <p:spPr bwMode="auto">
                <a:xfrm>
                  <a:off x="2898" y="2046"/>
                  <a:ext cx="39" cy="92"/>
                </a:xfrm>
                <a:custGeom>
                  <a:avLst/>
                  <a:gdLst>
                    <a:gd name="T0" fmla="*/ 25 w 39"/>
                    <a:gd name="T1" fmla="*/ 0 h 92"/>
                    <a:gd name="T2" fmla="*/ 39 w 39"/>
                    <a:gd name="T3" fmla="*/ 70 h 92"/>
                    <a:gd name="T4" fmla="*/ 9 w 39"/>
                    <a:gd name="T5" fmla="*/ 92 h 92"/>
                    <a:gd name="T6" fmla="*/ 0 w 39"/>
                    <a:gd name="T7" fmla="*/ 71 h 92"/>
                    <a:gd name="T8" fmla="*/ 25 w 39"/>
                    <a:gd name="T9" fmla="*/ 0 h 92"/>
                    <a:gd name="T10" fmla="*/ 0 60000 65536"/>
                    <a:gd name="T11" fmla="*/ 0 60000 65536"/>
                    <a:gd name="T12" fmla="*/ 0 60000 65536"/>
                    <a:gd name="T13" fmla="*/ 0 60000 65536"/>
                    <a:gd name="T14" fmla="*/ 0 60000 65536"/>
                    <a:gd name="T15" fmla="*/ 0 w 39"/>
                    <a:gd name="T16" fmla="*/ 0 h 92"/>
                    <a:gd name="T17" fmla="*/ 39 w 39"/>
                    <a:gd name="T18" fmla="*/ 92 h 92"/>
                  </a:gdLst>
                  <a:ahLst/>
                  <a:cxnLst>
                    <a:cxn ang="T10">
                      <a:pos x="T0" y="T1"/>
                    </a:cxn>
                    <a:cxn ang="T11">
                      <a:pos x="T2" y="T3"/>
                    </a:cxn>
                    <a:cxn ang="T12">
                      <a:pos x="T4" y="T5"/>
                    </a:cxn>
                    <a:cxn ang="T13">
                      <a:pos x="T6" y="T7"/>
                    </a:cxn>
                    <a:cxn ang="T14">
                      <a:pos x="T8" y="T9"/>
                    </a:cxn>
                  </a:cxnLst>
                  <a:rect l="T15" t="T16" r="T17" b="T18"/>
                  <a:pathLst>
                    <a:path w="39" h="92">
                      <a:moveTo>
                        <a:pt x="25" y="0"/>
                      </a:moveTo>
                      <a:lnTo>
                        <a:pt x="39" y="70"/>
                      </a:lnTo>
                      <a:lnTo>
                        <a:pt x="9" y="92"/>
                      </a:lnTo>
                      <a:lnTo>
                        <a:pt x="0" y="71"/>
                      </a:lnTo>
                      <a:lnTo>
                        <a:pt x="25" y="0"/>
                      </a:lnTo>
                      <a:close/>
                    </a:path>
                  </a:pathLst>
                </a:custGeom>
                <a:solidFill>
                  <a:srgbClr val="5F5F5F"/>
                </a:solidFill>
                <a:ln w="9525">
                  <a:solidFill>
                    <a:schemeClr val="tx1"/>
                  </a:solidFill>
                  <a:round/>
                  <a:headEnd/>
                  <a:tailEnd/>
                </a:ln>
              </p:spPr>
              <p:txBody>
                <a:bodyPr/>
                <a:lstStyle/>
                <a:p>
                  <a:endParaRPr lang="sv-SE"/>
                </a:p>
              </p:txBody>
            </p:sp>
            <p:sp>
              <p:nvSpPr>
                <p:cNvPr id="20711" name="Freeform 15"/>
                <p:cNvSpPr>
                  <a:spLocks/>
                </p:cNvSpPr>
                <p:nvPr/>
              </p:nvSpPr>
              <p:spPr bwMode="auto">
                <a:xfrm>
                  <a:off x="2924" y="2045"/>
                  <a:ext cx="52" cy="119"/>
                </a:xfrm>
                <a:custGeom>
                  <a:avLst/>
                  <a:gdLst>
                    <a:gd name="T0" fmla="*/ 0 w 52"/>
                    <a:gd name="T1" fmla="*/ 0 h 119"/>
                    <a:gd name="T2" fmla="*/ 13 w 52"/>
                    <a:gd name="T3" fmla="*/ 73 h 119"/>
                    <a:gd name="T4" fmla="*/ 52 w 52"/>
                    <a:gd name="T5" fmla="*/ 119 h 119"/>
                    <a:gd name="T6" fmla="*/ 35 w 52"/>
                    <a:gd name="T7" fmla="*/ 62 h 119"/>
                    <a:gd name="T8" fmla="*/ 0 w 52"/>
                    <a:gd name="T9" fmla="*/ 0 h 119"/>
                    <a:gd name="T10" fmla="*/ 0 60000 65536"/>
                    <a:gd name="T11" fmla="*/ 0 60000 65536"/>
                    <a:gd name="T12" fmla="*/ 0 60000 65536"/>
                    <a:gd name="T13" fmla="*/ 0 60000 65536"/>
                    <a:gd name="T14" fmla="*/ 0 60000 65536"/>
                    <a:gd name="T15" fmla="*/ 0 w 52"/>
                    <a:gd name="T16" fmla="*/ 0 h 119"/>
                    <a:gd name="T17" fmla="*/ 52 w 52"/>
                    <a:gd name="T18" fmla="*/ 119 h 119"/>
                  </a:gdLst>
                  <a:ahLst/>
                  <a:cxnLst>
                    <a:cxn ang="T10">
                      <a:pos x="T0" y="T1"/>
                    </a:cxn>
                    <a:cxn ang="T11">
                      <a:pos x="T2" y="T3"/>
                    </a:cxn>
                    <a:cxn ang="T12">
                      <a:pos x="T4" y="T5"/>
                    </a:cxn>
                    <a:cxn ang="T13">
                      <a:pos x="T6" y="T7"/>
                    </a:cxn>
                    <a:cxn ang="T14">
                      <a:pos x="T8" y="T9"/>
                    </a:cxn>
                  </a:cxnLst>
                  <a:rect l="T15" t="T16" r="T17" b="T18"/>
                  <a:pathLst>
                    <a:path w="52" h="119">
                      <a:moveTo>
                        <a:pt x="0" y="0"/>
                      </a:moveTo>
                      <a:lnTo>
                        <a:pt x="13" y="73"/>
                      </a:lnTo>
                      <a:lnTo>
                        <a:pt x="52" y="119"/>
                      </a:lnTo>
                      <a:lnTo>
                        <a:pt x="35" y="62"/>
                      </a:lnTo>
                      <a:lnTo>
                        <a:pt x="0" y="0"/>
                      </a:lnTo>
                      <a:close/>
                    </a:path>
                  </a:pathLst>
                </a:custGeom>
                <a:solidFill>
                  <a:srgbClr val="9F9F9F"/>
                </a:solidFill>
                <a:ln w="9525">
                  <a:solidFill>
                    <a:schemeClr val="tx1"/>
                  </a:solidFill>
                  <a:round/>
                  <a:headEnd/>
                  <a:tailEnd/>
                </a:ln>
              </p:spPr>
              <p:txBody>
                <a:bodyPr/>
                <a:lstStyle/>
                <a:p>
                  <a:endParaRPr lang="sv-SE"/>
                </a:p>
              </p:txBody>
            </p:sp>
            <p:grpSp>
              <p:nvGrpSpPr>
                <p:cNvPr id="8" name="Group 16"/>
                <p:cNvGrpSpPr>
                  <a:grpSpLocks/>
                </p:cNvGrpSpPr>
                <p:nvPr/>
              </p:nvGrpSpPr>
              <p:grpSpPr bwMode="auto">
                <a:xfrm>
                  <a:off x="2931" y="1456"/>
                  <a:ext cx="877" cy="674"/>
                  <a:chOff x="2931" y="1456"/>
                  <a:chExt cx="877" cy="674"/>
                </a:xfrm>
              </p:grpSpPr>
              <p:sp>
                <p:nvSpPr>
                  <p:cNvPr id="20713" name="Freeform 17"/>
                  <p:cNvSpPr>
                    <a:spLocks/>
                  </p:cNvSpPr>
                  <p:nvPr/>
                </p:nvSpPr>
                <p:spPr bwMode="auto">
                  <a:xfrm>
                    <a:off x="2931" y="1646"/>
                    <a:ext cx="756" cy="484"/>
                  </a:xfrm>
                  <a:custGeom>
                    <a:avLst/>
                    <a:gdLst>
                      <a:gd name="T0" fmla="*/ 611 w 756"/>
                      <a:gd name="T1" fmla="*/ 0 h 484"/>
                      <a:gd name="T2" fmla="*/ 16 w 756"/>
                      <a:gd name="T3" fmla="*/ 442 h 484"/>
                      <a:gd name="T4" fmla="*/ 9 w 756"/>
                      <a:gd name="T5" fmla="*/ 447 h 484"/>
                      <a:gd name="T6" fmla="*/ 3 w 756"/>
                      <a:gd name="T7" fmla="*/ 456 h 484"/>
                      <a:gd name="T8" fmla="*/ 0 w 756"/>
                      <a:gd name="T9" fmla="*/ 467 h 484"/>
                      <a:gd name="T10" fmla="*/ 4 w 756"/>
                      <a:gd name="T11" fmla="*/ 477 h 484"/>
                      <a:gd name="T12" fmla="*/ 12 w 756"/>
                      <a:gd name="T13" fmla="*/ 482 h 484"/>
                      <a:gd name="T14" fmla="*/ 20 w 756"/>
                      <a:gd name="T15" fmla="*/ 484 h 484"/>
                      <a:gd name="T16" fmla="*/ 31 w 756"/>
                      <a:gd name="T17" fmla="*/ 480 h 484"/>
                      <a:gd name="T18" fmla="*/ 756 w 756"/>
                      <a:gd name="T19" fmla="*/ 144 h 484"/>
                      <a:gd name="T20" fmla="*/ 611 w 756"/>
                      <a:gd name="T21" fmla="*/ 0 h 4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6"/>
                      <a:gd name="T34" fmla="*/ 0 h 484"/>
                      <a:gd name="T35" fmla="*/ 756 w 756"/>
                      <a:gd name="T36" fmla="*/ 484 h 4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6" h="484">
                        <a:moveTo>
                          <a:pt x="611" y="0"/>
                        </a:moveTo>
                        <a:lnTo>
                          <a:pt x="16" y="442"/>
                        </a:lnTo>
                        <a:lnTo>
                          <a:pt x="9" y="447"/>
                        </a:lnTo>
                        <a:lnTo>
                          <a:pt x="3" y="456"/>
                        </a:lnTo>
                        <a:lnTo>
                          <a:pt x="0" y="467"/>
                        </a:lnTo>
                        <a:lnTo>
                          <a:pt x="4" y="477"/>
                        </a:lnTo>
                        <a:lnTo>
                          <a:pt x="12" y="482"/>
                        </a:lnTo>
                        <a:lnTo>
                          <a:pt x="20" y="484"/>
                        </a:lnTo>
                        <a:lnTo>
                          <a:pt x="31" y="480"/>
                        </a:lnTo>
                        <a:lnTo>
                          <a:pt x="756" y="144"/>
                        </a:lnTo>
                        <a:lnTo>
                          <a:pt x="611" y="0"/>
                        </a:lnTo>
                        <a:close/>
                      </a:path>
                    </a:pathLst>
                  </a:custGeom>
                  <a:solidFill>
                    <a:srgbClr val="808080"/>
                  </a:solidFill>
                  <a:ln w="9525">
                    <a:solidFill>
                      <a:schemeClr val="tx1"/>
                    </a:solidFill>
                    <a:round/>
                    <a:headEnd/>
                    <a:tailEnd/>
                  </a:ln>
                </p:spPr>
                <p:txBody>
                  <a:bodyPr/>
                  <a:lstStyle/>
                  <a:p>
                    <a:endParaRPr lang="sv-SE"/>
                  </a:p>
                </p:txBody>
              </p:sp>
              <p:sp>
                <p:nvSpPr>
                  <p:cNvPr id="20714" name="Freeform 18"/>
                  <p:cNvSpPr>
                    <a:spLocks/>
                  </p:cNvSpPr>
                  <p:nvPr/>
                </p:nvSpPr>
                <p:spPr bwMode="auto">
                  <a:xfrm>
                    <a:off x="3485" y="1620"/>
                    <a:ext cx="252" cy="116"/>
                  </a:xfrm>
                  <a:custGeom>
                    <a:avLst/>
                    <a:gdLst>
                      <a:gd name="T0" fmla="*/ 13 w 252"/>
                      <a:gd name="T1" fmla="*/ 62 h 116"/>
                      <a:gd name="T2" fmla="*/ 108 w 252"/>
                      <a:gd name="T3" fmla="*/ 0 h 116"/>
                      <a:gd name="T4" fmla="*/ 252 w 252"/>
                      <a:gd name="T5" fmla="*/ 106 h 116"/>
                      <a:gd name="T6" fmla="*/ 231 w 252"/>
                      <a:gd name="T7" fmla="*/ 116 h 116"/>
                      <a:gd name="T8" fmla="*/ 99 w 252"/>
                      <a:gd name="T9" fmla="*/ 35 h 116"/>
                      <a:gd name="T10" fmla="*/ 0 w 252"/>
                      <a:gd name="T11" fmla="*/ 90 h 116"/>
                      <a:gd name="T12" fmla="*/ 13 w 252"/>
                      <a:gd name="T13" fmla="*/ 62 h 116"/>
                      <a:gd name="T14" fmla="*/ 0 60000 65536"/>
                      <a:gd name="T15" fmla="*/ 0 60000 65536"/>
                      <a:gd name="T16" fmla="*/ 0 60000 65536"/>
                      <a:gd name="T17" fmla="*/ 0 60000 65536"/>
                      <a:gd name="T18" fmla="*/ 0 60000 65536"/>
                      <a:gd name="T19" fmla="*/ 0 60000 65536"/>
                      <a:gd name="T20" fmla="*/ 0 60000 65536"/>
                      <a:gd name="T21" fmla="*/ 0 w 252"/>
                      <a:gd name="T22" fmla="*/ 0 h 116"/>
                      <a:gd name="T23" fmla="*/ 252 w 252"/>
                      <a:gd name="T24" fmla="*/ 116 h 1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116">
                        <a:moveTo>
                          <a:pt x="13" y="62"/>
                        </a:moveTo>
                        <a:lnTo>
                          <a:pt x="108" y="0"/>
                        </a:lnTo>
                        <a:lnTo>
                          <a:pt x="252" y="106"/>
                        </a:lnTo>
                        <a:lnTo>
                          <a:pt x="231" y="116"/>
                        </a:lnTo>
                        <a:lnTo>
                          <a:pt x="99" y="35"/>
                        </a:lnTo>
                        <a:lnTo>
                          <a:pt x="0" y="90"/>
                        </a:lnTo>
                        <a:lnTo>
                          <a:pt x="13" y="62"/>
                        </a:lnTo>
                        <a:close/>
                      </a:path>
                    </a:pathLst>
                  </a:custGeom>
                  <a:solidFill>
                    <a:srgbClr val="808080"/>
                  </a:solidFill>
                  <a:ln w="9525">
                    <a:solidFill>
                      <a:schemeClr val="tx1"/>
                    </a:solidFill>
                    <a:round/>
                    <a:headEnd/>
                    <a:tailEnd/>
                  </a:ln>
                </p:spPr>
                <p:txBody>
                  <a:bodyPr/>
                  <a:lstStyle/>
                  <a:p>
                    <a:endParaRPr lang="sv-SE"/>
                  </a:p>
                </p:txBody>
              </p:sp>
              <p:sp>
                <p:nvSpPr>
                  <p:cNvPr id="20715" name="Freeform 19"/>
                  <p:cNvSpPr>
                    <a:spLocks/>
                  </p:cNvSpPr>
                  <p:nvPr/>
                </p:nvSpPr>
                <p:spPr bwMode="auto">
                  <a:xfrm>
                    <a:off x="3481" y="1600"/>
                    <a:ext cx="240" cy="233"/>
                  </a:xfrm>
                  <a:custGeom>
                    <a:avLst/>
                    <a:gdLst>
                      <a:gd name="T0" fmla="*/ 124 w 240"/>
                      <a:gd name="T1" fmla="*/ 0 h 233"/>
                      <a:gd name="T2" fmla="*/ 11 w 240"/>
                      <a:gd name="T3" fmla="*/ 82 h 233"/>
                      <a:gd name="T4" fmla="*/ 6 w 240"/>
                      <a:gd name="T5" fmla="*/ 94 h 233"/>
                      <a:gd name="T6" fmla="*/ 2 w 240"/>
                      <a:gd name="T7" fmla="*/ 108 h 233"/>
                      <a:gd name="T8" fmla="*/ 0 w 240"/>
                      <a:gd name="T9" fmla="*/ 126 h 233"/>
                      <a:gd name="T10" fmla="*/ 0 w 240"/>
                      <a:gd name="T11" fmla="*/ 142 h 233"/>
                      <a:gd name="T12" fmla="*/ 3 w 240"/>
                      <a:gd name="T13" fmla="*/ 160 h 233"/>
                      <a:gd name="T14" fmla="*/ 8 w 240"/>
                      <a:gd name="T15" fmla="*/ 175 h 233"/>
                      <a:gd name="T16" fmla="*/ 18 w 240"/>
                      <a:gd name="T17" fmla="*/ 190 h 233"/>
                      <a:gd name="T18" fmla="*/ 30 w 240"/>
                      <a:gd name="T19" fmla="*/ 203 h 233"/>
                      <a:gd name="T20" fmla="*/ 47 w 240"/>
                      <a:gd name="T21" fmla="*/ 215 h 233"/>
                      <a:gd name="T22" fmla="*/ 61 w 240"/>
                      <a:gd name="T23" fmla="*/ 224 h 233"/>
                      <a:gd name="T24" fmla="*/ 78 w 240"/>
                      <a:gd name="T25" fmla="*/ 229 h 233"/>
                      <a:gd name="T26" fmla="*/ 95 w 240"/>
                      <a:gd name="T27" fmla="*/ 233 h 233"/>
                      <a:gd name="T28" fmla="*/ 111 w 240"/>
                      <a:gd name="T29" fmla="*/ 233 h 233"/>
                      <a:gd name="T30" fmla="*/ 240 w 240"/>
                      <a:gd name="T31" fmla="*/ 175 h 233"/>
                      <a:gd name="T32" fmla="*/ 108 w 240"/>
                      <a:gd name="T33" fmla="*/ 47 h 233"/>
                      <a:gd name="T34" fmla="*/ 13 w 240"/>
                      <a:gd name="T35" fmla="*/ 102 h 233"/>
                      <a:gd name="T36" fmla="*/ 20 w 240"/>
                      <a:gd name="T37" fmla="*/ 84 h 233"/>
                      <a:gd name="T38" fmla="*/ 118 w 240"/>
                      <a:gd name="T39" fmla="*/ 22 h 233"/>
                      <a:gd name="T40" fmla="*/ 124 w 240"/>
                      <a:gd name="T41" fmla="*/ 0 h 2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0"/>
                      <a:gd name="T64" fmla="*/ 0 h 233"/>
                      <a:gd name="T65" fmla="*/ 240 w 240"/>
                      <a:gd name="T66" fmla="*/ 233 h 2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0" h="233">
                        <a:moveTo>
                          <a:pt x="124" y="0"/>
                        </a:moveTo>
                        <a:lnTo>
                          <a:pt x="11" y="82"/>
                        </a:lnTo>
                        <a:lnTo>
                          <a:pt x="6" y="94"/>
                        </a:lnTo>
                        <a:lnTo>
                          <a:pt x="2" y="108"/>
                        </a:lnTo>
                        <a:lnTo>
                          <a:pt x="0" y="126"/>
                        </a:lnTo>
                        <a:lnTo>
                          <a:pt x="0" y="142"/>
                        </a:lnTo>
                        <a:lnTo>
                          <a:pt x="3" y="160"/>
                        </a:lnTo>
                        <a:lnTo>
                          <a:pt x="8" y="175"/>
                        </a:lnTo>
                        <a:lnTo>
                          <a:pt x="18" y="190"/>
                        </a:lnTo>
                        <a:lnTo>
                          <a:pt x="30" y="203"/>
                        </a:lnTo>
                        <a:lnTo>
                          <a:pt x="47" y="215"/>
                        </a:lnTo>
                        <a:lnTo>
                          <a:pt x="61" y="224"/>
                        </a:lnTo>
                        <a:lnTo>
                          <a:pt x="78" y="229"/>
                        </a:lnTo>
                        <a:lnTo>
                          <a:pt x="95" y="233"/>
                        </a:lnTo>
                        <a:lnTo>
                          <a:pt x="111" y="233"/>
                        </a:lnTo>
                        <a:lnTo>
                          <a:pt x="240" y="175"/>
                        </a:lnTo>
                        <a:lnTo>
                          <a:pt x="108" y="47"/>
                        </a:lnTo>
                        <a:lnTo>
                          <a:pt x="13" y="102"/>
                        </a:lnTo>
                        <a:lnTo>
                          <a:pt x="20" y="84"/>
                        </a:lnTo>
                        <a:lnTo>
                          <a:pt x="118" y="22"/>
                        </a:lnTo>
                        <a:lnTo>
                          <a:pt x="124" y="0"/>
                        </a:lnTo>
                        <a:close/>
                      </a:path>
                    </a:pathLst>
                  </a:custGeom>
                  <a:solidFill>
                    <a:srgbClr val="C0C0C0"/>
                  </a:solidFill>
                  <a:ln w="9525">
                    <a:solidFill>
                      <a:schemeClr val="tx1"/>
                    </a:solidFill>
                    <a:round/>
                    <a:headEnd/>
                    <a:tailEnd/>
                  </a:ln>
                </p:spPr>
                <p:txBody>
                  <a:bodyPr/>
                  <a:lstStyle/>
                  <a:p>
                    <a:endParaRPr lang="sv-SE"/>
                  </a:p>
                </p:txBody>
              </p:sp>
              <p:sp>
                <p:nvSpPr>
                  <p:cNvPr id="20716" name="Freeform 20"/>
                  <p:cNvSpPr>
                    <a:spLocks/>
                  </p:cNvSpPr>
                  <p:nvPr/>
                </p:nvSpPr>
                <p:spPr bwMode="auto">
                  <a:xfrm>
                    <a:off x="3590" y="1646"/>
                    <a:ext cx="145" cy="131"/>
                  </a:xfrm>
                  <a:custGeom>
                    <a:avLst/>
                    <a:gdLst>
                      <a:gd name="T0" fmla="*/ 0 w 145"/>
                      <a:gd name="T1" fmla="*/ 0 h 131"/>
                      <a:gd name="T2" fmla="*/ 3 w 145"/>
                      <a:gd name="T3" fmla="*/ 12 h 131"/>
                      <a:gd name="T4" fmla="*/ 6 w 145"/>
                      <a:gd name="T5" fmla="*/ 22 h 131"/>
                      <a:gd name="T6" fmla="*/ 9 w 145"/>
                      <a:gd name="T7" fmla="*/ 32 h 131"/>
                      <a:gd name="T8" fmla="*/ 14 w 145"/>
                      <a:gd name="T9" fmla="*/ 45 h 131"/>
                      <a:gd name="T10" fmla="*/ 20 w 145"/>
                      <a:gd name="T11" fmla="*/ 57 h 131"/>
                      <a:gd name="T12" fmla="*/ 30 w 145"/>
                      <a:gd name="T13" fmla="*/ 73 h 131"/>
                      <a:gd name="T14" fmla="*/ 42 w 145"/>
                      <a:gd name="T15" fmla="*/ 86 h 131"/>
                      <a:gd name="T16" fmla="*/ 56 w 145"/>
                      <a:gd name="T17" fmla="*/ 98 h 131"/>
                      <a:gd name="T18" fmla="*/ 70 w 145"/>
                      <a:gd name="T19" fmla="*/ 109 h 131"/>
                      <a:gd name="T20" fmla="*/ 84 w 145"/>
                      <a:gd name="T21" fmla="*/ 118 h 131"/>
                      <a:gd name="T22" fmla="*/ 99 w 145"/>
                      <a:gd name="T23" fmla="*/ 125 h 131"/>
                      <a:gd name="T24" fmla="*/ 112 w 145"/>
                      <a:gd name="T25" fmla="*/ 130 h 131"/>
                      <a:gd name="T26" fmla="*/ 120 w 145"/>
                      <a:gd name="T27" fmla="*/ 131 h 131"/>
                      <a:gd name="T28" fmla="*/ 130 w 145"/>
                      <a:gd name="T29" fmla="*/ 128 h 131"/>
                      <a:gd name="T30" fmla="*/ 136 w 145"/>
                      <a:gd name="T31" fmla="*/ 120 h 131"/>
                      <a:gd name="T32" fmla="*/ 141 w 145"/>
                      <a:gd name="T33" fmla="*/ 109 h 131"/>
                      <a:gd name="T34" fmla="*/ 145 w 145"/>
                      <a:gd name="T35" fmla="*/ 96 h 131"/>
                      <a:gd name="T36" fmla="*/ 0 w 145"/>
                      <a:gd name="T37" fmla="*/ 0 h 1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131"/>
                      <a:gd name="T59" fmla="*/ 145 w 145"/>
                      <a:gd name="T60" fmla="*/ 131 h 1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131">
                        <a:moveTo>
                          <a:pt x="0" y="0"/>
                        </a:moveTo>
                        <a:lnTo>
                          <a:pt x="3" y="12"/>
                        </a:lnTo>
                        <a:lnTo>
                          <a:pt x="6" y="22"/>
                        </a:lnTo>
                        <a:lnTo>
                          <a:pt x="9" y="32"/>
                        </a:lnTo>
                        <a:lnTo>
                          <a:pt x="14" y="45"/>
                        </a:lnTo>
                        <a:lnTo>
                          <a:pt x="20" y="57"/>
                        </a:lnTo>
                        <a:lnTo>
                          <a:pt x="30" y="73"/>
                        </a:lnTo>
                        <a:lnTo>
                          <a:pt x="42" y="86"/>
                        </a:lnTo>
                        <a:lnTo>
                          <a:pt x="56" y="98"/>
                        </a:lnTo>
                        <a:lnTo>
                          <a:pt x="70" y="109"/>
                        </a:lnTo>
                        <a:lnTo>
                          <a:pt x="84" y="118"/>
                        </a:lnTo>
                        <a:lnTo>
                          <a:pt x="99" y="125"/>
                        </a:lnTo>
                        <a:lnTo>
                          <a:pt x="112" y="130"/>
                        </a:lnTo>
                        <a:lnTo>
                          <a:pt x="120" y="131"/>
                        </a:lnTo>
                        <a:lnTo>
                          <a:pt x="130" y="128"/>
                        </a:lnTo>
                        <a:lnTo>
                          <a:pt x="136" y="120"/>
                        </a:lnTo>
                        <a:lnTo>
                          <a:pt x="141" y="109"/>
                        </a:lnTo>
                        <a:lnTo>
                          <a:pt x="145" y="96"/>
                        </a:lnTo>
                        <a:lnTo>
                          <a:pt x="0" y="0"/>
                        </a:lnTo>
                        <a:close/>
                      </a:path>
                    </a:pathLst>
                  </a:custGeom>
                  <a:solidFill>
                    <a:srgbClr val="9F9F9F"/>
                  </a:solidFill>
                  <a:ln w="9525">
                    <a:solidFill>
                      <a:schemeClr val="tx1"/>
                    </a:solidFill>
                    <a:round/>
                    <a:headEnd/>
                    <a:tailEnd/>
                  </a:ln>
                </p:spPr>
                <p:txBody>
                  <a:bodyPr/>
                  <a:lstStyle/>
                  <a:p>
                    <a:endParaRPr lang="sv-SE"/>
                  </a:p>
                </p:txBody>
              </p:sp>
              <p:sp>
                <p:nvSpPr>
                  <p:cNvPr id="20717" name="Freeform 21"/>
                  <p:cNvSpPr>
                    <a:spLocks/>
                  </p:cNvSpPr>
                  <p:nvPr/>
                </p:nvSpPr>
                <p:spPr bwMode="auto">
                  <a:xfrm>
                    <a:off x="3591" y="1597"/>
                    <a:ext cx="147" cy="129"/>
                  </a:xfrm>
                  <a:custGeom>
                    <a:avLst/>
                    <a:gdLst>
                      <a:gd name="T0" fmla="*/ 0 w 147"/>
                      <a:gd name="T1" fmla="*/ 31 h 129"/>
                      <a:gd name="T2" fmla="*/ 0 w 147"/>
                      <a:gd name="T3" fmla="*/ 22 h 129"/>
                      <a:gd name="T4" fmla="*/ 4 w 147"/>
                      <a:gd name="T5" fmla="*/ 12 h 129"/>
                      <a:gd name="T6" fmla="*/ 15 w 147"/>
                      <a:gd name="T7" fmla="*/ 3 h 129"/>
                      <a:gd name="T8" fmla="*/ 27 w 147"/>
                      <a:gd name="T9" fmla="*/ 0 h 129"/>
                      <a:gd name="T10" fmla="*/ 39 w 147"/>
                      <a:gd name="T11" fmla="*/ 0 h 129"/>
                      <a:gd name="T12" fmla="*/ 54 w 147"/>
                      <a:gd name="T13" fmla="*/ 3 h 129"/>
                      <a:gd name="T14" fmla="*/ 72 w 147"/>
                      <a:gd name="T15" fmla="*/ 10 h 129"/>
                      <a:gd name="T16" fmla="*/ 88 w 147"/>
                      <a:gd name="T17" fmla="*/ 17 h 129"/>
                      <a:gd name="T18" fmla="*/ 104 w 147"/>
                      <a:gd name="T19" fmla="*/ 28 h 129"/>
                      <a:gd name="T20" fmla="*/ 115 w 147"/>
                      <a:gd name="T21" fmla="*/ 38 h 129"/>
                      <a:gd name="T22" fmla="*/ 125 w 147"/>
                      <a:gd name="T23" fmla="*/ 50 h 129"/>
                      <a:gd name="T24" fmla="*/ 132 w 147"/>
                      <a:gd name="T25" fmla="*/ 63 h 129"/>
                      <a:gd name="T26" fmla="*/ 138 w 147"/>
                      <a:gd name="T27" fmla="*/ 77 h 129"/>
                      <a:gd name="T28" fmla="*/ 144 w 147"/>
                      <a:gd name="T29" fmla="*/ 96 h 129"/>
                      <a:gd name="T30" fmla="*/ 147 w 147"/>
                      <a:gd name="T31" fmla="*/ 113 h 129"/>
                      <a:gd name="T32" fmla="*/ 146 w 147"/>
                      <a:gd name="T33" fmla="*/ 129 h 129"/>
                      <a:gd name="T34" fmla="*/ 0 w 147"/>
                      <a:gd name="T35" fmla="*/ 31 h 1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7"/>
                      <a:gd name="T55" fmla="*/ 0 h 129"/>
                      <a:gd name="T56" fmla="*/ 147 w 147"/>
                      <a:gd name="T57" fmla="*/ 129 h 1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7" h="129">
                        <a:moveTo>
                          <a:pt x="0" y="31"/>
                        </a:moveTo>
                        <a:lnTo>
                          <a:pt x="0" y="22"/>
                        </a:lnTo>
                        <a:lnTo>
                          <a:pt x="4" y="12"/>
                        </a:lnTo>
                        <a:lnTo>
                          <a:pt x="15" y="3"/>
                        </a:lnTo>
                        <a:lnTo>
                          <a:pt x="27" y="0"/>
                        </a:lnTo>
                        <a:lnTo>
                          <a:pt x="39" y="0"/>
                        </a:lnTo>
                        <a:lnTo>
                          <a:pt x="54" y="3"/>
                        </a:lnTo>
                        <a:lnTo>
                          <a:pt x="72" y="10"/>
                        </a:lnTo>
                        <a:lnTo>
                          <a:pt x="88" y="17"/>
                        </a:lnTo>
                        <a:lnTo>
                          <a:pt x="104" y="28"/>
                        </a:lnTo>
                        <a:lnTo>
                          <a:pt x="115" y="38"/>
                        </a:lnTo>
                        <a:lnTo>
                          <a:pt x="125" y="50"/>
                        </a:lnTo>
                        <a:lnTo>
                          <a:pt x="132" y="63"/>
                        </a:lnTo>
                        <a:lnTo>
                          <a:pt x="138" y="77"/>
                        </a:lnTo>
                        <a:lnTo>
                          <a:pt x="144" y="96"/>
                        </a:lnTo>
                        <a:lnTo>
                          <a:pt x="147" y="113"/>
                        </a:lnTo>
                        <a:lnTo>
                          <a:pt x="146" y="129"/>
                        </a:lnTo>
                        <a:lnTo>
                          <a:pt x="0" y="31"/>
                        </a:lnTo>
                        <a:close/>
                      </a:path>
                    </a:pathLst>
                  </a:custGeom>
                  <a:solidFill>
                    <a:srgbClr val="9F9F9F"/>
                  </a:solidFill>
                  <a:ln w="9525">
                    <a:solidFill>
                      <a:schemeClr val="tx1"/>
                    </a:solidFill>
                    <a:round/>
                    <a:headEnd/>
                    <a:tailEnd/>
                  </a:ln>
                </p:spPr>
                <p:txBody>
                  <a:bodyPr/>
                  <a:lstStyle/>
                  <a:p>
                    <a:endParaRPr lang="sv-SE"/>
                  </a:p>
                </p:txBody>
              </p:sp>
              <p:sp>
                <p:nvSpPr>
                  <p:cNvPr id="20718" name="Freeform 22"/>
                  <p:cNvSpPr>
                    <a:spLocks/>
                  </p:cNvSpPr>
                  <p:nvPr/>
                </p:nvSpPr>
                <p:spPr bwMode="auto">
                  <a:xfrm>
                    <a:off x="3254" y="1456"/>
                    <a:ext cx="323" cy="418"/>
                  </a:xfrm>
                  <a:custGeom>
                    <a:avLst/>
                    <a:gdLst>
                      <a:gd name="T0" fmla="*/ 0 w 323"/>
                      <a:gd name="T1" fmla="*/ 418 h 418"/>
                      <a:gd name="T2" fmla="*/ 264 w 323"/>
                      <a:gd name="T3" fmla="*/ 219 h 418"/>
                      <a:gd name="T4" fmla="*/ 323 w 323"/>
                      <a:gd name="T5" fmla="*/ 0 h 418"/>
                      <a:gd name="T6" fmla="*/ 250 w 323"/>
                      <a:gd name="T7" fmla="*/ 81 h 418"/>
                      <a:gd name="T8" fmla="*/ 237 w 323"/>
                      <a:gd name="T9" fmla="*/ 108 h 418"/>
                      <a:gd name="T10" fmla="*/ 227 w 323"/>
                      <a:gd name="T11" fmla="*/ 89 h 418"/>
                      <a:gd name="T12" fmla="*/ 150 w 323"/>
                      <a:gd name="T13" fmla="*/ 201 h 418"/>
                      <a:gd name="T14" fmla="*/ 148 w 323"/>
                      <a:gd name="T15" fmla="*/ 174 h 418"/>
                      <a:gd name="T16" fmla="*/ 58 w 323"/>
                      <a:gd name="T17" fmla="*/ 283 h 418"/>
                      <a:gd name="T18" fmla="*/ 0 w 323"/>
                      <a:gd name="T19" fmla="*/ 418 h 4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3"/>
                      <a:gd name="T31" fmla="*/ 0 h 418"/>
                      <a:gd name="T32" fmla="*/ 323 w 323"/>
                      <a:gd name="T33" fmla="*/ 418 h 4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3" h="418">
                        <a:moveTo>
                          <a:pt x="0" y="418"/>
                        </a:moveTo>
                        <a:lnTo>
                          <a:pt x="264" y="219"/>
                        </a:lnTo>
                        <a:lnTo>
                          <a:pt x="323" y="0"/>
                        </a:lnTo>
                        <a:lnTo>
                          <a:pt x="250" y="81"/>
                        </a:lnTo>
                        <a:lnTo>
                          <a:pt x="237" y="108"/>
                        </a:lnTo>
                        <a:lnTo>
                          <a:pt x="227" y="89"/>
                        </a:lnTo>
                        <a:lnTo>
                          <a:pt x="150" y="201"/>
                        </a:lnTo>
                        <a:lnTo>
                          <a:pt x="148" y="174"/>
                        </a:lnTo>
                        <a:lnTo>
                          <a:pt x="58" y="283"/>
                        </a:lnTo>
                        <a:lnTo>
                          <a:pt x="0" y="418"/>
                        </a:lnTo>
                        <a:close/>
                      </a:path>
                    </a:pathLst>
                  </a:custGeom>
                  <a:solidFill>
                    <a:srgbClr val="00FF00"/>
                  </a:solidFill>
                  <a:ln w="9525">
                    <a:solidFill>
                      <a:schemeClr val="tx1"/>
                    </a:solidFill>
                    <a:round/>
                    <a:headEnd/>
                    <a:tailEnd/>
                  </a:ln>
                </p:spPr>
                <p:txBody>
                  <a:bodyPr/>
                  <a:lstStyle/>
                  <a:p>
                    <a:endParaRPr lang="sv-SE"/>
                  </a:p>
                </p:txBody>
              </p:sp>
              <p:sp>
                <p:nvSpPr>
                  <p:cNvPr id="20719" name="Freeform 23"/>
                  <p:cNvSpPr>
                    <a:spLocks/>
                  </p:cNvSpPr>
                  <p:nvPr/>
                </p:nvSpPr>
                <p:spPr bwMode="auto">
                  <a:xfrm>
                    <a:off x="3268" y="1699"/>
                    <a:ext cx="285" cy="203"/>
                  </a:xfrm>
                  <a:custGeom>
                    <a:avLst/>
                    <a:gdLst>
                      <a:gd name="T0" fmla="*/ 32 w 285"/>
                      <a:gd name="T1" fmla="*/ 167 h 203"/>
                      <a:gd name="T2" fmla="*/ 285 w 285"/>
                      <a:gd name="T3" fmla="*/ 0 h 203"/>
                      <a:gd name="T4" fmla="*/ 218 w 285"/>
                      <a:gd name="T5" fmla="*/ 74 h 203"/>
                      <a:gd name="T6" fmla="*/ 0 w 285"/>
                      <a:gd name="T7" fmla="*/ 203 h 203"/>
                      <a:gd name="T8" fmla="*/ 32 w 285"/>
                      <a:gd name="T9" fmla="*/ 167 h 203"/>
                      <a:gd name="T10" fmla="*/ 0 60000 65536"/>
                      <a:gd name="T11" fmla="*/ 0 60000 65536"/>
                      <a:gd name="T12" fmla="*/ 0 60000 65536"/>
                      <a:gd name="T13" fmla="*/ 0 60000 65536"/>
                      <a:gd name="T14" fmla="*/ 0 60000 65536"/>
                      <a:gd name="T15" fmla="*/ 0 w 285"/>
                      <a:gd name="T16" fmla="*/ 0 h 203"/>
                      <a:gd name="T17" fmla="*/ 285 w 285"/>
                      <a:gd name="T18" fmla="*/ 203 h 203"/>
                    </a:gdLst>
                    <a:ahLst/>
                    <a:cxnLst>
                      <a:cxn ang="T10">
                        <a:pos x="T0" y="T1"/>
                      </a:cxn>
                      <a:cxn ang="T11">
                        <a:pos x="T2" y="T3"/>
                      </a:cxn>
                      <a:cxn ang="T12">
                        <a:pos x="T4" y="T5"/>
                      </a:cxn>
                      <a:cxn ang="T13">
                        <a:pos x="T6" y="T7"/>
                      </a:cxn>
                      <a:cxn ang="T14">
                        <a:pos x="T8" y="T9"/>
                      </a:cxn>
                    </a:cxnLst>
                    <a:rect l="T15" t="T16" r="T17" b="T18"/>
                    <a:pathLst>
                      <a:path w="285" h="203">
                        <a:moveTo>
                          <a:pt x="32" y="167"/>
                        </a:moveTo>
                        <a:lnTo>
                          <a:pt x="285" y="0"/>
                        </a:lnTo>
                        <a:lnTo>
                          <a:pt x="218" y="74"/>
                        </a:lnTo>
                        <a:lnTo>
                          <a:pt x="0" y="203"/>
                        </a:lnTo>
                        <a:lnTo>
                          <a:pt x="32" y="167"/>
                        </a:lnTo>
                        <a:close/>
                      </a:path>
                    </a:pathLst>
                  </a:custGeom>
                  <a:solidFill>
                    <a:srgbClr val="00FF00"/>
                  </a:solidFill>
                  <a:ln w="9525">
                    <a:solidFill>
                      <a:schemeClr val="tx1"/>
                    </a:solidFill>
                    <a:round/>
                    <a:headEnd/>
                    <a:tailEnd/>
                  </a:ln>
                </p:spPr>
                <p:txBody>
                  <a:bodyPr/>
                  <a:lstStyle/>
                  <a:p>
                    <a:endParaRPr lang="sv-SE"/>
                  </a:p>
                </p:txBody>
              </p:sp>
              <p:sp>
                <p:nvSpPr>
                  <p:cNvPr id="20720" name="Freeform 24"/>
                  <p:cNvSpPr>
                    <a:spLocks/>
                  </p:cNvSpPr>
                  <p:nvPr/>
                </p:nvSpPr>
                <p:spPr bwMode="auto">
                  <a:xfrm>
                    <a:off x="3277" y="1795"/>
                    <a:ext cx="531" cy="169"/>
                  </a:xfrm>
                  <a:custGeom>
                    <a:avLst/>
                    <a:gdLst>
                      <a:gd name="T0" fmla="*/ 0 w 531"/>
                      <a:gd name="T1" fmla="*/ 149 h 169"/>
                      <a:gd name="T2" fmla="*/ 335 w 531"/>
                      <a:gd name="T3" fmla="*/ 0 h 169"/>
                      <a:gd name="T4" fmla="*/ 531 w 531"/>
                      <a:gd name="T5" fmla="*/ 72 h 169"/>
                      <a:gd name="T6" fmla="*/ 429 w 531"/>
                      <a:gd name="T7" fmla="*/ 95 h 169"/>
                      <a:gd name="T8" fmla="*/ 395 w 531"/>
                      <a:gd name="T9" fmla="*/ 95 h 169"/>
                      <a:gd name="T10" fmla="*/ 414 w 531"/>
                      <a:gd name="T11" fmla="*/ 110 h 169"/>
                      <a:gd name="T12" fmla="*/ 304 w 531"/>
                      <a:gd name="T13" fmla="*/ 132 h 169"/>
                      <a:gd name="T14" fmla="*/ 272 w 531"/>
                      <a:gd name="T15" fmla="*/ 132 h 169"/>
                      <a:gd name="T16" fmla="*/ 295 w 531"/>
                      <a:gd name="T17" fmla="*/ 144 h 169"/>
                      <a:gd name="T18" fmla="*/ 147 w 531"/>
                      <a:gd name="T19" fmla="*/ 169 h 169"/>
                      <a:gd name="T20" fmla="*/ 0 w 531"/>
                      <a:gd name="T21" fmla="*/ 149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1"/>
                      <a:gd name="T34" fmla="*/ 0 h 169"/>
                      <a:gd name="T35" fmla="*/ 531 w 531"/>
                      <a:gd name="T36" fmla="*/ 169 h 1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1" h="169">
                        <a:moveTo>
                          <a:pt x="0" y="149"/>
                        </a:moveTo>
                        <a:lnTo>
                          <a:pt x="335" y="0"/>
                        </a:lnTo>
                        <a:lnTo>
                          <a:pt x="531" y="72"/>
                        </a:lnTo>
                        <a:lnTo>
                          <a:pt x="429" y="95"/>
                        </a:lnTo>
                        <a:lnTo>
                          <a:pt x="395" y="95"/>
                        </a:lnTo>
                        <a:lnTo>
                          <a:pt x="414" y="110"/>
                        </a:lnTo>
                        <a:lnTo>
                          <a:pt x="304" y="132"/>
                        </a:lnTo>
                        <a:lnTo>
                          <a:pt x="272" y="132"/>
                        </a:lnTo>
                        <a:lnTo>
                          <a:pt x="295" y="144"/>
                        </a:lnTo>
                        <a:lnTo>
                          <a:pt x="147" y="169"/>
                        </a:lnTo>
                        <a:lnTo>
                          <a:pt x="0" y="149"/>
                        </a:lnTo>
                        <a:close/>
                      </a:path>
                    </a:pathLst>
                  </a:custGeom>
                  <a:solidFill>
                    <a:srgbClr val="00FF00"/>
                  </a:solidFill>
                  <a:ln w="9525">
                    <a:solidFill>
                      <a:schemeClr val="tx1"/>
                    </a:solidFill>
                    <a:round/>
                    <a:headEnd/>
                    <a:tailEnd/>
                  </a:ln>
                </p:spPr>
                <p:txBody>
                  <a:bodyPr/>
                  <a:lstStyle/>
                  <a:p>
                    <a:endParaRPr lang="sv-SE"/>
                  </a:p>
                </p:txBody>
              </p:sp>
              <p:sp>
                <p:nvSpPr>
                  <p:cNvPr id="20721" name="Freeform 25"/>
                  <p:cNvSpPr>
                    <a:spLocks/>
                  </p:cNvSpPr>
                  <p:nvPr/>
                </p:nvSpPr>
                <p:spPr bwMode="auto">
                  <a:xfrm>
                    <a:off x="3161" y="1855"/>
                    <a:ext cx="155" cy="154"/>
                  </a:xfrm>
                  <a:custGeom>
                    <a:avLst/>
                    <a:gdLst>
                      <a:gd name="T0" fmla="*/ 102 w 155"/>
                      <a:gd name="T1" fmla="*/ 0 h 154"/>
                      <a:gd name="T2" fmla="*/ 97 w 155"/>
                      <a:gd name="T3" fmla="*/ 16 h 154"/>
                      <a:gd name="T4" fmla="*/ 94 w 155"/>
                      <a:gd name="T5" fmla="*/ 31 h 154"/>
                      <a:gd name="T6" fmla="*/ 93 w 155"/>
                      <a:gd name="T7" fmla="*/ 44 h 154"/>
                      <a:gd name="T8" fmla="*/ 97 w 155"/>
                      <a:gd name="T9" fmla="*/ 61 h 154"/>
                      <a:gd name="T10" fmla="*/ 102 w 155"/>
                      <a:gd name="T11" fmla="*/ 74 h 154"/>
                      <a:gd name="T12" fmla="*/ 108 w 155"/>
                      <a:gd name="T13" fmla="*/ 84 h 154"/>
                      <a:gd name="T14" fmla="*/ 116 w 155"/>
                      <a:gd name="T15" fmla="*/ 93 h 154"/>
                      <a:gd name="T16" fmla="*/ 130 w 155"/>
                      <a:gd name="T17" fmla="*/ 100 h 154"/>
                      <a:gd name="T18" fmla="*/ 144 w 155"/>
                      <a:gd name="T19" fmla="*/ 104 h 154"/>
                      <a:gd name="T20" fmla="*/ 155 w 155"/>
                      <a:gd name="T21" fmla="*/ 107 h 154"/>
                      <a:gd name="T22" fmla="*/ 51 w 155"/>
                      <a:gd name="T23" fmla="*/ 154 h 154"/>
                      <a:gd name="T24" fmla="*/ 39 w 155"/>
                      <a:gd name="T25" fmla="*/ 151 h 154"/>
                      <a:gd name="T26" fmla="*/ 26 w 155"/>
                      <a:gd name="T27" fmla="*/ 147 h 154"/>
                      <a:gd name="T28" fmla="*/ 16 w 155"/>
                      <a:gd name="T29" fmla="*/ 140 h 154"/>
                      <a:gd name="T30" fmla="*/ 8 w 155"/>
                      <a:gd name="T31" fmla="*/ 132 h 154"/>
                      <a:gd name="T32" fmla="*/ 3 w 155"/>
                      <a:gd name="T33" fmla="*/ 122 h 154"/>
                      <a:gd name="T34" fmla="*/ 1 w 155"/>
                      <a:gd name="T35" fmla="*/ 113 h 154"/>
                      <a:gd name="T36" fmla="*/ 0 w 155"/>
                      <a:gd name="T37" fmla="*/ 102 h 154"/>
                      <a:gd name="T38" fmla="*/ 2 w 155"/>
                      <a:gd name="T39" fmla="*/ 87 h 154"/>
                      <a:gd name="T40" fmla="*/ 7 w 155"/>
                      <a:gd name="T41" fmla="*/ 74 h 154"/>
                      <a:gd name="T42" fmla="*/ 15 w 155"/>
                      <a:gd name="T43" fmla="*/ 64 h 154"/>
                      <a:gd name="T44" fmla="*/ 102 w 155"/>
                      <a:gd name="T45" fmla="*/ 0 h 15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5"/>
                      <a:gd name="T70" fmla="*/ 0 h 154"/>
                      <a:gd name="T71" fmla="*/ 155 w 155"/>
                      <a:gd name="T72" fmla="*/ 154 h 15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5" h="154">
                        <a:moveTo>
                          <a:pt x="102" y="0"/>
                        </a:moveTo>
                        <a:lnTo>
                          <a:pt x="97" y="16"/>
                        </a:lnTo>
                        <a:lnTo>
                          <a:pt x="94" y="31"/>
                        </a:lnTo>
                        <a:lnTo>
                          <a:pt x="93" y="44"/>
                        </a:lnTo>
                        <a:lnTo>
                          <a:pt x="97" y="61"/>
                        </a:lnTo>
                        <a:lnTo>
                          <a:pt x="102" y="74"/>
                        </a:lnTo>
                        <a:lnTo>
                          <a:pt x="108" y="84"/>
                        </a:lnTo>
                        <a:lnTo>
                          <a:pt x="116" y="93"/>
                        </a:lnTo>
                        <a:lnTo>
                          <a:pt x="130" y="100"/>
                        </a:lnTo>
                        <a:lnTo>
                          <a:pt x="144" y="104"/>
                        </a:lnTo>
                        <a:lnTo>
                          <a:pt x="155" y="107"/>
                        </a:lnTo>
                        <a:lnTo>
                          <a:pt x="51" y="154"/>
                        </a:lnTo>
                        <a:lnTo>
                          <a:pt x="39" y="151"/>
                        </a:lnTo>
                        <a:lnTo>
                          <a:pt x="26" y="147"/>
                        </a:lnTo>
                        <a:lnTo>
                          <a:pt x="16" y="140"/>
                        </a:lnTo>
                        <a:lnTo>
                          <a:pt x="8" y="132"/>
                        </a:lnTo>
                        <a:lnTo>
                          <a:pt x="3" y="122"/>
                        </a:lnTo>
                        <a:lnTo>
                          <a:pt x="1" y="113"/>
                        </a:lnTo>
                        <a:lnTo>
                          <a:pt x="0" y="102"/>
                        </a:lnTo>
                        <a:lnTo>
                          <a:pt x="2" y="87"/>
                        </a:lnTo>
                        <a:lnTo>
                          <a:pt x="7" y="74"/>
                        </a:lnTo>
                        <a:lnTo>
                          <a:pt x="15" y="64"/>
                        </a:lnTo>
                        <a:lnTo>
                          <a:pt x="102" y="0"/>
                        </a:lnTo>
                        <a:close/>
                      </a:path>
                    </a:pathLst>
                  </a:custGeom>
                  <a:solidFill>
                    <a:srgbClr val="00FF00"/>
                  </a:solidFill>
                  <a:ln w="9525">
                    <a:solidFill>
                      <a:schemeClr val="tx1"/>
                    </a:solidFill>
                    <a:round/>
                    <a:headEnd/>
                    <a:tailEnd/>
                  </a:ln>
                </p:spPr>
                <p:txBody>
                  <a:bodyPr/>
                  <a:lstStyle/>
                  <a:p>
                    <a:endParaRPr lang="sv-SE"/>
                  </a:p>
                </p:txBody>
              </p:sp>
              <p:sp>
                <p:nvSpPr>
                  <p:cNvPr id="20722" name="Freeform 26"/>
                  <p:cNvSpPr>
                    <a:spLocks/>
                  </p:cNvSpPr>
                  <p:nvPr/>
                </p:nvSpPr>
                <p:spPr bwMode="auto">
                  <a:xfrm>
                    <a:off x="3184" y="1889"/>
                    <a:ext cx="70" cy="109"/>
                  </a:xfrm>
                  <a:custGeom>
                    <a:avLst/>
                    <a:gdLst>
                      <a:gd name="T0" fmla="*/ 32 w 70"/>
                      <a:gd name="T1" fmla="*/ 0 h 109"/>
                      <a:gd name="T2" fmla="*/ 28 w 70"/>
                      <a:gd name="T3" fmla="*/ 9 h 109"/>
                      <a:gd name="T4" fmla="*/ 24 w 70"/>
                      <a:gd name="T5" fmla="*/ 23 h 109"/>
                      <a:gd name="T6" fmla="*/ 20 w 70"/>
                      <a:gd name="T7" fmla="*/ 34 h 109"/>
                      <a:gd name="T8" fmla="*/ 19 w 70"/>
                      <a:gd name="T9" fmla="*/ 45 h 109"/>
                      <a:gd name="T10" fmla="*/ 20 w 70"/>
                      <a:gd name="T11" fmla="*/ 58 h 109"/>
                      <a:gd name="T12" fmla="*/ 24 w 70"/>
                      <a:gd name="T13" fmla="*/ 70 h 109"/>
                      <a:gd name="T14" fmla="*/ 31 w 70"/>
                      <a:gd name="T15" fmla="*/ 82 h 109"/>
                      <a:gd name="T16" fmla="*/ 44 w 70"/>
                      <a:gd name="T17" fmla="*/ 89 h 109"/>
                      <a:gd name="T18" fmla="*/ 56 w 70"/>
                      <a:gd name="T19" fmla="*/ 95 h 109"/>
                      <a:gd name="T20" fmla="*/ 70 w 70"/>
                      <a:gd name="T21" fmla="*/ 101 h 109"/>
                      <a:gd name="T22" fmla="*/ 53 w 70"/>
                      <a:gd name="T23" fmla="*/ 109 h 109"/>
                      <a:gd name="T24" fmla="*/ 41 w 70"/>
                      <a:gd name="T25" fmla="*/ 105 h 109"/>
                      <a:gd name="T26" fmla="*/ 27 w 70"/>
                      <a:gd name="T27" fmla="*/ 100 h 109"/>
                      <a:gd name="T28" fmla="*/ 17 w 70"/>
                      <a:gd name="T29" fmla="*/ 92 h 109"/>
                      <a:gd name="T30" fmla="*/ 9 w 70"/>
                      <a:gd name="T31" fmla="*/ 84 h 109"/>
                      <a:gd name="T32" fmla="*/ 4 w 70"/>
                      <a:gd name="T33" fmla="*/ 74 h 109"/>
                      <a:gd name="T34" fmla="*/ 1 w 70"/>
                      <a:gd name="T35" fmla="*/ 66 h 109"/>
                      <a:gd name="T36" fmla="*/ 0 w 70"/>
                      <a:gd name="T37" fmla="*/ 54 h 109"/>
                      <a:gd name="T38" fmla="*/ 1 w 70"/>
                      <a:gd name="T39" fmla="*/ 39 h 109"/>
                      <a:gd name="T40" fmla="*/ 4 w 70"/>
                      <a:gd name="T41" fmla="*/ 27 h 109"/>
                      <a:gd name="T42" fmla="*/ 10 w 70"/>
                      <a:gd name="T43" fmla="*/ 16 h 109"/>
                      <a:gd name="T44" fmla="*/ 32 w 70"/>
                      <a:gd name="T45" fmla="*/ 0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09"/>
                      <a:gd name="T71" fmla="*/ 70 w 70"/>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09">
                        <a:moveTo>
                          <a:pt x="32" y="0"/>
                        </a:moveTo>
                        <a:lnTo>
                          <a:pt x="28" y="9"/>
                        </a:lnTo>
                        <a:lnTo>
                          <a:pt x="24" y="23"/>
                        </a:lnTo>
                        <a:lnTo>
                          <a:pt x="20" y="34"/>
                        </a:lnTo>
                        <a:lnTo>
                          <a:pt x="19" y="45"/>
                        </a:lnTo>
                        <a:lnTo>
                          <a:pt x="20" y="58"/>
                        </a:lnTo>
                        <a:lnTo>
                          <a:pt x="24" y="70"/>
                        </a:lnTo>
                        <a:lnTo>
                          <a:pt x="31" y="82"/>
                        </a:lnTo>
                        <a:lnTo>
                          <a:pt x="44" y="89"/>
                        </a:lnTo>
                        <a:lnTo>
                          <a:pt x="56" y="95"/>
                        </a:lnTo>
                        <a:lnTo>
                          <a:pt x="70" y="101"/>
                        </a:lnTo>
                        <a:lnTo>
                          <a:pt x="53" y="109"/>
                        </a:lnTo>
                        <a:lnTo>
                          <a:pt x="41" y="105"/>
                        </a:lnTo>
                        <a:lnTo>
                          <a:pt x="27" y="100"/>
                        </a:lnTo>
                        <a:lnTo>
                          <a:pt x="17" y="92"/>
                        </a:lnTo>
                        <a:lnTo>
                          <a:pt x="9" y="84"/>
                        </a:lnTo>
                        <a:lnTo>
                          <a:pt x="4" y="74"/>
                        </a:lnTo>
                        <a:lnTo>
                          <a:pt x="1" y="66"/>
                        </a:lnTo>
                        <a:lnTo>
                          <a:pt x="0" y="54"/>
                        </a:lnTo>
                        <a:lnTo>
                          <a:pt x="1" y="39"/>
                        </a:lnTo>
                        <a:lnTo>
                          <a:pt x="4" y="27"/>
                        </a:lnTo>
                        <a:lnTo>
                          <a:pt x="10" y="16"/>
                        </a:lnTo>
                        <a:lnTo>
                          <a:pt x="32" y="0"/>
                        </a:lnTo>
                        <a:close/>
                      </a:path>
                    </a:pathLst>
                  </a:custGeom>
                  <a:solidFill>
                    <a:srgbClr val="FF0000"/>
                  </a:solidFill>
                  <a:ln w="9525">
                    <a:solidFill>
                      <a:schemeClr val="tx1"/>
                    </a:solidFill>
                    <a:round/>
                    <a:headEnd/>
                    <a:tailEnd/>
                  </a:ln>
                </p:spPr>
                <p:txBody>
                  <a:bodyPr/>
                  <a:lstStyle/>
                  <a:p>
                    <a:endParaRPr lang="sv-SE"/>
                  </a:p>
                </p:txBody>
              </p:sp>
              <p:sp>
                <p:nvSpPr>
                  <p:cNvPr id="20723" name="Freeform 27"/>
                  <p:cNvSpPr>
                    <a:spLocks/>
                  </p:cNvSpPr>
                  <p:nvPr/>
                </p:nvSpPr>
                <p:spPr bwMode="auto">
                  <a:xfrm>
                    <a:off x="2931" y="2062"/>
                    <a:ext cx="73" cy="68"/>
                  </a:xfrm>
                  <a:custGeom>
                    <a:avLst/>
                    <a:gdLst>
                      <a:gd name="T0" fmla="*/ 52 w 73"/>
                      <a:gd name="T1" fmla="*/ 0 h 68"/>
                      <a:gd name="T2" fmla="*/ 16 w 73"/>
                      <a:gd name="T3" fmla="*/ 27 h 68"/>
                      <a:gd name="T4" fmla="*/ 9 w 73"/>
                      <a:gd name="T5" fmla="*/ 32 h 68"/>
                      <a:gd name="T6" fmla="*/ 3 w 73"/>
                      <a:gd name="T7" fmla="*/ 41 h 68"/>
                      <a:gd name="T8" fmla="*/ 0 w 73"/>
                      <a:gd name="T9" fmla="*/ 51 h 68"/>
                      <a:gd name="T10" fmla="*/ 4 w 73"/>
                      <a:gd name="T11" fmla="*/ 61 h 68"/>
                      <a:gd name="T12" fmla="*/ 12 w 73"/>
                      <a:gd name="T13" fmla="*/ 66 h 68"/>
                      <a:gd name="T14" fmla="*/ 19 w 73"/>
                      <a:gd name="T15" fmla="*/ 68 h 68"/>
                      <a:gd name="T16" fmla="*/ 30 w 73"/>
                      <a:gd name="T17" fmla="*/ 64 h 68"/>
                      <a:gd name="T18" fmla="*/ 73 w 73"/>
                      <a:gd name="T19" fmla="*/ 45 h 68"/>
                      <a:gd name="T20" fmla="*/ 64 w 73"/>
                      <a:gd name="T21" fmla="*/ 40 h 68"/>
                      <a:gd name="T22" fmla="*/ 57 w 73"/>
                      <a:gd name="T23" fmla="*/ 33 h 68"/>
                      <a:gd name="T24" fmla="*/ 53 w 73"/>
                      <a:gd name="T25" fmla="*/ 25 h 68"/>
                      <a:gd name="T26" fmla="*/ 52 w 73"/>
                      <a:gd name="T27" fmla="*/ 17 h 68"/>
                      <a:gd name="T28" fmla="*/ 51 w 73"/>
                      <a:gd name="T29" fmla="*/ 7 h 68"/>
                      <a:gd name="T30" fmla="*/ 52 w 73"/>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3"/>
                      <a:gd name="T49" fmla="*/ 0 h 68"/>
                      <a:gd name="T50" fmla="*/ 73 w 73"/>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3" h="68">
                        <a:moveTo>
                          <a:pt x="52" y="0"/>
                        </a:moveTo>
                        <a:lnTo>
                          <a:pt x="16" y="27"/>
                        </a:lnTo>
                        <a:lnTo>
                          <a:pt x="9" y="32"/>
                        </a:lnTo>
                        <a:lnTo>
                          <a:pt x="3" y="41"/>
                        </a:lnTo>
                        <a:lnTo>
                          <a:pt x="0" y="51"/>
                        </a:lnTo>
                        <a:lnTo>
                          <a:pt x="4" y="61"/>
                        </a:lnTo>
                        <a:lnTo>
                          <a:pt x="12" y="66"/>
                        </a:lnTo>
                        <a:lnTo>
                          <a:pt x="19" y="68"/>
                        </a:lnTo>
                        <a:lnTo>
                          <a:pt x="30" y="64"/>
                        </a:lnTo>
                        <a:lnTo>
                          <a:pt x="73" y="45"/>
                        </a:lnTo>
                        <a:lnTo>
                          <a:pt x="64" y="40"/>
                        </a:lnTo>
                        <a:lnTo>
                          <a:pt x="57" y="33"/>
                        </a:lnTo>
                        <a:lnTo>
                          <a:pt x="53" y="25"/>
                        </a:lnTo>
                        <a:lnTo>
                          <a:pt x="52" y="17"/>
                        </a:lnTo>
                        <a:lnTo>
                          <a:pt x="51" y="7"/>
                        </a:lnTo>
                        <a:lnTo>
                          <a:pt x="52" y="0"/>
                        </a:lnTo>
                        <a:close/>
                      </a:path>
                    </a:pathLst>
                  </a:custGeom>
                  <a:solidFill>
                    <a:srgbClr val="00FF00"/>
                  </a:solidFill>
                  <a:ln w="9525">
                    <a:solidFill>
                      <a:schemeClr val="tx1"/>
                    </a:solidFill>
                    <a:round/>
                    <a:headEnd/>
                    <a:tailEnd/>
                  </a:ln>
                </p:spPr>
                <p:txBody>
                  <a:bodyPr/>
                  <a:lstStyle/>
                  <a:p>
                    <a:endParaRPr lang="sv-SE"/>
                  </a:p>
                </p:txBody>
              </p:sp>
            </p:grpSp>
          </p:grpSp>
          <p:grpSp>
            <p:nvGrpSpPr>
              <p:cNvPr id="9" name="Group 28"/>
              <p:cNvGrpSpPr>
                <a:grpSpLocks/>
              </p:cNvGrpSpPr>
              <p:nvPr/>
            </p:nvGrpSpPr>
            <p:grpSpPr bwMode="auto">
              <a:xfrm>
                <a:off x="2812" y="1263"/>
                <a:ext cx="798" cy="867"/>
                <a:chOff x="2812" y="1263"/>
                <a:chExt cx="798" cy="867"/>
              </a:xfrm>
            </p:grpSpPr>
            <p:sp>
              <p:nvSpPr>
                <p:cNvPr id="20694" name="Freeform 29"/>
                <p:cNvSpPr>
                  <a:spLocks/>
                </p:cNvSpPr>
                <p:nvPr/>
              </p:nvSpPr>
              <p:spPr bwMode="auto">
                <a:xfrm>
                  <a:off x="2827" y="2088"/>
                  <a:ext cx="74" cy="42"/>
                </a:xfrm>
                <a:custGeom>
                  <a:avLst/>
                  <a:gdLst>
                    <a:gd name="T0" fmla="*/ 0 w 74"/>
                    <a:gd name="T1" fmla="*/ 27 h 42"/>
                    <a:gd name="T2" fmla="*/ 22 w 74"/>
                    <a:gd name="T3" fmla="*/ 0 h 42"/>
                    <a:gd name="T4" fmla="*/ 74 w 74"/>
                    <a:gd name="T5" fmla="*/ 34 h 42"/>
                    <a:gd name="T6" fmla="*/ 17 w 74"/>
                    <a:gd name="T7" fmla="*/ 42 h 42"/>
                    <a:gd name="T8" fmla="*/ 0 w 74"/>
                    <a:gd name="T9" fmla="*/ 27 h 42"/>
                    <a:gd name="T10" fmla="*/ 0 60000 65536"/>
                    <a:gd name="T11" fmla="*/ 0 60000 65536"/>
                    <a:gd name="T12" fmla="*/ 0 60000 65536"/>
                    <a:gd name="T13" fmla="*/ 0 60000 65536"/>
                    <a:gd name="T14" fmla="*/ 0 60000 65536"/>
                    <a:gd name="T15" fmla="*/ 0 w 74"/>
                    <a:gd name="T16" fmla="*/ 0 h 42"/>
                    <a:gd name="T17" fmla="*/ 74 w 74"/>
                    <a:gd name="T18" fmla="*/ 42 h 42"/>
                  </a:gdLst>
                  <a:ahLst/>
                  <a:cxnLst>
                    <a:cxn ang="T10">
                      <a:pos x="T0" y="T1"/>
                    </a:cxn>
                    <a:cxn ang="T11">
                      <a:pos x="T2" y="T3"/>
                    </a:cxn>
                    <a:cxn ang="T12">
                      <a:pos x="T4" y="T5"/>
                    </a:cxn>
                    <a:cxn ang="T13">
                      <a:pos x="T6" y="T7"/>
                    </a:cxn>
                    <a:cxn ang="T14">
                      <a:pos x="T8" y="T9"/>
                    </a:cxn>
                  </a:cxnLst>
                  <a:rect l="T15" t="T16" r="T17" b="T18"/>
                  <a:pathLst>
                    <a:path w="74" h="42">
                      <a:moveTo>
                        <a:pt x="0" y="27"/>
                      </a:moveTo>
                      <a:lnTo>
                        <a:pt x="22" y="0"/>
                      </a:lnTo>
                      <a:lnTo>
                        <a:pt x="74" y="34"/>
                      </a:lnTo>
                      <a:lnTo>
                        <a:pt x="17" y="42"/>
                      </a:lnTo>
                      <a:lnTo>
                        <a:pt x="0" y="27"/>
                      </a:lnTo>
                      <a:close/>
                    </a:path>
                  </a:pathLst>
                </a:custGeom>
                <a:solidFill>
                  <a:srgbClr val="3F3F3F"/>
                </a:solidFill>
                <a:ln w="9525">
                  <a:solidFill>
                    <a:schemeClr val="tx1"/>
                  </a:solidFill>
                  <a:round/>
                  <a:headEnd/>
                  <a:tailEnd/>
                </a:ln>
              </p:spPr>
              <p:txBody>
                <a:bodyPr/>
                <a:lstStyle/>
                <a:p>
                  <a:endParaRPr lang="sv-SE"/>
                </a:p>
              </p:txBody>
            </p:sp>
            <p:sp>
              <p:nvSpPr>
                <p:cNvPr id="20695" name="Freeform 30"/>
                <p:cNvSpPr>
                  <a:spLocks/>
                </p:cNvSpPr>
                <p:nvPr/>
              </p:nvSpPr>
              <p:spPr bwMode="auto">
                <a:xfrm>
                  <a:off x="2817" y="2024"/>
                  <a:ext cx="84" cy="99"/>
                </a:xfrm>
                <a:custGeom>
                  <a:avLst/>
                  <a:gdLst>
                    <a:gd name="T0" fmla="*/ 0 w 84"/>
                    <a:gd name="T1" fmla="*/ 0 h 99"/>
                    <a:gd name="T2" fmla="*/ 50 w 84"/>
                    <a:gd name="T3" fmla="*/ 47 h 99"/>
                    <a:gd name="T4" fmla="*/ 84 w 84"/>
                    <a:gd name="T5" fmla="*/ 99 h 99"/>
                    <a:gd name="T6" fmla="*/ 32 w 84"/>
                    <a:gd name="T7" fmla="*/ 64 h 99"/>
                    <a:gd name="T8" fmla="*/ 0 w 84"/>
                    <a:gd name="T9" fmla="*/ 0 h 99"/>
                    <a:gd name="T10" fmla="*/ 0 60000 65536"/>
                    <a:gd name="T11" fmla="*/ 0 60000 65536"/>
                    <a:gd name="T12" fmla="*/ 0 60000 65536"/>
                    <a:gd name="T13" fmla="*/ 0 60000 65536"/>
                    <a:gd name="T14" fmla="*/ 0 60000 65536"/>
                    <a:gd name="T15" fmla="*/ 0 w 84"/>
                    <a:gd name="T16" fmla="*/ 0 h 99"/>
                    <a:gd name="T17" fmla="*/ 84 w 84"/>
                    <a:gd name="T18" fmla="*/ 99 h 99"/>
                  </a:gdLst>
                  <a:ahLst/>
                  <a:cxnLst>
                    <a:cxn ang="T10">
                      <a:pos x="T0" y="T1"/>
                    </a:cxn>
                    <a:cxn ang="T11">
                      <a:pos x="T2" y="T3"/>
                    </a:cxn>
                    <a:cxn ang="T12">
                      <a:pos x="T4" y="T5"/>
                    </a:cxn>
                    <a:cxn ang="T13">
                      <a:pos x="T6" y="T7"/>
                    </a:cxn>
                    <a:cxn ang="T14">
                      <a:pos x="T8" y="T9"/>
                    </a:cxn>
                  </a:cxnLst>
                  <a:rect l="T15" t="T16" r="T17" b="T18"/>
                  <a:pathLst>
                    <a:path w="84" h="99">
                      <a:moveTo>
                        <a:pt x="0" y="0"/>
                      </a:moveTo>
                      <a:lnTo>
                        <a:pt x="50" y="47"/>
                      </a:lnTo>
                      <a:lnTo>
                        <a:pt x="84" y="99"/>
                      </a:lnTo>
                      <a:lnTo>
                        <a:pt x="32" y="64"/>
                      </a:lnTo>
                      <a:lnTo>
                        <a:pt x="0" y="0"/>
                      </a:lnTo>
                      <a:close/>
                    </a:path>
                  </a:pathLst>
                </a:custGeom>
                <a:solidFill>
                  <a:srgbClr val="9F9F9F"/>
                </a:solidFill>
                <a:ln w="9525">
                  <a:solidFill>
                    <a:schemeClr val="tx1"/>
                  </a:solidFill>
                  <a:round/>
                  <a:headEnd/>
                  <a:tailEnd/>
                </a:ln>
              </p:spPr>
              <p:txBody>
                <a:bodyPr/>
                <a:lstStyle/>
                <a:p>
                  <a:endParaRPr lang="sv-SE"/>
                </a:p>
              </p:txBody>
            </p:sp>
            <p:sp>
              <p:nvSpPr>
                <p:cNvPr id="20696" name="Freeform 31"/>
                <p:cNvSpPr>
                  <a:spLocks/>
                </p:cNvSpPr>
                <p:nvPr/>
              </p:nvSpPr>
              <p:spPr bwMode="auto">
                <a:xfrm>
                  <a:off x="2812" y="2026"/>
                  <a:ext cx="37" cy="88"/>
                </a:xfrm>
                <a:custGeom>
                  <a:avLst/>
                  <a:gdLst>
                    <a:gd name="T0" fmla="*/ 6 w 37"/>
                    <a:gd name="T1" fmla="*/ 0 h 88"/>
                    <a:gd name="T2" fmla="*/ 37 w 37"/>
                    <a:gd name="T3" fmla="*/ 61 h 88"/>
                    <a:gd name="T4" fmla="*/ 14 w 37"/>
                    <a:gd name="T5" fmla="*/ 88 h 88"/>
                    <a:gd name="T6" fmla="*/ 0 w 37"/>
                    <a:gd name="T7" fmla="*/ 72 h 88"/>
                    <a:gd name="T8" fmla="*/ 6 w 37"/>
                    <a:gd name="T9" fmla="*/ 0 h 88"/>
                    <a:gd name="T10" fmla="*/ 0 60000 65536"/>
                    <a:gd name="T11" fmla="*/ 0 60000 65536"/>
                    <a:gd name="T12" fmla="*/ 0 60000 65536"/>
                    <a:gd name="T13" fmla="*/ 0 60000 65536"/>
                    <a:gd name="T14" fmla="*/ 0 60000 65536"/>
                    <a:gd name="T15" fmla="*/ 0 w 37"/>
                    <a:gd name="T16" fmla="*/ 0 h 88"/>
                    <a:gd name="T17" fmla="*/ 37 w 37"/>
                    <a:gd name="T18" fmla="*/ 88 h 88"/>
                  </a:gdLst>
                  <a:ahLst/>
                  <a:cxnLst>
                    <a:cxn ang="T10">
                      <a:pos x="T0" y="T1"/>
                    </a:cxn>
                    <a:cxn ang="T11">
                      <a:pos x="T2" y="T3"/>
                    </a:cxn>
                    <a:cxn ang="T12">
                      <a:pos x="T4" y="T5"/>
                    </a:cxn>
                    <a:cxn ang="T13">
                      <a:pos x="T6" y="T7"/>
                    </a:cxn>
                    <a:cxn ang="T14">
                      <a:pos x="T8" y="T9"/>
                    </a:cxn>
                  </a:cxnLst>
                  <a:rect l="T15" t="T16" r="T17" b="T18"/>
                  <a:pathLst>
                    <a:path w="37" h="88">
                      <a:moveTo>
                        <a:pt x="6" y="0"/>
                      </a:moveTo>
                      <a:lnTo>
                        <a:pt x="37" y="61"/>
                      </a:lnTo>
                      <a:lnTo>
                        <a:pt x="14" y="88"/>
                      </a:lnTo>
                      <a:lnTo>
                        <a:pt x="0" y="72"/>
                      </a:lnTo>
                      <a:lnTo>
                        <a:pt x="6" y="0"/>
                      </a:lnTo>
                      <a:close/>
                    </a:path>
                  </a:pathLst>
                </a:custGeom>
                <a:solidFill>
                  <a:srgbClr val="5F5F5F"/>
                </a:solidFill>
                <a:ln w="9525">
                  <a:solidFill>
                    <a:schemeClr val="tx1"/>
                  </a:solidFill>
                  <a:round/>
                  <a:headEnd/>
                  <a:tailEnd/>
                </a:ln>
              </p:spPr>
              <p:txBody>
                <a:bodyPr/>
                <a:lstStyle/>
                <a:p>
                  <a:endParaRPr lang="sv-SE"/>
                </a:p>
              </p:txBody>
            </p:sp>
            <p:sp>
              <p:nvSpPr>
                <p:cNvPr id="20697" name="Freeform 32"/>
                <p:cNvSpPr>
                  <a:spLocks/>
                </p:cNvSpPr>
                <p:nvPr/>
              </p:nvSpPr>
              <p:spPr bwMode="auto">
                <a:xfrm>
                  <a:off x="2842" y="1484"/>
                  <a:ext cx="574" cy="613"/>
                </a:xfrm>
                <a:custGeom>
                  <a:avLst/>
                  <a:gdLst>
                    <a:gd name="T0" fmla="*/ 432 w 574"/>
                    <a:gd name="T1" fmla="*/ 0 h 613"/>
                    <a:gd name="T2" fmla="*/ 2 w 574"/>
                    <a:gd name="T3" fmla="*/ 583 h 613"/>
                    <a:gd name="T4" fmla="*/ 0 w 574"/>
                    <a:gd name="T5" fmla="*/ 590 h 613"/>
                    <a:gd name="T6" fmla="*/ 1 w 574"/>
                    <a:gd name="T7" fmla="*/ 599 h 613"/>
                    <a:gd name="T8" fmla="*/ 4 w 574"/>
                    <a:gd name="T9" fmla="*/ 607 h 613"/>
                    <a:gd name="T10" fmla="*/ 9 w 574"/>
                    <a:gd name="T11" fmla="*/ 611 h 613"/>
                    <a:gd name="T12" fmla="*/ 17 w 574"/>
                    <a:gd name="T13" fmla="*/ 613 h 613"/>
                    <a:gd name="T14" fmla="*/ 26 w 574"/>
                    <a:gd name="T15" fmla="*/ 612 h 613"/>
                    <a:gd name="T16" fmla="*/ 574 w 574"/>
                    <a:gd name="T17" fmla="*/ 122 h 613"/>
                    <a:gd name="T18" fmla="*/ 432 w 574"/>
                    <a:gd name="T19" fmla="*/ 0 h 6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4"/>
                    <a:gd name="T31" fmla="*/ 0 h 613"/>
                    <a:gd name="T32" fmla="*/ 574 w 574"/>
                    <a:gd name="T33" fmla="*/ 613 h 6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4" h="613">
                      <a:moveTo>
                        <a:pt x="432" y="0"/>
                      </a:moveTo>
                      <a:lnTo>
                        <a:pt x="2" y="583"/>
                      </a:lnTo>
                      <a:lnTo>
                        <a:pt x="0" y="590"/>
                      </a:lnTo>
                      <a:lnTo>
                        <a:pt x="1" y="599"/>
                      </a:lnTo>
                      <a:lnTo>
                        <a:pt x="4" y="607"/>
                      </a:lnTo>
                      <a:lnTo>
                        <a:pt x="9" y="611"/>
                      </a:lnTo>
                      <a:lnTo>
                        <a:pt x="17" y="613"/>
                      </a:lnTo>
                      <a:lnTo>
                        <a:pt x="26" y="612"/>
                      </a:lnTo>
                      <a:lnTo>
                        <a:pt x="574" y="122"/>
                      </a:lnTo>
                      <a:lnTo>
                        <a:pt x="432" y="0"/>
                      </a:lnTo>
                      <a:close/>
                    </a:path>
                  </a:pathLst>
                </a:custGeom>
                <a:solidFill>
                  <a:srgbClr val="808080"/>
                </a:solidFill>
                <a:ln w="9525">
                  <a:solidFill>
                    <a:schemeClr val="tx1"/>
                  </a:solidFill>
                  <a:round/>
                  <a:headEnd/>
                  <a:tailEnd/>
                </a:ln>
              </p:spPr>
              <p:txBody>
                <a:bodyPr/>
                <a:lstStyle/>
                <a:p>
                  <a:endParaRPr lang="sv-SE"/>
                </a:p>
              </p:txBody>
            </p:sp>
            <p:sp>
              <p:nvSpPr>
                <p:cNvPr id="20698" name="Freeform 33"/>
                <p:cNvSpPr>
                  <a:spLocks/>
                </p:cNvSpPr>
                <p:nvPr/>
              </p:nvSpPr>
              <p:spPr bwMode="auto">
                <a:xfrm>
                  <a:off x="3261" y="1425"/>
                  <a:ext cx="240" cy="110"/>
                </a:xfrm>
                <a:custGeom>
                  <a:avLst/>
                  <a:gdLst>
                    <a:gd name="T0" fmla="*/ 68 w 240"/>
                    <a:gd name="T1" fmla="*/ 0 h 110"/>
                    <a:gd name="T2" fmla="*/ 240 w 240"/>
                    <a:gd name="T3" fmla="*/ 55 h 110"/>
                    <a:gd name="T4" fmla="*/ 227 w 240"/>
                    <a:gd name="T5" fmla="*/ 68 h 110"/>
                    <a:gd name="T6" fmla="*/ 226 w 240"/>
                    <a:gd name="T7" fmla="*/ 80 h 110"/>
                    <a:gd name="T8" fmla="*/ 83 w 240"/>
                    <a:gd name="T9" fmla="*/ 30 h 110"/>
                    <a:gd name="T10" fmla="*/ 2 w 240"/>
                    <a:gd name="T11" fmla="*/ 110 h 110"/>
                    <a:gd name="T12" fmla="*/ 0 w 240"/>
                    <a:gd name="T13" fmla="*/ 82 h 110"/>
                    <a:gd name="T14" fmla="*/ 68 w 240"/>
                    <a:gd name="T15" fmla="*/ 0 h 110"/>
                    <a:gd name="T16" fmla="*/ 0 60000 65536"/>
                    <a:gd name="T17" fmla="*/ 0 60000 65536"/>
                    <a:gd name="T18" fmla="*/ 0 60000 65536"/>
                    <a:gd name="T19" fmla="*/ 0 60000 65536"/>
                    <a:gd name="T20" fmla="*/ 0 60000 65536"/>
                    <a:gd name="T21" fmla="*/ 0 60000 65536"/>
                    <a:gd name="T22" fmla="*/ 0 60000 65536"/>
                    <a:gd name="T23" fmla="*/ 0 60000 65536"/>
                    <a:gd name="T24" fmla="*/ 0 w 240"/>
                    <a:gd name="T25" fmla="*/ 0 h 110"/>
                    <a:gd name="T26" fmla="*/ 240 w 240"/>
                    <a:gd name="T27" fmla="*/ 110 h 1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0" h="110">
                      <a:moveTo>
                        <a:pt x="68" y="0"/>
                      </a:moveTo>
                      <a:lnTo>
                        <a:pt x="240" y="55"/>
                      </a:lnTo>
                      <a:lnTo>
                        <a:pt x="227" y="68"/>
                      </a:lnTo>
                      <a:lnTo>
                        <a:pt x="226" y="80"/>
                      </a:lnTo>
                      <a:lnTo>
                        <a:pt x="83" y="30"/>
                      </a:lnTo>
                      <a:lnTo>
                        <a:pt x="2" y="110"/>
                      </a:lnTo>
                      <a:lnTo>
                        <a:pt x="0" y="82"/>
                      </a:lnTo>
                      <a:lnTo>
                        <a:pt x="68" y="0"/>
                      </a:lnTo>
                      <a:close/>
                    </a:path>
                  </a:pathLst>
                </a:custGeom>
                <a:solidFill>
                  <a:srgbClr val="808080"/>
                </a:solidFill>
                <a:ln w="9525">
                  <a:solidFill>
                    <a:schemeClr val="tx1"/>
                  </a:solidFill>
                  <a:round/>
                  <a:headEnd/>
                  <a:tailEnd/>
                </a:ln>
              </p:spPr>
              <p:txBody>
                <a:bodyPr/>
                <a:lstStyle/>
                <a:p>
                  <a:endParaRPr lang="sv-SE"/>
                </a:p>
              </p:txBody>
            </p:sp>
            <p:sp>
              <p:nvSpPr>
                <p:cNvPr id="20699" name="Freeform 34"/>
                <p:cNvSpPr>
                  <a:spLocks/>
                </p:cNvSpPr>
                <p:nvPr/>
              </p:nvSpPr>
              <p:spPr bwMode="auto">
                <a:xfrm>
                  <a:off x="3340" y="1449"/>
                  <a:ext cx="166" cy="96"/>
                </a:xfrm>
                <a:custGeom>
                  <a:avLst/>
                  <a:gdLst>
                    <a:gd name="T0" fmla="*/ 0 w 166"/>
                    <a:gd name="T1" fmla="*/ 0 h 96"/>
                    <a:gd name="T2" fmla="*/ 163 w 166"/>
                    <a:gd name="T3" fmla="*/ 46 h 96"/>
                    <a:gd name="T4" fmla="*/ 166 w 166"/>
                    <a:gd name="T5" fmla="*/ 61 h 96"/>
                    <a:gd name="T6" fmla="*/ 163 w 166"/>
                    <a:gd name="T7" fmla="*/ 75 h 96"/>
                    <a:gd name="T8" fmla="*/ 156 w 166"/>
                    <a:gd name="T9" fmla="*/ 86 h 96"/>
                    <a:gd name="T10" fmla="*/ 129 w 166"/>
                    <a:gd name="T11" fmla="*/ 96 h 96"/>
                    <a:gd name="T12" fmla="*/ 85 w 166"/>
                    <a:gd name="T13" fmla="*/ 84 h 96"/>
                    <a:gd name="T14" fmla="*/ 33 w 166"/>
                    <a:gd name="T15" fmla="*/ 52 h 96"/>
                    <a:gd name="T16" fmla="*/ 5 w 166"/>
                    <a:gd name="T17" fmla="*/ 19 h 96"/>
                    <a:gd name="T18" fmla="*/ 0 w 166"/>
                    <a:gd name="T19" fmla="*/ 0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6"/>
                    <a:gd name="T31" fmla="*/ 0 h 96"/>
                    <a:gd name="T32" fmla="*/ 166 w 166"/>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6" h="96">
                      <a:moveTo>
                        <a:pt x="0" y="0"/>
                      </a:moveTo>
                      <a:lnTo>
                        <a:pt x="163" y="46"/>
                      </a:lnTo>
                      <a:lnTo>
                        <a:pt x="166" y="61"/>
                      </a:lnTo>
                      <a:lnTo>
                        <a:pt x="163" y="75"/>
                      </a:lnTo>
                      <a:lnTo>
                        <a:pt x="156" y="86"/>
                      </a:lnTo>
                      <a:lnTo>
                        <a:pt x="129" y="96"/>
                      </a:lnTo>
                      <a:lnTo>
                        <a:pt x="85" y="84"/>
                      </a:lnTo>
                      <a:lnTo>
                        <a:pt x="33" y="52"/>
                      </a:lnTo>
                      <a:lnTo>
                        <a:pt x="5" y="19"/>
                      </a:lnTo>
                      <a:lnTo>
                        <a:pt x="0" y="0"/>
                      </a:lnTo>
                      <a:close/>
                    </a:path>
                  </a:pathLst>
                </a:custGeom>
                <a:solidFill>
                  <a:srgbClr val="9F9F9F"/>
                </a:solidFill>
                <a:ln w="9525">
                  <a:solidFill>
                    <a:schemeClr val="tx1"/>
                  </a:solidFill>
                  <a:round/>
                  <a:headEnd/>
                  <a:tailEnd/>
                </a:ln>
              </p:spPr>
              <p:txBody>
                <a:bodyPr/>
                <a:lstStyle/>
                <a:p>
                  <a:endParaRPr lang="sv-SE"/>
                </a:p>
              </p:txBody>
            </p:sp>
            <p:sp>
              <p:nvSpPr>
                <p:cNvPr id="20700" name="Freeform 35"/>
                <p:cNvSpPr>
                  <a:spLocks/>
                </p:cNvSpPr>
                <p:nvPr/>
              </p:nvSpPr>
              <p:spPr bwMode="auto">
                <a:xfrm>
                  <a:off x="3324" y="1383"/>
                  <a:ext cx="178" cy="98"/>
                </a:xfrm>
                <a:custGeom>
                  <a:avLst/>
                  <a:gdLst>
                    <a:gd name="T0" fmla="*/ 9 w 178"/>
                    <a:gd name="T1" fmla="*/ 47 h 98"/>
                    <a:gd name="T2" fmla="*/ 178 w 178"/>
                    <a:gd name="T3" fmla="*/ 98 h 98"/>
                    <a:gd name="T4" fmla="*/ 174 w 178"/>
                    <a:gd name="T5" fmla="*/ 81 h 98"/>
                    <a:gd name="T6" fmla="*/ 167 w 178"/>
                    <a:gd name="T7" fmla="*/ 68 h 98"/>
                    <a:gd name="T8" fmla="*/ 155 w 178"/>
                    <a:gd name="T9" fmla="*/ 50 h 98"/>
                    <a:gd name="T10" fmla="*/ 145 w 178"/>
                    <a:gd name="T11" fmla="*/ 38 h 98"/>
                    <a:gd name="T12" fmla="*/ 130 w 178"/>
                    <a:gd name="T13" fmla="*/ 25 h 98"/>
                    <a:gd name="T14" fmla="*/ 114 w 178"/>
                    <a:gd name="T15" fmla="*/ 15 h 98"/>
                    <a:gd name="T16" fmla="*/ 96 w 178"/>
                    <a:gd name="T17" fmla="*/ 8 h 98"/>
                    <a:gd name="T18" fmla="*/ 79 w 178"/>
                    <a:gd name="T19" fmla="*/ 3 h 98"/>
                    <a:gd name="T20" fmla="*/ 61 w 178"/>
                    <a:gd name="T21" fmla="*/ 0 h 98"/>
                    <a:gd name="T22" fmla="*/ 47 w 178"/>
                    <a:gd name="T23" fmla="*/ 0 h 98"/>
                    <a:gd name="T24" fmla="*/ 35 w 178"/>
                    <a:gd name="T25" fmla="*/ 2 h 98"/>
                    <a:gd name="T26" fmla="*/ 20 w 178"/>
                    <a:gd name="T27" fmla="*/ 7 h 98"/>
                    <a:gd name="T28" fmla="*/ 9 w 178"/>
                    <a:gd name="T29" fmla="*/ 15 h 98"/>
                    <a:gd name="T30" fmla="*/ 3 w 178"/>
                    <a:gd name="T31" fmla="*/ 26 h 98"/>
                    <a:gd name="T32" fmla="*/ 0 w 178"/>
                    <a:gd name="T33" fmla="*/ 44 h 98"/>
                    <a:gd name="T34" fmla="*/ 9 w 178"/>
                    <a:gd name="T35" fmla="*/ 47 h 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8"/>
                    <a:gd name="T55" fmla="*/ 0 h 98"/>
                    <a:gd name="T56" fmla="*/ 178 w 178"/>
                    <a:gd name="T57" fmla="*/ 98 h 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8" h="98">
                      <a:moveTo>
                        <a:pt x="9" y="47"/>
                      </a:moveTo>
                      <a:lnTo>
                        <a:pt x="178" y="98"/>
                      </a:lnTo>
                      <a:lnTo>
                        <a:pt x="174" y="81"/>
                      </a:lnTo>
                      <a:lnTo>
                        <a:pt x="167" y="68"/>
                      </a:lnTo>
                      <a:lnTo>
                        <a:pt x="155" y="50"/>
                      </a:lnTo>
                      <a:lnTo>
                        <a:pt x="145" y="38"/>
                      </a:lnTo>
                      <a:lnTo>
                        <a:pt x="130" y="25"/>
                      </a:lnTo>
                      <a:lnTo>
                        <a:pt x="114" y="15"/>
                      </a:lnTo>
                      <a:lnTo>
                        <a:pt x="96" y="8"/>
                      </a:lnTo>
                      <a:lnTo>
                        <a:pt x="79" y="3"/>
                      </a:lnTo>
                      <a:lnTo>
                        <a:pt x="61" y="0"/>
                      </a:lnTo>
                      <a:lnTo>
                        <a:pt x="47" y="0"/>
                      </a:lnTo>
                      <a:lnTo>
                        <a:pt x="35" y="2"/>
                      </a:lnTo>
                      <a:lnTo>
                        <a:pt x="20" y="7"/>
                      </a:lnTo>
                      <a:lnTo>
                        <a:pt x="9" y="15"/>
                      </a:lnTo>
                      <a:lnTo>
                        <a:pt x="3" y="26"/>
                      </a:lnTo>
                      <a:lnTo>
                        <a:pt x="0" y="44"/>
                      </a:lnTo>
                      <a:lnTo>
                        <a:pt x="9" y="47"/>
                      </a:lnTo>
                      <a:close/>
                    </a:path>
                  </a:pathLst>
                </a:custGeom>
                <a:solidFill>
                  <a:srgbClr val="9F9F9F"/>
                </a:solidFill>
                <a:ln w="9525">
                  <a:solidFill>
                    <a:schemeClr val="tx1"/>
                  </a:solidFill>
                  <a:round/>
                  <a:headEnd/>
                  <a:tailEnd/>
                </a:ln>
              </p:spPr>
              <p:txBody>
                <a:bodyPr/>
                <a:lstStyle/>
                <a:p>
                  <a:endParaRPr lang="sv-SE"/>
                </a:p>
              </p:txBody>
            </p:sp>
            <p:sp>
              <p:nvSpPr>
                <p:cNvPr id="20701" name="Freeform 36"/>
                <p:cNvSpPr>
                  <a:spLocks/>
                </p:cNvSpPr>
                <p:nvPr/>
              </p:nvSpPr>
              <p:spPr bwMode="auto">
                <a:xfrm>
                  <a:off x="3252" y="1412"/>
                  <a:ext cx="245" cy="219"/>
                </a:xfrm>
                <a:custGeom>
                  <a:avLst/>
                  <a:gdLst>
                    <a:gd name="T0" fmla="*/ 74 w 245"/>
                    <a:gd name="T1" fmla="*/ 0 h 219"/>
                    <a:gd name="T2" fmla="*/ 4 w 245"/>
                    <a:gd name="T3" fmla="*/ 96 h 219"/>
                    <a:gd name="T4" fmla="*/ 0 w 245"/>
                    <a:gd name="T5" fmla="*/ 113 h 219"/>
                    <a:gd name="T6" fmla="*/ 0 w 245"/>
                    <a:gd name="T7" fmla="*/ 125 h 219"/>
                    <a:gd name="T8" fmla="*/ 1 w 245"/>
                    <a:gd name="T9" fmla="*/ 139 h 219"/>
                    <a:gd name="T10" fmla="*/ 5 w 245"/>
                    <a:gd name="T11" fmla="*/ 156 h 219"/>
                    <a:gd name="T12" fmla="*/ 12 w 245"/>
                    <a:gd name="T13" fmla="*/ 170 h 219"/>
                    <a:gd name="T14" fmla="*/ 24 w 245"/>
                    <a:gd name="T15" fmla="*/ 185 h 219"/>
                    <a:gd name="T16" fmla="*/ 38 w 245"/>
                    <a:gd name="T17" fmla="*/ 196 h 219"/>
                    <a:gd name="T18" fmla="*/ 58 w 245"/>
                    <a:gd name="T19" fmla="*/ 208 h 219"/>
                    <a:gd name="T20" fmla="*/ 75 w 245"/>
                    <a:gd name="T21" fmla="*/ 214 h 219"/>
                    <a:gd name="T22" fmla="*/ 92 w 245"/>
                    <a:gd name="T23" fmla="*/ 217 h 219"/>
                    <a:gd name="T24" fmla="*/ 114 w 245"/>
                    <a:gd name="T25" fmla="*/ 219 h 219"/>
                    <a:gd name="T26" fmla="*/ 129 w 245"/>
                    <a:gd name="T27" fmla="*/ 216 h 219"/>
                    <a:gd name="T28" fmla="*/ 146 w 245"/>
                    <a:gd name="T29" fmla="*/ 210 h 219"/>
                    <a:gd name="T30" fmla="*/ 245 w 245"/>
                    <a:gd name="T31" fmla="*/ 122 h 219"/>
                    <a:gd name="T32" fmla="*/ 229 w 245"/>
                    <a:gd name="T33" fmla="*/ 127 h 219"/>
                    <a:gd name="T34" fmla="*/ 214 w 245"/>
                    <a:gd name="T35" fmla="*/ 128 h 219"/>
                    <a:gd name="T36" fmla="*/ 195 w 245"/>
                    <a:gd name="T37" fmla="*/ 125 h 219"/>
                    <a:gd name="T38" fmla="*/ 179 w 245"/>
                    <a:gd name="T39" fmla="*/ 120 h 219"/>
                    <a:gd name="T40" fmla="*/ 162 w 245"/>
                    <a:gd name="T41" fmla="*/ 114 h 219"/>
                    <a:gd name="T42" fmla="*/ 141 w 245"/>
                    <a:gd name="T43" fmla="*/ 101 h 219"/>
                    <a:gd name="T44" fmla="*/ 122 w 245"/>
                    <a:gd name="T45" fmla="*/ 87 h 219"/>
                    <a:gd name="T46" fmla="*/ 112 w 245"/>
                    <a:gd name="T47" fmla="*/ 76 h 219"/>
                    <a:gd name="T48" fmla="*/ 100 w 245"/>
                    <a:gd name="T49" fmla="*/ 61 h 219"/>
                    <a:gd name="T50" fmla="*/ 92 w 245"/>
                    <a:gd name="T51" fmla="*/ 50 h 219"/>
                    <a:gd name="T52" fmla="*/ 86 w 245"/>
                    <a:gd name="T53" fmla="*/ 36 h 219"/>
                    <a:gd name="T54" fmla="*/ 14 w 245"/>
                    <a:gd name="T55" fmla="*/ 115 h 219"/>
                    <a:gd name="T56" fmla="*/ 14 w 245"/>
                    <a:gd name="T57" fmla="*/ 97 h 219"/>
                    <a:gd name="T58" fmla="*/ 81 w 245"/>
                    <a:gd name="T59" fmla="*/ 20 h 219"/>
                    <a:gd name="T60" fmla="*/ 78 w 245"/>
                    <a:gd name="T61" fmla="*/ 15 h 219"/>
                    <a:gd name="T62" fmla="*/ 75 w 245"/>
                    <a:gd name="T63" fmla="*/ 7 h 219"/>
                    <a:gd name="T64" fmla="*/ 74 w 245"/>
                    <a:gd name="T65" fmla="*/ 0 h 2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45"/>
                    <a:gd name="T100" fmla="*/ 0 h 219"/>
                    <a:gd name="T101" fmla="*/ 245 w 245"/>
                    <a:gd name="T102" fmla="*/ 219 h 2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45" h="219">
                      <a:moveTo>
                        <a:pt x="74" y="0"/>
                      </a:moveTo>
                      <a:lnTo>
                        <a:pt x="4" y="96"/>
                      </a:lnTo>
                      <a:lnTo>
                        <a:pt x="0" y="113"/>
                      </a:lnTo>
                      <a:lnTo>
                        <a:pt x="0" y="125"/>
                      </a:lnTo>
                      <a:lnTo>
                        <a:pt x="1" y="139"/>
                      </a:lnTo>
                      <a:lnTo>
                        <a:pt x="5" y="156"/>
                      </a:lnTo>
                      <a:lnTo>
                        <a:pt x="12" y="170"/>
                      </a:lnTo>
                      <a:lnTo>
                        <a:pt x="24" y="185"/>
                      </a:lnTo>
                      <a:lnTo>
                        <a:pt x="38" y="196"/>
                      </a:lnTo>
                      <a:lnTo>
                        <a:pt x="58" y="208"/>
                      </a:lnTo>
                      <a:lnTo>
                        <a:pt x="75" y="214"/>
                      </a:lnTo>
                      <a:lnTo>
                        <a:pt x="92" y="217"/>
                      </a:lnTo>
                      <a:lnTo>
                        <a:pt x="114" y="219"/>
                      </a:lnTo>
                      <a:lnTo>
                        <a:pt x="129" y="216"/>
                      </a:lnTo>
                      <a:lnTo>
                        <a:pt x="146" y="210"/>
                      </a:lnTo>
                      <a:lnTo>
                        <a:pt x="245" y="122"/>
                      </a:lnTo>
                      <a:lnTo>
                        <a:pt x="229" y="127"/>
                      </a:lnTo>
                      <a:lnTo>
                        <a:pt x="214" y="128"/>
                      </a:lnTo>
                      <a:lnTo>
                        <a:pt x="195" y="125"/>
                      </a:lnTo>
                      <a:lnTo>
                        <a:pt x="179" y="120"/>
                      </a:lnTo>
                      <a:lnTo>
                        <a:pt x="162" y="114"/>
                      </a:lnTo>
                      <a:lnTo>
                        <a:pt x="141" y="101"/>
                      </a:lnTo>
                      <a:lnTo>
                        <a:pt x="122" y="87"/>
                      </a:lnTo>
                      <a:lnTo>
                        <a:pt x="112" y="76"/>
                      </a:lnTo>
                      <a:lnTo>
                        <a:pt x="100" y="61"/>
                      </a:lnTo>
                      <a:lnTo>
                        <a:pt x="92" y="50"/>
                      </a:lnTo>
                      <a:lnTo>
                        <a:pt x="86" y="36"/>
                      </a:lnTo>
                      <a:lnTo>
                        <a:pt x="14" y="115"/>
                      </a:lnTo>
                      <a:lnTo>
                        <a:pt x="14" y="97"/>
                      </a:lnTo>
                      <a:lnTo>
                        <a:pt x="81" y="20"/>
                      </a:lnTo>
                      <a:lnTo>
                        <a:pt x="78" y="15"/>
                      </a:lnTo>
                      <a:lnTo>
                        <a:pt x="75" y="7"/>
                      </a:lnTo>
                      <a:lnTo>
                        <a:pt x="74" y="0"/>
                      </a:lnTo>
                      <a:close/>
                    </a:path>
                  </a:pathLst>
                </a:custGeom>
                <a:solidFill>
                  <a:srgbClr val="C0C0C0"/>
                </a:solidFill>
                <a:ln w="9525">
                  <a:solidFill>
                    <a:schemeClr val="tx1"/>
                  </a:solidFill>
                  <a:round/>
                  <a:headEnd/>
                  <a:tailEnd/>
                </a:ln>
              </p:spPr>
              <p:txBody>
                <a:bodyPr/>
                <a:lstStyle/>
                <a:p>
                  <a:endParaRPr lang="sv-SE"/>
                </a:p>
              </p:txBody>
            </p:sp>
            <p:grpSp>
              <p:nvGrpSpPr>
                <p:cNvPr id="10" name="Group 37"/>
                <p:cNvGrpSpPr>
                  <a:grpSpLocks/>
                </p:cNvGrpSpPr>
                <p:nvPr/>
              </p:nvGrpSpPr>
              <p:grpSpPr bwMode="auto">
                <a:xfrm>
                  <a:off x="3082" y="1263"/>
                  <a:ext cx="528" cy="558"/>
                  <a:chOff x="3082" y="1263"/>
                  <a:chExt cx="528" cy="558"/>
                </a:xfrm>
              </p:grpSpPr>
              <p:sp>
                <p:nvSpPr>
                  <p:cNvPr id="20706" name="Freeform 38"/>
                  <p:cNvSpPr>
                    <a:spLocks/>
                  </p:cNvSpPr>
                  <p:nvPr/>
                </p:nvSpPr>
                <p:spPr bwMode="auto">
                  <a:xfrm>
                    <a:off x="3125" y="1585"/>
                    <a:ext cx="485" cy="236"/>
                  </a:xfrm>
                  <a:custGeom>
                    <a:avLst/>
                    <a:gdLst>
                      <a:gd name="T0" fmla="*/ 0 w 485"/>
                      <a:gd name="T1" fmla="*/ 236 h 236"/>
                      <a:gd name="T2" fmla="*/ 276 w 485"/>
                      <a:gd name="T3" fmla="*/ 0 h 236"/>
                      <a:gd name="T4" fmla="*/ 485 w 485"/>
                      <a:gd name="T5" fmla="*/ 11 h 236"/>
                      <a:gd name="T6" fmla="*/ 369 w 485"/>
                      <a:gd name="T7" fmla="*/ 74 h 236"/>
                      <a:gd name="T8" fmla="*/ 389 w 485"/>
                      <a:gd name="T9" fmla="*/ 79 h 236"/>
                      <a:gd name="T10" fmla="*/ 261 w 485"/>
                      <a:gd name="T11" fmla="*/ 143 h 236"/>
                      <a:gd name="T12" fmla="*/ 282 w 485"/>
                      <a:gd name="T13" fmla="*/ 149 h 236"/>
                      <a:gd name="T14" fmla="*/ 144 w 485"/>
                      <a:gd name="T15" fmla="*/ 215 h 236"/>
                      <a:gd name="T16" fmla="*/ 0 w 485"/>
                      <a:gd name="T17" fmla="*/ 236 h 2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5"/>
                      <a:gd name="T28" fmla="*/ 0 h 236"/>
                      <a:gd name="T29" fmla="*/ 485 w 485"/>
                      <a:gd name="T30" fmla="*/ 236 h 2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5" h="236">
                        <a:moveTo>
                          <a:pt x="0" y="236"/>
                        </a:moveTo>
                        <a:lnTo>
                          <a:pt x="276" y="0"/>
                        </a:lnTo>
                        <a:lnTo>
                          <a:pt x="485" y="11"/>
                        </a:lnTo>
                        <a:lnTo>
                          <a:pt x="369" y="74"/>
                        </a:lnTo>
                        <a:lnTo>
                          <a:pt x="389" y="79"/>
                        </a:lnTo>
                        <a:lnTo>
                          <a:pt x="261" y="143"/>
                        </a:lnTo>
                        <a:lnTo>
                          <a:pt x="282" y="149"/>
                        </a:lnTo>
                        <a:lnTo>
                          <a:pt x="144" y="215"/>
                        </a:lnTo>
                        <a:lnTo>
                          <a:pt x="0" y="236"/>
                        </a:lnTo>
                        <a:close/>
                      </a:path>
                    </a:pathLst>
                  </a:custGeom>
                  <a:solidFill>
                    <a:srgbClr val="FFFF00"/>
                  </a:solidFill>
                  <a:ln w="9525">
                    <a:solidFill>
                      <a:schemeClr val="tx1"/>
                    </a:solidFill>
                    <a:round/>
                    <a:headEnd/>
                    <a:tailEnd/>
                  </a:ln>
                </p:spPr>
                <p:txBody>
                  <a:bodyPr/>
                  <a:lstStyle/>
                  <a:p>
                    <a:endParaRPr lang="sv-SE"/>
                  </a:p>
                </p:txBody>
              </p:sp>
              <p:sp>
                <p:nvSpPr>
                  <p:cNvPr id="20707" name="Freeform 39"/>
                  <p:cNvSpPr>
                    <a:spLocks/>
                  </p:cNvSpPr>
                  <p:nvPr/>
                </p:nvSpPr>
                <p:spPr bwMode="auto">
                  <a:xfrm>
                    <a:off x="3101" y="1507"/>
                    <a:ext cx="218" cy="282"/>
                  </a:xfrm>
                  <a:custGeom>
                    <a:avLst/>
                    <a:gdLst>
                      <a:gd name="T0" fmla="*/ 21 w 218"/>
                      <a:gd name="T1" fmla="*/ 237 h 282"/>
                      <a:gd name="T2" fmla="*/ 218 w 218"/>
                      <a:gd name="T3" fmla="*/ 0 h 282"/>
                      <a:gd name="T4" fmla="*/ 174 w 218"/>
                      <a:gd name="T5" fmla="*/ 93 h 282"/>
                      <a:gd name="T6" fmla="*/ 0 w 218"/>
                      <a:gd name="T7" fmla="*/ 282 h 282"/>
                      <a:gd name="T8" fmla="*/ 21 w 218"/>
                      <a:gd name="T9" fmla="*/ 237 h 282"/>
                      <a:gd name="T10" fmla="*/ 0 60000 65536"/>
                      <a:gd name="T11" fmla="*/ 0 60000 65536"/>
                      <a:gd name="T12" fmla="*/ 0 60000 65536"/>
                      <a:gd name="T13" fmla="*/ 0 60000 65536"/>
                      <a:gd name="T14" fmla="*/ 0 60000 65536"/>
                      <a:gd name="T15" fmla="*/ 0 w 218"/>
                      <a:gd name="T16" fmla="*/ 0 h 282"/>
                      <a:gd name="T17" fmla="*/ 218 w 218"/>
                      <a:gd name="T18" fmla="*/ 282 h 282"/>
                    </a:gdLst>
                    <a:ahLst/>
                    <a:cxnLst>
                      <a:cxn ang="T10">
                        <a:pos x="T0" y="T1"/>
                      </a:cxn>
                      <a:cxn ang="T11">
                        <a:pos x="T2" y="T3"/>
                      </a:cxn>
                      <a:cxn ang="T12">
                        <a:pos x="T4" y="T5"/>
                      </a:cxn>
                      <a:cxn ang="T13">
                        <a:pos x="T6" y="T7"/>
                      </a:cxn>
                      <a:cxn ang="T14">
                        <a:pos x="T8" y="T9"/>
                      </a:cxn>
                    </a:cxnLst>
                    <a:rect l="T15" t="T16" r="T17" b="T18"/>
                    <a:pathLst>
                      <a:path w="218" h="282">
                        <a:moveTo>
                          <a:pt x="21" y="237"/>
                        </a:moveTo>
                        <a:lnTo>
                          <a:pt x="218" y="0"/>
                        </a:lnTo>
                        <a:lnTo>
                          <a:pt x="174" y="93"/>
                        </a:lnTo>
                        <a:lnTo>
                          <a:pt x="0" y="282"/>
                        </a:lnTo>
                        <a:lnTo>
                          <a:pt x="21" y="237"/>
                        </a:lnTo>
                        <a:close/>
                      </a:path>
                    </a:pathLst>
                  </a:custGeom>
                  <a:solidFill>
                    <a:srgbClr val="FFFF00"/>
                  </a:solidFill>
                  <a:ln w="9525">
                    <a:solidFill>
                      <a:schemeClr val="tx1"/>
                    </a:solidFill>
                    <a:round/>
                    <a:headEnd/>
                    <a:tailEnd/>
                  </a:ln>
                </p:spPr>
                <p:txBody>
                  <a:bodyPr/>
                  <a:lstStyle/>
                  <a:p>
                    <a:endParaRPr lang="sv-SE"/>
                  </a:p>
                </p:txBody>
              </p:sp>
              <p:sp>
                <p:nvSpPr>
                  <p:cNvPr id="20708" name="Freeform 40"/>
                  <p:cNvSpPr>
                    <a:spLocks/>
                  </p:cNvSpPr>
                  <p:nvPr/>
                </p:nvSpPr>
                <p:spPr bwMode="auto">
                  <a:xfrm>
                    <a:off x="3082" y="1263"/>
                    <a:ext cx="195" cy="502"/>
                  </a:xfrm>
                  <a:custGeom>
                    <a:avLst/>
                    <a:gdLst>
                      <a:gd name="T0" fmla="*/ 0 w 195"/>
                      <a:gd name="T1" fmla="*/ 502 h 502"/>
                      <a:gd name="T2" fmla="*/ 195 w 195"/>
                      <a:gd name="T3" fmla="*/ 235 h 502"/>
                      <a:gd name="T4" fmla="*/ 190 w 195"/>
                      <a:gd name="T5" fmla="*/ 0 h 502"/>
                      <a:gd name="T6" fmla="*/ 143 w 195"/>
                      <a:gd name="T7" fmla="*/ 101 h 502"/>
                      <a:gd name="T8" fmla="*/ 135 w 195"/>
                      <a:gd name="T9" fmla="*/ 136 h 502"/>
                      <a:gd name="T10" fmla="*/ 120 w 195"/>
                      <a:gd name="T11" fmla="*/ 117 h 502"/>
                      <a:gd name="T12" fmla="*/ 79 w 195"/>
                      <a:gd name="T13" fmla="*/ 247 h 502"/>
                      <a:gd name="T14" fmla="*/ 73 w 195"/>
                      <a:gd name="T15" fmla="*/ 224 h 502"/>
                      <a:gd name="T16" fmla="*/ 18 w 195"/>
                      <a:gd name="T17" fmla="*/ 354 h 502"/>
                      <a:gd name="T18" fmla="*/ 0 w 195"/>
                      <a:gd name="T19" fmla="*/ 502 h 5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5"/>
                      <a:gd name="T31" fmla="*/ 0 h 502"/>
                      <a:gd name="T32" fmla="*/ 195 w 195"/>
                      <a:gd name="T33" fmla="*/ 502 h 50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5" h="502">
                        <a:moveTo>
                          <a:pt x="0" y="502"/>
                        </a:moveTo>
                        <a:lnTo>
                          <a:pt x="195" y="235"/>
                        </a:lnTo>
                        <a:lnTo>
                          <a:pt x="190" y="0"/>
                        </a:lnTo>
                        <a:lnTo>
                          <a:pt x="143" y="101"/>
                        </a:lnTo>
                        <a:lnTo>
                          <a:pt x="135" y="136"/>
                        </a:lnTo>
                        <a:lnTo>
                          <a:pt x="120" y="117"/>
                        </a:lnTo>
                        <a:lnTo>
                          <a:pt x="79" y="247"/>
                        </a:lnTo>
                        <a:lnTo>
                          <a:pt x="73" y="224"/>
                        </a:lnTo>
                        <a:lnTo>
                          <a:pt x="18" y="354"/>
                        </a:lnTo>
                        <a:lnTo>
                          <a:pt x="0" y="502"/>
                        </a:lnTo>
                        <a:close/>
                      </a:path>
                    </a:pathLst>
                  </a:custGeom>
                  <a:solidFill>
                    <a:srgbClr val="FFFF00"/>
                  </a:solidFill>
                  <a:ln w="9525">
                    <a:solidFill>
                      <a:schemeClr val="tx1"/>
                    </a:solidFill>
                    <a:round/>
                    <a:headEnd/>
                    <a:tailEnd/>
                  </a:ln>
                </p:spPr>
                <p:txBody>
                  <a:bodyPr/>
                  <a:lstStyle/>
                  <a:p>
                    <a:endParaRPr lang="sv-SE"/>
                  </a:p>
                </p:txBody>
              </p:sp>
            </p:grpSp>
            <p:sp>
              <p:nvSpPr>
                <p:cNvPr id="20703" name="Freeform 41"/>
                <p:cNvSpPr>
                  <a:spLocks/>
                </p:cNvSpPr>
                <p:nvPr/>
              </p:nvSpPr>
              <p:spPr bwMode="auto">
                <a:xfrm>
                  <a:off x="3015" y="1742"/>
                  <a:ext cx="151" cy="164"/>
                </a:xfrm>
                <a:custGeom>
                  <a:avLst/>
                  <a:gdLst>
                    <a:gd name="T0" fmla="*/ 69 w 151"/>
                    <a:gd name="T1" fmla="*/ 0 h 164"/>
                    <a:gd name="T2" fmla="*/ 67 w 151"/>
                    <a:gd name="T3" fmla="*/ 17 h 164"/>
                    <a:gd name="T4" fmla="*/ 65 w 151"/>
                    <a:gd name="T5" fmla="*/ 29 h 164"/>
                    <a:gd name="T6" fmla="*/ 67 w 151"/>
                    <a:gd name="T7" fmla="*/ 41 h 164"/>
                    <a:gd name="T8" fmla="*/ 72 w 151"/>
                    <a:gd name="T9" fmla="*/ 51 h 164"/>
                    <a:gd name="T10" fmla="*/ 79 w 151"/>
                    <a:gd name="T11" fmla="*/ 63 h 164"/>
                    <a:gd name="T12" fmla="*/ 89 w 151"/>
                    <a:gd name="T13" fmla="*/ 74 h 164"/>
                    <a:gd name="T14" fmla="*/ 99 w 151"/>
                    <a:gd name="T15" fmla="*/ 82 h 164"/>
                    <a:gd name="T16" fmla="*/ 113 w 151"/>
                    <a:gd name="T17" fmla="*/ 86 h 164"/>
                    <a:gd name="T18" fmla="*/ 127 w 151"/>
                    <a:gd name="T19" fmla="*/ 89 h 164"/>
                    <a:gd name="T20" fmla="*/ 139 w 151"/>
                    <a:gd name="T21" fmla="*/ 88 h 164"/>
                    <a:gd name="T22" fmla="*/ 151 w 151"/>
                    <a:gd name="T23" fmla="*/ 86 h 164"/>
                    <a:gd name="T24" fmla="*/ 67 w 151"/>
                    <a:gd name="T25" fmla="*/ 161 h 164"/>
                    <a:gd name="T26" fmla="*/ 56 w 151"/>
                    <a:gd name="T27" fmla="*/ 164 h 164"/>
                    <a:gd name="T28" fmla="*/ 44 w 151"/>
                    <a:gd name="T29" fmla="*/ 164 h 164"/>
                    <a:gd name="T30" fmla="*/ 34 w 151"/>
                    <a:gd name="T31" fmla="*/ 161 h 164"/>
                    <a:gd name="T32" fmla="*/ 24 w 151"/>
                    <a:gd name="T33" fmla="*/ 156 h 164"/>
                    <a:gd name="T34" fmla="*/ 14 w 151"/>
                    <a:gd name="T35" fmla="*/ 149 h 164"/>
                    <a:gd name="T36" fmla="*/ 6 w 151"/>
                    <a:gd name="T37" fmla="*/ 139 h 164"/>
                    <a:gd name="T38" fmla="*/ 2 w 151"/>
                    <a:gd name="T39" fmla="*/ 127 h 164"/>
                    <a:gd name="T40" fmla="*/ 0 w 151"/>
                    <a:gd name="T41" fmla="*/ 116 h 164"/>
                    <a:gd name="T42" fmla="*/ 0 w 151"/>
                    <a:gd name="T43" fmla="*/ 104 h 164"/>
                    <a:gd name="T44" fmla="*/ 3 w 151"/>
                    <a:gd name="T45" fmla="*/ 90 h 164"/>
                    <a:gd name="T46" fmla="*/ 69 w 151"/>
                    <a:gd name="T47" fmla="*/ 0 h 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1"/>
                    <a:gd name="T73" fmla="*/ 0 h 164"/>
                    <a:gd name="T74" fmla="*/ 151 w 151"/>
                    <a:gd name="T75" fmla="*/ 164 h 16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1" h="164">
                      <a:moveTo>
                        <a:pt x="69" y="0"/>
                      </a:moveTo>
                      <a:lnTo>
                        <a:pt x="67" y="17"/>
                      </a:lnTo>
                      <a:lnTo>
                        <a:pt x="65" y="29"/>
                      </a:lnTo>
                      <a:lnTo>
                        <a:pt x="67" y="41"/>
                      </a:lnTo>
                      <a:lnTo>
                        <a:pt x="72" y="51"/>
                      </a:lnTo>
                      <a:lnTo>
                        <a:pt x="79" y="63"/>
                      </a:lnTo>
                      <a:lnTo>
                        <a:pt x="89" y="74"/>
                      </a:lnTo>
                      <a:lnTo>
                        <a:pt x="99" y="82"/>
                      </a:lnTo>
                      <a:lnTo>
                        <a:pt x="113" y="86"/>
                      </a:lnTo>
                      <a:lnTo>
                        <a:pt x="127" y="89"/>
                      </a:lnTo>
                      <a:lnTo>
                        <a:pt x="139" y="88"/>
                      </a:lnTo>
                      <a:lnTo>
                        <a:pt x="151" y="86"/>
                      </a:lnTo>
                      <a:lnTo>
                        <a:pt x="67" y="161"/>
                      </a:lnTo>
                      <a:lnTo>
                        <a:pt x="56" y="164"/>
                      </a:lnTo>
                      <a:lnTo>
                        <a:pt x="44" y="164"/>
                      </a:lnTo>
                      <a:lnTo>
                        <a:pt x="34" y="161"/>
                      </a:lnTo>
                      <a:lnTo>
                        <a:pt x="24" y="156"/>
                      </a:lnTo>
                      <a:lnTo>
                        <a:pt x="14" y="149"/>
                      </a:lnTo>
                      <a:lnTo>
                        <a:pt x="6" y="139"/>
                      </a:lnTo>
                      <a:lnTo>
                        <a:pt x="2" y="127"/>
                      </a:lnTo>
                      <a:lnTo>
                        <a:pt x="0" y="116"/>
                      </a:lnTo>
                      <a:lnTo>
                        <a:pt x="0" y="104"/>
                      </a:lnTo>
                      <a:lnTo>
                        <a:pt x="3" y="90"/>
                      </a:lnTo>
                      <a:lnTo>
                        <a:pt x="69" y="0"/>
                      </a:lnTo>
                      <a:close/>
                    </a:path>
                  </a:pathLst>
                </a:custGeom>
                <a:solidFill>
                  <a:srgbClr val="FFFF00"/>
                </a:solidFill>
                <a:ln w="9525">
                  <a:solidFill>
                    <a:schemeClr val="tx1"/>
                  </a:solidFill>
                  <a:round/>
                  <a:headEnd/>
                  <a:tailEnd/>
                </a:ln>
              </p:spPr>
              <p:txBody>
                <a:bodyPr/>
                <a:lstStyle/>
                <a:p>
                  <a:endParaRPr lang="sv-SE"/>
                </a:p>
              </p:txBody>
            </p:sp>
            <p:sp>
              <p:nvSpPr>
                <p:cNvPr id="20704" name="Freeform 42"/>
                <p:cNvSpPr>
                  <a:spLocks/>
                </p:cNvSpPr>
                <p:nvPr/>
              </p:nvSpPr>
              <p:spPr bwMode="auto">
                <a:xfrm>
                  <a:off x="3031" y="1788"/>
                  <a:ext cx="89" cy="102"/>
                </a:xfrm>
                <a:custGeom>
                  <a:avLst/>
                  <a:gdLst>
                    <a:gd name="T0" fmla="*/ 20 w 89"/>
                    <a:gd name="T1" fmla="*/ 0 h 102"/>
                    <a:gd name="T2" fmla="*/ 17 w 89"/>
                    <a:gd name="T3" fmla="*/ 10 h 102"/>
                    <a:gd name="T4" fmla="*/ 15 w 89"/>
                    <a:gd name="T5" fmla="*/ 22 h 102"/>
                    <a:gd name="T6" fmla="*/ 14 w 89"/>
                    <a:gd name="T7" fmla="*/ 33 h 102"/>
                    <a:gd name="T8" fmla="*/ 14 w 89"/>
                    <a:gd name="T9" fmla="*/ 43 h 102"/>
                    <a:gd name="T10" fmla="*/ 16 w 89"/>
                    <a:gd name="T11" fmla="*/ 57 h 102"/>
                    <a:gd name="T12" fmla="*/ 21 w 89"/>
                    <a:gd name="T13" fmla="*/ 69 h 102"/>
                    <a:gd name="T14" fmla="*/ 28 w 89"/>
                    <a:gd name="T15" fmla="*/ 76 h 102"/>
                    <a:gd name="T16" fmla="*/ 41 w 89"/>
                    <a:gd name="T17" fmla="*/ 82 h 102"/>
                    <a:gd name="T18" fmla="*/ 57 w 89"/>
                    <a:gd name="T19" fmla="*/ 85 h 102"/>
                    <a:gd name="T20" fmla="*/ 72 w 89"/>
                    <a:gd name="T21" fmla="*/ 84 h 102"/>
                    <a:gd name="T22" fmla="*/ 89 w 89"/>
                    <a:gd name="T23" fmla="*/ 80 h 102"/>
                    <a:gd name="T24" fmla="*/ 69 w 89"/>
                    <a:gd name="T25" fmla="*/ 99 h 102"/>
                    <a:gd name="T26" fmla="*/ 58 w 89"/>
                    <a:gd name="T27" fmla="*/ 102 h 102"/>
                    <a:gd name="T28" fmla="*/ 44 w 89"/>
                    <a:gd name="T29" fmla="*/ 101 h 102"/>
                    <a:gd name="T30" fmla="*/ 32 w 89"/>
                    <a:gd name="T31" fmla="*/ 98 h 102"/>
                    <a:gd name="T32" fmla="*/ 22 w 89"/>
                    <a:gd name="T33" fmla="*/ 93 h 102"/>
                    <a:gd name="T34" fmla="*/ 14 w 89"/>
                    <a:gd name="T35" fmla="*/ 85 h 102"/>
                    <a:gd name="T36" fmla="*/ 6 w 89"/>
                    <a:gd name="T37" fmla="*/ 76 h 102"/>
                    <a:gd name="T38" fmla="*/ 2 w 89"/>
                    <a:gd name="T39" fmla="*/ 65 h 102"/>
                    <a:gd name="T40" fmla="*/ 0 w 89"/>
                    <a:gd name="T41" fmla="*/ 52 h 102"/>
                    <a:gd name="T42" fmla="*/ 0 w 89"/>
                    <a:gd name="T43" fmla="*/ 40 h 102"/>
                    <a:gd name="T44" fmla="*/ 3 w 89"/>
                    <a:gd name="T45" fmla="*/ 25 h 102"/>
                    <a:gd name="T46" fmla="*/ 20 w 89"/>
                    <a:gd name="T47" fmla="*/ 0 h 10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9"/>
                    <a:gd name="T73" fmla="*/ 0 h 102"/>
                    <a:gd name="T74" fmla="*/ 89 w 89"/>
                    <a:gd name="T75" fmla="*/ 102 h 10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9" h="102">
                      <a:moveTo>
                        <a:pt x="20" y="0"/>
                      </a:moveTo>
                      <a:lnTo>
                        <a:pt x="17" y="10"/>
                      </a:lnTo>
                      <a:lnTo>
                        <a:pt x="15" y="22"/>
                      </a:lnTo>
                      <a:lnTo>
                        <a:pt x="14" y="33"/>
                      </a:lnTo>
                      <a:lnTo>
                        <a:pt x="14" y="43"/>
                      </a:lnTo>
                      <a:lnTo>
                        <a:pt x="16" y="57"/>
                      </a:lnTo>
                      <a:lnTo>
                        <a:pt x="21" y="69"/>
                      </a:lnTo>
                      <a:lnTo>
                        <a:pt x="28" y="76"/>
                      </a:lnTo>
                      <a:lnTo>
                        <a:pt x="41" y="82"/>
                      </a:lnTo>
                      <a:lnTo>
                        <a:pt x="57" y="85"/>
                      </a:lnTo>
                      <a:lnTo>
                        <a:pt x="72" y="84"/>
                      </a:lnTo>
                      <a:lnTo>
                        <a:pt x="89" y="80"/>
                      </a:lnTo>
                      <a:lnTo>
                        <a:pt x="69" y="99"/>
                      </a:lnTo>
                      <a:lnTo>
                        <a:pt x="58" y="102"/>
                      </a:lnTo>
                      <a:lnTo>
                        <a:pt x="44" y="101"/>
                      </a:lnTo>
                      <a:lnTo>
                        <a:pt x="32" y="98"/>
                      </a:lnTo>
                      <a:lnTo>
                        <a:pt x="22" y="93"/>
                      </a:lnTo>
                      <a:lnTo>
                        <a:pt x="14" y="85"/>
                      </a:lnTo>
                      <a:lnTo>
                        <a:pt x="6" y="76"/>
                      </a:lnTo>
                      <a:lnTo>
                        <a:pt x="2" y="65"/>
                      </a:lnTo>
                      <a:lnTo>
                        <a:pt x="0" y="52"/>
                      </a:lnTo>
                      <a:lnTo>
                        <a:pt x="0" y="40"/>
                      </a:lnTo>
                      <a:lnTo>
                        <a:pt x="3" y="25"/>
                      </a:lnTo>
                      <a:lnTo>
                        <a:pt x="20" y="0"/>
                      </a:lnTo>
                      <a:close/>
                    </a:path>
                  </a:pathLst>
                </a:custGeom>
                <a:solidFill>
                  <a:srgbClr val="FF0000"/>
                </a:solidFill>
                <a:ln w="9525">
                  <a:solidFill>
                    <a:schemeClr val="tx1"/>
                  </a:solidFill>
                  <a:round/>
                  <a:headEnd/>
                  <a:tailEnd/>
                </a:ln>
              </p:spPr>
              <p:txBody>
                <a:bodyPr/>
                <a:lstStyle/>
                <a:p>
                  <a:endParaRPr lang="sv-SE"/>
                </a:p>
              </p:txBody>
            </p:sp>
            <p:sp>
              <p:nvSpPr>
                <p:cNvPr id="20705" name="Freeform 43"/>
                <p:cNvSpPr>
                  <a:spLocks/>
                </p:cNvSpPr>
                <p:nvPr/>
              </p:nvSpPr>
              <p:spPr bwMode="auto">
                <a:xfrm>
                  <a:off x="2841" y="2024"/>
                  <a:ext cx="67" cy="74"/>
                </a:xfrm>
                <a:custGeom>
                  <a:avLst/>
                  <a:gdLst>
                    <a:gd name="T0" fmla="*/ 36 w 67"/>
                    <a:gd name="T1" fmla="*/ 0 h 74"/>
                    <a:gd name="T2" fmla="*/ 2 w 67"/>
                    <a:gd name="T3" fmla="*/ 45 h 74"/>
                    <a:gd name="T4" fmla="*/ 0 w 67"/>
                    <a:gd name="T5" fmla="*/ 52 h 74"/>
                    <a:gd name="T6" fmla="*/ 1 w 67"/>
                    <a:gd name="T7" fmla="*/ 60 h 74"/>
                    <a:gd name="T8" fmla="*/ 4 w 67"/>
                    <a:gd name="T9" fmla="*/ 67 h 74"/>
                    <a:gd name="T10" fmla="*/ 9 w 67"/>
                    <a:gd name="T11" fmla="*/ 72 h 74"/>
                    <a:gd name="T12" fmla="*/ 17 w 67"/>
                    <a:gd name="T13" fmla="*/ 74 h 74"/>
                    <a:gd name="T14" fmla="*/ 25 w 67"/>
                    <a:gd name="T15" fmla="*/ 73 h 74"/>
                    <a:gd name="T16" fmla="*/ 67 w 67"/>
                    <a:gd name="T17" fmla="*/ 35 h 74"/>
                    <a:gd name="T18" fmla="*/ 58 w 67"/>
                    <a:gd name="T19" fmla="*/ 32 h 74"/>
                    <a:gd name="T20" fmla="*/ 50 w 67"/>
                    <a:gd name="T21" fmla="*/ 27 h 74"/>
                    <a:gd name="T22" fmla="*/ 44 w 67"/>
                    <a:gd name="T23" fmla="*/ 21 h 74"/>
                    <a:gd name="T24" fmla="*/ 40 w 67"/>
                    <a:gd name="T25" fmla="*/ 15 h 74"/>
                    <a:gd name="T26" fmla="*/ 37 w 67"/>
                    <a:gd name="T27" fmla="*/ 8 h 74"/>
                    <a:gd name="T28" fmla="*/ 36 w 67"/>
                    <a:gd name="T29" fmla="*/ 0 h 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7"/>
                    <a:gd name="T46" fmla="*/ 0 h 74"/>
                    <a:gd name="T47" fmla="*/ 67 w 67"/>
                    <a:gd name="T48" fmla="*/ 74 h 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7" h="74">
                      <a:moveTo>
                        <a:pt x="36" y="0"/>
                      </a:moveTo>
                      <a:lnTo>
                        <a:pt x="2" y="45"/>
                      </a:lnTo>
                      <a:lnTo>
                        <a:pt x="0" y="52"/>
                      </a:lnTo>
                      <a:lnTo>
                        <a:pt x="1" y="60"/>
                      </a:lnTo>
                      <a:lnTo>
                        <a:pt x="4" y="67"/>
                      </a:lnTo>
                      <a:lnTo>
                        <a:pt x="9" y="72"/>
                      </a:lnTo>
                      <a:lnTo>
                        <a:pt x="17" y="74"/>
                      </a:lnTo>
                      <a:lnTo>
                        <a:pt x="25" y="73"/>
                      </a:lnTo>
                      <a:lnTo>
                        <a:pt x="67" y="35"/>
                      </a:lnTo>
                      <a:lnTo>
                        <a:pt x="58" y="32"/>
                      </a:lnTo>
                      <a:lnTo>
                        <a:pt x="50" y="27"/>
                      </a:lnTo>
                      <a:lnTo>
                        <a:pt x="44" y="21"/>
                      </a:lnTo>
                      <a:lnTo>
                        <a:pt x="40" y="15"/>
                      </a:lnTo>
                      <a:lnTo>
                        <a:pt x="37" y="8"/>
                      </a:lnTo>
                      <a:lnTo>
                        <a:pt x="36" y="0"/>
                      </a:lnTo>
                      <a:close/>
                    </a:path>
                  </a:pathLst>
                </a:custGeom>
                <a:solidFill>
                  <a:srgbClr val="FFFF00"/>
                </a:solidFill>
                <a:ln w="9525">
                  <a:solidFill>
                    <a:schemeClr val="tx1"/>
                  </a:solidFill>
                  <a:round/>
                  <a:headEnd/>
                  <a:tailEnd/>
                </a:ln>
              </p:spPr>
              <p:txBody>
                <a:bodyPr/>
                <a:lstStyle/>
                <a:p>
                  <a:endParaRPr lang="sv-SE"/>
                </a:p>
              </p:txBody>
            </p:sp>
          </p:grpSp>
          <p:grpSp>
            <p:nvGrpSpPr>
              <p:cNvPr id="11" name="Group 44"/>
              <p:cNvGrpSpPr>
                <a:grpSpLocks/>
              </p:cNvGrpSpPr>
              <p:nvPr/>
            </p:nvGrpSpPr>
            <p:grpSpPr bwMode="auto">
              <a:xfrm>
                <a:off x="2912" y="1764"/>
                <a:ext cx="942" cy="497"/>
                <a:chOff x="2912" y="1764"/>
                <a:chExt cx="942" cy="497"/>
              </a:xfrm>
            </p:grpSpPr>
            <p:grpSp>
              <p:nvGrpSpPr>
                <p:cNvPr id="12" name="Group 45"/>
                <p:cNvGrpSpPr>
                  <a:grpSpLocks/>
                </p:cNvGrpSpPr>
                <p:nvPr/>
              </p:nvGrpSpPr>
              <p:grpSpPr bwMode="auto">
                <a:xfrm>
                  <a:off x="2912" y="1764"/>
                  <a:ext cx="942" cy="497"/>
                  <a:chOff x="2912" y="1764"/>
                  <a:chExt cx="942" cy="497"/>
                </a:xfrm>
              </p:grpSpPr>
              <p:grpSp>
                <p:nvGrpSpPr>
                  <p:cNvPr id="13" name="Group 46"/>
                  <p:cNvGrpSpPr>
                    <a:grpSpLocks/>
                  </p:cNvGrpSpPr>
                  <p:nvPr/>
                </p:nvGrpSpPr>
                <p:grpSpPr bwMode="auto">
                  <a:xfrm>
                    <a:off x="2912" y="1910"/>
                    <a:ext cx="925" cy="351"/>
                    <a:chOff x="2912" y="1910"/>
                    <a:chExt cx="925" cy="351"/>
                  </a:xfrm>
                </p:grpSpPr>
                <p:grpSp>
                  <p:nvGrpSpPr>
                    <p:cNvPr id="14" name="Group 47"/>
                    <p:cNvGrpSpPr>
                      <a:grpSpLocks/>
                    </p:cNvGrpSpPr>
                    <p:nvPr/>
                  </p:nvGrpSpPr>
                  <p:grpSpPr bwMode="auto">
                    <a:xfrm>
                      <a:off x="2912" y="2131"/>
                      <a:ext cx="58" cy="130"/>
                      <a:chOff x="2912" y="2131"/>
                      <a:chExt cx="58" cy="130"/>
                    </a:xfrm>
                  </p:grpSpPr>
                  <p:sp>
                    <p:nvSpPr>
                      <p:cNvPr id="20691" name="Freeform 48"/>
                      <p:cNvSpPr>
                        <a:spLocks/>
                      </p:cNvSpPr>
                      <p:nvPr/>
                    </p:nvSpPr>
                    <p:spPr bwMode="auto">
                      <a:xfrm>
                        <a:off x="2954" y="2131"/>
                        <a:ext cx="16" cy="130"/>
                      </a:xfrm>
                      <a:custGeom>
                        <a:avLst/>
                        <a:gdLst>
                          <a:gd name="T0" fmla="*/ 4 w 16"/>
                          <a:gd name="T1" fmla="*/ 0 h 130"/>
                          <a:gd name="T2" fmla="*/ 0 w 16"/>
                          <a:gd name="T3" fmla="*/ 71 h 130"/>
                          <a:gd name="T4" fmla="*/ 16 w 16"/>
                          <a:gd name="T5" fmla="*/ 130 h 130"/>
                          <a:gd name="T6" fmla="*/ 16 w 16"/>
                          <a:gd name="T7" fmla="*/ 67 h 130"/>
                          <a:gd name="T8" fmla="*/ 4 w 16"/>
                          <a:gd name="T9" fmla="*/ 0 h 130"/>
                          <a:gd name="T10" fmla="*/ 0 60000 65536"/>
                          <a:gd name="T11" fmla="*/ 0 60000 65536"/>
                          <a:gd name="T12" fmla="*/ 0 60000 65536"/>
                          <a:gd name="T13" fmla="*/ 0 60000 65536"/>
                          <a:gd name="T14" fmla="*/ 0 60000 65536"/>
                          <a:gd name="T15" fmla="*/ 0 w 16"/>
                          <a:gd name="T16" fmla="*/ 0 h 130"/>
                          <a:gd name="T17" fmla="*/ 16 w 16"/>
                          <a:gd name="T18" fmla="*/ 130 h 130"/>
                        </a:gdLst>
                        <a:ahLst/>
                        <a:cxnLst>
                          <a:cxn ang="T10">
                            <a:pos x="T0" y="T1"/>
                          </a:cxn>
                          <a:cxn ang="T11">
                            <a:pos x="T2" y="T3"/>
                          </a:cxn>
                          <a:cxn ang="T12">
                            <a:pos x="T4" y="T5"/>
                          </a:cxn>
                          <a:cxn ang="T13">
                            <a:pos x="T6" y="T7"/>
                          </a:cxn>
                          <a:cxn ang="T14">
                            <a:pos x="T8" y="T9"/>
                          </a:cxn>
                        </a:cxnLst>
                        <a:rect l="T15" t="T16" r="T17" b="T18"/>
                        <a:pathLst>
                          <a:path w="16" h="130">
                            <a:moveTo>
                              <a:pt x="4" y="0"/>
                            </a:moveTo>
                            <a:lnTo>
                              <a:pt x="0" y="71"/>
                            </a:lnTo>
                            <a:lnTo>
                              <a:pt x="16" y="130"/>
                            </a:lnTo>
                            <a:lnTo>
                              <a:pt x="16" y="67"/>
                            </a:lnTo>
                            <a:lnTo>
                              <a:pt x="4" y="0"/>
                            </a:lnTo>
                            <a:close/>
                          </a:path>
                        </a:pathLst>
                      </a:custGeom>
                      <a:solidFill>
                        <a:srgbClr val="9F9F9F"/>
                      </a:solidFill>
                      <a:ln w="9525">
                        <a:solidFill>
                          <a:schemeClr val="tx1"/>
                        </a:solidFill>
                        <a:round/>
                        <a:headEnd/>
                        <a:tailEnd/>
                      </a:ln>
                    </p:spPr>
                    <p:txBody>
                      <a:bodyPr/>
                      <a:lstStyle/>
                      <a:p>
                        <a:endParaRPr lang="sv-SE"/>
                      </a:p>
                    </p:txBody>
                  </p:sp>
                  <p:sp>
                    <p:nvSpPr>
                      <p:cNvPr id="20692" name="Freeform 49"/>
                      <p:cNvSpPr>
                        <a:spLocks/>
                      </p:cNvSpPr>
                      <p:nvPr/>
                    </p:nvSpPr>
                    <p:spPr bwMode="auto">
                      <a:xfrm>
                        <a:off x="2912" y="2131"/>
                        <a:ext cx="45" cy="79"/>
                      </a:xfrm>
                      <a:custGeom>
                        <a:avLst/>
                        <a:gdLst>
                          <a:gd name="T0" fmla="*/ 45 w 45"/>
                          <a:gd name="T1" fmla="*/ 0 h 79"/>
                          <a:gd name="T2" fmla="*/ 41 w 45"/>
                          <a:gd name="T3" fmla="*/ 69 h 79"/>
                          <a:gd name="T4" fmla="*/ 0 w 45"/>
                          <a:gd name="T5" fmla="*/ 79 h 79"/>
                          <a:gd name="T6" fmla="*/ 0 w 45"/>
                          <a:gd name="T7" fmla="*/ 53 h 79"/>
                          <a:gd name="T8" fmla="*/ 45 w 45"/>
                          <a:gd name="T9" fmla="*/ 0 h 79"/>
                          <a:gd name="T10" fmla="*/ 0 60000 65536"/>
                          <a:gd name="T11" fmla="*/ 0 60000 65536"/>
                          <a:gd name="T12" fmla="*/ 0 60000 65536"/>
                          <a:gd name="T13" fmla="*/ 0 60000 65536"/>
                          <a:gd name="T14" fmla="*/ 0 60000 65536"/>
                          <a:gd name="T15" fmla="*/ 0 w 45"/>
                          <a:gd name="T16" fmla="*/ 0 h 79"/>
                          <a:gd name="T17" fmla="*/ 45 w 45"/>
                          <a:gd name="T18" fmla="*/ 79 h 79"/>
                        </a:gdLst>
                        <a:ahLst/>
                        <a:cxnLst>
                          <a:cxn ang="T10">
                            <a:pos x="T0" y="T1"/>
                          </a:cxn>
                          <a:cxn ang="T11">
                            <a:pos x="T2" y="T3"/>
                          </a:cxn>
                          <a:cxn ang="T12">
                            <a:pos x="T4" y="T5"/>
                          </a:cxn>
                          <a:cxn ang="T13">
                            <a:pos x="T6" y="T7"/>
                          </a:cxn>
                          <a:cxn ang="T14">
                            <a:pos x="T8" y="T9"/>
                          </a:cxn>
                        </a:cxnLst>
                        <a:rect l="T15" t="T16" r="T17" b="T18"/>
                        <a:pathLst>
                          <a:path w="45" h="79">
                            <a:moveTo>
                              <a:pt x="45" y="0"/>
                            </a:moveTo>
                            <a:lnTo>
                              <a:pt x="41" y="69"/>
                            </a:lnTo>
                            <a:lnTo>
                              <a:pt x="0" y="79"/>
                            </a:lnTo>
                            <a:lnTo>
                              <a:pt x="0" y="53"/>
                            </a:lnTo>
                            <a:lnTo>
                              <a:pt x="45" y="0"/>
                            </a:lnTo>
                            <a:close/>
                          </a:path>
                        </a:pathLst>
                      </a:custGeom>
                      <a:solidFill>
                        <a:srgbClr val="5F5F5F"/>
                      </a:solidFill>
                      <a:ln w="9525">
                        <a:solidFill>
                          <a:schemeClr val="tx1"/>
                        </a:solidFill>
                        <a:round/>
                        <a:headEnd/>
                        <a:tailEnd/>
                      </a:ln>
                    </p:spPr>
                    <p:txBody>
                      <a:bodyPr/>
                      <a:lstStyle/>
                      <a:p>
                        <a:endParaRPr lang="sv-SE"/>
                      </a:p>
                    </p:txBody>
                  </p:sp>
                  <p:sp>
                    <p:nvSpPr>
                      <p:cNvPr id="20693" name="Freeform 50"/>
                      <p:cNvSpPr>
                        <a:spLocks/>
                      </p:cNvSpPr>
                      <p:nvPr/>
                    </p:nvSpPr>
                    <p:spPr bwMode="auto">
                      <a:xfrm>
                        <a:off x="2912" y="2202"/>
                        <a:ext cx="58" cy="58"/>
                      </a:xfrm>
                      <a:custGeom>
                        <a:avLst/>
                        <a:gdLst>
                          <a:gd name="T0" fmla="*/ 0 w 58"/>
                          <a:gd name="T1" fmla="*/ 10 h 58"/>
                          <a:gd name="T2" fmla="*/ 42 w 58"/>
                          <a:gd name="T3" fmla="*/ 0 h 58"/>
                          <a:gd name="T4" fmla="*/ 58 w 58"/>
                          <a:gd name="T5" fmla="*/ 58 h 58"/>
                          <a:gd name="T6" fmla="*/ 7 w 58"/>
                          <a:gd name="T7" fmla="*/ 31 h 58"/>
                          <a:gd name="T8" fmla="*/ 0 w 58"/>
                          <a:gd name="T9" fmla="*/ 10 h 58"/>
                          <a:gd name="T10" fmla="*/ 0 60000 65536"/>
                          <a:gd name="T11" fmla="*/ 0 60000 65536"/>
                          <a:gd name="T12" fmla="*/ 0 60000 65536"/>
                          <a:gd name="T13" fmla="*/ 0 60000 65536"/>
                          <a:gd name="T14" fmla="*/ 0 60000 65536"/>
                          <a:gd name="T15" fmla="*/ 0 w 58"/>
                          <a:gd name="T16" fmla="*/ 0 h 58"/>
                          <a:gd name="T17" fmla="*/ 58 w 58"/>
                          <a:gd name="T18" fmla="*/ 58 h 58"/>
                        </a:gdLst>
                        <a:ahLst/>
                        <a:cxnLst>
                          <a:cxn ang="T10">
                            <a:pos x="T0" y="T1"/>
                          </a:cxn>
                          <a:cxn ang="T11">
                            <a:pos x="T2" y="T3"/>
                          </a:cxn>
                          <a:cxn ang="T12">
                            <a:pos x="T4" y="T5"/>
                          </a:cxn>
                          <a:cxn ang="T13">
                            <a:pos x="T6" y="T7"/>
                          </a:cxn>
                          <a:cxn ang="T14">
                            <a:pos x="T8" y="T9"/>
                          </a:cxn>
                        </a:cxnLst>
                        <a:rect l="T15" t="T16" r="T17" b="T18"/>
                        <a:pathLst>
                          <a:path w="58" h="58">
                            <a:moveTo>
                              <a:pt x="0" y="10"/>
                            </a:moveTo>
                            <a:lnTo>
                              <a:pt x="42" y="0"/>
                            </a:lnTo>
                            <a:lnTo>
                              <a:pt x="58" y="58"/>
                            </a:lnTo>
                            <a:lnTo>
                              <a:pt x="7" y="31"/>
                            </a:lnTo>
                            <a:lnTo>
                              <a:pt x="0" y="10"/>
                            </a:lnTo>
                            <a:close/>
                          </a:path>
                        </a:pathLst>
                      </a:custGeom>
                      <a:solidFill>
                        <a:srgbClr val="3F3F3F"/>
                      </a:solidFill>
                      <a:ln w="9525">
                        <a:solidFill>
                          <a:schemeClr val="tx1"/>
                        </a:solidFill>
                        <a:round/>
                        <a:headEnd/>
                        <a:tailEnd/>
                      </a:ln>
                    </p:spPr>
                    <p:txBody>
                      <a:bodyPr/>
                      <a:lstStyle/>
                      <a:p>
                        <a:endParaRPr lang="sv-SE"/>
                      </a:p>
                    </p:txBody>
                  </p:sp>
                </p:grpSp>
                <p:sp>
                  <p:nvSpPr>
                    <p:cNvPr id="20685" name="Freeform 51"/>
                    <p:cNvSpPr>
                      <a:spLocks/>
                    </p:cNvSpPr>
                    <p:nvPr/>
                  </p:nvSpPr>
                  <p:spPr bwMode="auto">
                    <a:xfrm>
                      <a:off x="2944" y="1925"/>
                      <a:ext cx="786" cy="296"/>
                    </a:xfrm>
                    <a:custGeom>
                      <a:avLst/>
                      <a:gdLst>
                        <a:gd name="T0" fmla="*/ 14 w 786"/>
                        <a:gd name="T1" fmla="*/ 296 h 296"/>
                        <a:gd name="T2" fmla="*/ 7 w 786"/>
                        <a:gd name="T3" fmla="*/ 293 h 296"/>
                        <a:gd name="T4" fmla="*/ 2 w 786"/>
                        <a:gd name="T5" fmla="*/ 289 h 296"/>
                        <a:gd name="T6" fmla="*/ 0 w 786"/>
                        <a:gd name="T7" fmla="*/ 282 h 296"/>
                        <a:gd name="T8" fmla="*/ 0 w 786"/>
                        <a:gd name="T9" fmla="*/ 275 h 296"/>
                        <a:gd name="T10" fmla="*/ 2 w 786"/>
                        <a:gd name="T11" fmla="*/ 266 h 296"/>
                        <a:gd name="T12" fmla="*/ 5 w 786"/>
                        <a:gd name="T13" fmla="*/ 261 h 296"/>
                        <a:gd name="T14" fmla="*/ 12 w 786"/>
                        <a:gd name="T15" fmla="*/ 256 h 296"/>
                        <a:gd name="T16" fmla="*/ 756 w 786"/>
                        <a:gd name="T17" fmla="*/ 0 h 296"/>
                        <a:gd name="T18" fmla="*/ 786 w 786"/>
                        <a:gd name="T19" fmla="*/ 195 h 296"/>
                        <a:gd name="T20" fmla="*/ 14 w 786"/>
                        <a:gd name="T21" fmla="*/ 296 h 2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6"/>
                        <a:gd name="T34" fmla="*/ 0 h 296"/>
                        <a:gd name="T35" fmla="*/ 786 w 786"/>
                        <a:gd name="T36" fmla="*/ 296 h 2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6" h="296">
                          <a:moveTo>
                            <a:pt x="14" y="296"/>
                          </a:moveTo>
                          <a:lnTo>
                            <a:pt x="7" y="293"/>
                          </a:lnTo>
                          <a:lnTo>
                            <a:pt x="2" y="289"/>
                          </a:lnTo>
                          <a:lnTo>
                            <a:pt x="0" y="282"/>
                          </a:lnTo>
                          <a:lnTo>
                            <a:pt x="0" y="275"/>
                          </a:lnTo>
                          <a:lnTo>
                            <a:pt x="2" y="266"/>
                          </a:lnTo>
                          <a:lnTo>
                            <a:pt x="5" y="261"/>
                          </a:lnTo>
                          <a:lnTo>
                            <a:pt x="12" y="256"/>
                          </a:lnTo>
                          <a:lnTo>
                            <a:pt x="756" y="0"/>
                          </a:lnTo>
                          <a:lnTo>
                            <a:pt x="786" y="195"/>
                          </a:lnTo>
                          <a:lnTo>
                            <a:pt x="14" y="296"/>
                          </a:lnTo>
                          <a:close/>
                        </a:path>
                      </a:pathLst>
                    </a:custGeom>
                    <a:solidFill>
                      <a:srgbClr val="808080"/>
                    </a:solidFill>
                    <a:ln w="9525">
                      <a:solidFill>
                        <a:schemeClr val="tx1"/>
                      </a:solidFill>
                      <a:round/>
                      <a:headEnd/>
                      <a:tailEnd/>
                    </a:ln>
                  </p:spPr>
                  <p:txBody>
                    <a:bodyPr/>
                    <a:lstStyle/>
                    <a:p>
                      <a:endParaRPr lang="sv-SE"/>
                    </a:p>
                  </p:txBody>
                </p:sp>
                <p:sp>
                  <p:nvSpPr>
                    <p:cNvPr id="20686" name="Freeform 52"/>
                    <p:cNvSpPr>
                      <a:spLocks/>
                    </p:cNvSpPr>
                    <p:nvPr/>
                  </p:nvSpPr>
                  <p:spPr bwMode="auto">
                    <a:xfrm>
                      <a:off x="3598" y="1927"/>
                      <a:ext cx="229" cy="148"/>
                    </a:xfrm>
                    <a:custGeom>
                      <a:avLst/>
                      <a:gdLst>
                        <a:gd name="T0" fmla="*/ 229 w 229"/>
                        <a:gd name="T1" fmla="*/ 143 h 148"/>
                        <a:gd name="T2" fmla="*/ 211 w 229"/>
                        <a:gd name="T3" fmla="*/ 148 h 148"/>
                        <a:gd name="T4" fmla="*/ 109 w 229"/>
                        <a:gd name="T5" fmla="*/ 32 h 148"/>
                        <a:gd name="T6" fmla="*/ 0 w 229"/>
                        <a:gd name="T7" fmla="*/ 52 h 148"/>
                        <a:gd name="T8" fmla="*/ 14 w 229"/>
                        <a:gd name="T9" fmla="*/ 33 h 148"/>
                        <a:gd name="T10" fmla="*/ 125 w 229"/>
                        <a:gd name="T11" fmla="*/ 0 h 148"/>
                        <a:gd name="T12" fmla="*/ 229 w 229"/>
                        <a:gd name="T13" fmla="*/ 143 h 148"/>
                        <a:gd name="T14" fmla="*/ 0 60000 65536"/>
                        <a:gd name="T15" fmla="*/ 0 60000 65536"/>
                        <a:gd name="T16" fmla="*/ 0 60000 65536"/>
                        <a:gd name="T17" fmla="*/ 0 60000 65536"/>
                        <a:gd name="T18" fmla="*/ 0 60000 65536"/>
                        <a:gd name="T19" fmla="*/ 0 60000 65536"/>
                        <a:gd name="T20" fmla="*/ 0 60000 65536"/>
                        <a:gd name="T21" fmla="*/ 0 w 229"/>
                        <a:gd name="T22" fmla="*/ 0 h 148"/>
                        <a:gd name="T23" fmla="*/ 229 w 229"/>
                        <a:gd name="T24" fmla="*/ 148 h 1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9" h="148">
                          <a:moveTo>
                            <a:pt x="229" y="143"/>
                          </a:moveTo>
                          <a:lnTo>
                            <a:pt x="211" y="148"/>
                          </a:lnTo>
                          <a:lnTo>
                            <a:pt x="109" y="32"/>
                          </a:lnTo>
                          <a:lnTo>
                            <a:pt x="0" y="52"/>
                          </a:lnTo>
                          <a:lnTo>
                            <a:pt x="14" y="33"/>
                          </a:lnTo>
                          <a:lnTo>
                            <a:pt x="125" y="0"/>
                          </a:lnTo>
                          <a:lnTo>
                            <a:pt x="229" y="143"/>
                          </a:lnTo>
                          <a:close/>
                        </a:path>
                      </a:pathLst>
                    </a:custGeom>
                    <a:solidFill>
                      <a:srgbClr val="808080"/>
                    </a:solidFill>
                    <a:ln w="9525">
                      <a:solidFill>
                        <a:schemeClr val="tx1"/>
                      </a:solidFill>
                      <a:round/>
                      <a:headEnd/>
                      <a:tailEnd/>
                    </a:ln>
                  </p:spPr>
                  <p:txBody>
                    <a:bodyPr/>
                    <a:lstStyle/>
                    <a:p>
                      <a:endParaRPr lang="sv-SE"/>
                    </a:p>
                  </p:txBody>
                </p:sp>
                <p:sp>
                  <p:nvSpPr>
                    <p:cNvPr id="20687" name="Freeform 53"/>
                    <p:cNvSpPr>
                      <a:spLocks/>
                    </p:cNvSpPr>
                    <p:nvPr/>
                  </p:nvSpPr>
                  <p:spPr bwMode="auto">
                    <a:xfrm>
                      <a:off x="3576" y="1913"/>
                      <a:ext cx="221" cy="216"/>
                    </a:xfrm>
                    <a:custGeom>
                      <a:avLst/>
                      <a:gdLst>
                        <a:gd name="T0" fmla="*/ 156 w 221"/>
                        <a:gd name="T1" fmla="*/ 0 h 216"/>
                        <a:gd name="T2" fmla="*/ 41 w 221"/>
                        <a:gd name="T3" fmla="*/ 41 h 216"/>
                        <a:gd name="T4" fmla="*/ 31 w 221"/>
                        <a:gd name="T5" fmla="*/ 49 h 216"/>
                        <a:gd name="T6" fmla="*/ 19 w 221"/>
                        <a:gd name="T7" fmla="*/ 62 h 216"/>
                        <a:gd name="T8" fmla="*/ 12 w 221"/>
                        <a:gd name="T9" fmla="*/ 75 h 216"/>
                        <a:gd name="T10" fmla="*/ 6 w 221"/>
                        <a:gd name="T11" fmla="*/ 88 h 216"/>
                        <a:gd name="T12" fmla="*/ 1 w 221"/>
                        <a:gd name="T13" fmla="*/ 107 h 216"/>
                        <a:gd name="T14" fmla="*/ 0 w 221"/>
                        <a:gd name="T15" fmla="*/ 123 h 216"/>
                        <a:gd name="T16" fmla="*/ 4 w 221"/>
                        <a:gd name="T17" fmla="*/ 145 h 216"/>
                        <a:gd name="T18" fmla="*/ 12 w 221"/>
                        <a:gd name="T19" fmla="*/ 164 h 216"/>
                        <a:gd name="T20" fmla="*/ 22 w 221"/>
                        <a:gd name="T21" fmla="*/ 180 h 216"/>
                        <a:gd name="T22" fmla="*/ 33 w 221"/>
                        <a:gd name="T23" fmla="*/ 194 h 216"/>
                        <a:gd name="T24" fmla="*/ 47 w 221"/>
                        <a:gd name="T25" fmla="*/ 205 h 216"/>
                        <a:gd name="T26" fmla="*/ 61 w 221"/>
                        <a:gd name="T27" fmla="*/ 211 h 216"/>
                        <a:gd name="T28" fmla="*/ 75 w 221"/>
                        <a:gd name="T29" fmla="*/ 216 h 216"/>
                        <a:gd name="T30" fmla="*/ 221 w 221"/>
                        <a:gd name="T31" fmla="*/ 199 h 216"/>
                        <a:gd name="T32" fmla="*/ 135 w 221"/>
                        <a:gd name="T33" fmla="*/ 40 h 216"/>
                        <a:gd name="T34" fmla="*/ 30 w 221"/>
                        <a:gd name="T35" fmla="*/ 61 h 216"/>
                        <a:gd name="T36" fmla="*/ 39 w 221"/>
                        <a:gd name="T37" fmla="*/ 48 h 216"/>
                        <a:gd name="T38" fmla="*/ 141 w 221"/>
                        <a:gd name="T39" fmla="*/ 20 h 216"/>
                        <a:gd name="T40" fmla="*/ 156 w 221"/>
                        <a:gd name="T41" fmla="*/ 0 h 2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1"/>
                        <a:gd name="T64" fmla="*/ 0 h 216"/>
                        <a:gd name="T65" fmla="*/ 221 w 221"/>
                        <a:gd name="T66" fmla="*/ 216 h 2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1" h="216">
                          <a:moveTo>
                            <a:pt x="156" y="0"/>
                          </a:moveTo>
                          <a:lnTo>
                            <a:pt x="41" y="41"/>
                          </a:lnTo>
                          <a:lnTo>
                            <a:pt x="31" y="49"/>
                          </a:lnTo>
                          <a:lnTo>
                            <a:pt x="19" y="62"/>
                          </a:lnTo>
                          <a:lnTo>
                            <a:pt x="12" y="75"/>
                          </a:lnTo>
                          <a:lnTo>
                            <a:pt x="6" y="88"/>
                          </a:lnTo>
                          <a:lnTo>
                            <a:pt x="1" y="107"/>
                          </a:lnTo>
                          <a:lnTo>
                            <a:pt x="0" y="123"/>
                          </a:lnTo>
                          <a:lnTo>
                            <a:pt x="4" y="145"/>
                          </a:lnTo>
                          <a:lnTo>
                            <a:pt x="12" y="164"/>
                          </a:lnTo>
                          <a:lnTo>
                            <a:pt x="22" y="180"/>
                          </a:lnTo>
                          <a:lnTo>
                            <a:pt x="33" y="194"/>
                          </a:lnTo>
                          <a:lnTo>
                            <a:pt x="47" y="205"/>
                          </a:lnTo>
                          <a:lnTo>
                            <a:pt x="61" y="211"/>
                          </a:lnTo>
                          <a:lnTo>
                            <a:pt x="75" y="216"/>
                          </a:lnTo>
                          <a:lnTo>
                            <a:pt x="221" y="199"/>
                          </a:lnTo>
                          <a:lnTo>
                            <a:pt x="135" y="40"/>
                          </a:lnTo>
                          <a:lnTo>
                            <a:pt x="30" y="61"/>
                          </a:lnTo>
                          <a:lnTo>
                            <a:pt x="39" y="48"/>
                          </a:lnTo>
                          <a:lnTo>
                            <a:pt x="141" y="20"/>
                          </a:lnTo>
                          <a:lnTo>
                            <a:pt x="156" y="0"/>
                          </a:lnTo>
                          <a:close/>
                        </a:path>
                      </a:pathLst>
                    </a:custGeom>
                    <a:solidFill>
                      <a:srgbClr val="C0C0C0"/>
                    </a:solidFill>
                    <a:ln w="9525">
                      <a:solidFill>
                        <a:schemeClr val="tx1"/>
                      </a:solidFill>
                      <a:round/>
                      <a:headEnd/>
                      <a:tailEnd/>
                    </a:ln>
                  </p:spPr>
                  <p:txBody>
                    <a:bodyPr/>
                    <a:lstStyle/>
                    <a:p>
                      <a:endParaRPr lang="sv-SE"/>
                    </a:p>
                  </p:txBody>
                </p:sp>
                <p:sp>
                  <p:nvSpPr>
                    <p:cNvPr id="20688" name="Freeform 54"/>
                    <p:cNvSpPr>
                      <a:spLocks/>
                    </p:cNvSpPr>
                    <p:nvPr/>
                  </p:nvSpPr>
                  <p:spPr bwMode="auto">
                    <a:xfrm>
                      <a:off x="3709" y="1952"/>
                      <a:ext cx="111" cy="161"/>
                    </a:xfrm>
                    <a:custGeom>
                      <a:avLst/>
                      <a:gdLst>
                        <a:gd name="T0" fmla="*/ 4 w 111"/>
                        <a:gd name="T1" fmla="*/ 0 h 161"/>
                        <a:gd name="T2" fmla="*/ 111 w 111"/>
                        <a:gd name="T3" fmla="*/ 132 h 161"/>
                        <a:gd name="T4" fmla="*/ 104 w 111"/>
                        <a:gd name="T5" fmla="*/ 144 h 161"/>
                        <a:gd name="T6" fmla="*/ 96 w 111"/>
                        <a:gd name="T7" fmla="*/ 156 h 161"/>
                        <a:gd name="T8" fmla="*/ 87 w 111"/>
                        <a:gd name="T9" fmla="*/ 161 h 161"/>
                        <a:gd name="T10" fmla="*/ 77 w 111"/>
                        <a:gd name="T11" fmla="*/ 160 h 161"/>
                        <a:gd name="T12" fmla="*/ 65 w 111"/>
                        <a:gd name="T13" fmla="*/ 152 h 161"/>
                        <a:gd name="T14" fmla="*/ 53 w 111"/>
                        <a:gd name="T15" fmla="*/ 143 h 161"/>
                        <a:gd name="T16" fmla="*/ 43 w 111"/>
                        <a:gd name="T17" fmla="*/ 133 h 161"/>
                        <a:gd name="T18" fmla="*/ 34 w 111"/>
                        <a:gd name="T19" fmla="*/ 121 h 161"/>
                        <a:gd name="T20" fmla="*/ 28 w 111"/>
                        <a:gd name="T21" fmla="*/ 111 h 161"/>
                        <a:gd name="T22" fmla="*/ 19 w 111"/>
                        <a:gd name="T23" fmla="*/ 97 h 161"/>
                        <a:gd name="T24" fmla="*/ 12 w 111"/>
                        <a:gd name="T25" fmla="*/ 83 h 161"/>
                        <a:gd name="T26" fmla="*/ 7 w 111"/>
                        <a:gd name="T27" fmla="*/ 67 h 161"/>
                        <a:gd name="T28" fmla="*/ 3 w 111"/>
                        <a:gd name="T29" fmla="*/ 49 h 161"/>
                        <a:gd name="T30" fmla="*/ 1 w 111"/>
                        <a:gd name="T31" fmla="*/ 35 h 161"/>
                        <a:gd name="T32" fmla="*/ 0 w 111"/>
                        <a:gd name="T33" fmla="*/ 22 h 161"/>
                        <a:gd name="T34" fmla="*/ 1 w 111"/>
                        <a:gd name="T35" fmla="*/ 10 h 161"/>
                        <a:gd name="T36" fmla="*/ 4 w 111"/>
                        <a:gd name="T37" fmla="*/ 0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1"/>
                        <a:gd name="T58" fmla="*/ 0 h 161"/>
                        <a:gd name="T59" fmla="*/ 111 w 111"/>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1" h="161">
                          <a:moveTo>
                            <a:pt x="4" y="0"/>
                          </a:moveTo>
                          <a:lnTo>
                            <a:pt x="111" y="132"/>
                          </a:lnTo>
                          <a:lnTo>
                            <a:pt x="104" y="144"/>
                          </a:lnTo>
                          <a:lnTo>
                            <a:pt x="96" y="156"/>
                          </a:lnTo>
                          <a:lnTo>
                            <a:pt x="87" y="161"/>
                          </a:lnTo>
                          <a:lnTo>
                            <a:pt x="77" y="160"/>
                          </a:lnTo>
                          <a:lnTo>
                            <a:pt x="65" y="152"/>
                          </a:lnTo>
                          <a:lnTo>
                            <a:pt x="53" y="143"/>
                          </a:lnTo>
                          <a:lnTo>
                            <a:pt x="43" y="133"/>
                          </a:lnTo>
                          <a:lnTo>
                            <a:pt x="34" y="121"/>
                          </a:lnTo>
                          <a:lnTo>
                            <a:pt x="28" y="111"/>
                          </a:lnTo>
                          <a:lnTo>
                            <a:pt x="19" y="97"/>
                          </a:lnTo>
                          <a:lnTo>
                            <a:pt x="12" y="83"/>
                          </a:lnTo>
                          <a:lnTo>
                            <a:pt x="7" y="67"/>
                          </a:lnTo>
                          <a:lnTo>
                            <a:pt x="3" y="49"/>
                          </a:lnTo>
                          <a:lnTo>
                            <a:pt x="1" y="35"/>
                          </a:lnTo>
                          <a:lnTo>
                            <a:pt x="0" y="22"/>
                          </a:lnTo>
                          <a:lnTo>
                            <a:pt x="1" y="10"/>
                          </a:lnTo>
                          <a:lnTo>
                            <a:pt x="4" y="0"/>
                          </a:lnTo>
                          <a:close/>
                        </a:path>
                      </a:pathLst>
                    </a:custGeom>
                    <a:solidFill>
                      <a:srgbClr val="9F9F9F"/>
                    </a:solidFill>
                    <a:ln w="9525">
                      <a:solidFill>
                        <a:schemeClr val="tx1"/>
                      </a:solidFill>
                      <a:round/>
                      <a:headEnd/>
                      <a:tailEnd/>
                    </a:ln>
                  </p:spPr>
                  <p:txBody>
                    <a:bodyPr/>
                    <a:lstStyle/>
                    <a:p>
                      <a:endParaRPr lang="sv-SE"/>
                    </a:p>
                  </p:txBody>
                </p:sp>
                <p:sp>
                  <p:nvSpPr>
                    <p:cNvPr id="20689" name="Freeform 55"/>
                    <p:cNvSpPr>
                      <a:spLocks/>
                    </p:cNvSpPr>
                    <p:nvPr/>
                  </p:nvSpPr>
                  <p:spPr bwMode="auto">
                    <a:xfrm>
                      <a:off x="3718" y="1910"/>
                      <a:ext cx="119" cy="160"/>
                    </a:xfrm>
                    <a:custGeom>
                      <a:avLst/>
                      <a:gdLst>
                        <a:gd name="T0" fmla="*/ 0 w 119"/>
                        <a:gd name="T1" fmla="*/ 22 h 160"/>
                        <a:gd name="T2" fmla="*/ 109 w 119"/>
                        <a:gd name="T3" fmla="*/ 160 h 160"/>
                        <a:gd name="T4" fmla="*/ 113 w 119"/>
                        <a:gd name="T5" fmla="*/ 147 h 160"/>
                        <a:gd name="T6" fmla="*/ 118 w 119"/>
                        <a:gd name="T7" fmla="*/ 126 h 160"/>
                        <a:gd name="T8" fmla="*/ 119 w 119"/>
                        <a:gd name="T9" fmla="*/ 111 h 160"/>
                        <a:gd name="T10" fmla="*/ 118 w 119"/>
                        <a:gd name="T11" fmla="*/ 97 h 160"/>
                        <a:gd name="T12" fmla="*/ 114 w 119"/>
                        <a:gd name="T13" fmla="*/ 78 h 160"/>
                        <a:gd name="T14" fmla="*/ 107 w 119"/>
                        <a:gd name="T15" fmla="*/ 63 h 160"/>
                        <a:gd name="T16" fmla="*/ 97 w 119"/>
                        <a:gd name="T17" fmla="*/ 47 h 160"/>
                        <a:gd name="T18" fmla="*/ 87 w 119"/>
                        <a:gd name="T19" fmla="*/ 33 h 160"/>
                        <a:gd name="T20" fmla="*/ 71 w 119"/>
                        <a:gd name="T21" fmla="*/ 19 h 160"/>
                        <a:gd name="T22" fmla="*/ 56 w 119"/>
                        <a:gd name="T23" fmla="*/ 10 h 160"/>
                        <a:gd name="T24" fmla="*/ 40 w 119"/>
                        <a:gd name="T25" fmla="*/ 2 h 160"/>
                        <a:gd name="T26" fmla="*/ 25 w 119"/>
                        <a:gd name="T27" fmla="*/ 0 h 160"/>
                        <a:gd name="T28" fmla="*/ 14 w 119"/>
                        <a:gd name="T29" fmla="*/ 3 h 160"/>
                        <a:gd name="T30" fmla="*/ 7 w 119"/>
                        <a:gd name="T31" fmla="*/ 12 h 160"/>
                        <a:gd name="T32" fmla="*/ 0 w 119"/>
                        <a:gd name="T33" fmla="*/ 22 h 16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9"/>
                        <a:gd name="T52" fmla="*/ 0 h 160"/>
                        <a:gd name="T53" fmla="*/ 119 w 119"/>
                        <a:gd name="T54" fmla="*/ 160 h 16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9" h="160">
                          <a:moveTo>
                            <a:pt x="0" y="22"/>
                          </a:moveTo>
                          <a:lnTo>
                            <a:pt x="109" y="160"/>
                          </a:lnTo>
                          <a:lnTo>
                            <a:pt x="113" y="147"/>
                          </a:lnTo>
                          <a:lnTo>
                            <a:pt x="118" y="126"/>
                          </a:lnTo>
                          <a:lnTo>
                            <a:pt x="119" y="111"/>
                          </a:lnTo>
                          <a:lnTo>
                            <a:pt x="118" y="97"/>
                          </a:lnTo>
                          <a:lnTo>
                            <a:pt x="114" y="78"/>
                          </a:lnTo>
                          <a:lnTo>
                            <a:pt x="107" y="63"/>
                          </a:lnTo>
                          <a:lnTo>
                            <a:pt x="97" y="47"/>
                          </a:lnTo>
                          <a:lnTo>
                            <a:pt x="87" y="33"/>
                          </a:lnTo>
                          <a:lnTo>
                            <a:pt x="71" y="19"/>
                          </a:lnTo>
                          <a:lnTo>
                            <a:pt x="56" y="10"/>
                          </a:lnTo>
                          <a:lnTo>
                            <a:pt x="40" y="2"/>
                          </a:lnTo>
                          <a:lnTo>
                            <a:pt x="25" y="0"/>
                          </a:lnTo>
                          <a:lnTo>
                            <a:pt x="14" y="3"/>
                          </a:lnTo>
                          <a:lnTo>
                            <a:pt x="7" y="12"/>
                          </a:lnTo>
                          <a:lnTo>
                            <a:pt x="0" y="22"/>
                          </a:lnTo>
                          <a:close/>
                        </a:path>
                      </a:pathLst>
                    </a:custGeom>
                    <a:solidFill>
                      <a:srgbClr val="9F9F9F"/>
                    </a:solidFill>
                    <a:ln w="9525">
                      <a:solidFill>
                        <a:schemeClr val="tx1"/>
                      </a:solidFill>
                      <a:round/>
                      <a:headEnd/>
                      <a:tailEnd/>
                    </a:ln>
                  </p:spPr>
                  <p:txBody>
                    <a:bodyPr/>
                    <a:lstStyle/>
                    <a:p>
                      <a:endParaRPr lang="sv-SE"/>
                    </a:p>
                  </p:txBody>
                </p:sp>
                <p:sp>
                  <p:nvSpPr>
                    <p:cNvPr id="20690" name="Freeform 56"/>
                    <p:cNvSpPr>
                      <a:spLocks/>
                    </p:cNvSpPr>
                    <p:nvPr/>
                  </p:nvSpPr>
                  <p:spPr bwMode="auto">
                    <a:xfrm>
                      <a:off x="2944" y="2168"/>
                      <a:ext cx="56" cy="53"/>
                    </a:xfrm>
                    <a:custGeom>
                      <a:avLst/>
                      <a:gdLst>
                        <a:gd name="T0" fmla="*/ 14 w 56"/>
                        <a:gd name="T1" fmla="*/ 53 h 53"/>
                        <a:gd name="T2" fmla="*/ 7 w 56"/>
                        <a:gd name="T3" fmla="*/ 50 h 53"/>
                        <a:gd name="T4" fmla="*/ 2 w 56"/>
                        <a:gd name="T5" fmla="*/ 46 h 53"/>
                        <a:gd name="T6" fmla="*/ 0 w 56"/>
                        <a:gd name="T7" fmla="*/ 40 h 53"/>
                        <a:gd name="T8" fmla="*/ 0 w 56"/>
                        <a:gd name="T9" fmla="*/ 33 h 53"/>
                        <a:gd name="T10" fmla="*/ 2 w 56"/>
                        <a:gd name="T11" fmla="*/ 24 h 53"/>
                        <a:gd name="T12" fmla="*/ 5 w 56"/>
                        <a:gd name="T13" fmla="*/ 19 h 53"/>
                        <a:gd name="T14" fmla="*/ 12 w 56"/>
                        <a:gd name="T15" fmla="*/ 14 h 53"/>
                        <a:gd name="T16" fmla="*/ 51 w 56"/>
                        <a:gd name="T17" fmla="*/ 0 h 53"/>
                        <a:gd name="T18" fmla="*/ 46 w 56"/>
                        <a:gd name="T19" fmla="*/ 6 h 53"/>
                        <a:gd name="T20" fmla="*/ 42 w 56"/>
                        <a:gd name="T21" fmla="*/ 13 h 53"/>
                        <a:gd name="T22" fmla="*/ 41 w 56"/>
                        <a:gd name="T23" fmla="*/ 21 h 53"/>
                        <a:gd name="T24" fmla="*/ 40 w 56"/>
                        <a:gd name="T25" fmla="*/ 27 h 53"/>
                        <a:gd name="T26" fmla="*/ 42 w 56"/>
                        <a:gd name="T27" fmla="*/ 36 h 53"/>
                        <a:gd name="T28" fmla="*/ 48 w 56"/>
                        <a:gd name="T29" fmla="*/ 42 h 53"/>
                        <a:gd name="T30" fmla="*/ 56 w 56"/>
                        <a:gd name="T31" fmla="*/ 47 h 53"/>
                        <a:gd name="T32" fmla="*/ 14 w 56"/>
                        <a:gd name="T33" fmla="*/ 53 h 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6"/>
                        <a:gd name="T52" fmla="*/ 0 h 53"/>
                        <a:gd name="T53" fmla="*/ 56 w 56"/>
                        <a:gd name="T54" fmla="*/ 53 h 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6" h="53">
                          <a:moveTo>
                            <a:pt x="14" y="53"/>
                          </a:moveTo>
                          <a:lnTo>
                            <a:pt x="7" y="50"/>
                          </a:lnTo>
                          <a:lnTo>
                            <a:pt x="2" y="46"/>
                          </a:lnTo>
                          <a:lnTo>
                            <a:pt x="0" y="40"/>
                          </a:lnTo>
                          <a:lnTo>
                            <a:pt x="0" y="33"/>
                          </a:lnTo>
                          <a:lnTo>
                            <a:pt x="2" y="24"/>
                          </a:lnTo>
                          <a:lnTo>
                            <a:pt x="5" y="19"/>
                          </a:lnTo>
                          <a:lnTo>
                            <a:pt x="12" y="14"/>
                          </a:lnTo>
                          <a:lnTo>
                            <a:pt x="51" y="0"/>
                          </a:lnTo>
                          <a:lnTo>
                            <a:pt x="46" y="6"/>
                          </a:lnTo>
                          <a:lnTo>
                            <a:pt x="42" y="13"/>
                          </a:lnTo>
                          <a:lnTo>
                            <a:pt x="41" y="21"/>
                          </a:lnTo>
                          <a:lnTo>
                            <a:pt x="40" y="27"/>
                          </a:lnTo>
                          <a:lnTo>
                            <a:pt x="42" y="36"/>
                          </a:lnTo>
                          <a:lnTo>
                            <a:pt x="48" y="42"/>
                          </a:lnTo>
                          <a:lnTo>
                            <a:pt x="56" y="47"/>
                          </a:lnTo>
                          <a:lnTo>
                            <a:pt x="14" y="53"/>
                          </a:lnTo>
                          <a:close/>
                        </a:path>
                      </a:pathLst>
                    </a:custGeom>
                    <a:solidFill>
                      <a:srgbClr val="FFFF00"/>
                    </a:solidFill>
                    <a:ln w="9525">
                      <a:solidFill>
                        <a:schemeClr val="tx1"/>
                      </a:solidFill>
                      <a:round/>
                      <a:headEnd/>
                      <a:tailEnd/>
                    </a:ln>
                  </p:spPr>
                  <p:txBody>
                    <a:bodyPr/>
                    <a:lstStyle/>
                    <a:p>
                      <a:endParaRPr lang="sv-SE"/>
                    </a:p>
                  </p:txBody>
                </p:sp>
              </p:grpSp>
              <p:grpSp>
                <p:nvGrpSpPr>
                  <p:cNvPr id="15" name="Group 57"/>
                  <p:cNvGrpSpPr>
                    <a:grpSpLocks/>
                  </p:cNvGrpSpPr>
                  <p:nvPr/>
                </p:nvGrpSpPr>
                <p:grpSpPr bwMode="auto">
                  <a:xfrm>
                    <a:off x="3320" y="1764"/>
                    <a:ext cx="534" cy="465"/>
                    <a:chOff x="3320" y="1764"/>
                    <a:chExt cx="534" cy="465"/>
                  </a:xfrm>
                </p:grpSpPr>
                <p:sp>
                  <p:nvSpPr>
                    <p:cNvPr id="20681" name="Freeform 58"/>
                    <p:cNvSpPr>
                      <a:spLocks/>
                    </p:cNvSpPr>
                    <p:nvPr/>
                  </p:nvSpPr>
                  <p:spPr bwMode="auto">
                    <a:xfrm>
                      <a:off x="3322" y="2100"/>
                      <a:ext cx="532" cy="129"/>
                    </a:xfrm>
                    <a:custGeom>
                      <a:avLst/>
                      <a:gdLst>
                        <a:gd name="T0" fmla="*/ 0 w 532"/>
                        <a:gd name="T1" fmla="*/ 39 h 129"/>
                        <a:gd name="T2" fmla="*/ 368 w 532"/>
                        <a:gd name="T3" fmla="*/ 0 h 129"/>
                        <a:gd name="T4" fmla="*/ 532 w 532"/>
                        <a:gd name="T5" fmla="*/ 125 h 129"/>
                        <a:gd name="T6" fmla="*/ 424 w 532"/>
                        <a:gd name="T7" fmla="*/ 118 h 129"/>
                        <a:gd name="T8" fmla="*/ 397 w 532"/>
                        <a:gd name="T9" fmla="*/ 112 h 129"/>
                        <a:gd name="T10" fmla="*/ 414 w 532"/>
                        <a:gd name="T11" fmla="*/ 129 h 129"/>
                        <a:gd name="T12" fmla="*/ 304 w 532"/>
                        <a:gd name="T13" fmla="*/ 118 h 129"/>
                        <a:gd name="T14" fmla="*/ 269 w 532"/>
                        <a:gd name="T15" fmla="*/ 106 h 129"/>
                        <a:gd name="T16" fmla="*/ 286 w 532"/>
                        <a:gd name="T17" fmla="*/ 123 h 129"/>
                        <a:gd name="T18" fmla="*/ 135 w 532"/>
                        <a:gd name="T19" fmla="*/ 106 h 129"/>
                        <a:gd name="T20" fmla="*/ 0 w 532"/>
                        <a:gd name="T21" fmla="*/ 39 h 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2"/>
                        <a:gd name="T34" fmla="*/ 0 h 129"/>
                        <a:gd name="T35" fmla="*/ 532 w 532"/>
                        <a:gd name="T36" fmla="*/ 129 h 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2" h="129">
                          <a:moveTo>
                            <a:pt x="0" y="39"/>
                          </a:moveTo>
                          <a:lnTo>
                            <a:pt x="368" y="0"/>
                          </a:lnTo>
                          <a:lnTo>
                            <a:pt x="532" y="125"/>
                          </a:lnTo>
                          <a:lnTo>
                            <a:pt x="424" y="118"/>
                          </a:lnTo>
                          <a:lnTo>
                            <a:pt x="397" y="112"/>
                          </a:lnTo>
                          <a:lnTo>
                            <a:pt x="414" y="129"/>
                          </a:lnTo>
                          <a:lnTo>
                            <a:pt x="304" y="118"/>
                          </a:lnTo>
                          <a:lnTo>
                            <a:pt x="269" y="106"/>
                          </a:lnTo>
                          <a:lnTo>
                            <a:pt x="286" y="123"/>
                          </a:lnTo>
                          <a:lnTo>
                            <a:pt x="135" y="106"/>
                          </a:lnTo>
                          <a:lnTo>
                            <a:pt x="0" y="39"/>
                          </a:lnTo>
                          <a:close/>
                        </a:path>
                      </a:pathLst>
                    </a:custGeom>
                    <a:solidFill>
                      <a:srgbClr val="FFFF00"/>
                    </a:solidFill>
                    <a:ln w="9525">
                      <a:solidFill>
                        <a:schemeClr val="tx1"/>
                      </a:solidFill>
                      <a:round/>
                      <a:headEnd/>
                      <a:tailEnd/>
                    </a:ln>
                  </p:spPr>
                  <p:txBody>
                    <a:bodyPr/>
                    <a:lstStyle/>
                    <a:p>
                      <a:endParaRPr lang="sv-SE"/>
                    </a:p>
                  </p:txBody>
                </p:sp>
                <p:sp>
                  <p:nvSpPr>
                    <p:cNvPr id="20682" name="Freeform 59"/>
                    <p:cNvSpPr>
                      <a:spLocks/>
                    </p:cNvSpPr>
                    <p:nvPr/>
                  </p:nvSpPr>
                  <p:spPr bwMode="auto">
                    <a:xfrm>
                      <a:off x="3325" y="1990"/>
                      <a:ext cx="340" cy="107"/>
                    </a:xfrm>
                    <a:custGeom>
                      <a:avLst/>
                      <a:gdLst>
                        <a:gd name="T0" fmla="*/ 44 w 340"/>
                        <a:gd name="T1" fmla="*/ 81 h 107"/>
                        <a:gd name="T2" fmla="*/ 340 w 340"/>
                        <a:gd name="T3" fmla="*/ 0 h 107"/>
                        <a:gd name="T4" fmla="*/ 254 w 340"/>
                        <a:gd name="T5" fmla="*/ 49 h 107"/>
                        <a:gd name="T6" fmla="*/ 0 w 340"/>
                        <a:gd name="T7" fmla="*/ 107 h 107"/>
                        <a:gd name="T8" fmla="*/ 44 w 340"/>
                        <a:gd name="T9" fmla="*/ 81 h 107"/>
                        <a:gd name="T10" fmla="*/ 0 60000 65536"/>
                        <a:gd name="T11" fmla="*/ 0 60000 65536"/>
                        <a:gd name="T12" fmla="*/ 0 60000 65536"/>
                        <a:gd name="T13" fmla="*/ 0 60000 65536"/>
                        <a:gd name="T14" fmla="*/ 0 60000 65536"/>
                        <a:gd name="T15" fmla="*/ 0 w 340"/>
                        <a:gd name="T16" fmla="*/ 0 h 107"/>
                        <a:gd name="T17" fmla="*/ 340 w 340"/>
                        <a:gd name="T18" fmla="*/ 107 h 107"/>
                      </a:gdLst>
                      <a:ahLst/>
                      <a:cxnLst>
                        <a:cxn ang="T10">
                          <a:pos x="T0" y="T1"/>
                        </a:cxn>
                        <a:cxn ang="T11">
                          <a:pos x="T2" y="T3"/>
                        </a:cxn>
                        <a:cxn ang="T12">
                          <a:pos x="T4" y="T5"/>
                        </a:cxn>
                        <a:cxn ang="T13">
                          <a:pos x="T6" y="T7"/>
                        </a:cxn>
                        <a:cxn ang="T14">
                          <a:pos x="T8" y="T9"/>
                        </a:cxn>
                      </a:cxnLst>
                      <a:rect l="T15" t="T16" r="T17" b="T18"/>
                      <a:pathLst>
                        <a:path w="340" h="107">
                          <a:moveTo>
                            <a:pt x="44" y="81"/>
                          </a:moveTo>
                          <a:lnTo>
                            <a:pt x="340" y="0"/>
                          </a:lnTo>
                          <a:lnTo>
                            <a:pt x="254" y="49"/>
                          </a:lnTo>
                          <a:lnTo>
                            <a:pt x="0" y="107"/>
                          </a:lnTo>
                          <a:lnTo>
                            <a:pt x="44" y="81"/>
                          </a:lnTo>
                          <a:close/>
                        </a:path>
                      </a:pathLst>
                    </a:custGeom>
                    <a:solidFill>
                      <a:srgbClr val="FFFF00"/>
                    </a:solidFill>
                    <a:ln w="9525">
                      <a:solidFill>
                        <a:schemeClr val="tx1"/>
                      </a:solidFill>
                      <a:round/>
                      <a:headEnd/>
                      <a:tailEnd/>
                    </a:ln>
                  </p:spPr>
                  <p:txBody>
                    <a:bodyPr/>
                    <a:lstStyle/>
                    <a:p>
                      <a:endParaRPr lang="sv-SE"/>
                    </a:p>
                  </p:txBody>
                </p:sp>
                <p:sp>
                  <p:nvSpPr>
                    <p:cNvPr id="20683" name="Freeform 60"/>
                    <p:cNvSpPr>
                      <a:spLocks/>
                    </p:cNvSpPr>
                    <p:nvPr/>
                  </p:nvSpPr>
                  <p:spPr bwMode="auto">
                    <a:xfrm>
                      <a:off x="3320" y="1764"/>
                      <a:ext cx="440" cy="305"/>
                    </a:xfrm>
                    <a:custGeom>
                      <a:avLst/>
                      <a:gdLst>
                        <a:gd name="T0" fmla="*/ 0 w 440"/>
                        <a:gd name="T1" fmla="*/ 305 h 305"/>
                        <a:gd name="T2" fmla="*/ 316 w 440"/>
                        <a:gd name="T3" fmla="*/ 196 h 305"/>
                        <a:gd name="T4" fmla="*/ 440 w 440"/>
                        <a:gd name="T5" fmla="*/ 0 h 305"/>
                        <a:gd name="T6" fmla="*/ 343 w 440"/>
                        <a:gd name="T7" fmla="*/ 59 h 305"/>
                        <a:gd name="T8" fmla="*/ 321 w 440"/>
                        <a:gd name="T9" fmla="*/ 80 h 305"/>
                        <a:gd name="T10" fmla="*/ 321 w 440"/>
                        <a:gd name="T11" fmla="*/ 58 h 305"/>
                        <a:gd name="T12" fmla="*/ 211 w 440"/>
                        <a:gd name="T13" fmla="*/ 141 h 305"/>
                        <a:gd name="T14" fmla="*/ 218 w 440"/>
                        <a:gd name="T15" fmla="*/ 117 h 305"/>
                        <a:gd name="T16" fmla="*/ 99 w 440"/>
                        <a:gd name="T17" fmla="*/ 192 h 305"/>
                        <a:gd name="T18" fmla="*/ 0 w 440"/>
                        <a:gd name="T19" fmla="*/ 305 h 3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0"/>
                        <a:gd name="T31" fmla="*/ 0 h 305"/>
                        <a:gd name="T32" fmla="*/ 440 w 440"/>
                        <a:gd name="T33" fmla="*/ 305 h 30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0" h="305">
                          <a:moveTo>
                            <a:pt x="0" y="305"/>
                          </a:moveTo>
                          <a:lnTo>
                            <a:pt x="316" y="196"/>
                          </a:lnTo>
                          <a:lnTo>
                            <a:pt x="440" y="0"/>
                          </a:lnTo>
                          <a:lnTo>
                            <a:pt x="343" y="59"/>
                          </a:lnTo>
                          <a:lnTo>
                            <a:pt x="321" y="80"/>
                          </a:lnTo>
                          <a:lnTo>
                            <a:pt x="321" y="58"/>
                          </a:lnTo>
                          <a:lnTo>
                            <a:pt x="211" y="141"/>
                          </a:lnTo>
                          <a:lnTo>
                            <a:pt x="218" y="117"/>
                          </a:lnTo>
                          <a:lnTo>
                            <a:pt x="99" y="192"/>
                          </a:lnTo>
                          <a:lnTo>
                            <a:pt x="0" y="305"/>
                          </a:lnTo>
                          <a:close/>
                        </a:path>
                      </a:pathLst>
                    </a:custGeom>
                    <a:solidFill>
                      <a:srgbClr val="FFFF00"/>
                    </a:solidFill>
                    <a:ln w="9525">
                      <a:solidFill>
                        <a:schemeClr val="tx1"/>
                      </a:solidFill>
                      <a:round/>
                      <a:headEnd/>
                      <a:tailEnd/>
                    </a:ln>
                  </p:spPr>
                  <p:txBody>
                    <a:bodyPr/>
                    <a:lstStyle/>
                    <a:p>
                      <a:endParaRPr lang="sv-SE"/>
                    </a:p>
                  </p:txBody>
                </p:sp>
              </p:grpSp>
            </p:grpSp>
            <p:sp>
              <p:nvSpPr>
                <p:cNvPr id="20677" name="Freeform 61"/>
                <p:cNvSpPr>
                  <a:spLocks/>
                </p:cNvSpPr>
                <p:nvPr/>
              </p:nvSpPr>
              <p:spPr bwMode="auto">
                <a:xfrm>
                  <a:off x="3205" y="2051"/>
                  <a:ext cx="148" cy="133"/>
                </a:xfrm>
                <a:custGeom>
                  <a:avLst/>
                  <a:gdLst>
                    <a:gd name="T0" fmla="*/ 131 w 148"/>
                    <a:gd name="T1" fmla="*/ 0 h 133"/>
                    <a:gd name="T2" fmla="*/ 122 w 148"/>
                    <a:gd name="T3" fmla="*/ 10 h 133"/>
                    <a:gd name="T4" fmla="*/ 112 w 148"/>
                    <a:gd name="T5" fmla="*/ 25 h 133"/>
                    <a:gd name="T6" fmla="*/ 108 w 148"/>
                    <a:gd name="T7" fmla="*/ 37 h 133"/>
                    <a:gd name="T8" fmla="*/ 104 w 148"/>
                    <a:gd name="T9" fmla="*/ 52 h 133"/>
                    <a:gd name="T10" fmla="*/ 104 w 148"/>
                    <a:gd name="T11" fmla="*/ 66 h 133"/>
                    <a:gd name="T12" fmla="*/ 108 w 148"/>
                    <a:gd name="T13" fmla="*/ 80 h 133"/>
                    <a:gd name="T14" fmla="*/ 114 w 148"/>
                    <a:gd name="T15" fmla="*/ 92 h 133"/>
                    <a:gd name="T16" fmla="*/ 125 w 148"/>
                    <a:gd name="T17" fmla="*/ 102 h 133"/>
                    <a:gd name="T18" fmla="*/ 137 w 148"/>
                    <a:gd name="T19" fmla="*/ 109 h 133"/>
                    <a:gd name="T20" fmla="*/ 148 w 148"/>
                    <a:gd name="T21" fmla="*/ 117 h 133"/>
                    <a:gd name="T22" fmla="*/ 36 w 148"/>
                    <a:gd name="T23" fmla="*/ 133 h 133"/>
                    <a:gd name="T24" fmla="*/ 24 w 148"/>
                    <a:gd name="T25" fmla="*/ 127 h 133"/>
                    <a:gd name="T26" fmla="*/ 14 w 148"/>
                    <a:gd name="T27" fmla="*/ 120 h 133"/>
                    <a:gd name="T28" fmla="*/ 7 w 148"/>
                    <a:gd name="T29" fmla="*/ 111 h 133"/>
                    <a:gd name="T30" fmla="*/ 3 w 148"/>
                    <a:gd name="T31" fmla="*/ 103 h 133"/>
                    <a:gd name="T32" fmla="*/ 0 w 148"/>
                    <a:gd name="T33" fmla="*/ 93 h 133"/>
                    <a:gd name="T34" fmla="*/ 0 w 148"/>
                    <a:gd name="T35" fmla="*/ 80 h 133"/>
                    <a:gd name="T36" fmla="*/ 3 w 148"/>
                    <a:gd name="T37" fmla="*/ 69 h 133"/>
                    <a:gd name="T38" fmla="*/ 6 w 148"/>
                    <a:gd name="T39" fmla="*/ 58 h 133"/>
                    <a:gd name="T40" fmla="*/ 10 w 148"/>
                    <a:gd name="T41" fmla="*/ 50 h 133"/>
                    <a:gd name="T42" fmla="*/ 16 w 148"/>
                    <a:gd name="T43" fmla="*/ 41 h 133"/>
                    <a:gd name="T44" fmla="*/ 21 w 148"/>
                    <a:gd name="T45" fmla="*/ 37 h 133"/>
                    <a:gd name="T46" fmla="*/ 131 w 148"/>
                    <a:gd name="T47" fmla="*/ 0 h 13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8"/>
                    <a:gd name="T73" fmla="*/ 0 h 133"/>
                    <a:gd name="T74" fmla="*/ 148 w 148"/>
                    <a:gd name="T75" fmla="*/ 133 h 13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8" h="133">
                      <a:moveTo>
                        <a:pt x="131" y="0"/>
                      </a:moveTo>
                      <a:lnTo>
                        <a:pt x="122" y="10"/>
                      </a:lnTo>
                      <a:lnTo>
                        <a:pt x="112" y="25"/>
                      </a:lnTo>
                      <a:lnTo>
                        <a:pt x="108" y="37"/>
                      </a:lnTo>
                      <a:lnTo>
                        <a:pt x="104" y="52"/>
                      </a:lnTo>
                      <a:lnTo>
                        <a:pt x="104" y="66"/>
                      </a:lnTo>
                      <a:lnTo>
                        <a:pt x="108" y="80"/>
                      </a:lnTo>
                      <a:lnTo>
                        <a:pt x="114" y="92"/>
                      </a:lnTo>
                      <a:lnTo>
                        <a:pt x="125" y="102"/>
                      </a:lnTo>
                      <a:lnTo>
                        <a:pt x="137" y="109"/>
                      </a:lnTo>
                      <a:lnTo>
                        <a:pt x="148" y="117"/>
                      </a:lnTo>
                      <a:lnTo>
                        <a:pt x="36" y="133"/>
                      </a:lnTo>
                      <a:lnTo>
                        <a:pt x="24" y="127"/>
                      </a:lnTo>
                      <a:lnTo>
                        <a:pt x="14" y="120"/>
                      </a:lnTo>
                      <a:lnTo>
                        <a:pt x="7" y="111"/>
                      </a:lnTo>
                      <a:lnTo>
                        <a:pt x="3" y="103"/>
                      </a:lnTo>
                      <a:lnTo>
                        <a:pt x="0" y="93"/>
                      </a:lnTo>
                      <a:lnTo>
                        <a:pt x="0" y="80"/>
                      </a:lnTo>
                      <a:lnTo>
                        <a:pt x="3" y="69"/>
                      </a:lnTo>
                      <a:lnTo>
                        <a:pt x="6" y="58"/>
                      </a:lnTo>
                      <a:lnTo>
                        <a:pt x="10" y="50"/>
                      </a:lnTo>
                      <a:lnTo>
                        <a:pt x="16" y="41"/>
                      </a:lnTo>
                      <a:lnTo>
                        <a:pt x="21" y="37"/>
                      </a:lnTo>
                      <a:lnTo>
                        <a:pt x="131" y="0"/>
                      </a:lnTo>
                      <a:close/>
                    </a:path>
                  </a:pathLst>
                </a:custGeom>
                <a:solidFill>
                  <a:srgbClr val="FFFF00"/>
                </a:solidFill>
                <a:ln w="9525">
                  <a:solidFill>
                    <a:schemeClr val="tx1"/>
                  </a:solidFill>
                  <a:round/>
                  <a:headEnd/>
                  <a:tailEnd/>
                </a:ln>
              </p:spPr>
              <p:txBody>
                <a:bodyPr/>
                <a:lstStyle/>
                <a:p>
                  <a:endParaRPr lang="sv-SE"/>
                </a:p>
              </p:txBody>
            </p:sp>
            <p:sp>
              <p:nvSpPr>
                <p:cNvPr id="20678" name="Freeform 62"/>
                <p:cNvSpPr>
                  <a:spLocks/>
                </p:cNvSpPr>
                <p:nvPr/>
              </p:nvSpPr>
              <p:spPr bwMode="auto">
                <a:xfrm>
                  <a:off x="3233" y="2071"/>
                  <a:ext cx="62" cy="108"/>
                </a:xfrm>
                <a:custGeom>
                  <a:avLst/>
                  <a:gdLst>
                    <a:gd name="T0" fmla="*/ 41 w 62"/>
                    <a:gd name="T1" fmla="*/ 0 h 108"/>
                    <a:gd name="T2" fmla="*/ 34 w 62"/>
                    <a:gd name="T3" fmla="*/ 15 h 108"/>
                    <a:gd name="T4" fmla="*/ 28 w 62"/>
                    <a:gd name="T5" fmla="*/ 27 h 108"/>
                    <a:gd name="T6" fmla="*/ 23 w 62"/>
                    <a:gd name="T7" fmla="*/ 41 h 108"/>
                    <a:gd name="T8" fmla="*/ 20 w 62"/>
                    <a:gd name="T9" fmla="*/ 55 h 108"/>
                    <a:gd name="T10" fmla="*/ 23 w 62"/>
                    <a:gd name="T11" fmla="*/ 70 h 108"/>
                    <a:gd name="T12" fmla="*/ 29 w 62"/>
                    <a:gd name="T13" fmla="*/ 80 h 108"/>
                    <a:gd name="T14" fmla="*/ 38 w 62"/>
                    <a:gd name="T15" fmla="*/ 88 h 108"/>
                    <a:gd name="T16" fmla="*/ 47 w 62"/>
                    <a:gd name="T17" fmla="*/ 96 h 108"/>
                    <a:gd name="T18" fmla="*/ 62 w 62"/>
                    <a:gd name="T19" fmla="*/ 106 h 108"/>
                    <a:gd name="T20" fmla="*/ 41 w 62"/>
                    <a:gd name="T21" fmla="*/ 108 h 108"/>
                    <a:gd name="T22" fmla="*/ 32 w 62"/>
                    <a:gd name="T23" fmla="*/ 105 h 108"/>
                    <a:gd name="T24" fmla="*/ 23 w 62"/>
                    <a:gd name="T25" fmla="*/ 100 h 108"/>
                    <a:gd name="T26" fmla="*/ 14 w 62"/>
                    <a:gd name="T27" fmla="*/ 93 h 108"/>
                    <a:gd name="T28" fmla="*/ 8 w 62"/>
                    <a:gd name="T29" fmla="*/ 85 h 108"/>
                    <a:gd name="T30" fmla="*/ 3 w 62"/>
                    <a:gd name="T31" fmla="*/ 77 h 108"/>
                    <a:gd name="T32" fmla="*/ 0 w 62"/>
                    <a:gd name="T33" fmla="*/ 66 h 108"/>
                    <a:gd name="T34" fmla="*/ 0 w 62"/>
                    <a:gd name="T35" fmla="*/ 54 h 108"/>
                    <a:gd name="T36" fmla="*/ 3 w 62"/>
                    <a:gd name="T37" fmla="*/ 42 h 108"/>
                    <a:gd name="T38" fmla="*/ 7 w 62"/>
                    <a:gd name="T39" fmla="*/ 31 h 108"/>
                    <a:gd name="T40" fmla="*/ 11 w 62"/>
                    <a:gd name="T41" fmla="*/ 24 h 108"/>
                    <a:gd name="T42" fmla="*/ 16 w 62"/>
                    <a:gd name="T43" fmla="*/ 16 h 108"/>
                    <a:gd name="T44" fmla="*/ 22 w 62"/>
                    <a:gd name="T45" fmla="*/ 7 h 108"/>
                    <a:gd name="T46" fmla="*/ 41 w 62"/>
                    <a:gd name="T47" fmla="*/ 0 h 1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2"/>
                    <a:gd name="T73" fmla="*/ 0 h 108"/>
                    <a:gd name="T74" fmla="*/ 62 w 62"/>
                    <a:gd name="T75" fmla="*/ 108 h 10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2" h="108">
                      <a:moveTo>
                        <a:pt x="41" y="0"/>
                      </a:moveTo>
                      <a:lnTo>
                        <a:pt x="34" y="15"/>
                      </a:lnTo>
                      <a:lnTo>
                        <a:pt x="28" y="27"/>
                      </a:lnTo>
                      <a:lnTo>
                        <a:pt x="23" y="41"/>
                      </a:lnTo>
                      <a:lnTo>
                        <a:pt x="20" y="55"/>
                      </a:lnTo>
                      <a:lnTo>
                        <a:pt x="23" y="70"/>
                      </a:lnTo>
                      <a:lnTo>
                        <a:pt x="29" y="80"/>
                      </a:lnTo>
                      <a:lnTo>
                        <a:pt x="38" y="88"/>
                      </a:lnTo>
                      <a:lnTo>
                        <a:pt x="47" y="96"/>
                      </a:lnTo>
                      <a:lnTo>
                        <a:pt x="62" y="106"/>
                      </a:lnTo>
                      <a:lnTo>
                        <a:pt x="41" y="108"/>
                      </a:lnTo>
                      <a:lnTo>
                        <a:pt x="32" y="105"/>
                      </a:lnTo>
                      <a:lnTo>
                        <a:pt x="23" y="100"/>
                      </a:lnTo>
                      <a:lnTo>
                        <a:pt x="14" y="93"/>
                      </a:lnTo>
                      <a:lnTo>
                        <a:pt x="8" y="85"/>
                      </a:lnTo>
                      <a:lnTo>
                        <a:pt x="3" y="77"/>
                      </a:lnTo>
                      <a:lnTo>
                        <a:pt x="0" y="66"/>
                      </a:lnTo>
                      <a:lnTo>
                        <a:pt x="0" y="54"/>
                      </a:lnTo>
                      <a:lnTo>
                        <a:pt x="3" y="42"/>
                      </a:lnTo>
                      <a:lnTo>
                        <a:pt x="7" y="31"/>
                      </a:lnTo>
                      <a:lnTo>
                        <a:pt x="11" y="24"/>
                      </a:lnTo>
                      <a:lnTo>
                        <a:pt x="16" y="16"/>
                      </a:lnTo>
                      <a:lnTo>
                        <a:pt x="22" y="7"/>
                      </a:lnTo>
                      <a:lnTo>
                        <a:pt x="41" y="0"/>
                      </a:lnTo>
                      <a:close/>
                    </a:path>
                  </a:pathLst>
                </a:custGeom>
                <a:solidFill>
                  <a:srgbClr val="FF0000"/>
                </a:solidFill>
                <a:ln w="9525">
                  <a:solidFill>
                    <a:schemeClr val="tx1"/>
                  </a:solidFill>
                  <a:round/>
                  <a:headEnd/>
                  <a:tailEnd/>
                </a:ln>
              </p:spPr>
              <p:txBody>
                <a:bodyPr/>
                <a:lstStyle/>
                <a:p>
                  <a:endParaRPr lang="sv-SE"/>
                </a:p>
              </p:txBody>
            </p:sp>
          </p:grpSp>
        </p:grpSp>
      </p:grpSp>
      <p:grpSp>
        <p:nvGrpSpPr>
          <p:cNvPr id="16" name="Group 63"/>
          <p:cNvGrpSpPr>
            <a:grpSpLocks/>
          </p:cNvGrpSpPr>
          <p:nvPr/>
        </p:nvGrpSpPr>
        <p:grpSpPr bwMode="auto">
          <a:xfrm>
            <a:off x="1247775" y="1504950"/>
            <a:ext cx="1860550" cy="1797050"/>
            <a:chOff x="453" y="2491"/>
            <a:chExt cx="1172" cy="1132"/>
          </a:xfrm>
        </p:grpSpPr>
        <p:grpSp>
          <p:nvGrpSpPr>
            <p:cNvPr id="17" name="Group 64"/>
            <p:cNvGrpSpPr>
              <a:grpSpLocks/>
            </p:cNvGrpSpPr>
            <p:nvPr/>
          </p:nvGrpSpPr>
          <p:grpSpPr bwMode="auto">
            <a:xfrm>
              <a:off x="453" y="2491"/>
              <a:ext cx="1172" cy="1132"/>
              <a:chOff x="1785" y="1065"/>
              <a:chExt cx="2190" cy="2190"/>
            </a:xfrm>
          </p:grpSpPr>
          <p:grpSp>
            <p:nvGrpSpPr>
              <p:cNvPr id="18" name="Group 65"/>
              <p:cNvGrpSpPr>
                <a:grpSpLocks/>
              </p:cNvGrpSpPr>
              <p:nvPr/>
            </p:nvGrpSpPr>
            <p:grpSpPr bwMode="auto">
              <a:xfrm>
                <a:off x="1785" y="1065"/>
                <a:ext cx="2190" cy="2190"/>
                <a:chOff x="1785" y="1065"/>
                <a:chExt cx="2190" cy="2190"/>
              </a:xfrm>
            </p:grpSpPr>
            <p:grpSp>
              <p:nvGrpSpPr>
                <p:cNvPr id="19" name="Group 66"/>
                <p:cNvGrpSpPr>
                  <a:grpSpLocks/>
                </p:cNvGrpSpPr>
                <p:nvPr/>
              </p:nvGrpSpPr>
              <p:grpSpPr bwMode="auto">
                <a:xfrm>
                  <a:off x="1785" y="1065"/>
                  <a:ext cx="2190" cy="2190"/>
                  <a:chOff x="1785" y="1065"/>
                  <a:chExt cx="2190" cy="2190"/>
                </a:xfrm>
              </p:grpSpPr>
              <p:grpSp>
                <p:nvGrpSpPr>
                  <p:cNvPr id="20" name="Group 67"/>
                  <p:cNvGrpSpPr>
                    <a:grpSpLocks/>
                  </p:cNvGrpSpPr>
                  <p:nvPr/>
                </p:nvGrpSpPr>
                <p:grpSpPr bwMode="auto">
                  <a:xfrm>
                    <a:off x="1785" y="1065"/>
                    <a:ext cx="2190" cy="2190"/>
                    <a:chOff x="1785" y="1065"/>
                    <a:chExt cx="2190" cy="2190"/>
                  </a:xfrm>
                </p:grpSpPr>
                <p:sp>
                  <p:nvSpPr>
                    <p:cNvPr id="20669" name="Oval 68"/>
                    <p:cNvSpPr>
                      <a:spLocks noChangeArrowheads="1"/>
                    </p:cNvSpPr>
                    <p:nvPr/>
                  </p:nvSpPr>
                  <p:spPr bwMode="auto">
                    <a:xfrm>
                      <a:off x="1785" y="1065"/>
                      <a:ext cx="2190" cy="2190"/>
                    </a:xfrm>
                    <a:prstGeom prst="ellipse">
                      <a:avLst/>
                    </a:prstGeom>
                    <a:solidFill>
                      <a:srgbClr val="FF0000"/>
                    </a:solidFill>
                    <a:ln w="9525">
                      <a:solidFill>
                        <a:schemeClr val="tx1"/>
                      </a:solidFill>
                      <a:round/>
                      <a:headEnd/>
                      <a:tailEnd/>
                    </a:ln>
                  </p:spPr>
                  <p:txBody>
                    <a:bodyPr/>
                    <a:lstStyle/>
                    <a:p>
                      <a:endParaRPr lang="en-US"/>
                    </a:p>
                  </p:txBody>
                </p:sp>
                <p:sp>
                  <p:nvSpPr>
                    <p:cNvPr id="20670" name="Oval 69"/>
                    <p:cNvSpPr>
                      <a:spLocks noChangeArrowheads="1"/>
                    </p:cNvSpPr>
                    <p:nvPr/>
                  </p:nvSpPr>
                  <p:spPr bwMode="auto">
                    <a:xfrm>
                      <a:off x="2017" y="1286"/>
                      <a:ext cx="1724" cy="1740"/>
                    </a:xfrm>
                    <a:prstGeom prst="ellipse">
                      <a:avLst/>
                    </a:prstGeom>
                    <a:solidFill>
                      <a:srgbClr val="FFFFFF"/>
                    </a:solidFill>
                    <a:ln w="9525">
                      <a:solidFill>
                        <a:schemeClr val="tx1"/>
                      </a:solidFill>
                      <a:round/>
                      <a:headEnd/>
                      <a:tailEnd/>
                    </a:ln>
                  </p:spPr>
                  <p:txBody>
                    <a:bodyPr/>
                    <a:lstStyle/>
                    <a:p>
                      <a:endParaRPr lang="en-US"/>
                    </a:p>
                  </p:txBody>
                </p:sp>
              </p:grpSp>
              <p:sp>
                <p:nvSpPr>
                  <p:cNvPr id="20668" name="Oval 70"/>
                  <p:cNvSpPr>
                    <a:spLocks noChangeArrowheads="1"/>
                  </p:cNvSpPr>
                  <p:nvPr/>
                </p:nvSpPr>
                <p:spPr bwMode="auto">
                  <a:xfrm>
                    <a:off x="2250" y="1522"/>
                    <a:ext cx="1258" cy="1268"/>
                  </a:xfrm>
                  <a:prstGeom prst="ellipse">
                    <a:avLst/>
                  </a:prstGeom>
                  <a:solidFill>
                    <a:srgbClr val="0000FF"/>
                  </a:solidFill>
                  <a:ln w="9525">
                    <a:solidFill>
                      <a:schemeClr val="tx1"/>
                    </a:solidFill>
                    <a:round/>
                    <a:headEnd/>
                    <a:tailEnd/>
                  </a:ln>
                </p:spPr>
                <p:txBody>
                  <a:bodyPr/>
                  <a:lstStyle/>
                  <a:p>
                    <a:endParaRPr lang="en-US"/>
                  </a:p>
                </p:txBody>
              </p:sp>
            </p:grpSp>
            <p:sp>
              <p:nvSpPr>
                <p:cNvPr id="20666" name="Oval 71"/>
                <p:cNvSpPr>
                  <a:spLocks noChangeArrowheads="1"/>
                </p:cNvSpPr>
                <p:nvPr/>
              </p:nvSpPr>
              <p:spPr bwMode="auto">
                <a:xfrm>
                  <a:off x="2479" y="1754"/>
                  <a:ext cx="800" cy="804"/>
                </a:xfrm>
                <a:prstGeom prst="ellipse">
                  <a:avLst/>
                </a:prstGeom>
                <a:solidFill>
                  <a:srgbClr val="FFFFFF"/>
                </a:solidFill>
                <a:ln w="9525">
                  <a:solidFill>
                    <a:schemeClr val="tx1"/>
                  </a:solidFill>
                  <a:round/>
                  <a:headEnd/>
                  <a:tailEnd/>
                </a:ln>
              </p:spPr>
              <p:txBody>
                <a:bodyPr/>
                <a:lstStyle/>
                <a:p>
                  <a:endParaRPr lang="en-US"/>
                </a:p>
              </p:txBody>
            </p:sp>
          </p:grpSp>
          <p:sp>
            <p:nvSpPr>
              <p:cNvPr id="20664" name="Oval 72"/>
              <p:cNvSpPr>
                <a:spLocks noChangeArrowheads="1"/>
              </p:cNvSpPr>
              <p:nvPr/>
            </p:nvSpPr>
            <p:spPr bwMode="auto">
              <a:xfrm>
                <a:off x="2711" y="1986"/>
                <a:ext cx="336" cy="340"/>
              </a:xfrm>
              <a:prstGeom prst="ellipse">
                <a:avLst/>
              </a:prstGeom>
              <a:solidFill>
                <a:srgbClr val="FF0000"/>
              </a:solidFill>
              <a:ln w="9525">
                <a:solidFill>
                  <a:schemeClr val="tx1"/>
                </a:solidFill>
                <a:round/>
                <a:headEnd/>
                <a:tailEnd/>
              </a:ln>
            </p:spPr>
            <p:txBody>
              <a:bodyPr/>
              <a:lstStyle/>
              <a:p>
                <a:endParaRPr lang="en-US"/>
              </a:p>
            </p:txBody>
          </p:sp>
        </p:grpSp>
        <p:grpSp>
          <p:nvGrpSpPr>
            <p:cNvPr id="21" name="Group 73"/>
            <p:cNvGrpSpPr>
              <a:grpSpLocks/>
            </p:cNvGrpSpPr>
            <p:nvPr/>
          </p:nvGrpSpPr>
          <p:grpSpPr bwMode="auto">
            <a:xfrm>
              <a:off x="889" y="2700"/>
              <a:ext cx="486" cy="366"/>
              <a:chOff x="2898" y="1456"/>
              <a:chExt cx="910" cy="708"/>
            </a:xfrm>
          </p:grpSpPr>
          <p:sp>
            <p:nvSpPr>
              <p:cNvPr id="20648" name="Freeform 74"/>
              <p:cNvSpPr>
                <a:spLocks/>
              </p:cNvSpPr>
              <p:nvPr/>
            </p:nvSpPr>
            <p:spPr bwMode="auto">
              <a:xfrm>
                <a:off x="2907" y="2116"/>
                <a:ext cx="68" cy="47"/>
              </a:xfrm>
              <a:custGeom>
                <a:avLst/>
                <a:gdLst>
                  <a:gd name="T0" fmla="*/ 0 w 68"/>
                  <a:gd name="T1" fmla="*/ 22 h 47"/>
                  <a:gd name="T2" fmla="*/ 31 w 68"/>
                  <a:gd name="T3" fmla="*/ 0 h 47"/>
                  <a:gd name="T4" fmla="*/ 68 w 68"/>
                  <a:gd name="T5" fmla="*/ 47 h 47"/>
                  <a:gd name="T6" fmla="*/ 12 w 68"/>
                  <a:gd name="T7" fmla="*/ 39 h 47"/>
                  <a:gd name="T8" fmla="*/ 0 w 68"/>
                  <a:gd name="T9" fmla="*/ 22 h 47"/>
                  <a:gd name="T10" fmla="*/ 0 60000 65536"/>
                  <a:gd name="T11" fmla="*/ 0 60000 65536"/>
                  <a:gd name="T12" fmla="*/ 0 60000 65536"/>
                  <a:gd name="T13" fmla="*/ 0 60000 65536"/>
                  <a:gd name="T14" fmla="*/ 0 60000 65536"/>
                  <a:gd name="T15" fmla="*/ 0 w 68"/>
                  <a:gd name="T16" fmla="*/ 0 h 47"/>
                  <a:gd name="T17" fmla="*/ 68 w 68"/>
                  <a:gd name="T18" fmla="*/ 47 h 47"/>
                </a:gdLst>
                <a:ahLst/>
                <a:cxnLst>
                  <a:cxn ang="T10">
                    <a:pos x="T0" y="T1"/>
                  </a:cxn>
                  <a:cxn ang="T11">
                    <a:pos x="T2" y="T3"/>
                  </a:cxn>
                  <a:cxn ang="T12">
                    <a:pos x="T4" y="T5"/>
                  </a:cxn>
                  <a:cxn ang="T13">
                    <a:pos x="T6" y="T7"/>
                  </a:cxn>
                  <a:cxn ang="T14">
                    <a:pos x="T8" y="T9"/>
                  </a:cxn>
                </a:cxnLst>
                <a:rect l="T15" t="T16" r="T17" b="T18"/>
                <a:pathLst>
                  <a:path w="68" h="47">
                    <a:moveTo>
                      <a:pt x="0" y="22"/>
                    </a:moveTo>
                    <a:lnTo>
                      <a:pt x="31" y="0"/>
                    </a:lnTo>
                    <a:lnTo>
                      <a:pt x="68" y="47"/>
                    </a:lnTo>
                    <a:lnTo>
                      <a:pt x="12" y="39"/>
                    </a:lnTo>
                    <a:lnTo>
                      <a:pt x="0" y="22"/>
                    </a:lnTo>
                    <a:close/>
                  </a:path>
                </a:pathLst>
              </a:custGeom>
              <a:solidFill>
                <a:srgbClr val="3F3F3F"/>
              </a:solidFill>
              <a:ln w="9525">
                <a:solidFill>
                  <a:schemeClr val="tx1"/>
                </a:solidFill>
                <a:round/>
                <a:headEnd/>
                <a:tailEnd/>
              </a:ln>
            </p:spPr>
            <p:txBody>
              <a:bodyPr/>
              <a:lstStyle/>
              <a:p>
                <a:endParaRPr lang="sv-SE"/>
              </a:p>
            </p:txBody>
          </p:sp>
          <p:sp>
            <p:nvSpPr>
              <p:cNvPr id="20649" name="Freeform 75"/>
              <p:cNvSpPr>
                <a:spLocks/>
              </p:cNvSpPr>
              <p:nvPr/>
            </p:nvSpPr>
            <p:spPr bwMode="auto">
              <a:xfrm>
                <a:off x="2898" y="2046"/>
                <a:ext cx="39" cy="92"/>
              </a:xfrm>
              <a:custGeom>
                <a:avLst/>
                <a:gdLst>
                  <a:gd name="T0" fmla="*/ 25 w 39"/>
                  <a:gd name="T1" fmla="*/ 0 h 92"/>
                  <a:gd name="T2" fmla="*/ 39 w 39"/>
                  <a:gd name="T3" fmla="*/ 70 h 92"/>
                  <a:gd name="T4" fmla="*/ 9 w 39"/>
                  <a:gd name="T5" fmla="*/ 92 h 92"/>
                  <a:gd name="T6" fmla="*/ 0 w 39"/>
                  <a:gd name="T7" fmla="*/ 71 h 92"/>
                  <a:gd name="T8" fmla="*/ 25 w 39"/>
                  <a:gd name="T9" fmla="*/ 0 h 92"/>
                  <a:gd name="T10" fmla="*/ 0 60000 65536"/>
                  <a:gd name="T11" fmla="*/ 0 60000 65536"/>
                  <a:gd name="T12" fmla="*/ 0 60000 65536"/>
                  <a:gd name="T13" fmla="*/ 0 60000 65536"/>
                  <a:gd name="T14" fmla="*/ 0 60000 65536"/>
                  <a:gd name="T15" fmla="*/ 0 w 39"/>
                  <a:gd name="T16" fmla="*/ 0 h 92"/>
                  <a:gd name="T17" fmla="*/ 39 w 39"/>
                  <a:gd name="T18" fmla="*/ 92 h 92"/>
                </a:gdLst>
                <a:ahLst/>
                <a:cxnLst>
                  <a:cxn ang="T10">
                    <a:pos x="T0" y="T1"/>
                  </a:cxn>
                  <a:cxn ang="T11">
                    <a:pos x="T2" y="T3"/>
                  </a:cxn>
                  <a:cxn ang="T12">
                    <a:pos x="T4" y="T5"/>
                  </a:cxn>
                  <a:cxn ang="T13">
                    <a:pos x="T6" y="T7"/>
                  </a:cxn>
                  <a:cxn ang="T14">
                    <a:pos x="T8" y="T9"/>
                  </a:cxn>
                </a:cxnLst>
                <a:rect l="T15" t="T16" r="T17" b="T18"/>
                <a:pathLst>
                  <a:path w="39" h="92">
                    <a:moveTo>
                      <a:pt x="25" y="0"/>
                    </a:moveTo>
                    <a:lnTo>
                      <a:pt x="39" y="70"/>
                    </a:lnTo>
                    <a:lnTo>
                      <a:pt x="9" y="92"/>
                    </a:lnTo>
                    <a:lnTo>
                      <a:pt x="0" y="71"/>
                    </a:lnTo>
                    <a:lnTo>
                      <a:pt x="25" y="0"/>
                    </a:lnTo>
                    <a:close/>
                  </a:path>
                </a:pathLst>
              </a:custGeom>
              <a:solidFill>
                <a:srgbClr val="5F5F5F"/>
              </a:solidFill>
              <a:ln w="9525">
                <a:solidFill>
                  <a:schemeClr val="tx1"/>
                </a:solidFill>
                <a:round/>
                <a:headEnd/>
                <a:tailEnd/>
              </a:ln>
            </p:spPr>
            <p:txBody>
              <a:bodyPr/>
              <a:lstStyle/>
              <a:p>
                <a:endParaRPr lang="sv-SE"/>
              </a:p>
            </p:txBody>
          </p:sp>
          <p:sp>
            <p:nvSpPr>
              <p:cNvPr id="20650" name="Freeform 76"/>
              <p:cNvSpPr>
                <a:spLocks/>
              </p:cNvSpPr>
              <p:nvPr/>
            </p:nvSpPr>
            <p:spPr bwMode="auto">
              <a:xfrm>
                <a:off x="2924" y="2045"/>
                <a:ext cx="52" cy="119"/>
              </a:xfrm>
              <a:custGeom>
                <a:avLst/>
                <a:gdLst>
                  <a:gd name="T0" fmla="*/ 0 w 52"/>
                  <a:gd name="T1" fmla="*/ 0 h 119"/>
                  <a:gd name="T2" fmla="*/ 13 w 52"/>
                  <a:gd name="T3" fmla="*/ 73 h 119"/>
                  <a:gd name="T4" fmla="*/ 52 w 52"/>
                  <a:gd name="T5" fmla="*/ 119 h 119"/>
                  <a:gd name="T6" fmla="*/ 35 w 52"/>
                  <a:gd name="T7" fmla="*/ 62 h 119"/>
                  <a:gd name="T8" fmla="*/ 0 w 52"/>
                  <a:gd name="T9" fmla="*/ 0 h 119"/>
                  <a:gd name="T10" fmla="*/ 0 60000 65536"/>
                  <a:gd name="T11" fmla="*/ 0 60000 65536"/>
                  <a:gd name="T12" fmla="*/ 0 60000 65536"/>
                  <a:gd name="T13" fmla="*/ 0 60000 65536"/>
                  <a:gd name="T14" fmla="*/ 0 60000 65536"/>
                  <a:gd name="T15" fmla="*/ 0 w 52"/>
                  <a:gd name="T16" fmla="*/ 0 h 119"/>
                  <a:gd name="T17" fmla="*/ 52 w 52"/>
                  <a:gd name="T18" fmla="*/ 119 h 119"/>
                </a:gdLst>
                <a:ahLst/>
                <a:cxnLst>
                  <a:cxn ang="T10">
                    <a:pos x="T0" y="T1"/>
                  </a:cxn>
                  <a:cxn ang="T11">
                    <a:pos x="T2" y="T3"/>
                  </a:cxn>
                  <a:cxn ang="T12">
                    <a:pos x="T4" y="T5"/>
                  </a:cxn>
                  <a:cxn ang="T13">
                    <a:pos x="T6" y="T7"/>
                  </a:cxn>
                  <a:cxn ang="T14">
                    <a:pos x="T8" y="T9"/>
                  </a:cxn>
                </a:cxnLst>
                <a:rect l="T15" t="T16" r="T17" b="T18"/>
                <a:pathLst>
                  <a:path w="52" h="119">
                    <a:moveTo>
                      <a:pt x="0" y="0"/>
                    </a:moveTo>
                    <a:lnTo>
                      <a:pt x="13" y="73"/>
                    </a:lnTo>
                    <a:lnTo>
                      <a:pt x="52" y="119"/>
                    </a:lnTo>
                    <a:lnTo>
                      <a:pt x="35" y="62"/>
                    </a:lnTo>
                    <a:lnTo>
                      <a:pt x="0" y="0"/>
                    </a:lnTo>
                    <a:close/>
                  </a:path>
                </a:pathLst>
              </a:custGeom>
              <a:solidFill>
                <a:srgbClr val="9F9F9F"/>
              </a:solidFill>
              <a:ln w="9525">
                <a:solidFill>
                  <a:schemeClr val="tx1"/>
                </a:solidFill>
                <a:round/>
                <a:headEnd/>
                <a:tailEnd/>
              </a:ln>
            </p:spPr>
            <p:txBody>
              <a:bodyPr/>
              <a:lstStyle/>
              <a:p>
                <a:endParaRPr lang="sv-SE"/>
              </a:p>
            </p:txBody>
          </p:sp>
          <p:grpSp>
            <p:nvGrpSpPr>
              <p:cNvPr id="22" name="Group 77"/>
              <p:cNvGrpSpPr>
                <a:grpSpLocks/>
              </p:cNvGrpSpPr>
              <p:nvPr/>
            </p:nvGrpSpPr>
            <p:grpSpPr bwMode="auto">
              <a:xfrm>
                <a:off x="2931" y="1456"/>
                <a:ext cx="877" cy="674"/>
                <a:chOff x="2931" y="1456"/>
                <a:chExt cx="877" cy="674"/>
              </a:xfrm>
            </p:grpSpPr>
            <p:sp>
              <p:nvSpPr>
                <p:cNvPr id="20652" name="Freeform 78"/>
                <p:cNvSpPr>
                  <a:spLocks/>
                </p:cNvSpPr>
                <p:nvPr/>
              </p:nvSpPr>
              <p:spPr bwMode="auto">
                <a:xfrm>
                  <a:off x="2931" y="1646"/>
                  <a:ext cx="756" cy="484"/>
                </a:xfrm>
                <a:custGeom>
                  <a:avLst/>
                  <a:gdLst>
                    <a:gd name="T0" fmla="*/ 611 w 756"/>
                    <a:gd name="T1" fmla="*/ 0 h 484"/>
                    <a:gd name="T2" fmla="*/ 16 w 756"/>
                    <a:gd name="T3" fmla="*/ 442 h 484"/>
                    <a:gd name="T4" fmla="*/ 9 w 756"/>
                    <a:gd name="T5" fmla="*/ 447 h 484"/>
                    <a:gd name="T6" fmla="*/ 3 w 756"/>
                    <a:gd name="T7" fmla="*/ 456 h 484"/>
                    <a:gd name="T8" fmla="*/ 0 w 756"/>
                    <a:gd name="T9" fmla="*/ 467 h 484"/>
                    <a:gd name="T10" fmla="*/ 4 w 756"/>
                    <a:gd name="T11" fmla="*/ 477 h 484"/>
                    <a:gd name="T12" fmla="*/ 12 w 756"/>
                    <a:gd name="T13" fmla="*/ 482 h 484"/>
                    <a:gd name="T14" fmla="*/ 20 w 756"/>
                    <a:gd name="T15" fmla="*/ 484 h 484"/>
                    <a:gd name="T16" fmla="*/ 31 w 756"/>
                    <a:gd name="T17" fmla="*/ 480 h 484"/>
                    <a:gd name="T18" fmla="*/ 756 w 756"/>
                    <a:gd name="T19" fmla="*/ 144 h 484"/>
                    <a:gd name="T20" fmla="*/ 611 w 756"/>
                    <a:gd name="T21" fmla="*/ 0 h 4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6"/>
                    <a:gd name="T34" fmla="*/ 0 h 484"/>
                    <a:gd name="T35" fmla="*/ 756 w 756"/>
                    <a:gd name="T36" fmla="*/ 484 h 4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6" h="484">
                      <a:moveTo>
                        <a:pt x="611" y="0"/>
                      </a:moveTo>
                      <a:lnTo>
                        <a:pt x="16" y="442"/>
                      </a:lnTo>
                      <a:lnTo>
                        <a:pt x="9" y="447"/>
                      </a:lnTo>
                      <a:lnTo>
                        <a:pt x="3" y="456"/>
                      </a:lnTo>
                      <a:lnTo>
                        <a:pt x="0" y="467"/>
                      </a:lnTo>
                      <a:lnTo>
                        <a:pt x="4" y="477"/>
                      </a:lnTo>
                      <a:lnTo>
                        <a:pt x="12" y="482"/>
                      </a:lnTo>
                      <a:lnTo>
                        <a:pt x="20" y="484"/>
                      </a:lnTo>
                      <a:lnTo>
                        <a:pt x="31" y="480"/>
                      </a:lnTo>
                      <a:lnTo>
                        <a:pt x="756" y="144"/>
                      </a:lnTo>
                      <a:lnTo>
                        <a:pt x="611" y="0"/>
                      </a:lnTo>
                      <a:close/>
                    </a:path>
                  </a:pathLst>
                </a:custGeom>
                <a:solidFill>
                  <a:srgbClr val="808080"/>
                </a:solidFill>
                <a:ln w="9525">
                  <a:solidFill>
                    <a:schemeClr val="tx1"/>
                  </a:solidFill>
                  <a:round/>
                  <a:headEnd/>
                  <a:tailEnd/>
                </a:ln>
              </p:spPr>
              <p:txBody>
                <a:bodyPr/>
                <a:lstStyle/>
                <a:p>
                  <a:endParaRPr lang="sv-SE"/>
                </a:p>
              </p:txBody>
            </p:sp>
            <p:sp>
              <p:nvSpPr>
                <p:cNvPr id="20653" name="Freeform 79"/>
                <p:cNvSpPr>
                  <a:spLocks/>
                </p:cNvSpPr>
                <p:nvPr/>
              </p:nvSpPr>
              <p:spPr bwMode="auto">
                <a:xfrm>
                  <a:off x="3485" y="1620"/>
                  <a:ext cx="252" cy="116"/>
                </a:xfrm>
                <a:custGeom>
                  <a:avLst/>
                  <a:gdLst>
                    <a:gd name="T0" fmla="*/ 13 w 252"/>
                    <a:gd name="T1" fmla="*/ 62 h 116"/>
                    <a:gd name="T2" fmla="*/ 108 w 252"/>
                    <a:gd name="T3" fmla="*/ 0 h 116"/>
                    <a:gd name="T4" fmla="*/ 252 w 252"/>
                    <a:gd name="T5" fmla="*/ 106 h 116"/>
                    <a:gd name="T6" fmla="*/ 231 w 252"/>
                    <a:gd name="T7" fmla="*/ 116 h 116"/>
                    <a:gd name="T8" fmla="*/ 99 w 252"/>
                    <a:gd name="T9" fmla="*/ 35 h 116"/>
                    <a:gd name="T10" fmla="*/ 0 w 252"/>
                    <a:gd name="T11" fmla="*/ 90 h 116"/>
                    <a:gd name="T12" fmla="*/ 13 w 252"/>
                    <a:gd name="T13" fmla="*/ 62 h 116"/>
                    <a:gd name="T14" fmla="*/ 0 60000 65536"/>
                    <a:gd name="T15" fmla="*/ 0 60000 65536"/>
                    <a:gd name="T16" fmla="*/ 0 60000 65536"/>
                    <a:gd name="T17" fmla="*/ 0 60000 65536"/>
                    <a:gd name="T18" fmla="*/ 0 60000 65536"/>
                    <a:gd name="T19" fmla="*/ 0 60000 65536"/>
                    <a:gd name="T20" fmla="*/ 0 60000 65536"/>
                    <a:gd name="T21" fmla="*/ 0 w 252"/>
                    <a:gd name="T22" fmla="*/ 0 h 116"/>
                    <a:gd name="T23" fmla="*/ 252 w 252"/>
                    <a:gd name="T24" fmla="*/ 116 h 1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116">
                      <a:moveTo>
                        <a:pt x="13" y="62"/>
                      </a:moveTo>
                      <a:lnTo>
                        <a:pt x="108" y="0"/>
                      </a:lnTo>
                      <a:lnTo>
                        <a:pt x="252" y="106"/>
                      </a:lnTo>
                      <a:lnTo>
                        <a:pt x="231" y="116"/>
                      </a:lnTo>
                      <a:lnTo>
                        <a:pt x="99" y="35"/>
                      </a:lnTo>
                      <a:lnTo>
                        <a:pt x="0" y="90"/>
                      </a:lnTo>
                      <a:lnTo>
                        <a:pt x="13" y="62"/>
                      </a:lnTo>
                      <a:close/>
                    </a:path>
                  </a:pathLst>
                </a:custGeom>
                <a:solidFill>
                  <a:srgbClr val="808080"/>
                </a:solidFill>
                <a:ln w="9525">
                  <a:solidFill>
                    <a:schemeClr val="tx1"/>
                  </a:solidFill>
                  <a:round/>
                  <a:headEnd/>
                  <a:tailEnd/>
                </a:ln>
              </p:spPr>
              <p:txBody>
                <a:bodyPr/>
                <a:lstStyle/>
                <a:p>
                  <a:endParaRPr lang="sv-SE"/>
                </a:p>
              </p:txBody>
            </p:sp>
            <p:sp>
              <p:nvSpPr>
                <p:cNvPr id="20654" name="Freeform 80"/>
                <p:cNvSpPr>
                  <a:spLocks/>
                </p:cNvSpPr>
                <p:nvPr/>
              </p:nvSpPr>
              <p:spPr bwMode="auto">
                <a:xfrm>
                  <a:off x="3481" y="1600"/>
                  <a:ext cx="240" cy="233"/>
                </a:xfrm>
                <a:custGeom>
                  <a:avLst/>
                  <a:gdLst>
                    <a:gd name="T0" fmla="*/ 124 w 240"/>
                    <a:gd name="T1" fmla="*/ 0 h 233"/>
                    <a:gd name="T2" fmla="*/ 11 w 240"/>
                    <a:gd name="T3" fmla="*/ 82 h 233"/>
                    <a:gd name="T4" fmla="*/ 6 w 240"/>
                    <a:gd name="T5" fmla="*/ 94 h 233"/>
                    <a:gd name="T6" fmla="*/ 2 w 240"/>
                    <a:gd name="T7" fmla="*/ 108 h 233"/>
                    <a:gd name="T8" fmla="*/ 0 w 240"/>
                    <a:gd name="T9" fmla="*/ 126 h 233"/>
                    <a:gd name="T10" fmla="*/ 0 w 240"/>
                    <a:gd name="T11" fmla="*/ 142 h 233"/>
                    <a:gd name="T12" fmla="*/ 3 w 240"/>
                    <a:gd name="T13" fmla="*/ 160 h 233"/>
                    <a:gd name="T14" fmla="*/ 8 w 240"/>
                    <a:gd name="T15" fmla="*/ 175 h 233"/>
                    <a:gd name="T16" fmla="*/ 18 w 240"/>
                    <a:gd name="T17" fmla="*/ 190 h 233"/>
                    <a:gd name="T18" fmla="*/ 30 w 240"/>
                    <a:gd name="T19" fmla="*/ 203 h 233"/>
                    <a:gd name="T20" fmla="*/ 47 w 240"/>
                    <a:gd name="T21" fmla="*/ 215 h 233"/>
                    <a:gd name="T22" fmla="*/ 61 w 240"/>
                    <a:gd name="T23" fmla="*/ 224 h 233"/>
                    <a:gd name="T24" fmla="*/ 78 w 240"/>
                    <a:gd name="T25" fmla="*/ 229 h 233"/>
                    <a:gd name="T26" fmla="*/ 95 w 240"/>
                    <a:gd name="T27" fmla="*/ 233 h 233"/>
                    <a:gd name="T28" fmla="*/ 111 w 240"/>
                    <a:gd name="T29" fmla="*/ 233 h 233"/>
                    <a:gd name="T30" fmla="*/ 240 w 240"/>
                    <a:gd name="T31" fmla="*/ 175 h 233"/>
                    <a:gd name="T32" fmla="*/ 108 w 240"/>
                    <a:gd name="T33" fmla="*/ 47 h 233"/>
                    <a:gd name="T34" fmla="*/ 13 w 240"/>
                    <a:gd name="T35" fmla="*/ 102 h 233"/>
                    <a:gd name="T36" fmla="*/ 20 w 240"/>
                    <a:gd name="T37" fmla="*/ 84 h 233"/>
                    <a:gd name="T38" fmla="*/ 118 w 240"/>
                    <a:gd name="T39" fmla="*/ 22 h 233"/>
                    <a:gd name="T40" fmla="*/ 124 w 240"/>
                    <a:gd name="T41" fmla="*/ 0 h 2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0"/>
                    <a:gd name="T64" fmla="*/ 0 h 233"/>
                    <a:gd name="T65" fmla="*/ 240 w 240"/>
                    <a:gd name="T66" fmla="*/ 233 h 2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0" h="233">
                      <a:moveTo>
                        <a:pt x="124" y="0"/>
                      </a:moveTo>
                      <a:lnTo>
                        <a:pt x="11" y="82"/>
                      </a:lnTo>
                      <a:lnTo>
                        <a:pt x="6" y="94"/>
                      </a:lnTo>
                      <a:lnTo>
                        <a:pt x="2" y="108"/>
                      </a:lnTo>
                      <a:lnTo>
                        <a:pt x="0" y="126"/>
                      </a:lnTo>
                      <a:lnTo>
                        <a:pt x="0" y="142"/>
                      </a:lnTo>
                      <a:lnTo>
                        <a:pt x="3" y="160"/>
                      </a:lnTo>
                      <a:lnTo>
                        <a:pt x="8" y="175"/>
                      </a:lnTo>
                      <a:lnTo>
                        <a:pt x="18" y="190"/>
                      </a:lnTo>
                      <a:lnTo>
                        <a:pt x="30" y="203"/>
                      </a:lnTo>
                      <a:lnTo>
                        <a:pt x="47" y="215"/>
                      </a:lnTo>
                      <a:lnTo>
                        <a:pt x="61" y="224"/>
                      </a:lnTo>
                      <a:lnTo>
                        <a:pt x="78" y="229"/>
                      </a:lnTo>
                      <a:lnTo>
                        <a:pt x="95" y="233"/>
                      </a:lnTo>
                      <a:lnTo>
                        <a:pt x="111" y="233"/>
                      </a:lnTo>
                      <a:lnTo>
                        <a:pt x="240" y="175"/>
                      </a:lnTo>
                      <a:lnTo>
                        <a:pt x="108" y="47"/>
                      </a:lnTo>
                      <a:lnTo>
                        <a:pt x="13" y="102"/>
                      </a:lnTo>
                      <a:lnTo>
                        <a:pt x="20" y="84"/>
                      </a:lnTo>
                      <a:lnTo>
                        <a:pt x="118" y="22"/>
                      </a:lnTo>
                      <a:lnTo>
                        <a:pt x="124" y="0"/>
                      </a:lnTo>
                      <a:close/>
                    </a:path>
                  </a:pathLst>
                </a:custGeom>
                <a:solidFill>
                  <a:srgbClr val="C0C0C0"/>
                </a:solidFill>
                <a:ln w="9525">
                  <a:solidFill>
                    <a:schemeClr val="tx1"/>
                  </a:solidFill>
                  <a:round/>
                  <a:headEnd/>
                  <a:tailEnd/>
                </a:ln>
              </p:spPr>
              <p:txBody>
                <a:bodyPr/>
                <a:lstStyle/>
                <a:p>
                  <a:endParaRPr lang="sv-SE"/>
                </a:p>
              </p:txBody>
            </p:sp>
            <p:sp>
              <p:nvSpPr>
                <p:cNvPr id="20655" name="Freeform 81"/>
                <p:cNvSpPr>
                  <a:spLocks/>
                </p:cNvSpPr>
                <p:nvPr/>
              </p:nvSpPr>
              <p:spPr bwMode="auto">
                <a:xfrm>
                  <a:off x="3590" y="1646"/>
                  <a:ext cx="145" cy="131"/>
                </a:xfrm>
                <a:custGeom>
                  <a:avLst/>
                  <a:gdLst>
                    <a:gd name="T0" fmla="*/ 0 w 145"/>
                    <a:gd name="T1" fmla="*/ 0 h 131"/>
                    <a:gd name="T2" fmla="*/ 3 w 145"/>
                    <a:gd name="T3" fmla="*/ 12 h 131"/>
                    <a:gd name="T4" fmla="*/ 6 w 145"/>
                    <a:gd name="T5" fmla="*/ 22 h 131"/>
                    <a:gd name="T6" fmla="*/ 9 w 145"/>
                    <a:gd name="T7" fmla="*/ 32 h 131"/>
                    <a:gd name="T8" fmla="*/ 14 w 145"/>
                    <a:gd name="T9" fmla="*/ 45 h 131"/>
                    <a:gd name="T10" fmla="*/ 20 w 145"/>
                    <a:gd name="T11" fmla="*/ 57 h 131"/>
                    <a:gd name="T12" fmla="*/ 30 w 145"/>
                    <a:gd name="T13" fmla="*/ 73 h 131"/>
                    <a:gd name="T14" fmla="*/ 42 w 145"/>
                    <a:gd name="T15" fmla="*/ 86 h 131"/>
                    <a:gd name="T16" fmla="*/ 56 w 145"/>
                    <a:gd name="T17" fmla="*/ 98 h 131"/>
                    <a:gd name="T18" fmla="*/ 70 w 145"/>
                    <a:gd name="T19" fmla="*/ 109 h 131"/>
                    <a:gd name="T20" fmla="*/ 84 w 145"/>
                    <a:gd name="T21" fmla="*/ 118 h 131"/>
                    <a:gd name="T22" fmla="*/ 99 w 145"/>
                    <a:gd name="T23" fmla="*/ 125 h 131"/>
                    <a:gd name="T24" fmla="*/ 112 w 145"/>
                    <a:gd name="T25" fmla="*/ 130 h 131"/>
                    <a:gd name="T26" fmla="*/ 120 w 145"/>
                    <a:gd name="T27" fmla="*/ 131 h 131"/>
                    <a:gd name="T28" fmla="*/ 130 w 145"/>
                    <a:gd name="T29" fmla="*/ 128 h 131"/>
                    <a:gd name="T30" fmla="*/ 136 w 145"/>
                    <a:gd name="T31" fmla="*/ 120 h 131"/>
                    <a:gd name="T32" fmla="*/ 141 w 145"/>
                    <a:gd name="T33" fmla="*/ 109 h 131"/>
                    <a:gd name="T34" fmla="*/ 145 w 145"/>
                    <a:gd name="T35" fmla="*/ 96 h 131"/>
                    <a:gd name="T36" fmla="*/ 0 w 145"/>
                    <a:gd name="T37" fmla="*/ 0 h 1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131"/>
                    <a:gd name="T59" fmla="*/ 145 w 145"/>
                    <a:gd name="T60" fmla="*/ 131 h 1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131">
                      <a:moveTo>
                        <a:pt x="0" y="0"/>
                      </a:moveTo>
                      <a:lnTo>
                        <a:pt x="3" y="12"/>
                      </a:lnTo>
                      <a:lnTo>
                        <a:pt x="6" y="22"/>
                      </a:lnTo>
                      <a:lnTo>
                        <a:pt x="9" y="32"/>
                      </a:lnTo>
                      <a:lnTo>
                        <a:pt x="14" y="45"/>
                      </a:lnTo>
                      <a:lnTo>
                        <a:pt x="20" y="57"/>
                      </a:lnTo>
                      <a:lnTo>
                        <a:pt x="30" y="73"/>
                      </a:lnTo>
                      <a:lnTo>
                        <a:pt x="42" y="86"/>
                      </a:lnTo>
                      <a:lnTo>
                        <a:pt x="56" y="98"/>
                      </a:lnTo>
                      <a:lnTo>
                        <a:pt x="70" y="109"/>
                      </a:lnTo>
                      <a:lnTo>
                        <a:pt x="84" y="118"/>
                      </a:lnTo>
                      <a:lnTo>
                        <a:pt x="99" y="125"/>
                      </a:lnTo>
                      <a:lnTo>
                        <a:pt x="112" y="130"/>
                      </a:lnTo>
                      <a:lnTo>
                        <a:pt x="120" y="131"/>
                      </a:lnTo>
                      <a:lnTo>
                        <a:pt x="130" y="128"/>
                      </a:lnTo>
                      <a:lnTo>
                        <a:pt x="136" y="120"/>
                      </a:lnTo>
                      <a:lnTo>
                        <a:pt x="141" y="109"/>
                      </a:lnTo>
                      <a:lnTo>
                        <a:pt x="145" y="96"/>
                      </a:lnTo>
                      <a:lnTo>
                        <a:pt x="0" y="0"/>
                      </a:lnTo>
                      <a:close/>
                    </a:path>
                  </a:pathLst>
                </a:custGeom>
                <a:solidFill>
                  <a:srgbClr val="9F9F9F"/>
                </a:solidFill>
                <a:ln w="9525">
                  <a:solidFill>
                    <a:schemeClr val="tx1"/>
                  </a:solidFill>
                  <a:round/>
                  <a:headEnd/>
                  <a:tailEnd/>
                </a:ln>
              </p:spPr>
              <p:txBody>
                <a:bodyPr/>
                <a:lstStyle/>
                <a:p>
                  <a:endParaRPr lang="sv-SE"/>
                </a:p>
              </p:txBody>
            </p:sp>
            <p:sp>
              <p:nvSpPr>
                <p:cNvPr id="20656" name="Freeform 82"/>
                <p:cNvSpPr>
                  <a:spLocks/>
                </p:cNvSpPr>
                <p:nvPr/>
              </p:nvSpPr>
              <p:spPr bwMode="auto">
                <a:xfrm>
                  <a:off x="3591" y="1597"/>
                  <a:ext cx="147" cy="129"/>
                </a:xfrm>
                <a:custGeom>
                  <a:avLst/>
                  <a:gdLst>
                    <a:gd name="T0" fmla="*/ 0 w 147"/>
                    <a:gd name="T1" fmla="*/ 31 h 129"/>
                    <a:gd name="T2" fmla="*/ 0 w 147"/>
                    <a:gd name="T3" fmla="*/ 22 h 129"/>
                    <a:gd name="T4" fmla="*/ 4 w 147"/>
                    <a:gd name="T5" fmla="*/ 12 h 129"/>
                    <a:gd name="T6" fmla="*/ 15 w 147"/>
                    <a:gd name="T7" fmla="*/ 3 h 129"/>
                    <a:gd name="T8" fmla="*/ 27 w 147"/>
                    <a:gd name="T9" fmla="*/ 0 h 129"/>
                    <a:gd name="T10" fmla="*/ 39 w 147"/>
                    <a:gd name="T11" fmla="*/ 0 h 129"/>
                    <a:gd name="T12" fmla="*/ 54 w 147"/>
                    <a:gd name="T13" fmla="*/ 3 h 129"/>
                    <a:gd name="T14" fmla="*/ 72 w 147"/>
                    <a:gd name="T15" fmla="*/ 10 h 129"/>
                    <a:gd name="T16" fmla="*/ 88 w 147"/>
                    <a:gd name="T17" fmla="*/ 17 h 129"/>
                    <a:gd name="T18" fmla="*/ 104 w 147"/>
                    <a:gd name="T19" fmla="*/ 28 h 129"/>
                    <a:gd name="T20" fmla="*/ 115 w 147"/>
                    <a:gd name="T21" fmla="*/ 38 h 129"/>
                    <a:gd name="T22" fmla="*/ 125 w 147"/>
                    <a:gd name="T23" fmla="*/ 50 h 129"/>
                    <a:gd name="T24" fmla="*/ 132 w 147"/>
                    <a:gd name="T25" fmla="*/ 63 h 129"/>
                    <a:gd name="T26" fmla="*/ 138 w 147"/>
                    <a:gd name="T27" fmla="*/ 77 h 129"/>
                    <a:gd name="T28" fmla="*/ 144 w 147"/>
                    <a:gd name="T29" fmla="*/ 96 h 129"/>
                    <a:gd name="T30" fmla="*/ 147 w 147"/>
                    <a:gd name="T31" fmla="*/ 113 h 129"/>
                    <a:gd name="T32" fmla="*/ 146 w 147"/>
                    <a:gd name="T33" fmla="*/ 129 h 129"/>
                    <a:gd name="T34" fmla="*/ 0 w 147"/>
                    <a:gd name="T35" fmla="*/ 31 h 1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7"/>
                    <a:gd name="T55" fmla="*/ 0 h 129"/>
                    <a:gd name="T56" fmla="*/ 147 w 147"/>
                    <a:gd name="T57" fmla="*/ 129 h 1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7" h="129">
                      <a:moveTo>
                        <a:pt x="0" y="31"/>
                      </a:moveTo>
                      <a:lnTo>
                        <a:pt x="0" y="22"/>
                      </a:lnTo>
                      <a:lnTo>
                        <a:pt x="4" y="12"/>
                      </a:lnTo>
                      <a:lnTo>
                        <a:pt x="15" y="3"/>
                      </a:lnTo>
                      <a:lnTo>
                        <a:pt x="27" y="0"/>
                      </a:lnTo>
                      <a:lnTo>
                        <a:pt x="39" y="0"/>
                      </a:lnTo>
                      <a:lnTo>
                        <a:pt x="54" y="3"/>
                      </a:lnTo>
                      <a:lnTo>
                        <a:pt x="72" y="10"/>
                      </a:lnTo>
                      <a:lnTo>
                        <a:pt x="88" y="17"/>
                      </a:lnTo>
                      <a:lnTo>
                        <a:pt x="104" y="28"/>
                      </a:lnTo>
                      <a:lnTo>
                        <a:pt x="115" y="38"/>
                      </a:lnTo>
                      <a:lnTo>
                        <a:pt x="125" y="50"/>
                      </a:lnTo>
                      <a:lnTo>
                        <a:pt x="132" y="63"/>
                      </a:lnTo>
                      <a:lnTo>
                        <a:pt x="138" y="77"/>
                      </a:lnTo>
                      <a:lnTo>
                        <a:pt x="144" y="96"/>
                      </a:lnTo>
                      <a:lnTo>
                        <a:pt x="147" y="113"/>
                      </a:lnTo>
                      <a:lnTo>
                        <a:pt x="146" y="129"/>
                      </a:lnTo>
                      <a:lnTo>
                        <a:pt x="0" y="31"/>
                      </a:lnTo>
                      <a:close/>
                    </a:path>
                  </a:pathLst>
                </a:custGeom>
                <a:solidFill>
                  <a:srgbClr val="9F9F9F"/>
                </a:solidFill>
                <a:ln w="9525">
                  <a:solidFill>
                    <a:schemeClr val="tx1"/>
                  </a:solidFill>
                  <a:round/>
                  <a:headEnd/>
                  <a:tailEnd/>
                </a:ln>
              </p:spPr>
              <p:txBody>
                <a:bodyPr/>
                <a:lstStyle/>
                <a:p>
                  <a:endParaRPr lang="sv-SE"/>
                </a:p>
              </p:txBody>
            </p:sp>
            <p:sp>
              <p:nvSpPr>
                <p:cNvPr id="20657" name="Freeform 83"/>
                <p:cNvSpPr>
                  <a:spLocks/>
                </p:cNvSpPr>
                <p:nvPr/>
              </p:nvSpPr>
              <p:spPr bwMode="auto">
                <a:xfrm>
                  <a:off x="3254" y="1456"/>
                  <a:ext cx="323" cy="418"/>
                </a:xfrm>
                <a:custGeom>
                  <a:avLst/>
                  <a:gdLst>
                    <a:gd name="T0" fmla="*/ 0 w 323"/>
                    <a:gd name="T1" fmla="*/ 418 h 418"/>
                    <a:gd name="T2" fmla="*/ 264 w 323"/>
                    <a:gd name="T3" fmla="*/ 219 h 418"/>
                    <a:gd name="T4" fmla="*/ 323 w 323"/>
                    <a:gd name="T5" fmla="*/ 0 h 418"/>
                    <a:gd name="T6" fmla="*/ 250 w 323"/>
                    <a:gd name="T7" fmla="*/ 81 h 418"/>
                    <a:gd name="T8" fmla="*/ 237 w 323"/>
                    <a:gd name="T9" fmla="*/ 108 h 418"/>
                    <a:gd name="T10" fmla="*/ 227 w 323"/>
                    <a:gd name="T11" fmla="*/ 89 h 418"/>
                    <a:gd name="T12" fmla="*/ 150 w 323"/>
                    <a:gd name="T13" fmla="*/ 201 h 418"/>
                    <a:gd name="T14" fmla="*/ 148 w 323"/>
                    <a:gd name="T15" fmla="*/ 174 h 418"/>
                    <a:gd name="T16" fmla="*/ 58 w 323"/>
                    <a:gd name="T17" fmla="*/ 283 h 418"/>
                    <a:gd name="T18" fmla="*/ 0 w 323"/>
                    <a:gd name="T19" fmla="*/ 418 h 4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3"/>
                    <a:gd name="T31" fmla="*/ 0 h 418"/>
                    <a:gd name="T32" fmla="*/ 323 w 323"/>
                    <a:gd name="T33" fmla="*/ 418 h 4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3" h="418">
                      <a:moveTo>
                        <a:pt x="0" y="418"/>
                      </a:moveTo>
                      <a:lnTo>
                        <a:pt x="264" y="219"/>
                      </a:lnTo>
                      <a:lnTo>
                        <a:pt x="323" y="0"/>
                      </a:lnTo>
                      <a:lnTo>
                        <a:pt x="250" y="81"/>
                      </a:lnTo>
                      <a:lnTo>
                        <a:pt x="237" y="108"/>
                      </a:lnTo>
                      <a:lnTo>
                        <a:pt x="227" y="89"/>
                      </a:lnTo>
                      <a:lnTo>
                        <a:pt x="150" y="201"/>
                      </a:lnTo>
                      <a:lnTo>
                        <a:pt x="148" y="174"/>
                      </a:lnTo>
                      <a:lnTo>
                        <a:pt x="58" y="283"/>
                      </a:lnTo>
                      <a:lnTo>
                        <a:pt x="0" y="418"/>
                      </a:lnTo>
                      <a:close/>
                    </a:path>
                  </a:pathLst>
                </a:custGeom>
                <a:solidFill>
                  <a:srgbClr val="00FF00"/>
                </a:solidFill>
                <a:ln w="9525">
                  <a:solidFill>
                    <a:schemeClr val="tx1"/>
                  </a:solidFill>
                  <a:round/>
                  <a:headEnd/>
                  <a:tailEnd/>
                </a:ln>
              </p:spPr>
              <p:txBody>
                <a:bodyPr/>
                <a:lstStyle/>
                <a:p>
                  <a:endParaRPr lang="sv-SE"/>
                </a:p>
              </p:txBody>
            </p:sp>
            <p:sp>
              <p:nvSpPr>
                <p:cNvPr id="20658" name="Freeform 84"/>
                <p:cNvSpPr>
                  <a:spLocks/>
                </p:cNvSpPr>
                <p:nvPr/>
              </p:nvSpPr>
              <p:spPr bwMode="auto">
                <a:xfrm>
                  <a:off x="3268" y="1699"/>
                  <a:ext cx="285" cy="203"/>
                </a:xfrm>
                <a:custGeom>
                  <a:avLst/>
                  <a:gdLst>
                    <a:gd name="T0" fmla="*/ 32 w 285"/>
                    <a:gd name="T1" fmla="*/ 167 h 203"/>
                    <a:gd name="T2" fmla="*/ 285 w 285"/>
                    <a:gd name="T3" fmla="*/ 0 h 203"/>
                    <a:gd name="T4" fmla="*/ 218 w 285"/>
                    <a:gd name="T5" fmla="*/ 74 h 203"/>
                    <a:gd name="T6" fmla="*/ 0 w 285"/>
                    <a:gd name="T7" fmla="*/ 203 h 203"/>
                    <a:gd name="T8" fmla="*/ 32 w 285"/>
                    <a:gd name="T9" fmla="*/ 167 h 203"/>
                    <a:gd name="T10" fmla="*/ 0 60000 65536"/>
                    <a:gd name="T11" fmla="*/ 0 60000 65536"/>
                    <a:gd name="T12" fmla="*/ 0 60000 65536"/>
                    <a:gd name="T13" fmla="*/ 0 60000 65536"/>
                    <a:gd name="T14" fmla="*/ 0 60000 65536"/>
                    <a:gd name="T15" fmla="*/ 0 w 285"/>
                    <a:gd name="T16" fmla="*/ 0 h 203"/>
                    <a:gd name="T17" fmla="*/ 285 w 285"/>
                    <a:gd name="T18" fmla="*/ 203 h 203"/>
                  </a:gdLst>
                  <a:ahLst/>
                  <a:cxnLst>
                    <a:cxn ang="T10">
                      <a:pos x="T0" y="T1"/>
                    </a:cxn>
                    <a:cxn ang="T11">
                      <a:pos x="T2" y="T3"/>
                    </a:cxn>
                    <a:cxn ang="T12">
                      <a:pos x="T4" y="T5"/>
                    </a:cxn>
                    <a:cxn ang="T13">
                      <a:pos x="T6" y="T7"/>
                    </a:cxn>
                    <a:cxn ang="T14">
                      <a:pos x="T8" y="T9"/>
                    </a:cxn>
                  </a:cxnLst>
                  <a:rect l="T15" t="T16" r="T17" b="T18"/>
                  <a:pathLst>
                    <a:path w="285" h="203">
                      <a:moveTo>
                        <a:pt x="32" y="167"/>
                      </a:moveTo>
                      <a:lnTo>
                        <a:pt x="285" y="0"/>
                      </a:lnTo>
                      <a:lnTo>
                        <a:pt x="218" y="74"/>
                      </a:lnTo>
                      <a:lnTo>
                        <a:pt x="0" y="203"/>
                      </a:lnTo>
                      <a:lnTo>
                        <a:pt x="32" y="167"/>
                      </a:lnTo>
                      <a:close/>
                    </a:path>
                  </a:pathLst>
                </a:custGeom>
                <a:solidFill>
                  <a:srgbClr val="00FF00"/>
                </a:solidFill>
                <a:ln w="9525">
                  <a:solidFill>
                    <a:schemeClr val="tx1"/>
                  </a:solidFill>
                  <a:round/>
                  <a:headEnd/>
                  <a:tailEnd/>
                </a:ln>
              </p:spPr>
              <p:txBody>
                <a:bodyPr/>
                <a:lstStyle/>
                <a:p>
                  <a:endParaRPr lang="sv-SE"/>
                </a:p>
              </p:txBody>
            </p:sp>
            <p:sp>
              <p:nvSpPr>
                <p:cNvPr id="20659" name="Freeform 85"/>
                <p:cNvSpPr>
                  <a:spLocks/>
                </p:cNvSpPr>
                <p:nvPr/>
              </p:nvSpPr>
              <p:spPr bwMode="auto">
                <a:xfrm>
                  <a:off x="3277" y="1795"/>
                  <a:ext cx="531" cy="169"/>
                </a:xfrm>
                <a:custGeom>
                  <a:avLst/>
                  <a:gdLst>
                    <a:gd name="T0" fmla="*/ 0 w 531"/>
                    <a:gd name="T1" fmla="*/ 149 h 169"/>
                    <a:gd name="T2" fmla="*/ 335 w 531"/>
                    <a:gd name="T3" fmla="*/ 0 h 169"/>
                    <a:gd name="T4" fmla="*/ 531 w 531"/>
                    <a:gd name="T5" fmla="*/ 72 h 169"/>
                    <a:gd name="T6" fmla="*/ 429 w 531"/>
                    <a:gd name="T7" fmla="*/ 95 h 169"/>
                    <a:gd name="T8" fmla="*/ 395 w 531"/>
                    <a:gd name="T9" fmla="*/ 95 h 169"/>
                    <a:gd name="T10" fmla="*/ 414 w 531"/>
                    <a:gd name="T11" fmla="*/ 110 h 169"/>
                    <a:gd name="T12" fmla="*/ 304 w 531"/>
                    <a:gd name="T13" fmla="*/ 132 h 169"/>
                    <a:gd name="T14" fmla="*/ 272 w 531"/>
                    <a:gd name="T15" fmla="*/ 132 h 169"/>
                    <a:gd name="T16" fmla="*/ 295 w 531"/>
                    <a:gd name="T17" fmla="*/ 144 h 169"/>
                    <a:gd name="T18" fmla="*/ 147 w 531"/>
                    <a:gd name="T19" fmla="*/ 169 h 169"/>
                    <a:gd name="T20" fmla="*/ 0 w 531"/>
                    <a:gd name="T21" fmla="*/ 149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1"/>
                    <a:gd name="T34" fmla="*/ 0 h 169"/>
                    <a:gd name="T35" fmla="*/ 531 w 531"/>
                    <a:gd name="T36" fmla="*/ 169 h 1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1" h="169">
                      <a:moveTo>
                        <a:pt x="0" y="149"/>
                      </a:moveTo>
                      <a:lnTo>
                        <a:pt x="335" y="0"/>
                      </a:lnTo>
                      <a:lnTo>
                        <a:pt x="531" y="72"/>
                      </a:lnTo>
                      <a:lnTo>
                        <a:pt x="429" y="95"/>
                      </a:lnTo>
                      <a:lnTo>
                        <a:pt x="395" y="95"/>
                      </a:lnTo>
                      <a:lnTo>
                        <a:pt x="414" y="110"/>
                      </a:lnTo>
                      <a:lnTo>
                        <a:pt x="304" y="132"/>
                      </a:lnTo>
                      <a:lnTo>
                        <a:pt x="272" y="132"/>
                      </a:lnTo>
                      <a:lnTo>
                        <a:pt x="295" y="144"/>
                      </a:lnTo>
                      <a:lnTo>
                        <a:pt x="147" y="169"/>
                      </a:lnTo>
                      <a:lnTo>
                        <a:pt x="0" y="149"/>
                      </a:lnTo>
                      <a:close/>
                    </a:path>
                  </a:pathLst>
                </a:custGeom>
                <a:solidFill>
                  <a:srgbClr val="00FF00"/>
                </a:solidFill>
                <a:ln w="9525">
                  <a:solidFill>
                    <a:schemeClr val="tx1"/>
                  </a:solidFill>
                  <a:round/>
                  <a:headEnd/>
                  <a:tailEnd/>
                </a:ln>
              </p:spPr>
              <p:txBody>
                <a:bodyPr/>
                <a:lstStyle/>
                <a:p>
                  <a:endParaRPr lang="sv-SE"/>
                </a:p>
              </p:txBody>
            </p:sp>
            <p:sp>
              <p:nvSpPr>
                <p:cNvPr id="20660" name="Freeform 86"/>
                <p:cNvSpPr>
                  <a:spLocks/>
                </p:cNvSpPr>
                <p:nvPr/>
              </p:nvSpPr>
              <p:spPr bwMode="auto">
                <a:xfrm>
                  <a:off x="3161" y="1855"/>
                  <a:ext cx="155" cy="154"/>
                </a:xfrm>
                <a:custGeom>
                  <a:avLst/>
                  <a:gdLst>
                    <a:gd name="T0" fmla="*/ 102 w 155"/>
                    <a:gd name="T1" fmla="*/ 0 h 154"/>
                    <a:gd name="T2" fmla="*/ 97 w 155"/>
                    <a:gd name="T3" fmla="*/ 16 h 154"/>
                    <a:gd name="T4" fmla="*/ 94 w 155"/>
                    <a:gd name="T5" fmla="*/ 31 h 154"/>
                    <a:gd name="T6" fmla="*/ 93 w 155"/>
                    <a:gd name="T7" fmla="*/ 44 h 154"/>
                    <a:gd name="T8" fmla="*/ 97 w 155"/>
                    <a:gd name="T9" fmla="*/ 61 h 154"/>
                    <a:gd name="T10" fmla="*/ 102 w 155"/>
                    <a:gd name="T11" fmla="*/ 74 h 154"/>
                    <a:gd name="T12" fmla="*/ 108 w 155"/>
                    <a:gd name="T13" fmla="*/ 84 h 154"/>
                    <a:gd name="T14" fmla="*/ 116 w 155"/>
                    <a:gd name="T15" fmla="*/ 93 h 154"/>
                    <a:gd name="T16" fmla="*/ 130 w 155"/>
                    <a:gd name="T17" fmla="*/ 100 h 154"/>
                    <a:gd name="T18" fmla="*/ 144 w 155"/>
                    <a:gd name="T19" fmla="*/ 104 h 154"/>
                    <a:gd name="T20" fmla="*/ 155 w 155"/>
                    <a:gd name="T21" fmla="*/ 107 h 154"/>
                    <a:gd name="T22" fmla="*/ 51 w 155"/>
                    <a:gd name="T23" fmla="*/ 154 h 154"/>
                    <a:gd name="T24" fmla="*/ 39 w 155"/>
                    <a:gd name="T25" fmla="*/ 151 h 154"/>
                    <a:gd name="T26" fmla="*/ 26 w 155"/>
                    <a:gd name="T27" fmla="*/ 147 h 154"/>
                    <a:gd name="T28" fmla="*/ 16 w 155"/>
                    <a:gd name="T29" fmla="*/ 140 h 154"/>
                    <a:gd name="T30" fmla="*/ 8 w 155"/>
                    <a:gd name="T31" fmla="*/ 132 h 154"/>
                    <a:gd name="T32" fmla="*/ 3 w 155"/>
                    <a:gd name="T33" fmla="*/ 122 h 154"/>
                    <a:gd name="T34" fmla="*/ 1 w 155"/>
                    <a:gd name="T35" fmla="*/ 113 h 154"/>
                    <a:gd name="T36" fmla="*/ 0 w 155"/>
                    <a:gd name="T37" fmla="*/ 102 h 154"/>
                    <a:gd name="T38" fmla="*/ 2 w 155"/>
                    <a:gd name="T39" fmla="*/ 87 h 154"/>
                    <a:gd name="T40" fmla="*/ 7 w 155"/>
                    <a:gd name="T41" fmla="*/ 74 h 154"/>
                    <a:gd name="T42" fmla="*/ 15 w 155"/>
                    <a:gd name="T43" fmla="*/ 64 h 154"/>
                    <a:gd name="T44" fmla="*/ 102 w 155"/>
                    <a:gd name="T45" fmla="*/ 0 h 15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5"/>
                    <a:gd name="T70" fmla="*/ 0 h 154"/>
                    <a:gd name="T71" fmla="*/ 155 w 155"/>
                    <a:gd name="T72" fmla="*/ 154 h 15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5" h="154">
                      <a:moveTo>
                        <a:pt x="102" y="0"/>
                      </a:moveTo>
                      <a:lnTo>
                        <a:pt x="97" y="16"/>
                      </a:lnTo>
                      <a:lnTo>
                        <a:pt x="94" y="31"/>
                      </a:lnTo>
                      <a:lnTo>
                        <a:pt x="93" y="44"/>
                      </a:lnTo>
                      <a:lnTo>
                        <a:pt x="97" y="61"/>
                      </a:lnTo>
                      <a:lnTo>
                        <a:pt x="102" y="74"/>
                      </a:lnTo>
                      <a:lnTo>
                        <a:pt x="108" y="84"/>
                      </a:lnTo>
                      <a:lnTo>
                        <a:pt x="116" y="93"/>
                      </a:lnTo>
                      <a:lnTo>
                        <a:pt x="130" y="100"/>
                      </a:lnTo>
                      <a:lnTo>
                        <a:pt x="144" y="104"/>
                      </a:lnTo>
                      <a:lnTo>
                        <a:pt x="155" y="107"/>
                      </a:lnTo>
                      <a:lnTo>
                        <a:pt x="51" y="154"/>
                      </a:lnTo>
                      <a:lnTo>
                        <a:pt x="39" y="151"/>
                      </a:lnTo>
                      <a:lnTo>
                        <a:pt x="26" y="147"/>
                      </a:lnTo>
                      <a:lnTo>
                        <a:pt x="16" y="140"/>
                      </a:lnTo>
                      <a:lnTo>
                        <a:pt x="8" y="132"/>
                      </a:lnTo>
                      <a:lnTo>
                        <a:pt x="3" y="122"/>
                      </a:lnTo>
                      <a:lnTo>
                        <a:pt x="1" y="113"/>
                      </a:lnTo>
                      <a:lnTo>
                        <a:pt x="0" y="102"/>
                      </a:lnTo>
                      <a:lnTo>
                        <a:pt x="2" y="87"/>
                      </a:lnTo>
                      <a:lnTo>
                        <a:pt x="7" y="74"/>
                      </a:lnTo>
                      <a:lnTo>
                        <a:pt x="15" y="64"/>
                      </a:lnTo>
                      <a:lnTo>
                        <a:pt x="102" y="0"/>
                      </a:lnTo>
                      <a:close/>
                    </a:path>
                  </a:pathLst>
                </a:custGeom>
                <a:solidFill>
                  <a:srgbClr val="00FF00"/>
                </a:solidFill>
                <a:ln w="9525">
                  <a:solidFill>
                    <a:schemeClr val="tx1"/>
                  </a:solidFill>
                  <a:round/>
                  <a:headEnd/>
                  <a:tailEnd/>
                </a:ln>
              </p:spPr>
              <p:txBody>
                <a:bodyPr/>
                <a:lstStyle/>
                <a:p>
                  <a:endParaRPr lang="sv-SE"/>
                </a:p>
              </p:txBody>
            </p:sp>
            <p:sp>
              <p:nvSpPr>
                <p:cNvPr id="20661" name="Freeform 87"/>
                <p:cNvSpPr>
                  <a:spLocks/>
                </p:cNvSpPr>
                <p:nvPr/>
              </p:nvSpPr>
              <p:spPr bwMode="auto">
                <a:xfrm>
                  <a:off x="3184" y="1889"/>
                  <a:ext cx="70" cy="109"/>
                </a:xfrm>
                <a:custGeom>
                  <a:avLst/>
                  <a:gdLst>
                    <a:gd name="T0" fmla="*/ 32 w 70"/>
                    <a:gd name="T1" fmla="*/ 0 h 109"/>
                    <a:gd name="T2" fmla="*/ 28 w 70"/>
                    <a:gd name="T3" fmla="*/ 9 h 109"/>
                    <a:gd name="T4" fmla="*/ 24 w 70"/>
                    <a:gd name="T5" fmla="*/ 23 h 109"/>
                    <a:gd name="T6" fmla="*/ 20 w 70"/>
                    <a:gd name="T7" fmla="*/ 34 h 109"/>
                    <a:gd name="T8" fmla="*/ 19 w 70"/>
                    <a:gd name="T9" fmla="*/ 45 h 109"/>
                    <a:gd name="T10" fmla="*/ 20 w 70"/>
                    <a:gd name="T11" fmla="*/ 58 h 109"/>
                    <a:gd name="T12" fmla="*/ 24 w 70"/>
                    <a:gd name="T13" fmla="*/ 70 h 109"/>
                    <a:gd name="T14" fmla="*/ 31 w 70"/>
                    <a:gd name="T15" fmla="*/ 82 h 109"/>
                    <a:gd name="T16" fmla="*/ 44 w 70"/>
                    <a:gd name="T17" fmla="*/ 89 h 109"/>
                    <a:gd name="T18" fmla="*/ 56 w 70"/>
                    <a:gd name="T19" fmla="*/ 95 h 109"/>
                    <a:gd name="T20" fmla="*/ 70 w 70"/>
                    <a:gd name="T21" fmla="*/ 101 h 109"/>
                    <a:gd name="T22" fmla="*/ 53 w 70"/>
                    <a:gd name="T23" fmla="*/ 109 h 109"/>
                    <a:gd name="T24" fmla="*/ 41 w 70"/>
                    <a:gd name="T25" fmla="*/ 105 h 109"/>
                    <a:gd name="T26" fmla="*/ 27 w 70"/>
                    <a:gd name="T27" fmla="*/ 100 h 109"/>
                    <a:gd name="T28" fmla="*/ 17 w 70"/>
                    <a:gd name="T29" fmla="*/ 92 h 109"/>
                    <a:gd name="T30" fmla="*/ 9 w 70"/>
                    <a:gd name="T31" fmla="*/ 84 h 109"/>
                    <a:gd name="T32" fmla="*/ 4 w 70"/>
                    <a:gd name="T33" fmla="*/ 74 h 109"/>
                    <a:gd name="T34" fmla="*/ 1 w 70"/>
                    <a:gd name="T35" fmla="*/ 66 h 109"/>
                    <a:gd name="T36" fmla="*/ 0 w 70"/>
                    <a:gd name="T37" fmla="*/ 54 h 109"/>
                    <a:gd name="T38" fmla="*/ 1 w 70"/>
                    <a:gd name="T39" fmla="*/ 39 h 109"/>
                    <a:gd name="T40" fmla="*/ 4 w 70"/>
                    <a:gd name="T41" fmla="*/ 27 h 109"/>
                    <a:gd name="T42" fmla="*/ 10 w 70"/>
                    <a:gd name="T43" fmla="*/ 16 h 109"/>
                    <a:gd name="T44" fmla="*/ 32 w 70"/>
                    <a:gd name="T45" fmla="*/ 0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09"/>
                    <a:gd name="T71" fmla="*/ 70 w 70"/>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09">
                      <a:moveTo>
                        <a:pt x="32" y="0"/>
                      </a:moveTo>
                      <a:lnTo>
                        <a:pt x="28" y="9"/>
                      </a:lnTo>
                      <a:lnTo>
                        <a:pt x="24" y="23"/>
                      </a:lnTo>
                      <a:lnTo>
                        <a:pt x="20" y="34"/>
                      </a:lnTo>
                      <a:lnTo>
                        <a:pt x="19" y="45"/>
                      </a:lnTo>
                      <a:lnTo>
                        <a:pt x="20" y="58"/>
                      </a:lnTo>
                      <a:lnTo>
                        <a:pt x="24" y="70"/>
                      </a:lnTo>
                      <a:lnTo>
                        <a:pt x="31" y="82"/>
                      </a:lnTo>
                      <a:lnTo>
                        <a:pt x="44" y="89"/>
                      </a:lnTo>
                      <a:lnTo>
                        <a:pt x="56" y="95"/>
                      </a:lnTo>
                      <a:lnTo>
                        <a:pt x="70" y="101"/>
                      </a:lnTo>
                      <a:lnTo>
                        <a:pt x="53" y="109"/>
                      </a:lnTo>
                      <a:lnTo>
                        <a:pt x="41" y="105"/>
                      </a:lnTo>
                      <a:lnTo>
                        <a:pt x="27" y="100"/>
                      </a:lnTo>
                      <a:lnTo>
                        <a:pt x="17" y="92"/>
                      </a:lnTo>
                      <a:lnTo>
                        <a:pt x="9" y="84"/>
                      </a:lnTo>
                      <a:lnTo>
                        <a:pt x="4" y="74"/>
                      </a:lnTo>
                      <a:lnTo>
                        <a:pt x="1" y="66"/>
                      </a:lnTo>
                      <a:lnTo>
                        <a:pt x="0" y="54"/>
                      </a:lnTo>
                      <a:lnTo>
                        <a:pt x="1" y="39"/>
                      </a:lnTo>
                      <a:lnTo>
                        <a:pt x="4" y="27"/>
                      </a:lnTo>
                      <a:lnTo>
                        <a:pt x="10" y="16"/>
                      </a:lnTo>
                      <a:lnTo>
                        <a:pt x="32" y="0"/>
                      </a:lnTo>
                      <a:close/>
                    </a:path>
                  </a:pathLst>
                </a:custGeom>
                <a:solidFill>
                  <a:srgbClr val="FF0000"/>
                </a:solidFill>
                <a:ln w="9525">
                  <a:solidFill>
                    <a:schemeClr val="tx1"/>
                  </a:solidFill>
                  <a:round/>
                  <a:headEnd/>
                  <a:tailEnd/>
                </a:ln>
              </p:spPr>
              <p:txBody>
                <a:bodyPr/>
                <a:lstStyle/>
                <a:p>
                  <a:endParaRPr lang="sv-SE"/>
                </a:p>
              </p:txBody>
            </p:sp>
            <p:sp>
              <p:nvSpPr>
                <p:cNvPr id="20662" name="Freeform 88"/>
                <p:cNvSpPr>
                  <a:spLocks/>
                </p:cNvSpPr>
                <p:nvPr/>
              </p:nvSpPr>
              <p:spPr bwMode="auto">
                <a:xfrm>
                  <a:off x="2931" y="2062"/>
                  <a:ext cx="73" cy="68"/>
                </a:xfrm>
                <a:custGeom>
                  <a:avLst/>
                  <a:gdLst>
                    <a:gd name="T0" fmla="*/ 52 w 73"/>
                    <a:gd name="T1" fmla="*/ 0 h 68"/>
                    <a:gd name="T2" fmla="*/ 16 w 73"/>
                    <a:gd name="T3" fmla="*/ 27 h 68"/>
                    <a:gd name="T4" fmla="*/ 9 w 73"/>
                    <a:gd name="T5" fmla="*/ 32 h 68"/>
                    <a:gd name="T6" fmla="*/ 3 w 73"/>
                    <a:gd name="T7" fmla="*/ 41 h 68"/>
                    <a:gd name="T8" fmla="*/ 0 w 73"/>
                    <a:gd name="T9" fmla="*/ 51 h 68"/>
                    <a:gd name="T10" fmla="*/ 4 w 73"/>
                    <a:gd name="T11" fmla="*/ 61 h 68"/>
                    <a:gd name="T12" fmla="*/ 12 w 73"/>
                    <a:gd name="T13" fmla="*/ 66 h 68"/>
                    <a:gd name="T14" fmla="*/ 19 w 73"/>
                    <a:gd name="T15" fmla="*/ 68 h 68"/>
                    <a:gd name="T16" fmla="*/ 30 w 73"/>
                    <a:gd name="T17" fmla="*/ 64 h 68"/>
                    <a:gd name="T18" fmla="*/ 73 w 73"/>
                    <a:gd name="T19" fmla="*/ 45 h 68"/>
                    <a:gd name="T20" fmla="*/ 64 w 73"/>
                    <a:gd name="T21" fmla="*/ 40 h 68"/>
                    <a:gd name="T22" fmla="*/ 57 w 73"/>
                    <a:gd name="T23" fmla="*/ 33 h 68"/>
                    <a:gd name="T24" fmla="*/ 53 w 73"/>
                    <a:gd name="T25" fmla="*/ 25 h 68"/>
                    <a:gd name="T26" fmla="*/ 52 w 73"/>
                    <a:gd name="T27" fmla="*/ 17 h 68"/>
                    <a:gd name="T28" fmla="*/ 51 w 73"/>
                    <a:gd name="T29" fmla="*/ 7 h 68"/>
                    <a:gd name="T30" fmla="*/ 52 w 73"/>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3"/>
                    <a:gd name="T49" fmla="*/ 0 h 68"/>
                    <a:gd name="T50" fmla="*/ 73 w 73"/>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3" h="68">
                      <a:moveTo>
                        <a:pt x="52" y="0"/>
                      </a:moveTo>
                      <a:lnTo>
                        <a:pt x="16" y="27"/>
                      </a:lnTo>
                      <a:lnTo>
                        <a:pt x="9" y="32"/>
                      </a:lnTo>
                      <a:lnTo>
                        <a:pt x="3" y="41"/>
                      </a:lnTo>
                      <a:lnTo>
                        <a:pt x="0" y="51"/>
                      </a:lnTo>
                      <a:lnTo>
                        <a:pt x="4" y="61"/>
                      </a:lnTo>
                      <a:lnTo>
                        <a:pt x="12" y="66"/>
                      </a:lnTo>
                      <a:lnTo>
                        <a:pt x="19" y="68"/>
                      </a:lnTo>
                      <a:lnTo>
                        <a:pt x="30" y="64"/>
                      </a:lnTo>
                      <a:lnTo>
                        <a:pt x="73" y="45"/>
                      </a:lnTo>
                      <a:lnTo>
                        <a:pt x="64" y="40"/>
                      </a:lnTo>
                      <a:lnTo>
                        <a:pt x="57" y="33"/>
                      </a:lnTo>
                      <a:lnTo>
                        <a:pt x="53" y="25"/>
                      </a:lnTo>
                      <a:lnTo>
                        <a:pt x="52" y="17"/>
                      </a:lnTo>
                      <a:lnTo>
                        <a:pt x="51" y="7"/>
                      </a:lnTo>
                      <a:lnTo>
                        <a:pt x="52" y="0"/>
                      </a:lnTo>
                      <a:close/>
                    </a:path>
                  </a:pathLst>
                </a:custGeom>
                <a:solidFill>
                  <a:srgbClr val="00FF00"/>
                </a:solidFill>
                <a:ln w="9525">
                  <a:solidFill>
                    <a:schemeClr val="tx1"/>
                  </a:solidFill>
                  <a:round/>
                  <a:headEnd/>
                  <a:tailEnd/>
                </a:ln>
              </p:spPr>
              <p:txBody>
                <a:bodyPr/>
                <a:lstStyle/>
                <a:p>
                  <a:endParaRPr lang="sv-SE"/>
                </a:p>
              </p:txBody>
            </p:sp>
          </p:grpSp>
        </p:grpSp>
        <p:grpSp>
          <p:nvGrpSpPr>
            <p:cNvPr id="23" name="Group 89"/>
            <p:cNvGrpSpPr>
              <a:grpSpLocks/>
            </p:cNvGrpSpPr>
            <p:nvPr/>
          </p:nvGrpSpPr>
          <p:grpSpPr bwMode="auto">
            <a:xfrm>
              <a:off x="1130" y="2640"/>
              <a:ext cx="427" cy="448"/>
              <a:chOff x="2812" y="1263"/>
              <a:chExt cx="798" cy="867"/>
            </a:xfrm>
          </p:grpSpPr>
          <p:sp>
            <p:nvSpPr>
              <p:cNvPr id="20633" name="Freeform 90"/>
              <p:cNvSpPr>
                <a:spLocks/>
              </p:cNvSpPr>
              <p:nvPr/>
            </p:nvSpPr>
            <p:spPr bwMode="auto">
              <a:xfrm>
                <a:off x="2827" y="2088"/>
                <a:ext cx="74" cy="42"/>
              </a:xfrm>
              <a:custGeom>
                <a:avLst/>
                <a:gdLst>
                  <a:gd name="T0" fmla="*/ 0 w 74"/>
                  <a:gd name="T1" fmla="*/ 27 h 42"/>
                  <a:gd name="T2" fmla="*/ 22 w 74"/>
                  <a:gd name="T3" fmla="*/ 0 h 42"/>
                  <a:gd name="T4" fmla="*/ 74 w 74"/>
                  <a:gd name="T5" fmla="*/ 34 h 42"/>
                  <a:gd name="T6" fmla="*/ 17 w 74"/>
                  <a:gd name="T7" fmla="*/ 42 h 42"/>
                  <a:gd name="T8" fmla="*/ 0 w 74"/>
                  <a:gd name="T9" fmla="*/ 27 h 42"/>
                  <a:gd name="T10" fmla="*/ 0 60000 65536"/>
                  <a:gd name="T11" fmla="*/ 0 60000 65536"/>
                  <a:gd name="T12" fmla="*/ 0 60000 65536"/>
                  <a:gd name="T13" fmla="*/ 0 60000 65536"/>
                  <a:gd name="T14" fmla="*/ 0 60000 65536"/>
                  <a:gd name="T15" fmla="*/ 0 w 74"/>
                  <a:gd name="T16" fmla="*/ 0 h 42"/>
                  <a:gd name="T17" fmla="*/ 74 w 74"/>
                  <a:gd name="T18" fmla="*/ 42 h 42"/>
                </a:gdLst>
                <a:ahLst/>
                <a:cxnLst>
                  <a:cxn ang="T10">
                    <a:pos x="T0" y="T1"/>
                  </a:cxn>
                  <a:cxn ang="T11">
                    <a:pos x="T2" y="T3"/>
                  </a:cxn>
                  <a:cxn ang="T12">
                    <a:pos x="T4" y="T5"/>
                  </a:cxn>
                  <a:cxn ang="T13">
                    <a:pos x="T6" y="T7"/>
                  </a:cxn>
                  <a:cxn ang="T14">
                    <a:pos x="T8" y="T9"/>
                  </a:cxn>
                </a:cxnLst>
                <a:rect l="T15" t="T16" r="T17" b="T18"/>
                <a:pathLst>
                  <a:path w="74" h="42">
                    <a:moveTo>
                      <a:pt x="0" y="27"/>
                    </a:moveTo>
                    <a:lnTo>
                      <a:pt x="22" y="0"/>
                    </a:lnTo>
                    <a:lnTo>
                      <a:pt x="74" y="34"/>
                    </a:lnTo>
                    <a:lnTo>
                      <a:pt x="17" y="42"/>
                    </a:lnTo>
                    <a:lnTo>
                      <a:pt x="0" y="27"/>
                    </a:lnTo>
                    <a:close/>
                  </a:path>
                </a:pathLst>
              </a:custGeom>
              <a:solidFill>
                <a:srgbClr val="3F3F3F"/>
              </a:solidFill>
              <a:ln w="9525">
                <a:solidFill>
                  <a:schemeClr val="tx1"/>
                </a:solidFill>
                <a:round/>
                <a:headEnd/>
                <a:tailEnd/>
              </a:ln>
            </p:spPr>
            <p:txBody>
              <a:bodyPr/>
              <a:lstStyle/>
              <a:p>
                <a:endParaRPr lang="sv-SE"/>
              </a:p>
            </p:txBody>
          </p:sp>
          <p:sp>
            <p:nvSpPr>
              <p:cNvPr id="20634" name="Freeform 91"/>
              <p:cNvSpPr>
                <a:spLocks/>
              </p:cNvSpPr>
              <p:nvPr/>
            </p:nvSpPr>
            <p:spPr bwMode="auto">
              <a:xfrm>
                <a:off x="2817" y="2024"/>
                <a:ext cx="84" cy="99"/>
              </a:xfrm>
              <a:custGeom>
                <a:avLst/>
                <a:gdLst>
                  <a:gd name="T0" fmla="*/ 0 w 84"/>
                  <a:gd name="T1" fmla="*/ 0 h 99"/>
                  <a:gd name="T2" fmla="*/ 50 w 84"/>
                  <a:gd name="T3" fmla="*/ 47 h 99"/>
                  <a:gd name="T4" fmla="*/ 84 w 84"/>
                  <a:gd name="T5" fmla="*/ 99 h 99"/>
                  <a:gd name="T6" fmla="*/ 32 w 84"/>
                  <a:gd name="T7" fmla="*/ 64 h 99"/>
                  <a:gd name="T8" fmla="*/ 0 w 84"/>
                  <a:gd name="T9" fmla="*/ 0 h 99"/>
                  <a:gd name="T10" fmla="*/ 0 60000 65536"/>
                  <a:gd name="T11" fmla="*/ 0 60000 65536"/>
                  <a:gd name="T12" fmla="*/ 0 60000 65536"/>
                  <a:gd name="T13" fmla="*/ 0 60000 65536"/>
                  <a:gd name="T14" fmla="*/ 0 60000 65536"/>
                  <a:gd name="T15" fmla="*/ 0 w 84"/>
                  <a:gd name="T16" fmla="*/ 0 h 99"/>
                  <a:gd name="T17" fmla="*/ 84 w 84"/>
                  <a:gd name="T18" fmla="*/ 99 h 99"/>
                </a:gdLst>
                <a:ahLst/>
                <a:cxnLst>
                  <a:cxn ang="T10">
                    <a:pos x="T0" y="T1"/>
                  </a:cxn>
                  <a:cxn ang="T11">
                    <a:pos x="T2" y="T3"/>
                  </a:cxn>
                  <a:cxn ang="T12">
                    <a:pos x="T4" y="T5"/>
                  </a:cxn>
                  <a:cxn ang="T13">
                    <a:pos x="T6" y="T7"/>
                  </a:cxn>
                  <a:cxn ang="T14">
                    <a:pos x="T8" y="T9"/>
                  </a:cxn>
                </a:cxnLst>
                <a:rect l="T15" t="T16" r="T17" b="T18"/>
                <a:pathLst>
                  <a:path w="84" h="99">
                    <a:moveTo>
                      <a:pt x="0" y="0"/>
                    </a:moveTo>
                    <a:lnTo>
                      <a:pt x="50" y="47"/>
                    </a:lnTo>
                    <a:lnTo>
                      <a:pt x="84" y="99"/>
                    </a:lnTo>
                    <a:lnTo>
                      <a:pt x="32" y="64"/>
                    </a:lnTo>
                    <a:lnTo>
                      <a:pt x="0" y="0"/>
                    </a:lnTo>
                    <a:close/>
                  </a:path>
                </a:pathLst>
              </a:custGeom>
              <a:solidFill>
                <a:srgbClr val="9F9F9F"/>
              </a:solidFill>
              <a:ln w="9525">
                <a:solidFill>
                  <a:schemeClr val="tx1"/>
                </a:solidFill>
                <a:round/>
                <a:headEnd/>
                <a:tailEnd/>
              </a:ln>
            </p:spPr>
            <p:txBody>
              <a:bodyPr/>
              <a:lstStyle/>
              <a:p>
                <a:endParaRPr lang="sv-SE"/>
              </a:p>
            </p:txBody>
          </p:sp>
          <p:sp>
            <p:nvSpPr>
              <p:cNvPr id="20635" name="Freeform 92"/>
              <p:cNvSpPr>
                <a:spLocks/>
              </p:cNvSpPr>
              <p:nvPr/>
            </p:nvSpPr>
            <p:spPr bwMode="auto">
              <a:xfrm>
                <a:off x="2812" y="2026"/>
                <a:ext cx="37" cy="88"/>
              </a:xfrm>
              <a:custGeom>
                <a:avLst/>
                <a:gdLst>
                  <a:gd name="T0" fmla="*/ 6 w 37"/>
                  <a:gd name="T1" fmla="*/ 0 h 88"/>
                  <a:gd name="T2" fmla="*/ 37 w 37"/>
                  <a:gd name="T3" fmla="*/ 61 h 88"/>
                  <a:gd name="T4" fmla="*/ 14 w 37"/>
                  <a:gd name="T5" fmla="*/ 88 h 88"/>
                  <a:gd name="T6" fmla="*/ 0 w 37"/>
                  <a:gd name="T7" fmla="*/ 72 h 88"/>
                  <a:gd name="T8" fmla="*/ 6 w 37"/>
                  <a:gd name="T9" fmla="*/ 0 h 88"/>
                  <a:gd name="T10" fmla="*/ 0 60000 65536"/>
                  <a:gd name="T11" fmla="*/ 0 60000 65536"/>
                  <a:gd name="T12" fmla="*/ 0 60000 65536"/>
                  <a:gd name="T13" fmla="*/ 0 60000 65536"/>
                  <a:gd name="T14" fmla="*/ 0 60000 65536"/>
                  <a:gd name="T15" fmla="*/ 0 w 37"/>
                  <a:gd name="T16" fmla="*/ 0 h 88"/>
                  <a:gd name="T17" fmla="*/ 37 w 37"/>
                  <a:gd name="T18" fmla="*/ 88 h 88"/>
                </a:gdLst>
                <a:ahLst/>
                <a:cxnLst>
                  <a:cxn ang="T10">
                    <a:pos x="T0" y="T1"/>
                  </a:cxn>
                  <a:cxn ang="T11">
                    <a:pos x="T2" y="T3"/>
                  </a:cxn>
                  <a:cxn ang="T12">
                    <a:pos x="T4" y="T5"/>
                  </a:cxn>
                  <a:cxn ang="T13">
                    <a:pos x="T6" y="T7"/>
                  </a:cxn>
                  <a:cxn ang="T14">
                    <a:pos x="T8" y="T9"/>
                  </a:cxn>
                </a:cxnLst>
                <a:rect l="T15" t="T16" r="T17" b="T18"/>
                <a:pathLst>
                  <a:path w="37" h="88">
                    <a:moveTo>
                      <a:pt x="6" y="0"/>
                    </a:moveTo>
                    <a:lnTo>
                      <a:pt x="37" y="61"/>
                    </a:lnTo>
                    <a:lnTo>
                      <a:pt x="14" y="88"/>
                    </a:lnTo>
                    <a:lnTo>
                      <a:pt x="0" y="72"/>
                    </a:lnTo>
                    <a:lnTo>
                      <a:pt x="6" y="0"/>
                    </a:lnTo>
                    <a:close/>
                  </a:path>
                </a:pathLst>
              </a:custGeom>
              <a:solidFill>
                <a:srgbClr val="5F5F5F"/>
              </a:solidFill>
              <a:ln w="9525">
                <a:solidFill>
                  <a:schemeClr val="tx1"/>
                </a:solidFill>
                <a:round/>
                <a:headEnd/>
                <a:tailEnd/>
              </a:ln>
            </p:spPr>
            <p:txBody>
              <a:bodyPr/>
              <a:lstStyle/>
              <a:p>
                <a:endParaRPr lang="sv-SE"/>
              </a:p>
            </p:txBody>
          </p:sp>
          <p:sp>
            <p:nvSpPr>
              <p:cNvPr id="20636" name="Freeform 93"/>
              <p:cNvSpPr>
                <a:spLocks/>
              </p:cNvSpPr>
              <p:nvPr/>
            </p:nvSpPr>
            <p:spPr bwMode="auto">
              <a:xfrm>
                <a:off x="2842" y="1484"/>
                <a:ext cx="574" cy="613"/>
              </a:xfrm>
              <a:custGeom>
                <a:avLst/>
                <a:gdLst>
                  <a:gd name="T0" fmla="*/ 432 w 574"/>
                  <a:gd name="T1" fmla="*/ 0 h 613"/>
                  <a:gd name="T2" fmla="*/ 2 w 574"/>
                  <a:gd name="T3" fmla="*/ 583 h 613"/>
                  <a:gd name="T4" fmla="*/ 0 w 574"/>
                  <a:gd name="T5" fmla="*/ 590 h 613"/>
                  <a:gd name="T6" fmla="*/ 1 w 574"/>
                  <a:gd name="T7" fmla="*/ 599 h 613"/>
                  <a:gd name="T8" fmla="*/ 4 w 574"/>
                  <a:gd name="T9" fmla="*/ 607 h 613"/>
                  <a:gd name="T10" fmla="*/ 9 w 574"/>
                  <a:gd name="T11" fmla="*/ 611 h 613"/>
                  <a:gd name="T12" fmla="*/ 17 w 574"/>
                  <a:gd name="T13" fmla="*/ 613 h 613"/>
                  <a:gd name="T14" fmla="*/ 26 w 574"/>
                  <a:gd name="T15" fmla="*/ 612 h 613"/>
                  <a:gd name="T16" fmla="*/ 574 w 574"/>
                  <a:gd name="T17" fmla="*/ 122 h 613"/>
                  <a:gd name="T18" fmla="*/ 432 w 574"/>
                  <a:gd name="T19" fmla="*/ 0 h 6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4"/>
                  <a:gd name="T31" fmla="*/ 0 h 613"/>
                  <a:gd name="T32" fmla="*/ 574 w 574"/>
                  <a:gd name="T33" fmla="*/ 613 h 6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4" h="613">
                    <a:moveTo>
                      <a:pt x="432" y="0"/>
                    </a:moveTo>
                    <a:lnTo>
                      <a:pt x="2" y="583"/>
                    </a:lnTo>
                    <a:lnTo>
                      <a:pt x="0" y="590"/>
                    </a:lnTo>
                    <a:lnTo>
                      <a:pt x="1" y="599"/>
                    </a:lnTo>
                    <a:lnTo>
                      <a:pt x="4" y="607"/>
                    </a:lnTo>
                    <a:lnTo>
                      <a:pt x="9" y="611"/>
                    </a:lnTo>
                    <a:lnTo>
                      <a:pt x="17" y="613"/>
                    </a:lnTo>
                    <a:lnTo>
                      <a:pt x="26" y="612"/>
                    </a:lnTo>
                    <a:lnTo>
                      <a:pt x="574" y="122"/>
                    </a:lnTo>
                    <a:lnTo>
                      <a:pt x="432" y="0"/>
                    </a:lnTo>
                    <a:close/>
                  </a:path>
                </a:pathLst>
              </a:custGeom>
              <a:solidFill>
                <a:srgbClr val="808080"/>
              </a:solidFill>
              <a:ln w="9525">
                <a:solidFill>
                  <a:schemeClr val="tx1"/>
                </a:solidFill>
                <a:round/>
                <a:headEnd/>
                <a:tailEnd/>
              </a:ln>
            </p:spPr>
            <p:txBody>
              <a:bodyPr/>
              <a:lstStyle/>
              <a:p>
                <a:endParaRPr lang="sv-SE"/>
              </a:p>
            </p:txBody>
          </p:sp>
          <p:sp>
            <p:nvSpPr>
              <p:cNvPr id="20637" name="Freeform 94"/>
              <p:cNvSpPr>
                <a:spLocks/>
              </p:cNvSpPr>
              <p:nvPr/>
            </p:nvSpPr>
            <p:spPr bwMode="auto">
              <a:xfrm>
                <a:off x="3261" y="1425"/>
                <a:ext cx="240" cy="110"/>
              </a:xfrm>
              <a:custGeom>
                <a:avLst/>
                <a:gdLst>
                  <a:gd name="T0" fmla="*/ 68 w 240"/>
                  <a:gd name="T1" fmla="*/ 0 h 110"/>
                  <a:gd name="T2" fmla="*/ 240 w 240"/>
                  <a:gd name="T3" fmla="*/ 55 h 110"/>
                  <a:gd name="T4" fmla="*/ 227 w 240"/>
                  <a:gd name="T5" fmla="*/ 68 h 110"/>
                  <a:gd name="T6" fmla="*/ 226 w 240"/>
                  <a:gd name="T7" fmla="*/ 80 h 110"/>
                  <a:gd name="T8" fmla="*/ 83 w 240"/>
                  <a:gd name="T9" fmla="*/ 30 h 110"/>
                  <a:gd name="T10" fmla="*/ 2 w 240"/>
                  <a:gd name="T11" fmla="*/ 110 h 110"/>
                  <a:gd name="T12" fmla="*/ 0 w 240"/>
                  <a:gd name="T13" fmla="*/ 82 h 110"/>
                  <a:gd name="T14" fmla="*/ 68 w 240"/>
                  <a:gd name="T15" fmla="*/ 0 h 110"/>
                  <a:gd name="T16" fmla="*/ 0 60000 65536"/>
                  <a:gd name="T17" fmla="*/ 0 60000 65536"/>
                  <a:gd name="T18" fmla="*/ 0 60000 65536"/>
                  <a:gd name="T19" fmla="*/ 0 60000 65536"/>
                  <a:gd name="T20" fmla="*/ 0 60000 65536"/>
                  <a:gd name="T21" fmla="*/ 0 60000 65536"/>
                  <a:gd name="T22" fmla="*/ 0 60000 65536"/>
                  <a:gd name="T23" fmla="*/ 0 60000 65536"/>
                  <a:gd name="T24" fmla="*/ 0 w 240"/>
                  <a:gd name="T25" fmla="*/ 0 h 110"/>
                  <a:gd name="T26" fmla="*/ 240 w 240"/>
                  <a:gd name="T27" fmla="*/ 110 h 1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0" h="110">
                    <a:moveTo>
                      <a:pt x="68" y="0"/>
                    </a:moveTo>
                    <a:lnTo>
                      <a:pt x="240" y="55"/>
                    </a:lnTo>
                    <a:lnTo>
                      <a:pt x="227" y="68"/>
                    </a:lnTo>
                    <a:lnTo>
                      <a:pt x="226" y="80"/>
                    </a:lnTo>
                    <a:lnTo>
                      <a:pt x="83" y="30"/>
                    </a:lnTo>
                    <a:lnTo>
                      <a:pt x="2" y="110"/>
                    </a:lnTo>
                    <a:lnTo>
                      <a:pt x="0" y="82"/>
                    </a:lnTo>
                    <a:lnTo>
                      <a:pt x="68" y="0"/>
                    </a:lnTo>
                    <a:close/>
                  </a:path>
                </a:pathLst>
              </a:custGeom>
              <a:solidFill>
                <a:srgbClr val="808080"/>
              </a:solidFill>
              <a:ln w="9525">
                <a:solidFill>
                  <a:schemeClr val="tx1"/>
                </a:solidFill>
                <a:round/>
                <a:headEnd/>
                <a:tailEnd/>
              </a:ln>
            </p:spPr>
            <p:txBody>
              <a:bodyPr/>
              <a:lstStyle/>
              <a:p>
                <a:endParaRPr lang="sv-SE"/>
              </a:p>
            </p:txBody>
          </p:sp>
          <p:sp>
            <p:nvSpPr>
              <p:cNvPr id="20638" name="Freeform 95"/>
              <p:cNvSpPr>
                <a:spLocks/>
              </p:cNvSpPr>
              <p:nvPr/>
            </p:nvSpPr>
            <p:spPr bwMode="auto">
              <a:xfrm>
                <a:off x="3340" y="1449"/>
                <a:ext cx="166" cy="96"/>
              </a:xfrm>
              <a:custGeom>
                <a:avLst/>
                <a:gdLst>
                  <a:gd name="T0" fmla="*/ 0 w 166"/>
                  <a:gd name="T1" fmla="*/ 0 h 96"/>
                  <a:gd name="T2" fmla="*/ 163 w 166"/>
                  <a:gd name="T3" fmla="*/ 46 h 96"/>
                  <a:gd name="T4" fmla="*/ 166 w 166"/>
                  <a:gd name="T5" fmla="*/ 61 h 96"/>
                  <a:gd name="T6" fmla="*/ 163 w 166"/>
                  <a:gd name="T7" fmla="*/ 75 h 96"/>
                  <a:gd name="T8" fmla="*/ 156 w 166"/>
                  <a:gd name="T9" fmla="*/ 86 h 96"/>
                  <a:gd name="T10" fmla="*/ 129 w 166"/>
                  <a:gd name="T11" fmla="*/ 96 h 96"/>
                  <a:gd name="T12" fmla="*/ 85 w 166"/>
                  <a:gd name="T13" fmla="*/ 84 h 96"/>
                  <a:gd name="T14" fmla="*/ 33 w 166"/>
                  <a:gd name="T15" fmla="*/ 52 h 96"/>
                  <a:gd name="T16" fmla="*/ 5 w 166"/>
                  <a:gd name="T17" fmla="*/ 19 h 96"/>
                  <a:gd name="T18" fmla="*/ 0 w 166"/>
                  <a:gd name="T19" fmla="*/ 0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6"/>
                  <a:gd name="T31" fmla="*/ 0 h 96"/>
                  <a:gd name="T32" fmla="*/ 166 w 166"/>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6" h="96">
                    <a:moveTo>
                      <a:pt x="0" y="0"/>
                    </a:moveTo>
                    <a:lnTo>
                      <a:pt x="163" y="46"/>
                    </a:lnTo>
                    <a:lnTo>
                      <a:pt x="166" y="61"/>
                    </a:lnTo>
                    <a:lnTo>
                      <a:pt x="163" y="75"/>
                    </a:lnTo>
                    <a:lnTo>
                      <a:pt x="156" y="86"/>
                    </a:lnTo>
                    <a:lnTo>
                      <a:pt x="129" y="96"/>
                    </a:lnTo>
                    <a:lnTo>
                      <a:pt x="85" y="84"/>
                    </a:lnTo>
                    <a:lnTo>
                      <a:pt x="33" y="52"/>
                    </a:lnTo>
                    <a:lnTo>
                      <a:pt x="5" y="19"/>
                    </a:lnTo>
                    <a:lnTo>
                      <a:pt x="0" y="0"/>
                    </a:lnTo>
                    <a:close/>
                  </a:path>
                </a:pathLst>
              </a:custGeom>
              <a:solidFill>
                <a:srgbClr val="9F9F9F"/>
              </a:solidFill>
              <a:ln w="9525">
                <a:solidFill>
                  <a:schemeClr val="tx1"/>
                </a:solidFill>
                <a:round/>
                <a:headEnd/>
                <a:tailEnd/>
              </a:ln>
            </p:spPr>
            <p:txBody>
              <a:bodyPr/>
              <a:lstStyle/>
              <a:p>
                <a:endParaRPr lang="sv-SE"/>
              </a:p>
            </p:txBody>
          </p:sp>
          <p:sp>
            <p:nvSpPr>
              <p:cNvPr id="20639" name="Freeform 96"/>
              <p:cNvSpPr>
                <a:spLocks/>
              </p:cNvSpPr>
              <p:nvPr/>
            </p:nvSpPr>
            <p:spPr bwMode="auto">
              <a:xfrm>
                <a:off x="3324" y="1383"/>
                <a:ext cx="178" cy="98"/>
              </a:xfrm>
              <a:custGeom>
                <a:avLst/>
                <a:gdLst>
                  <a:gd name="T0" fmla="*/ 9 w 178"/>
                  <a:gd name="T1" fmla="*/ 47 h 98"/>
                  <a:gd name="T2" fmla="*/ 178 w 178"/>
                  <a:gd name="T3" fmla="*/ 98 h 98"/>
                  <a:gd name="T4" fmla="*/ 174 w 178"/>
                  <a:gd name="T5" fmla="*/ 81 h 98"/>
                  <a:gd name="T6" fmla="*/ 167 w 178"/>
                  <a:gd name="T7" fmla="*/ 68 h 98"/>
                  <a:gd name="T8" fmla="*/ 155 w 178"/>
                  <a:gd name="T9" fmla="*/ 50 h 98"/>
                  <a:gd name="T10" fmla="*/ 145 w 178"/>
                  <a:gd name="T11" fmla="*/ 38 h 98"/>
                  <a:gd name="T12" fmla="*/ 130 w 178"/>
                  <a:gd name="T13" fmla="*/ 25 h 98"/>
                  <a:gd name="T14" fmla="*/ 114 w 178"/>
                  <a:gd name="T15" fmla="*/ 15 h 98"/>
                  <a:gd name="T16" fmla="*/ 96 w 178"/>
                  <a:gd name="T17" fmla="*/ 8 h 98"/>
                  <a:gd name="T18" fmla="*/ 79 w 178"/>
                  <a:gd name="T19" fmla="*/ 3 h 98"/>
                  <a:gd name="T20" fmla="*/ 61 w 178"/>
                  <a:gd name="T21" fmla="*/ 0 h 98"/>
                  <a:gd name="T22" fmla="*/ 47 w 178"/>
                  <a:gd name="T23" fmla="*/ 0 h 98"/>
                  <a:gd name="T24" fmla="*/ 35 w 178"/>
                  <a:gd name="T25" fmla="*/ 2 h 98"/>
                  <a:gd name="T26" fmla="*/ 20 w 178"/>
                  <a:gd name="T27" fmla="*/ 7 h 98"/>
                  <a:gd name="T28" fmla="*/ 9 w 178"/>
                  <a:gd name="T29" fmla="*/ 15 h 98"/>
                  <a:gd name="T30" fmla="*/ 3 w 178"/>
                  <a:gd name="T31" fmla="*/ 26 h 98"/>
                  <a:gd name="T32" fmla="*/ 0 w 178"/>
                  <a:gd name="T33" fmla="*/ 44 h 98"/>
                  <a:gd name="T34" fmla="*/ 9 w 178"/>
                  <a:gd name="T35" fmla="*/ 47 h 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8"/>
                  <a:gd name="T55" fmla="*/ 0 h 98"/>
                  <a:gd name="T56" fmla="*/ 178 w 178"/>
                  <a:gd name="T57" fmla="*/ 98 h 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8" h="98">
                    <a:moveTo>
                      <a:pt x="9" y="47"/>
                    </a:moveTo>
                    <a:lnTo>
                      <a:pt x="178" y="98"/>
                    </a:lnTo>
                    <a:lnTo>
                      <a:pt x="174" y="81"/>
                    </a:lnTo>
                    <a:lnTo>
                      <a:pt x="167" y="68"/>
                    </a:lnTo>
                    <a:lnTo>
                      <a:pt x="155" y="50"/>
                    </a:lnTo>
                    <a:lnTo>
                      <a:pt x="145" y="38"/>
                    </a:lnTo>
                    <a:lnTo>
                      <a:pt x="130" y="25"/>
                    </a:lnTo>
                    <a:lnTo>
                      <a:pt x="114" y="15"/>
                    </a:lnTo>
                    <a:lnTo>
                      <a:pt x="96" y="8"/>
                    </a:lnTo>
                    <a:lnTo>
                      <a:pt x="79" y="3"/>
                    </a:lnTo>
                    <a:lnTo>
                      <a:pt x="61" y="0"/>
                    </a:lnTo>
                    <a:lnTo>
                      <a:pt x="47" y="0"/>
                    </a:lnTo>
                    <a:lnTo>
                      <a:pt x="35" y="2"/>
                    </a:lnTo>
                    <a:lnTo>
                      <a:pt x="20" y="7"/>
                    </a:lnTo>
                    <a:lnTo>
                      <a:pt x="9" y="15"/>
                    </a:lnTo>
                    <a:lnTo>
                      <a:pt x="3" y="26"/>
                    </a:lnTo>
                    <a:lnTo>
                      <a:pt x="0" y="44"/>
                    </a:lnTo>
                    <a:lnTo>
                      <a:pt x="9" y="47"/>
                    </a:lnTo>
                    <a:close/>
                  </a:path>
                </a:pathLst>
              </a:custGeom>
              <a:solidFill>
                <a:srgbClr val="9F9F9F"/>
              </a:solidFill>
              <a:ln w="9525">
                <a:solidFill>
                  <a:schemeClr val="tx1"/>
                </a:solidFill>
                <a:round/>
                <a:headEnd/>
                <a:tailEnd/>
              </a:ln>
            </p:spPr>
            <p:txBody>
              <a:bodyPr/>
              <a:lstStyle/>
              <a:p>
                <a:endParaRPr lang="sv-SE"/>
              </a:p>
            </p:txBody>
          </p:sp>
          <p:sp>
            <p:nvSpPr>
              <p:cNvPr id="20640" name="Freeform 97"/>
              <p:cNvSpPr>
                <a:spLocks/>
              </p:cNvSpPr>
              <p:nvPr/>
            </p:nvSpPr>
            <p:spPr bwMode="auto">
              <a:xfrm>
                <a:off x="3252" y="1412"/>
                <a:ext cx="245" cy="219"/>
              </a:xfrm>
              <a:custGeom>
                <a:avLst/>
                <a:gdLst>
                  <a:gd name="T0" fmla="*/ 74 w 245"/>
                  <a:gd name="T1" fmla="*/ 0 h 219"/>
                  <a:gd name="T2" fmla="*/ 4 w 245"/>
                  <a:gd name="T3" fmla="*/ 96 h 219"/>
                  <a:gd name="T4" fmla="*/ 0 w 245"/>
                  <a:gd name="T5" fmla="*/ 113 h 219"/>
                  <a:gd name="T6" fmla="*/ 0 w 245"/>
                  <a:gd name="T7" fmla="*/ 125 h 219"/>
                  <a:gd name="T8" fmla="*/ 1 w 245"/>
                  <a:gd name="T9" fmla="*/ 139 h 219"/>
                  <a:gd name="T10" fmla="*/ 5 w 245"/>
                  <a:gd name="T11" fmla="*/ 156 h 219"/>
                  <a:gd name="T12" fmla="*/ 12 w 245"/>
                  <a:gd name="T13" fmla="*/ 170 h 219"/>
                  <a:gd name="T14" fmla="*/ 24 w 245"/>
                  <a:gd name="T15" fmla="*/ 185 h 219"/>
                  <a:gd name="T16" fmla="*/ 38 w 245"/>
                  <a:gd name="T17" fmla="*/ 196 h 219"/>
                  <a:gd name="T18" fmla="*/ 58 w 245"/>
                  <a:gd name="T19" fmla="*/ 208 h 219"/>
                  <a:gd name="T20" fmla="*/ 75 w 245"/>
                  <a:gd name="T21" fmla="*/ 214 h 219"/>
                  <a:gd name="T22" fmla="*/ 92 w 245"/>
                  <a:gd name="T23" fmla="*/ 217 h 219"/>
                  <a:gd name="T24" fmla="*/ 114 w 245"/>
                  <a:gd name="T25" fmla="*/ 219 h 219"/>
                  <a:gd name="T26" fmla="*/ 129 w 245"/>
                  <a:gd name="T27" fmla="*/ 216 h 219"/>
                  <a:gd name="T28" fmla="*/ 146 w 245"/>
                  <a:gd name="T29" fmla="*/ 210 h 219"/>
                  <a:gd name="T30" fmla="*/ 245 w 245"/>
                  <a:gd name="T31" fmla="*/ 122 h 219"/>
                  <a:gd name="T32" fmla="*/ 229 w 245"/>
                  <a:gd name="T33" fmla="*/ 127 h 219"/>
                  <a:gd name="T34" fmla="*/ 214 w 245"/>
                  <a:gd name="T35" fmla="*/ 128 h 219"/>
                  <a:gd name="T36" fmla="*/ 195 w 245"/>
                  <a:gd name="T37" fmla="*/ 125 h 219"/>
                  <a:gd name="T38" fmla="*/ 179 w 245"/>
                  <a:gd name="T39" fmla="*/ 120 h 219"/>
                  <a:gd name="T40" fmla="*/ 162 w 245"/>
                  <a:gd name="T41" fmla="*/ 114 h 219"/>
                  <a:gd name="T42" fmla="*/ 141 w 245"/>
                  <a:gd name="T43" fmla="*/ 101 h 219"/>
                  <a:gd name="T44" fmla="*/ 122 w 245"/>
                  <a:gd name="T45" fmla="*/ 87 h 219"/>
                  <a:gd name="T46" fmla="*/ 112 w 245"/>
                  <a:gd name="T47" fmla="*/ 76 h 219"/>
                  <a:gd name="T48" fmla="*/ 100 w 245"/>
                  <a:gd name="T49" fmla="*/ 61 h 219"/>
                  <a:gd name="T50" fmla="*/ 92 w 245"/>
                  <a:gd name="T51" fmla="*/ 50 h 219"/>
                  <a:gd name="T52" fmla="*/ 86 w 245"/>
                  <a:gd name="T53" fmla="*/ 36 h 219"/>
                  <a:gd name="T54" fmla="*/ 14 w 245"/>
                  <a:gd name="T55" fmla="*/ 115 h 219"/>
                  <a:gd name="T56" fmla="*/ 14 w 245"/>
                  <a:gd name="T57" fmla="*/ 97 h 219"/>
                  <a:gd name="T58" fmla="*/ 81 w 245"/>
                  <a:gd name="T59" fmla="*/ 20 h 219"/>
                  <a:gd name="T60" fmla="*/ 78 w 245"/>
                  <a:gd name="T61" fmla="*/ 15 h 219"/>
                  <a:gd name="T62" fmla="*/ 75 w 245"/>
                  <a:gd name="T63" fmla="*/ 7 h 219"/>
                  <a:gd name="T64" fmla="*/ 74 w 245"/>
                  <a:gd name="T65" fmla="*/ 0 h 2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45"/>
                  <a:gd name="T100" fmla="*/ 0 h 219"/>
                  <a:gd name="T101" fmla="*/ 245 w 245"/>
                  <a:gd name="T102" fmla="*/ 219 h 2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45" h="219">
                    <a:moveTo>
                      <a:pt x="74" y="0"/>
                    </a:moveTo>
                    <a:lnTo>
                      <a:pt x="4" y="96"/>
                    </a:lnTo>
                    <a:lnTo>
                      <a:pt x="0" y="113"/>
                    </a:lnTo>
                    <a:lnTo>
                      <a:pt x="0" y="125"/>
                    </a:lnTo>
                    <a:lnTo>
                      <a:pt x="1" y="139"/>
                    </a:lnTo>
                    <a:lnTo>
                      <a:pt x="5" y="156"/>
                    </a:lnTo>
                    <a:lnTo>
                      <a:pt x="12" y="170"/>
                    </a:lnTo>
                    <a:lnTo>
                      <a:pt x="24" y="185"/>
                    </a:lnTo>
                    <a:lnTo>
                      <a:pt x="38" y="196"/>
                    </a:lnTo>
                    <a:lnTo>
                      <a:pt x="58" y="208"/>
                    </a:lnTo>
                    <a:lnTo>
                      <a:pt x="75" y="214"/>
                    </a:lnTo>
                    <a:lnTo>
                      <a:pt x="92" y="217"/>
                    </a:lnTo>
                    <a:lnTo>
                      <a:pt x="114" y="219"/>
                    </a:lnTo>
                    <a:lnTo>
                      <a:pt x="129" y="216"/>
                    </a:lnTo>
                    <a:lnTo>
                      <a:pt x="146" y="210"/>
                    </a:lnTo>
                    <a:lnTo>
                      <a:pt x="245" y="122"/>
                    </a:lnTo>
                    <a:lnTo>
                      <a:pt x="229" y="127"/>
                    </a:lnTo>
                    <a:lnTo>
                      <a:pt x="214" y="128"/>
                    </a:lnTo>
                    <a:lnTo>
                      <a:pt x="195" y="125"/>
                    </a:lnTo>
                    <a:lnTo>
                      <a:pt x="179" y="120"/>
                    </a:lnTo>
                    <a:lnTo>
                      <a:pt x="162" y="114"/>
                    </a:lnTo>
                    <a:lnTo>
                      <a:pt x="141" y="101"/>
                    </a:lnTo>
                    <a:lnTo>
                      <a:pt x="122" y="87"/>
                    </a:lnTo>
                    <a:lnTo>
                      <a:pt x="112" y="76"/>
                    </a:lnTo>
                    <a:lnTo>
                      <a:pt x="100" y="61"/>
                    </a:lnTo>
                    <a:lnTo>
                      <a:pt x="92" y="50"/>
                    </a:lnTo>
                    <a:lnTo>
                      <a:pt x="86" y="36"/>
                    </a:lnTo>
                    <a:lnTo>
                      <a:pt x="14" y="115"/>
                    </a:lnTo>
                    <a:lnTo>
                      <a:pt x="14" y="97"/>
                    </a:lnTo>
                    <a:lnTo>
                      <a:pt x="81" y="20"/>
                    </a:lnTo>
                    <a:lnTo>
                      <a:pt x="78" y="15"/>
                    </a:lnTo>
                    <a:lnTo>
                      <a:pt x="75" y="7"/>
                    </a:lnTo>
                    <a:lnTo>
                      <a:pt x="74" y="0"/>
                    </a:lnTo>
                    <a:close/>
                  </a:path>
                </a:pathLst>
              </a:custGeom>
              <a:solidFill>
                <a:srgbClr val="C0C0C0"/>
              </a:solidFill>
              <a:ln w="9525">
                <a:solidFill>
                  <a:schemeClr val="tx1"/>
                </a:solidFill>
                <a:round/>
                <a:headEnd/>
                <a:tailEnd/>
              </a:ln>
            </p:spPr>
            <p:txBody>
              <a:bodyPr/>
              <a:lstStyle/>
              <a:p>
                <a:endParaRPr lang="sv-SE"/>
              </a:p>
            </p:txBody>
          </p:sp>
          <p:grpSp>
            <p:nvGrpSpPr>
              <p:cNvPr id="24" name="Group 98"/>
              <p:cNvGrpSpPr>
                <a:grpSpLocks/>
              </p:cNvGrpSpPr>
              <p:nvPr/>
            </p:nvGrpSpPr>
            <p:grpSpPr bwMode="auto">
              <a:xfrm>
                <a:off x="3082" y="1263"/>
                <a:ext cx="528" cy="558"/>
                <a:chOff x="3082" y="1263"/>
                <a:chExt cx="528" cy="558"/>
              </a:xfrm>
            </p:grpSpPr>
            <p:sp>
              <p:nvSpPr>
                <p:cNvPr id="20645" name="Freeform 99"/>
                <p:cNvSpPr>
                  <a:spLocks/>
                </p:cNvSpPr>
                <p:nvPr/>
              </p:nvSpPr>
              <p:spPr bwMode="auto">
                <a:xfrm>
                  <a:off x="3125" y="1585"/>
                  <a:ext cx="485" cy="236"/>
                </a:xfrm>
                <a:custGeom>
                  <a:avLst/>
                  <a:gdLst>
                    <a:gd name="T0" fmla="*/ 0 w 485"/>
                    <a:gd name="T1" fmla="*/ 236 h 236"/>
                    <a:gd name="T2" fmla="*/ 276 w 485"/>
                    <a:gd name="T3" fmla="*/ 0 h 236"/>
                    <a:gd name="T4" fmla="*/ 485 w 485"/>
                    <a:gd name="T5" fmla="*/ 11 h 236"/>
                    <a:gd name="T6" fmla="*/ 369 w 485"/>
                    <a:gd name="T7" fmla="*/ 74 h 236"/>
                    <a:gd name="T8" fmla="*/ 389 w 485"/>
                    <a:gd name="T9" fmla="*/ 79 h 236"/>
                    <a:gd name="T10" fmla="*/ 261 w 485"/>
                    <a:gd name="T11" fmla="*/ 143 h 236"/>
                    <a:gd name="T12" fmla="*/ 282 w 485"/>
                    <a:gd name="T13" fmla="*/ 149 h 236"/>
                    <a:gd name="T14" fmla="*/ 144 w 485"/>
                    <a:gd name="T15" fmla="*/ 215 h 236"/>
                    <a:gd name="T16" fmla="*/ 0 w 485"/>
                    <a:gd name="T17" fmla="*/ 236 h 2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5"/>
                    <a:gd name="T28" fmla="*/ 0 h 236"/>
                    <a:gd name="T29" fmla="*/ 485 w 485"/>
                    <a:gd name="T30" fmla="*/ 236 h 2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5" h="236">
                      <a:moveTo>
                        <a:pt x="0" y="236"/>
                      </a:moveTo>
                      <a:lnTo>
                        <a:pt x="276" y="0"/>
                      </a:lnTo>
                      <a:lnTo>
                        <a:pt x="485" y="11"/>
                      </a:lnTo>
                      <a:lnTo>
                        <a:pt x="369" y="74"/>
                      </a:lnTo>
                      <a:lnTo>
                        <a:pt x="389" y="79"/>
                      </a:lnTo>
                      <a:lnTo>
                        <a:pt x="261" y="143"/>
                      </a:lnTo>
                      <a:lnTo>
                        <a:pt x="282" y="149"/>
                      </a:lnTo>
                      <a:lnTo>
                        <a:pt x="144" y="215"/>
                      </a:lnTo>
                      <a:lnTo>
                        <a:pt x="0" y="236"/>
                      </a:lnTo>
                      <a:close/>
                    </a:path>
                  </a:pathLst>
                </a:custGeom>
                <a:solidFill>
                  <a:srgbClr val="FFFF00"/>
                </a:solidFill>
                <a:ln w="9525">
                  <a:solidFill>
                    <a:schemeClr val="tx1"/>
                  </a:solidFill>
                  <a:round/>
                  <a:headEnd/>
                  <a:tailEnd/>
                </a:ln>
              </p:spPr>
              <p:txBody>
                <a:bodyPr/>
                <a:lstStyle/>
                <a:p>
                  <a:endParaRPr lang="sv-SE"/>
                </a:p>
              </p:txBody>
            </p:sp>
            <p:sp>
              <p:nvSpPr>
                <p:cNvPr id="20646" name="Freeform 100"/>
                <p:cNvSpPr>
                  <a:spLocks/>
                </p:cNvSpPr>
                <p:nvPr/>
              </p:nvSpPr>
              <p:spPr bwMode="auto">
                <a:xfrm>
                  <a:off x="3101" y="1507"/>
                  <a:ext cx="218" cy="282"/>
                </a:xfrm>
                <a:custGeom>
                  <a:avLst/>
                  <a:gdLst>
                    <a:gd name="T0" fmla="*/ 21 w 218"/>
                    <a:gd name="T1" fmla="*/ 237 h 282"/>
                    <a:gd name="T2" fmla="*/ 218 w 218"/>
                    <a:gd name="T3" fmla="*/ 0 h 282"/>
                    <a:gd name="T4" fmla="*/ 174 w 218"/>
                    <a:gd name="T5" fmla="*/ 93 h 282"/>
                    <a:gd name="T6" fmla="*/ 0 w 218"/>
                    <a:gd name="T7" fmla="*/ 282 h 282"/>
                    <a:gd name="T8" fmla="*/ 21 w 218"/>
                    <a:gd name="T9" fmla="*/ 237 h 282"/>
                    <a:gd name="T10" fmla="*/ 0 60000 65536"/>
                    <a:gd name="T11" fmla="*/ 0 60000 65536"/>
                    <a:gd name="T12" fmla="*/ 0 60000 65536"/>
                    <a:gd name="T13" fmla="*/ 0 60000 65536"/>
                    <a:gd name="T14" fmla="*/ 0 60000 65536"/>
                    <a:gd name="T15" fmla="*/ 0 w 218"/>
                    <a:gd name="T16" fmla="*/ 0 h 282"/>
                    <a:gd name="T17" fmla="*/ 218 w 218"/>
                    <a:gd name="T18" fmla="*/ 282 h 282"/>
                  </a:gdLst>
                  <a:ahLst/>
                  <a:cxnLst>
                    <a:cxn ang="T10">
                      <a:pos x="T0" y="T1"/>
                    </a:cxn>
                    <a:cxn ang="T11">
                      <a:pos x="T2" y="T3"/>
                    </a:cxn>
                    <a:cxn ang="T12">
                      <a:pos x="T4" y="T5"/>
                    </a:cxn>
                    <a:cxn ang="T13">
                      <a:pos x="T6" y="T7"/>
                    </a:cxn>
                    <a:cxn ang="T14">
                      <a:pos x="T8" y="T9"/>
                    </a:cxn>
                  </a:cxnLst>
                  <a:rect l="T15" t="T16" r="T17" b="T18"/>
                  <a:pathLst>
                    <a:path w="218" h="282">
                      <a:moveTo>
                        <a:pt x="21" y="237"/>
                      </a:moveTo>
                      <a:lnTo>
                        <a:pt x="218" y="0"/>
                      </a:lnTo>
                      <a:lnTo>
                        <a:pt x="174" y="93"/>
                      </a:lnTo>
                      <a:lnTo>
                        <a:pt x="0" y="282"/>
                      </a:lnTo>
                      <a:lnTo>
                        <a:pt x="21" y="237"/>
                      </a:lnTo>
                      <a:close/>
                    </a:path>
                  </a:pathLst>
                </a:custGeom>
                <a:solidFill>
                  <a:srgbClr val="FFFF00"/>
                </a:solidFill>
                <a:ln w="9525">
                  <a:solidFill>
                    <a:schemeClr val="tx1"/>
                  </a:solidFill>
                  <a:round/>
                  <a:headEnd/>
                  <a:tailEnd/>
                </a:ln>
              </p:spPr>
              <p:txBody>
                <a:bodyPr/>
                <a:lstStyle/>
                <a:p>
                  <a:endParaRPr lang="sv-SE"/>
                </a:p>
              </p:txBody>
            </p:sp>
            <p:sp>
              <p:nvSpPr>
                <p:cNvPr id="20647" name="Freeform 101"/>
                <p:cNvSpPr>
                  <a:spLocks/>
                </p:cNvSpPr>
                <p:nvPr/>
              </p:nvSpPr>
              <p:spPr bwMode="auto">
                <a:xfrm>
                  <a:off x="3082" y="1263"/>
                  <a:ext cx="195" cy="502"/>
                </a:xfrm>
                <a:custGeom>
                  <a:avLst/>
                  <a:gdLst>
                    <a:gd name="T0" fmla="*/ 0 w 195"/>
                    <a:gd name="T1" fmla="*/ 502 h 502"/>
                    <a:gd name="T2" fmla="*/ 195 w 195"/>
                    <a:gd name="T3" fmla="*/ 235 h 502"/>
                    <a:gd name="T4" fmla="*/ 190 w 195"/>
                    <a:gd name="T5" fmla="*/ 0 h 502"/>
                    <a:gd name="T6" fmla="*/ 143 w 195"/>
                    <a:gd name="T7" fmla="*/ 101 h 502"/>
                    <a:gd name="T8" fmla="*/ 135 w 195"/>
                    <a:gd name="T9" fmla="*/ 136 h 502"/>
                    <a:gd name="T10" fmla="*/ 120 w 195"/>
                    <a:gd name="T11" fmla="*/ 117 h 502"/>
                    <a:gd name="T12" fmla="*/ 79 w 195"/>
                    <a:gd name="T13" fmla="*/ 247 h 502"/>
                    <a:gd name="T14" fmla="*/ 73 w 195"/>
                    <a:gd name="T15" fmla="*/ 224 h 502"/>
                    <a:gd name="T16" fmla="*/ 18 w 195"/>
                    <a:gd name="T17" fmla="*/ 354 h 502"/>
                    <a:gd name="T18" fmla="*/ 0 w 195"/>
                    <a:gd name="T19" fmla="*/ 502 h 5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5"/>
                    <a:gd name="T31" fmla="*/ 0 h 502"/>
                    <a:gd name="T32" fmla="*/ 195 w 195"/>
                    <a:gd name="T33" fmla="*/ 502 h 50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5" h="502">
                      <a:moveTo>
                        <a:pt x="0" y="502"/>
                      </a:moveTo>
                      <a:lnTo>
                        <a:pt x="195" y="235"/>
                      </a:lnTo>
                      <a:lnTo>
                        <a:pt x="190" y="0"/>
                      </a:lnTo>
                      <a:lnTo>
                        <a:pt x="143" y="101"/>
                      </a:lnTo>
                      <a:lnTo>
                        <a:pt x="135" y="136"/>
                      </a:lnTo>
                      <a:lnTo>
                        <a:pt x="120" y="117"/>
                      </a:lnTo>
                      <a:lnTo>
                        <a:pt x="79" y="247"/>
                      </a:lnTo>
                      <a:lnTo>
                        <a:pt x="73" y="224"/>
                      </a:lnTo>
                      <a:lnTo>
                        <a:pt x="18" y="354"/>
                      </a:lnTo>
                      <a:lnTo>
                        <a:pt x="0" y="502"/>
                      </a:lnTo>
                      <a:close/>
                    </a:path>
                  </a:pathLst>
                </a:custGeom>
                <a:solidFill>
                  <a:srgbClr val="FFFF00"/>
                </a:solidFill>
                <a:ln w="9525">
                  <a:solidFill>
                    <a:schemeClr val="tx1"/>
                  </a:solidFill>
                  <a:round/>
                  <a:headEnd/>
                  <a:tailEnd/>
                </a:ln>
              </p:spPr>
              <p:txBody>
                <a:bodyPr/>
                <a:lstStyle/>
                <a:p>
                  <a:endParaRPr lang="sv-SE"/>
                </a:p>
              </p:txBody>
            </p:sp>
          </p:grpSp>
          <p:sp>
            <p:nvSpPr>
              <p:cNvPr id="20642" name="Freeform 102"/>
              <p:cNvSpPr>
                <a:spLocks/>
              </p:cNvSpPr>
              <p:nvPr/>
            </p:nvSpPr>
            <p:spPr bwMode="auto">
              <a:xfrm>
                <a:off x="3015" y="1742"/>
                <a:ext cx="151" cy="164"/>
              </a:xfrm>
              <a:custGeom>
                <a:avLst/>
                <a:gdLst>
                  <a:gd name="T0" fmla="*/ 69 w 151"/>
                  <a:gd name="T1" fmla="*/ 0 h 164"/>
                  <a:gd name="T2" fmla="*/ 67 w 151"/>
                  <a:gd name="T3" fmla="*/ 17 h 164"/>
                  <a:gd name="T4" fmla="*/ 65 w 151"/>
                  <a:gd name="T5" fmla="*/ 29 h 164"/>
                  <a:gd name="T6" fmla="*/ 67 w 151"/>
                  <a:gd name="T7" fmla="*/ 41 h 164"/>
                  <a:gd name="T8" fmla="*/ 72 w 151"/>
                  <a:gd name="T9" fmla="*/ 51 h 164"/>
                  <a:gd name="T10" fmla="*/ 79 w 151"/>
                  <a:gd name="T11" fmla="*/ 63 h 164"/>
                  <a:gd name="T12" fmla="*/ 89 w 151"/>
                  <a:gd name="T13" fmla="*/ 74 h 164"/>
                  <a:gd name="T14" fmla="*/ 99 w 151"/>
                  <a:gd name="T15" fmla="*/ 82 h 164"/>
                  <a:gd name="T16" fmla="*/ 113 w 151"/>
                  <a:gd name="T17" fmla="*/ 86 h 164"/>
                  <a:gd name="T18" fmla="*/ 127 w 151"/>
                  <a:gd name="T19" fmla="*/ 89 h 164"/>
                  <a:gd name="T20" fmla="*/ 139 w 151"/>
                  <a:gd name="T21" fmla="*/ 88 h 164"/>
                  <a:gd name="T22" fmla="*/ 151 w 151"/>
                  <a:gd name="T23" fmla="*/ 86 h 164"/>
                  <a:gd name="T24" fmla="*/ 67 w 151"/>
                  <a:gd name="T25" fmla="*/ 161 h 164"/>
                  <a:gd name="T26" fmla="*/ 56 w 151"/>
                  <a:gd name="T27" fmla="*/ 164 h 164"/>
                  <a:gd name="T28" fmla="*/ 44 w 151"/>
                  <a:gd name="T29" fmla="*/ 164 h 164"/>
                  <a:gd name="T30" fmla="*/ 34 w 151"/>
                  <a:gd name="T31" fmla="*/ 161 h 164"/>
                  <a:gd name="T32" fmla="*/ 24 w 151"/>
                  <a:gd name="T33" fmla="*/ 156 h 164"/>
                  <a:gd name="T34" fmla="*/ 14 w 151"/>
                  <a:gd name="T35" fmla="*/ 149 h 164"/>
                  <a:gd name="T36" fmla="*/ 6 w 151"/>
                  <a:gd name="T37" fmla="*/ 139 h 164"/>
                  <a:gd name="T38" fmla="*/ 2 w 151"/>
                  <a:gd name="T39" fmla="*/ 127 h 164"/>
                  <a:gd name="T40" fmla="*/ 0 w 151"/>
                  <a:gd name="T41" fmla="*/ 116 h 164"/>
                  <a:gd name="T42" fmla="*/ 0 w 151"/>
                  <a:gd name="T43" fmla="*/ 104 h 164"/>
                  <a:gd name="T44" fmla="*/ 3 w 151"/>
                  <a:gd name="T45" fmla="*/ 90 h 164"/>
                  <a:gd name="T46" fmla="*/ 69 w 151"/>
                  <a:gd name="T47" fmla="*/ 0 h 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1"/>
                  <a:gd name="T73" fmla="*/ 0 h 164"/>
                  <a:gd name="T74" fmla="*/ 151 w 151"/>
                  <a:gd name="T75" fmla="*/ 164 h 16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1" h="164">
                    <a:moveTo>
                      <a:pt x="69" y="0"/>
                    </a:moveTo>
                    <a:lnTo>
                      <a:pt x="67" y="17"/>
                    </a:lnTo>
                    <a:lnTo>
                      <a:pt x="65" y="29"/>
                    </a:lnTo>
                    <a:lnTo>
                      <a:pt x="67" y="41"/>
                    </a:lnTo>
                    <a:lnTo>
                      <a:pt x="72" y="51"/>
                    </a:lnTo>
                    <a:lnTo>
                      <a:pt x="79" y="63"/>
                    </a:lnTo>
                    <a:lnTo>
                      <a:pt x="89" y="74"/>
                    </a:lnTo>
                    <a:lnTo>
                      <a:pt x="99" y="82"/>
                    </a:lnTo>
                    <a:lnTo>
                      <a:pt x="113" y="86"/>
                    </a:lnTo>
                    <a:lnTo>
                      <a:pt x="127" y="89"/>
                    </a:lnTo>
                    <a:lnTo>
                      <a:pt x="139" y="88"/>
                    </a:lnTo>
                    <a:lnTo>
                      <a:pt x="151" y="86"/>
                    </a:lnTo>
                    <a:lnTo>
                      <a:pt x="67" y="161"/>
                    </a:lnTo>
                    <a:lnTo>
                      <a:pt x="56" y="164"/>
                    </a:lnTo>
                    <a:lnTo>
                      <a:pt x="44" y="164"/>
                    </a:lnTo>
                    <a:lnTo>
                      <a:pt x="34" y="161"/>
                    </a:lnTo>
                    <a:lnTo>
                      <a:pt x="24" y="156"/>
                    </a:lnTo>
                    <a:lnTo>
                      <a:pt x="14" y="149"/>
                    </a:lnTo>
                    <a:lnTo>
                      <a:pt x="6" y="139"/>
                    </a:lnTo>
                    <a:lnTo>
                      <a:pt x="2" y="127"/>
                    </a:lnTo>
                    <a:lnTo>
                      <a:pt x="0" y="116"/>
                    </a:lnTo>
                    <a:lnTo>
                      <a:pt x="0" y="104"/>
                    </a:lnTo>
                    <a:lnTo>
                      <a:pt x="3" y="90"/>
                    </a:lnTo>
                    <a:lnTo>
                      <a:pt x="69" y="0"/>
                    </a:lnTo>
                    <a:close/>
                  </a:path>
                </a:pathLst>
              </a:custGeom>
              <a:solidFill>
                <a:srgbClr val="FFFF00"/>
              </a:solidFill>
              <a:ln w="9525">
                <a:solidFill>
                  <a:schemeClr val="tx1"/>
                </a:solidFill>
                <a:round/>
                <a:headEnd/>
                <a:tailEnd/>
              </a:ln>
            </p:spPr>
            <p:txBody>
              <a:bodyPr/>
              <a:lstStyle/>
              <a:p>
                <a:endParaRPr lang="sv-SE"/>
              </a:p>
            </p:txBody>
          </p:sp>
          <p:sp>
            <p:nvSpPr>
              <p:cNvPr id="20643" name="Freeform 103"/>
              <p:cNvSpPr>
                <a:spLocks/>
              </p:cNvSpPr>
              <p:nvPr/>
            </p:nvSpPr>
            <p:spPr bwMode="auto">
              <a:xfrm>
                <a:off x="3031" y="1788"/>
                <a:ext cx="89" cy="102"/>
              </a:xfrm>
              <a:custGeom>
                <a:avLst/>
                <a:gdLst>
                  <a:gd name="T0" fmla="*/ 20 w 89"/>
                  <a:gd name="T1" fmla="*/ 0 h 102"/>
                  <a:gd name="T2" fmla="*/ 17 w 89"/>
                  <a:gd name="T3" fmla="*/ 10 h 102"/>
                  <a:gd name="T4" fmla="*/ 15 w 89"/>
                  <a:gd name="T5" fmla="*/ 22 h 102"/>
                  <a:gd name="T6" fmla="*/ 14 w 89"/>
                  <a:gd name="T7" fmla="*/ 33 h 102"/>
                  <a:gd name="T8" fmla="*/ 14 w 89"/>
                  <a:gd name="T9" fmla="*/ 43 h 102"/>
                  <a:gd name="T10" fmla="*/ 16 w 89"/>
                  <a:gd name="T11" fmla="*/ 57 h 102"/>
                  <a:gd name="T12" fmla="*/ 21 w 89"/>
                  <a:gd name="T13" fmla="*/ 69 h 102"/>
                  <a:gd name="T14" fmla="*/ 28 w 89"/>
                  <a:gd name="T15" fmla="*/ 76 h 102"/>
                  <a:gd name="T16" fmla="*/ 41 w 89"/>
                  <a:gd name="T17" fmla="*/ 82 h 102"/>
                  <a:gd name="T18" fmla="*/ 57 w 89"/>
                  <a:gd name="T19" fmla="*/ 85 h 102"/>
                  <a:gd name="T20" fmla="*/ 72 w 89"/>
                  <a:gd name="T21" fmla="*/ 84 h 102"/>
                  <a:gd name="T22" fmla="*/ 89 w 89"/>
                  <a:gd name="T23" fmla="*/ 80 h 102"/>
                  <a:gd name="T24" fmla="*/ 69 w 89"/>
                  <a:gd name="T25" fmla="*/ 99 h 102"/>
                  <a:gd name="T26" fmla="*/ 58 w 89"/>
                  <a:gd name="T27" fmla="*/ 102 h 102"/>
                  <a:gd name="T28" fmla="*/ 44 w 89"/>
                  <a:gd name="T29" fmla="*/ 101 h 102"/>
                  <a:gd name="T30" fmla="*/ 32 w 89"/>
                  <a:gd name="T31" fmla="*/ 98 h 102"/>
                  <a:gd name="T32" fmla="*/ 22 w 89"/>
                  <a:gd name="T33" fmla="*/ 93 h 102"/>
                  <a:gd name="T34" fmla="*/ 14 w 89"/>
                  <a:gd name="T35" fmla="*/ 85 h 102"/>
                  <a:gd name="T36" fmla="*/ 6 w 89"/>
                  <a:gd name="T37" fmla="*/ 76 h 102"/>
                  <a:gd name="T38" fmla="*/ 2 w 89"/>
                  <a:gd name="T39" fmla="*/ 65 h 102"/>
                  <a:gd name="T40" fmla="*/ 0 w 89"/>
                  <a:gd name="T41" fmla="*/ 52 h 102"/>
                  <a:gd name="T42" fmla="*/ 0 w 89"/>
                  <a:gd name="T43" fmla="*/ 40 h 102"/>
                  <a:gd name="T44" fmla="*/ 3 w 89"/>
                  <a:gd name="T45" fmla="*/ 25 h 102"/>
                  <a:gd name="T46" fmla="*/ 20 w 89"/>
                  <a:gd name="T47" fmla="*/ 0 h 10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9"/>
                  <a:gd name="T73" fmla="*/ 0 h 102"/>
                  <a:gd name="T74" fmla="*/ 89 w 89"/>
                  <a:gd name="T75" fmla="*/ 102 h 10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9" h="102">
                    <a:moveTo>
                      <a:pt x="20" y="0"/>
                    </a:moveTo>
                    <a:lnTo>
                      <a:pt x="17" y="10"/>
                    </a:lnTo>
                    <a:lnTo>
                      <a:pt x="15" y="22"/>
                    </a:lnTo>
                    <a:lnTo>
                      <a:pt x="14" y="33"/>
                    </a:lnTo>
                    <a:lnTo>
                      <a:pt x="14" y="43"/>
                    </a:lnTo>
                    <a:lnTo>
                      <a:pt x="16" y="57"/>
                    </a:lnTo>
                    <a:lnTo>
                      <a:pt x="21" y="69"/>
                    </a:lnTo>
                    <a:lnTo>
                      <a:pt x="28" y="76"/>
                    </a:lnTo>
                    <a:lnTo>
                      <a:pt x="41" y="82"/>
                    </a:lnTo>
                    <a:lnTo>
                      <a:pt x="57" y="85"/>
                    </a:lnTo>
                    <a:lnTo>
                      <a:pt x="72" y="84"/>
                    </a:lnTo>
                    <a:lnTo>
                      <a:pt x="89" y="80"/>
                    </a:lnTo>
                    <a:lnTo>
                      <a:pt x="69" y="99"/>
                    </a:lnTo>
                    <a:lnTo>
                      <a:pt x="58" y="102"/>
                    </a:lnTo>
                    <a:lnTo>
                      <a:pt x="44" y="101"/>
                    </a:lnTo>
                    <a:lnTo>
                      <a:pt x="32" y="98"/>
                    </a:lnTo>
                    <a:lnTo>
                      <a:pt x="22" y="93"/>
                    </a:lnTo>
                    <a:lnTo>
                      <a:pt x="14" y="85"/>
                    </a:lnTo>
                    <a:lnTo>
                      <a:pt x="6" y="76"/>
                    </a:lnTo>
                    <a:lnTo>
                      <a:pt x="2" y="65"/>
                    </a:lnTo>
                    <a:lnTo>
                      <a:pt x="0" y="52"/>
                    </a:lnTo>
                    <a:lnTo>
                      <a:pt x="0" y="40"/>
                    </a:lnTo>
                    <a:lnTo>
                      <a:pt x="3" y="25"/>
                    </a:lnTo>
                    <a:lnTo>
                      <a:pt x="20" y="0"/>
                    </a:lnTo>
                    <a:close/>
                  </a:path>
                </a:pathLst>
              </a:custGeom>
              <a:solidFill>
                <a:srgbClr val="FF0000"/>
              </a:solidFill>
              <a:ln w="9525">
                <a:solidFill>
                  <a:schemeClr val="tx1"/>
                </a:solidFill>
                <a:round/>
                <a:headEnd/>
                <a:tailEnd/>
              </a:ln>
            </p:spPr>
            <p:txBody>
              <a:bodyPr/>
              <a:lstStyle/>
              <a:p>
                <a:endParaRPr lang="sv-SE"/>
              </a:p>
            </p:txBody>
          </p:sp>
          <p:sp>
            <p:nvSpPr>
              <p:cNvPr id="20644" name="Freeform 104"/>
              <p:cNvSpPr>
                <a:spLocks/>
              </p:cNvSpPr>
              <p:nvPr/>
            </p:nvSpPr>
            <p:spPr bwMode="auto">
              <a:xfrm>
                <a:off x="2841" y="2024"/>
                <a:ext cx="67" cy="74"/>
              </a:xfrm>
              <a:custGeom>
                <a:avLst/>
                <a:gdLst>
                  <a:gd name="T0" fmla="*/ 36 w 67"/>
                  <a:gd name="T1" fmla="*/ 0 h 74"/>
                  <a:gd name="T2" fmla="*/ 2 w 67"/>
                  <a:gd name="T3" fmla="*/ 45 h 74"/>
                  <a:gd name="T4" fmla="*/ 0 w 67"/>
                  <a:gd name="T5" fmla="*/ 52 h 74"/>
                  <a:gd name="T6" fmla="*/ 1 w 67"/>
                  <a:gd name="T7" fmla="*/ 60 h 74"/>
                  <a:gd name="T8" fmla="*/ 4 w 67"/>
                  <a:gd name="T9" fmla="*/ 67 h 74"/>
                  <a:gd name="T10" fmla="*/ 9 w 67"/>
                  <a:gd name="T11" fmla="*/ 72 h 74"/>
                  <a:gd name="T12" fmla="*/ 17 w 67"/>
                  <a:gd name="T13" fmla="*/ 74 h 74"/>
                  <a:gd name="T14" fmla="*/ 25 w 67"/>
                  <a:gd name="T15" fmla="*/ 73 h 74"/>
                  <a:gd name="T16" fmla="*/ 67 w 67"/>
                  <a:gd name="T17" fmla="*/ 35 h 74"/>
                  <a:gd name="T18" fmla="*/ 58 w 67"/>
                  <a:gd name="T19" fmla="*/ 32 h 74"/>
                  <a:gd name="T20" fmla="*/ 50 w 67"/>
                  <a:gd name="T21" fmla="*/ 27 h 74"/>
                  <a:gd name="T22" fmla="*/ 44 w 67"/>
                  <a:gd name="T23" fmla="*/ 21 h 74"/>
                  <a:gd name="T24" fmla="*/ 40 w 67"/>
                  <a:gd name="T25" fmla="*/ 15 h 74"/>
                  <a:gd name="T26" fmla="*/ 37 w 67"/>
                  <a:gd name="T27" fmla="*/ 8 h 74"/>
                  <a:gd name="T28" fmla="*/ 36 w 67"/>
                  <a:gd name="T29" fmla="*/ 0 h 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7"/>
                  <a:gd name="T46" fmla="*/ 0 h 74"/>
                  <a:gd name="T47" fmla="*/ 67 w 67"/>
                  <a:gd name="T48" fmla="*/ 74 h 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7" h="74">
                    <a:moveTo>
                      <a:pt x="36" y="0"/>
                    </a:moveTo>
                    <a:lnTo>
                      <a:pt x="2" y="45"/>
                    </a:lnTo>
                    <a:lnTo>
                      <a:pt x="0" y="52"/>
                    </a:lnTo>
                    <a:lnTo>
                      <a:pt x="1" y="60"/>
                    </a:lnTo>
                    <a:lnTo>
                      <a:pt x="4" y="67"/>
                    </a:lnTo>
                    <a:lnTo>
                      <a:pt x="9" y="72"/>
                    </a:lnTo>
                    <a:lnTo>
                      <a:pt x="17" y="74"/>
                    </a:lnTo>
                    <a:lnTo>
                      <a:pt x="25" y="73"/>
                    </a:lnTo>
                    <a:lnTo>
                      <a:pt x="67" y="35"/>
                    </a:lnTo>
                    <a:lnTo>
                      <a:pt x="58" y="32"/>
                    </a:lnTo>
                    <a:lnTo>
                      <a:pt x="50" y="27"/>
                    </a:lnTo>
                    <a:lnTo>
                      <a:pt x="44" y="21"/>
                    </a:lnTo>
                    <a:lnTo>
                      <a:pt x="40" y="15"/>
                    </a:lnTo>
                    <a:lnTo>
                      <a:pt x="37" y="8"/>
                    </a:lnTo>
                    <a:lnTo>
                      <a:pt x="36" y="0"/>
                    </a:lnTo>
                    <a:close/>
                  </a:path>
                </a:pathLst>
              </a:custGeom>
              <a:solidFill>
                <a:srgbClr val="FFFF00"/>
              </a:solidFill>
              <a:ln w="9525">
                <a:solidFill>
                  <a:schemeClr val="tx1"/>
                </a:solidFill>
                <a:round/>
                <a:headEnd/>
                <a:tailEnd/>
              </a:ln>
            </p:spPr>
            <p:txBody>
              <a:bodyPr/>
              <a:lstStyle/>
              <a:p>
                <a:endParaRPr lang="sv-SE"/>
              </a:p>
            </p:txBody>
          </p:sp>
        </p:grpSp>
        <p:grpSp>
          <p:nvGrpSpPr>
            <p:cNvPr id="25" name="Group 105"/>
            <p:cNvGrpSpPr>
              <a:grpSpLocks/>
            </p:cNvGrpSpPr>
            <p:nvPr/>
          </p:nvGrpSpPr>
          <p:grpSpPr bwMode="auto">
            <a:xfrm>
              <a:off x="883" y="3038"/>
              <a:ext cx="504" cy="257"/>
              <a:chOff x="2912" y="1764"/>
              <a:chExt cx="942" cy="497"/>
            </a:xfrm>
          </p:grpSpPr>
          <p:grpSp>
            <p:nvGrpSpPr>
              <p:cNvPr id="26" name="Group 106"/>
              <p:cNvGrpSpPr>
                <a:grpSpLocks/>
              </p:cNvGrpSpPr>
              <p:nvPr/>
            </p:nvGrpSpPr>
            <p:grpSpPr bwMode="auto">
              <a:xfrm>
                <a:off x="2912" y="1764"/>
                <a:ext cx="942" cy="497"/>
                <a:chOff x="2912" y="1764"/>
                <a:chExt cx="942" cy="497"/>
              </a:xfrm>
            </p:grpSpPr>
            <p:grpSp>
              <p:nvGrpSpPr>
                <p:cNvPr id="27" name="Group 107"/>
                <p:cNvGrpSpPr>
                  <a:grpSpLocks/>
                </p:cNvGrpSpPr>
                <p:nvPr/>
              </p:nvGrpSpPr>
              <p:grpSpPr bwMode="auto">
                <a:xfrm>
                  <a:off x="2912" y="1910"/>
                  <a:ext cx="925" cy="351"/>
                  <a:chOff x="2912" y="1910"/>
                  <a:chExt cx="925" cy="351"/>
                </a:xfrm>
              </p:grpSpPr>
              <p:grpSp>
                <p:nvGrpSpPr>
                  <p:cNvPr id="28" name="Group 108"/>
                  <p:cNvGrpSpPr>
                    <a:grpSpLocks/>
                  </p:cNvGrpSpPr>
                  <p:nvPr/>
                </p:nvGrpSpPr>
                <p:grpSpPr bwMode="auto">
                  <a:xfrm>
                    <a:off x="2912" y="2131"/>
                    <a:ext cx="58" cy="130"/>
                    <a:chOff x="2912" y="2131"/>
                    <a:chExt cx="58" cy="130"/>
                  </a:xfrm>
                </p:grpSpPr>
                <p:sp>
                  <p:nvSpPr>
                    <p:cNvPr id="20630" name="Freeform 109"/>
                    <p:cNvSpPr>
                      <a:spLocks/>
                    </p:cNvSpPr>
                    <p:nvPr/>
                  </p:nvSpPr>
                  <p:spPr bwMode="auto">
                    <a:xfrm>
                      <a:off x="2954" y="2131"/>
                      <a:ext cx="16" cy="130"/>
                    </a:xfrm>
                    <a:custGeom>
                      <a:avLst/>
                      <a:gdLst>
                        <a:gd name="T0" fmla="*/ 4 w 16"/>
                        <a:gd name="T1" fmla="*/ 0 h 130"/>
                        <a:gd name="T2" fmla="*/ 0 w 16"/>
                        <a:gd name="T3" fmla="*/ 71 h 130"/>
                        <a:gd name="T4" fmla="*/ 16 w 16"/>
                        <a:gd name="T5" fmla="*/ 130 h 130"/>
                        <a:gd name="T6" fmla="*/ 16 w 16"/>
                        <a:gd name="T7" fmla="*/ 67 h 130"/>
                        <a:gd name="T8" fmla="*/ 4 w 16"/>
                        <a:gd name="T9" fmla="*/ 0 h 130"/>
                        <a:gd name="T10" fmla="*/ 0 60000 65536"/>
                        <a:gd name="T11" fmla="*/ 0 60000 65536"/>
                        <a:gd name="T12" fmla="*/ 0 60000 65536"/>
                        <a:gd name="T13" fmla="*/ 0 60000 65536"/>
                        <a:gd name="T14" fmla="*/ 0 60000 65536"/>
                        <a:gd name="T15" fmla="*/ 0 w 16"/>
                        <a:gd name="T16" fmla="*/ 0 h 130"/>
                        <a:gd name="T17" fmla="*/ 16 w 16"/>
                        <a:gd name="T18" fmla="*/ 130 h 130"/>
                      </a:gdLst>
                      <a:ahLst/>
                      <a:cxnLst>
                        <a:cxn ang="T10">
                          <a:pos x="T0" y="T1"/>
                        </a:cxn>
                        <a:cxn ang="T11">
                          <a:pos x="T2" y="T3"/>
                        </a:cxn>
                        <a:cxn ang="T12">
                          <a:pos x="T4" y="T5"/>
                        </a:cxn>
                        <a:cxn ang="T13">
                          <a:pos x="T6" y="T7"/>
                        </a:cxn>
                        <a:cxn ang="T14">
                          <a:pos x="T8" y="T9"/>
                        </a:cxn>
                      </a:cxnLst>
                      <a:rect l="T15" t="T16" r="T17" b="T18"/>
                      <a:pathLst>
                        <a:path w="16" h="130">
                          <a:moveTo>
                            <a:pt x="4" y="0"/>
                          </a:moveTo>
                          <a:lnTo>
                            <a:pt x="0" y="71"/>
                          </a:lnTo>
                          <a:lnTo>
                            <a:pt x="16" y="130"/>
                          </a:lnTo>
                          <a:lnTo>
                            <a:pt x="16" y="67"/>
                          </a:lnTo>
                          <a:lnTo>
                            <a:pt x="4" y="0"/>
                          </a:lnTo>
                          <a:close/>
                        </a:path>
                      </a:pathLst>
                    </a:custGeom>
                    <a:solidFill>
                      <a:srgbClr val="9F9F9F"/>
                    </a:solidFill>
                    <a:ln w="9525">
                      <a:solidFill>
                        <a:schemeClr val="tx1"/>
                      </a:solidFill>
                      <a:round/>
                      <a:headEnd/>
                      <a:tailEnd/>
                    </a:ln>
                  </p:spPr>
                  <p:txBody>
                    <a:bodyPr/>
                    <a:lstStyle/>
                    <a:p>
                      <a:endParaRPr lang="sv-SE"/>
                    </a:p>
                  </p:txBody>
                </p:sp>
                <p:sp>
                  <p:nvSpPr>
                    <p:cNvPr id="20631" name="Freeform 110"/>
                    <p:cNvSpPr>
                      <a:spLocks/>
                    </p:cNvSpPr>
                    <p:nvPr/>
                  </p:nvSpPr>
                  <p:spPr bwMode="auto">
                    <a:xfrm>
                      <a:off x="2912" y="2131"/>
                      <a:ext cx="45" cy="79"/>
                    </a:xfrm>
                    <a:custGeom>
                      <a:avLst/>
                      <a:gdLst>
                        <a:gd name="T0" fmla="*/ 45 w 45"/>
                        <a:gd name="T1" fmla="*/ 0 h 79"/>
                        <a:gd name="T2" fmla="*/ 41 w 45"/>
                        <a:gd name="T3" fmla="*/ 69 h 79"/>
                        <a:gd name="T4" fmla="*/ 0 w 45"/>
                        <a:gd name="T5" fmla="*/ 79 h 79"/>
                        <a:gd name="T6" fmla="*/ 0 w 45"/>
                        <a:gd name="T7" fmla="*/ 53 h 79"/>
                        <a:gd name="T8" fmla="*/ 45 w 45"/>
                        <a:gd name="T9" fmla="*/ 0 h 79"/>
                        <a:gd name="T10" fmla="*/ 0 60000 65536"/>
                        <a:gd name="T11" fmla="*/ 0 60000 65536"/>
                        <a:gd name="T12" fmla="*/ 0 60000 65536"/>
                        <a:gd name="T13" fmla="*/ 0 60000 65536"/>
                        <a:gd name="T14" fmla="*/ 0 60000 65536"/>
                        <a:gd name="T15" fmla="*/ 0 w 45"/>
                        <a:gd name="T16" fmla="*/ 0 h 79"/>
                        <a:gd name="T17" fmla="*/ 45 w 45"/>
                        <a:gd name="T18" fmla="*/ 79 h 79"/>
                      </a:gdLst>
                      <a:ahLst/>
                      <a:cxnLst>
                        <a:cxn ang="T10">
                          <a:pos x="T0" y="T1"/>
                        </a:cxn>
                        <a:cxn ang="T11">
                          <a:pos x="T2" y="T3"/>
                        </a:cxn>
                        <a:cxn ang="T12">
                          <a:pos x="T4" y="T5"/>
                        </a:cxn>
                        <a:cxn ang="T13">
                          <a:pos x="T6" y="T7"/>
                        </a:cxn>
                        <a:cxn ang="T14">
                          <a:pos x="T8" y="T9"/>
                        </a:cxn>
                      </a:cxnLst>
                      <a:rect l="T15" t="T16" r="T17" b="T18"/>
                      <a:pathLst>
                        <a:path w="45" h="79">
                          <a:moveTo>
                            <a:pt x="45" y="0"/>
                          </a:moveTo>
                          <a:lnTo>
                            <a:pt x="41" y="69"/>
                          </a:lnTo>
                          <a:lnTo>
                            <a:pt x="0" y="79"/>
                          </a:lnTo>
                          <a:lnTo>
                            <a:pt x="0" y="53"/>
                          </a:lnTo>
                          <a:lnTo>
                            <a:pt x="45" y="0"/>
                          </a:lnTo>
                          <a:close/>
                        </a:path>
                      </a:pathLst>
                    </a:custGeom>
                    <a:solidFill>
                      <a:srgbClr val="5F5F5F"/>
                    </a:solidFill>
                    <a:ln w="9525">
                      <a:solidFill>
                        <a:schemeClr val="tx1"/>
                      </a:solidFill>
                      <a:round/>
                      <a:headEnd/>
                      <a:tailEnd/>
                    </a:ln>
                  </p:spPr>
                  <p:txBody>
                    <a:bodyPr/>
                    <a:lstStyle/>
                    <a:p>
                      <a:endParaRPr lang="sv-SE"/>
                    </a:p>
                  </p:txBody>
                </p:sp>
                <p:sp>
                  <p:nvSpPr>
                    <p:cNvPr id="20632" name="Freeform 111"/>
                    <p:cNvSpPr>
                      <a:spLocks/>
                    </p:cNvSpPr>
                    <p:nvPr/>
                  </p:nvSpPr>
                  <p:spPr bwMode="auto">
                    <a:xfrm>
                      <a:off x="2912" y="2202"/>
                      <a:ext cx="58" cy="58"/>
                    </a:xfrm>
                    <a:custGeom>
                      <a:avLst/>
                      <a:gdLst>
                        <a:gd name="T0" fmla="*/ 0 w 58"/>
                        <a:gd name="T1" fmla="*/ 10 h 58"/>
                        <a:gd name="T2" fmla="*/ 42 w 58"/>
                        <a:gd name="T3" fmla="*/ 0 h 58"/>
                        <a:gd name="T4" fmla="*/ 58 w 58"/>
                        <a:gd name="T5" fmla="*/ 58 h 58"/>
                        <a:gd name="T6" fmla="*/ 7 w 58"/>
                        <a:gd name="T7" fmla="*/ 31 h 58"/>
                        <a:gd name="T8" fmla="*/ 0 w 58"/>
                        <a:gd name="T9" fmla="*/ 10 h 58"/>
                        <a:gd name="T10" fmla="*/ 0 60000 65536"/>
                        <a:gd name="T11" fmla="*/ 0 60000 65536"/>
                        <a:gd name="T12" fmla="*/ 0 60000 65536"/>
                        <a:gd name="T13" fmla="*/ 0 60000 65536"/>
                        <a:gd name="T14" fmla="*/ 0 60000 65536"/>
                        <a:gd name="T15" fmla="*/ 0 w 58"/>
                        <a:gd name="T16" fmla="*/ 0 h 58"/>
                        <a:gd name="T17" fmla="*/ 58 w 58"/>
                        <a:gd name="T18" fmla="*/ 58 h 58"/>
                      </a:gdLst>
                      <a:ahLst/>
                      <a:cxnLst>
                        <a:cxn ang="T10">
                          <a:pos x="T0" y="T1"/>
                        </a:cxn>
                        <a:cxn ang="T11">
                          <a:pos x="T2" y="T3"/>
                        </a:cxn>
                        <a:cxn ang="T12">
                          <a:pos x="T4" y="T5"/>
                        </a:cxn>
                        <a:cxn ang="T13">
                          <a:pos x="T6" y="T7"/>
                        </a:cxn>
                        <a:cxn ang="T14">
                          <a:pos x="T8" y="T9"/>
                        </a:cxn>
                      </a:cxnLst>
                      <a:rect l="T15" t="T16" r="T17" b="T18"/>
                      <a:pathLst>
                        <a:path w="58" h="58">
                          <a:moveTo>
                            <a:pt x="0" y="10"/>
                          </a:moveTo>
                          <a:lnTo>
                            <a:pt x="42" y="0"/>
                          </a:lnTo>
                          <a:lnTo>
                            <a:pt x="58" y="58"/>
                          </a:lnTo>
                          <a:lnTo>
                            <a:pt x="7" y="31"/>
                          </a:lnTo>
                          <a:lnTo>
                            <a:pt x="0" y="10"/>
                          </a:lnTo>
                          <a:close/>
                        </a:path>
                      </a:pathLst>
                    </a:custGeom>
                    <a:solidFill>
                      <a:srgbClr val="3F3F3F"/>
                    </a:solidFill>
                    <a:ln w="9525">
                      <a:solidFill>
                        <a:schemeClr val="tx1"/>
                      </a:solidFill>
                      <a:round/>
                      <a:headEnd/>
                      <a:tailEnd/>
                    </a:ln>
                  </p:spPr>
                  <p:txBody>
                    <a:bodyPr/>
                    <a:lstStyle/>
                    <a:p>
                      <a:endParaRPr lang="sv-SE"/>
                    </a:p>
                  </p:txBody>
                </p:sp>
              </p:grpSp>
              <p:sp>
                <p:nvSpPr>
                  <p:cNvPr id="20624" name="Freeform 112"/>
                  <p:cNvSpPr>
                    <a:spLocks/>
                  </p:cNvSpPr>
                  <p:nvPr/>
                </p:nvSpPr>
                <p:spPr bwMode="auto">
                  <a:xfrm>
                    <a:off x="2944" y="1925"/>
                    <a:ext cx="786" cy="296"/>
                  </a:xfrm>
                  <a:custGeom>
                    <a:avLst/>
                    <a:gdLst>
                      <a:gd name="T0" fmla="*/ 14 w 786"/>
                      <a:gd name="T1" fmla="*/ 296 h 296"/>
                      <a:gd name="T2" fmla="*/ 7 w 786"/>
                      <a:gd name="T3" fmla="*/ 293 h 296"/>
                      <a:gd name="T4" fmla="*/ 2 w 786"/>
                      <a:gd name="T5" fmla="*/ 289 h 296"/>
                      <a:gd name="T6" fmla="*/ 0 w 786"/>
                      <a:gd name="T7" fmla="*/ 282 h 296"/>
                      <a:gd name="T8" fmla="*/ 0 w 786"/>
                      <a:gd name="T9" fmla="*/ 275 h 296"/>
                      <a:gd name="T10" fmla="*/ 2 w 786"/>
                      <a:gd name="T11" fmla="*/ 266 h 296"/>
                      <a:gd name="T12" fmla="*/ 5 w 786"/>
                      <a:gd name="T13" fmla="*/ 261 h 296"/>
                      <a:gd name="T14" fmla="*/ 12 w 786"/>
                      <a:gd name="T15" fmla="*/ 256 h 296"/>
                      <a:gd name="T16" fmla="*/ 756 w 786"/>
                      <a:gd name="T17" fmla="*/ 0 h 296"/>
                      <a:gd name="T18" fmla="*/ 786 w 786"/>
                      <a:gd name="T19" fmla="*/ 195 h 296"/>
                      <a:gd name="T20" fmla="*/ 14 w 786"/>
                      <a:gd name="T21" fmla="*/ 296 h 2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6"/>
                      <a:gd name="T34" fmla="*/ 0 h 296"/>
                      <a:gd name="T35" fmla="*/ 786 w 786"/>
                      <a:gd name="T36" fmla="*/ 296 h 2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6" h="296">
                        <a:moveTo>
                          <a:pt x="14" y="296"/>
                        </a:moveTo>
                        <a:lnTo>
                          <a:pt x="7" y="293"/>
                        </a:lnTo>
                        <a:lnTo>
                          <a:pt x="2" y="289"/>
                        </a:lnTo>
                        <a:lnTo>
                          <a:pt x="0" y="282"/>
                        </a:lnTo>
                        <a:lnTo>
                          <a:pt x="0" y="275"/>
                        </a:lnTo>
                        <a:lnTo>
                          <a:pt x="2" y="266"/>
                        </a:lnTo>
                        <a:lnTo>
                          <a:pt x="5" y="261"/>
                        </a:lnTo>
                        <a:lnTo>
                          <a:pt x="12" y="256"/>
                        </a:lnTo>
                        <a:lnTo>
                          <a:pt x="756" y="0"/>
                        </a:lnTo>
                        <a:lnTo>
                          <a:pt x="786" y="195"/>
                        </a:lnTo>
                        <a:lnTo>
                          <a:pt x="14" y="296"/>
                        </a:lnTo>
                        <a:close/>
                      </a:path>
                    </a:pathLst>
                  </a:custGeom>
                  <a:solidFill>
                    <a:srgbClr val="808080"/>
                  </a:solidFill>
                  <a:ln w="9525">
                    <a:solidFill>
                      <a:schemeClr val="tx1"/>
                    </a:solidFill>
                    <a:round/>
                    <a:headEnd/>
                    <a:tailEnd/>
                  </a:ln>
                </p:spPr>
                <p:txBody>
                  <a:bodyPr/>
                  <a:lstStyle/>
                  <a:p>
                    <a:endParaRPr lang="sv-SE"/>
                  </a:p>
                </p:txBody>
              </p:sp>
              <p:sp>
                <p:nvSpPr>
                  <p:cNvPr id="20625" name="Freeform 113"/>
                  <p:cNvSpPr>
                    <a:spLocks/>
                  </p:cNvSpPr>
                  <p:nvPr/>
                </p:nvSpPr>
                <p:spPr bwMode="auto">
                  <a:xfrm>
                    <a:off x="3598" y="1927"/>
                    <a:ext cx="229" cy="148"/>
                  </a:xfrm>
                  <a:custGeom>
                    <a:avLst/>
                    <a:gdLst>
                      <a:gd name="T0" fmla="*/ 229 w 229"/>
                      <a:gd name="T1" fmla="*/ 143 h 148"/>
                      <a:gd name="T2" fmla="*/ 211 w 229"/>
                      <a:gd name="T3" fmla="*/ 148 h 148"/>
                      <a:gd name="T4" fmla="*/ 109 w 229"/>
                      <a:gd name="T5" fmla="*/ 32 h 148"/>
                      <a:gd name="T6" fmla="*/ 0 w 229"/>
                      <a:gd name="T7" fmla="*/ 52 h 148"/>
                      <a:gd name="T8" fmla="*/ 14 w 229"/>
                      <a:gd name="T9" fmla="*/ 33 h 148"/>
                      <a:gd name="T10" fmla="*/ 125 w 229"/>
                      <a:gd name="T11" fmla="*/ 0 h 148"/>
                      <a:gd name="T12" fmla="*/ 229 w 229"/>
                      <a:gd name="T13" fmla="*/ 143 h 148"/>
                      <a:gd name="T14" fmla="*/ 0 60000 65536"/>
                      <a:gd name="T15" fmla="*/ 0 60000 65536"/>
                      <a:gd name="T16" fmla="*/ 0 60000 65536"/>
                      <a:gd name="T17" fmla="*/ 0 60000 65536"/>
                      <a:gd name="T18" fmla="*/ 0 60000 65536"/>
                      <a:gd name="T19" fmla="*/ 0 60000 65536"/>
                      <a:gd name="T20" fmla="*/ 0 60000 65536"/>
                      <a:gd name="T21" fmla="*/ 0 w 229"/>
                      <a:gd name="T22" fmla="*/ 0 h 148"/>
                      <a:gd name="T23" fmla="*/ 229 w 229"/>
                      <a:gd name="T24" fmla="*/ 148 h 1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9" h="148">
                        <a:moveTo>
                          <a:pt x="229" y="143"/>
                        </a:moveTo>
                        <a:lnTo>
                          <a:pt x="211" y="148"/>
                        </a:lnTo>
                        <a:lnTo>
                          <a:pt x="109" y="32"/>
                        </a:lnTo>
                        <a:lnTo>
                          <a:pt x="0" y="52"/>
                        </a:lnTo>
                        <a:lnTo>
                          <a:pt x="14" y="33"/>
                        </a:lnTo>
                        <a:lnTo>
                          <a:pt x="125" y="0"/>
                        </a:lnTo>
                        <a:lnTo>
                          <a:pt x="229" y="143"/>
                        </a:lnTo>
                        <a:close/>
                      </a:path>
                    </a:pathLst>
                  </a:custGeom>
                  <a:solidFill>
                    <a:srgbClr val="808080"/>
                  </a:solidFill>
                  <a:ln w="9525">
                    <a:solidFill>
                      <a:schemeClr val="tx1"/>
                    </a:solidFill>
                    <a:round/>
                    <a:headEnd/>
                    <a:tailEnd/>
                  </a:ln>
                </p:spPr>
                <p:txBody>
                  <a:bodyPr/>
                  <a:lstStyle/>
                  <a:p>
                    <a:endParaRPr lang="sv-SE"/>
                  </a:p>
                </p:txBody>
              </p:sp>
              <p:sp>
                <p:nvSpPr>
                  <p:cNvPr id="20626" name="Freeform 114"/>
                  <p:cNvSpPr>
                    <a:spLocks/>
                  </p:cNvSpPr>
                  <p:nvPr/>
                </p:nvSpPr>
                <p:spPr bwMode="auto">
                  <a:xfrm>
                    <a:off x="3576" y="1913"/>
                    <a:ext cx="221" cy="216"/>
                  </a:xfrm>
                  <a:custGeom>
                    <a:avLst/>
                    <a:gdLst>
                      <a:gd name="T0" fmla="*/ 156 w 221"/>
                      <a:gd name="T1" fmla="*/ 0 h 216"/>
                      <a:gd name="T2" fmla="*/ 41 w 221"/>
                      <a:gd name="T3" fmla="*/ 41 h 216"/>
                      <a:gd name="T4" fmla="*/ 31 w 221"/>
                      <a:gd name="T5" fmla="*/ 49 h 216"/>
                      <a:gd name="T6" fmla="*/ 19 w 221"/>
                      <a:gd name="T7" fmla="*/ 62 h 216"/>
                      <a:gd name="T8" fmla="*/ 12 w 221"/>
                      <a:gd name="T9" fmla="*/ 75 h 216"/>
                      <a:gd name="T10" fmla="*/ 6 w 221"/>
                      <a:gd name="T11" fmla="*/ 88 h 216"/>
                      <a:gd name="T12" fmla="*/ 1 w 221"/>
                      <a:gd name="T13" fmla="*/ 107 h 216"/>
                      <a:gd name="T14" fmla="*/ 0 w 221"/>
                      <a:gd name="T15" fmla="*/ 123 h 216"/>
                      <a:gd name="T16" fmla="*/ 4 w 221"/>
                      <a:gd name="T17" fmla="*/ 145 h 216"/>
                      <a:gd name="T18" fmla="*/ 12 w 221"/>
                      <a:gd name="T19" fmla="*/ 164 h 216"/>
                      <a:gd name="T20" fmla="*/ 22 w 221"/>
                      <a:gd name="T21" fmla="*/ 180 h 216"/>
                      <a:gd name="T22" fmla="*/ 33 w 221"/>
                      <a:gd name="T23" fmla="*/ 194 h 216"/>
                      <a:gd name="T24" fmla="*/ 47 w 221"/>
                      <a:gd name="T25" fmla="*/ 205 h 216"/>
                      <a:gd name="T26" fmla="*/ 61 w 221"/>
                      <a:gd name="T27" fmla="*/ 211 h 216"/>
                      <a:gd name="T28" fmla="*/ 75 w 221"/>
                      <a:gd name="T29" fmla="*/ 216 h 216"/>
                      <a:gd name="T30" fmla="*/ 221 w 221"/>
                      <a:gd name="T31" fmla="*/ 199 h 216"/>
                      <a:gd name="T32" fmla="*/ 135 w 221"/>
                      <a:gd name="T33" fmla="*/ 40 h 216"/>
                      <a:gd name="T34" fmla="*/ 30 w 221"/>
                      <a:gd name="T35" fmla="*/ 61 h 216"/>
                      <a:gd name="T36" fmla="*/ 39 w 221"/>
                      <a:gd name="T37" fmla="*/ 48 h 216"/>
                      <a:gd name="T38" fmla="*/ 141 w 221"/>
                      <a:gd name="T39" fmla="*/ 20 h 216"/>
                      <a:gd name="T40" fmla="*/ 156 w 221"/>
                      <a:gd name="T41" fmla="*/ 0 h 2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1"/>
                      <a:gd name="T64" fmla="*/ 0 h 216"/>
                      <a:gd name="T65" fmla="*/ 221 w 221"/>
                      <a:gd name="T66" fmla="*/ 216 h 2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1" h="216">
                        <a:moveTo>
                          <a:pt x="156" y="0"/>
                        </a:moveTo>
                        <a:lnTo>
                          <a:pt x="41" y="41"/>
                        </a:lnTo>
                        <a:lnTo>
                          <a:pt x="31" y="49"/>
                        </a:lnTo>
                        <a:lnTo>
                          <a:pt x="19" y="62"/>
                        </a:lnTo>
                        <a:lnTo>
                          <a:pt x="12" y="75"/>
                        </a:lnTo>
                        <a:lnTo>
                          <a:pt x="6" y="88"/>
                        </a:lnTo>
                        <a:lnTo>
                          <a:pt x="1" y="107"/>
                        </a:lnTo>
                        <a:lnTo>
                          <a:pt x="0" y="123"/>
                        </a:lnTo>
                        <a:lnTo>
                          <a:pt x="4" y="145"/>
                        </a:lnTo>
                        <a:lnTo>
                          <a:pt x="12" y="164"/>
                        </a:lnTo>
                        <a:lnTo>
                          <a:pt x="22" y="180"/>
                        </a:lnTo>
                        <a:lnTo>
                          <a:pt x="33" y="194"/>
                        </a:lnTo>
                        <a:lnTo>
                          <a:pt x="47" y="205"/>
                        </a:lnTo>
                        <a:lnTo>
                          <a:pt x="61" y="211"/>
                        </a:lnTo>
                        <a:lnTo>
                          <a:pt x="75" y="216"/>
                        </a:lnTo>
                        <a:lnTo>
                          <a:pt x="221" y="199"/>
                        </a:lnTo>
                        <a:lnTo>
                          <a:pt x="135" y="40"/>
                        </a:lnTo>
                        <a:lnTo>
                          <a:pt x="30" y="61"/>
                        </a:lnTo>
                        <a:lnTo>
                          <a:pt x="39" y="48"/>
                        </a:lnTo>
                        <a:lnTo>
                          <a:pt x="141" y="20"/>
                        </a:lnTo>
                        <a:lnTo>
                          <a:pt x="156" y="0"/>
                        </a:lnTo>
                        <a:close/>
                      </a:path>
                    </a:pathLst>
                  </a:custGeom>
                  <a:solidFill>
                    <a:srgbClr val="C0C0C0"/>
                  </a:solidFill>
                  <a:ln w="9525">
                    <a:solidFill>
                      <a:schemeClr val="tx1"/>
                    </a:solidFill>
                    <a:round/>
                    <a:headEnd/>
                    <a:tailEnd/>
                  </a:ln>
                </p:spPr>
                <p:txBody>
                  <a:bodyPr/>
                  <a:lstStyle/>
                  <a:p>
                    <a:endParaRPr lang="sv-SE"/>
                  </a:p>
                </p:txBody>
              </p:sp>
              <p:sp>
                <p:nvSpPr>
                  <p:cNvPr id="20627" name="Freeform 115"/>
                  <p:cNvSpPr>
                    <a:spLocks/>
                  </p:cNvSpPr>
                  <p:nvPr/>
                </p:nvSpPr>
                <p:spPr bwMode="auto">
                  <a:xfrm>
                    <a:off x="3709" y="1952"/>
                    <a:ext cx="111" cy="161"/>
                  </a:xfrm>
                  <a:custGeom>
                    <a:avLst/>
                    <a:gdLst>
                      <a:gd name="T0" fmla="*/ 4 w 111"/>
                      <a:gd name="T1" fmla="*/ 0 h 161"/>
                      <a:gd name="T2" fmla="*/ 111 w 111"/>
                      <a:gd name="T3" fmla="*/ 132 h 161"/>
                      <a:gd name="T4" fmla="*/ 104 w 111"/>
                      <a:gd name="T5" fmla="*/ 144 h 161"/>
                      <a:gd name="T6" fmla="*/ 96 w 111"/>
                      <a:gd name="T7" fmla="*/ 156 h 161"/>
                      <a:gd name="T8" fmla="*/ 87 w 111"/>
                      <a:gd name="T9" fmla="*/ 161 h 161"/>
                      <a:gd name="T10" fmla="*/ 77 w 111"/>
                      <a:gd name="T11" fmla="*/ 160 h 161"/>
                      <a:gd name="T12" fmla="*/ 65 w 111"/>
                      <a:gd name="T13" fmla="*/ 152 h 161"/>
                      <a:gd name="T14" fmla="*/ 53 w 111"/>
                      <a:gd name="T15" fmla="*/ 143 h 161"/>
                      <a:gd name="T16" fmla="*/ 43 w 111"/>
                      <a:gd name="T17" fmla="*/ 133 h 161"/>
                      <a:gd name="T18" fmla="*/ 34 w 111"/>
                      <a:gd name="T19" fmla="*/ 121 h 161"/>
                      <a:gd name="T20" fmla="*/ 28 w 111"/>
                      <a:gd name="T21" fmla="*/ 111 h 161"/>
                      <a:gd name="T22" fmla="*/ 19 w 111"/>
                      <a:gd name="T23" fmla="*/ 97 h 161"/>
                      <a:gd name="T24" fmla="*/ 12 w 111"/>
                      <a:gd name="T25" fmla="*/ 83 h 161"/>
                      <a:gd name="T26" fmla="*/ 7 w 111"/>
                      <a:gd name="T27" fmla="*/ 67 h 161"/>
                      <a:gd name="T28" fmla="*/ 3 w 111"/>
                      <a:gd name="T29" fmla="*/ 49 h 161"/>
                      <a:gd name="T30" fmla="*/ 1 w 111"/>
                      <a:gd name="T31" fmla="*/ 35 h 161"/>
                      <a:gd name="T32" fmla="*/ 0 w 111"/>
                      <a:gd name="T33" fmla="*/ 22 h 161"/>
                      <a:gd name="T34" fmla="*/ 1 w 111"/>
                      <a:gd name="T35" fmla="*/ 10 h 161"/>
                      <a:gd name="T36" fmla="*/ 4 w 111"/>
                      <a:gd name="T37" fmla="*/ 0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1"/>
                      <a:gd name="T58" fmla="*/ 0 h 161"/>
                      <a:gd name="T59" fmla="*/ 111 w 111"/>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1" h="161">
                        <a:moveTo>
                          <a:pt x="4" y="0"/>
                        </a:moveTo>
                        <a:lnTo>
                          <a:pt x="111" y="132"/>
                        </a:lnTo>
                        <a:lnTo>
                          <a:pt x="104" y="144"/>
                        </a:lnTo>
                        <a:lnTo>
                          <a:pt x="96" y="156"/>
                        </a:lnTo>
                        <a:lnTo>
                          <a:pt x="87" y="161"/>
                        </a:lnTo>
                        <a:lnTo>
                          <a:pt x="77" y="160"/>
                        </a:lnTo>
                        <a:lnTo>
                          <a:pt x="65" y="152"/>
                        </a:lnTo>
                        <a:lnTo>
                          <a:pt x="53" y="143"/>
                        </a:lnTo>
                        <a:lnTo>
                          <a:pt x="43" y="133"/>
                        </a:lnTo>
                        <a:lnTo>
                          <a:pt x="34" y="121"/>
                        </a:lnTo>
                        <a:lnTo>
                          <a:pt x="28" y="111"/>
                        </a:lnTo>
                        <a:lnTo>
                          <a:pt x="19" y="97"/>
                        </a:lnTo>
                        <a:lnTo>
                          <a:pt x="12" y="83"/>
                        </a:lnTo>
                        <a:lnTo>
                          <a:pt x="7" y="67"/>
                        </a:lnTo>
                        <a:lnTo>
                          <a:pt x="3" y="49"/>
                        </a:lnTo>
                        <a:lnTo>
                          <a:pt x="1" y="35"/>
                        </a:lnTo>
                        <a:lnTo>
                          <a:pt x="0" y="22"/>
                        </a:lnTo>
                        <a:lnTo>
                          <a:pt x="1" y="10"/>
                        </a:lnTo>
                        <a:lnTo>
                          <a:pt x="4" y="0"/>
                        </a:lnTo>
                        <a:close/>
                      </a:path>
                    </a:pathLst>
                  </a:custGeom>
                  <a:solidFill>
                    <a:srgbClr val="9F9F9F"/>
                  </a:solidFill>
                  <a:ln w="9525">
                    <a:solidFill>
                      <a:schemeClr val="tx1"/>
                    </a:solidFill>
                    <a:round/>
                    <a:headEnd/>
                    <a:tailEnd/>
                  </a:ln>
                </p:spPr>
                <p:txBody>
                  <a:bodyPr/>
                  <a:lstStyle/>
                  <a:p>
                    <a:endParaRPr lang="sv-SE"/>
                  </a:p>
                </p:txBody>
              </p:sp>
              <p:sp>
                <p:nvSpPr>
                  <p:cNvPr id="20628" name="Freeform 116"/>
                  <p:cNvSpPr>
                    <a:spLocks/>
                  </p:cNvSpPr>
                  <p:nvPr/>
                </p:nvSpPr>
                <p:spPr bwMode="auto">
                  <a:xfrm>
                    <a:off x="3718" y="1910"/>
                    <a:ext cx="119" cy="160"/>
                  </a:xfrm>
                  <a:custGeom>
                    <a:avLst/>
                    <a:gdLst>
                      <a:gd name="T0" fmla="*/ 0 w 119"/>
                      <a:gd name="T1" fmla="*/ 22 h 160"/>
                      <a:gd name="T2" fmla="*/ 109 w 119"/>
                      <a:gd name="T3" fmla="*/ 160 h 160"/>
                      <a:gd name="T4" fmla="*/ 113 w 119"/>
                      <a:gd name="T5" fmla="*/ 147 h 160"/>
                      <a:gd name="T6" fmla="*/ 118 w 119"/>
                      <a:gd name="T7" fmla="*/ 126 h 160"/>
                      <a:gd name="T8" fmla="*/ 119 w 119"/>
                      <a:gd name="T9" fmla="*/ 111 h 160"/>
                      <a:gd name="T10" fmla="*/ 118 w 119"/>
                      <a:gd name="T11" fmla="*/ 97 h 160"/>
                      <a:gd name="T12" fmla="*/ 114 w 119"/>
                      <a:gd name="T13" fmla="*/ 78 h 160"/>
                      <a:gd name="T14" fmla="*/ 107 w 119"/>
                      <a:gd name="T15" fmla="*/ 63 h 160"/>
                      <a:gd name="T16" fmla="*/ 97 w 119"/>
                      <a:gd name="T17" fmla="*/ 47 h 160"/>
                      <a:gd name="T18" fmla="*/ 87 w 119"/>
                      <a:gd name="T19" fmla="*/ 33 h 160"/>
                      <a:gd name="T20" fmla="*/ 71 w 119"/>
                      <a:gd name="T21" fmla="*/ 19 h 160"/>
                      <a:gd name="T22" fmla="*/ 56 w 119"/>
                      <a:gd name="T23" fmla="*/ 10 h 160"/>
                      <a:gd name="T24" fmla="*/ 40 w 119"/>
                      <a:gd name="T25" fmla="*/ 2 h 160"/>
                      <a:gd name="T26" fmla="*/ 25 w 119"/>
                      <a:gd name="T27" fmla="*/ 0 h 160"/>
                      <a:gd name="T28" fmla="*/ 14 w 119"/>
                      <a:gd name="T29" fmla="*/ 3 h 160"/>
                      <a:gd name="T30" fmla="*/ 7 w 119"/>
                      <a:gd name="T31" fmla="*/ 12 h 160"/>
                      <a:gd name="T32" fmla="*/ 0 w 119"/>
                      <a:gd name="T33" fmla="*/ 22 h 16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9"/>
                      <a:gd name="T52" fmla="*/ 0 h 160"/>
                      <a:gd name="T53" fmla="*/ 119 w 119"/>
                      <a:gd name="T54" fmla="*/ 160 h 16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9" h="160">
                        <a:moveTo>
                          <a:pt x="0" y="22"/>
                        </a:moveTo>
                        <a:lnTo>
                          <a:pt x="109" y="160"/>
                        </a:lnTo>
                        <a:lnTo>
                          <a:pt x="113" y="147"/>
                        </a:lnTo>
                        <a:lnTo>
                          <a:pt x="118" y="126"/>
                        </a:lnTo>
                        <a:lnTo>
                          <a:pt x="119" y="111"/>
                        </a:lnTo>
                        <a:lnTo>
                          <a:pt x="118" y="97"/>
                        </a:lnTo>
                        <a:lnTo>
                          <a:pt x="114" y="78"/>
                        </a:lnTo>
                        <a:lnTo>
                          <a:pt x="107" y="63"/>
                        </a:lnTo>
                        <a:lnTo>
                          <a:pt x="97" y="47"/>
                        </a:lnTo>
                        <a:lnTo>
                          <a:pt x="87" y="33"/>
                        </a:lnTo>
                        <a:lnTo>
                          <a:pt x="71" y="19"/>
                        </a:lnTo>
                        <a:lnTo>
                          <a:pt x="56" y="10"/>
                        </a:lnTo>
                        <a:lnTo>
                          <a:pt x="40" y="2"/>
                        </a:lnTo>
                        <a:lnTo>
                          <a:pt x="25" y="0"/>
                        </a:lnTo>
                        <a:lnTo>
                          <a:pt x="14" y="3"/>
                        </a:lnTo>
                        <a:lnTo>
                          <a:pt x="7" y="12"/>
                        </a:lnTo>
                        <a:lnTo>
                          <a:pt x="0" y="22"/>
                        </a:lnTo>
                        <a:close/>
                      </a:path>
                    </a:pathLst>
                  </a:custGeom>
                  <a:solidFill>
                    <a:srgbClr val="9F9F9F"/>
                  </a:solidFill>
                  <a:ln w="9525">
                    <a:solidFill>
                      <a:schemeClr val="tx1"/>
                    </a:solidFill>
                    <a:round/>
                    <a:headEnd/>
                    <a:tailEnd/>
                  </a:ln>
                </p:spPr>
                <p:txBody>
                  <a:bodyPr/>
                  <a:lstStyle/>
                  <a:p>
                    <a:endParaRPr lang="sv-SE"/>
                  </a:p>
                </p:txBody>
              </p:sp>
              <p:sp>
                <p:nvSpPr>
                  <p:cNvPr id="20629" name="Freeform 117"/>
                  <p:cNvSpPr>
                    <a:spLocks/>
                  </p:cNvSpPr>
                  <p:nvPr/>
                </p:nvSpPr>
                <p:spPr bwMode="auto">
                  <a:xfrm>
                    <a:off x="2944" y="2168"/>
                    <a:ext cx="56" cy="53"/>
                  </a:xfrm>
                  <a:custGeom>
                    <a:avLst/>
                    <a:gdLst>
                      <a:gd name="T0" fmla="*/ 14 w 56"/>
                      <a:gd name="T1" fmla="*/ 53 h 53"/>
                      <a:gd name="T2" fmla="*/ 7 w 56"/>
                      <a:gd name="T3" fmla="*/ 50 h 53"/>
                      <a:gd name="T4" fmla="*/ 2 w 56"/>
                      <a:gd name="T5" fmla="*/ 46 h 53"/>
                      <a:gd name="T6" fmla="*/ 0 w 56"/>
                      <a:gd name="T7" fmla="*/ 40 h 53"/>
                      <a:gd name="T8" fmla="*/ 0 w 56"/>
                      <a:gd name="T9" fmla="*/ 33 h 53"/>
                      <a:gd name="T10" fmla="*/ 2 w 56"/>
                      <a:gd name="T11" fmla="*/ 24 h 53"/>
                      <a:gd name="T12" fmla="*/ 5 w 56"/>
                      <a:gd name="T13" fmla="*/ 19 h 53"/>
                      <a:gd name="T14" fmla="*/ 12 w 56"/>
                      <a:gd name="T15" fmla="*/ 14 h 53"/>
                      <a:gd name="T16" fmla="*/ 51 w 56"/>
                      <a:gd name="T17" fmla="*/ 0 h 53"/>
                      <a:gd name="T18" fmla="*/ 46 w 56"/>
                      <a:gd name="T19" fmla="*/ 6 h 53"/>
                      <a:gd name="T20" fmla="*/ 42 w 56"/>
                      <a:gd name="T21" fmla="*/ 13 h 53"/>
                      <a:gd name="T22" fmla="*/ 41 w 56"/>
                      <a:gd name="T23" fmla="*/ 21 h 53"/>
                      <a:gd name="T24" fmla="*/ 40 w 56"/>
                      <a:gd name="T25" fmla="*/ 27 h 53"/>
                      <a:gd name="T26" fmla="*/ 42 w 56"/>
                      <a:gd name="T27" fmla="*/ 36 h 53"/>
                      <a:gd name="T28" fmla="*/ 48 w 56"/>
                      <a:gd name="T29" fmla="*/ 42 h 53"/>
                      <a:gd name="T30" fmla="*/ 56 w 56"/>
                      <a:gd name="T31" fmla="*/ 47 h 53"/>
                      <a:gd name="T32" fmla="*/ 14 w 56"/>
                      <a:gd name="T33" fmla="*/ 53 h 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6"/>
                      <a:gd name="T52" fmla="*/ 0 h 53"/>
                      <a:gd name="T53" fmla="*/ 56 w 56"/>
                      <a:gd name="T54" fmla="*/ 53 h 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6" h="53">
                        <a:moveTo>
                          <a:pt x="14" y="53"/>
                        </a:moveTo>
                        <a:lnTo>
                          <a:pt x="7" y="50"/>
                        </a:lnTo>
                        <a:lnTo>
                          <a:pt x="2" y="46"/>
                        </a:lnTo>
                        <a:lnTo>
                          <a:pt x="0" y="40"/>
                        </a:lnTo>
                        <a:lnTo>
                          <a:pt x="0" y="33"/>
                        </a:lnTo>
                        <a:lnTo>
                          <a:pt x="2" y="24"/>
                        </a:lnTo>
                        <a:lnTo>
                          <a:pt x="5" y="19"/>
                        </a:lnTo>
                        <a:lnTo>
                          <a:pt x="12" y="14"/>
                        </a:lnTo>
                        <a:lnTo>
                          <a:pt x="51" y="0"/>
                        </a:lnTo>
                        <a:lnTo>
                          <a:pt x="46" y="6"/>
                        </a:lnTo>
                        <a:lnTo>
                          <a:pt x="42" y="13"/>
                        </a:lnTo>
                        <a:lnTo>
                          <a:pt x="41" y="21"/>
                        </a:lnTo>
                        <a:lnTo>
                          <a:pt x="40" y="27"/>
                        </a:lnTo>
                        <a:lnTo>
                          <a:pt x="42" y="36"/>
                        </a:lnTo>
                        <a:lnTo>
                          <a:pt x="48" y="42"/>
                        </a:lnTo>
                        <a:lnTo>
                          <a:pt x="56" y="47"/>
                        </a:lnTo>
                        <a:lnTo>
                          <a:pt x="14" y="53"/>
                        </a:lnTo>
                        <a:close/>
                      </a:path>
                    </a:pathLst>
                  </a:custGeom>
                  <a:solidFill>
                    <a:srgbClr val="FFFF00"/>
                  </a:solidFill>
                  <a:ln w="9525">
                    <a:solidFill>
                      <a:schemeClr val="tx1"/>
                    </a:solidFill>
                    <a:round/>
                    <a:headEnd/>
                    <a:tailEnd/>
                  </a:ln>
                </p:spPr>
                <p:txBody>
                  <a:bodyPr/>
                  <a:lstStyle/>
                  <a:p>
                    <a:endParaRPr lang="sv-SE"/>
                  </a:p>
                </p:txBody>
              </p:sp>
            </p:grpSp>
            <p:grpSp>
              <p:nvGrpSpPr>
                <p:cNvPr id="29" name="Group 118"/>
                <p:cNvGrpSpPr>
                  <a:grpSpLocks/>
                </p:cNvGrpSpPr>
                <p:nvPr/>
              </p:nvGrpSpPr>
              <p:grpSpPr bwMode="auto">
                <a:xfrm>
                  <a:off x="3320" y="1764"/>
                  <a:ext cx="534" cy="465"/>
                  <a:chOff x="3320" y="1764"/>
                  <a:chExt cx="534" cy="465"/>
                </a:xfrm>
              </p:grpSpPr>
              <p:sp>
                <p:nvSpPr>
                  <p:cNvPr id="20620" name="Freeform 119"/>
                  <p:cNvSpPr>
                    <a:spLocks/>
                  </p:cNvSpPr>
                  <p:nvPr/>
                </p:nvSpPr>
                <p:spPr bwMode="auto">
                  <a:xfrm>
                    <a:off x="3322" y="2100"/>
                    <a:ext cx="532" cy="129"/>
                  </a:xfrm>
                  <a:custGeom>
                    <a:avLst/>
                    <a:gdLst>
                      <a:gd name="T0" fmla="*/ 0 w 532"/>
                      <a:gd name="T1" fmla="*/ 39 h 129"/>
                      <a:gd name="T2" fmla="*/ 368 w 532"/>
                      <a:gd name="T3" fmla="*/ 0 h 129"/>
                      <a:gd name="T4" fmla="*/ 532 w 532"/>
                      <a:gd name="T5" fmla="*/ 125 h 129"/>
                      <a:gd name="T6" fmla="*/ 424 w 532"/>
                      <a:gd name="T7" fmla="*/ 118 h 129"/>
                      <a:gd name="T8" fmla="*/ 397 w 532"/>
                      <a:gd name="T9" fmla="*/ 112 h 129"/>
                      <a:gd name="T10" fmla="*/ 414 w 532"/>
                      <a:gd name="T11" fmla="*/ 129 h 129"/>
                      <a:gd name="T12" fmla="*/ 304 w 532"/>
                      <a:gd name="T13" fmla="*/ 118 h 129"/>
                      <a:gd name="T14" fmla="*/ 269 w 532"/>
                      <a:gd name="T15" fmla="*/ 106 h 129"/>
                      <a:gd name="T16" fmla="*/ 286 w 532"/>
                      <a:gd name="T17" fmla="*/ 123 h 129"/>
                      <a:gd name="T18" fmla="*/ 135 w 532"/>
                      <a:gd name="T19" fmla="*/ 106 h 129"/>
                      <a:gd name="T20" fmla="*/ 0 w 532"/>
                      <a:gd name="T21" fmla="*/ 39 h 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2"/>
                      <a:gd name="T34" fmla="*/ 0 h 129"/>
                      <a:gd name="T35" fmla="*/ 532 w 532"/>
                      <a:gd name="T36" fmla="*/ 129 h 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2" h="129">
                        <a:moveTo>
                          <a:pt x="0" y="39"/>
                        </a:moveTo>
                        <a:lnTo>
                          <a:pt x="368" y="0"/>
                        </a:lnTo>
                        <a:lnTo>
                          <a:pt x="532" y="125"/>
                        </a:lnTo>
                        <a:lnTo>
                          <a:pt x="424" y="118"/>
                        </a:lnTo>
                        <a:lnTo>
                          <a:pt x="397" y="112"/>
                        </a:lnTo>
                        <a:lnTo>
                          <a:pt x="414" y="129"/>
                        </a:lnTo>
                        <a:lnTo>
                          <a:pt x="304" y="118"/>
                        </a:lnTo>
                        <a:lnTo>
                          <a:pt x="269" y="106"/>
                        </a:lnTo>
                        <a:lnTo>
                          <a:pt x="286" y="123"/>
                        </a:lnTo>
                        <a:lnTo>
                          <a:pt x="135" y="106"/>
                        </a:lnTo>
                        <a:lnTo>
                          <a:pt x="0" y="39"/>
                        </a:lnTo>
                        <a:close/>
                      </a:path>
                    </a:pathLst>
                  </a:custGeom>
                  <a:solidFill>
                    <a:srgbClr val="FFFF00"/>
                  </a:solidFill>
                  <a:ln w="9525">
                    <a:solidFill>
                      <a:schemeClr val="tx1"/>
                    </a:solidFill>
                    <a:round/>
                    <a:headEnd/>
                    <a:tailEnd/>
                  </a:ln>
                </p:spPr>
                <p:txBody>
                  <a:bodyPr/>
                  <a:lstStyle/>
                  <a:p>
                    <a:endParaRPr lang="sv-SE"/>
                  </a:p>
                </p:txBody>
              </p:sp>
              <p:sp>
                <p:nvSpPr>
                  <p:cNvPr id="20621" name="Freeform 120"/>
                  <p:cNvSpPr>
                    <a:spLocks/>
                  </p:cNvSpPr>
                  <p:nvPr/>
                </p:nvSpPr>
                <p:spPr bwMode="auto">
                  <a:xfrm>
                    <a:off x="3325" y="1990"/>
                    <a:ext cx="340" cy="107"/>
                  </a:xfrm>
                  <a:custGeom>
                    <a:avLst/>
                    <a:gdLst>
                      <a:gd name="T0" fmla="*/ 44 w 340"/>
                      <a:gd name="T1" fmla="*/ 81 h 107"/>
                      <a:gd name="T2" fmla="*/ 340 w 340"/>
                      <a:gd name="T3" fmla="*/ 0 h 107"/>
                      <a:gd name="T4" fmla="*/ 254 w 340"/>
                      <a:gd name="T5" fmla="*/ 49 h 107"/>
                      <a:gd name="T6" fmla="*/ 0 w 340"/>
                      <a:gd name="T7" fmla="*/ 107 h 107"/>
                      <a:gd name="T8" fmla="*/ 44 w 340"/>
                      <a:gd name="T9" fmla="*/ 81 h 107"/>
                      <a:gd name="T10" fmla="*/ 0 60000 65536"/>
                      <a:gd name="T11" fmla="*/ 0 60000 65536"/>
                      <a:gd name="T12" fmla="*/ 0 60000 65536"/>
                      <a:gd name="T13" fmla="*/ 0 60000 65536"/>
                      <a:gd name="T14" fmla="*/ 0 60000 65536"/>
                      <a:gd name="T15" fmla="*/ 0 w 340"/>
                      <a:gd name="T16" fmla="*/ 0 h 107"/>
                      <a:gd name="T17" fmla="*/ 340 w 340"/>
                      <a:gd name="T18" fmla="*/ 107 h 107"/>
                    </a:gdLst>
                    <a:ahLst/>
                    <a:cxnLst>
                      <a:cxn ang="T10">
                        <a:pos x="T0" y="T1"/>
                      </a:cxn>
                      <a:cxn ang="T11">
                        <a:pos x="T2" y="T3"/>
                      </a:cxn>
                      <a:cxn ang="T12">
                        <a:pos x="T4" y="T5"/>
                      </a:cxn>
                      <a:cxn ang="T13">
                        <a:pos x="T6" y="T7"/>
                      </a:cxn>
                      <a:cxn ang="T14">
                        <a:pos x="T8" y="T9"/>
                      </a:cxn>
                    </a:cxnLst>
                    <a:rect l="T15" t="T16" r="T17" b="T18"/>
                    <a:pathLst>
                      <a:path w="340" h="107">
                        <a:moveTo>
                          <a:pt x="44" y="81"/>
                        </a:moveTo>
                        <a:lnTo>
                          <a:pt x="340" y="0"/>
                        </a:lnTo>
                        <a:lnTo>
                          <a:pt x="254" y="49"/>
                        </a:lnTo>
                        <a:lnTo>
                          <a:pt x="0" y="107"/>
                        </a:lnTo>
                        <a:lnTo>
                          <a:pt x="44" y="81"/>
                        </a:lnTo>
                        <a:close/>
                      </a:path>
                    </a:pathLst>
                  </a:custGeom>
                  <a:solidFill>
                    <a:srgbClr val="FFFF00"/>
                  </a:solidFill>
                  <a:ln w="9525">
                    <a:solidFill>
                      <a:schemeClr val="tx1"/>
                    </a:solidFill>
                    <a:round/>
                    <a:headEnd/>
                    <a:tailEnd/>
                  </a:ln>
                </p:spPr>
                <p:txBody>
                  <a:bodyPr/>
                  <a:lstStyle/>
                  <a:p>
                    <a:endParaRPr lang="sv-SE"/>
                  </a:p>
                </p:txBody>
              </p:sp>
              <p:sp>
                <p:nvSpPr>
                  <p:cNvPr id="20622" name="Freeform 121"/>
                  <p:cNvSpPr>
                    <a:spLocks/>
                  </p:cNvSpPr>
                  <p:nvPr/>
                </p:nvSpPr>
                <p:spPr bwMode="auto">
                  <a:xfrm>
                    <a:off x="3320" y="1764"/>
                    <a:ext cx="440" cy="305"/>
                  </a:xfrm>
                  <a:custGeom>
                    <a:avLst/>
                    <a:gdLst>
                      <a:gd name="T0" fmla="*/ 0 w 440"/>
                      <a:gd name="T1" fmla="*/ 305 h 305"/>
                      <a:gd name="T2" fmla="*/ 316 w 440"/>
                      <a:gd name="T3" fmla="*/ 196 h 305"/>
                      <a:gd name="T4" fmla="*/ 440 w 440"/>
                      <a:gd name="T5" fmla="*/ 0 h 305"/>
                      <a:gd name="T6" fmla="*/ 343 w 440"/>
                      <a:gd name="T7" fmla="*/ 59 h 305"/>
                      <a:gd name="T8" fmla="*/ 321 w 440"/>
                      <a:gd name="T9" fmla="*/ 80 h 305"/>
                      <a:gd name="T10" fmla="*/ 321 w 440"/>
                      <a:gd name="T11" fmla="*/ 58 h 305"/>
                      <a:gd name="T12" fmla="*/ 211 w 440"/>
                      <a:gd name="T13" fmla="*/ 141 h 305"/>
                      <a:gd name="T14" fmla="*/ 218 w 440"/>
                      <a:gd name="T15" fmla="*/ 117 h 305"/>
                      <a:gd name="T16" fmla="*/ 99 w 440"/>
                      <a:gd name="T17" fmla="*/ 192 h 305"/>
                      <a:gd name="T18" fmla="*/ 0 w 440"/>
                      <a:gd name="T19" fmla="*/ 305 h 3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0"/>
                      <a:gd name="T31" fmla="*/ 0 h 305"/>
                      <a:gd name="T32" fmla="*/ 440 w 440"/>
                      <a:gd name="T33" fmla="*/ 305 h 30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0" h="305">
                        <a:moveTo>
                          <a:pt x="0" y="305"/>
                        </a:moveTo>
                        <a:lnTo>
                          <a:pt x="316" y="196"/>
                        </a:lnTo>
                        <a:lnTo>
                          <a:pt x="440" y="0"/>
                        </a:lnTo>
                        <a:lnTo>
                          <a:pt x="343" y="59"/>
                        </a:lnTo>
                        <a:lnTo>
                          <a:pt x="321" y="80"/>
                        </a:lnTo>
                        <a:lnTo>
                          <a:pt x="321" y="58"/>
                        </a:lnTo>
                        <a:lnTo>
                          <a:pt x="211" y="141"/>
                        </a:lnTo>
                        <a:lnTo>
                          <a:pt x="218" y="117"/>
                        </a:lnTo>
                        <a:lnTo>
                          <a:pt x="99" y="192"/>
                        </a:lnTo>
                        <a:lnTo>
                          <a:pt x="0" y="305"/>
                        </a:lnTo>
                        <a:close/>
                      </a:path>
                    </a:pathLst>
                  </a:custGeom>
                  <a:solidFill>
                    <a:srgbClr val="FFFF00"/>
                  </a:solidFill>
                  <a:ln w="9525">
                    <a:solidFill>
                      <a:schemeClr val="tx1"/>
                    </a:solidFill>
                    <a:round/>
                    <a:headEnd/>
                    <a:tailEnd/>
                  </a:ln>
                </p:spPr>
                <p:txBody>
                  <a:bodyPr/>
                  <a:lstStyle/>
                  <a:p>
                    <a:endParaRPr lang="sv-SE"/>
                  </a:p>
                </p:txBody>
              </p:sp>
            </p:grpSp>
          </p:grpSp>
          <p:sp>
            <p:nvSpPr>
              <p:cNvPr id="20616" name="Freeform 122"/>
              <p:cNvSpPr>
                <a:spLocks/>
              </p:cNvSpPr>
              <p:nvPr/>
            </p:nvSpPr>
            <p:spPr bwMode="auto">
              <a:xfrm>
                <a:off x="3205" y="2051"/>
                <a:ext cx="148" cy="133"/>
              </a:xfrm>
              <a:custGeom>
                <a:avLst/>
                <a:gdLst>
                  <a:gd name="T0" fmla="*/ 131 w 148"/>
                  <a:gd name="T1" fmla="*/ 0 h 133"/>
                  <a:gd name="T2" fmla="*/ 122 w 148"/>
                  <a:gd name="T3" fmla="*/ 10 h 133"/>
                  <a:gd name="T4" fmla="*/ 112 w 148"/>
                  <a:gd name="T5" fmla="*/ 25 h 133"/>
                  <a:gd name="T6" fmla="*/ 108 w 148"/>
                  <a:gd name="T7" fmla="*/ 37 h 133"/>
                  <a:gd name="T8" fmla="*/ 104 w 148"/>
                  <a:gd name="T9" fmla="*/ 52 h 133"/>
                  <a:gd name="T10" fmla="*/ 104 w 148"/>
                  <a:gd name="T11" fmla="*/ 66 h 133"/>
                  <a:gd name="T12" fmla="*/ 108 w 148"/>
                  <a:gd name="T13" fmla="*/ 80 h 133"/>
                  <a:gd name="T14" fmla="*/ 114 w 148"/>
                  <a:gd name="T15" fmla="*/ 92 h 133"/>
                  <a:gd name="T16" fmla="*/ 125 w 148"/>
                  <a:gd name="T17" fmla="*/ 102 h 133"/>
                  <a:gd name="T18" fmla="*/ 137 w 148"/>
                  <a:gd name="T19" fmla="*/ 109 h 133"/>
                  <a:gd name="T20" fmla="*/ 148 w 148"/>
                  <a:gd name="T21" fmla="*/ 117 h 133"/>
                  <a:gd name="T22" fmla="*/ 36 w 148"/>
                  <a:gd name="T23" fmla="*/ 133 h 133"/>
                  <a:gd name="T24" fmla="*/ 24 w 148"/>
                  <a:gd name="T25" fmla="*/ 127 h 133"/>
                  <a:gd name="T26" fmla="*/ 14 w 148"/>
                  <a:gd name="T27" fmla="*/ 120 h 133"/>
                  <a:gd name="T28" fmla="*/ 7 w 148"/>
                  <a:gd name="T29" fmla="*/ 111 h 133"/>
                  <a:gd name="T30" fmla="*/ 3 w 148"/>
                  <a:gd name="T31" fmla="*/ 103 h 133"/>
                  <a:gd name="T32" fmla="*/ 0 w 148"/>
                  <a:gd name="T33" fmla="*/ 93 h 133"/>
                  <a:gd name="T34" fmla="*/ 0 w 148"/>
                  <a:gd name="T35" fmla="*/ 80 h 133"/>
                  <a:gd name="T36" fmla="*/ 3 w 148"/>
                  <a:gd name="T37" fmla="*/ 69 h 133"/>
                  <a:gd name="T38" fmla="*/ 6 w 148"/>
                  <a:gd name="T39" fmla="*/ 58 h 133"/>
                  <a:gd name="T40" fmla="*/ 10 w 148"/>
                  <a:gd name="T41" fmla="*/ 50 h 133"/>
                  <a:gd name="T42" fmla="*/ 16 w 148"/>
                  <a:gd name="T43" fmla="*/ 41 h 133"/>
                  <a:gd name="T44" fmla="*/ 21 w 148"/>
                  <a:gd name="T45" fmla="*/ 37 h 133"/>
                  <a:gd name="T46" fmla="*/ 131 w 148"/>
                  <a:gd name="T47" fmla="*/ 0 h 13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8"/>
                  <a:gd name="T73" fmla="*/ 0 h 133"/>
                  <a:gd name="T74" fmla="*/ 148 w 148"/>
                  <a:gd name="T75" fmla="*/ 133 h 13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8" h="133">
                    <a:moveTo>
                      <a:pt x="131" y="0"/>
                    </a:moveTo>
                    <a:lnTo>
                      <a:pt x="122" y="10"/>
                    </a:lnTo>
                    <a:lnTo>
                      <a:pt x="112" y="25"/>
                    </a:lnTo>
                    <a:lnTo>
                      <a:pt x="108" y="37"/>
                    </a:lnTo>
                    <a:lnTo>
                      <a:pt x="104" y="52"/>
                    </a:lnTo>
                    <a:lnTo>
                      <a:pt x="104" y="66"/>
                    </a:lnTo>
                    <a:lnTo>
                      <a:pt x="108" y="80"/>
                    </a:lnTo>
                    <a:lnTo>
                      <a:pt x="114" y="92"/>
                    </a:lnTo>
                    <a:lnTo>
                      <a:pt x="125" y="102"/>
                    </a:lnTo>
                    <a:lnTo>
                      <a:pt x="137" y="109"/>
                    </a:lnTo>
                    <a:lnTo>
                      <a:pt x="148" y="117"/>
                    </a:lnTo>
                    <a:lnTo>
                      <a:pt x="36" y="133"/>
                    </a:lnTo>
                    <a:lnTo>
                      <a:pt x="24" y="127"/>
                    </a:lnTo>
                    <a:lnTo>
                      <a:pt x="14" y="120"/>
                    </a:lnTo>
                    <a:lnTo>
                      <a:pt x="7" y="111"/>
                    </a:lnTo>
                    <a:lnTo>
                      <a:pt x="3" y="103"/>
                    </a:lnTo>
                    <a:lnTo>
                      <a:pt x="0" y="93"/>
                    </a:lnTo>
                    <a:lnTo>
                      <a:pt x="0" y="80"/>
                    </a:lnTo>
                    <a:lnTo>
                      <a:pt x="3" y="69"/>
                    </a:lnTo>
                    <a:lnTo>
                      <a:pt x="6" y="58"/>
                    </a:lnTo>
                    <a:lnTo>
                      <a:pt x="10" y="50"/>
                    </a:lnTo>
                    <a:lnTo>
                      <a:pt x="16" y="41"/>
                    </a:lnTo>
                    <a:lnTo>
                      <a:pt x="21" y="37"/>
                    </a:lnTo>
                    <a:lnTo>
                      <a:pt x="131" y="0"/>
                    </a:lnTo>
                    <a:close/>
                  </a:path>
                </a:pathLst>
              </a:custGeom>
              <a:solidFill>
                <a:srgbClr val="FFFF00"/>
              </a:solidFill>
              <a:ln w="9525">
                <a:solidFill>
                  <a:schemeClr val="tx1"/>
                </a:solidFill>
                <a:round/>
                <a:headEnd/>
                <a:tailEnd/>
              </a:ln>
            </p:spPr>
            <p:txBody>
              <a:bodyPr/>
              <a:lstStyle/>
              <a:p>
                <a:endParaRPr lang="sv-SE"/>
              </a:p>
            </p:txBody>
          </p:sp>
          <p:sp>
            <p:nvSpPr>
              <p:cNvPr id="20617" name="Freeform 123"/>
              <p:cNvSpPr>
                <a:spLocks/>
              </p:cNvSpPr>
              <p:nvPr/>
            </p:nvSpPr>
            <p:spPr bwMode="auto">
              <a:xfrm>
                <a:off x="3233" y="2071"/>
                <a:ext cx="62" cy="108"/>
              </a:xfrm>
              <a:custGeom>
                <a:avLst/>
                <a:gdLst>
                  <a:gd name="T0" fmla="*/ 41 w 62"/>
                  <a:gd name="T1" fmla="*/ 0 h 108"/>
                  <a:gd name="T2" fmla="*/ 34 w 62"/>
                  <a:gd name="T3" fmla="*/ 15 h 108"/>
                  <a:gd name="T4" fmla="*/ 28 w 62"/>
                  <a:gd name="T5" fmla="*/ 27 h 108"/>
                  <a:gd name="T6" fmla="*/ 23 w 62"/>
                  <a:gd name="T7" fmla="*/ 41 h 108"/>
                  <a:gd name="T8" fmla="*/ 20 w 62"/>
                  <a:gd name="T9" fmla="*/ 55 h 108"/>
                  <a:gd name="T10" fmla="*/ 23 w 62"/>
                  <a:gd name="T11" fmla="*/ 70 h 108"/>
                  <a:gd name="T12" fmla="*/ 29 w 62"/>
                  <a:gd name="T13" fmla="*/ 80 h 108"/>
                  <a:gd name="T14" fmla="*/ 38 w 62"/>
                  <a:gd name="T15" fmla="*/ 88 h 108"/>
                  <a:gd name="T16" fmla="*/ 47 w 62"/>
                  <a:gd name="T17" fmla="*/ 96 h 108"/>
                  <a:gd name="T18" fmla="*/ 62 w 62"/>
                  <a:gd name="T19" fmla="*/ 106 h 108"/>
                  <a:gd name="T20" fmla="*/ 41 w 62"/>
                  <a:gd name="T21" fmla="*/ 108 h 108"/>
                  <a:gd name="T22" fmla="*/ 32 w 62"/>
                  <a:gd name="T23" fmla="*/ 105 h 108"/>
                  <a:gd name="T24" fmla="*/ 23 w 62"/>
                  <a:gd name="T25" fmla="*/ 100 h 108"/>
                  <a:gd name="T26" fmla="*/ 14 w 62"/>
                  <a:gd name="T27" fmla="*/ 93 h 108"/>
                  <a:gd name="T28" fmla="*/ 8 w 62"/>
                  <a:gd name="T29" fmla="*/ 85 h 108"/>
                  <a:gd name="T30" fmla="*/ 3 w 62"/>
                  <a:gd name="T31" fmla="*/ 77 h 108"/>
                  <a:gd name="T32" fmla="*/ 0 w 62"/>
                  <a:gd name="T33" fmla="*/ 66 h 108"/>
                  <a:gd name="T34" fmla="*/ 0 w 62"/>
                  <a:gd name="T35" fmla="*/ 54 h 108"/>
                  <a:gd name="T36" fmla="*/ 3 w 62"/>
                  <a:gd name="T37" fmla="*/ 42 h 108"/>
                  <a:gd name="T38" fmla="*/ 7 w 62"/>
                  <a:gd name="T39" fmla="*/ 31 h 108"/>
                  <a:gd name="T40" fmla="*/ 11 w 62"/>
                  <a:gd name="T41" fmla="*/ 24 h 108"/>
                  <a:gd name="T42" fmla="*/ 16 w 62"/>
                  <a:gd name="T43" fmla="*/ 16 h 108"/>
                  <a:gd name="T44" fmla="*/ 22 w 62"/>
                  <a:gd name="T45" fmla="*/ 7 h 108"/>
                  <a:gd name="T46" fmla="*/ 41 w 62"/>
                  <a:gd name="T47" fmla="*/ 0 h 1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2"/>
                  <a:gd name="T73" fmla="*/ 0 h 108"/>
                  <a:gd name="T74" fmla="*/ 62 w 62"/>
                  <a:gd name="T75" fmla="*/ 108 h 10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2" h="108">
                    <a:moveTo>
                      <a:pt x="41" y="0"/>
                    </a:moveTo>
                    <a:lnTo>
                      <a:pt x="34" y="15"/>
                    </a:lnTo>
                    <a:lnTo>
                      <a:pt x="28" y="27"/>
                    </a:lnTo>
                    <a:lnTo>
                      <a:pt x="23" y="41"/>
                    </a:lnTo>
                    <a:lnTo>
                      <a:pt x="20" y="55"/>
                    </a:lnTo>
                    <a:lnTo>
                      <a:pt x="23" y="70"/>
                    </a:lnTo>
                    <a:lnTo>
                      <a:pt x="29" y="80"/>
                    </a:lnTo>
                    <a:lnTo>
                      <a:pt x="38" y="88"/>
                    </a:lnTo>
                    <a:lnTo>
                      <a:pt x="47" y="96"/>
                    </a:lnTo>
                    <a:lnTo>
                      <a:pt x="62" y="106"/>
                    </a:lnTo>
                    <a:lnTo>
                      <a:pt x="41" y="108"/>
                    </a:lnTo>
                    <a:lnTo>
                      <a:pt x="32" y="105"/>
                    </a:lnTo>
                    <a:lnTo>
                      <a:pt x="23" y="100"/>
                    </a:lnTo>
                    <a:lnTo>
                      <a:pt x="14" y="93"/>
                    </a:lnTo>
                    <a:lnTo>
                      <a:pt x="8" y="85"/>
                    </a:lnTo>
                    <a:lnTo>
                      <a:pt x="3" y="77"/>
                    </a:lnTo>
                    <a:lnTo>
                      <a:pt x="0" y="66"/>
                    </a:lnTo>
                    <a:lnTo>
                      <a:pt x="0" y="54"/>
                    </a:lnTo>
                    <a:lnTo>
                      <a:pt x="3" y="42"/>
                    </a:lnTo>
                    <a:lnTo>
                      <a:pt x="7" y="31"/>
                    </a:lnTo>
                    <a:lnTo>
                      <a:pt x="11" y="24"/>
                    </a:lnTo>
                    <a:lnTo>
                      <a:pt x="16" y="16"/>
                    </a:lnTo>
                    <a:lnTo>
                      <a:pt x="22" y="7"/>
                    </a:lnTo>
                    <a:lnTo>
                      <a:pt x="41" y="0"/>
                    </a:lnTo>
                    <a:close/>
                  </a:path>
                </a:pathLst>
              </a:custGeom>
              <a:solidFill>
                <a:srgbClr val="FF0000"/>
              </a:solidFill>
              <a:ln w="9525">
                <a:solidFill>
                  <a:schemeClr val="tx1"/>
                </a:solidFill>
                <a:round/>
                <a:headEnd/>
                <a:tailEnd/>
              </a:ln>
            </p:spPr>
            <p:txBody>
              <a:bodyPr/>
              <a:lstStyle/>
              <a:p>
                <a:endParaRPr lang="sv-SE"/>
              </a:p>
            </p:txBody>
          </p:sp>
        </p:grpSp>
      </p:grpSp>
      <p:grpSp>
        <p:nvGrpSpPr>
          <p:cNvPr id="30" name="Group 124"/>
          <p:cNvGrpSpPr>
            <a:grpSpLocks/>
          </p:cNvGrpSpPr>
          <p:nvPr/>
        </p:nvGrpSpPr>
        <p:grpSpPr bwMode="auto">
          <a:xfrm>
            <a:off x="6251575" y="1528763"/>
            <a:ext cx="1860550" cy="1797050"/>
            <a:chOff x="1785" y="1065"/>
            <a:chExt cx="2190" cy="2190"/>
          </a:xfrm>
        </p:grpSpPr>
        <p:grpSp>
          <p:nvGrpSpPr>
            <p:cNvPr id="31" name="Group 125"/>
            <p:cNvGrpSpPr>
              <a:grpSpLocks/>
            </p:cNvGrpSpPr>
            <p:nvPr/>
          </p:nvGrpSpPr>
          <p:grpSpPr bwMode="auto">
            <a:xfrm>
              <a:off x="1785" y="1065"/>
              <a:ext cx="2190" cy="2190"/>
              <a:chOff x="1785" y="1065"/>
              <a:chExt cx="2190" cy="2190"/>
            </a:xfrm>
          </p:grpSpPr>
          <p:grpSp>
            <p:nvGrpSpPr>
              <p:cNvPr id="20611" name="Group 126"/>
              <p:cNvGrpSpPr>
                <a:grpSpLocks/>
              </p:cNvGrpSpPr>
              <p:nvPr/>
            </p:nvGrpSpPr>
            <p:grpSpPr bwMode="auto">
              <a:xfrm>
                <a:off x="1785" y="1065"/>
                <a:ext cx="2190" cy="2190"/>
                <a:chOff x="1785" y="1065"/>
                <a:chExt cx="2190" cy="2190"/>
              </a:xfrm>
            </p:grpSpPr>
            <p:grpSp>
              <p:nvGrpSpPr>
                <p:cNvPr id="20612" name="Group 127"/>
                <p:cNvGrpSpPr>
                  <a:grpSpLocks/>
                </p:cNvGrpSpPr>
                <p:nvPr/>
              </p:nvGrpSpPr>
              <p:grpSpPr bwMode="auto">
                <a:xfrm>
                  <a:off x="1785" y="1065"/>
                  <a:ext cx="2190" cy="2190"/>
                  <a:chOff x="1785" y="1065"/>
                  <a:chExt cx="2190" cy="2190"/>
                </a:xfrm>
              </p:grpSpPr>
              <p:grpSp>
                <p:nvGrpSpPr>
                  <p:cNvPr id="20613" name="Group 128"/>
                  <p:cNvGrpSpPr>
                    <a:grpSpLocks/>
                  </p:cNvGrpSpPr>
                  <p:nvPr/>
                </p:nvGrpSpPr>
                <p:grpSpPr bwMode="auto">
                  <a:xfrm>
                    <a:off x="1785" y="1065"/>
                    <a:ext cx="2190" cy="2190"/>
                    <a:chOff x="1785" y="1065"/>
                    <a:chExt cx="2190" cy="2190"/>
                  </a:xfrm>
                </p:grpSpPr>
                <p:sp>
                  <p:nvSpPr>
                    <p:cNvPr id="20609" name="Oval 129"/>
                    <p:cNvSpPr>
                      <a:spLocks noChangeArrowheads="1"/>
                    </p:cNvSpPr>
                    <p:nvPr/>
                  </p:nvSpPr>
                  <p:spPr bwMode="auto">
                    <a:xfrm>
                      <a:off x="1785" y="1065"/>
                      <a:ext cx="2190" cy="2190"/>
                    </a:xfrm>
                    <a:prstGeom prst="ellipse">
                      <a:avLst/>
                    </a:prstGeom>
                    <a:solidFill>
                      <a:srgbClr val="FF0000"/>
                    </a:solidFill>
                    <a:ln w="9525">
                      <a:solidFill>
                        <a:schemeClr val="tx1"/>
                      </a:solidFill>
                      <a:round/>
                      <a:headEnd/>
                      <a:tailEnd/>
                    </a:ln>
                  </p:spPr>
                  <p:txBody>
                    <a:bodyPr/>
                    <a:lstStyle/>
                    <a:p>
                      <a:endParaRPr lang="en-US"/>
                    </a:p>
                  </p:txBody>
                </p:sp>
                <p:sp>
                  <p:nvSpPr>
                    <p:cNvPr id="20610" name="Oval 130"/>
                    <p:cNvSpPr>
                      <a:spLocks noChangeArrowheads="1"/>
                    </p:cNvSpPr>
                    <p:nvPr/>
                  </p:nvSpPr>
                  <p:spPr bwMode="auto">
                    <a:xfrm>
                      <a:off x="2017" y="1286"/>
                      <a:ext cx="1724" cy="1740"/>
                    </a:xfrm>
                    <a:prstGeom prst="ellipse">
                      <a:avLst/>
                    </a:prstGeom>
                    <a:solidFill>
                      <a:srgbClr val="FFFFFF"/>
                    </a:solidFill>
                    <a:ln w="9525">
                      <a:solidFill>
                        <a:schemeClr val="tx1"/>
                      </a:solidFill>
                      <a:round/>
                      <a:headEnd/>
                      <a:tailEnd/>
                    </a:ln>
                  </p:spPr>
                  <p:txBody>
                    <a:bodyPr/>
                    <a:lstStyle/>
                    <a:p>
                      <a:endParaRPr lang="en-US"/>
                    </a:p>
                  </p:txBody>
                </p:sp>
              </p:grpSp>
              <p:sp>
                <p:nvSpPr>
                  <p:cNvPr id="20608" name="Oval 131"/>
                  <p:cNvSpPr>
                    <a:spLocks noChangeArrowheads="1"/>
                  </p:cNvSpPr>
                  <p:nvPr/>
                </p:nvSpPr>
                <p:spPr bwMode="auto">
                  <a:xfrm>
                    <a:off x="2250" y="1522"/>
                    <a:ext cx="1258" cy="1268"/>
                  </a:xfrm>
                  <a:prstGeom prst="ellipse">
                    <a:avLst/>
                  </a:prstGeom>
                  <a:solidFill>
                    <a:srgbClr val="0000FF"/>
                  </a:solidFill>
                  <a:ln w="9525">
                    <a:solidFill>
                      <a:schemeClr val="tx1"/>
                    </a:solidFill>
                    <a:round/>
                    <a:headEnd/>
                    <a:tailEnd/>
                  </a:ln>
                </p:spPr>
                <p:txBody>
                  <a:bodyPr/>
                  <a:lstStyle/>
                  <a:p>
                    <a:endParaRPr lang="en-US"/>
                  </a:p>
                </p:txBody>
              </p:sp>
            </p:grpSp>
            <p:sp>
              <p:nvSpPr>
                <p:cNvPr id="20606" name="Oval 132"/>
                <p:cNvSpPr>
                  <a:spLocks noChangeArrowheads="1"/>
                </p:cNvSpPr>
                <p:nvPr/>
              </p:nvSpPr>
              <p:spPr bwMode="auto">
                <a:xfrm>
                  <a:off x="2479" y="1754"/>
                  <a:ext cx="800" cy="804"/>
                </a:xfrm>
                <a:prstGeom prst="ellipse">
                  <a:avLst/>
                </a:prstGeom>
                <a:solidFill>
                  <a:srgbClr val="FFFFFF"/>
                </a:solidFill>
                <a:ln w="9525">
                  <a:solidFill>
                    <a:schemeClr val="tx1"/>
                  </a:solidFill>
                  <a:round/>
                  <a:headEnd/>
                  <a:tailEnd/>
                </a:ln>
              </p:spPr>
              <p:txBody>
                <a:bodyPr/>
                <a:lstStyle/>
                <a:p>
                  <a:endParaRPr lang="en-US"/>
                </a:p>
              </p:txBody>
            </p:sp>
          </p:grpSp>
          <p:sp>
            <p:nvSpPr>
              <p:cNvPr id="20604" name="Oval 133"/>
              <p:cNvSpPr>
                <a:spLocks noChangeArrowheads="1"/>
              </p:cNvSpPr>
              <p:nvPr/>
            </p:nvSpPr>
            <p:spPr bwMode="auto">
              <a:xfrm>
                <a:off x="2711" y="1986"/>
                <a:ext cx="336" cy="340"/>
              </a:xfrm>
              <a:prstGeom prst="ellipse">
                <a:avLst/>
              </a:prstGeom>
              <a:solidFill>
                <a:srgbClr val="FF0000"/>
              </a:solidFill>
              <a:ln w="9525">
                <a:solidFill>
                  <a:schemeClr val="tx1"/>
                </a:solidFill>
                <a:round/>
                <a:headEnd/>
                <a:tailEnd/>
              </a:ln>
            </p:spPr>
            <p:txBody>
              <a:bodyPr/>
              <a:lstStyle/>
              <a:p>
                <a:endParaRPr lang="en-US"/>
              </a:p>
            </p:txBody>
          </p:sp>
        </p:grpSp>
        <p:grpSp>
          <p:nvGrpSpPr>
            <p:cNvPr id="20614" name="Group 134"/>
            <p:cNvGrpSpPr>
              <a:grpSpLocks/>
            </p:cNvGrpSpPr>
            <p:nvPr/>
          </p:nvGrpSpPr>
          <p:grpSpPr bwMode="auto">
            <a:xfrm>
              <a:off x="2812" y="1263"/>
              <a:ext cx="1042" cy="998"/>
              <a:chOff x="2812" y="1263"/>
              <a:chExt cx="1042" cy="998"/>
            </a:xfrm>
          </p:grpSpPr>
          <p:grpSp>
            <p:nvGrpSpPr>
              <p:cNvPr id="20615" name="Group 135"/>
              <p:cNvGrpSpPr>
                <a:grpSpLocks/>
              </p:cNvGrpSpPr>
              <p:nvPr/>
            </p:nvGrpSpPr>
            <p:grpSpPr bwMode="auto">
              <a:xfrm>
                <a:off x="2898" y="1456"/>
                <a:ext cx="910" cy="708"/>
                <a:chOff x="2898" y="1456"/>
                <a:chExt cx="910" cy="708"/>
              </a:xfrm>
            </p:grpSpPr>
            <p:sp>
              <p:nvSpPr>
                <p:cNvPr id="20588" name="Freeform 136"/>
                <p:cNvSpPr>
                  <a:spLocks/>
                </p:cNvSpPr>
                <p:nvPr/>
              </p:nvSpPr>
              <p:spPr bwMode="auto">
                <a:xfrm>
                  <a:off x="2907" y="2116"/>
                  <a:ext cx="68" cy="47"/>
                </a:xfrm>
                <a:custGeom>
                  <a:avLst/>
                  <a:gdLst>
                    <a:gd name="T0" fmla="*/ 0 w 68"/>
                    <a:gd name="T1" fmla="*/ 22 h 47"/>
                    <a:gd name="T2" fmla="*/ 31 w 68"/>
                    <a:gd name="T3" fmla="*/ 0 h 47"/>
                    <a:gd name="T4" fmla="*/ 68 w 68"/>
                    <a:gd name="T5" fmla="*/ 47 h 47"/>
                    <a:gd name="T6" fmla="*/ 12 w 68"/>
                    <a:gd name="T7" fmla="*/ 39 h 47"/>
                    <a:gd name="T8" fmla="*/ 0 w 68"/>
                    <a:gd name="T9" fmla="*/ 22 h 47"/>
                    <a:gd name="T10" fmla="*/ 0 60000 65536"/>
                    <a:gd name="T11" fmla="*/ 0 60000 65536"/>
                    <a:gd name="T12" fmla="*/ 0 60000 65536"/>
                    <a:gd name="T13" fmla="*/ 0 60000 65536"/>
                    <a:gd name="T14" fmla="*/ 0 60000 65536"/>
                    <a:gd name="T15" fmla="*/ 0 w 68"/>
                    <a:gd name="T16" fmla="*/ 0 h 47"/>
                    <a:gd name="T17" fmla="*/ 68 w 68"/>
                    <a:gd name="T18" fmla="*/ 47 h 47"/>
                  </a:gdLst>
                  <a:ahLst/>
                  <a:cxnLst>
                    <a:cxn ang="T10">
                      <a:pos x="T0" y="T1"/>
                    </a:cxn>
                    <a:cxn ang="T11">
                      <a:pos x="T2" y="T3"/>
                    </a:cxn>
                    <a:cxn ang="T12">
                      <a:pos x="T4" y="T5"/>
                    </a:cxn>
                    <a:cxn ang="T13">
                      <a:pos x="T6" y="T7"/>
                    </a:cxn>
                    <a:cxn ang="T14">
                      <a:pos x="T8" y="T9"/>
                    </a:cxn>
                  </a:cxnLst>
                  <a:rect l="T15" t="T16" r="T17" b="T18"/>
                  <a:pathLst>
                    <a:path w="68" h="47">
                      <a:moveTo>
                        <a:pt x="0" y="22"/>
                      </a:moveTo>
                      <a:lnTo>
                        <a:pt x="31" y="0"/>
                      </a:lnTo>
                      <a:lnTo>
                        <a:pt x="68" y="47"/>
                      </a:lnTo>
                      <a:lnTo>
                        <a:pt x="12" y="39"/>
                      </a:lnTo>
                      <a:lnTo>
                        <a:pt x="0" y="22"/>
                      </a:lnTo>
                      <a:close/>
                    </a:path>
                  </a:pathLst>
                </a:custGeom>
                <a:solidFill>
                  <a:srgbClr val="3F3F3F"/>
                </a:solidFill>
                <a:ln w="9525">
                  <a:solidFill>
                    <a:schemeClr val="tx1"/>
                  </a:solidFill>
                  <a:round/>
                  <a:headEnd/>
                  <a:tailEnd/>
                </a:ln>
              </p:spPr>
              <p:txBody>
                <a:bodyPr/>
                <a:lstStyle/>
                <a:p>
                  <a:endParaRPr lang="sv-SE"/>
                </a:p>
              </p:txBody>
            </p:sp>
            <p:sp>
              <p:nvSpPr>
                <p:cNvPr id="20589" name="Freeform 137"/>
                <p:cNvSpPr>
                  <a:spLocks/>
                </p:cNvSpPr>
                <p:nvPr/>
              </p:nvSpPr>
              <p:spPr bwMode="auto">
                <a:xfrm>
                  <a:off x="2898" y="2046"/>
                  <a:ext cx="39" cy="92"/>
                </a:xfrm>
                <a:custGeom>
                  <a:avLst/>
                  <a:gdLst>
                    <a:gd name="T0" fmla="*/ 25 w 39"/>
                    <a:gd name="T1" fmla="*/ 0 h 92"/>
                    <a:gd name="T2" fmla="*/ 39 w 39"/>
                    <a:gd name="T3" fmla="*/ 70 h 92"/>
                    <a:gd name="T4" fmla="*/ 9 w 39"/>
                    <a:gd name="T5" fmla="*/ 92 h 92"/>
                    <a:gd name="T6" fmla="*/ 0 w 39"/>
                    <a:gd name="T7" fmla="*/ 71 h 92"/>
                    <a:gd name="T8" fmla="*/ 25 w 39"/>
                    <a:gd name="T9" fmla="*/ 0 h 92"/>
                    <a:gd name="T10" fmla="*/ 0 60000 65536"/>
                    <a:gd name="T11" fmla="*/ 0 60000 65536"/>
                    <a:gd name="T12" fmla="*/ 0 60000 65536"/>
                    <a:gd name="T13" fmla="*/ 0 60000 65536"/>
                    <a:gd name="T14" fmla="*/ 0 60000 65536"/>
                    <a:gd name="T15" fmla="*/ 0 w 39"/>
                    <a:gd name="T16" fmla="*/ 0 h 92"/>
                    <a:gd name="T17" fmla="*/ 39 w 39"/>
                    <a:gd name="T18" fmla="*/ 92 h 92"/>
                  </a:gdLst>
                  <a:ahLst/>
                  <a:cxnLst>
                    <a:cxn ang="T10">
                      <a:pos x="T0" y="T1"/>
                    </a:cxn>
                    <a:cxn ang="T11">
                      <a:pos x="T2" y="T3"/>
                    </a:cxn>
                    <a:cxn ang="T12">
                      <a:pos x="T4" y="T5"/>
                    </a:cxn>
                    <a:cxn ang="T13">
                      <a:pos x="T6" y="T7"/>
                    </a:cxn>
                    <a:cxn ang="T14">
                      <a:pos x="T8" y="T9"/>
                    </a:cxn>
                  </a:cxnLst>
                  <a:rect l="T15" t="T16" r="T17" b="T18"/>
                  <a:pathLst>
                    <a:path w="39" h="92">
                      <a:moveTo>
                        <a:pt x="25" y="0"/>
                      </a:moveTo>
                      <a:lnTo>
                        <a:pt x="39" y="70"/>
                      </a:lnTo>
                      <a:lnTo>
                        <a:pt x="9" y="92"/>
                      </a:lnTo>
                      <a:lnTo>
                        <a:pt x="0" y="71"/>
                      </a:lnTo>
                      <a:lnTo>
                        <a:pt x="25" y="0"/>
                      </a:lnTo>
                      <a:close/>
                    </a:path>
                  </a:pathLst>
                </a:custGeom>
                <a:solidFill>
                  <a:srgbClr val="5F5F5F"/>
                </a:solidFill>
                <a:ln w="9525">
                  <a:solidFill>
                    <a:schemeClr val="tx1"/>
                  </a:solidFill>
                  <a:round/>
                  <a:headEnd/>
                  <a:tailEnd/>
                </a:ln>
              </p:spPr>
              <p:txBody>
                <a:bodyPr/>
                <a:lstStyle/>
                <a:p>
                  <a:endParaRPr lang="sv-SE"/>
                </a:p>
              </p:txBody>
            </p:sp>
            <p:sp>
              <p:nvSpPr>
                <p:cNvPr id="20590" name="Freeform 138"/>
                <p:cNvSpPr>
                  <a:spLocks/>
                </p:cNvSpPr>
                <p:nvPr/>
              </p:nvSpPr>
              <p:spPr bwMode="auto">
                <a:xfrm>
                  <a:off x="2924" y="2045"/>
                  <a:ext cx="52" cy="119"/>
                </a:xfrm>
                <a:custGeom>
                  <a:avLst/>
                  <a:gdLst>
                    <a:gd name="T0" fmla="*/ 0 w 52"/>
                    <a:gd name="T1" fmla="*/ 0 h 119"/>
                    <a:gd name="T2" fmla="*/ 13 w 52"/>
                    <a:gd name="T3" fmla="*/ 73 h 119"/>
                    <a:gd name="T4" fmla="*/ 52 w 52"/>
                    <a:gd name="T5" fmla="*/ 119 h 119"/>
                    <a:gd name="T6" fmla="*/ 35 w 52"/>
                    <a:gd name="T7" fmla="*/ 62 h 119"/>
                    <a:gd name="T8" fmla="*/ 0 w 52"/>
                    <a:gd name="T9" fmla="*/ 0 h 119"/>
                    <a:gd name="T10" fmla="*/ 0 60000 65536"/>
                    <a:gd name="T11" fmla="*/ 0 60000 65536"/>
                    <a:gd name="T12" fmla="*/ 0 60000 65536"/>
                    <a:gd name="T13" fmla="*/ 0 60000 65536"/>
                    <a:gd name="T14" fmla="*/ 0 60000 65536"/>
                    <a:gd name="T15" fmla="*/ 0 w 52"/>
                    <a:gd name="T16" fmla="*/ 0 h 119"/>
                    <a:gd name="T17" fmla="*/ 52 w 52"/>
                    <a:gd name="T18" fmla="*/ 119 h 119"/>
                  </a:gdLst>
                  <a:ahLst/>
                  <a:cxnLst>
                    <a:cxn ang="T10">
                      <a:pos x="T0" y="T1"/>
                    </a:cxn>
                    <a:cxn ang="T11">
                      <a:pos x="T2" y="T3"/>
                    </a:cxn>
                    <a:cxn ang="T12">
                      <a:pos x="T4" y="T5"/>
                    </a:cxn>
                    <a:cxn ang="T13">
                      <a:pos x="T6" y="T7"/>
                    </a:cxn>
                    <a:cxn ang="T14">
                      <a:pos x="T8" y="T9"/>
                    </a:cxn>
                  </a:cxnLst>
                  <a:rect l="T15" t="T16" r="T17" b="T18"/>
                  <a:pathLst>
                    <a:path w="52" h="119">
                      <a:moveTo>
                        <a:pt x="0" y="0"/>
                      </a:moveTo>
                      <a:lnTo>
                        <a:pt x="13" y="73"/>
                      </a:lnTo>
                      <a:lnTo>
                        <a:pt x="52" y="119"/>
                      </a:lnTo>
                      <a:lnTo>
                        <a:pt x="35" y="62"/>
                      </a:lnTo>
                      <a:lnTo>
                        <a:pt x="0" y="0"/>
                      </a:lnTo>
                      <a:close/>
                    </a:path>
                  </a:pathLst>
                </a:custGeom>
                <a:solidFill>
                  <a:srgbClr val="9F9F9F"/>
                </a:solidFill>
                <a:ln w="9525">
                  <a:solidFill>
                    <a:schemeClr val="tx1"/>
                  </a:solidFill>
                  <a:round/>
                  <a:headEnd/>
                  <a:tailEnd/>
                </a:ln>
              </p:spPr>
              <p:txBody>
                <a:bodyPr/>
                <a:lstStyle/>
                <a:p>
                  <a:endParaRPr lang="sv-SE"/>
                </a:p>
              </p:txBody>
            </p:sp>
            <p:grpSp>
              <p:nvGrpSpPr>
                <p:cNvPr id="20618" name="Group 139"/>
                <p:cNvGrpSpPr>
                  <a:grpSpLocks/>
                </p:cNvGrpSpPr>
                <p:nvPr/>
              </p:nvGrpSpPr>
              <p:grpSpPr bwMode="auto">
                <a:xfrm>
                  <a:off x="2931" y="1456"/>
                  <a:ext cx="877" cy="674"/>
                  <a:chOff x="2931" y="1456"/>
                  <a:chExt cx="877" cy="674"/>
                </a:xfrm>
              </p:grpSpPr>
              <p:sp>
                <p:nvSpPr>
                  <p:cNvPr id="20592" name="Freeform 140"/>
                  <p:cNvSpPr>
                    <a:spLocks/>
                  </p:cNvSpPr>
                  <p:nvPr/>
                </p:nvSpPr>
                <p:spPr bwMode="auto">
                  <a:xfrm>
                    <a:off x="2931" y="1646"/>
                    <a:ext cx="756" cy="484"/>
                  </a:xfrm>
                  <a:custGeom>
                    <a:avLst/>
                    <a:gdLst>
                      <a:gd name="T0" fmla="*/ 611 w 756"/>
                      <a:gd name="T1" fmla="*/ 0 h 484"/>
                      <a:gd name="T2" fmla="*/ 16 w 756"/>
                      <a:gd name="T3" fmla="*/ 442 h 484"/>
                      <a:gd name="T4" fmla="*/ 9 w 756"/>
                      <a:gd name="T5" fmla="*/ 447 h 484"/>
                      <a:gd name="T6" fmla="*/ 3 w 756"/>
                      <a:gd name="T7" fmla="*/ 456 h 484"/>
                      <a:gd name="T8" fmla="*/ 0 w 756"/>
                      <a:gd name="T9" fmla="*/ 467 h 484"/>
                      <a:gd name="T10" fmla="*/ 4 w 756"/>
                      <a:gd name="T11" fmla="*/ 477 h 484"/>
                      <a:gd name="T12" fmla="*/ 12 w 756"/>
                      <a:gd name="T13" fmla="*/ 482 h 484"/>
                      <a:gd name="T14" fmla="*/ 20 w 756"/>
                      <a:gd name="T15" fmla="*/ 484 h 484"/>
                      <a:gd name="T16" fmla="*/ 31 w 756"/>
                      <a:gd name="T17" fmla="*/ 480 h 484"/>
                      <a:gd name="T18" fmla="*/ 756 w 756"/>
                      <a:gd name="T19" fmla="*/ 144 h 484"/>
                      <a:gd name="T20" fmla="*/ 611 w 756"/>
                      <a:gd name="T21" fmla="*/ 0 h 4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6"/>
                      <a:gd name="T34" fmla="*/ 0 h 484"/>
                      <a:gd name="T35" fmla="*/ 756 w 756"/>
                      <a:gd name="T36" fmla="*/ 484 h 4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6" h="484">
                        <a:moveTo>
                          <a:pt x="611" y="0"/>
                        </a:moveTo>
                        <a:lnTo>
                          <a:pt x="16" y="442"/>
                        </a:lnTo>
                        <a:lnTo>
                          <a:pt x="9" y="447"/>
                        </a:lnTo>
                        <a:lnTo>
                          <a:pt x="3" y="456"/>
                        </a:lnTo>
                        <a:lnTo>
                          <a:pt x="0" y="467"/>
                        </a:lnTo>
                        <a:lnTo>
                          <a:pt x="4" y="477"/>
                        </a:lnTo>
                        <a:lnTo>
                          <a:pt x="12" y="482"/>
                        </a:lnTo>
                        <a:lnTo>
                          <a:pt x="20" y="484"/>
                        </a:lnTo>
                        <a:lnTo>
                          <a:pt x="31" y="480"/>
                        </a:lnTo>
                        <a:lnTo>
                          <a:pt x="756" y="144"/>
                        </a:lnTo>
                        <a:lnTo>
                          <a:pt x="611" y="0"/>
                        </a:lnTo>
                        <a:close/>
                      </a:path>
                    </a:pathLst>
                  </a:custGeom>
                  <a:solidFill>
                    <a:srgbClr val="808080"/>
                  </a:solidFill>
                  <a:ln w="9525">
                    <a:solidFill>
                      <a:schemeClr val="tx1"/>
                    </a:solidFill>
                    <a:round/>
                    <a:headEnd/>
                    <a:tailEnd/>
                  </a:ln>
                </p:spPr>
                <p:txBody>
                  <a:bodyPr/>
                  <a:lstStyle/>
                  <a:p>
                    <a:endParaRPr lang="sv-SE"/>
                  </a:p>
                </p:txBody>
              </p:sp>
              <p:sp>
                <p:nvSpPr>
                  <p:cNvPr id="20593" name="Freeform 141"/>
                  <p:cNvSpPr>
                    <a:spLocks/>
                  </p:cNvSpPr>
                  <p:nvPr/>
                </p:nvSpPr>
                <p:spPr bwMode="auto">
                  <a:xfrm>
                    <a:off x="3485" y="1620"/>
                    <a:ext cx="252" cy="116"/>
                  </a:xfrm>
                  <a:custGeom>
                    <a:avLst/>
                    <a:gdLst>
                      <a:gd name="T0" fmla="*/ 13 w 252"/>
                      <a:gd name="T1" fmla="*/ 62 h 116"/>
                      <a:gd name="T2" fmla="*/ 108 w 252"/>
                      <a:gd name="T3" fmla="*/ 0 h 116"/>
                      <a:gd name="T4" fmla="*/ 252 w 252"/>
                      <a:gd name="T5" fmla="*/ 106 h 116"/>
                      <a:gd name="T6" fmla="*/ 231 w 252"/>
                      <a:gd name="T7" fmla="*/ 116 h 116"/>
                      <a:gd name="T8" fmla="*/ 99 w 252"/>
                      <a:gd name="T9" fmla="*/ 35 h 116"/>
                      <a:gd name="T10" fmla="*/ 0 w 252"/>
                      <a:gd name="T11" fmla="*/ 90 h 116"/>
                      <a:gd name="T12" fmla="*/ 13 w 252"/>
                      <a:gd name="T13" fmla="*/ 62 h 116"/>
                      <a:gd name="T14" fmla="*/ 0 60000 65536"/>
                      <a:gd name="T15" fmla="*/ 0 60000 65536"/>
                      <a:gd name="T16" fmla="*/ 0 60000 65536"/>
                      <a:gd name="T17" fmla="*/ 0 60000 65536"/>
                      <a:gd name="T18" fmla="*/ 0 60000 65536"/>
                      <a:gd name="T19" fmla="*/ 0 60000 65536"/>
                      <a:gd name="T20" fmla="*/ 0 60000 65536"/>
                      <a:gd name="T21" fmla="*/ 0 w 252"/>
                      <a:gd name="T22" fmla="*/ 0 h 116"/>
                      <a:gd name="T23" fmla="*/ 252 w 252"/>
                      <a:gd name="T24" fmla="*/ 116 h 1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116">
                        <a:moveTo>
                          <a:pt x="13" y="62"/>
                        </a:moveTo>
                        <a:lnTo>
                          <a:pt x="108" y="0"/>
                        </a:lnTo>
                        <a:lnTo>
                          <a:pt x="252" y="106"/>
                        </a:lnTo>
                        <a:lnTo>
                          <a:pt x="231" y="116"/>
                        </a:lnTo>
                        <a:lnTo>
                          <a:pt x="99" y="35"/>
                        </a:lnTo>
                        <a:lnTo>
                          <a:pt x="0" y="90"/>
                        </a:lnTo>
                        <a:lnTo>
                          <a:pt x="13" y="62"/>
                        </a:lnTo>
                        <a:close/>
                      </a:path>
                    </a:pathLst>
                  </a:custGeom>
                  <a:solidFill>
                    <a:srgbClr val="808080"/>
                  </a:solidFill>
                  <a:ln w="9525">
                    <a:solidFill>
                      <a:schemeClr val="tx1"/>
                    </a:solidFill>
                    <a:round/>
                    <a:headEnd/>
                    <a:tailEnd/>
                  </a:ln>
                </p:spPr>
                <p:txBody>
                  <a:bodyPr/>
                  <a:lstStyle/>
                  <a:p>
                    <a:endParaRPr lang="sv-SE"/>
                  </a:p>
                </p:txBody>
              </p:sp>
              <p:sp>
                <p:nvSpPr>
                  <p:cNvPr id="20594" name="Freeform 142"/>
                  <p:cNvSpPr>
                    <a:spLocks/>
                  </p:cNvSpPr>
                  <p:nvPr/>
                </p:nvSpPr>
                <p:spPr bwMode="auto">
                  <a:xfrm>
                    <a:off x="3481" y="1600"/>
                    <a:ext cx="240" cy="233"/>
                  </a:xfrm>
                  <a:custGeom>
                    <a:avLst/>
                    <a:gdLst>
                      <a:gd name="T0" fmla="*/ 124 w 240"/>
                      <a:gd name="T1" fmla="*/ 0 h 233"/>
                      <a:gd name="T2" fmla="*/ 11 w 240"/>
                      <a:gd name="T3" fmla="*/ 82 h 233"/>
                      <a:gd name="T4" fmla="*/ 6 w 240"/>
                      <a:gd name="T5" fmla="*/ 94 h 233"/>
                      <a:gd name="T6" fmla="*/ 2 w 240"/>
                      <a:gd name="T7" fmla="*/ 108 h 233"/>
                      <a:gd name="T8" fmla="*/ 0 w 240"/>
                      <a:gd name="T9" fmla="*/ 126 h 233"/>
                      <a:gd name="T10" fmla="*/ 0 w 240"/>
                      <a:gd name="T11" fmla="*/ 142 h 233"/>
                      <a:gd name="T12" fmla="*/ 3 w 240"/>
                      <a:gd name="T13" fmla="*/ 160 h 233"/>
                      <a:gd name="T14" fmla="*/ 8 w 240"/>
                      <a:gd name="T15" fmla="*/ 175 h 233"/>
                      <a:gd name="T16" fmla="*/ 18 w 240"/>
                      <a:gd name="T17" fmla="*/ 190 h 233"/>
                      <a:gd name="T18" fmla="*/ 30 w 240"/>
                      <a:gd name="T19" fmla="*/ 203 h 233"/>
                      <a:gd name="T20" fmla="*/ 47 w 240"/>
                      <a:gd name="T21" fmla="*/ 215 h 233"/>
                      <a:gd name="T22" fmla="*/ 61 w 240"/>
                      <a:gd name="T23" fmla="*/ 224 h 233"/>
                      <a:gd name="T24" fmla="*/ 78 w 240"/>
                      <a:gd name="T25" fmla="*/ 229 h 233"/>
                      <a:gd name="T26" fmla="*/ 95 w 240"/>
                      <a:gd name="T27" fmla="*/ 233 h 233"/>
                      <a:gd name="T28" fmla="*/ 111 w 240"/>
                      <a:gd name="T29" fmla="*/ 233 h 233"/>
                      <a:gd name="T30" fmla="*/ 240 w 240"/>
                      <a:gd name="T31" fmla="*/ 175 h 233"/>
                      <a:gd name="T32" fmla="*/ 108 w 240"/>
                      <a:gd name="T33" fmla="*/ 47 h 233"/>
                      <a:gd name="T34" fmla="*/ 13 w 240"/>
                      <a:gd name="T35" fmla="*/ 102 h 233"/>
                      <a:gd name="T36" fmla="*/ 20 w 240"/>
                      <a:gd name="T37" fmla="*/ 84 h 233"/>
                      <a:gd name="T38" fmla="*/ 118 w 240"/>
                      <a:gd name="T39" fmla="*/ 22 h 233"/>
                      <a:gd name="T40" fmla="*/ 124 w 240"/>
                      <a:gd name="T41" fmla="*/ 0 h 2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0"/>
                      <a:gd name="T64" fmla="*/ 0 h 233"/>
                      <a:gd name="T65" fmla="*/ 240 w 240"/>
                      <a:gd name="T66" fmla="*/ 233 h 2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0" h="233">
                        <a:moveTo>
                          <a:pt x="124" y="0"/>
                        </a:moveTo>
                        <a:lnTo>
                          <a:pt x="11" y="82"/>
                        </a:lnTo>
                        <a:lnTo>
                          <a:pt x="6" y="94"/>
                        </a:lnTo>
                        <a:lnTo>
                          <a:pt x="2" y="108"/>
                        </a:lnTo>
                        <a:lnTo>
                          <a:pt x="0" y="126"/>
                        </a:lnTo>
                        <a:lnTo>
                          <a:pt x="0" y="142"/>
                        </a:lnTo>
                        <a:lnTo>
                          <a:pt x="3" y="160"/>
                        </a:lnTo>
                        <a:lnTo>
                          <a:pt x="8" y="175"/>
                        </a:lnTo>
                        <a:lnTo>
                          <a:pt x="18" y="190"/>
                        </a:lnTo>
                        <a:lnTo>
                          <a:pt x="30" y="203"/>
                        </a:lnTo>
                        <a:lnTo>
                          <a:pt x="47" y="215"/>
                        </a:lnTo>
                        <a:lnTo>
                          <a:pt x="61" y="224"/>
                        </a:lnTo>
                        <a:lnTo>
                          <a:pt x="78" y="229"/>
                        </a:lnTo>
                        <a:lnTo>
                          <a:pt x="95" y="233"/>
                        </a:lnTo>
                        <a:lnTo>
                          <a:pt x="111" y="233"/>
                        </a:lnTo>
                        <a:lnTo>
                          <a:pt x="240" y="175"/>
                        </a:lnTo>
                        <a:lnTo>
                          <a:pt x="108" y="47"/>
                        </a:lnTo>
                        <a:lnTo>
                          <a:pt x="13" y="102"/>
                        </a:lnTo>
                        <a:lnTo>
                          <a:pt x="20" y="84"/>
                        </a:lnTo>
                        <a:lnTo>
                          <a:pt x="118" y="22"/>
                        </a:lnTo>
                        <a:lnTo>
                          <a:pt x="124" y="0"/>
                        </a:lnTo>
                        <a:close/>
                      </a:path>
                    </a:pathLst>
                  </a:custGeom>
                  <a:solidFill>
                    <a:srgbClr val="C0C0C0"/>
                  </a:solidFill>
                  <a:ln w="9525">
                    <a:solidFill>
                      <a:schemeClr val="tx1"/>
                    </a:solidFill>
                    <a:round/>
                    <a:headEnd/>
                    <a:tailEnd/>
                  </a:ln>
                </p:spPr>
                <p:txBody>
                  <a:bodyPr/>
                  <a:lstStyle/>
                  <a:p>
                    <a:endParaRPr lang="sv-SE"/>
                  </a:p>
                </p:txBody>
              </p:sp>
              <p:sp>
                <p:nvSpPr>
                  <p:cNvPr id="20595" name="Freeform 143"/>
                  <p:cNvSpPr>
                    <a:spLocks/>
                  </p:cNvSpPr>
                  <p:nvPr/>
                </p:nvSpPr>
                <p:spPr bwMode="auto">
                  <a:xfrm>
                    <a:off x="3590" y="1646"/>
                    <a:ext cx="145" cy="131"/>
                  </a:xfrm>
                  <a:custGeom>
                    <a:avLst/>
                    <a:gdLst>
                      <a:gd name="T0" fmla="*/ 0 w 145"/>
                      <a:gd name="T1" fmla="*/ 0 h 131"/>
                      <a:gd name="T2" fmla="*/ 3 w 145"/>
                      <a:gd name="T3" fmla="*/ 12 h 131"/>
                      <a:gd name="T4" fmla="*/ 6 w 145"/>
                      <a:gd name="T5" fmla="*/ 22 h 131"/>
                      <a:gd name="T6" fmla="*/ 9 w 145"/>
                      <a:gd name="T7" fmla="*/ 32 h 131"/>
                      <a:gd name="T8" fmla="*/ 14 w 145"/>
                      <a:gd name="T9" fmla="*/ 45 h 131"/>
                      <a:gd name="T10" fmla="*/ 20 w 145"/>
                      <a:gd name="T11" fmla="*/ 57 h 131"/>
                      <a:gd name="T12" fmla="*/ 30 w 145"/>
                      <a:gd name="T13" fmla="*/ 73 h 131"/>
                      <a:gd name="T14" fmla="*/ 42 w 145"/>
                      <a:gd name="T15" fmla="*/ 86 h 131"/>
                      <a:gd name="T16" fmla="*/ 56 w 145"/>
                      <a:gd name="T17" fmla="*/ 98 h 131"/>
                      <a:gd name="T18" fmla="*/ 70 w 145"/>
                      <a:gd name="T19" fmla="*/ 109 h 131"/>
                      <a:gd name="T20" fmla="*/ 84 w 145"/>
                      <a:gd name="T21" fmla="*/ 118 h 131"/>
                      <a:gd name="T22" fmla="*/ 99 w 145"/>
                      <a:gd name="T23" fmla="*/ 125 h 131"/>
                      <a:gd name="T24" fmla="*/ 112 w 145"/>
                      <a:gd name="T25" fmla="*/ 130 h 131"/>
                      <a:gd name="T26" fmla="*/ 120 w 145"/>
                      <a:gd name="T27" fmla="*/ 131 h 131"/>
                      <a:gd name="T28" fmla="*/ 130 w 145"/>
                      <a:gd name="T29" fmla="*/ 128 h 131"/>
                      <a:gd name="T30" fmla="*/ 136 w 145"/>
                      <a:gd name="T31" fmla="*/ 120 h 131"/>
                      <a:gd name="T32" fmla="*/ 141 w 145"/>
                      <a:gd name="T33" fmla="*/ 109 h 131"/>
                      <a:gd name="T34" fmla="*/ 145 w 145"/>
                      <a:gd name="T35" fmla="*/ 96 h 131"/>
                      <a:gd name="T36" fmla="*/ 0 w 145"/>
                      <a:gd name="T37" fmla="*/ 0 h 1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131"/>
                      <a:gd name="T59" fmla="*/ 145 w 145"/>
                      <a:gd name="T60" fmla="*/ 131 h 1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131">
                        <a:moveTo>
                          <a:pt x="0" y="0"/>
                        </a:moveTo>
                        <a:lnTo>
                          <a:pt x="3" y="12"/>
                        </a:lnTo>
                        <a:lnTo>
                          <a:pt x="6" y="22"/>
                        </a:lnTo>
                        <a:lnTo>
                          <a:pt x="9" y="32"/>
                        </a:lnTo>
                        <a:lnTo>
                          <a:pt x="14" y="45"/>
                        </a:lnTo>
                        <a:lnTo>
                          <a:pt x="20" y="57"/>
                        </a:lnTo>
                        <a:lnTo>
                          <a:pt x="30" y="73"/>
                        </a:lnTo>
                        <a:lnTo>
                          <a:pt x="42" y="86"/>
                        </a:lnTo>
                        <a:lnTo>
                          <a:pt x="56" y="98"/>
                        </a:lnTo>
                        <a:lnTo>
                          <a:pt x="70" y="109"/>
                        </a:lnTo>
                        <a:lnTo>
                          <a:pt x="84" y="118"/>
                        </a:lnTo>
                        <a:lnTo>
                          <a:pt x="99" y="125"/>
                        </a:lnTo>
                        <a:lnTo>
                          <a:pt x="112" y="130"/>
                        </a:lnTo>
                        <a:lnTo>
                          <a:pt x="120" y="131"/>
                        </a:lnTo>
                        <a:lnTo>
                          <a:pt x="130" y="128"/>
                        </a:lnTo>
                        <a:lnTo>
                          <a:pt x="136" y="120"/>
                        </a:lnTo>
                        <a:lnTo>
                          <a:pt x="141" y="109"/>
                        </a:lnTo>
                        <a:lnTo>
                          <a:pt x="145" y="96"/>
                        </a:lnTo>
                        <a:lnTo>
                          <a:pt x="0" y="0"/>
                        </a:lnTo>
                        <a:close/>
                      </a:path>
                    </a:pathLst>
                  </a:custGeom>
                  <a:solidFill>
                    <a:srgbClr val="9F9F9F"/>
                  </a:solidFill>
                  <a:ln w="9525">
                    <a:solidFill>
                      <a:schemeClr val="tx1"/>
                    </a:solidFill>
                    <a:round/>
                    <a:headEnd/>
                    <a:tailEnd/>
                  </a:ln>
                </p:spPr>
                <p:txBody>
                  <a:bodyPr/>
                  <a:lstStyle/>
                  <a:p>
                    <a:endParaRPr lang="sv-SE"/>
                  </a:p>
                </p:txBody>
              </p:sp>
              <p:sp>
                <p:nvSpPr>
                  <p:cNvPr id="20596" name="Freeform 144"/>
                  <p:cNvSpPr>
                    <a:spLocks/>
                  </p:cNvSpPr>
                  <p:nvPr/>
                </p:nvSpPr>
                <p:spPr bwMode="auto">
                  <a:xfrm>
                    <a:off x="3591" y="1597"/>
                    <a:ext cx="147" cy="129"/>
                  </a:xfrm>
                  <a:custGeom>
                    <a:avLst/>
                    <a:gdLst>
                      <a:gd name="T0" fmla="*/ 0 w 147"/>
                      <a:gd name="T1" fmla="*/ 31 h 129"/>
                      <a:gd name="T2" fmla="*/ 0 w 147"/>
                      <a:gd name="T3" fmla="*/ 22 h 129"/>
                      <a:gd name="T4" fmla="*/ 4 w 147"/>
                      <a:gd name="T5" fmla="*/ 12 h 129"/>
                      <a:gd name="T6" fmla="*/ 15 w 147"/>
                      <a:gd name="T7" fmla="*/ 3 h 129"/>
                      <a:gd name="T8" fmla="*/ 27 w 147"/>
                      <a:gd name="T9" fmla="*/ 0 h 129"/>
                      <a:gd name="T10" fmla="*/ 39 w 147"/>
                      <a:gd name="T11" fmla="*/ 0 h 129"/>
                      <a:gd name="T12" fmla="*/ 54 w 147"/>
                      <a:gd name="T13" fmla="*/ 3 h 129"/>
                      <a:gd name="T14" fmla="*/ 72 w 147"/>
                      <a:gd name="T15" fmla="*/ 10 h 129"/>
                      <a:gd name="T16" fmla="*/ 88 w 147"/>
                      <a:gd name="T17" fmla="*/ 17 h 129"/>
                      <a:gd name="T18" fmla="*/ 104 w 147"/>
                      <a:gd name="T19" fmla="*/ 28 h 129"/>
                      <a:gd name="T20" fmla="*/ 115 w 147"/>
                      <a:gd name="T21" fmla="*/ 38 h 129"/>
                      <a:gd name="T22" fmla="*/ 125 w 147"/>
                      <a:gd name="T23" fmla="*/ 50 h 129"/>
                      <a:gd name="T24" fmla="*/ 132 w 147"/>
                      <a:gd name="T25" fmla="*/ 63 h 129"/>
                      <a:gd name="T26" fmla="*/ 138 w 147"/>
                      <a:gd name="T27" fmla="*/ 77 h 129"/>
                      <a:gd name="T28" fmla="*/ 144 w 147"/>
                      <a:gd name="T29" fmla="*/ 96 h 129"/>
                      <a:gd name="T30" fmla="*/ 147 w 147"/>
                      <a:gd name="T31" fmla="*/ 113 h 129"/>
                      <a:gd name="T32" fmla="*/ 146 w 147"/>
                      <a:gd name="T33" fmla="*/ 129 h 129"/>
                      <a:gd name="T34" fmla="*/ 0 w 147"/>
                      <a:gd name="T35" fmla="*/ 31 h 1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7"/>
                      <a:gd name="T55" fmla="*/ 0 h 129"/>
                      <a:gd name="T56" fmla="*/ 147 w 147"/>
                      <a:gd name="T57" fmla="*/ 129 h 1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7" h="129">
                        <a:moveTo>
                          <a:pt x="0" y="31"/>
                        </a:moveTo>
                        <a:lnTo>
                          <a:pt x="0" y="22"/>
                        </a:lnTo>
                        <a:lnTo>
                          <a:pt x="4" y="12"/>
                        </a:lnTo>
                        <a:lnTo>
                          <a:pt x="15" y="3"/>
                        </a:lnTo>
                        <a:lnTo>
                          <a:pt x="27" y="0"/>
                        </a:lnTo>
                        <a:lnTo>
                          <a:pt x="39" y="0"/>
                        </a:lnTo>
                        <a:lnTo>
                          <a:pt x="54" y="3"/>
                        </a:lnTo>
                        <a:lnTo>
                          <a:pt x="72" y="10"/>
                        </a:lnTo>
                        <a:lnTo>
                          <a:pt x="88" y="17"/>
                        </a:lnTo>
                        <a:lnTo>
                          <a:pt x="104" y="28"/>
                        </a:lnTo>
                        <a:lnTo>
                          <a:pt x="115" y="38"/>
                        </a:lnTo>
                        <a:lnTo>
                          <a:pt x="125" y="50"/>
                        </a:lnTo>
                        <a:lnTo>
                          <a:pt x="132" y="63"/>
                        </a:lnTo>
                        <a:lnTo>
                          <a:pt x="138" y="77"/>
                        </a:lnTo>
                        <a:lnTo>
                          <a:pt x="144" y="96"/>
                        </a:lnTo>
                        <a:lnTo>
                          <a:pt x="147" y="113"/>
                        </a:lnTo>
                        <a:lnTo>
                          <a:pt x="146" y="129"/>
                        </a:lnTo>
                        <a:lnTo>
                          <a:pt x="0" y="31"/>
                        </a:lnTo>
                        <a:close/>
                      </a:path>
                    </a:pathLst>
                  </a:custGeom>
                  <a:solidFill>
                    <a:srgbClr val="9F9F9F"/>
                  </a:solidFill>
                  <a:ln w="9525">
                    <a:solidFill>
                      <a:schemeClr val="tx1"/>
                    </a:solidFill>
                    <a:round/>
                    <a:headEnd/>
                    <a:tailEnd/>
                  </a:ln>
                </p:spPr>
                <p:txBody>
                  <a:bodyPr/>
                  <a:lstStyle/>
                  <a:p>
                    <a:endParaRPr lang="sv-SE"/>
                  </a:p>
                </p:txBody>
              </p:sp>
              <p:sp>
                <p:nvSpPr>
                  <p:cNvPr id="20597" name="Freeform 145"/>
                  <p:cNvSpPr>
                    <a:spLocks/>
                  </p:cNvSpPr>
                  <p:nvPr/>
                </p:nvSpPr>
                <p:spPr bwMode="auto">
                  <a:xfrm>
                    <a:off x="3254" y="1456"/>
                    <a:ext cx="323" cy="418"/>
                  </a:xfrm>
                  <a:custGeom>
                    <a:avLst/>
                    <a:gdLst>
                      <a:gd name="T0" fmla="*/ 0 w 323"/>
                      <a:gd name="T1" fmla="*/ 418 h 418"/>
                      <a:gd name="T2" fmla="*/ 264 w 323"/>
                      <a:gd name="T3" fmla="*/ 219 h 418"/>
                      <a:gd name="T4" fmla="*/ 323 w 323"/>
                      <a:gd name="T5" fmla="*/ 0 h 418"/>
                      <a:gd name="T6" fmla="*/ 250 w 323"/>
                      <a:gd name="T7" fmla="*/ 81 h 418"/>
                      <a:gd name="T8" fmla="*/ 237 w 323"/>
                      <a:gd name="T9" fmla="*/ 108 h 418"/>
                      <a:gd name="T10" fmla="*/ 227 w 323"/>
                      <a:gd name="T11" fmla="*/ 89 h 418"/>
                      <a:gd name="T12" fmla="*/ 150 w 323"/>
                      <a:gd name="T13" fmla="*/ 201 h 418"/>
                      <a:gd name="T14" fmla="*/ 148 w 323"/>
                      <a:gd name="T15" fmla="*/ 174 h 418"/>
                      <a:gd name="T16" fmla="*/ 58 w 323"/>
                      <a:gd name="T17" fmla="*/ 283 h 418"/>
                      <a:gd name="T18" fmla="*/ 0 w 323"/>
                      <a:gd name="T19" fmla="*/ 418 h 4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3"/>
                      <a:gd name="T31" fmla="*/ 0 h 418"/>
                      <a:gd name="T32" fmla="*/ 323 w 323"/>
                      <a:gd name="T33" fmla="*/ 418 h 4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3" h="418">
                        <a:moveTo>
                          <a:pt x="0" y="418"/>
                        </a:moveTo>
                        <a:lnTo>
                          <a:pt x="264" y="219"/>
                        </a:lnTo>
                        <a:lnTo>
                          <a:pt x="323" y="0"/>
                        </a:lnTo>
                        <a:lnTo>
                          <a:pt x="250" y="81"/>
                        </a:lnTo>
                        <a:lnTo>
                          <a:pt x="237" y="108"/>
                        </a:lnTo>
                        <a:lnTo>
                          <a:pt x="227" y="89"/>
                        </a:lnTo>
                        <a:lnTo>
                          <a:pt x="150" y="201"/>
                        </a:lnTo>
                        <a:lnTo>
                          <a:pt x="148" y="174"/>
                        </a:lnTo>
                        <a:lnTo>
                          <a:pt x="58" y="283"/>
                        </a:lnTo>
                        <a:lnTo>
                          <a:pt x="0" y="418"/>
                        </a:lnTo>
                        <a:close/>
                      </a:path>
                    </a:pathLst>
                  </a:custGeom>
                  <a:solidFill>
                    <a:srgbClr val="00FF00"/>
                  </a:solidFill>
                  <a:ln w="9525">
                    <a:solidFill>
                      <a:schemeClr val="tx1"/>
                    </a:solidFill>
                    <a:round/>
                    <a:headEnd/>
                    <a:tailEnd/>
                  </a:ln>
                </p:spPr>
                <p:txBody>
                  <a:bodyPr/>
                  <a:lstStyle/>
                  <a:p>
                    <a:endParaRPr lang="sv-SE"/>
                  </a:p>
                </p:txBody>
              </p:sp>
              <p:sp>
                <p:nvSpPr>
                  <p:cNvPr id="20598" name="Freeform 146"/>
                  <p:cNvSpPr>
                    <a:spLocks/>
                  </p:cNvSpPr>
                  <p:nvPr/>
                </p:nvSpPr>
                <p:spPr bwMode="auto">
                  <a:xfrm>
                    <a:off x="3268" y="1699"/>
                    <a:ext cx="285" cy="203"/>
                  </a:xfrm>
                  <a:custGeom>
                    <a:avLst/>
                    <a:gdLst>
                      <a:gd name="T0" fmla="*/ 32 w 285"/>
                      <a:gd name="T1" fmla="*/ 167 h 203"/>
                      <a:gd name="T2" fmla="*/ 285 w 285"/>
                      <a:gd name="T3" fmla="*/ 0 h 203"/>
                      <a:gd name="T4" fmla="*/ 218 w 285"/>
                      <a:gd name="T5" fmla="*/ 74 h 203"/>
                      <a:gd name="T6" fmla="*/ 0 w 285"/>
                      <a:gd name="T7" fmla="*/ 203 h 203"/>
                      <a:gd name="T8" fmla="*/ 32 w 285"/>
                      <a:gd name="T9" fmla="*/ 167 h 203"/>
                      <a:gd name="T10" fmla="*/ 0 60000 65536"/>
                      <a:gd name="T11" fmla="*/ 0 60000 65536"/>
                      <a:gd name="T12" fmla="*/ 0 60000 65536"/>
                      <a:gd name="T13" fmla="*/ 0 60000 65536"/>
                      <a:gd name="T14" fmla="*/ 0 60000 65536"/>
                      <a:gd name="T15" fmla="*/ 0 w 285"/>
                      <a:gd name="T16" fmla="*/ 0 h 203"/>
                      <a:gd name="T17" fmla="*/ 285 w 285"/>
                      <a:gd name="T18" fmla="*/ 203 h 203"/>
                    </a:gdLst>
                    <a:ahLst/>
                    <a:cxnLst>
                      <a:cxn ang="T10">
                        <a:pos x="T0" y="T1"/>
                      </a:cxn>
                      <a:cxn ang="T11">
                        <a:pos x="T2" y="T3"/>
                      </a:cxn>
                      <a:cxn ang="T12">
                        <a:pos x="T4" y="T5"/>
                      </a:cxn>
                      <a:cxn ang="T13">
                        <a:pos x="T6" y="T7"/>
                      </a:cxn>
                      <a:cxn ang="T14">
                        <a:pos x="T8" y="T9"/>
                      </a:cxn>
                    </a:cxnLst>
                    <a:rect l="T15" t="T16" r="T17" b="T18"/>
                    <a:pathLst>
                      <a:path w="285" h="203">
                        <a:moveTo>
                          <a:pt x="32" y="167"/>
                        </a:moveTo>
                        <a:lnTo>
                          <a:pt x="285" y="0"/>
                        </a:lnTo>
                        <a:lnTo>
                          <a:pt x="218" y="74"/>
                        </a:lnTo>
                        <a:lnTo>
                          <a:pt x="0" y="203"/>
                        </a:lnTo>
                        <a:lnTo>
                          <a:pt x="32" y="167"/>
                        </a:lnTo>
                        <a:close/>
                      </a:path>
                    </a:pathLst>
                  </a:custGeom>
                  <a:solidFill>
                    <a:srgbClr val="00FF00"/>
                  </a:solidFill>
                  <a:ln w="9525">
                    <a:solidFill>
                      <a:schemeClr val="tx1"/>
                    </a:solidFill>
                    <a:round/>
                    <a:headEnd/>
                    <a:tailEnd/>
                  </a:ln>
                </p:spPr>
                <p:txBody>
                  <a:bodyPr/>
                  <a:lstStyle/>
                  <a:p>
                    <a:endParaRPr lang="sv-SE"/>
                  </a:p>
                </p:txBody>
              </p:sp>
              <p:sp>
                <p:nvSpPr>
                  <p:cNvPr id="20599" name="Freeform 147"/>
                  <p:cNvSpPr>
                    <a:spLocks/>
                  </p:cNvSpPr>
                  <p:nvPr/>
                </p:nvSpPr>
                <p:spPr bwMode="auto">
                  <a:xfrm>
                    <a:off x="3277" y="1795"/>
                    <a:ext cx="531" cy="169"/>
                  </a:xfrm>
                  <a:custGeom>
                    <a:avLst/>
                    <a:gdLst>
                      <a:gd name="T0" fmla="*/ 0 w 531"/>
                      <a:gd name="T1" fmla="*/ 149 h 169"/>
                      <a:gd name="T2" fmla="*/ 335 w 531"/>
                      <a:gd name="T3" fmla="*/ 0 h 169"/>
                      <a:gd name="T4" fmla="*/ 531 w 531"/>
                      <a:gd name="T5" fmla="*/ 72 h 169"/>
                      <a:gd name="T6" fmla="*/ 429 w 531"/>
                      <a:gd name="T7" fmla="*/ 95 h 169"/>
                      <a:gd name="T8" fmla="*/ 395 w 531"/>
                      <a:gd name="T9" fmla="*/ 95 h 169"/>
                      <a:gd name="T10" fmla="*/ 414 w 531"/>
                      <a:gd name="T11" fmla="*/ 110 h 169"/>
                      <a:gd name="T12" fmla="*/ 304 w 531"/>
                      <a:gd name="T13" fmla="*/ 132 h 169"/>
                      <a:gd name="T14" fmla="*/ 272 w 531"/>
                      <a:gd name="T15" fmla="*/ 132 h 169"/>
                      <a:gd name="T16" fmla="*/ 295 w 531"/>
                      <a:gd name="T17" fmla="*/ 144 h 169"/>
                      <a:gd name="T18" fmla="*/ 147 w 531"/>
                      <a:gd name="T19" fmla="*/ 169 h 169"/>
                      <a:gd name="T20" fmla="*/ 0 w 531"/>
                      <a:gd name="T21" fmla="*/ 149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1"/>
                      <a:gd name="T34" fmla="*/ 0 h 169"/>
                      <a:gd name="T35" fmla="*/ 531 w 531"/>
                      <a:gd name="T36" fmla="*/ 169 h 1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1" h="169">
                        <a:moveTo>
                          <a:pt x="0" y="149"/>
                        </a:moveTo>
                        <a:lnTo>
                          <a:pt x="335" y="0"/>
                        </a:lnTo>
                        <a:lnTo>
                          <a:pt x="531" y="72"/>
                        </a:lnTo>
                        <a:lnTo>
                          <a:pt x="429" y="95"/>
                        </a:lnTo>
                        <a:lnTo>
                          <a:pt x="395" y="95"/>
                        </a:lnTo>
                        <a:lnTo>
                          <a:pt x="414" y="110"/>
                        </a:lnTo>
                        <a:lnTo>
                          <a:pt x="304" y="132"/>
                        </a:lnTo>
                        <a:lnTo>
                          <a:pt x="272" y="132"/>
                        </a:lnTo>
                        <a:lnTo>
                          <a:pt x="295" y="144"/>
                        </a:lnTo>
                        <a:lnTo>
                          <a:pt x="147" y="169"/>
                        </a:lnTo>
                        <a:lnTo>
                          <a:pt x="0" y="149"/>
                        </a:lnTo>
                        <a:close/>
                      </a:path>
                    </a:pathLst>
                  </a:custGeom>
                  <a:solidFill>
                    <a:srgbClr val="00FF00"/>
                  </a:solidFill>
                  <a:ln w="9525">
                    <a:solidFill>
                      <a:schemeClr val="tx1"/>
                    </a:solidFill>
                    <a:round/>
                    <a:headEnd/>
                    <a:tailEnd/>
                  </a:ln>
                </p:spPr>
                <p:txBody>
                  <a:bodyPr/>
                  <a:lstStyle/>
                  <a:p>
                    <a:endParaRPr lang="sv-SE"/>
                  </a:p>
                </p:txBody>
              </p:sp>
              <p:sp>
                <p:nvSpPr>
                  <p:cNvPr id="20600" name="Freeform 148"/>
                  <p:cNvSpPr>
                    <a:spLocks/>
                  </p:cNvSpPr>
                  <p:nvPr/>
                </p:nvSpPr>
                <p:spPr bwMode="auto">
                  <a:xfrm>
                    <a:off x="3161" y="1855"/>
                    <a:ext cx="155" cy="154"/>
                  </a:xfrm>
                  <a:custGeom>
                    <a:avLst/>
                    <a:gdLst>
                      <a:gd name="T0" fmla="*/ 102 w 155"/>
                      <a:gd name="T1" fmla="*/ 0 h 154"/>
                      <a:gd name="T2" fmla="*/ 97 w 155"/>
                      <a:gd name="T3" fmla="*/ 16 h 154"/>
                      <a:gd name="T4" fmla="*/ 94 w 155"/>
                      <a:gd name="T5" fmla="*/ 31 h 154"/>
                      <a:gd name="T6" fmla="*/ 93 w 155"/>
                      <a:gd name="T7" fmla="*/ 44 h 154"/>
                      <a:gd name="T8" fmla="*/ 97 w 155"/>
                      <a:gd name="T9" fmla="*/ 61 h 154"/>
                      <a:gd name="T10" fmla="*/ 102 w 155"/>
                      <a:gd name="T11" fmla="*/ 74 h 154"/>
                      <a:gd name="T12" fmla="*/ 108 w 155"/>
                      <a:gd name="T13" fmla="*/ 84 h 154"/>
                      <a:gd name="T14" fmla="*/ 116 w 155"/>
                      <a:gd name="T15" fmla="*/ 93 h 154"/>
                      <a:gd name="T16" fmla="*/ 130 w 155"/>
                      <a:gd name="T17" fmla="*/ 100 h 154"/>
                      <a:gd name="T18" fmla="*/ 144 w 155"/>
                      <a:gd name="T19" fmla="*/ 104 h 154"/>
                      <a:gd name="T20" fmla="*/ 155 w 155"/>
                      <a:gd name="T21" fmla="*/ 107 h 154"/>
                      <a:gd name="T22" fmla="*/ 51 w 155"/>
                      <a:gd name="T23" fmla="*/ 154 h 154"/>
                      <a:gd name="T24" fmla="*/ 39 w 155"/>
                      <a:gd name="T25" fmla="*/ 151 h 154"/>
                      <a:gd name="T26" fmla="*/ 26 w 155"/>
                      <a:gd name="T27" fmla="*/ 147 h 154"/>
                      <a:gd name="T28" fmla="*/ 16 w 155"/>
                      <a:gd name="T29" fmla="*/ 140 h 154"/>
                      <a:gd name="T30" fmla="*/ 8 w 155"/>
                      <a:gd name="T31" fmla="*/ 132 h 154"/>
                      <a:gd name="T32" fmla="*/ 3 w 155"/>
                      <a:gd name="T33" fmla="*/ 122 h 154"/>
                      <a:gd name="T34" fmla="*/ 1 w 155"/>
                      <a:gd name="T35" fmla="*/ 113 h 154"/>
                      <a:gd name="T36" fmla="*/ 0 w 155"/>
                      <a:gd name="T37" fmla="*/ 102 h 154"/>
                      <a:gd name="T38" fmla="*/ 2 w 155"/>
                      <a:gd name="T39" fmla="*/ 87 h 154"/>
                      <a:gd name="T40" fmla="*/ 7 w 155"/>
                      <a:gd name="T41" fmla="*/ 74 h 154"/>
                      <a:gd name="T42" fmla="*/ 15 w 155"/>
                      <a:gd name="T43" fmla="*/ 64 h 154"/>
                      <a:gd name="T44" fmla="*/ 102 w 155"/>
                      <a:gd name="T45" fmla="*/ 0 h 15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5"/>
                      <a:gd name="T70" fmla="*/ 0 h 154"/>
                      <a:gd name="T71" fmla="*/ 155 w 155"/>
                      <a:gd name="T72" fmla="*/ 154 h 15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5" h="154">
                        <a:moveTo>
                          <a:pt x="102" y="0"/>
                        </a:moveTo>
                        <a:lnTo>
                          <a:pt x="97" y="16"/>
                        </a:lnTo>
                        <a:lnTo>
                          <a:pt x="94" y="31"/>
                        </a:lnTo>
                        <a:lnTo>
                          <a:pt x="93" y="44"/>
                        </a:lnTo>
                        <a:lnTo>
                          <a:pt x="97" y="61"/>
                        </a:lnTo>
                        <a:lnTo>
                          <a:pt x="102" y="74"/>
                        </a:lnTo>
                        <a:lnTo>
                          <a:pt x="108" y="84"/>
                        </a:lnTo>
                        <a:lnTo>
                          <a:pt x="116" y="93"/>
                        </a:lnTo>
                        <a:lnTo>
                          <a:pt x="130" y="100"/>
                        </a:lnTo>
                        <a:lnTo>
                          <a:pt x="144" y="104"/>
                        </a:lnTo>
                        <a:lnTo>
                          <a:pt x="155" y="107"/>
                        </a:lnTo>
                        <a:lnTo>
                          <a:pt x="51" y="154"/>
                        </a:lnTo>
                        <a:lnTo>
                          <a:pt x="39" y="151"/>
                        </a:lnTo>
                        <a:lnTo>
                          <a:pt x="26" y="147"/>
                        </a:lnTo>
                        <a:lnTo>
                          <a:pt x="16" y="140"/>
                        </a:lnTo>
                        <a:lnTo>
                          <a:pt x="8" y="132"/>
                        </a:lnTo>
                        <a:lnTo>
                          <a:pt x="3" y="122"/>
                        </a:lnTo>
                        <a:lnTo>
                          <a:pt x="1" y="113"/>
                        </a:lnTo>
                        <a:lnTo>
                          <a:pt x="0" y="102"/>
                        </a:lnTo>
                        <a:lnTo>
                          <a:pt x="2" y="87"/>
                        </a:lnTo>
                        <a:lnTo>
                          <a:pt x="7" y="74"/>
                        </a:lnTo>
                        <a:lnTo>
                          <a:pt x="15" y="64"/>
                        </a:lnTo>
                        <a:lnTo>
                          <a:pt x="102" y="0"/>
                        </a:lnTo>
                        <a:close/>
                      </a:path>
                    </a:pathLst>
                  </a:custGeom>
                  <a:solidFill>
                    <a:srgbClr val="00FF00"/>
                  </a:solidFill>
                  <a:ln w="9525">
                    <a:solidFill>
                      <a:schemeClr val="tx1"/>
                    </a:solidFill>
                    <a:round/>
                    <a:headEnd/>
                    <a:tailEnd/>
                  </a:ln>
                </p:spPr>
                <p:txBody>
                  <a:bodyPr/>
                  <a:lstStyle/>
                  <a:p>
                    <a:endParaRPr lang="sv-SE"/>
                  </a:p>
                </p:txBody>
              </p:sp>
              <p:sp>
                <p:nvSpPr>
                  <p:cNvPr id="20601" name="Freeform 149"/>
                  <p:cNvSpPr>
                    <a:spLocks/>
                  </p:cNvSpPr>
                  <p:nvPr/>
                </p:nvSpPr>
                <p:spPr bwMode="auto">
                  <a:xfrm>
                    <a:off x="3184" y="1889"/>
                    <a:ext cx="70" cy="109"/>
                  </a:xfrm>
                  <a:custGeom>
                    <a:avLst/>
                    <a:gdLst>
                      <a:gd name="T0" fmla="*/ 32 w 70"/>
                      <a:gd name="T1" fmla="*/ 0 h 109"/>
                      <a:gd name="T2" fmla="*/ 28 w 70"/>
                      <a:gd name="T3" fmla="*/ 9 h 109"/>
                      <a:gd name="T4" fmla="*/ 24 w 70"/>
                      <a:gd name="T5" fmla="*/ 23 h 109"/>
                      <a:gd name="T6" fmla="*/ 20 w 70"/>
                      <a:gd name="T7" fmla="*/ 34 h 109"/>
                      <a:gd name="T8" fmla="*/ 19 w 70"/>
                      <a:gd name="T9" fmla="*/ 45 h 109"/>
                      <a:gd name="T10" fmla="*/ 20 w 70"/>
                      <a:gd name="T11" fmla="*/ 58 h 109"/>
                      <a:gd name="T12" fmla="*/ 24 w 70"/>
                      <a:gd name="T13" fmla="*/ 70 h 109"/>
                      <a:gd name="T14" fmla="*/ 31 w 70"/>
                      <a:gd name="T15" fmla="*/ 82 h 109"/>
                      <a:gd name="T16" fmla="*/ 44 w 70"/>
                      <a:gd name="T17" fmla="*/ 89 h 109"/>
                      <a:gd name="T18" fmla="*/ 56 w 70"/>
                      <a:gd name="T19" fmla="*/ 95 h 109"/>
                      <a:gd name="T20" fmla="*/ 70 w 70"/>
                      <a:gd name="T21" fmla="*/ 101 h 109"/>
                      <a:gd name="T22" fmla="*/ 53 w 70"/>
                      <a:gd name="T23" fmla="*/ 109 h 109"/>
                      <a:gd name="T24" fmla="*/ 41 w 70"/>
                      <a:gd name="T25" fmla="*/ 105 h 109"/>
                      <a:gd name="T26" fmla="*/ 27 w 70"/>
                      <a:gd name="T27" fmla="*/ 100 h 109"/>
                      <a:gd name="T28" fmla="*/ 17 w 70"/>
                      <a:gd name="T29" fmla="*/ 92 h 109"/>
                      <a:gd name="T30" fmla="*/ 9 w 70"/>
                      <a:gd name="T31" fmla="*/ 84 h 109"/>
                      <a:gd name="T32" fmla="*/ 4 w 70"/>
                      <a:gd name="T33" fmla="*/ 74 h 109"/>
                      <a:gd name="T34" fmla="*/ 1 w 70"/>
                      <a:gd name="T35" fmla="*/ 66 h 109"/>
                      <a:gd name="T36" fmla="*/ 0 w 70"/>
                      <a:gd name="T37" fmla="*/ 54 h 109"/>
                      <a:gd name="T38" fmla="*/ 1 w 70"/>
                      <a:gd name="T39" fmla="*/ 39 h 109"/>
                      <a:gd name="T40" fmla="*/ 4 w 70"/>
                      <a:gd name="T41" fmla="*/ 27 h 109"/>
                      <a:gd name="T42" fmla="*/ 10 w 70"/>
                      <a:gd name="T43" fmla="*/ 16 h 109"/>
                      <a:gd name="T44" fmla="*/ 32 w 70"/>
                      <a:gd name="T45" fmla="*/ 0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09"/>
                      <a:gd name="T71" fmla="*/ 70 w 70"/>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09">
                        <a:moveTo>
                          <a:pt x="32" y="0"/>
                        </a:moveTo>
                        <a:lnTo>
                          <a:pt x="28" y="9"/>
                        </a:lnTo>
                        <a:lnTo>
                          <a:pt x="24" y="23"/>
                        </a:lnTo>
                        <a:lnTo>
                          <a:pt x="20" y="34"/>
                        </a:lnTo>
                        <a:lnTo>
                          <a:pt x="19" y="45"/>
                        </a:lnTo>
                        <a:lnTo>
                          <a:pt x="20" y="58"/>
                        </a:lnTo>
                        <a:lnTo>
                          <a:pt x="24" y="70"/>
                        </a:lnTo>
                        <a:lnTo>
                          <a:pt x="31" y="82"/>
                        </a:lnTo>
                        <a:lnTo>
                          <a:pt x="44" y="89"/>
                        </a:lnTo>
                        <a:lnTo>
                          <a:pt x="56" y="95"/>
                        </a:lnTo>
                        <a:lnTo>
                          <a:pt x="70" y="101"/>
                        </a:lnTo>
                        <a:lnTo>
                          <a:pt x="53" y="109"/>
                        </a:lnTo>
                        <a:lnTo>
                          <a:pt x="41" y="105"/>
                        </a:lnTo>
                        <a:lnTo>
                          <a:pt x="27" y="100"/>
                        </a:lnTo>
                        <a:lnTo>
                          <a:pt x="17" y="92"/>
                        </a:lnTo>
                        <a:lnTo>
                          <a:pt x="9" y="84"/>
                        </a:lnTo>
                        <a:lnTo>
                          <a:pt x="4" y="74"/>
                        </a:lnTo>
                        <a:lnTo>
                          <a:pt x="1" y="66"/>
                        </a:lnTo>
                        <a:lnTo>
                          <a:pt x="0" y="54"/>
                        </a:lnTo>
                        <a:lnTo>
                          <a:pt x="1" y="39"/>
                        </a:lnTo>
                        <a:lnTo>
                          <a:pt x="4" y="27"/>
                        </a:lnTo>
                        <a:lnTo>
                          <a:pt x="10" y="16"/>
                        </a:lnTo>
                        <a:lnTo>
                          <a:pt x="32" y="0"/>
                        </a:lnTo>
                        <a:close/>
                      </a:path>
                    </a:pathLst>
                  </a:custGeom>
                  <a:solidFill>
                    <a:srgbClr val="FF0000"/>
                  </a:solidFill>
                  <a:ln w="9525">
                    <a:solidFill>
                      <a:schemeClr val="tx1"/>
                    </a:solidFill>
                    <a:round/>
                    <a:headEnd/>
                    <a:tailEnd/>
                  </a:ln>
                </p:spPr>
                <p:txBody>
                  <a:bodyPr/>
                  <a:lstStyle/>
                  <a:p>
                    <a:endParaRPr lang="sv-SE"/>
                  </a:p>
                </p:txBody>
              </p:sp>
              <p:sp>
                <p:nvSpPr>
                  <p:cNvPr id="20602" name="Freeform 150"/>
                  <p:cNvSpPr>
                    <a:spLocks/>
                  </p:cNvSpPr>
                  <p:nvPr/>
                </p:nvSpPr>
                <p:spPr bwMode="auto">
                  <a:xfrm>
                    <a:off x="2931" y="2062"/>
                    <a:ext cx="73" cy="68"/>
                  </a:xfrm>
                  <a:custGeom>
                    <a:avLst/>
                    <a:gdLst>
                      <a:gd name="T0" fmla="*/ 52 w 73"/>
                      <a:gd name="T1" fmla="*/ 0 h 68"/>
                      <a:gd name="T2" fmla="*/ 16 w 73"/>
                      <a:gd name="T3" fmla="*/ 27 h 68"/>
                      <a:gd name="T4" fmla="*/ 9 w 73"/>
                      <a:gd name="T5" fmla="*/ 32 h 68"/>
                      <a:gd name="T6" fmla="*/ 3 w 73"/>
                      <a:gd name="T7" fmla="*/ 41 h 68"/>
                      <a:gd name="T8" fmla="*/ 0 w 73"/>
                      <a:gd name="T9" fmla="*/ 51 h 68"/>
                      <a:gd name="T10" fmla="*/ 4 w 73"/>
                      <a:gd name="T11" fmla="*/ 61 h 68"/>
                      <a:gd name="T12" fmla="*/ 12 w 73"/>
                      <a:gd name="T13" fmla="*/ 66 h 68"/>
                      <a:gd name="T14" fmla="*/ 19 w 73"/>
                      <a:gd name="T15" fmla="*/ 68 h 68"/>
                      <a:gd name="T16" fmla="*/ 30 w 73"/>
                      <a:gd name="T17" fmla="*/ 64 h 68"/>
                      <a:gd name="T18" fmla="*/ 73 w 73"/>
                      <a:gd name="T19" fmla="*/ 45 h 68"/>
                      <a:gd name="T20" fmla="*/ 64 w 73"/>
                      <a:gd name="T21" fmla="*/ 40 h 68"/>
                      <a:gd name="T22" fmla="*/ 57 w 73"/>
                      <a:gd name="T23" fmla="*/ 33 h 68"/>
                      <a:gd name="T24" fmla="*/ 53 w 73"/>
                      <a:gd name="T25" fmla="*/ 25 h 68"/>
                      <a:gd name="T26" fmla="*/ 52 w 73"/>
                      <a:gd name="T27" fmla="*/ 17 h 68"/>
                      <a:gd name="T28" fmla="*/ 51 w 73"/>
                      <a:gd name="T29" fmla="*/ 7 h 68"/>
                      <a:gd name="T30" fmla="*/ 52 w 73"/>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3"/>
                      <a:gd name="T49" fmla="*/ 0 h 68"/>
                      <a:gd name="T50" fmla="*/ 73 w 73"/>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3" h="68">
                        <a:moveTo>
                          <a:pt x="52" y="0"/>
                        </a:moveTo>
                        <a:lnTo>
                          <a:pt x="16" y="27"/>
                        </a:lnTo>
                        <a:lnTo>
                          <a:pt x="9" y="32"/>
                        </a:lnTo>
                        <a:lnTo>
                          <a:pt x="3" y="41"/>
                        </a:lnTo>
                        <a:lnTo>
                          <a:pt x="0" y="51"/>
                        </a:lnTo>
                        <a:lnTo>
                          <a:pt x="4" y="61"/>
                        </a:lnTo>
                        <a:lnTo>
                          <a:pt x="12" y="66"/>
                        </a:lnTo>
                        <a:lnTo>
                          <a:pt x="19" y="68"/>
                        </a:lnTo>
                        <a:lnTo>
                          <a:pt x="30" y="64"/>
                        </a:lnTo>
                        <a:lnTo>
                          <a:pt x="73" y="45"/>
                        </a:lnTo>
                        <a:lnTo>
                          <a:pt x="64" y="40"/>
                        </a:lnTo>
                        <a:lnTo>
                          <a:pt x="57" y="33"/>
                        </a:lnTo>
                        <a:lnTo>
                          <a:pt x="53" y="25"/>
                        </a:lnTo>
                        <a:lnTo>
                          <a:pt x="52" y="17"/>
                        </a:lnTo>
                        <a:lnTo>
                          <a:pt x="51" y="7"/>
                        </a:lnTo>
                        <a:lnTo>
                          <a:pt x="52" y="0"/>
                        </a:lnTo>
                        <a:close/>
                      </a:path>
                    </a:pathLst>
                  </a:custGeom>
                  <a:solidFill>
                    <a:srgbClr val="00FF00"/>
                  </a:solidFill>
                  <a:ln w="9525">
                    <a:solidFill>
                      <a:schemeClr val="tx1"/>
                    </a:solidFill>
                    <a:round/>
                    <a:headEnd/>
                    <a:tailEnd/>
                  </a:ln>
                </p:spPr>
                <p:txBody>
                  <a:bodyPr/>
                  <a:lstStyle/>
                  <a:p>
                    <a:endParaRPr lang="sv-SE"/>
                  </a:p>
                </p:txBody>
              </p:sp>
            </p:grpSp>
          </p:grpSp>
          <p:grpSp>
            <p:nvGrpSpPr>
              <p:cNvPr id="20619" name="Group 151"/>
              <p:cNvGrpSpPr>
                <a:grpSpLocks/>
              </p:cNvGrpSpPr>
              <p:nvPr/>
            </p:nvGrpSpPr>
            <p:grpSpPr bwMode="auto">
              <a:xfrm>
                <a:off x="2812" y="1263"/>
                <a:ext cx="798" cy="867"/>
                <a:chOff x="2812" y="1263"/>
                <a:chExt cx="798" cy="867"/>
              </a:xfrm>
            </p:grpSpPr>
            <p:sp>
              <p:nvSpPr>
                <p:cNvPr id="20573" name="Freeform 152"/>
                <p:cNvSpPr>
                  <a:spLocks/>
                </p:cNvSpPr>
                <p:nvPr/>
              </p:nvSpPr>
              <p:spPr bwMode="auto">
                <a:xfrm>
                  <a:off x="2827" y="2088"/>
                  <a:ext cx="74" cy="42"/>
                </a:xfrm>
                <a:custGeom>
                  <a:avLst/>
                  <a:gdLst>
                    <a:gd name="T0" fmla="*/ 0 w 74"/>
                    <a:gd name="T1" fmla="*/ 27 h 42"/>
                    <a:gd name="T2" fmla="*/ 22 w 74"/>
                    <a:gd name="T3" fmla="*/ 0 h 42"/>
                    <a:gd name="T4" fmla="*/ 74 w 74"/>
                    <a:gd name="T5" fmla="*/ 34 h 42"/>
                    <a:gd name="T6" fmla="*/ 17 w 74"/>
                    <a:gd name="T7" fmla="*/ 42 h 42"/>
                    <a:gd name="T8" fmla="*/ 0 w 74"/>
                    <a:gd name="T9" fmla="*/ 27 h 42"/>
                    <a:gd name="T10" fmla="*/ 0 60000 65536"/>
                    <a:gd name="T11" fmla="*/ 0 60000 65536"/>
                    <a:gd name="T12" fmla="*/ 0 60000 65536"/>
                    <a:gd name="T13" fmla="*/ 0 60000 65536"/>
                    <a:gd name="T14" fmla="*/ 0 60000 65536"/>
                    <a:gd name="T15" fmla="*/ 0 w 74"/>
                    <a:gd name="T16" fmla="*/ 0 h 42"/>
                    <a:gd name="T17" fmla="*/ 74 w 74"/>
                    <a:gd name="T18" fmla="*/ 42 h 42"/>
                  </a:gdLst>
                  <a:ahLst/>
                  <a:cxnLst>
                    <a:cxn ang="T10">
                      <a:pos x="T0" y="T1"/>
                    </a:cxn>
                    <a:cxn ang="T11">
                      <a:pos x="T2" y="T3"/>
                    </a:cxn>
                    <a:cxn ang="T12">
                      <a:pos x="T4" y="T5"/>
                    </a:cxn>
                    <a:cxn ang="T13">
                      <a:pos x="T6" y="T7"/>
                    </a:cxn>
                    <a:cxn ang="T14">
                      <a:pos x="T8" y="T9"/>
                    </a:cxn>
                  </a:cxnLst>
                  <a:rect l="T15" t="T16" r="T17" b="T18"/>
                  <a:pathLst>
                    <a:path w="74" h="42">
                      <a:moveTo>
                        <a:pt x="0" y="27"/>
                      </a:moveTo>
                      <a:lnTo>
                        <a:pt x="22" y="0"/>
                      </a:lnTo>
                      <a:lnTo>
                        <a:pt x="74" y="34"/>
                      </a:lnTo>
                      <a:lnTo>
                        <a:pt x="17" y="42"/>
                      </a:lnTo>
                      <a:lnTo>
                        <a:pt x="0" y="27"/>
                      </a:lnTo>
                      <a:close/>
                    </a:path>
                  </a:pathLst>
                </a:custGeom>
                <a:solidFill>
                  <a:srgbClr val="3F3F3F"/>
                </a:solidFill>
                <a:ln w="9525">
                  <a:solidFill>
                    <a:schemeClr val="tx1"/>
                  </a:solidFill>
                  <a:round/>
                  <a:headEnd/>
                  <a:tailEnd/>
                </a:ln>
              </p:spPr>
              <p:txBody>
                <a:bodyPr/>
                <a:lstStyle/>
                <a:p>
                  <a:endParaRPr lang="sv-SE"/>
                </a:p>
              </p:txBody>
            </p:sp>
            <p:sp>
              <p:nvSpPr>
                <p:cNvPr id="20574" name="Freeform 153"/>
                <p:cNvSpPr>
                  <a:spLocks/>
                </p:cNvSpPr>
                <p:nvPr/>
              </p:nvSpPr>
              <p:spPr bwMode="auto">
                <a:xfrm>
                  <a:off x="2817" y="2024"/>
                  <a:ext cx="84" cy="99"/>
                </a:xfrm>
                <a:custGeom>
                  <a:avLst/>
                  <a:gdLst>
                    <a:gd name="T0" fmla="*/ 0 w 84"/>
                    <a:gd name="T1" fmla="*/ 0 h 99"/>
                    <a:gd name="T2" fmla="*/ 50 w 84"/>
                    <a:gd name="T3" fmla="*/ 47 h 99"/>
                    <a:gd name="T4" fmla="*/ 84 w 84"/>
                    <a:gd name="T5" fmla="*/ 99 h 99"/>
                    <a:gd name="T6" fmla="*/ 32 w 84"/>
                    <a:gd name="T7" fmla="*/ 64 h 99"/>
                    <a:gd name="T8" fmla="*/ 0 w 84"/>
                    <a:gd name="T9" fmla="*/ 0 h 99"/>
                    <a:gd name="T10" fmla="*/ 0 60000 65536"/>
                    <a:gd name="T11" fmla="*/ 0 60000 65536"/>
                    <a:gd name="T12" fmla="*/ 0 60000 65536"/>
                    <a:gd name="T13" fmla="*/ 0 60000 65536"/>
                    <a:gd name="T14" fmla="*/ 0 60000 65536"/>
                    <a:gd name="T15" fmla="*/ 0 w 84"/>
                    <a:gd name="T16" fmla="*/ 0 h 99"/>
                    <a:gd name="T17" fmla="*/ 84 w 84"/>
                    <a:gd name="T18" fmla="*/ 99 h 99"/>
                  </a:gdLst>
                  <a:ahLst/>
                  <a:cxnLst>
                    <a:cxn ang="T10">
                      <a:pos x="T0" y="T1"/>
                    </a:cxn>
                    <a:cxn ang="T11">
                      <a:pos x="T2" y="T3"/>
                    </a:cxn>
                    <a:cxn ang="T12">
                      <a:pos x="T4" y="T5"/>
                    </a:cxn>
                    <a:cxn ang="T13">
                      <a:pos x="T6" y="T7"/>
                    </a:cxn>
                    <a:cxn ang="T14">
                      <a:pos x="T8" y="T9"/>
                    </a:cxn>
                  </a:cxnLst>
                  <a:rect l="T15" t="T16" r="T17" b="T18"/>
                  <a:pathLst>
                    <a:path w="84" h="99">
                      <a:moveTo>
                        <a:pt x="0" y="0"/>
                      </a:moveTo>
                      <a:lnTo>
                        <a:pt x="50" y="47"/>
                      </a:lnTo>
                      <a:lnTo>
                        <a:pt x="84" y="99"/>
                      </a:lnTo>
                      <a:lnTo>
                        <a:pt x="32" y="64"/>
                      </a:lnTo>
                      <a:lnTo>
                        <a:pt x="0" y="0"/>
                      </a:lnTo>
                      <a:close/>
                    </a:path>
                  </a:pathLst>
                </a:custGeom>
                <a:solidFill>
                  <a:srgbClr val="9F9F9F"/>
                </a:solidFill>
                <a:ln w="9525">
                  <a:solidFill>
                    <a:schemeClr val="tx1"/>
                  </a:solidFill>
                  <a:round/>
                  <a:headEnd/>
                  <a:tailEnd/>
                </a:ln>
              </p:spPr>
              <p:txBody>
                <a:bodyPr/>
                <a:lstStyle/>
                <a:p>
                  <a:endParaRPr lang="sv-SE"/>
                </a:p>
              </p:txBody>
            </p:sp>
            <p:sp>
              <p:nvSpPr>
                <p:cNvPr id="20575" name="Freeform 154"/>
                <p:cNvSpPr>
                  <a:spLocks/>
                </p:cNvSpPr>
                <p:nvPr/>
              </p:nvSpPr>
              <p:spPr bwMode="auto">
                <a:xfrm>
                  <a:off x="2812" y="2026"/>
                  <a:ext cx="37" cy="88"/>
                </a:xfrm>
                <a:custGeom>
                  <a:avLst/>
                  <a:gdLst>
                    <a:gd name="T0" fmla="*/ 6 w 37"/>
                    <a:gd name="T1" fmla="*/ 0 h 88"/>
                    <a:gd name="T2" fmla="*/ 37 w 37"/>
                    <a:gd name="T3" fmla="*/ 61 h 88"/>
                    <a:gd name="T4" fmla="*/ 14 w 37"/>
                    <a:gd name="T5" fmla="*/ 88 h 88"/>
                    <a:gd name="T6" fmla="*/ 0 w 37"/>
                    <a:gd name="T7" fmla="*/ 72 h 88"/>
                    <a:gd name="T8" fmla="*/ 6 w 37"/>
                    <a:gd name="T9" fmla="*/ 0 h 88"/>
                    <a:gd name="T10" fmla="*/ 0 60000 65536"/>
                    <a:gd name="T11" fmla="*/ 0 60000 65536"/>
                    <a:gd name="T12" fmla="*/ 0 60000 65536"/>
                    <a:gd name="T13" fmla="*/ 0 60000 65536"/>
                    <a:gd name="T14" fmla="*/ 0 60000 65536"/>
                    <a:gd name="T15" fmla="*/ 0 w 37"/>
                    <a:gd name="T16" fmla="*/ 0 h 88"/>
                    <a:gd name="T17" fmla="*/ 37 w 37"/>
                    <a:gd name="T18" fmla="*/ 88 h 88"/>
                  </a:gdLst>
                  <a:ahLst/>
                  <a:cxnLst>
                    <a:cxn ang="T10">
                      <a:pos x="T0" y="T1"/>
                    </a:cxn>
                    <a:cxn ang="T11">
                      <a:pos x="T2" y="T3"/>
                    </a:cxn>
                    <a:cxn ang="T12">
                      <a:pos x="T4" y="T5"/>
                    </a:cxn>
                    <a:cxn ang="T13">
                      <a:pos x="T6" y="T7"/>
                    </a:cxn>
                    <a:cxn ang="T14">
                      <a:pos x="T8" y="T9"/>
                    </a:cxn>
                  </a:cxnLst>
                  <a:rect l="T15" t="T16" r="T17" b="T18"/>
                  <a:pathLst>
                    <a:path w="37" h="88">
                      <a:moveTo>
                        <a:pt x="6" y="0"/>
                      </a:moveTo>
                      <a:lnTo>
                        <a:pt x="37" y="61"/>
                      </a:lnTo>
                      <a:lnTo>
                        <a:pt x="14" y="88"/>
                      </a:lnTo>
                      <a:lnTo>
                        <a:pt x="0" y="72"/>
                      </a:lnTo>
                      <a:lnTo>
                        <a:pt x="6" y="0"/>
                      </a:lnTo>
                      <a:close/>
                    </a:path>
                  </a:pathLst>
                </a:custGeom>
                <a:solidFill>
                  <a:srgbClr val="5F5F5F"/>
                </a:solidFill>
                <a:ln w="9525">
                  <a:solidFill>
                    <a:schemeClr val="tx1"/>
                  </a:solidFill>
                  <a:round/>
                  <a:headEnd/>
                  <a:tailEnd/>
                </a:ln>
              </p:spPr>
              <p:txBody>
                <a:bodyPr/>
                <a:lstStyle/>
                <a:p>
                  <a:endParaRPr lang="sv-SE"/>
                </a:p>
              </p:txBody>
            </p:sp>
            <p:sp>
              <p:nvSpPr>
                <p:cNvPr id="20576" name="Freeform 155"/>
                <p:cNvSpPr>
                  <a:spLocks/>
                </p:cNvSpPr>
                <p:nvPr/>
              </p:nvSpPr>
              <p:spPr bwMode="auto">
                <a:xfrm>
                  <a:off x="2842" y="1484"/>
                  <a:ext cx="574" cy="613"/>
                </a:xfrm>
                <a:custGeom>
                  <a:avLst/>
                  <a:gdLst>
                    <a:gd name="T0" fmla="*/ 432 w 574"/>
                    <a:gd name="T1" fmla="*/ 0 h 613"/>
                    <a:gd name="T2" fmla="*/ 2 w 574"/>
                    <a:gd name="T3" fmla="*/ 583 h 613"/>
                    <a:gd name="T4" fmla="*/ 0 w 574"/>
                    <a:gd name="T5" fmla="*/ 590 h 613"/>
                    <a:gd name="T6" fmla="*/ 1 w 574"/>
                    <a:gd name="T7" fmla="*/ 599 h 613"/>
                    <a:gd name="T8" fmla="*/ 4 w 574"/>
                    <a:gd name="T9" fmla="*/ 607 h 613"/>
                    <a:gd name="T10" fmla="*/ 9 w 574"/>
                    <a:gd name="T11" fmla="*/ 611 h 613"/>
                    <a:gd name="T12" fmla="*/ 17 w 574"/>
                    <a:gd name="T13" fmla="*/ 613 h 613"/>
                    <a:gd name="T14" fmla="*/ 26 w 574"/>
                    <a:gd name="T15" fmla="*/ 612 h 613"/>
                    <a:gd name="T16" fmla="*/ 574 w 574"/>
                    <a:gd name="T17" fmla="*/ 122 h 613"/>
                    <a:gd name="T18" fmla="*/ 432 w 574"/>
                    <a:gd name="T19" fmla="*/ 0 h 6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4"/>
                    <a:gd name="T31" fmla="*/ 0 h 613"/>
                    <a:gd name="T32" fmla="*/ 574 w 574"/>
                    <a:gd name="T33" fmla="*/ 613 h 6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4" h="613">
                      <a:moveTo>
                        <a:pt x="432" y="0"/>
                      </a:moveTo>
                      <a:lnTo>
                        <a:pt x="2" y="583"/>
                      </a:lnTo>
                      <a:lnTo>
                        <a:pt x="0" y="590"/>
                      </a:lnTo>
                      <a:lnTo>
                        <a:pt x="1" y="599"/>
                      </a:lnTo>
                      <a:lnTo>
                        <a:pt x="4" y="607"/>
                      </a:lnTo>
                      <a:lnTo>
                        <a:pt x="9" y="611"/>
                      </a:lnTo>
                      <a:lnTo>
                        <a:pt x="17" y="613"/>
                      </a:lnTo>
                      <a:lnTo>
                        <a:pt x="26" y="612"/>
                      </a:lnTo>
                      <a:lnTo>
                        <a:pt x="574" y="122"/>
                      </a:lnTo>
                      <a:lnTo>
                        <a:pt x="432" y="0"/>
                      </a:lnTo>
                      <a:close/>
                    </a:path>
                  </a:pathLst>
                </a:custGeom>
                <a:solidFill>
                  <a:srgbClr val="808080"/>
                </a:solidFill>
                <a:ln w="9525">
                  <a:solidFill>
                    <a:schemeClr val="tx1"/>
                  </a:solidFill>
                  <a:round/>
                  <a:headEnd/>
                  <a:tailEnd/>
                </a:ln>
              </p:spPr>
              <p:txBody>
                <a:bodyPr/>
                <a:lstStyle/>
                <a:p>
                  <a:endParaRPr lang="sv-SE"/>
                </a:p>
              </p:txBody>
            </p:sp>
            <p:sp>
              <p:nvSpPr>
                <p:cNvPr id="20577" name="Freeform 156"/>
                <p:cNvSpPr>
                  <a:spLocks/>
                </p:cNvSpPr>
                <p:nvPr/>
              </p:nvSpPr>
              <p:spPr bwMode="auto">
                <a:xfrm>
                  <a:off x="3261" y="1425"/>
                  <a:ext cx="240" cy="110"/>
                </a:xfrm>
                <a:custGeom>
                  <a:avLst/>
                  <a:gdLst>
                    <a:gd name="T0" fmla="*/ 68 w 240"/>
                    <a:gd name="T1" fmla="*/ 0 h 110"/>
                    <a:gd name="T2" fmla="*/ 240 w 240"/>
                    <a:gd name="T3" fmla="*/ 55 h 110"/>
                    <a:gd name="T4" fmla="*/ 227 w 240"/>
                    <a:gd name="T5" fmla="*/ 68 h 110"/>
                    <a:gd name="T6" fmla="*/ 226 w 240"/>
                    <a:gd name="T7" fmla="*/ 80 h 110"/>
                    <a:gd name="T8" fmla="*/ 83 w 240"/>
                    <a:gd name="T9" fmla="*/ 30 h 110"/>
                    <a:gd name="T10" fmla="*/ 2 w 240"/>
                    <a:gd name="T11" fmla="*/ 110 h 110"/>
                    <a:gd name="T12" fmla="*/ 0 w 240"/>
                    <a:gd name="T13" fmla="*/ 82 h 110"/>
                    <a:gd name="T14" fmla="*/ 68 w 240"/>
                    <a:gd name="T15" fmla="*/ 0 h 110"/>
                    <a:gd name="T16" fmla="*/ 0 60000 65536"/>
                    <a:gd name="T17" fmla="*/ 0 60000 65536"/>
                    <a:gd name="T18" fmla="*/ 0 60000 65536"/>
                    <a:gd name="T19" fmla="*/ 0 60000 65536"/>
                    <a:gd name="T20" fmla="*/ 0 60000 65536"/>
                    <a:gd name="T21" fmla="*/ 0 60000 65536"/>
                    <a:gd name="T22" fmla="*/ 0 60000 65536"/>
                    <a:gd name="T23" fmla="*/ 0 60000 65536"/>
                    <a:gd name="T24" fmla="*/ 0 w 240"/>
                    <a:gd name="T25" fmla="*/ 0 h 110"/>
                    <a:gd name="T26" fmla="*/ 240 w 240"/>
                    <a:gd name="T27" fmla="*/ 110 h 1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0" h="110">
                      <a:moveTo>
                        <a:pt x="68" y="0"/>
                      </a:moveTo>
                      <a:lnTo>
                        <a:pt x="240" y="55"/>
                      </a:lnTo>
                      <a:lnTo>
                        <a:pt x="227" y="68"/>
                      </a:lnTo>
                      <a:lnTo>
                        <a:pt x="226" y="80"/>
                      </a:lnTo>
                      <a:lnTo>
                        <a:pt x="83" y="30"/>
                      </a:lnTo>
                      <a:lnTo>
                        <a:pt x="2" y="110"/>
                      </a:lnTo>
                      <a:lnTo>
                        <a:pt x="0" y="82"/>
                      </a:lnTo>
                      <a:lnTo>
                        <a:pt x="68" y="0"/>
                      </a:lnTo>
                      <a:close/>
                    </a:path>
                  </a:pathLst>
                </a:custGeom>
                <a:solidFill>
                  <a:srgbClr val="808080"/>
                </a:solidFill>
                <a:ln w="9525">
                  <a:solidFill>
                    <a:schemeClr val="tx1"/>
                  </a:solidFill>
                  <a:round/>
                  <a:headEnd/>
                  <a:tailEnd/>
                </a:ln>
              </p:spPr>
              <p:txBody>
                <a:bodyPr/>
                <a:lstStyle/>
                <a:p>
                  <a:endParaRPr lang="sv-SE"/>
                </a:p>
              </p:txBody>
            </p:sp>
            <p:sp>
              <p:nvSpPr>
                <p:cNvPr id="20578" name="Freeform 157"/>
                <p:cNvSpPr>
                  <a:spLocks/>
                </p:cNvSpPr>
                <p:nvPr/>
              </p:nvSpPr>
              <p:spPr bwMode="auto">
                <a:xfrm>
                  <a:off x="3340" y="1449"/>
                  <a:ext cx="166" cy="96"/>
                </a:xfrm>
                <a:custGeom>
                  <a:avLst/>
                  <a:gdLst>
                    <a:gd name="T0" fmla="*/ 0 w 166"/>
                    <a:gd name="T1" fmla="*/ 0 h 96"/>
                    <a:gd name="T2" fmla="*/ 163 w 166"/>
                    <a:gd name="T3" fmla="*/ 46 h 96"/>
                    <a:gd name="T4" fmla="*/ 166 w 166"/>
                    <a:gd name="T5" fmla="*/ 61 h 96"/>
                    <a:gd name="T6" fmla="*/ 163 w 166"/>
                    <a:gd name="T7" fmla="*/ 75 h 96"/>
                    <a:gd name="T8" fmla="*/ 156 w 166"/>
                    <a:gd name="T9" fmla="*/ 86 h 96"/>
                    <a:gd name="T10" fmla="*/ 129 w 166"/>
                    <a:gd name="T11" fmla="*/ 96 h 96"/>
                    <a:gd name="T12" fmla="*/ 85 w 166"/>
                    <a:gd name="T13" fmla="*/ 84 h 96"/>
                    <a:gd name="T14" fmla="*/ 33 w 166"/>
                    <a:gd name="T15" fmla="*/ 52 h 96"/>
                    <a:gd name="T16" fmla="*/ 5 w 166"/>
                    <a:gd name="T17" fmla="*/ 19 h 96"/>
                    <a:gd name="T18" fmla="*/ 0 w 166"/>
                    <a:gd name="T19" fmla="*/ 0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6"/>
                    <a:gd name="T31" fmla="*/ 0 h 96"/>
                    <a:gd name="T32" fmla="*/ 166 w 166"/>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6" h="96">
                      <a:moveTo>
                        <a:pt x="0" y="0"/>
                      </a:moveTo>
                      <a:lnTo>
                        <a:pt x="163" y="46"/>
                      </a:lnTo>
                      <a:lnTo>
                        <a:pt x="166" y="61"/>
                      </a:lnTo>
                      <a:lnTo>
                        <a:pt x="163" y="75"/>
                      </a:lnTo>
                      <a:lnTo>
                        <a:pt x="156" y="86"/>
                      </a:lnTo>
                      <a:lnTo>
                        <a:pt x="129" y="96"/>
                      </a:lnTo>
                      <a:lnTo>
                        <a:pt x="85" y="84"/>
                      </a:lnTo>
                      <a:lnTo>
                        <a:pt x="33" y="52"/>
                      </a:lnTo>
                      <a:lnTo>
                        <a:pt x="5" y="19"/>
                      </a:lnTo>
                      <a:lnTo>
                        <a:pt x="0" y="0"/>
                      </a:lnTo>
                      <a:close/>
                    </a:path>
                  </a:pathLst>
                </a:custGeom>
                <a:solidFill>
                  <a:srgbClr val="9F9F9F"/>
                </a:solidFill>
                <a:ln w="9525">
                  <a:solidFill>
                    <a:schemeClr val="tx1"/>
                  </a:solidFill>
                  <a:round/>
                  <a:headEnd/>
                  <a:tailEnd/>
                </a:ln>
              </p:spPr>
              <p:txBody>
                <a:bodyPr/>
                <a:lstStyle/>
                <a:p>
                  <a:endParaRPr lang="sv-SE"/>
                </a:p>
              </p:txBody>
            </p:sp>
            <p:sp>
              <p:nvSpPr>
                <p:cNvPr id="20579" name="Freeform 158"/>
                <p:cNvSpPr>
                  <a:spLocks/>
                </p:cNvSpPr>
                <p:nvPr/>
              </p:nvSpPr>
              <p:spPr bwMode="auto">
                <a:xfrm>
                  <a:off x="3324" y="1383"/>
                  <a:ext cx="178" cy="98"/>
                </a:xfrm>
                <a:custGeom>
                  <a:avLst/>
                  <a:gdLst>
                    <a:gd name="T0" fmla="*/ 9 w 178"/>
                    <a:gd name="T1" fmla="*/ 47 h 98"/>
                    <a:gd name="T2" fmla="*/ 178 w 178"/>
                    <a:gd name="T3" fmla="*/ 98 h 98"/>
                    <a:gd name="T4" fmla="*/ 174 w 178"/>
                    <a:gd name="T5" fmla="*/ 81 h 98"/>
                    <a:gd name="T6" fmla="*/ 167 w 178"/>
                    <a:gd name="T7" fmla="*/ 68 h 98"/>
                    <a:gd name="T8" fmla="*/ 155 w 178"/>
                    <a:gd name="T9" fmla="*/ 50 h 98"/>
                    <a:gd name="T10" fmla="*/ 145 w 178"/>
                    <a:gd name="T11" fmla="*/ 38 h 98"/>
                    <a:gd name="T12" fmla="*/ 130 w 178"/>
                    <a:gd name="T13" fmla="*/ 25 h 98"/>
                    <a:gd name="T14" fmla="*/ 114 w 178"/>
                    <a:gd name="T15" fmla="*/ 15 h 98"/>
                    <a:gd name="T16" fmla="*/ 96 w 178"/>
                    <a:gd name="T17" fmla="*/ 8 h 98"/>
                    <a:gd name="T18" fmla="*/ 79 w 178"/>
                    <a:gd name="T19" fmla="*/ 3 h 98"/>
                    <a:gd name="T20" fmla="*/ 61 w 178"/>
                    <a:gd name="T21" fmla="*/ 0 h 98"/>
                    <a:gd name="T22" fmla="*/ 47 w 178"/>
                    <a:gd name="T23" fmla="*/ 0 h 98"/>
                    <a:gd name="T24" fmla="*/ 35 w 178"/>
                    <a:gd name="T25" fmla="*/ 2 h 98"/>
                    <a:gd name="T26" fmla="*/ 20 w 178"/>
                    <a:gd name="T27" fmla="*/ 7 h 98"/>
                    <a:gd name="T28" fmla="*/ 9 w 178"/>
                    <a:gd name="T29" fmla="*/ 15 h 98"/>
                    <a:gd name="T30" fmla="*/ 3 w 178"/>
                    <a:gd name="T31" fmla="*/ 26 h 98"/>
                    <a:gd name="T32" fmla="*/ 0 w 178"/>
                    <a:gd name="T33" fmla="*/ 44 h 98"/>
                    <a:gd name="T34" fmla="*/ 9 w 178"/>
                    <a:gd name="T35" fmla="*/ 47 h 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8"/>
                    <a:gd name="T55" fmla="*/ 0 h 98"/>
                    <a:gd name="T56" fmla="*/ 178 w 178"/>
                    <a:gd name="T57" fmla="*/ 98 h 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8" h="98">
                      <a:moveTo>
                        <a:pt x="9" y="47"/>
                      </a:moveTo>
                      <a:lnTo>
                        <a:pt x="178" y="98"/>
                      </a:lnTo>
                      <a:lnTo>
                        <a:pt x="174" y="81"/>
                      </a:lnTo>
                      <a:lnTo>
                        <a:pt x="167" y="68"/>
                      </a:lnTo>
                      <a:lnTo>
                        <a:pt x="155" y="50"/>
                      </a:lnTo>
                      <a:lnTo>
                        <a:pt x="145" y="38"/>
                      </a:lnTo>
                      <a:lnTo>
                        <a:pt x="130" y="25"/>
                      </a:lnTo>
                      <a:lnTo>
                        <a:pt x="114" y="15"/>
                      </a:lnTo>
                      <a:lnTo>
                        <a:pt x="96" y="8"/>
                      </a:lnTo>
                      <a:lnTo>
                        <a:pt x="79" y="3"/>
                      </a:lnTo>
                      <a:lnTo>
                        <a:pt x="61" y="0"/>
                      </a:lnTo>
                      <a:lnTo>
                        <a:pt x="47" y="0"/>
                      </a:lnTo>
                      <a:lnTo>
                        <a:pt x="35" y="2"/>
                      </a:lnTo>
                      <a:lnTo>
                        <a:pt x="20" y="7"/>
                      </a:lnTo>
                      <a:lnTo>
                        <a:pt x="9" y="15"/>
                      </a:lnTo>
                      <a:lnTo>
                        <a:pt x="3" y="26"/>
                      </a:lnTo>
                      <a:lnTo>
                        <a:pt x="0" y="44"/>
                      </a:lnTo>
                      <a:lnTo>
                        <a:pt x="9" y="47"/>
                      </a:lnTo>
                      <a:close/>
                    </a:path>
                  </a:pathLst>
                </a:custGeom>
                <a:solidFill>
                  <a:srgbClr val="9F9F9F"/>
                </a:solidFill>
                <a:ln w="9525">
                  <a:solidFill>
                    <a:schemeClr val="tx1"/>
                  </a:solidFill>
                  <a:round/>
                  <a:headEnd/>
                  <a:tailEnd/>
                </a:ln>
              </p:spPr>
              <p:txBody>
                <a:bodyPr/>
                <a:lstStyle/>
                <a:p>
                  <a:endParaRPr lang="sv-SE"/>
                </a:p>
              </p:txBody>
            </p:sp>
            <p:sp>
              <p:nvSpPr>
                <p:cNvPr id="20580" name="Freeform 159"/>
                <p:cNvSpPr>
                  <a:spLocks/>
                </p:cNvSpPr>
                <p:nvPr/>
              </p:nvSpPr>
              <p:spPr bwMode="auto">
                <a:xfrm>
                  <a:off x="3252" y="1412"/>
                  <a:ext cx="245" cy="219"/>
                </a:xfrm>
                <a:custGeom>
                  <a:avLst/>
                  <a:gdLst>
                    <a:gd name="T0" fmla="*/ 74 w 245"/>
                    <a:gd name="T1" fmla="*/ 0 h 219"/>
                    <a:gd name="T2" fmla="*/ 4 w 245"/>
                    <a:gd name="T3" fmla="*/ 96 h 219"/>
                    <a:gd name="T4" fmla="*/ 0 w 245"/>
                    <a:gd name="T5" fmla="*/ 113 h 219"/>
                    <a:gd name="T6" fmla="*/ 0 w 245"/>
                    <a:gd name="T7" fmla="*/ 125 h 219"/>
                    <a:gd name="T8" fmla="*/ 1 w 245"/>
                    <a:gd name="T9" fmla="*/ 139 h 219"/>
                    <a:gd name="T10" fmla="*/ 5 w 245"/>
                    <a:gd name="T11" fmla="*/ 156 h 219"/>
                    <a:gd name="T12" fmla="*/ 12 w 245"/>
                    <a:gd name="T13" fmla="*/ 170 h 219"/>
                    <a:gd name="T14" fmla="*/ 24 w 245"/>
                    <a:gd name="T15" fmla="*/ 185 h 219"/>
                    <a:gd name="T16" fmla="*/ 38 w 245"/>
                    <a:gd name="T17" fmla="*/ 196 h 219"/>
                    <a:gd name="T18" fmla="*/ 58 w 245"/>
                    <a:gd name="T19" fmla="*/ 208 h 219"/>
                    <a:gd name="T20" fmla="*/ 75 w 245"/>
                    <a:gd name="T21" fmla="*/ 214 h 219"/>
                    <a:gd name="T22" fmla="*/ 92 w 245"/>
                    <a:gd name="T23" fmla="*/ 217 h 219"/>
                    <a:gd name="T24" fmla="*/ 114 w 245"/>
                    <a:gd name="T25" fmla="*/ 219 h 219"/>
                    <a:gd name="T26" fmla="*/ 129 w 245"/>
                    <a:gd name="T27" fmla="*/ 216 h 219"/>
                    <a:gd name="T28" fmla="*/ 146 w 245"/>
                    <a:gd name="T29" fmla="*/ 210 h 219"/>
                    <a:gd name="T30" fmla="*/ 245 w 245"/>
                    <a:gd name="T31" fmla="*/ 122 h 219"/>
                    <a:gd name="T32" fmla="*/ 229 w 245"/>
                    <a:gd name="T33" fmla="*/ 127 h 219"/>
                    <a:gd name="T34" fmla="*/ 214 w 245"/>
                    <a:gd name="T35" fmla="*/ 128 h 219"/>
                    <a:gd name="T36" fmla="*/ 195 w 245"/>
                    <a:gd name="T37" fmla="*/ 125 h 219"/>
                    <a:gd name="T38" fmla="*/ 179 w 245"/>
                    <a:gd name="T39" fmla="*/ 120 h 219"/>
                    <a:gd name="T40" fmla="*/ 162 w 245"/>
                    <a:gd name="T41" fmla="*/ 114 h 219"/>
                    <a:gd name="T42" fmla="*/ 141 w 245"/>
                    <a:gd name="T43" fmla="*/ 101 h 219"/>
                    <a:gd name="T44" fmla="*/ 122 w 245"/>
                    <a:gd name="T45" fmla="*/ 87 h 219"/>
                    <a:gd name="T46" fmla="*/ 112 w 245"/>
                    <a:gd name="T47" fmla="*/ 76 h 219"/>
                    <a:gd name="T48" fmla="*/ 100 w 245"/>
                    <a:gd name="T49" fmla="*/ 61 h 219"/>
                    <a:gd name="T50" fmla="*/ 92 w 245"/>
                    <a:gd name="T51" fmla="*/ 50 h 219"/>
                    <a:gd name="T52" fmla="*/ 86 w 245"/>
                    <a:gd name="T53" fmla="*/ 36 h 219"/>
                    <a:gd name="T54" fmla="*/ 14 w 245"/>
                    <a:gd name="T55" fmla="*/ 115 h 219"/>
                    <a:gd name="T56" fmla="*/ 14 w 245"/>
                    <a:gd name="T57" fmla="*/ 97 h 219"/>
                    <a:gd name="T58" fmla="*/ 81 w 245"/>
                    <a:gd name="T59" fmla="*/ 20 h 219"/>
                    <a:gd name="T60" fmla="*/ 78 w 245"/>
                    <a:gd name="T61" fmla="*/ 15 h 219"/>
                    <a:gd name="T62" fmla="*/ 75 w 245"/>
                    <a:gd name="T63" fmla="*/ 7 h 219"/>
                    <a:gd name="T64" fmla="*/ 74 w 245"/>
                    <a:gd name="T65" fmla="*/ 0 h 2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45"/>
                    <a:gd name="T100" fmla="*/ 0 h 219"/>
                    <a:gd name="T101" fmla="*/ 245 w 245"/>
                    <a:gd name="T102" fmla="*/ 219 h 2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45" h="219">
                      <a:moveTo>
                        <a:pt x="74" y="0"/>
                      </a:moveTo>
                      <a:lnTo>
                        <a:pt x="4" y="96"/>
                      </a:lnTo>
                      <a:lnTo>
                        <a:pt x="0" y="113"/>
                      </a:lnTo>
                      <a:lnTo>
                        <a:pt x="0" y="125"/>
                      </a:lnTo>
                      <a:lnTo>
                        <a:pt x="1" y="139"/>
                      </a:lnTo>
                      <a:lnTo>
                        <a:pt x="5" y="156"/>
                      </a:lnTo>
                      <a:lnTo>
                        <a:pt x="12" y="170"/>
                      </a:lnTo>
                      <a:lnTo>
                        <a:pt x="24" y="185"/>
                      </a:lnTo>
                      <a:lnTo>
                        <a:pt x="38" y="196"/>
                      </a:lnTo>
                      <a:lnTo>
                        <a:pt x="58" y="208"/>
                      </a:lnTo>
                      <a:lnTo>
                        <a:pt x="75" y="214"/>
                      </a:lnTo>
                      <a:lnTo>
                        <a:pt x="92" y="217"/>
                      </a:lnTo>
                      <a:lnTo>
                        <a:pt x="114" y="219"/>
                      </a:lnTo>
                      <a:lnTo>
                        <a:pt x="129" y="216"/>
                      </a:lnTo>
                      <a:lnTo>
                        <a:pt x="146" y="210"/>
                      </a:lnTo>
                      <a:lnTo>
                        <a:pt x="245" y="122"/>
                      </a:lnTo>
                      <a:lnTo>
                        <a:pt x="229" y="127"/>
                      </a:lnTo>
                      <a:lnTo>
                        <a:pt x="214" y="128"/>
                      </a:lnTo>
                      <a:lnTo>
                        <a:pt x="195" y="125"/>
                      </a:lnTo>
                      <a:lnTo>
                        <a:pt x="179" y="120"/>
                      </a:lnTo>
                      <a:lnTo>
                        <a:pt x="162" y="114"/>
                      </a:lnTo>
                      <a:lnTo>
                        <a:pt x="141" y="101"/>
                      </a:lnTo>
                      <a:lnTo>
                        <a:pt x="122" y="87"/>
                      </a:lnTo>
                      <a:lnTo>
                        <a:pt x="112" y="76"/>
                      </a:lnTo>
                      <a:lnTo>
                        <a:pt x="100" y="61"/>
                      </a:lnTo>
                      <a:lnTo>
                        <a:pt x="92" y="50"/>
                      </a:lnTo>
                      <a:lnTo>
                        <a:pt x="86" y="36"/>
                      </a:lnTo>
                      <a:lnTo>
                        <a:pt x="14" y="115"/>
                      </a:lnTo>
                      <a:lnTo>
                        <a:pt x="14" y="97"/>
                      </a:lnTo>
                      <a:lnTo>
                        <a:pt x="81" y="20"/>
                      </a:lnTo>
                      <a:lnTo>
                        <a:pt x="78" y="15"/>
                      </a:lnTo>
                      <a:lnTo>
                        <a:pt x="75" y="7"/>
                      </a:lnTo>
                      <a:lnTo>
                        <a:pt x="74" y="0"/>
                      </a:lnTo>
                      <a:close/>
                    </a:path>
                  </a:pathLst>
                </a:custGeom>
                <a:solidFill>
                  <a:srgbClr val="C0C0C0"/>
                </a:solidFill>
                <a:ln w="9525">
                  <a:solidFill>
                    <a:schemeClr val="tx1"/>
                  </a:solidFill>
                  <a:round/>
                  <a:headEnd/>
                  <a:tailEnd/>
                </a:ln>
              </p:spPr>
              <p:txBody>
                <a:bodyPr/>
                <a:lstStyle/>
                <a:p>
                  <a:endParaRPr lang="sv-SE"/>
                </a:p>
              </p:txBody>
            </p:sp>
            <p:grpSp>
              <p:nvGrpSpPr>
                <p:cNvPr id="20623" name="Group 160"/>
                <p:cNvGrpSpPr>
                  <a:grpSpLocks/>
                </p:cNvGrpSpPr>
                <p:nvPr/>
              </p:nvGrpSpPr>
              <p:grpSpPr bwMode="auto">
                <a:xfrm>
                  <a:off x="3082" y="1263"/>
                  <a:ext cx="528" cy="558"/>
                  <a:chOff x="3082" y="1263"/>
                  <a:chExt cx="528" cy="558"/>
                </a:xfrm>
              </p:grpSpPr>
              <p:sp>
                <p:nvSpPr>
                  <p:cNvPr id="20585" name="Freeform 161"/>
                  <p:cNvSpPr>
                    <a:spLocks/>
                  </p:cNvSpPr>
                  <p:nvPr/>
                </p:nvSpPr>
                <p:spPr bwMode="auto">
                  <a:xfrm>
                    <a:off x="3125" y="1585"/>
                    <a:ext cx="485" cy="236"/>
                  </a:xfrm>
                  <a:custGeom>
                    <a:avLst/>
                    <a:gdLst>
                      <a:gd name="T0" fmla="*/ 0 w 485"/>
                      <a:gd name="T1" fmla="*/ 236 h 236"/>
                      <a:gd name="T2" fmla="*/ 276 w 485"/>
                      <a:gd name="T3" fmla="*/ 0 h 236"/>
                      <a:gd name="T4" fmla="*/ 485 w 485"/>
                      <a:gd name="T5" fmla="*/ 11 h 236"/>
                      <a:gd name="T6" fmla="*/ 369 w 485"/>
                      <a:gd name="T7" fmla="*/ 74 h 236"/>
                      <a:gd name="T8" fmla="*/ 389 w 485"/>
                      <a:gd name="T9" fmla="*/ 79 h 236"/>
                      <a:gd name="T10" fmla="*/ 261 w 485"/>
                      <a:gd name="T11" fmla="*/ 143 h 236"/>
                      <a:gd name="T12" fmla="*/ 282 w 485"/>
                      <a:gd name="T13" fmla="*/ 149 h 236"/>
                      <a:gd name="T14" fmla="*/ 144 w 485"/>
                      <a:gd name="T15" fmla="*/ 215 h 236"/>
                      <a:gd name="T16" fmla="*/ 0 w 485"/>
                      <a:gd name="T17" fmla="*/ 236 h 2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5"/>
                      <a:gd name="T28" fmla="*/ 0 h 236"/>
                      <a:gd name="T29" fmla="*/ 485 w 485"/>
                      <a:gd name="T30" fmla="*/ 236 h 2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5" h="236">
                        <a:moveTo>
                          <a:pt x="0" y="236"/>
                        </a:moveTo>
                        <a:lnTo>
                          <a:pt x="276" y="0"/>
                        </a:lnTo>
                        <a:lnTo>
                          <a:pt x="485" y="11"/>
                        </a:lnTo>
                        <a:lnTo>
                          <a:pt x="369" y="74"/>
                        </a:lnTo>
                        <a:lnTo>
                          <a:pt x="389" y="79"/>
                        </a:lnTo>
                        <a:lnTo>
                          <a:pt x="261" y="143"/>
                        </a:lnTo>
                        <a:lnTo>
                          <a:pt x="282" y="149"/>
                        </a:lnTo>
                        <a:lnTo>
                          <a:pt x="144" y="215"/>
                        </a:lnTo>
                        <a:lnTo>
                          <a:pt x="0" y="236"/>
                        </a:lnTo>
                        <a:close/>
                      </a:path>
                    </a:pathLst>
                  </a:custGeom>
                  <a:solidFill>
                    <a:srgbClr val="FFFF00"/>
                  </a:solidFill>
                  <a:ln w="9525">
                    <a:solidFill>
                      <a:schemeClr val="tx1"/>
                    </a:solidFill>
                    <a:round/>
                    <a:headEnd/>
                    <a:tailEnd/>
                  </a:ln>
                </p:spPr>
                <p:txBody>
                  <a:bodyPr/>
                  <a:lstStyle/>
                  <a:p>
                    <a:endParaRPr lang="sv-SE"/>
                  </a:p>
                </p:txBody>
              </p:sp>
              <p:sp>
                <p:nvSpPr>
                  <p:cNvPr id="20586" name="Freeform 162"/>
                  <p:cNvSpPr>
                    <a:spLocks/>
                  </p:cNvSpPr>
                  <p:nvPr/>
                </p:nvSpPr>
                <p:spPr bwMode="auto">
                  <a:xfrm>
                    <a:off x="3101" y="1507"/>
                    <a:ext cx="218" cy="282"/>
                  </a:xfrm>
                  <a:custGeom>
                    <a:avLst/>
                    <a:gdLst>
                      <a:gd name="T0" fmla="*/ 21 w 218"/>
                      <a:gd name="T1" fmla="*/ 237 h 282"/>
                      <a:gd name="T2" fmla="*/ 218 w 218"/>
                      <a:gd name="T3" fmla="*/ 0 h 282"/>
                      <a:gd name="T4" fmla="*/ 174 w 218"/>
                      <a:gd name="T5" fmla="*/ 93 h 282"/>
                      <a:gd name="T6" fmla="*/ 0 w 218"/>
                      <a:gd name="T7" fmla="*/ 282 h 282"/>
                      <a:gd name="T8" fmla="*/ 21 w 218"/>
                      <a:gd name="T9" fmla="*/ 237 h 282"/>
                      <a:gd name="T10" fmla="*/ 0 60000 65536"/>
                      <a:gd name="T11" fmla="*/ 0 60000 65536"/>
                      <a:gd name="T12" fmla="*/ 0 60000 65536"/>
                      <a:gd name="T13" fmla="*/ 0 60000 65536"/>
                      <a:gd name="T14" fmla="*/ 0 60000 65536"/>
                      <a:gd name="T15" fmla="*/ 0 w 218"/>
                      <a:gd name="T16" fmla="*/ 0 h 282"/>
                      <a:gd name="T17" fmla="*/ 218 w 218"/>
                      <a:gd name="T18" fmla="*/ 282 h 282"/>
                    </a:gdLst>
                    <a:ahLst/>
                    <a:cxnLst>
                      <a:cxn ang="T10">
                        <a:pos x="T0" y="T1"/>
                      </a:cxn>
                      <a:cxn ang="T11">
                        <a:pos x="T2" y="T3"/>
                      </a:cxn>
                      <a:cxn ang="T12">
                        <a:pos x="T4" y="T5"/>
                      </a:cxn>
                      <a:cxn ang="T13">
                        <a:pos x="T6" y="T7"/>
                      </a:cxn>
                      <a:cxn ang="T14">
                        <a:pos x="T8" y="T9"/>
                      </a:cxn>
                    </a:cxnLst>
                    <a:rect l="T15" t="T16" r="T17" b="T18"/>
                    <a:pathLst>
                      <a:path w="218" h="282">
                        <a:moveTo>
                          <a:pt x="21" y="237"/>
                        </a:moveTo>
                        <a:lnTo>
                          <a:pt x="218" y="0"/>
                        </a:lnTo>
                        <a:lnTo>
                          <a:pt x="174" y="93"/>
                        </a:lnTo>
                        <a:lnTo>
                          <a:pt x="0" y="282"/>
                        </a:lnTo>
                        <a:lnTo>
                          <a:pt x="21" y="237"/>
                        </a:lnTo>
                        <a:close/>
                      </a:path>
                    </a:pathLst>
                  </a:custGeom>
                  <a:solidFill>
                    <a:srgbClr val="FFFF00"/>
                  </a:solidFill>
                  <a:ln w="9525">
                    <a:solidFill>
                      <a:schemeClr val="tx1"/>
                    </a:solidFill>
                    <a:round/>
                    <a:headEnd/>
                    <a:tailEnd/>
                  </a:ln>
                </p:spPr>
                <p:txBody>
                  <a:bodyPr/>
                  <a:lstStyle/>
                  <a:p>
                    <a:endParaRPr lang="sv-SE"/>
                  </a:p>
                </p:txBody>
              </p:sp>
              <p:sp>
                <p:nvSpPr>
                  <p:cNvPr id="20587" name="Freeform 163"/>
                  <p:cNvSpPr>
                    <a:spLocks/>
                  </p:cNvSpPr>
                  <p:nvPr/>
                </p:nvSpPr>
                <p:spPr bwMode="auto">
                  <a:xfrm>
                    <a:off x="3082" y="1263"/>
                    <a:ext cx="195" cy="502"/>
                  </a:xfrm>
                  <a:custGeom>
                    <a:avLst/>
                    <a:gdLst>
                      <a:gd name="T0" fmla="*/ 0 w 195"/>
                      <a:gd name="T1" fmla="*/ 502 h 502"/>
                      <a:gd name="T2" fmla="*/ 195 w 195"/>
                      <a:gd name="T3" fmla="*/ 235 h 502"/>
                      <a:gd name="T4" fmla="*/ 190 w 195"/>
                      <a:gd name="T5" fmla="*/ 0 h 502"/>
                      <a:gd name="T6" fmla="*/ 143 w 195"/>
                      <a:gd name="T7" fmla="*/ 101 h 502"/>
                      <a:gd name="T8" fmla="*/ 135 w 195"/>
                      <a:gd name="T9" fmla="*/ 136 h 502"/>
                      <a:gd name="T10" fmla="*/ 120 w 195"/>
                      <a:gd name="T11" fmla="*/ 117 h 502"/>
                      <a:gd name="T12" fmla="*/ 79 w 195"/>
                      <a:gd name="T13" fmla="*/ 247 h 502"/>
                      <a:gd name="T14" fmla="*/ 73 w 195"/>
                      <a:gd name="T15" fmla="*/ 224 h 502"/>
                      <a:gd name="T16" fmla="*/ 18 w 195"/>
                      <a:gd name="T17" fmla="*/ 354 h 502"/>
                      <a:gd name="T18" fmla="*/ 0 w 195"/>
                      <a:gd name="T19" fmla="*/ 502 h 5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5"/>
                      <a:gd name="T31" fmla="*/ 0 h 502"/>
                      <a:gd name="T32" fmla="*/ 195 w 195"/>
                      <a:gd name="T33" fmla="*/ 502 h 50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5" h="502">
                        <a:moveTo>
                          <a:pt x="0" y="502"/>
                        </a:moveTo>
                        <a:lnTo>
                          <a:pt x="195" y="235"/>
                        </a:lnTo>
                        <a:lnTo>
                          <a:pt x="190" y="0"/>
                        </a:lnTo>
                        <a:lnTo>
                          <a:pt x="143" y="101"/>
                        </a:lnTo>
                        <a:lnTo>
                          <a:pt x="135" y="136"/>
                        </a:lnTo>
                        <a:lnTo>
                          <a:pt x="120" y="117"/>
                        </a:lnTo>
                        <a:lnTo>
                          <a:pt x="79" y="247"/>
                        </a:lnTo>
                        <a:lnTo>
                          <a:pt x="73" y="224"/>
                        </a:lnTo>
                        <a:lnTo>
                          <a:pt x="18" y="354"/>
                        </a:lnTo>
                        <a:lnTo>
                          <a:pt x="0" y="502"/>
                        </a:lnTo>
                        <a:close/>
                      </a:path>
                    </a:pathLst>
                  </a:custGeom>
                  <a:solidFill>
                    <a:srgbClr val="FFFF00"/>
                  </a:solidFill>
                  <a:ln w="9525">
                    <a:solidFill>
                      <a:schemeClr val="tx1"/>
                    </a:solidFill>
                    <a:round/>
                    <a:headEnd/>
                    <a:tailEnd/>
                  </a:ln>
                </p:spPr>
                <p:txBody>
                  <a:bodyPr/>
                  <a:lstStyle/>
                  <a:p>
                    <a:endParaRPr lang="sv-SE"/>
                  </a:p>
                </p:txBody>
              </p:sp>
            </p:grpSp>
            <p:sp>
              <p:nvSpPr>
                <p:cNvPr id="20582" name="Freeform 164"/>
                <p:cNvSpPr>
                  <a:spLocks/>
                </p:cNvSpPr>
                <p:nvPr/>
              </p:nvSpPr>
              <p:spPr bwMode="auto">
                <a:xfrm>
                  <a:off x="3015" y="1742"/>
                  <a:ext cx="151" cy="164"/>
                </a:xfrm>
                <a:custGeom>
                  <a:avLst/>
                  <a:gdLst>
                    <a:gd name="T0" fmla="*/ 69 w 151"/>
                    <a:gd name="T1" fmla="*/ 0 h 164"/>
                    <a:gd name="T2" fmla="*/ 67 w 151"/>
                    <a:gd name="T3" fmla="*/ 17 h 164"/>
                    <a:gd name="T4" fmla="*/ 65 w 151"/>
                    <a:gd name="T5" fmla="*/ 29 h 164"/>
                    <a:gd name="T6" fmla="*/ 67 w 151"/>
                    <a:gd name="T7" fmla="*/ 41 h 164"/>
                    <a:gd name="T8" fmla="*/ 72 w 151"/>
                    <a:gd name="T9" fmla="*/ 51 h 164"/>
                    <a:gd name="T10" fmla="*/ 79 w 151"/>
                    <a:gd name="T11" fmla="*/ 63 h 164"/>
                    <a:gd name="T12" fmla="*/ 89 w 151"/>
                    <a:gd name="T13" fmla="*/ 74 h 164"/>
                    <a:gd name="T14" fmla="*/ 99 w 151"/>
                    <a:gd name="T15" fmla="*/ 82 h 164"/>
                    <a:gd name="T16" fmla="*/ 113 w 151"/>
                    <a:gd name="T17" fmla="*/ 86 h 164"/>
                    <a:gd name="T18" fmla="*/ 127 w 151"/>
                    <a:gd name="T19" fmla="*/ 89 h 164"/>
                    <a:gd name="T20" fmla="*/ 139 w 151"/>
                    <a:gd name="T21" fmla="*/ 88 h 164"/>
                    <a:gd name="T22" fmla="*/ 151 w 151"/>
                    <a:gd name="T23" fmla="*/ 86 h 164"/>
                    <a:gd name="T24" fmla="*/ 67 w 151"/>
                    <a:gd name="T25" fmla="*/ 161 h 164"/>
                    <a:gd name="T26" fmla="*/ 56 w 151"/>
                    <a:gd name="T27" fmla="*/ 164 h 164"/>
                    <a:gd name="T28" fmla="*/ 44 w 151"/>
                    <a:gd name="T29" fmla="*/ 164 h 164"/>
                    <a:gd name="T30" fmla="*/ 34 w 151"/>
                    <a:gd name="T31" fmla="*/ 161 h 164"/>
                    <a:gd name="T32" fmla="*/ 24 w 151"/>
                    <a:gd name="T33" fmla="*/ 156 h 164"/>
                    <a:gd name="T34" fmla="*/ 14 w 151"/>
                    <a:gd name="T35" fmla="*/ 149 h 164"/>
                    <a:gd name="T36" fmla="*/ 6 w 151"/>
                    <a:gd name="T37" fmla="*/ 139 h 164"/>
                    <a:gd name="T38" fmla="*/ 2 w 151"/>
                    <a:gd name="T39" fmla="*/ 127 h 164"/>
                    <a:gd name="T40" fmla="*/ 0 w 151"/>
                    <a:gd name="T41" fmla="*/ 116 h 164"/>
                    <a:gd name="T42" fmla="*/ 0 w 151"/>
                    <a:gd name="T43" fmla="*/ 104 h 164"/>
                    <a:gd name="T44" fmla="*/ 3 w 151"/>
                    <a:gd name="T45" fmla="*/ 90 h 164"/>
                    <a:gd name="T46" fmla="*/ 69 w 151"/>
                    <a:gd name="T47" fmla="*/ 0 h 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1"/>
                    <a:gd name="T73" fmla="*/ 0 h 164"/>
                    <a:gd name="T74" fmla="*/ 151 w 151"/>
                    <a:gd name="T75" fmla="*/ 164 h 16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1" h="164">
                      <a:moveTo>
                        <a:pt x="69" y="0"/>
                      </a:moveTo>
                      <a:lnTo>
                        <a:pt x="67" y="17"/>
                      </a:lnTo>
                      <a:lnTo>
                        <a:pt x="65" y="29"/>
                      </a:lnTo>
                      <a:lnTo>
                        <a:pt x="67" y="41"/>
                      </a:lnTo>
                      <a:lnTo>
                        <a:pt x="72" y="51"/>
                      </a:lnTo>
                      <a:lnTo>
                        <a:pt x="79" y="63"/>
                      </a:lnTo>
                      <a:lnTo>
                        <a:pt x="89" y="74"/>
                      </a:lnTo>
                      <a:lnTo>
                        <a:pt x="99" y="82"/>
                      </a:lnTo>
                      <a:lnTo>
                        <a:pt x="113" y="86"/>
                      </a:lnTo>
                      <a:lnTo>
                        <a:pt x="127" y="89"/>
                      </a:lnTo>
                      <a:lnTo>
                        <a:pt x="139" y="88"/>
                      </a:lnTo>
                      <a:lnTo>
                        <a:pt x="151" y="86"/>
                      </a:lnTo>
                      <a:lnTo>
                        <a:pt x="67" y="161"/>
                      </a:lnTo>
                      <a:lnTo>
                        <a:pt x="56" y="164"/>
                      </a:lnTo>
                      <a:lnTo>
                        <a:pt x="44" y="164"/>
                      </a:lnTo>
                      <a:lnTo>
                        <a:pt x="34" y="161"/>
                      </a:lnTo>
                      <a:lnTo>
                        <a:pt x="24" y="156"/>
                      </a:lnTo>
                      <a:lnTo>
                        <a:pt x="14" y="149"/>
                      </a:lnTo>
                      <a:lnTo>
                        <a:pt x="6" y="139"/>
                      </a:lnTo>
                      <a:lnTo>
                        <a:pt x="2" y="127"/>
                      </a:lnTo>
                      <a:lnTo>
                        <a:pt x="0" y="116"/>
                      </a:lnTo>
                      <a:lnTo>
                        <a:pt x="0" y="104"/>
                      </a:lnTo>
                      <a:lnTo>
                        <a:pt x="3" y="90"/>
                      </a:lnTo>
                      <a:lnTo>
                        <a:pt x="69" y="0"/>
                      </a:lnTo>
                      <a:close/>
                    </a:path>
                  </a:pathLst>
                </a:custGeom>
                <a:solidFill>
                  <a:srgbClr val="FFFF00"/>
                </a:solidFill>
                <a:ln w="9525">
                  <a:solidFill>
                    <a:schemeClr val="tx1"/>
                  </a:solidFill>
                  <a:round/>
                  <a:headEnd/>
                  <a:tailEnd/>
                </a:ln>
              </p:spPr>
              <p:txBody>
                <a:bodyPr/>
                <a:lstStyle/>
                <a:p>
                  <a:endParaRPr lang="sv-SE"/>
                </a:p>
              </p:txBody>
            </p:sp>
            <p:sp>
              <p:nvSpPr>
                <p:cNvPr id="20583" name="Freeform 165"/>
                <p:cNvSpPr>
                  <a:spLocks/>
                </p:cNvSpPr>
                <p:nvPr/>
              </p:nvSpPr>
              <p:spPr bwMode="auto">
                <a:xfrm>
                  <a:off x="3031" y="1788"/>
                  <a:ext cx="89" cy="102"/>
                </a:xfrm>
                <a:custGeom>
                  <a:avLst/>
                  <a:gdLst>
                    <a:gd name="T0" fmla="*/ 20 w 89"/>
                    <a:gd name="T1" fmla="*/ 0 h 102"/>
                    <a:gd name="T2" fmla="*/ 17 w 89"/>
                    <a:gd name="T3" fmla="*/ 10 h 102"/>
                    <a:gd name="T4" fmla="*/ 15 w 89"/>
                    <a:gd name="T5" fmla="*/ 22 h 102"/>
                    <a:gd name="T6" fmla="*/ 14 w 89"/>
                    <a:gd name="T7" fmla="*/ 33 h 102"/>
                    <a:gd name="T8" fmla="*/ 14 w 89"/>
                    <a:gd name="T9" fmla="*/ 43 h 102"/>
                    <a:gd name="T10" fmla="*/ 16 w 89"/>
                    <a:gd name="T11" fmla="*/ 57 h 102"/>
                    <a:gd name="T12" fmla="*/ 21 w 89"/>
                    <a:gd name="T13" fmla="*/ 69 h 102"/>
                    <a:gd name="T14" fmla="*/ 28 w 89"/>
                    <a:gd name="T15" fmla="*/ 76 h 102"/>
                    <a:gd name="T16" fmla="*/ 41 w 89"/>
                    <a:gd name="T17" fmla="*/ 82 h 102"/>
                    <a:gd name="T18" fmla="*/ 57 w 89"/>
                    <a:gd name="T19" fmla="*/ 85 h 102"/>
                    <a:gd name="T20" fmla="*/ 72 w 89"/>
                    <a:gd name="T21" fmla="*/ 84 h 102"/>
                    <a:gd name="T22" fmla="*/ 89 w 89"/>
                    <a:gd name="T23" fmla="*/ 80 h 102"/>
                    <a:gd name="T24" fmla="*/ 69 w 89"/>
                    <a:gd name="T25" fmla="*/ 99 h 102"/>
                    <a:gd name="T26" fmla="*/ 58 w 89"/>
                    <a:gd name="T27" fmla="*/ 102 h 102"/>
                    <a:gd name="T28" fmla="*/ 44 w 89"/>
                    <a:gd name="T29" fmla="*/ 101 h 102"/>
                    <a:gd name="T30" fmla="*/ 32 w 89"/>
                    <a:gd name="T31" fmla="*/ 98 h 102"/>
                    <a:gd name="T32" fmla="*/ 22 w 89"/>
                    <a:gd name="T33" fmla="*/ 93 h 102"/>
                    <a:gd name="T34" fmla="*/ 14 w 89"/>
                    <a:gd name="T35" fmla="*/ 85 h 102"/>
                    <a:gd name="T36" fmla="*/ 6 w 89"/>
                    <a:gd name="T37" fmla="*/ 76 h 102"/>
                    <a:gd name="T38" fmla="*/ 2 w 89"/>
                    <a:gd name="T39" fmla="*/ 65 h 102"/>
                    <a:gd name="T40" fmla="*/ 0 w 89"/>
                    <a:gd name="T41" fmla="*/ 52 h 102"/>
                    <a:gd name="T42" fmla="*/ 0 w 89"/>
                    <a:gd name="T43" fmla="*/ 40 h 102"/>
                    <a:gd name="T44" fmla="*/ 3 w 89"/>
                    <a:gd name="T45" fmla="*/ 25 h 102"/>
                    <a:gd name="T46" fmla="*/ 20 w 89"/>
                    <a:gd name="T47" fmla="*/ 0 h 10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9"/>
                    <a:gd name="T73" fmla="*/ 0 h 102"/>
                    <a:gd name="T74" fmla="*/ 89 w 89"/>
                    <a:gd name="T75" fmla="*/ 102 h 10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9" h="102">
                      <a:moveTo>
                        <a:pt x="20" y="0"/>
                      </a:moveTo>
                      <a:lnTo>
                        <a:pt x="17" y="10"/>
                      </a:lnTo>
                      <a:lnTo>
                        <a:pt x="15" y="22"/>
                      </a:lnTo>
                      <a:lnTo>
                        <a:pt x="14" y="33"/>
                      </a:lnTo>
                      <a:lnTo>
                        <a:pt x="14" y="43"/>
                      </a:lnTo>
                      <a:lnTo>
                        <a:pt x="16" y="57"/>
                      </a:lnTo>
                      <a:lnTo>
                        <a:pt x="21" y="69"/>
                      </a:lnTo>
                      <a:lnTo>
                        <a:pt x="28" y="76"/>
                      </a:lnTo>
                      <a:lnTo>
                        <a:pt x="41" y="82"/>
                      </a:lnTo>
                      <a:lnTo>
                        <a:pt x="57" y="85"/>
                      </a:lnTo>
                      <a:lnTo>
                        <a:pt x="72" y="84"/>
                      </a:lnTo>
                      <a:lnTo>
                        <a:pt x="89" y="80"/>
                      </a:lnTo>
                      <a:lnTo>
                        <a:pt x="69" y="99"/>
                      </a:lnTo>
                      <a:lnTo>
                        <a:pt x="58" y="102"/>
                      </a:lnTo>
                      <a:lnTo>
                        <a:pt x="44" y="101"/>
                      </a:lnTo>
                      <a:lnTo>
                        <a:pt x="32" y="98"/>
                      </a:lnTo>
                      <a:lnTo>
                        <a:pt x="22" y="93"/>
                      </a:lnTo>
                      <a:lnTo>
                        <a:pt x="14" y="85"/>
                      </a:lnTo>
                      <a:lnTo>
                        <a:pt x="6" y="76"/>
                      </a:lnTo>
                      <a:lnTo>
                        <a:pt x="2" y="65"/>
                      </a:lnTo>
                      <a:lnTo>
                        <a:pt x="0" y="52"/>
                      </a:lnTo>
                      <a:lnTo>
                        <a:pt x="0" y="40"/>
                      </a:lnTo>
                      <a:lnTo>
                        <a:pt x="3" y="25"/>
                      </a:lnTo>
                      <a:lnTo>
                        <a:pt x="20" y="0"/>
                      </a:lnTo>
                      <a:close/>
                    </a:path>
                  </a:pathLst>
                </a:custGeom>
                <a:solidFill>
                  <a:srgbClr val="FF0000"/>
                </a:solidFill>
                <a:ln w="9525">
                  <a:solidFill>
                    <a:schemeClr val="tx1"/>
                  </a:solidFill>
                  <a:round/>
                  <a:headEnd/>
                  <a:tailEnd/>
                </a:ln>
              </p:spPr>
              <p:txBody>
                <a:bodyPr/>
                <a:lstStyle/>
                <a:p>
                  <a:endParaRPr lang="sv-SE"/>
                </a:p>
              </p:txBody>
            </p:sp>
            <p:sp>
              <p:nvSpPr>
                <p:cNvPr id="20584" name="Freeform 166"/>
                <p:cNvSpPr>
                  <a:spLocks/>
                </p:cNvSpPr>
                <p:nvPr/>
              </p:nvSpPr>
              <p:spPr bwMode="auto">
                <a:xfrm>
                  <a:off x="2841" y="2024"/>
                  <a:ext cx="67" cy="74"/>
                </a:xfrm>
                <a:custGeom>
                  <a:avLst/>
                  <a:gdLst>
                    <a:gd name="T0" fmla="*/ 36 w 67"/>
                    <a:gd name="T1" fmla="*/ 0 h 74"/>
                    <a:gd name="T2" fmla="*/ 2 w 67"/>
                    <a:gd name="T3" fmla="*/ 45 h 74"/>
                    <a:gd name="T4" fmla="*/ 0 w 67"/>
                    <a:gd name="T5" fmla="*/ 52 h 74"/>
                    <a:gd name="T6" fmla="*/ 1 w 67"/>
                    <a:gd name="T7" fmla="*/ 60 h 74"/>
                    <a:gd name="T8" fmla="*/ 4 w 67"/>
                    <a:gd name="T9" fmla="*/ 67 h 74"/>
                    <a:gd name="T10" fmla="*/ 9 w 67"/>
                    <a:gd name="T11" fmla="*/ 72 h 74"/>
                    <a:gd name="T12" fmla="*/ 17 w 67"/>
                    <a:gd name="T13" fmla="*/ 74 h 74"/>
                    <a:gd name="T14" fmla="*/ 25 w 67"/>
                    <a:gd name="T15" fmla="*/ 73 h 74"/>
                    <a:gd name="T16" fmla="*/ 67 w 67"/>
                    <a:gd name="T17" fmla="*/ 35 h 74"/>
                    <a:gd name="T18" fmla="*/ 58 w 67"/>
                    <a:gd name="T19" fmla="*/ 32 h 74"/>
                    <a:gd name="T20" fmla="*/ 50 w 67"/>
                    <a:gd name="T21" fmla="*/ 27 h 74"/>
                    <a:gd name="T22" fmla="*/ 44 w 67"/>
                    <a:gd name="T23" fmla="*/ 21 h 74"/>
                    <a:gd name="T24" fmla="*/ 40 w 67"/>
                    <a:gd name="T25" fmla="*/ 15 h 74"/>
                    <a:gd name="T26" fmla="*/ 37 w 67"/>
                    <a:gd name="T27" fmla="*/ 8 h 74"/>
                    <a:gd name="T28" fmla="*/ 36 w 67"/>
                    <a:gd name="T29" fmla="*/ 0 h 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7"/>
                    <a:gd name="T46" fmla="*/ 0 h 74"/>
                    <a:gd name="T47" fmla="*/ 67 w 67"/>
                    <a:gd name="T48" fmla="*/ 74 h 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7" h="74">
                      <a:moveTo>
                        <a:pt x="36" y="0"/>
                      </a:moveTo>
                      <a:lnTo>
                        <a:pt x="2" y="45"/>
                      </a:lnTo>
                      <a:lnTo>
                        <a:pt x="0" y="52"/>
                      </a:lnTo>
                      <a:lnTo>
                        <a:pt x="1" y="60"/>
                      </a:lnTo>
                      <a:lnTo>
                        <a:pt x="4" y="67"/>
                      </a:lnTo>
                      <a:lnTo>
                        <a:pt x="9" y="72"/>
                      </a:lnTo>
                      <a:lnTo>
                        <a:pt x="17" y="74"/>
                      </a:lnTo>
                      <a:lnTo>
                        <a:pt x="25" y="73"/>
                      </a:lnTo>
                      <a:lnTo>
                        <a:pt x="67" y="35"/>
                      </a:lnTo>
                      <a:lnTo>
                        <a:pt x="58" y="32"/>
                      </a:lnTo>
                      <a:lnTo>
                        <a:pt x="50" y="27"/>
                      </a:lnTo>
                      <a:lnTo>
                        <a:pt x="44" y="21"/>
                      </a:lnTo>
                      <a:lnTo>
                        <a:pt x="40" y="15"/>
                      </a:lnTo>
                      <a:lnTo>
                        <a:pt x="37" y="8"/>
                      </a:lnTo>
                      <a:lnTo>
                        <a:pt x="36" y="0"/>
                      </a:lnTo>
                      <a:close/>
                    </a:path>
                  </a:pathLst>
                </a:custGeom>
                <a:solidFill>
                  <a:srgbClr val="FFFF00"/>
                </a:solidFill>
                <a:ln w="9525">
                  <a:solidFill>
                    <a:schemeClr val="tx1"/>
                  </a:solidFill>
                  <a:round/>
                  <a:headEnd/>
                  <a:tailEnd/>
                </a:ln>
              </p:spPr>
              <p:txBody>
                <a:bodyPr/>
                <a:lstStyle/>
                <a:p>
                  <a:endParaRPr lang="sv-SE"/>
                </a:p>
              </p:txBody>
            </p:sp>
          </p:grpSp>
          <p:grpSp>
            <p:nvGrpSpPr>
              <p:cNvPr id="20641" name="Group 167"/>
              <p:cNvGrpSpPr>
                <a:grpSpLocks/>
              </p:cNvGrpSpPr>
              <p:nvPr/>
            </p:nvGrpSpPr>
            <p:grpSpPr bwMode="auto">
              <a:xfrm>
                <a:off x="2912" y="1764"/>
                <a:ext cx="942" cy="497"/>
                <a:chOff x="2912" y="1764"/>
                <a:chExt cx="942" cy="497"/>
              </a:xfrm>
            </p:grpSpPr>
            <p:grpSp>
              <p:nvGrpSpPr>
                <p:cNvPr id="20651" name="Group 168"/>
                <p:cNvGrpSpPr>
                  <a:grpSpLocks/>
                </p:cNvGrpSpPr>
                <p:nvPr/>
              </p:nvGrpSpPr>
              <p:grpSpPr bwMode="auto">
                <a:xfrm>
                  <a:off x="2912" y="1764"/>
                  <a:ext cx="942" cy="497"/>
                  <a:chOff x="2912" y="1764"/>
                  <a:chExt cx="942" cy="497"/>
                </a:xfrm>
              </p:grpSpPr>
              <p:grpSp>
                <p:nvGrpSpPr>
                  <p:cNvPr id="20663" name="Group 169"/>
                  <p:cNvGrpSpPr>
                    <a:grpSpLocks/>
                  </p:cNvGrpSpPr>
                  <p:nvPr/>
                </p:nvGrpSpPr>
                <p:grpSpPr bwMode="auto">
                  <a:xfrm>
                    <a:off x="2912" y="1910"/>
                    <a:ext cx="925" cy="351"/>
                    <a:chOff x="2912" y="1910"/>
                    <a:chExt cx="925" cy="351"/>
                  </a:xfrm>
                </p:grpSpPr>
                <p:grpSp>
                  <p:nvGrpSpPr>
                    <p:cNvPr id="20665" name="Group 170"/>
                    <p:cNvGrpSpPr>
                      <a:grpSpLocks/>
                    </p:cNvGrpSpPr>
                    <p:nvPr/>
                  </p:nvGrpSpPr>
                  <p:grpSpPr bwMode="auto">
                    <a:xfrm>
                      <a:off x="2912" y="2131"/>
                      <a:ext cx="58" cy="130"/>
                      <a:chOff x="2912" y="2131"/>
                      <a:chExt cx="58" cy="130"/>
                    </a:xfrm>
                  </p:grpSpPr>
                  <p:sp>
                    <p:nvSpPr>
                      <p:cNvPr id="20570" name="Freeform 171"/>
                      <p:cNvSpPr>
                        <a:spLocks/>
                      </p:cNvSpPr>
                      <p:nvPr/>
                    </p:nvSpPr>
                    <p:spPr bwMode="auto">
                      <a:xfrm>
                        <a:off x="2954" y="2131"/>
                        <a:ext cx="16" cy="130"/>
                      </a:xfrm>
                      <a:custGeom>
                        <a:avLst/>
                        <a:gdLst>
                          <a:gd name="T0" fmla="*/ 4 w 16"/>
                          <a:gd name="T1" fmla="*/ 0 h 130"/>
                          <a:gd name="T2" fmla="*/ 0 w 16"/>
                          <a:gd name="T3" fmla="*/ 71 h 130"/>
                          <a:gd name="T4" fmla="*/ 16 w 16"/>
                          <a:gd name="T5" fmla="*/ 130 h 130"/>
                          <a:gd name="T6" fmla="*/ 16 w 16"/>
                          <a:gd name="T7" fmla="*/ 67 h 130"/>
                          <a:gd name="T8" fmla="*/ 4 w 16"/>
                          <a:gd name="T9" fmla="*/ 0 h 130"/>
                          <a:gd name="T10" fmla="*/ 0 60000 65536"/>
                          <a:gd name="T11" fmla="*/ 0 60000 65536"/>
                          <a:gd name="T12" fmla="*/ 0 60000 65536"/>
                          <a:gd name="T13" fmla="*/ 0 60000 65536"/>
                          <a:gd name="T14" fmla="*/ 0 60000 65536"/>
                          <a:gd name="T15" fmla="*/ 0 w 16"/>
                          <a:gd name="T16" fmla="*/ 0 h 130"/>
                          <a:gd name="T17" fmla="*/ 16 w 16"/>
                          <a:gd name="T18" fmla="*/ 130 h 130"/>
                        </a:gdLst>
                        <a:ahLst/>
                        <a:cxnLst>
                          <a:cxn ang="T10">
                            <a:pos x="T0" y="T1"/>
                          </a:cxn>
                          <a:cxn ang="T11">
                            <a:pos x="T2" y="T3"/>
                          </a:cxn>
                          <a:cxn ang="T12">
                            <a:pos x="T4" y="T5"/>
                          </a:cxn>
                          <a:cxn ang="T13">
                            <a:pos x="T6" y="T7"/>
                          </a:cxn>
                          <a:cxn ang="T14">
                            <a:pos x="T8" y="T9"/>
                          </a:cxn>
                        </a:cxnLst>
                        <a:rect l="T15" t="T16" r="T17" b="T18"/>
                        <a:pathLst>
                          <a:path w="16" h="130">
                            <a:moveTo>
                              <a:pt x="4" y="0"/>
                            </a:moveTo>
                            <a:lnTo>
                              <a:pt x="0" y="71"/>
                            </a:lnTo>
                            <a:lnTo>
                              <a:pt x="16" y="130"/>
                            </a:lnTo>
                            <a:lnTo>
                              <a:pt x="16" y="67"/>
                            </a:lnTo>
                            <a:lnTo>
                              <a:pt x="4" y="0"/>
                            </a:lnTo>
                            <a:close/>
                          </a:path>
                        </a:pathLst>
                      </a:custGeom>
                      <a:solidFill>
                        <a:srgbClr val="9F9F9F"/>
                      </a:solidFill>
                      <a:ln w="9525">
                        <a:solidFill>
                          <a:schemeClr val="tx1"/>
                        </a:solidFill>
                        <a:round/>
                        <a:headEnd/>
                        <a:tailEnd/>
                      </a:ln>
                    </p:spPr>
                    <p:txBody>
                      <a:bodyPr/>
                      <a:lstStyle/>
                      <a:p>
                        <a:endParaRPr lang="sv-SE"/>
                      </a:p>
                    </p:txBody>
                  </p:sp>
                  <p:sp>
                    <p:nvSpPr>
                      <p:cNvPr id="20571" name="Freeform 172"/>
                      <p:cNvSpPr>
                        <a:spLocks/>
                      </p:cNvSpPr>
                      <p:nvPr/>
                    </p:nvSpPr>
                    <p:spPr bwMode="auto">
                      <a:xfrm>
                        <a:off x="2912" y="2131"/>
                        <a:ext cx="45" cy="79"/>
                      </a:xfrm>
                      <a:custGeom>
                        <a:avLst/>
                        <a:gdLst>
                          <a:gd name="T0" fmla="*/ 45 w 45"/>
                          <a:gd name="T1" fmla="*/ 0 h 79"/>
                          <a:gd name="T2" fmla="*/ 41 w 45"/>
                          <a:gd name="T3" fmla="*/ 69 h 79"/>
                          <a:gd name="T4" fmla="*/ 0 w 45"/>
                          <a:gd name="T5" fmla="*/ 79 h 79"/>
                          <a:gd name="T6" fmla="*/ 0 w 45"/>
                          <a:gd name="T7" fmla="*/ 53 h 79"/>
                          <a:gd name="T8" fmla="*/ 45 w 45"/>
                          <a:gd name="T9" fmla="*/ 0 h 79"/>
                          <a:gd name="T10" fmla="*/ 0 60000 65536"/>
                          <a:gd name="T11" fmla="*/ 0 60000 65536"/>
                          <a:gd name="T12" fmla="*/ 0 60000 65536"/>
                          <a:gd name="T13" fmla="*/ 0 60000 65536"/>
                          <a:gd name="T14" fmla="*/ 0 60000 65536"/>
                          <a:gd name="T15" fmla="*/ 0 w 45"/>
                          <a:gd name="T16" fmla="*/ 0 h 79"/>
                          <a:gd name="T17" fmla="*/ 45 w 45"/>
                          <a:gd name="T18" fmla="*/ 79 h 79"/>
                        </a:gdLst>
                        <a:ahLst/>
                        <a:cxnLst>
                          <a:cxn ang="T10">
                            <a:pos x="T0" y="T1"/>
                          </a:cxn>
                          <a:cxn ang="T11">
                            <a:pos x="T2" y="T3"/>
                          </a:cxn>
                          <a:cxn ang="T12">
                            <a:pos x="T4" y="T5"/>
                          </a:cxn>
                          <a:cxn ang="T13">
                            <a:pos x="T6" y="T7"/>
                          </a:cxn>
                          <a:cxn ang="T14">
                            <a:pos x="T8" y="T9"/>
                          </a:cxn>
                        </a:cxnLst>
                        <a:rect l="T15" t="T16" r="T17" b="T18"/>
                        <a:pathLst>
                          <a:path w="45" h="79">
                            <a:moveTo>
                              <a:pt x="45" y="0"/>
                            </a:moveTo>
                            <a:lnTo>
                              <a:pt x="41" y="69"/>
                            </a:lnTo>
                            <a:lnTo>
                              <a:pt x="0" y="79"/>
                            </a:lnTo>
                            <a:lnTo>
                              <a:pt x="0" y="53"/>
                            </a:lnTo>
                            <a:lnTo>
                              <a:pt x="45" y="0"/>
                            </a:lnTo>
                            <a:close/>
                          </a:path>
                        </a:pathLst>
                      </a:custGeom>
                      <a:solidFill>
                        <a:srgbClr val="5F5F5F"/>
                      </a:solidFill>
                      <a:ln w="9525">
                        <a:solidFill>
                          <a:schemeClr val="tx1"/>
                        </a:solidFill>
                        <a:round/>
                        <a:headEnd/>
                        <a:tailEnd/>
                      </a:ln>
                    </p:spPr>
                    <p:txBody>
                      <a:bodyPr/>
                      <a:lstStyle/>
                      <a:p>
                        <a:endParaRPr lang="sv-SE"/>
                      </a:p>
                    </p:txBody>
                  </p:sp>
                  <p:sp>
                    <p:nvSpPr>
                      <p:cNvPr id="20572" name="Freeform 173"/>
                      <p:cNvSpPr>
                        <a:spLocks/>
                      </p:cNvSpPr>
                      <p:nvPr/>
                    </p:nvSpPr>
                    <p:spPr bwMode="auto">
                      <a:xfrm>
                        <a:off x="2912" y="2202"/>
                        <a:ext cx="58" cy="58"/>
                      </a:xfrm>
                      <a:custGeom>
                        <a:avLst/>
                        <a:gdLst>
                          <a:gd name="T0" fmla="*/ 0 w 58"/>
                          <a:gd name="T1" fmla="*/ 10 h 58"/>
                          <a:gd name="T2" fmla="*/ 42 w 58"/>
                          <a:gd name="T3" fmla="*/ 0 h 58"/>
                          <a:gd name="T4" fmla="*/ 58 w 58"/>
                          <a:gd name="T5" fmla="*/ 58 h 58"/>
                          <a:gd name="T6" fmla="*/ 7 w 58"/>
                          <a:gd name="T7" fmla="*/ 31 h 58"/>
                          <a:gd name="T8" fmla="*/ 0 w 58"/>
                          <a:gd name="T9" fmla="*/ 10 h 58"/>
                          <a:gd name="T10" fmla="*/ 0 60000 65536"/>
                          <a:gd name="T11" fmla="*/ 0 60000 65536"/>
                          <a:gd name="T12" fmla="*/ 0 60000 65536"/>
                          <a:gd name="T13" fmla="*/ 0 60000 65536"/>
                          <a:gd name="T14" fmla="*/ 0 60000 65536"/>
                          <a:gd name="T15" fmla="*/ 0 w 58"/>
                          <a:gd name="T16" fmla="*/ 0 h 58"/>
                          <a:gd name="T17" fmla="*/ 58 w 58"/>
                          <a:gd name="T18" fmla="*/ 58 h 58"/>
                        </a:gdLst>
                        <a:ahLst/>
                        <a:cxnLst>
                          <a:cxn ang="T10">
                            <a:pos x="T0" y="T1"/>
                          </a:cxn>
                          <a:cxn ang="T11">
                            <a:pos x="T2" y="T3"/>
                          </a:cxn>
                          <a:cxn ang="T12">
                            <a:pos x="T4" y="T5"/>
                          </a:cxn>
                          <a:cxn ang="T13">
                            <a:pos x="T6" y="T7"/>
                          </a:cxn>
                          <a:cxn ang="T14">
                            <a:pos x="T8" y="T9"/>
                          </a:cxn>
                        </a:cxnLst>
                        <a:rect l="T15" t="T16" r="T17" b="T18"/>
                        <a:pathLst>
                          <a:path w="58" h="58">
                            <a:moveTo>
                              <a:pt x="0" y="10"/>
                            </a:moveTo>
                            <a:lnTo>
                              <a:pt x="42" y="0"/>
                            </a:lnTo>
                            <a:lnTo>
                              <a:pt x="58" y="58"/>
                            </a:lnTo>
                            <a:lnTo>
                              <a:pt x="7" y="31"/>
                            </a:lnTo>
                            <a:lnTo>
                              <a:pt x="0" y="10"/>
                            </a:lnTo>
                            <a:close/>
                          </a:path>
                        </a:pathLst>
                      </a:custGeom>
                      <a:solidFill>
                        <a:srgbClr val="3F3F3F"/>
                      </a:solidFill>
                      <a:ln w="9525">
                        <a:solidFill>
                          <a:schemeClr val="tx1"/>
                        </a:solidFill>
                        <a:round/>
                        <a:headEnd/>
                        <a:tailEnd/>
                      </a:ln>
                    </p:spPr>
                    <p:txBody>
                      <a:bodyPr/>
                      <a:lstStyle/>
                      <a:p>
                        <a:endParaRPr lang="sv-SE"/>
                      </a:p>
                    </p:txBody>
                  </p:sp>
                </p:grpSp>
                <p:sp>
                  <p:nvSpPr>
                    <p:cNvPr id="20564" name="Freeform 174"/>
                    <p:cNvSpPr>
                      <a:spLocks/>
                    </p:cNvSpPr>
                    <p:nvPr/>
                  </p:nvSpPr>
                  <p:spPr bwMode="auto">
                    <a:xfrm>
                      <a:off x="2944" y="1925"/>
                      <a:ext cx="786" cy="296"/>
                    </a:xfrm>
                    <a:custGeom>
                      <a:avLst/>
                      <a:gdLst>
                        <a:gd name="T0" fmla="*/ 14 w 786"/>
                        <a:gd name="T1" fmla="*/ 296 h 296"/>
                        <a:gd name="T2" fmla="*/ 7 w 786"/>
                        <a:gd name="T3" fmla="*/ 293 h 296"/>
                        <a:gd name="T4" fmla="*/ 2 w 786"/>
                        <a:gd name="T5" fmla="*/ 289 h 296"/>
                        <a:gd name="T6" fmla="*/ 0 w 786"/>
                        <a:gd name="T7" fmla="*/ 282 h 296"/>
                        <a:gd name="T8" fmla="*/ 0 w 786"/>
                        <a:gd name="T9" fmla="*/ 275 h 296"/>
                        <a:gd name="T10" fmla="*/ 2 w 786"/>
                        <a:gd name="T11" fmla="*/ 266 h 296"/>
                        <a:gd name="T12" fmla="*/ 5 w 786"/>
                        <a:gd name="T13" fmla="*/ 261 h 296"/>
                        <a:gd name="T14" fmla="*/ 12 w 786"/>
                        <a:gd name="T15" fmla="*/ 256 h 296"/>
                        <a:gd name="T16" fmla="*/ 756 w 786"/>
                        <a:gd name="T17" fmla="*/ 0 h 296"/>
                        <a:gd name="T18" fmla="*/ 786 w 786"/>
                        <a:gd name="T19" fmla="*/ 195 h 296"/>
                        <a:gd name="T20" fmla="*/ 14 w 786"/>
                        <a:gd name="T21" fmla="*/ 296 h 2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6"/>
                        <a:gd name="T34" fmla="*/ 0 h 296"/>
                        <a:gd name="T35" fmla="*/ 786 w 786"/>
                        <a:gd name="T36" fmla="*/ 296 h 2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6" h="296">
                          <a:moveTo>
                            <a:pt x="14" y="296"/>
                          </a:moveTo>
                          <a:lnTo>
                            <a:pt x="7" y="293"/>
                          </a:lnTo>
                          <a:lnTo>
                            <a:pt x="2" y="289"/>
                          </a:lnTo>
                          <a:lnTo>
                            <a:pt x="0" y="282"/>
                          </a:lnTo>
                          <a:lnTo>
                            <a:pt x="0" y="275"/>
                          </a:lnTo>
                          <a:lnTo>
                            <a:pt x="2" y="266"/>
                          </a:lnTo>
                          <a:lnTo>
                            <a:pt x="5" y="261"/>
                          </a:lnTo>
                          <a:lnTo>
                            <a:pt x="12" y="256"/>
                          </a:lnTo>
                          <a:lnTo>
                            <a:pt x="756" y="0"/>
                          </a:lnTo>
                          <a:lnTo>
                            <a:pt x="786" y="195"/>
                          </a:lnTo>
                          <a:lnTo>
                            <a:pt x="14" y="296"/>
                          </a:lnTo>
                          <a:close/>
                        </a:path>
                      </a:pathLst>
                    </a:custGeom>
                    <a:solidFill>
                      <a:srgbClr val="808080"/>
                    </a:solidFill>
                    <a:ln w="9525">
                      <a:solidFill>
                        <a:schemeClr val="tx1"/>
                      </a:solidFill>
                      <a:round/>
                      <a:headEnd/>
                      <a:tailEnd/>
                    </a:ln>
                  </p:spPr>
                  <p:txBody>
                    <a:bodyPr/>
                    <a:lstStyle/>
                    <a:p>
                      <a:endParaRPr lang="sv-SE"/>
                    </a:p>
                  </p:txBody>
                </p:sp>
                <p:sp>
                  <p:nvSpPr>
                    <p:cNvPr id="20565" name="Freeform 175"/>
                    <p:cNvSpPr>
                      <a:spLocks/>
                    </p:cNvSpPr>
                    <p:nvPr/>
                  </p:nvSpPr>
                  <p:spPr bwMode="auto">
                    <a:xfrm>
                      <a:off x="3598" y="1927"/>
                      <a:ext cx="229" cy="148"/>
                    </a:xfrm>
                    <a:custGeom>
                      <a:avLst/>
                      <a:gdLst>
                        <a:gd name="T0" fmla="*/ 229 w 229"/>
                        <a:gd name="T1" fmla="*/ 143 h 148"/>
                        <a:gd name="T2" fmla="*/ 211 w 229"/>
                        <a:gd name="T3" fmla="*/ 148 h 148"/>
                        <a:gd name="T4" fmla="*/ 109 w 229"/>
                        <a:gd name="T5" fmla="*/ 32 h 148"/>
                        <a:gd name="T6" fmla="*/ 0 w 229"/>
                        <a:gd name="T7" fmla="*/ 52 h 148"/>
                        <a:gd name="T8" fmla="*/ 14 w 229"/>
                        <a:gd name="T9" fmla="*/ 33 h 148"/>
                        <a:gd name="T10" fmla="*/ 125 w 229"/>
                        <a:gd name="T11" fmla="*/ 0 h 148"/>
                        <a:gd name="T12" fmla="*/ 229 w 229"/>
                        <a:gd name="T13" fmla="*/ 143 h 148"/>
                        <a:gd name="T14" fmla="*/ 0 60000 65536"/>
                        <a:gd name="T15" fmla="*/ 0 60000 65536"/>
                        <a:gd name="T16" fmla="*/ 0 60000 65536"/>
                        <a:gd name="T17" fmla="*/ 0 60000 65536"/>
                        <a:gd name="T18" fmla="*/ 0 60000 65536"/>
                        <a:gd name="T19" fmla="*/ 0 60000 65536"/>
                        <a:gd name="T20" fmla="*/ 0 60000 65536"/>
                        <a:gd name="T21" fmla="*/ 0 w 229"/>
                        <a:gd name="T22" fmla="*/ 0 h 148"/>
                        <a:gd name="T23" fmla="*/ 229 w 229"/>
                        <a:gd name="T24" fmla="*/ 148 h 1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9" h="148">
                          <a:moveTo>
                            <a:pt x="229" y="143"/>
                          </a:moveTo>
                          <a:lnTo>
                            <a:pt x="211" y="148"/>
                          </a:lnTo>
                          <a:lnTo>
                            <a:pt x="109" y="32"/>
                          </a:lnTo>
                          <a:lnTo>
                            <a:pt x="0" y="52"/>
                          </a:lnTo>
                          <a:lnTo>
                            <a:pt x="14" y="33"/>
                          </a:lnTo>
                          <a:lnTo>
                            <a:pt x="125" y="0"/>
                          </a:lnTo>
                          <a:lnTo>
                            <a:pt x="229" y="143"/>
                          </a:lnTo>
                          <a:close/>
                        </a:path>
                      </a:pathLst>
                    </a:custGeom>
                    <a:solidFill>
                      <a:srgbClr val="808080"/>
                    </a:solidFill>
                    <a:ln w="9525">
                      <a:solidFill>
                        <a:schemeClr val="tx1"/>
                      </a:solidFill>
                      <a:round/>
                      <a:headEnd/>
                      <a:tailEnd/>
                    </a:ln>
                  </p:spPr>
                  <p:txBody>
                    <a:bodyPr/>
                    <a:lstStyle/>
                    <a:p>
                      <a:endParaRPr lang="sv-SE"/>
                    </a:p>
                  </p:txBody>
                </p:sp>
                <p:sp>
                  <p:nvSpPr>
                    <p:cNvPr id="20566" name="Freeform 176"/>
                    <p:cNvSpPr>
                      <a:spLocks/>
                    </p:cNvSpPr>
                    <p:nvPr/>
                  </p:nvSpPr>
                  <p:spPr bwMode="auto">
                    <a:xfrm>
                      <a:off x="3576" y="1913"/>
                      <a:ext cx="221" cy="216"/>
                    </a:xfrm>
                    <a:custGeom>
                      <a:avLst/>
                      <a:gdLst>
                        <a:gd name="T0" fmla="*/ 156 w 221"/>
                        <a:gd name="T1" fmla="*/ 0 h 216"/>
                        <a:gd name="T2" fmla="*/ 41 w 221"/>
                        <a:gd name="T3" fmla="*/ 41 h 216"/>
                        <a:gd name="T4" fmla="*/ 31 w 221"/>
                        <a:gd name="T5" fmla="*/ 49 h 216"/>
                        <a:gd name="T6" fmla="*/ 19 w 221"/>
                        <a:gd name="T7" fmla="*/ 62 h 216"/>
                        <a:gd name="T8" fmla="*/ 12 w 221"/>
                        <a:gd name="T9" fmla="*/ 75 h 216"/>
                        <a:gd name="T10" fmla="*/ 6 w 221"/>
                        <a:gd name="T11" fmla="*/ 88 h 216"/>
                        <a:gd name="T12" fmla="*/ 1 w 221"/>
                        <a:gd name="T13" fmla="*/ 107 h 216"/>
                        <a:gd name="T14" fmla="*/ 0 w 221"/>
                        <a:gd name="T15" fmla="*/ 123 h 216"/>
                        <a:gd name="T16" fmla="*/ 4 w 221"/>
                        <a:gd name="T17" fmla="*/ 145 h 216"/>
                        <a:gd name="T18" fmla="*/ 12 w 221"/>
                        <a:gd name="T19" fmla="*/ 164 h 216"/>
                        <a:gd name="T20" fmla="*/ 22 w 221"/>
                        <a:gd name="T21" fmla="*/ 180 h 216"/>
                        <a:gd name="T22" fmla="*/ 33 w 221"/>
                        <a:gd name="T23" fmla="*/ 194 h 216"/>
                        <a:gd name="T24" fmla="*/ 47 w 221"/>
                        <a:gd name="T25" fmla="*/ 205 h 216"/>
                        <a:gd name="T26" fmla="*/ 61 w 221"/>
                        <a:gd name="T27" fmla="*/ 211 h 216"/>
                        <a:gd name="T28" fmla="*/ 75 w 221"/>
                        <a:gd name="T29" fmla="*/ 216 h 216"/>
                        <a:gd name="T30" fmla="*/ 221 w 221"/>
                        <a:gd name="T31" fmla="*/ 199 h 216"/>
                        <a:gd name="T32" fmla="*/ 135 w 221"/>
                        <a:gd name="T33" fmla="*/ 40 h 216"/>
                        <a:gd name="T34" fmla="*/ 30 w 221"/>
                        <a:gd name="T35" fmla="*/ 61 h 216"/>
                        <a:gd name="T36" fmla="*/ 39 w 221"/>
                        <a:gd name="T37" fmla="*/ 48 h 216"/>
                        <a:gd name="T38" fmla="*/ 141 w 221"/>
                        <a:gd name="T39" fmla="*/ 20 h 216"/>
                        <a:gd name="T40" fmla="*/ 156 w 221"/>
                        <a:gd name="T41" fmla="*/ 0 h 2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1"/>
                        <a:gd name="T64" fmla="*/ 0 h 216"/>
                        <a:gd name="T65" fmla="*/ 221 w 221"/>
                        <a:gd name="T66" fmla="*/ 216 h 2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1" h="216">
                          <a:moveTo>
                            <a:pt x="156" y="0"/>
                          </a:moveTo>
                          <a:lnTo>
                            <a:pt x="41" y="41"/>
                          </a:lnTo>
                          <a:lnTo>
                            <a:pt x="31" y="49"/>
                          </a:lnTo>
                          <a:lnTo>
                            <a:pt x="19" y="62"/>
                          </a:lnTo>
                          <a:lnTo>
                            <a:pt x="12" y="75"/>
                          </a:lnTo>
                          <a:lnTo>
                            <a:pt x="6" y="88"/>
                          </a:lnTo>
                          <a:lnTo>
                            <a:pt x="1" y="107"/>
                          </a:lnTo>
                          <a:lnTo>
                            <a:pt x="0" y="123"/>
                          </a:lnTo>
                          <a:lnTo>
                            <a:pt x="4" y="145"/>
                          </a:lnTo>
                          <a:lnTo>
                            <a:pt x="12" y="164"/>
                          </a:lnTo>
                          <a:lnTo>
                            <a:pt x="22" y="180"/>
                          </a:lnTo>
                          <a:lnTo>
                            <a:pt x="33" y="194"/>
                          </a:lnTo>
                          <a:lnTo>
                            <a:pt x="47" y="205"/>
                          </a:lnTo>
                          <a:lnTo>
                            <a:pt x="61" y="211"/>
                          </a:lnTo>
                          <a:lnTo>
                            <a:pt x="75" y="216"/>
                          </a:lnTo>
                          <a:lnTo>
                            <a:pt x="221" y="199"/>
                          </a:lnTo>
                          <a:lnTo>
                            <a:pt x="135" y="40"/>
                          </a:lnTo>
                          <a:lnTo>
                            <a:pt x="30" y="61"/>
                          </a:lnTo>
                          <a:lnTo>
                            <a:pt x="39" y="48"/>
                          </a:lnTo>
                          <a:lnTo>
                            <a:pt x="141" y="20"/>
                          </a:lnTo>
                          <a:lnTo>
                            <a:pt x="156" y="0"/>
                          </a:lnTo>
                          <a:close/>
                        </a:path>
                      </a:pathLst>
                    </a:custGeom>
                    <a:solidFill>
                      <a:srgbClr val="C0C0C0"/>
                    </a:solidFill>
                    <a:ln w="9525">
                      <a:solidFill>
                        <a:schemeClr val="tx1"/>
                      </a:solidFill>
                      <a:round/>
                      <a:headEnd/>
                      <a:tailEnd/>
                    </a:ln>
                  </p:spPr>
                  <p:txBody>
                    <a:bodyPr/>
                    <a:lstStyle/>
                    <a:p>
                      <a:endParaRPr lang="sv-SE"/>
                    </a:p>
                  </p:txBody>
                </p:sp>
                <p:sp>
                  <p:nvSpPr>
                    <p:cNvPr id="20567" name="Freeform 177"/>
                    <p:cNvSpPr>
                      <a:spLocks/>
                    </p:cNvSpPr>
                    <p:nvPr/>
                  </p:nvSpPr>
                  <p:spPr bwMode="auto">
                    <a:xfrm>
                      <a:off x="3709" y="1952"/>
                      <a:ext cx="111" cy="161"/>
                    </a:xfrm>
                    <a:custGeom>
                      <a:avLst/>
                      <a:gdLst>
                        <a:gd name="T0" fmla="*/ 4 w 111"/>
                        <a:gd name="T1" fmla="*/ 0 h 161"/>
                        <a:gd name="T2" fmla="*/ 111 w 111"/>
                        <a:gd name="T3" fmla="*/ 132 h 161"/>
                        <a:gd name="T4" fmla="*/ 104 w 111"/>
                        <a:gd name="T5" fmla="*/ 144 h 161"/>
                        <a:gd name="T6" fmla="*/ 96 w 111"/>
                        <a:gd name="T7" fmla="*/ 156 h 161"/>
                        <a:gd name="T8" fmla="*/ 87 w 111"/>
                        <a:gd name="T9" fmla="*/ 161 h 161"/>
                        <a:gd name="T10" fmla="*/ 77 w 111"/>
                        <a:gd name="T11" fmla="*/ 160 h 161"/>
                        <a:gd name="T12" fmla="*/ 65 w 111"/>
                        <a:gd name="T13" fmla="*/ 152 h 161"/>
                        <a:gd name="T14" fmla="*/ 53 w 111"/>
                        <a:gd name="T15" fmla="*/ 143 h 161"/>
                        <a:gd name="T16" fmla="*/ 43 w 111"/>
                        <a:gd name="T17" fmla="*/ 133 h 161"/>
                        <a:gd name="T18" fmla="*/ 34 w 111"/>
                        <a:gd name="T19" fmla="*/ 121 h 161"/>
                        <a:gd name="T20" fmla="*/ 28 w 111"/>
                        <a:gd name="T21" fmla="*/ 111 h 161"/>
                        <a:gd name="T22" fmla="*/ 19 w 111"/>
                        <a:gd name="T23" fmla="*/ 97 h 161"/>
                        <a:gd name="T24" fmla="*/ 12 w 111"/>
                        <a:gd name="T25" fmla="*/ 83 h 161"/>
                        <a:gd name="T26" fmla="*/ 7 w 111"/>
                        <a:gd name="T27" fmla="*/ 67 h 161"/>
                        <a:gd name="T28" fmla="*/ 3 w 111"/>
                        <a:gd name="T29" fmla="*/ 49 h 161"/>
                        <a:gd name="T30" fmla="*/ 1 w 111"/>
                        <a:gd name="T31" fmla="*/ 35 h 161"/>
                        <a:gd name="T32" fmla="*/ 0 w 111"/>
                        <a:gd name="T33" fmla="*/ 22 h 161"/>
                        <a:gd name="T34" fmla="*/ 1 w 111"/>
                        <a:gd name="T35" fmla="*/ 10 h 161"/>
                        <a:gd name="T36" fmla="*/ 4 w 111"/>
                        <a:gd name="T37" fmla="*/ 0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1"/>
                        <a:gd name="T58" fmla="*/ 0 h 161"/>
                        <a:gd name="T59" fmla="*/ 111 w 111"/>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1" h="161">
                          <a:moveTo>
                            <a:pt x="4" y="0"/>
                          </a:moveTo>
                          <a:lnTo>
                            <a:pt x="111" y="132"/>
                          </a:lnTo>
                          <a:lnTo>
                            <a:pt x="104" y="144"/>
                          </a:lnTo>
                          <a:lnTo>
                            <a:pt x="96" y="156"/>
                          </a:lnTo>
                          <a:lnTo>
                            <a:pt x="87" y="161"/>
                          </a:lnTo>
                          <a:lnTo>
                            <a:pt x="77" y="160"/>
                          </a:lnTo>
                          <a:lnTo>
                            <a:pt x="65" y="152"/>
                          </a:lnTo>
                          <a:lnTo>
                            <a:pt x="53" y="143"/>
                          </a:lnTo>
                          <a:lnTo>
                            <a:pt x="43" y="133"/>
                          </a:lnTo>
                          <a:lnTo>
                            <a:pt x="34" y="121"/>
                          </a:lnTo>
                          <a:lnTo>
                            <a:pt x="28" y="111"/>
                          </a:lnTo>
                          <a:lnTo>
                            <a:pt x="19" y="97"/>
                          </a:lnTo>
                          <a:lnTo>
                            <a:pt x="12" y="83"/>
                          </a:lnTo>
                          <a:lnTo>
                            <a:pt x="7" y="67"/>
                          </a:lnTo>
                          <a:lnTo>
                            <a:pt x="3" y="49"/>
                          </a:lnTo>
                          <a:lnTo>
                            <a:pt x="1" y="35"/>
                          </a:lnTo>
                          <a:lnTo>
                            <a:pt x="0" y="22"/>
                          </a:lnTo>
                          <a:lnTo>
                            <a:pt x="1" y="10"/>
                          </a:lnTo>
                          <a:lnTo>
                            <a:pt x="4" y="0"/>
                          </a:lnTo>
                          <a:close/>
                        </a:path>
                      </a:pathLst>
                    </a:custGeom>
                    <a:solidFill>
                      <a:srgbClr val="9F9F9F"/>
                    </a:solidFill>
                    <a:ln w="9525">
                      <a:solidFill>
                        <a:schemeClr val="tx1"/>
                      </a:solidFill>
                      <a:round/>
                      <a:headEnd/>
                      <a:tailEnd/>
                    </a:ln>
                  </p:spPr>
                  <p:txBody>
                    <a:bodyPr/>
                    <a:lstStyle/>
                    <a:p>
                      <a:endParaRPr lang="sv-SE"/>
                    </a:p>
                  </p:txBody>
                </p:sp>
                <p:sp>
                  <p:nvSpPr>
                    <p:cNvPr id="20568" name="Freeform 178"/>
                    <p:cNvSpPr>
                      <a:spLocks/>
                    </p:cNvSpPr>
                    <p:nvPr/>
                  </p:nvSpPr>
                  <p:spPr bwMode="auto">
                    <a:xfrm>
                      <a:off x="3718" y="1910"/>
                      <a:ext cx="119" cy="160"/>
                    </a:xfrm>
                    <a:custGeom>
                      <a:avLst/>
                      <a:gdLst>
                        <a:gd name="T0" fmla="*/ 0 w 119"/>
                        <a:gd name="T1" fmla="*/ 22 h 160"/>
                        <a:gd name="T2" fmla="*/ 109 w 119"/>
                        <a:gd name="T3" fmla="*/ 160 h 160"/>
                        <a:gd name="T4" fmla="*/ 113 w 119"/>
                        <a:gd name="T5" fmla="*/ 147 h 160"/>
                        <a:gd name="T6" fmla="*/ 118 w 119"/>
                        <a:gd name="T7" fmla="*/ 126 h 160"/>
                        <a:gd name="T8" fmla="*/ 119 w 119"/>
                        <a:gd name="T9" fmla="*/ 111 h 160"/>
                        <a:gd name="T10" fmla="*/ 118 w 119"/>
                        <a:gd name="T11" fmla="*/ 97 h 160"/>
                        <a:gd name="T12" fmla="*/ 114 w 119"/>
                        <a:gd name="T13" fmla="*/ 78 h 160"/>
                        <a:gd name="T14" fmla="*/ 107 w 119"/>
                        <a:gd name="T15" fmla="*/ 63 h 160"/>
                        <a:gd name="T16" fmla="*/ 97 w 119"/>
                        <a:gd name="T17" fmla="*/ 47 h 160"/>
                        <a:gd name="T18" fmla="*/ 87 w 119"/>
                        <a:gd name="T19" fmla="*/ 33 h 160"/>
                        <a:gd name="T20" fmla="*/ 71 w 119"/>
                        <a:gd name="T21" fmla="*/ 19 h 160"/>
                        <a:gd name="T22" fmla="*/ 56 w 119"/>
                        <a:gd name="T23" fmla="*/ 10 h 160"/>
                        <a:gd name="T24" fmla="*/ 40 w 119"/>
                        <a:gd name="T25" fmla="*/ 2 h 160"/>
                        <a:gd name="T26" fmla="*/ 25 w 119"/>
                        <a:gd name="T27" fmla="*/ 0 h 160"/>
                        <a:gd name="T28" fmla="*/ 14 w 119"/>
                        <a:gd name="T29" fmla="*/ 3 h 160"/>
                        <a:gd name="T30" fmla="*/ 7 w 119"/>
                        <a:gd name="T31" fmla="*/ 12 h 160"/>
                        <a:gd name="T32" fmla="*/ 0 w 119"/>
                        <a:gd name="T33" fmla="*/ 22 h 16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9"/>
                        <a:gd name="T52" fmla="*/ 0 h 160"/>
                        <a:gd name="T53" fmla="*/ 119 w 119"/>
                        <a:gd name="T54" fmla="*/ 160 h 16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9" h="160">
                          <a:moveTo>
                            <a:pt x="0" y="22"/>
                          </a:moveTo>
                          <a:lnTo>
                            <a:pt x="109" y="160"/>
                          </a:lnTo>
                          <a:lnTo>
                            <a:pt x="113" y="147"/>
                          </a:lnTo>
                          <a:lnTo>
                            <a:pt x="118" y="126"/>
                          </a:lnTo>
                          <a:lnTo>
                            <a:pt x="119" y="111"/>
                          </a:lnTo>
                          <a:lnTo>
                            <a:pt x="118" y="97"/>
                          </a:lnTo>
                          <a:lnTo>
                            <a:pt x="114" y="78"/>
                          </a:lnTo>
                          <a:lnTo>
                            <a:pt x="107" y="63"/>
                          </a:lnTo>
                          <a:lnTo>
                            <a:pt x="97" y="47"/>
                          </a:lnTo>
                          <a:lnTo>
                            <a:pt x="87" y="33"/>
                          </a:lnTo>
                          <a:lnTo>
                            <a:pt x="71" y="19"/>
                          </a:lnTo>
                          <a:lnTo>
                            <a:pt x="56" y="10"/>
                          </a:lnTo>
                          <a:lnTo>
                            <a:pt x="40" y="2"/>
                          </a:lnTo>
                          <a:lnTo>
                            <a:pt x="25" y="0"/>
                          </a:lnTo>
                          <a:lnTo>
                            <a:pt x="14" y="3"/>
                          </a:lnTo>
                          <a:lnTo>
                            <a:pt x="7" y="12"/>
                          </a:lnTo>
                          <a:lnTo>
                            <a:pt x="0" y="22"/>
                          </a:lnTo>
                          <a:close/>
                        </a:path>
                      </a:pathLst>
                    </a:custGeom>
                    <a:solidFill>
                      <a:srgbClr val="9F9F9F"/>
                    </a:solidFill>
                    <a:ln w="9525">
                      <a:solidFill>
                        <a:schemeClr val="tx1"/>
                      </a:solidFill>
                      <a:round/>
                      <a:headEnd/>
                      <a:tailEnd/>
                    </a:ln>
                  </p:spPr>
                  <p:txBody>
                    <a:bodyPr/>
                    <a:lstStyle/>
                    <a:p>
                      <a:endParaRPr lang="sv-SE"/>
                    </a:p>
                  </p:txBody>
                </p:sp>
                <p:sp>
                  <p:nvSpPr>
                    <p:cNvPr id="20569" name="Freeform 179"/>
                    <p:cNvSpPr>
                      <a:spLocks/>
                    </p:cNvSpPr>
                    <p:nvPr/>
                  </p:nvSpPr>
                  <p:spPr bwMode="auto">
                    <a:xfrm>
                      <a:off x="2944" y="2168"/>
                      <a:ext cx="56" cy="53"/>
                    </a:xfrm>
                    <a:custGeom>
                      <a:avLst/>
                      <a:gdLst>
                        <a:gd name="T0" fmla="*/ 14 w 56"/>
                        <a:gd name="T1" fmla="*/ 53 h 53"/>
                        <a:gd name="T2" fmla="*/ 7 w 56"/>
                        <a:gd name="T3" fmla="*/ 50 h 53"/>
                        <a:gd name="T4" fmla="*/ 2 w 56"/>
                        <a:gd name="T5" fmla="*/ 46 h 53"/>
                        <a:gd name="T6" fmla="*/ 0 w 56"/>
                        <a:gd name="T7" fmla="*/ 40 h 53"/>
                        <a:gd name="T8" fmla="*/ 0 w 56"/>
                        <a:gd name="T9" fmla="*/ 33 h 53"/>
                        <a:gd name="T10" fmla="*/ 2 w 56"/>
                        <a:gd name="T11" fmla="*/ 24 h 53"/>
                        <a:gd name="T12" fmla="*/ 5 w 56"/>
                        <a:gd name="T13" fmla="*/ 19 h 53"/>
                        <a:gd name="T14" fmla="*/ 12 w 56"/>
                        <a:gd name="T15" fmla="*/ 14 h 53"/>
                        <a:gd name="T16" fmla="*/ 51 w 56"/>
                        <a:gd name="T17" fmla="*/ 0 h 53"/>
                        <a:gd name="T18" fmla="*/ 46 w 56"/>
                        <a:gd name="T19" fmla="*/ 6 h 53"/>
                        <a:gd name="T20" fmla="*/ 42 w 56"/>
                        <a:gd name="T21" fmla="*/ 13 h 53"/>
                        <a:gd name="T22" fmla="*/ 41 w 56"/>
                        <a:gd name="T23" fmla="*/ 21 h 53"/>
                        <a:gd name="T24" fmla="*/ 40 w 56"/>
                        <a:gd name="T25" fmla="*/ 27 h 53"/>
                        <a:gd name="T26" fmla="*/ 42 w 56"/>
                        <a:gd name="T27" fmla="*/ 36 h 53"/>
                        <a:gd name="T28" fmla="*/ 48 w 56"/>
                        <a:gd name="T29" fmla="*/ 42 h 53"/>
                        <a:gd name="T30" fmla="*/ 56 w 56"/>
                        <a:gd name="T31" fmla="*/ 47 h 53"/>
                        <a:gd name="T32" fmla="*/ 14 w 56"/>
                        <a:gd name="T33" fmla="*/ 53 h 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6"/>
                        <a:gd name="T52" fmla="*/ 0 h 53"/>
                        <a:gd name="T53" fmla="*/ 56 w 56"/>
                        <a:gd name="T54" fmla="*/ 53 h 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6" h="53">
                          <a:moveTo>
                            <a:pt x="14" y="53"/>
                          </a:moveTo>
                          <a:lnTo>
                            <a:pt x="7" y="50"/>
                          </a:lnTo>
                          <a:lnTo>
                            <a:pt x="2" y="46"/>
                          </a:lnTo>
                          <a:lnTo>
                            <a:pt x="0" y="40"/>
                          </a:lnTo>
                          <a:lnTo>
                            <a:pt x="0" y="33"/>
                          </a:lnTo>
                          <a:lnTo>
                            <a:pt x="2" y="24"/>
                          </a:lnTo>
                          <a:lnTo>
                            <a:pt x="5" y="19"/>
                          </a:lnTo>
                          <a:lnTo>
                            <a:pt x="12" y="14"/>
                          </a:lnTo>
                          <a:lnTo>
                            <a:pt x="51" y="0"/>
                          </a:lnTo>
                          <a:lnTo>
                            <a:pt x="46" y="6"/>
                          </a:lnTo>
                          <a:lnTo>
                            <a:pt x="42" y="13"/>
                          </a:lnTo>
                          <a:lnTo>
                            <a:pt x="41" y="21"/>
                          </a:lnTo>
                          <a:lnTo>
                            <a:pt x="40" y="27"/>
                          </a:lnTo>
                          <a:lnTo>
                            <a:pt x="42" y="36"/>
                          </a:lnTo>
                          <a:lnTo>
                            <a:pt x="48" y="42"/>
                          </a:lnTo>
                          <a:lnTo>
                            <a:pt x="56" y="47"/>
                          </a:lnTo>
                          <a:lnTo>
                            <a:pt x="14" y="53"/>
                          </a:lnTo>
                          <a:close/>
                        </a:path>
                      </a:pathLst>
                    </a:custGeom>
                    <a:solidFill>
                      <a:srgbClr val="FFFF00"/>
                    </a:solidFill>
                    <a:ln w="9525">
                      <a:solidFill>
                        <a:schemeClr val="tx1"/>
                      </a:solidFill>
                      <a:round/>
                      <a:headEnd/>
                      <a:tailEnd/>
                    </a:ln>
                  </p:spPr>
                  <p:txBody>
                    <a:bodyPr/>
                    <a:lstStyle/>
                    <a:p>
                      <a:endParaRPr lang="sv-SE"/>
                    </a:p>
                  </p:txBody>
                </p:sp>
              </p:grpSp>
              <p:grpSp>
                <p:nvGrpSpPr>
                  <p:cNvPr id="20667" name="Group 180"/>
                  <p:cNvGrpSpPr>
                    <a:grpSpLocks/>
                  </p:cNvGrpSpPr>
                  <p:nvPr/>
                </p:nvGrpSpPr>
                <p:grpSpPr bwMode="auto">
                  <a:xfrm>
                    <a:off x="3320" y="1764"/>
                    <a:ext cx="534" cy="465"/>
                    <a:chOff x="3320" y="1764"/>
                    <a:chExt cx="534" cy="465"/>
                  </a:xfrm>
                </p:grpSpPr>
                <p:sp>
                  <p:nvSpPr>
                    <p:cNvPr id="20560" name="Freeform 181"/>
                    <p:cNvSpPr>
                      <a:spLocks/>
                    </p:cNvSpPr>
                    <p:nvPr/>
                  </p:nvSpPr>
                  <p:spPr bwMode="auto">
                    <a:xfrm>
                      <a:off x="3322" y="2100"/>
                      <a:ext cx="532" cy="129"/>
                    </a:xfrm>
                    <a:custGeom>
                      <a:avLst/>
                      <a:gdLst>
                        <a:gd name="T0" fmla="*/ 0 w 532"/>
                        <a:gd name="T1" fmla="*/ 39 h 129"/>
                        <a:gd name="T2" fmla="*/ 368 w 532"/>
                        <a:gd name="T3" fmla="*/ 0 h 129"/>
                        <a:gd name="T4" fmla="*/ 532 w 532"/>
                        <a:gd name="T5" fmla="*/ 125 h 129"/>
                        <a:gd name="T6" fmla="*/ 424 w 532"/>
                        <a:gd name="T7" fmla="*/ 118 h 129"/>
                        <a:gd name="T8" fmla="*/ 397 w 532"/>
                        <a:gd name="T9" fmla="*/ 112 h 129"/>
                        <a:gd name="T10" fmla="*/ 414 w 532"/>
                        <a:gd name="T11" fmla="*/ 129 h 129"/>
                        <a:gd name="T12" fmla="*/ 304 w 532"/>
                        <a:gd name="T13" fmla="*/ 118 h 129"/>
                        <a:gd name="T14" fmla="*/ 269 w 532"/>
                        <a:gd name="T15" fmla="*/ 106 h 129"/>
                        <a:gd name="T16" fmla="*/ 286 w 532"/>
                        <a:gd name="T17" fmla="*/ 123 h 129"/>
                        <a:gd name="T18" fmla="*/ 135 w 532"/>
                        <a:gd name="T19" fmla="*/ 106 h 129"/>
                        <a:gd name="T20" fmla="*/ 0 w 532"/>
                        <a:gd name="T21" fmla="*/ 39 h 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2"/>
                        <a:gd name="T34" fmla="*/ 0 h 129"/>
                        <a:gd name="T35" fmla="*/ 532 w 532"/>
                        <a:gd name="T36" fmla="*/ 129 h 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2" h="129">
                          <a:moveTo>
                            <a:pt x="0" y="39"/>
                          </a:moveTo>
                          <a:lnTo>
                            <a:pt x="368" y="0"/>
                          </a:lnTo>
                          <a:lnTo>
                            <a:pt x="532" y="125"/>
                          </a:lnTo>
                          <a:lnTo>
                            <a:pt x="424" y="118"/>
                          </a:lnTo>
                          <a:lnTo>
                            <a:pt x="397" y="112"/>
                          </a:lnTo>
                          <a:lnTo>
                            <a:pt x="414" y="129"/>
                          </a:lnTo>
                          <a:lnTo>
                            <a:pt x="304" y="118"/>
                          </a:lnTo>
                          <a:lnTo>
                            <a:pt x="269" y="106"/>
                          </a:lnTo>
                          <a:lnTo>
                            <a:pt x="286" y="123"/>
                          </a:lnTo>
                          <a:lnTo>
                            <a:pt x="135" y="106"/>
                          </a:lnTo>
                          <a:lnTo>
                            <a:pt x="0" y="39"/>
                          </a:lnTo>
                          <a:close/>
                        </a:path>
                      </a:pathLst>
                    </a:custGeom>
                    <a:solidFill>
                      <a:srgbClr val="FFFF00"/>
                    </a:solidFill>
                    <a:ln w="9525">
                      <a:solidFill>
                        <a:schemeClr val="tx1"/>
                      </a:solidFill>
                      <a:round/>
                      <a:headEnd/>
                      <a:tailEnd/>
                    </a:ln>
                  </p:spPr>
                  <p:txBody>
                    <a:bodyPr/>
                    <a:lstStyle/>
                    <a:p>
                      <a:endParaRPr lang="sv-SE"/>
                    </a:p>
                  </p:txBody>
                </p:sp>
                <p:sp>
                  <p:nvSpPr>
                    <p:cNvPr id="20561" name="Freeform 182"/>
                    <p:cNvSpPr>
                      <a:spLocks/>
                    </p:cNvSpPr>
                    <p:nvPr/>
                  </p:nvSpPr>
                  <p:spPr bwMode="auto">
                    <a:xfrm>
                      <a:off x="3325" y="1990"/>
                      <a:ext cx="340" cy="107"/>
                    </a:xfrm>
                    <a:custGeom>
                      <a:avLst/>
                      <a:gdLst>
                        <a:gd name="T0" fmla="*/ 44 w 340"/>
                        <a:gd name="T1" fmla="*/ 81 h 107"/>
                        <a:gd name="T2" fmla="*/ 340 w 340"/>
                        <a:gd name="T3" fmla="*/ 0 h 107"/>
                        <a:gd name="T4" fmla="*/ 254 w 340"/>
                        <a:gd name="T5" fmla="*/ 49 h 107"/>
                        <a:gd name="T6" fmla="*/ 0 w 340"/>
                        <a:gd name="T7" fmla="*/ 107 h 107"/>
                        <a:gd name="T8" fmla="*/ 44 w 340"/>
                        <a:gd name="T9" fmla="*/ 81 h 107"/>
                        <a:gd name="T10" fmla="*/ 0 60000 65536"/>
                        <a:gd name="T11" fmla="*/ 0 60000 65536"/>
                        <a:gd name="T12" fmla="*/ 0 60000 65536"/>
                        <a:gd name="T13" fmla="*/ 0 60000 65536"/>
                        <a:gd name="T14" fmla="*/ 0 60000 65536"/>
                        <a:gd name="T15" fmla="*/ 0 w 340"/>
                        <a:gd name="T16" fmla="*/ 0 h 107"/>
                        <a:gd name="T17" fmla="*/ 340 w 340"/>
                        <a:gd name="T18" fmla="*/ 107 h 107"/>
                      </a:gdLst>
                      <a:ahLst/>
                      <a:cxnLst>
                        <a:cxn ang="T10">
                          <a:pos x="T0" y="T1"/>
                        </a:cxn>
                        <a:cxn ang="T11">
                          <a:pos x="T2" y="T3"/>
                        </a:cxn>
                        <a:cxn ang="T12">
                          <a:pos x="T4" y="T5"/>
                        </a:cxn>
                        <a:cxn ang="T13">
                          <a:pos x="T6" y="T7"/>
                        </a:cxn>
                        <a:cxn ang="T14">
                          <a:pos x="T8" y="T9"/>
                        </a:cxn>
                      </a:cxnLst>
                      <a:rect l="T15" t="T16" r="T17" b="T18"/>
                      <a:pathLst>
                        <a:path w="340" h="107">
                          <a:moveTo>
                            <a:pt x="44" y="81"/>
                          </a:moveTo>
                          <a:lnTo>
                            <a:pt x="340" y="0"/>
                          </a:lnTo>
                          <a:lnTo>
                            <a:pt x="254" y="49"/>
                          </a:lnTo>
                          <a:lnTo>
                            <a:pt x="0" y="107"/>
                          </a:lnTo>
                          <a:lnTo>
                            <a:pt x="44" y="81"/>
                          </a:lnTo>
                          <a:close/>
                        </a:path>
                      </a:pathLst>
                    </a:custGeom>
                    <a:solidFill>
                      <a:srgbClr val="FFFF00"/>
                    </a:solidFill>
                    <a:ln w="9525">
                      <a:solidFill>
                        <a:schemeClr val="tx1"/>
                      </a:solidFill>
                      <a:round/>
                      <a:headEnd/>
                      <a:tailEnd/>
                    </a:ln>
                  </p:spPr>
                  <p:txBody>
                    <a:bodyPr/>
                    <a:lstStyle/>
                    <a:p>
                      <a:endParaRPr lang="sv-SE"/>
                    </a:p>
                  </p:txBody>
                </p:sp>
                <p:sp>
                  <p:nvSpPr>
                    <p:cNvPr id="20562" name="Freeform 183"/>
                    <p:cNvSpPr>
                      <a:spLocks/>
                    </p:cNvSpPr>
                    <p:nvPr/>
                  </p:nvSpPr>
                  <p:spPr bwMode="auto">
                    <a:xfrm>
                      <a:off x="3320" y="1764"/>
                      <a:ext cx="440" cy="305"/>
                    </a:xfrm>
                    <a:custGeom>
                      <a:avLst/>
                      <a:gdLst>
                        <a:gd name="T0" fmla="*/ 0 w 440"/>
                        <a:gd name="T1" fmla="*/ 305 h 305"/>
                        <a:gd name="T2" fmla="*/ 316 w 440"/>
                        <a:gd name="T3" fmla="*/ 196 h 305"/>
                        <a:gd name="T4" fmla="*/ 440 w 440"/>
                        <a:gd name="T5" fmla="*/ 0 h 305"/>
                        <a:gd name="T6" fmla="*/ 343 w 440"/>
                        <a:gd name="T7" fmla="*/ 59 h 305"/>
                        <a:gd name="T8" fmla="*/ 321 w 440"/>
                        <a:gd name="T9" fmla="*/ 80 h 305"/>
                        <a:gd name="T10" fmla="*/ 321 w 440"/>
                        <a:gd name="T11" fmla="*/ 58 h 305"/>
                        <a:gd name="T12" fmla="*/ 211 w 440"/>
                        <a:gd name="T13" fmla="*/ 141 h 305"/>
                        <a:gd name="T14" fmla="*/ 218 w 440"/>
                        <a:gd name="T15" fmla="*/ 117 h 305"/>
                        <a:gd name="T16" fmla="*/ 99 w 440"/>
                        <a:gd name="T17" fmla="*/ 192 h 305"/>
                        <a:gd name="T18" fmla="*/ 0 w 440"/>
                        <a:gd name="T19" fmla="*/ 305 h 3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0"/>
                        <a:gd name="T31" fmla="*/ 0 h 305"/>
                        <a:gd name="T32" fmla="*/ 440 w 440"/>
                        <a:gd name="T33" fmla="*/ 305 h 30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0" h="305">
                          <a:moveTo>
                            <a:pt x="0" y="305"/>
                          </a:moveTo>
                          <a:lnTo>
                            <a:pt x="316" y="196"/>
                          </a:lnTo>
                          <a:lnTo>
                            <a:pt x="440" y="0"/>
                          </a:lnTo>
                          <a:lnTo>
                            <a:pt x="343" y="59"/>
                          </a:lnTo>
                          <a:lnTo>
                            <a:pt x="321" y="80"/>
                          </a:lnTo>
                          <a:lnTo>
                            <a:pt x="321" y="58"/>
                          </a:lnTo>
                          <a:lnTo>
                            <a:pt x="211" y="141"/>
                          </a:lnTo>
                          <a:lnTo>
                            <a:pt x="218" y="117"/>
                          </a:lnTo>
                          <a:lnTo>
                            <a:pt x="99" y="192"/>
                          </a:lnTo>
                          <a:lnTo>
                            <a:pt x="0" y="305"/>
                          </a:lnTo>
                          <a:close/>
                        </a:path>
                      </a:pathLst>
                    </a:custGeom>
                    <a:solidFill>
                      <a:srgbClr val="FFFF00"/>
                    </a:solidFill>
                    <a:ln w="9525">
                      <a:solidFill>
                        <a:schemeClr val="tx1"/>
                      </a:solidFill>
                      <a:round/>
                      <a:headEnd/>
                      <a:tailEnd/>
                    </a:ln>
                  </p:spPr>
                  <p:txBody>
                    <a:bodyPr/>
                    <a:lstStyle/>
                    <a:p>
                      <a:endParaRPr lang="sv-SE"/>
                    </a:p>
                  </p:txBody>
                </p:sp>
              </p:grpSp>
            </p:grpSp>
            <p:sp>
              <p:nvSpPr>
                <p:cNvPr id="20556" name="Freeform 184"/>
                <p:cNvSpPr>
                  <a:spLocks/>
                </p:cNvSpPr>
                <p:nvPr/>
              </p:nvSpPr>
              <p:spPr bwMode="auto">
                <a:xfrm>
                  <a:off x="3205" y="2051"/>
                  <a:ext cx="148" cy="133"/>
                </a:xfrm>
                <a:custGeom>
                  <a:avLst/>
                  <a:gdLst>
                    <a:gd name="T0" fmla="*/ 131 w 148"/>
                    <a:gd name="T1" fmla="*/ 0 h 133"/>
                    <a:gd name="T2" fmla="*/ 122 w 148"/>
                    <a:gd name="T3" fmla="*/ 10 h 133"/>
                    <a:gd name="T4" fmla="*/ 112 w 148"/>
                    <a:gd name="T5" fmla="*/ 25 h 133"/>
                    <a:gd name="T6" fmla="*/ 108 w 148"/>
                    <a:gd name="T7" fmla="*/ 37 h 133"/>
                    <a:gd name="T8" fmla="*/ 104 w 148"/>
                    <a:gd name="T9" fmla="*/ 52 h 133"/>
                    <a:gd name="T10" fmla="*/ 104 w 148"/>
                    <a:gd name="T11" fmla="*/ 66 h 133"/>
                    <a:gd name="T12" fmla="*/ 108 w 148"/>
                    <a:gd name="T13" fmla="*/ 80 h 133"/>
                    <a:gd name="T14" fmla="*/ 114 w 148"/>
                    <a:gd name="T15" fmla="*/ 92 h 133"/>
                    <a:gd name="T16" fmla="*/ 125 w 148"/>
                    <a:gd name="T17" fmla="*/ 102 h 133"/>
                    <a:gd name="T18" fmla="*/ 137 w 148"/>
                    <a:gd name="T19" fmla="*/ 109 h 133"/>
                    <a:gd name="T20" fmla="*/ 148 w 148"/>
                    <a:gd name="T21" fmla="*/ 117 h 133"/>
                    <a:gd name="T22" fmla="*/ 36 w 148"/>
                    <a:gd name="T23" fmla="*/ 133 h 133"/>
                    <a:gd name="T24" fmla="*/ 24 w 148"/>
                    <a:gd name="T25" fmla="*/ 127 h 133"/>
                    <a:gd name="T26" fmla="*/ 14 w 148"/>
                    <a:gd name="T27" fmla="*/ 120 h 133"/>
                    <a:gd name="T28" fmla="*/ 7 w 148"/>
                    <a:gd name="T29" fmla="*/ 111 h 133"/>
                    <a:gd name="T30" fmla="*/ 3 w 148"/>
                    <a:gd name="T31" fmla="*/ 103 h 133"/>
                    <a:gd name="T32" fmla="*/ 0 w 148"/>
                    <a:gd name="T33" fmla="*/ 93 h 133"/>
                    <a:gd name="T34" fmla="*/ 0 w 148"/>
                    <a:gd name="T35" fmla="*/ 80 h 133"/>
                    <a:gd name="T36" fmla="*/ 3 w 148"/>
                    <a:gd name="T37" fmla="*/ 69 h 133"/>
                    <a:gd name="T38" fmla="*/ 6 w 148"/>
                    <a:gd name="T39" fmla="*/ 58 h 133"/>
                    <a:gd name="T40" fmla="*/ 10 w 148"/>
                    <a:gd name="T41" fmla="*/ 50 h 133"/>
                    <a:gd name="T42" fmla="*/ 16 w 148"/>
                    <a:gd name="T43" fmla="*/ 41 h 133"/>
                    <a:gd name="T44" fmla="*/ 21 w 148"/>
                    <a:gd name="T45" fmla="*/ 37 h 133"/>
                    <a:gd name="T46" fmla="*/ 131 w 148"/>
                    <a:gd name="T47" fmla="*/ 0 h 13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8"/>
                    <a:gd name="T73" fmla="*/ 0 h 133"/>
                    <a:gd name="T74" fmla="*/ 148 w 148"/>
                    <a:gd name="T75" fmla="*/ 133 h 13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8" h="133">
                      <a:moveTo>
                        <a:pt x="131" y="0"/>
                      </a:moveTo>
                      <a:lnTo>
                        <a:pt x="122" y="10"/>
                      </a:lnTo>
                      <a:lnTo>
                        <a:pt x="112" y="25"/>
                      </a:lnTo>
                      <a:lnTo>
                        <a:pt x="108" y="37"/>
                      </a:lnTo>
                      <a:lnTo>
                        <a:pt x="104" y="52"/>
                      </a:lnTo>
                      <a:lnTo>
                        <a:pt x="104" y="66"/>
                      </a:lnTo>
                      <a:lnTo>
                        <a:pt x="108" y="80"/>
                      </a:lnTo>
                      <a:lnTo>
                        <a:pt x="114" y="92"/>
                      </a:lnTo>
                      <a:lnTo>
                        <a:pt x="125" y="102"/>
                      </a:lnTo>
                      <a:lnTo>
                        <a:pt x="137" y="109"/>
                      </a:lnTo>
                      <a:lnTo>
                        <a:pt x="148" y="117"/>
                      </a:lnTo>
                      <a:lnTo>
                        <a:pt x="36" y="133"/>
                      </a:lnTo>
                      <a:lnTo>
                        <a:pt x="24" y="127"/>
                      </a:lnTo>
                      <a:lnTo>
                        <a:pt x="14" y="120"/>
                      </a:lnTo>
                      <a:lnTo>
                        <a:pt x="7" y="111"/>
                      </a:lnTo>
                      <a:lnTo>
                        <a:pt x="3" y="103"/>
                      </a:lnTo>
                      <a:lnTo>
                        <a:pt x="0" y="93"/>
                      </a:lnTo>
                      <a:lnTo>
                        <a:pt x="0" y="80"/>
                      </a:lnTo>
                      <a:lnTo>
                        <a:pt x="3" y="69"/>
                      </a:lnTo>
                      <a:lnTo>
                        <a:pt x="6" y="58"/>
                      </a:lnTo>
                      <a:lnTo>
                        <a:pt x="10" y="50"/>
                      </a:lnTo>
                      <a:lnTo>
                        <a:pt x="16" y="41"/>
                      </a:lnTo>
                      <a:lnTo>
                        <a:pt x="21" y="37"/>
                      </a:lnTo>
                      <a:lnTo>
                        <a:pt x="131" y="0"/>
                      </a:lnTo>
                      <a:close/>
                    </a:path>
                  </a:pathLst>
                </a:custGeom>
                <a:solidFill>
                  <a:srgbClr val="FFFF00"/>
                </a:solidFill>
                <a:ln w="9525">
                  <a:solidFill>
                    <a:schemeClr val="tx1"/>
                  </a:solidFill>
                  <a:round/>
                  <a:headEnd/>
                  <a:tailEnd/>
                </a:ln>
              </p:spPr>
              <p:txBody>
                <a:bodyPr/>
                <a:lstStyle/>
                <a:p>
                  <a:endParaRPr lang="sv-SE"/>
                </a:p>
              </p:txBody>
            </p:sp>
            <p:sp>
              <p:nvSpPr>
                <p:cNvPr id="20557" name="Freeform 185"/>
                <p:cNvSpPr>
                  <a:spLocks/>
                </p:cNvSpPr>
                <p:nvPr/>
              </p:nvSpPr>
              <p:spPr bwMode="auto">
                <a:xfrm>
                  <a:off x="3233" y="2071"/>
                  <a:ext cx="62" cy="108"/>
                </a:xfrm>
                <a:custGeom>
                  <a:avLst/>
                  <a:gdLst>
                    <a:gd name="T0" fmla="*/ 41 w 62"/>
                    <a:gd name="T1" fmla="*/ 0 h 108"/>
                    <a:gd name="T2" fmla="*/ 34 w 62"/>
                    <a:gd name="T3" fmla="*/ 15 h 108"/>
                    <a:gd name="T4" fmla="*/ 28 w 62"/>
                    <a:gd name="T5" fmla="*/ 27 h 108"/>
                    <a:gd name="T6" fmla="*/ 23 w 62"/>
                    <a:gd name="T7" fmla="*/ 41 h 108"/>
                    <a:gd name="T8" fmla="*/ 20 w 62"/>
                    <a:gd name="T9" fmla="*/ 55 h 108"/>
                    <a:gd name="T10" fmla="*/ 23 w 62"/>
                    <a:gd name="T11" fmla="*/ 70 h 108"/>
                    <a:gd name="T12" fmla="*/ 29 w 62"/>
                    <a:gd name="T13" fmla="*/ 80 h 108"/>
                    <a:gd name="T14" fmla="*/ 38 w 62"/>
                    <a:gd name="T15" fmla="*/ 88 h 108"/>
                    <a:gd name="T16" fmla="*/ 47 w 62"/>
                    <a:gd name="T17" fmla="*/ 96 h 108"/>
                    <a:gd name="T18" fmla="*/ 62 w 62"/>
                    <a:gd name="T19" fmla="*/ 106 h 108"/>
                    <a:gd name="T20" fmla="*/ 41 w 62"/>
                    <a:gd name="T21" fmla="*/ 108 h 108"/>
                    <a:gd name="T22" fmla="*/ 32 w 62"/>
                    <a:gd name="T23" fmla="*/ 105 h 108"/>
                    <a:gd name="T24" fmla="*/ 23 w 62"/>
                    <a:gd name="T25" fmla="*/ 100 h 108"/>
                    <a:gd name="T26" fmla="*/ 14 w 62"/>
                    <a:gd name="T27" fmla="*/ 93 h 108"/>
                    <a:gd name="T28" fmla="*/ 8 w 62"/>
                    <a:gd name="T29" fmla="*/ 85 h 108"/>
                    <a:gd name="T30" fmla="*/ 3 w 62"/>
                    <a:gd name="T31" fmla="*/ 77 h 108"/>
                    <a:gd name="T32" fmla="*/ 0 w 62"/>
                    <a:gd name="T33" fmla="*/ 66 h 108"/>
                    <a:gd name="T34" fmla="*/ 0 w 62"/>
                    <a:gd name="T35" fmla="*/ 54 h 108"/>
                    <a:gd name="T36" fmla="*/ 3 w 62"/>
                    <a:gd name="T37" fmla="*/ 42 h 108"/>
                    <a:gd name="T38" fmla="*/ 7 w 62"/>
                    <a:gd name="T39" fmla="*/ 31 h 108"/>
                    <a:gd name="T40" fmla="*/ 11 w 62"/>
                    <a:gd name="T41" fmla="*/ 24 h 108"/>
                    <a:gd name="T42" fmla="*/ 16 w 62"/>
                    <a:gd name="T43" fmla="*/ 16 h 108"/>
                    <a:gd name="T44" fmla="*/ 22 w 62"/>
                    <a:gd name="T45" fmla="*/ 7 h 108"/>
                    <a:gd name="T46" fmla="*/ 41 w 62"/>
                    <a:gd name="T47" fmla="*/ 0 h 1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2"/>
                    <a:gd name="T73" fmla="*/ 0 h 108"/>
                    <a:gd name="T74" fmla="*/ 62 w 62"/>
                    <a:gd name="T75" fmla="*/ 108 h 10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2" h="108">
                      <a:moveTo>
                        <a:pt x="41" y="0"/>
                      </a:moveTo>
                      <a:lnTo>
                        <a:pt x="34" y="15"/>
                      </a:lnTo>
                      <a:lnTo>
                        <a:pt x="28" y="27"/>
                      </a:lnTo>
                      <a:lnTo>
                        <a:pt x="23" y="41"/>
                      </a:lnTo>
                      <a:lnTo>
                        <a:pt x="20" y="55"/>
                      </a:lnTo>
                      <a:lnTo>
                        <a:pt x="23" y="70"/>
                      </a:lnTo>
                      <a:lnTo>
                        <a:pt x="29" y="80"/>
                      </a:lnTo>
                      <a:lnTo>
                        <a:pt x="38" y="88"/>
                      </a:lnTo>
                      <a:lnTo>
                        <a:pt x="47" y="96"/>
                      </a:lnTo>
                      <a:lnTo>
                        <a:pt x="62" y="106"/>
                      </a:lnTo>
                      <a:lnTo>
                        <a:pt x="41" y="108"/>
                      </a:lnTo>
                      <a:lnTo>
                        <a:pt x="32" y="105"/>
                      </a:lnTo>
                      <a:lnTo>
                        <a:pt x="23" y="100"/>
                      </a:lnTo>
                      <a:lnTo>
                        <a:pt x="14" y="93"/>
                      </a:lnTo>
                      <a:lnTo>
                        <a:pt x="8" y="85"/>
                      </a:lnTo>
                      <a:lnTo>
                        <a:pt x="3" y="77"/>
                      </a:lnTo>
                      <a:lnTo>
                        <a:pt x="0" y="66"/>
                      </a:lnTo>
                      <a:lnTo>
                        <a:pt x="0" y="54"/>
                      </a:lnTo>
                      <a:lnTo>
                        <a:pt x="3" y="42"/>
                      </a:lnTo>
                      <a:lnTo>
                        <a:pt x="7" y="31"/>
                      </a:lnTo>
                      <a:lnTo>
                        <a:pt x="11" y="24"/>
                      </a:lnTo>
                      <a:lnTo>
                        <a:pt x="16" y="16"/>
                      </a:lnTo>
                      <a:lnTo>
                        <a:pt x="22" y="7"/>
                      </a:lnTo>
                      <a:lnTo>
                        <a:pt x="41" y="0"/>
                      </a:lnTo>
                      <a:close/>
                    </a:path>
                  </a:pathLst>
                </a:custGeom>
                <a:solidFill>
                  <a:srgbClr val="FF0000"/>
                </a:solidFill>
                <a:ln w="9525">
                  <a:solidFill>
                    <a:schemeClr val="tx1"/>
                  </a:solidFill>
                  <a:round/>
                  <a:headEnd/>
                  <a:tailEnd/>
                </a:ln>
              </p:spPr>
              <p:txBody>
                <a:bodyPr/>
                <a:lstStyle/>
                <a:p>
                  <a:endParaRPr lang="sv-SE"/>
                </a:p>
              </p:txBody>
            </p:sp>
          </p:grpSp>
        </p:grpSp>
      </p:grpSp>
      <p:grpSp>
        <p:nvGrpSpPr>
          <p:cNvPr id="20671" name="Group 186"/>
          <p:cNvGrpSpPr>
            <a:grpSpLocks/>
          </p:cNvGrpSpPr>
          <p:nvPr/>
        </p:nvGrpSpPr>
        <p:grpSpPr bwMode="auto">
          <a:xfrm>
            <a:off x="5181600" y="4221163"/>
            <a:ext cx="3049588" cy="1797050"/>
            <a:chOff x="276" y="2219"/>
            <a:chExt cx="1921" cy="1132"/>
          </a:xfrm>
        </p:grpSpPr>
        <p:grpSp>
          <p:nvGrpSpPr>
            <p:cNvPr id="20672" name="Group 187"/>
            <p:cNvGrpSpPr>
              <a:grpSpLocks/>
            </p:cNvGrpSpPr>
            <p:nvPr/>
          </p:nvGrpSpPr>
          <p:grpSpPr bwMode="auto">
            <a:xfrm>
              <a:off x="1025" y="2219"/>
              <a:ext cx="1172" cy="1132"/>
              <a:chOff x="1785" y="1065"/>
              <a:chExt cx="2190" cy="2190"/>
            </a:xfrm>
          </p:grpSpPr>
          <p:grpSp>
            <p:nvGrpSpPr>
              <p:cNvPr id="20673" name="Group 188"/>
              <p:cNvGrpSpPr>
                <a:grpSpLocks/>
              </p:cNvGrpSpPr>
              <p:nvPr/>
            </p:nvGrpSpPr>
            <p:grpSpPr bwMode="auto">
              <a:xfrm>
                <a:off x="1785" y="1065"/>
                <a:ext cx="2190" cy="2190"/>
                <a:chOff x="1785" y="1065"/>
                <a:chExt cx="2190" cy="2190"/>
              </a:xfrm>
            </p:grpSpPr>
            <p:grpSp>
              <p:nvGrpSpPr>
                <p:cNvPr id="20674" name="Group 189"/>
                <p:cNvGrpSpPr>
                  <a:grpSpLocks/>
                </p:cNvGrpSpPr>
                <p:nvPr/>
              </p:nvGrpSpPr>
              <p:grpSpPr bwMode="auto">
                <a:xfrm>
                  <a:off x="1785" y="1065"/>
                  <a:ext cx="2190" cy="2190"/>
                  <a:chOff x="1785" y="1065"/>
                  <a:chExt cx="2190" cy="2190"/>
                </a:xfrm>
              </p:grpSpPr>
              <p:grpSp>
                <p:nvGrpSpPr>
                  <p:cNvPr id="20675" name="Group 190"/>
                  <p:cNvGrpSpPr>
                    <a:grpSpLocks/>
                  </p:cNvGrpSpPr>
                  <p:nvPr/>
                </p:nvGrpSpPr>
                <p:grpSpPr bwMode="auto">
                  <a:xfrm>
                    <a:off x="1785" y="1065"/>
                    <a:ext cx="2190" cy="2190"/>
                    <a:chOff x="1785" y="1065"/>
                    <a:chExt cx="2190" cy="2190"/>
                  </a:xfrm>
                </p:grpSpPr>
                <p:sp>
                  <p:nvSpPr>
                    <p:cNvPr id="20548" name="Oval 191"/>
                    <p:cNvSpPr>
                      <a:spLocks noChangeArrowheads="1"/>
                    </p:cNvSpPr>
                    <p:nvPr/>
                  </p:nvSpPr>
                  <p:spPr bwMode="auto">
                    <a:xfrm>
                      <a:off x="1785" y="1065"/>
                      <a:ext cx="2190" cy="2190"/>
                    </a:xfrm>
                    <a:prstGeom prst="ellipse">
                      <a:avLst/>
                    </a:prstGeom>
                    <a:solidFill>
                      <a:srgbClr val="FF0000"/>
                    </a:solidFill>
                    <a:ln w="9525">
                      <a:solidFill>
                        <a:schemeClr val="tx1"/>
                      </a:solidFill>
                      <a:round/>
                      <a:headEnd/>
                      <a:tailEnd/>
                    </a:ln>
                  </p:spPr>
                  <p:txBody>
                    <a:bodyPr/>
                    <a:lstStyle/>
                    <a:p>
                      <a:endParaRPr lang="en-US"/>
                    </a:p>
                  </p:txBody>
                </p:sp>
                <p:sp>
                  <p:nvSpPr>
                    <p:cNvPr id="20549" name="Oval 192"/>
                    <p:cNvSpPr>
                      <a:spLocks noChangeArrowheads="1"/>
                    </p:cNvSpPr>
                    <p:nvPr/>
                  </p:nvSpPr>
                  <p:spPr bwMode="auto">
                    <a:xfrm>
                      <a:off x="2017" y="1286"/>
                      <a:ext cx="1724" cy="1740"/>
                    </a:xfrm>
                    <a:prstGeom prst="ellipse">
                      <a:avLst/>
                    </a:prstGeom>
                    <a:solidFill>
                      <a:srgbClr val="FFFFFF"/>
                    </a:solidFill>
                    <a:ln w="9525">
                      <a:solidFill>
                        <a:schemeClr val="tx1"/>
                      </a:solidFill>
                      <a:round/>
                      <a:headEnd/>
                      <a:tailEnd/>
                    </a:ln>
                  </p:spPr>
                  <p:txBody>
                    <a:bodyPr/>
                    <a:lstStyle/>
                    <a:p>
                      <a:endParaRPr lang="en-US"/>
                    </a:p>
                  </p:txBody>
                </p:sp>
              </p:grpSp>
              <p:sp>
                <p:nvSpPr>
                  <p:cNvPr id="20547" name="Oval 193"/>
                  <p:cNvSpPr>
                    <a:spLocks noChangeArrowheads="1"/>
                  </p:cNvSpPr>
                  <p:nvPr/>
                </p:nvSpPr>
                <p:spPr bwMode="auto">
                  <a:xfrm>
                    <a:off x="2250" y="1522"/>
                    <a:ext cx="1258" cy="1268"/>
                  </a:xfrm>
                  <a:prstGeom prst="ellipse">
                    <a:avLst/>
                  </a:prstGeom>
                  <a:solidFill>
                    <a:srgbClr val="0000FF"/>
                  </a:solidFill>
                  <a:ln w="9525">
                    <a:solidFill>
                      <a:schemeClr val="tx1"/>
                    </a:solidFill>
                    <a:round/>
                    <a:headEnd/>
                    <a:tailEnd/>
                  </a:ln>
                </p:spPr>
                <p:txBody>
                  <a:bodyPr/>
                  <a:lstStyle/>
                  <a:p>
                    <a:endParaRPr lang="en-US"/>
                  </a:p>
                </p:txBody>
              </p:sp>
            </p:grpSp>
            <p:sp>
              <p:nvSpPr>
                <p:cNvPr id="20545" name="Oval 194"/>
                <p:cNvSpPr>
                  <a:spLocks noChangeArrowheads="1"/>
                </p:cNvSpPr>
                <p:nvPr/>
              </p:nvSpPr>
              <p:spPr bwMode="auto">
                <a:xfrm>
                  <a:off x="2479" y="1754"/>
                  <a:ext cx="800" cy="804"/>
                </a:xfrm>
                <a:prstGeom prst="ellipse">
                  <a:avLst/>
                </a:prstGeom>
                <a:solidFill>
                  <a:srgbClr val="FFFFFF"/>
                </a:solidFill>
                <a:ln w="9525">
                  <a:solidFill>
                    <a:schemeClr val="tx1"/>
                  </a:solidFill>
                  <a:round/>
                  <a:headEnd/>
                  <a:tailEnd/>
                </a:ln>
              </p:spPr>
              <p:txBody>
                <a:bodyPr/>
                <a:lstStyle/>
                <a:p>
                  <a:endParaRPr lang="en-US"/>
                </a:p>
              </p:txBody>
            </p:sp>
          </p:grpSp>
          <p:sp>
            <p:nvSpPr>
              <p:cNvPr id="20543" name="Oval 195"/>
              <p:cNvSpPr>
                <a:spLocks noChangeArrowheads="1"/>
              </p:cNvSpPr>
              <p:nvPr/>
            </p:nvSpPr>
            <p:spPr bwMode="auto">
              <a:xfrm>
                <a:off x="2711" y="1986"/>
                <a:ext cx="336" cy="340"/>
              </a:xfrm>
              <a:prstGeom prst="ellipse">
                <a:avLst/>
              </a:prstGeom>
              <a:solidFill>
                <a:srgbClr val="FF0000"/>
              </a:solidFill>
              <a:ln w="9525">
                <a:solidFill>
                  <a:schemeClr val="tx1"/>
                </a:solidFill>
                <a:round/>
                <a:headEnd/>
                <a:tailEnd/>
              </a:ln>
            </p:spPr>
            <p:txBody>
              <a:bodyPr/>
              <a:lstStyle/>
              <a:p>
                <a:endParaRPr lang="en-US"/>
              </a:p>
            </p:txBody>
          </p:sp>
        </p:grpSp>
        <p:grpSp>
          <p:nvGrpSpPr>
            <p:cNvPr id="20676" name="Group 196"/>
            <p:cNvGrpSpPr>
              <a:grpSpLocks/>
            </p:cNvGrpSpPr>
            <p:nvPr/>
          </p:nvGrpSpPr>
          <p:grpSpPr bwMode="auto">
            <a:xfrm>
              <a:off x="282" y="2636"/>
              <a:ext cx="486" cy="366"/>
              <a:chOff x="2898" y="1456"/>
              <a:chExt cx="910" cy="708"/>
            </a:xfrm>
          </p:grpSpPr>
          <p:sp>
            <p:nvSpPr>
              <p:cNvPr id="20527" name="Freeform 197"/>
              <p:cNvSpPr>
                <a:spLocks/>
              </p:cNvSpPr>
              <p:nvPr/>
            </p:nvSpPr>
            <p:spPr bwMode="auto">
              <a:xfrm>
                <a:off x="2907" y="2116"/>
                <a:ext cx="68" cy="47"/>
              </a:xfrm>
              <a:custGeom>
                <a:avLst/>
                <a:gdLst>
                  <a:gd name="T0" fmla="*/ 0 w 68"/>
                  <a:gd name="T1" fmla="*/ 22 h 47"/>
                  <a:gd name="T2" fmla="*/ 31 w 68"/>
                  <a:gd name="T3" fmla="*/ 0 h 47"/>
                  <a:gd name="T4" fmla="*/ 68 w 68"/>
                  <a:gd name="T5" fmla="*/ 47 h 47"/>
                  <a:gd name="T6" fmla="*/ 12 w 68"/>
                  <a:gd name="T7" fmla="*/ 39 h 47"/>
                  <a:gd name="T8" fmla="*/ 0 w 68"/>
                  <a:gd name="T9" fmla="*/ 22 h 47"/>
                  <a:gd name="T10" fmla="*/ 0 60000 65536"/>
                  <a:gd name="T11" fmla="*/ 0 60000 65536"/>
                  <a:gd name="T12" fmla="*/ 0 60000 65536"/>
                  <a:gd name="T13" fmla="*/ 0 60000 65536"/>
                  <a:gd name="T14" fmla="*/ 0 60000 65536"/>
                  <a:gd name="T15" fmla="*/ 0 w 68"/>
                  <a:gd name="T16" fmla="*/ 0 h 47"/>
                  <a:gd name="T17" fmla="*/ 68 w 68"/>
                  <a:gd name="T18" fmla="*/ 47 h 47"/>
                </a:gdLst>
                <a:ahLst/>
                <a:cxnLst>
                  <a:cxn ang="T10">
                    <a:pos x="T0" y="T1"/>
                  </a:cxn>
                  <a:cxn ang="T11">
                    <a:pos x="T2" y="T3"/>
                  </a:cxn>
                  <a:cxn ang="T12">
                    <a:pos x="T4" y="T5"/>
                  </a:cxn>
                  <a:cxn ang="T13">
                    <a:pos x="T6" y="T7"/>
                  </a:cxn>
                  <a:cxn ang="T14">
                    <a:pos x="T8" y="T9"/>
                  </a:cxn>
                </a:cxnLst>
                <a:rect l="T15" t="T16" r="T17" b="T18"/>
                <a:pathLst>
                  <a:path w="68" h="47">
                    <a:moveTo>
                      <a:pt x="0" y="22"/>
                    </a:moveTo>
                    <a:lnTo>
                      <a:pt x="31" y="0"/>
                    </a:lnTo>
                    <a:lnTo>
                      <a:pt x="68" y="47"/>
                    </a:lnTo>
                    <a:lnTo>
                      <a:pt x="12" y="39"/>
                    </a:lnTo>
                    <a:lnTo>
                      <a:pt x="0" y="22"/>
                    </a:lnTo>
                    <a:close/>
                  </a:path>
                </a:pathLst>
              </a:custGeom>
              <a:solidFill>
                <a:srgbClr val="3F3F3F"/>
              </a:solidFill>
              <a:ln w="9525">
                <a:solidFill>
                  <a:schemeClr val="tx1"/>
                </a:solidFill>
                <a:round/>
                <a:headEnd/>
                <a:tailEnd/>
              </a:ln>
            </p:spPr>
            <p:txBody>
              <a:bodyPr/>
              <a:lstStyle/>
              <a:p>
                <a:endParaRPr lang="sv-SE"/>
              </a:p>
            </p:txBody>
          </p:sp>
          <p:sp>
            <p:nvSpPr>
              <p:cNvPr id="20528" name="Freeform 198"/>
              <p:cNvSpPr>
                <a:spLocks/>
              </p:cNvSpPr>
              <p:nvPr/>
            </p:nvSpPr>
            <p:spPr bwMode="auto">
              <a:xfrm>
                <a:off x="2898" y="2046"/>
                <a:ext cx="39" cy="92"/>
              </a:xfrm>
              <a:custGeom>
                <a:avLst/>
                <a:gdLst>
                  <a:gd name="T0" fmla="*/ 25 w 39"/>
                  <a:gd name="T1" fmla="*/ 0 h 92"/>
                  <a:gd name="T2" fmla="*/ 39 w 39"/>
                  <a:gd name="T3" fmla="*/ 70 h 92"/>
                  <a:gd name="T4" fmla="*/ 9 w 39"/>
                  <a:gd name="T5" fmla="*/ 92 h 92"/>
                  <a:gd name="T6" fmla="*/ 0 w 39"/>
                  <a:gd name="T7" fmla="*/ 71 h 92"/>
                  <a:gd name="T8" fmla="*/ 25 w 39"/>
                  <a:gd name="T9" fmla="*/ 0 h 92"/>
                  <a:gd name="T10" fmla="*/ 0 60000 65536"/>
                  <a:gd name="T11" fmla="*/ 0 60000 65536"/>
                  <a:gd name="T12" fmla="*/ 0 60000 65536"/>
                  <a:gd name="T13" fmla="*/ 0 60000 65536"/>
                  <a:gd name="T14" fmla="*/ 0 60000 65536"/>
                  <a:gd name="T15" fmla="*/ 0 w 39"/>
                  <a:gd name="T16" fmla="*/ 0 h 92"/>
                  <a:gd name="T17" fmla="*/ 39 w 39"/>
                  <a:gd name="T18" fmla="*/ 92 h 92"/>
                </a:gdLst>
                <a:ahLst/>
                <a:cxnLst>
                  <a:cxn ang="T10">
                    <a:pos x="T0" y="T1"/>
                  </a:cxn>
                  <a:cxn ang="T11">
                    <a:pos x="T2" y="T3"/>
                  </a:cxn>
                  <a:cxn ang="T12">
                    <a:pos x="T4" y="T5"/>
                  </a:cxn>
                  <a:cxn ang="T13">
                    <a:pos x="T6" y="T7"/>
                  </a:cxn>
                  <a:cxn ang="T14">
                    <a:pos x="T8" y="T9"/>
                  </a:cxn>
                </a:cxnLst>
                <a:rect l="T15" t="T16" r="T17" b="T18"/>
                <a:pathLst>
                  <a:path w="39" h="92">
                    <a:moveTo>
                      <a:pt x="25" y="0"/>
                    </a:moveTo>
                    <a:lnTo>
                      <a:pt x="39" y="70"/>
                    </a:lnTo>
                    <a:lnTo>
                      <a:pt x="9" y="92"/>
                    </a:lnTo>
                    <a:lnTo>
                      <a:pt x="0" y="71"/>
                    </a:lnTo>
                    <a:lnTo>
                      <a:pt x="25" y="0"/>
                    </a:lnTo>
                    <a:close/>
                  </a:path>
                </a:pathLst>
              </a:custGeom>
              <a:solidFill>
                <a:srgbClr val="5F5F5F"/>
              </a:solidFill>
              <a:ln w="9525">
                <a:solidFill>
                  <a:schemeClr val="tx1"/>
                </a:solidFill>
                <a:round/>
                <a:headEnd/>
                <a:tailEnd/>
              </a:ln>
            </p:spPr>
            <p:txBody>
              <a:bodyPr/>
              <a:lstStyle/>
              <a:p>
                <a:endParaRPr lang="sv-SE"/>
              </a:p>
            </p:txBody>
          </p:sp>
          <p:sp>
            <p:nvSpPr>
              <p:cNvPr id="20529" name="Freeform 199"/>
              <p:cNvSpPr>
                <a:spLocks/>
              </p:cNvSpPr>
              <p:nvPr/>
            </p:nvSpPr>
            <p:spPr bwMode="auto">
              <a:xfrm>
                <a:off x="2924" y="2045"/>
                <a:ext cx="52" cy="119"/>
              </a:xfrm>
              <a:custGeom>
                <a:avLst/>
                <a:gdLst>
                  <a:gd name="T0" fmla="*/ 0 w 52"/>
                  <a:gd name="T1" fmla="*/ 0 h 119"/>
                  <a:gd name="T2" fmla="*/ 13 w 52"/>
                  <a:gd name="T3" fmla="*/ 73 h 119"/>
                  <a:gd name="T4" fmla="*/ 52 w 52"/>
                  <a:gd name="T5" fmla="*/ 119 h 119"/>
                  <a:gd name="T6" fmla="*/ 35 w 52"/>
                  <a:gd name="T7" fmla="*/ 62 h 119"/>
                  <a:gd name="T8" fmla="*/ 0 w 52"/>
                  <a:gd name="T9" fmla="*/ 0 h 119"/>
                  <a:gd name="T10" fmla="*/ 0 60000 65536"/>
                  <a:gd name="T11" fmla="*/ 0 60000 65536"/>
                  <a:gd name="T12" fmla="*/ 0 60000 65536"/>
                  <a:gd name="T13" fmla="*/ 0 60000 65536"/>
                  <a:gd name="T14" fmla="*/ 0 60000 65536"/>
                  <a:gd name="T15" fmla="*/ 0 w 52"/>
                  <a:gd name="T16" fmla="*/ 0 h 119"/>
                  <a:gd name="T17" fmla="*/ 52 w 52"/>
                  <a:gd name="T18" fmla="*/ 119 h 119"/>
                </a:gdLst>
                <a:ahLst/>
                <a:cxnLst>
                  <a:cxn ang="T10">
                    <a:pos x="T0" y="T1"/>
                  </a:cxn>
                  <a:cxn ang="T11">
                    <a:pos x="T2" y="T3"/>
                  </a:cxn>
                  <a:cxn ang="T12">
                    <a:pos x="T4" y="T5"/>
                  </a:cxn>
                  <a:cxn ang="T13">
                    <a:pos x="T6" y="T7"/>
                  </a:cxn>
                  <a:cxn ang="T14">
                    <a:pos x="T8" y="T9"/>
                  </a:cxn>
                </a:cxnLst>
                <a:rect l="T15" t="T16" r="T17" b="T18"/>
                <a:pathLst>
                  <a:path w="52" h="119">
                    <a:moveTo>
                      <a:pt x="0" y="0"/>
                    </a:moveTo>
                    <a:lnTo>
                      <a:pt x="13" y="73"/>
                    </a:lnTo>
                    <a:lnTo>
                      <a:pt x="52" y="119"/>
                    </a:lnTo>
                    <a:lnTo>
                      <a:pt x="35" y="62"/>
                    </a:lnTo>
                    <a:lnTo>
                      <a:pt x="0" y="0"/>
                    </a:lnTo>
                    <a:close/>
                  </a:path>
                </a:pathLst>
              </a:custGeom>
              <a:solidFill>
                <a:srgbClr val="9F9F9F"/>
              </a:solidFill>
              <a:ln w="9525">
                <a:solidFill>
                  <a:schemeClr val="tx1"/>
                </a:solidFill>
                <a:round/>
                <a:headEnd/>
                <a:tailEnd/>
              </a:ln>
            </p:spPr>
            <p:txBody>
              <a:bodyPr/>
              <a:lstStyle/>
              <a:p>
                <a:endParaRPr lang="sv-SE"/>
              </a:p>
            </p:txBody>
          </p:sp>
          <p:grpSp>
            <p:nvGrpSpPr>
              <p:cNvPr id="20679" name="Group 200"/>
              <p:cNvGrpSpPr>
                <a:grpSpLocks/>
              </p:cNvGrpSpPr>
              <p:nvPr/>
            </p:nvGrpSpPr>
            <p:grpSpPr bwMode="auto">
              <a:xfrm>
                <a:off x="2931" y="1456"/>
                <a:ext cx="877" cy="674"/>
                <a:chOff x="2931" y="1456"/>
                <a:chExt cx="877" cy="674"/>
              </a:xfrm>
            </p:grpSpPr>
            <p:sp>
              <p:nvSpPr>
                <p:cNvPr id="20531" name="Freeform 201"/>
                <p:cNvSpPr>
                  <a:spLocks/>
                </p:cNvSpPr>
                <p:nvPr/>
              </p:nvSpPr>
              <p:spPr bwMode="auto">
                <a:xfrm>
                  <a:off x="2931" y="1646"/>
                  <a:ext cx="756" cy="484"/>
                </a:xfrm>
                <a:custGeom>
                  <a:avLst/>
                  <a:gdLst>
                    <a:gd name="T0" fmla="*/ 611 w 756"/>
                    <a:gd name="T1" fmla="*/ 0 h 484"/>
                    <a:gd name="T2" fmla="*/ 16 w 756"/>
                    <a:gd name="T3" fmla="*/ 442 h 484"/>
                    <a:gd name="T4" fmla="*/ 9 w 756"/>
                    <a:gd name="T5" fmla="*/ 447 h 484"/>
                    <a:gd name="T6" fmla="*/ 3 w 756"/>
                    <a:gd name="T7" fmla="*/ 456 h 484"/>
                    <a:gd name="T8" fmla="*/ 0 w 756"/>
                    <a:gd name="T9" fmla="*/ 467 h 484"/>
                    <a:gd name="T10" fmla="*/ 4 w 756"/>
                    <a:gd name="T11" fmla="*/ 477 h 484"/>
                    <a:gd name="T12" fmla="*/ 12 w 756"/>
                    <a:gd name="T13" fmla="*/ 482 h 484"/>
                    <a:gd name="T14" fmla="*/ 20 w 756"/>
                    <a:gd name="T15" fmla="*/ 484 h 484"/>
                    <a:gd name="T16" fmla="*/ 31 w 756"/>
                    <a:gd name="T17" fmla="*/ 480 h 484"/>
                    <a:gd name="T18" fmla="*/ 756 w 756"/>
                    <a:gd name="T19" fmla="*/ 144 h 484"/>
                    <a:gd name="T20" fmla="*/ 611 w 756"/>
                    <a:gd name="T21" fmla="*/ 0 h 4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6"/>
                    <a:gd name="T34" fmla="*/ 0 h 484"/>
                    <a:gd name="T35" fmla="*/ 756 w 756"/>
                    <a:gd name="T36" fmla="*/ 484 h 4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6" h="484">
                      <a:moveTo>
                        <a:pt x="611" y="0"/>
                      </a:moveTo>
                      <a:lnTo>
                        <a:pt x="16" y="442"/>
                      </a:lnTo>
                      <a:lnTo>
                        <a:pt x="9" y="447"/>
                      </a:lnTo>
                      <a:lnTo>
                        <a:pt x="3" y="456"/>
                      </a:lnTo>
                      <a:lnTo>
                        <a:pt x="0" y="467"/>
                      </a:lnTo>
                      <a:lnTo>
                        <a:pt x="4" y="477"/>
                      </a:lnTo>
                      <a:lnTo>
                        <a:pt x="12" y="482"/>
                      </a:lnTo>
                      <a:lnTo>
                        <a:pt x="20" y="484"/>
                      </a:lnTo>
                      <a:lnTo>
                        <a:pt x="31" y="480"/>
                      </a:lnTo>
                      <a:lnTo>
                        <a:pt x="756" y="144"/>
                      </a:lnTo>
                      <a:lnTo>
                        <a:pt x="611" y="0"/>
                      </a:lnTo>
                      <a:close/>
                    </a:path>
                  </a:pathLst>
                </a:custGeom>
                <a:solidFill>
                  <a:srgbClr val="808080"/>
                </a:solidFill>
                <a:ln w="9525">
                  <a:solidFill>
                    <a:schemeClr val="tx1"/>
                  </a:solidFill>
                  <a:round/>
                  <a:headEnd/>
                  <a:tailEnd/>
                </a:ln>
              </p:spPr>
              <p:txBody>
                <a:bodyPr/>
                <a:lstStyle/>
                <a:p>
                  <a:endParaRPr lang="sv-SE"/>
                </a:p>
              </p:txBody>
            </p:sp>
            <p:sp>
              <p:nvSpPr>
                <p:cNvPr id="20532" name="Freeform 202"/>
                <p:cNvSpPr>
                  <a:spLocks/>
                </p:cNvSpPr>
                <p:nvPr/>
              </p:nvSpPr>
              <p:spPr bwMode="auto">
                <a:xfrm>
                  <a:off x="3485" y="1620"/>
                  <a:ext cx="252" cy="116"/>
                </a:xfrm>
                <a:custGeom>
                  <a:avLst/>
                  <a:gdLst>
                    <a:gd name="T0" fmla="*/ 13 w 252"/>
                    <a:gd name="T1" fmla="*/ 62 h 116"/>
                    <a:gd name="T2" fmla="*/ 108 w 252"/>
                    <a:gd name="T3" fmla="*/ 0 h 116"/>
                    <a:gd name="T4" fmla="*/ 252 w 252"/>
                    <a:gd name="T5" fmla="*/ 106 h 116"/>
                    <a:gd name="T6" fmla="*/ 231 w 252"/>
                    <a:gd name="T7" fmla="*/ 116 h 116"/>
                    <a:gd name="T8" fmla="*/ 99 w 252"/>
                    <a:gd name="T9" fmla="*/ 35 h 116"/>
                    <a:gd name="T10" fmla="*/ 0 w 252"/>
                    <a:gd name="T11" fmla="*/ 90 h 116"/>
                    <a:gd name="T12" fmla="*/ 13 w 252"/>
                    <a:gd name="T13" fmla="*/ 62 h 116"/>
                    <a:gd name="T14" fmla="*/ 0 60000 65536"/>
                    <a:gd name="T15" fmla="*/ 0 60000 65536"/>
                    <a:gd name="T16" fmla="*/ 0 60000 65536"/>
                    <a:gd name="T17" fmla="*/ 0 60000 65536"/>
                    <a:gd name="T18" fmla="*/ 0 60000 65536"/>
                    <a:gd name="T19" fmla="*/ 0 60000 65536"/>
                    <a:gd name="T20" fmla="*/ 0 60000 65536"/>
                    <a:gd name="T21" fmla="*/ 0 w 252"/>
                    <a:gd name="T22" fmla="*/ 0 h 116"/>
                    <a:gd name="T23" fmla="*/ 252 w 252"/>
                    <a:gd name="T24" fmla="*/ 116 h 1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116">
                      <a:moveTo>
                        <a:pt x="13" y="62"/>
                      </a:moveTo>
                      <a:lnTo>
                        <a:pt x="108" y="0"/>
                      </a:lnTo>
                      <a:lnTo>
                        <a:pt x="252" y="106"/>
                      </a:lnTo>
                      <a:lnTo>
                        <a:pt x="231" y="116"/>
                      </a:lnTo>
                      <a:lnTo>
                        <a:pt x="99" y="35"/>
                      </a:lnTo>
                      <a:lnTo>
                        <a:pt x="0" y="90"/>
                      </a:lnTo>
                      <a:lnTo>
                        <a:pt x="13" y="62"/>
                      </a:lnTo>
                      <a:close/>
                    </a:path>
                  </a:pathLst>
                </a:custGeom>
                <a:solidFill>
                  <a:srgbClr val="808080"/>
                </a:solidFill>
                <a:ln w="9525">
                  <a:solidFill>
                    <a:schemeClr val="tx1"/>
                  </a:solidFill>
                  <a:round/>
                  <a:headEnd/>
                  <a:tailEnd/>
                </a:ln>
              </p:spPr>
              <p:txBody>
                <a:bodyPr/>
                <a:lstStyle/>
                <a:p>
                  <a:endParaRPr lang="sv-SE"/>
                </a:p>
              </p:txBody>
            </p:sp>
            <p:sp>
              <p:nvSpPr>
                <p:cNvPr id="20533" name="Freeform 203"/>
                <p:cNvSpPr>
                  <a:spLocks/>
                </p:cNvSpPr>
                <p:nvPr/>
              </p:nvSpPr>
              <p:spPr bwMode="auto">
                <a:xfrm>
                  <a:off x="3481" y="1600"/>
                  <a:ext cx="240" cy="233"/>
                </a:xfrm>
                <a:custGeom>
                  <a:avLst/>
                  <a:gdLst>
                    <a:gd name="T0" fmla="*/ 124 w 240"/>
                    <a:gd name="T1" fmla="*/ 0 h 233"/>
                    <a:gd name="T2" fmla="*/ 11 w 240"/>
                    <a:gd name="T3" fmla="*/ 82 h 233"/>
                    <a:gd name="T4" fmla="*/ 6 w 240"/>
                    <a:gd name="T5" fmla="*/ 94 h 233"/>
                    <a:gd name="T6" fmla="*/ 2 w 240"/>
                    <a:gd name="T7" fmla="*/ 108 h 233"/>
                    <a:gd name="T8" fmla="*/ 0 w 240"/>
                    <a:gd name="T9" fmla="*/ 126 h 233"/>
                    <a:gd name="T10" fmla="*/ 0 w 240"/>
                    <a:gd name="T11" fmla="*/ 142 h 233"/>
                    <a:gd name="T12" fmla="*/ 3 w 240"/>
                    <a:gd name="T13" fmla="*/ 160 h 233"/>
                    <a:gd name="T14" fmla="*/ 8 w 240"/>
                    <a:gd name="T15" fmla="*/ 175 h 233"/>
                    <a:gd name="T16" fmla="*/ 18 w 240"/>
                    <a:gd name="T17" fmla="*/ 190 h 233"/>
                    <a:gd name="T18" fmla="*/ 30 w 240"/>
                    <a:gd name="T19" fmla="*/ 203 h 233"/>
                    <a:gd name="T20" fmla="*/ 47 w 240"/>
                    <a:gd name="T21" fmla="*/ 215 h 233"/>
                    <a:gd name="T22" fmla="*/ 61 w 240"/>
                    <a:gd name="T23" fmla="*/ 224 h 233"/>
                    <a:gd name="T24" fmla="*/ 78 w 240"/>
                    <a:gd name="T25" fmla="*/ 229 h 233"/>
                    <a:gd name="T26" fmla="*/ 95 w 240"/>
                    <a:gd name="T27" fmla="*/ 233 h 233"/>
                    <a:gd name="T28" fmla="*/ 111 w 240"/>
                    <a:gd name="T29" fmla="*/ 233 h 233"/>
                    <a:gd name="T30" fmla="*/ 240 w 240"/>
                    <a:gd name="T31" fmla="*/ 175 h 233"/>
                    <a:gd name="T32" fmla="*/ 108 w 240"/>
                    <a:gd name="T33" fmla="*/ 47 h 233"/>
                    <a:gd name="T34" fmla="*/ 13 w 240"/>
                    <a:gd name="T35" fmla="*/ 102 h 233"/>
                    <a:gd name="T36" fmla="*/ 20 w 240"/>
                    <a:gd name="T37" fmla="*/ 84 h 233"/>
                    <a:gd name="T38" fmla="*/ 118 w 240"/>
                    <a:gd name="T39" fmla="*/ 22 h 233"/>
                    <a:gd name="T40" fmla="*/ 124 w 240"/>
                    <a:gd name="T41" fmla="*/ 0 h 2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0"/>
                    <a:gd name="T64" fmla="*/ 0 h 233"/>
                    <a:gd name="T65" fmla="*/ 240 w 240"/>
                    <a:gd name="T66" fmla="*/ 233 h 2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0" h="233">
                      <a:moveTo>
                        <a:pt x="124" y="0"/>
                      </a:moveTo>
                      <a:lnTo>
                        <a:pt x="11" y="82"/>
                      </a:lnTo>
                      <a:lnTo>
                        <a:pt x="6" y="94"/>
                      </a:lnTo>
                      <a:lnTo>
                        <a:pt x="2" y="108"/>
                      </a:lnTo>
                      <a:lnTo>
                        <a:pt x="0" y="126"/>
                      </a:lnTo>
                      <a:lnTo>
                        <a:pt x="0" y="142"/>
                      </a:lnTo>
                      <a:lnTo>
                        <a:pt x="3" y="160"/>
                      </a:lnTo>
                      <a:lnTo>
                        <a:pt x="8" y="175"/>
                      </a:lnTo>
                      <a:lnTo>
                        <a:pt x="18" y="190"/>
                      </a:lnTo>
                      <a:lnTo>
                        <a:pt x="30" y="203"/>
                      </a:lnTo>
                      <a:lnTo>
                        <a:pt x="47" y="215"/>
                      </a:lnTo>
                      <a:lnTo>
                        <a:pt x="61" y="224"/>
                      </a:lnTo>
                      <a:lnTo>
                        <a:pt x="78" y="229"/>
                      </a:lnTo>
                      <a:lnTo>
                        <a:pt x="95" y="233"/>
                      </a:lnTo>
                      <a:lnTo>
                        <a:pt x="111" y="233"/>
                      </a:lnTo>
                      <a:lnTo>
                        <a:pt x="240" y="175"/>
                      </a:lnTo>
                      <a:lnTo>
                        <a:pt x="108" y="47"/>
                      </a:lnTo>
                      <a:lnTo>
                        <a:pt x="13" y="102"/>
                      </a:lnTo>
                      <a:lnTo>
                        <a:pt x="20" y="84"/>
                      </a:lnTo>
                      <a:lnTo>
                        <a:pt x="118" y="22"/>
                      </a:lnTo>
                      <a:lnTo>
                        <a:pt x="124" y="0"/>
                      </a:lnTo>
                      <a:close/>
                    </a:path>
                  </a:pathLst>
                </a:custGeom>
                <a:solidFill>
                  <a:srgbClr val="C0C0C0"/>
                </a:solidFill>
                <a:ln w="9525">
                  <a:solidFill>
                    <a:schemeClr val="tx1"/>
                  </a:solidFill>
                  <a:round/>
                  <a:headEnd/>
                  <a:tailEnd/>
                </a:ln>
              </p:spPr>
              <p:txBody>
                <a:bodyPr/>
                <a:lstStyle/>
                <a:p>
                  <a:endParaRPr lang="sv-SE"/>
                </a:p>
              </p:txBody>
            </p:sp>
            <p:sp>
              <p:nvSpPr>
                <p:cNvPr id="20534" name="Freeform 204"/>
                <p:cNvSpPr>
                  <a:spLocks/>
                </p:cNvSpPr>
                <p:nvPr/>
              </p:nvSpPr>
              <p:spPr bwMode="auto">
                <a:xfrm>
                  <a:off x="3590" y="1646"/>
                  <a:ext cx="145" cy="131"/>
                </a:xfrm>
                <a:custGeom>
                  <a:avLst/>
                  <a:gdLst>
                    <a:gd name="T0" fmla="*/ 0 w 145"/>
                    <a:gd name="T1" fmla="*/ 0 h 131"/>
                    <a:gd name="T2" fmla="*/ 3 w 145"/>
                    <a:gd name="T3" fmla="*/ 12 h 131"/>
                    <a:gd name="T4" fmla="*/ 6 w 145"/>
                    <a:gd name="T5" fmla="*/ 22 h 131"/>
                    <a:gd name="T6" fmla="*/ 9 w 145"/>
                    <a:gd name="T7" fmla="*/ 32 h 131"/>
                    <a:gd name="T8" fmla="*/ 14 w 145"/>
                    <a:gd name="T9" fmla="*/ 45 h 131"/>
                    <a:gd name="T10" fmla="*/ 20 w 145"/>
                    <a:gd name="T11" fmla="*/ 57 h 131"/>
                    <a:gd name="T12" fmla="*/ 30 w 145"/>
                    <a:gd name="T13" fmla="*/ 73 h 131"/>
                    <a:gd name="T14" fmla="*/ 42 w 145"/>
                    <a:gd name="T15" fmla="*/ 86 h 131"/>
                    <a:gd name="T16" fmla="*/ 56 w 145"/>
                    <a:gd name="T17" fmla="*/ 98 h 131"/>
                    <a:gd name="T18" fmla="*/ 70 w 145"/>
                    <a:gd name="T19" fmla="*/ 109 h 131"/>
                    <a:gd name="T20" fmla="*/ 84 w 145"/>
                    <a:gd name="T21" fmla="*/ 118 h 131"/>
                    <a:gd name="T22" fmla="*/ 99 w 145"/>
                    <a:gd name="T23" fmla="*/ 125 h 131"/>
                    <a:gd name="T24" fmla="*/ 112 w 145"/>
                    <a:gd name="T25" fmla="*/ 130 h 131"/>
                    <a:gd name="T26" fmla="*/ 120 w 145"/>
                    <a:gd name="T27" fmla="*/ 131 h 131"/>
                    <a:gd name="T28" fmla="*/ 130 w 145"/>
                    <a:gd name="T29" fmla="*/ 128 h 131"/>
                    <a:gd name="T30" fmla="*/ 136 w 145"/>
                    <a:gd name="T31" fmla="*/ 120 h 131"/>
                    <a:gd name="T32" fmla="*/ 141 w 145"/>
                    <a:gd name="T33" fmla="*/ 109 h 131"/>
                    <a:gd name="T34" fmla="*/ 145 w 145"/>
                    <a:gd name="T35" fmla="*/ 96 h 131"/>
                    <a:gd name="T36" fmla="*/ 0 w 145"/>
                    <a:gd name="T37" fmla="*/ 0 h 1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131"/>
                    <a:gd name="T59" fmla="*/ 145 w 145"/>
                    <a:gd name="T60" fmla="*/ 131 h 1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131">
                      <a:moveTo>
                        <a:pt x="0" y="0"/>
                      </a:moveTo>
                      <a:lnTo>
                        <a:pt x="3" y="12"/>
                      </a:lnTo>
                      <a:lnTo>
                        <a:pt x="6" y="22"/>
                      </a:lnTo>
                      <a:lnTo>
                        <a:pt x="9" y="32"/>
                      </a:lnTo>
                      <a:lnTo>
                        <a:pt x="14" y="45"/>
                      </a:lnTo>
                      <a:lnTo>
                        <a:pt x="20" y="57"/>
                      </a:lnTo>
                      <a:lnTo>
                        <a:pt x="30" y="73"/>
                      </a:lnTo>
                      <a:lnTo>
                        <a:pt x="42" y="86"/>
                      </a:lnTo>
                      <a:lnTo>
                        <a:pt x="56" y="98"/>
                      </a:lnTo>
                      <a:lnTo>
                        <a:pt x="70" y="109"/>
                      </a:lnTo>
                      <a:lnTo>
                        <a:pt x="84" y="118"/>
                      </a:lnTo>
                      <a:lnTo>
                        <a:pt x="99" y="125"/>
                      </a:lnTo>
                      <a:lnTo>
                        <a:pt x="112" y="130"/>
                      </a:lnTo>
                      <a:lnTo>
                        <a:pt x="120" y="131"/>
                      </a:lnTo>
                      <a:lnTo>
                        <a:pt x="130" y="128"/>
                      </a:lnTo>
                      <a:lnTo>
                        <a:pt x="136" y="120"/>
                      </a:lnTo>
                      <a:lnTo>
                        <a:pt x="141" y="109"/>
                      </a:lnTo>
                      <a:lnTo>
                        <a:pt x="145" y="96"/>
                      </a:lnTo>
                      <a:lnTo>
                        <a:pt x="0" y="0"/>
                      </a:lnTo>
                      <a:close/>
                    </a:path>
                  </a:pathLst>
                </a:custGeom>
                <a:solidFill>
                  <a:srgbClr val="9F9F9F"/>
                </a:solidFill>
                <a:ln w="9525">
                  <a:solidFill>
                    <a:schemeClr val="tx1"/>
                  </a:solidFill>
                  <a:round/>
                  <a:headEnd/>
                  <a:tailEnd/>
                </a:ln>
              </p:spPr>
              <p:txBody>
                <a:bodyPr/>
                <a:lstStyle/>
                <a:p>
                  <a:endParaRPr lang="sv-SE"/>
                </a:p>
              </p:txBody>
            </p:sp>
            <p:sp>
              <p:nvSpPr>
                <p:cNvPr id="20535" name="Freeform 205"/>
                <p:cNvSpPr>
                  <a:spLocks/>
                </p:cNvSpPr>
                <p:nvPr/>
              </p:nvSpPr>
              <p:spPr bwMode="auto">
                <a:xfrm>
                  <a:off x="3591" y="1597"/>
                  <a:ext cx="147" cy="129"/>
                </a:xfrm>
                <a:custGeom>
                  <a:avLst/>
                  <a:gdLst>
                    <a:gd name="T0" fmla="*/ 0 w 147"/>
                    <a:gd name="T1" fmla="*/ 31 h 129"/>
                    <a:gd name="T2" fmla="*/ 0 w 147"/>
                    <a:gd name="T3" fmla="*/ 22 h 129"/>
                    <a:gd name="T4" fmla="*/ 4 w 147"/>
                    <a:gd name="T5" fmla="*/ 12 h 129"/>
                    <a:gd name="T6" fmla="*/ 15 w 147"/>
                    <a:gd name="T7" fmla="*/ 3 h 129"/>
                    <a:gd name="T8" fmla="*/ 27 w 147"/>
                    <a:gd name="T9" fmla="*/ 0 h 129"/>
                    <a:gd name="T10" fmla="*/ 39 w 147"/>
                    <a:gd name="T11" fmla="*/ 0 h 129"/>
                    <a:gd name="T12" fmla="*/ 54 w 147"/>
                    <a:gd name="T13" fmla="*/ 3 h 129"/>
                    <a:gd name="T14" fmla="*/ 72 w 147"/>
                    <a:gd name="T15" fmla="*/ 10 h 129"/>
                    <a:gd name="T16" fmla="*/ 88 w 147"/>
                    <a:gd name="T17" fmla="*/ 17 h 129"/>
                    <a:gd name="T18" fmla="*/ 104 w 147"/>
                    <a:gd name="T19" fmla="*/ 28 h 129"/>
                    <a:gd name="T20" fmla="*/ 115 w 147"/>
                    <a:gd name="T21" fmla="*/ 38 h 129"/>
                    <a:gd name="T22" fmla="*/ 125 w 147"/>
                    <a:gd name="T23" fmla="*/ 50 h 129"/>
                    <a:gd name="T24" fmla="*/ 132 w 147"/>
                    <a:gd name="T25" fmla="*/ 63 h 129"/>
                    <a:gd name="T26" fmla="*/ 138 w 147"/>
                    <a:gd name="T27" fmla="*/ 77 h 129"/>
                    <a:gd name="T28" fmla="*/ 144 w 147"/>
                    <a:gd name="T29" fmla="*/ 96 h 129"/>
                    <a:gd name="T30" fmla="*/ 147 w 147"/>
                    <a:gd name="T31" fmla="*/ 113 h 129"/>
                    <a:gd name="T32" fmla="*/ 146 w 147"/>
                    <a:gd name="T33" fmla="*/ 129 h 129"/>
                    <a:gd name="T34" fmla="*/ 0 w 147"/>
                    <a:gd name="T35" fmla="*/ 31 h 1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7"/>
                    <a:gd name="T55" fmla="*/ 0 h 129"/>
                    <a:gd name="T56" fmla="*/ 147 w 147"/>
                    <a:gd name="T57" fmla="*/ 129 h 1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7" h="129">
                      <a:moveTo>
                        <a:pt x="0" y="31"/>
                      </a:moveTo>
                      <a:lnTo>
                        <a:pt x="0" y="22"/>
                      </a:lnTo>
                      <a:lnTo>
                        <a:pt x="4" y="12"/>
                      </a:lnTo>
                      <a:lnTo>
                        <a:pt x="15" y="3"/>
                      </a:lnTo>
                      <a:lnTo>
                        <a:pt x="27" y="0"/>
                      </a:lnTo>
                      <a:lnTo>
                        <a:pt x="39" y="0"/>
                      </a:lnTo>
                      <a:lnTo>
                        <a:pt x="54" y="3"/>
                      </a:lnTo>
                      <a:lnTo>
                        <a:pt x="72" y="10"/>
                      </a:lnTo>
                      <a:lnTo>
                        <a:pt x="88" y="17"/>
                      </a:lnTo>
                      <a:lnTo>
                        <a:pt x="104" y="28"/>
                      </a:lnTo>
                      <a:lnTo>
                        <a:pt x="115" y="38"/>
                      </a:lnTo>
                      <a:lnTo>
                        <a:pt x="125" y="50"/>
                      </a:lnTo>
                      <a:lnTo>
                        <a:pt x="132" y="63"/>
                      </a:lnTo>
                      <a:lnTo>
                        <a:pt x="138" y="77"/>
                      </a:lnTo>
                      <a:lnTo>
                        <a:pt x="144" y="96"/>
                      </a:lnTo>
                      <a:lnTo>
                        <a:pt x="147" y="113"/>
                      </a:lnTo>
                      <a:lnTo>
                        <a:pt x="146" y="129"/>
                      </a:lnTo>
                      <a:lnTo>
                        <a:pt x="0" y="31"/>
                      </a:lnTo>
                      <a:close/>
                    </a:path>
                  </a:pathLst>
                </a:custGeom>
                <a:solidFill>
                  <a:srgbClr val="9F9F9F"/>
                </a:solidFill>
                <a:ln w="9525">
                  <a:solidFill>
                    <a:schemeClr val="tx1"/>
                  </a:solidFill>
                  <a:round/>
                  <a:headEnd/>
                  <a:tailEnd/>
                </a:ln>
              </p:spPr>
              <p:txBody>
                <a:bodyPr/>
                <a:lstStyle/>
                <a:p>
                  <a:endParaRPr lang="sv-SE"/>
                </a:p>
              </p:txBody>
            </p:sp>
            <p:sp>
              <p:nvSpPr>
                <p:cNvPr id="20536" name="Freeform 206"/>
                <p:cNvSpPr>
                  <a:spLocks/>
                </p:cNvSpPr>
                <p:nvPr/>
              </p:nvSpPr>
              <p:spPr bwMode="auto">
                <a:xfrm>
                  <a:off x="3254" y="1456"/>
                  <a:ext cx="323" cy="418"/>
                </a:xfrm>
                <a:custGeom>
                  <a:avLst/>
                  <a:gdLst>
                    <a:gd name="T0" fmla="*/ 0 w 323"/>
                    <a:gd name="T1" fmla="*/ 418 h 418"/>
                    <a:gd name="T2" fmla="*/ 264 w 323"/>
                    <a:gd name="T3" fmla="*/ 219 h 418"/>
                    <a:gd name="T4" fmla="*/ 323 w 323"/>
                    <a:gd name="T5" fmla="*/ 0 h 418"/>
                    <a:gd name="T6" fmla="*/ 250 w 323"/>
                    <a:gd name="T7" fmla="*/ 81 h 418"/>
                    <a:gd name="T8" fmla="*/ 237 w 323"/>
                    <a:gd name="T9" fmla="*/ 108 h 418"/>
                    <a:gd name="T10" fmla="*/ 227 w 323"/>
                    <a:gd name="T11" fmla="*/ 89 h 418"/>
                    <a:gd name="T12" fmla="*/ 150 w 323"/>
                    <a:gd name="T13" fmla="*/ 201 h 418"/>
                    <a:gd name="T14" fmla="*/ 148 w 323"/>
                    <a:gd name="T15" fmla="*/ 174 h 418"/>
                    <a:gd name="T16" fmla="*/ 58 w 323"/>
                    <a:gd name="T17" fmla="*/ 283 h 418"/>
                    <a:gd name="T18" fmla="*/ 0 w 323"/>
                    <a:gd name="T19" fmla="*/ 418 h 4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3"/>
                    <a:gd name="T31" fmla="*/ 0 h 418"/>
                    <a:gd name="T32" fmla="*/ 323 w 323"/>
                    <a:gd name="T33" fmla="*/ 418 h 4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3" h="418">
                      <a:moveTo>
                        <a:pt x="0" y="418"/>
                      </a:moveTo>
                      <a:lnTo>
                        <a:pt x="264" y="219"/>
                      </a:lnTo>
                      <a:lnTo>
                        <a:pt x="323" y="0"/>
                      </a:lnTo>
                      <a:lnTo>
                        <a:pt x="250" y="81"/>
                      </a:lnTo>
                      <a:lnTo>
                        <a:pt x="237" y="108"/>
                      </a:lnTo>
                      <a:lnTo>
                        <a:pt x="227" y="89"/>
                      </a:lnTo>
                      <a:lnTo>
                        <a:pt x="150" y="201"/>
                      </a:lnTo>
                      <a:lnTo>
                        <a:pt x="148" y="174"/>
                      </a:lnTo>
                      <a:lnTo>
                        <a:pt x="58" y="283"/>
                      </a:lnTo>
                      <a:lnTo>
                        <a:pt x="0" y="418"/>
                      </a:lnTo>
                      <a:close/>
                    </a:path>
                  </a:pathLst>
                </a:custGeom>
                <a:solidFill>
                  <a:srgbClr val="00FF00"/>
                </a:solidFill>
                <a:ln w="9525">
                  <a:solidFill>
                    <a:schemeClr val="tx1"/>
                  </a:solidFill>
                  <a:round/>
                  <a:headEnd/>
                  <a:tailEnd/>
                </a:ln>
              </p:spPr>
              <p:txBody>
                <a:bodyPr/>
                <a:lstStyle/>
                <a:p>
                  <a:endParaRPr lang="sv-SE"/>
                </a:p>
              </p:txBody>
            </p:sp>
            <p:sp>
              <p:nvSpPr>
                <p:cNvPr id="20537" name="Freeform 207"/>
                <p:cNvSpPr>
                  <a:spLocks/>
                </p:cNvSpPr>
                <p:nvPr/>
              </p:nvSpPr>
              <p:spPr bwMode="auto">
                <a:xfrm>
                  <a:off x="3268" y="1699"/>
                  <a:ext cx="285" cy="203"/>
                </a:xfrm>
                <a:custGeom>
                  <a:avLst/>
                  <a:gdLst>
                    <a:gd name="T0" fmla="*/ 32 w 285"/>
                    <a:gd name="T1" fmla="*/ 167 h 203"/>
                    <a:gd name="T2" fmla="*/ 285 w 285"/>
                    <a:gd name="T3" fmla="*/ 0 h 203"/>
                    <a:gd name="T4" fmla="*/ 218 w 285"/>
                    <a:gd name="T5" fmla="*/ 74 h 203"/>
                    <a:gd name="T6" fmla="*/ 0 w 285"/>
                    <a:gd name="T7" fmla="*/ 203 h 203"/>
                    <a:gd name="T8" fmla="*/ 32 w 285"/>
                    <a:gd name="T9" fmla="*/ 167 h 203"/>
                    <a:gd name="T10" fmla="*/ 0 60000 65536"/>
                    <a:gd name="T11" fmla="*/ 0 60000 65536"/>
                    <a:gd name="T12" fmla="*/ 0 60000 65536"/>
                    <a:gd name="T13" fmla="*/ 0 60000 65536"/>
                    <a:gd name="T14" fmla="*/ 0 60000 65536"/>
                    <a:gd name="T15" fmla="*/ 0 w 285"/>
                    <a:gd name="T16" fmla="*/ 0 h 203"/>
                    <a:gd name="T17" fmla="*/ 285 w 285"/>
                    <a:gd name="T18" fmla="*/ 203 h 203"/>
                  </a:gdLst>
                  <a:ahLst/>
                  <a:cxnLst>
                    <a:cxn ang="T10">
                      <a:pos x="T0" y="T1"/>
                    </a:cxn>
                    <a:cxn ang="T11">
                      <a:pos x="T2" y="T3"/>
                    </a:cxn>
                    <a:cxn ang="T12">
                      <a:pos x="T4" y="T5"/>
                    </a:cxn>
                    <a:cxn ang="T13">
                      <a:pos x="T6" y="T7"/>
                    </a:cxn>
                    <a:cxn ang="T14">
                      <a:pos x="T8" y="T9"/>
                    </a:cxn>
                  </a:cxnLst>
                  <a:rect l="T15" t="T16" r="T17" b="T18"/>
                  <a:pathLst>
                    <a:path w="285" h="203">
                      <a:moveTo>
                        <a:pt x="32" y="167"/>
                      </a:moveTo>
                      <a:lnTo>
                        <a:pt x="285" y="0"/>
                      </a:lnTo>
                      <a:lnTo>
                        <a:pt x="218" y="74"/>
                      </a:lnTo>
                      <a:lnTo>
                        <a:pt x="0" y="203"/>
                      </a:lnTo>
                      <a:lnTo>
                        <a:pt x="32" y="167"/>
                      </a:lnTo>
                      <a:close/>
                    </a:path>
                  </a:pathLst>
                </a:custGeom>
                <a:solidFill>
                  <a:srgbClr val="00FF00"/>
                </a:solidFill>
                <a:ln w="9525">
                  <a:solidFill>
                    <a:schemeClr val="tx1"/>
                  </a:solidFill>
                  <a:round/>
                  <a:headEnd/>
                  <a:tailEnd/>
                </a:ln>
              </p:spPr>
              <p:txBody>
                <a:bodyPr/>
                <a:lstStyle/>
                <a:p>
                  <a:endParaRPr lang="sv-SE"/>
                </a:p>
              </p:txBody>
            </p:sp>
            <p:sp>
              <p:nvSpPr>
                <p:cNvPr id="20538" name="Freeform 208"/>
                <p:cNvSpPr>
                  <a:spLocks/>
                </p:cNvSpPr>
                <p:nvPr/>
              </p:nvSpPr>
              <p:spPr bwMode="auto">
                <a:xfrm>
                  <a:off x="3277" y="1795"/>
                  <a:ext cx="531" cy="169"/>
                </a:xfrm>
                <a:custGeom>
                  <a:avLst/>
                  <a:gdLst>
                    <a:gd name="T0" fmla="*/ 0 w 531"/>
                    <a:gd name="T1" fmla="*/ 149 h 169"/>
                    <a:gd name="T2" fmla="*/ 335 w 531"/>
                    <a:gd name="T3" fmla="*/ 0 h 169"/>
                    <a:gd name="T4" fmla="*/ 531 w 531"/>
                    <a:gd name="T5" fmla="*/ 72 h 169"/>
                    <a:gd name="T6" fmla="*/ 429 w 531"/>
                    <a:gd name="T7" fmla="*/ 95 h 169"/>
                    <a:gd name="T8" fmla="*/ 395 w 531"/>
                    <a:gd name="T9" fmla="*/ 95 h 169"/>
                    <a:gd name="T10" fmla="*/ 414 w 531"/>
                    <a:gd name="T11" fmla="*/ 110 h 169"/>
                    <a:gd name="T12" fmla="*/ 304 w 531"/>
                    <a:gd name="T13" fmla="*/ 132 h 169"/>
                    <a:gd name="T14" fmla="*/ 272 w 531"/>
                    <a:gd name="T15" fmla="*/ 132 h 169"/>
                    <a:gd name="T16" fmla="*/ 295 w 531"/>
                    <a:gd name="T17" fmla="*/ 144 h 169"/>
                    <a:gd name="T18" fmla="*/ 147 w 531"/>
                    <a:gd name="T19" fmla="*/ 169 h 169"/>
                    <a:gd name="T20" fmla="*/ 0 w 531"/>
                    <a:gd name="T21" fmla="*/ 149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1"/>
                    <a:gd name="T34" fmla="*/ 0 h 169"/>
                    <a:gd name="T35" fmla="*/ 531 w 531"/>
                    <a:gd name="T36" fmla="*/ 169 h 1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1" h="169">
                      <a:moveTo>
                        <a:pt x="0" y="149"/>
                      </a:moveTo>
                      <a:lnTo>
                        <a:pt x="335" y="0"/>
                      </a:lnTo>
                      <a:lnTo>
                        <a:pt x="531" y="72"/>
                      </a:lnTo>
                      <a:lnTo>
                        <a:pt x="429" y="95"/>
                      </a:lnTo>
                      <a:lnTo>
                        <a:pt x="395" y="95"/>
                      </a:lnTo>
                      <a:lnTo>
                        <a:pt x="414" y="110"/>
                      </a:lnTo>
                      <a:lnTo>
                        <a:pt x="304" y="132"/>
                      </a:lnTo>
                      <a:lnTo>
                        <a:pt x="272" y="132"/>
                      </a:lnTo>
                      <a:lnTo>
                        <a:pt x="295" y="144"/>
                      </a:lnTo>
                      <a:lnTo>
                        <a:pt x="147" y="169"/>
                      </a:lnTo>
                      <a:lnTo>
                        <a:pt x="0" y="149"/>
                      </a:lnTo>
                      <a:close/>
                    </a:path>
                  </a:pathLst>
                </a:custGeom>
                <a:solidFill>
                  <a:srgbClr val="00FF00"/>
                </a:solidFill>
                <a:ln w="9525">
                  <a:solidFill>
                    <a:schemeClr val="tx1"/>
                  </a:solidFill>
                  <a:round/>
                  <a:headEnd/>
                  <a:tailEnd/>
                </a:ln>
              </p:spPr>
              <p:txBody>
                <a:bodyPr/>
                <a:lstStyle/>
                <a:p>
                  <a:endParaRPr lang="sv-SE"/>
                </a:p>
              </p:txBody>
            </p:sp>
            <p:sp>
              <p:nvSpPr>
                <p:cNvPr id="20539" name="Freeform 209"/>
                <p:cNvSpPr>
                  <a:spLocks/>
                </p:cNvSpPr>
                <p:nvPr/>
              </p:nvSpPr>
              <p:spPr bwMode="auto">
                <a:xfrm>
                  <a:off x="3161" y="1855"/>
                  <a:ext cx="155" cy="154"/>
                </a:xfrm>
                <a:custGeom>
                  <a:avLst/>
                  <a:gdLst>
                    <a:gd name="T0" fmla="*/ 102 w 155"/>
                    <a:gd name="T1" fmla="*/ 0 h 154"/>
                    <a:gd name="T2" fmla="*/ 97 w 155"/>
                    <a:gd name="T3" fmla="*/ 16 h 154"/>
                    <a:gd name="T4" fmla="*/ 94 w 155"/>
                    <a:gd name="T5" fmla="*/ 31 h 154"/>
                    <a:gd name="T6" fmla="*/ 93 w 155"/>
                    <a:gd name="T7" fmla="*/ 44 h 154"/>
                    <a:gd name="T8" fmla="*/ 97 w 155"/>
                    <a:gd name="T9" fmla="*/ 61 h 154"/>
                    <a:gd name="T10" fmla="*/ 102 w 155"/>
                    <a:gd name="T11" fmla="*/ 74 h 154"/>
                    <a:gd name="T12" fmla="*/ 108 w 155"/>
                    <a:gd name="T13" fmla="*/ 84 h 154"/>
                    <a:gd name="T14" fmla="*/ 116 w 155"/>
                    <a:gd name="T15" fmla="*/ 93 h 154"/>
                    <a:gd name="T16" fmla="*/ 130 w 155"/>
                    <a:gd name="T17" fmla="*/ 100 h 154"/>
                    <a:gd name="T18" fmla="*/ 144 w 155"/>
                    <a:gd name="T19" fmla="*/ 104 h 154"/>
                    <a:gd name="T20" fmla="*/ 155 w 155"/>
                    <a:gd name="T21" fmla="*/ 107 h 154"/>
                    <a:gd name="T22" fmla="*/ 51 w 155"/>
                    <a:gd name="T23" fmla="*/ 154 h 154"/>
                    <a:gd name="T24" fmla="*/ 39 w 155"/>
                    <a:gd name="T25" fmla="*/ 151 h 154"/>
                    <a:gd name="T26" fmla="*/ 26 w 155"/>
                    <a:gd name="T27" fmla="*/ 147 h 154"/>
                    <a:gd name="T28" fmla="*/ 16 w 155"/>
                    <a:gd name="T29" fmla="*/ 140 h 154"/>
                    <a:gd name="T30" fmla="*/ 8 w 155"/>
                    <a:gd name="T31" fmla="*/ 132 h 154"/>
                    <a:gd name="T32" fmla="*/ 3 w 155"/>
                    <a:gd name="T33" fmla="*/ 122 h 154"/>
                    <a:gd name="T34" fmla="*/ 1 w 155"/>
                    <a:gd name="T35" fmla="*/ 113 h 154"/>
                    <a:gd name="T36" fmla="*/ 0 w 155"/>
                    <a:gd name="T37" fmla="*/ 102 h 154"/>
                    <a:gd name="T38" fmla="*/ 2 w 155"/>
                    <a:gd name="T39" fmla="*/ 87 h 154"/>
                    <a:gd name="T40" fmla="*/ 7 w 155"/>
                    <a:gd name="T41" fmla="*/ 74 h 154"/>
                    <a:gd name="T42" fmla="*/ 15 w 155"/>
                    <a:gd name="T43" fmla="*/ 64 h 154"/>
                    <a:gd name="T44" fmla="*/ 102 w 155"/>
                    <a:gd name="T45" fmla="*/ 0 h 15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5"/>
                    <a:gd name="T70" fmla="*/ 0 h 154"/>
                    <a:gd name="T71" fmla="*/ 155 w 155"/>
                    <a:gd name="T72" fmla="*/ 154 h 15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5" h="154">
                      <a:moveTo>
                        <a:pt x="102" y="0"/>
                      </a:moveTo>
                      <a:lnTo>
                        <a:pt x="97" y="16"/>
                      </a:lnTo>
                      <a:lnTo>
                        <a:pt x="94" y="31"/>
                      </a:lnTo>
                      <a:lnTo>
                        <a:pt x="93" y="44"/>
                      </a:lnTo>
                      <a:lnTo>
                        <a:pt x="97" y="61"/>
                      </a:lnTo>
                      <a:lnTo>
                        <a:pt x="102" y="74"/>
                      </a:lnTo>
                      <a:lnTo>
                        <a:pt x="108" y="84"/>
                      </a:lnTo>
                      <a:lnTo>
                        <a:pt x="116" y="93"/>
                      </a:lnTo>
                      <a:lnTo>
                        <a:pt x="130" y="100"/>
                      </a:lnTo>
                      <a:lnTo>
                        <a:pt x="144" y="104"/>
                      </a:lnTo>
                      <a:lnTo>
                        <a:pt x="155" y="107"/>
                      </a:lnTo>
                      <a:lnTo>
                        <a:pt x="51" y="154"/>
                      </a:lnTo>
                      <a:lnTo>
                        <a:pt x="39" y="151"/>
                      </a:lnTo>
                      <a:lnTo>
                        <a:pt x="26" y="147"/>
                      </a:lnTo>
                      <a:lnTo>
                        <a:pt x="16" y="140"/>
                      </a:lnTo>
                      <a:lnTo>
                        <a:pt x="8" y="132"/>
                      </a:lnTo>
                      <a:lnTo>
                        <a:pt x="3" y="122"/>
                      </a:lnTo>
                      <a:lnTo>
                        <a:pt x="1" y="113"/>
                      </a:lnTo>
                      <a:lnTo>
                        <a:pt x="0" y="102"/>
                      </a:lnTo>
                      <a:lnTo>
                        <a:pt x="2" y="87"/>
                      </a:lnTo>
                      <a:lnTo>
                        <a:pt x="7" y="74"/>
                      </a:lnTo>
                      <a:lnTo>
                        <a:pt x="15" y="64"/>
                      </a:lnTo>
                      <a:lnTo>
                        <a:pt x="102" y="0"/>
                      </a:lnTo>
                      <a:close/>
                    </a:path>
                  </a:pathLst>
                </a:custGeom>
                <a:solidFill>
                  <a:srgbClr val="00FF00"/>
                </a:solidFill>
                <a:ln w="9525">
                  <a:solidFill>
                    <a:schemeClr val="tx1"/>
                  </a:solidFill>
                  <a:round/>
                  <a:headEnd/>
                  <a:tailEnd/>
                </a:ln>
              </p:spPr>
              <p:txBody>
                <a:bodyPr/>
                <a:lstStyle/>
                <a:p>
                  <a:endParaRPr lang="sv-SE"/>
                </a:p>
              </p:txBody>
            </p:sp>
            <p:sp>
              <p:nvSpPr>
                <p:cNvPr id="20540" name="Freeform 210"/>
                <p:cNvSpPr>
                  <a:spLocks/>
                </p:cNvSpPr>
                <p:nvPr/>
              </p:nvSpPr>
              <p:spPr bwMode="auto">
                <a:xfrm>
                  <a:off x="3184" y="1889"/>
                  <a:ext cx="70" cy="109"/>
                </a:xfrm>
                <a:custGeom>
                  <a:avLst/>
                  <a:gdLst>
                    <a:gd name="T0" fmla="*/ 32 w 70"/>
                    <a:gd name="T1" fmla="*/ 0 h 109"/>
                    <a:gd name="T2" fmla="*/ 28 w 70"/>
                    <a:gd name="T3" fmla="*/ 9 h 109"/>
                    <a:gd name="T4" fmla="*/ 24 w 70"/>
                    <a:gd name="T5" fmla="*/ 23 h 109"/>
                    <a:gd name="T6" fmla="*/ 20 w 70"/>
                    <a:gd name="T7" fmla="*/ 34 h 109"/>
                    <a:gd name="T8" fmla="*/ 19 w 70"/>
                    <a:gd name="T9" fmla="*/ 45 h 109"/>
                    <a:gd name="T10" fmla="*/ 20 w 70"/>
                    <a:gd name="T11" fmla="*/ 58 h 109"/>
                    <a:gd name="T12" fmla="*/ 24 w 70"/>
                    <a:gd name="T13" fmla="*/ 70 h 109"/>
                    <a:gd name="T14" fmla="*/ 31 w 70"/>
                    <a:gd name="T15" fmla="*/ 82 h 109"/>
                    <a:gd name="T16" fmla="*/ 44 w 70"/>
                    <a:gd name="T17" fmla="*/ 89 h 109"/>
                    <a:gd name="T18" fmla="*/ 56 w 70"/>
                    <a:gd name="T19" fmla="*/ 95 h 109"/>
                    <a:gd name="T20" fmla="*/ 70 w 70"/>
                    <a:gd name="T21" fmla="*/ 101 h 109"/>
                    <a:gd name="T22" fmla="*/ 53 w 70"/>
                    <a:gd name="T23" fmla="*/ 109 h 109"/>
                    <a:gd name="T24" fmla="*/ 41 w 70"/>
                    <a:gd name="T25" fmla="*/ 105 h 109"/>
                    <a:gd name="T26" fmla="*/ 27 w 70"/>
                    <a:gd name="T27" fmla="*/ 100 h 109"/>
                    <a:gd name="T28" fmla="*/ 17 w 70"/>
                    <a:gd name="T29" fmla="*/ 92 h 109"/>
                    <a:gd name="T30" fmla="*/ 9 w 70"/>
                    <a:gd name="T31" fmla="*/ 84 h 109"/>
                    <a:gd name="T32" fmla="*/ 4 w 70"/>
                    <a:gd name="T33" fmla="*/ 74 h 109"/>
                    <a:gd name="T34" fmla="*/ 1 w 70"/>
                    <a:gd name="T35" fmla="*/ 66 h 109"/>
                    <a:gd name="T36" fmla="*/ 0 w 70"/>
                    <a:gd name="T37" fmla="*/ 54 h 109"/>
                    <a:gd name="T38" fmla="*/ 1 w 70"/>
                    <a:gd name="T39" fmla="*/ 39 h 109"/>
                    <a:gd name="T40" fmla="*/ 4 w 70"/>
                    <a:gd name="T41" fmla="*/ 27 h 109"/>
                    <a:gd name="T42" fmla="*/ 10 w 70"/>
                    <a:gd name="T43" fmla="*/ 16 h 109"/>
                    <a:gd name="T44" fmla="*/ 32 w 70"/>
                    <a:gd name="T45" fmla="*/ 0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0"/>
                    <a:gd name="T70" fmla="*/ 0 h 109"/>
                    <a:gd name="T71" fmla="*/ 70 w 70"/>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0" h="109">
                      <a:moveTo>
                        <a:pt x="32" y="0"/>
                      </a:moveTo>
                      <a:lnTo>
                        <a:pt x="28" y="9"/>
                      </a:lnTo>
                      <a:lnTo>
                        <a:pt x="24" y="23"/>
                      </a:lnTo>
                      <a:lnTo>
                        <a:pt x="20" y="34"/>
                      </a:lnTo>
                      <a:lnTo>
                        <a:pt x="19" y="45"/>
                      </a:lnTo>
                      <a:lnTo>
                        <a:pt x="20" y="58"/>
                      </a:lnTo>
                      <a:lnTo>
                        <a:pt x="24" y="70"/>
                      </a:lnTo>
                      <a:lnTo>
                        <a:pt x="31" y="82"/>
                      </a:lnTo>
                      <a:lnTo>
                        <a:pt x="44" y="89"/>
                      </a:lnTo>
                      <a:lnTo>
                        <a:pt x="56" y="95"/>
                      </a:lnTo>
                      <a:lnTo>
                        <a:pt x="70" y="101"/>
                      </a:lnTo>
                      <a:lnTo>
                        <a:pt x="53" y="109"/>
                      </a:lnTo>
                      <a:lnTo>
                        <a:pt x="41" y="105"/>
                      </a:lnTo>
                      <a:lnTo>
                        <a:pt x="27" y="100"/>
                      </a:lnTo>
                      <a:lnTo>
                        <a:pt x="17" y="92"/>
                      </a:lnTo>
                      <a:lnTo>
                        <a:pt x="9" y="84"/>
                      </a:lnTo>
                      <a:lnTo>
                        <a:pt x="4" y="74"/>
                      </a:lnTo>
                      <a:lnTo>
                        <a:pt x="1" y="66"/>
                      </a:lnTo>
                      <a:lnTo>
                        <a:pt x="0" y="54"/>
                      </a:lnTo>
                      <a:lnTo>
                        <a:pt x="1" y="39"/>
                      </a:lnTo>
                      <a:lnTo>
                        <a:pt x="4" y="27"/>
                      </a:lnTo>
                      <a:lnTo>
                        <a:pt x="10" y="16"/>
                      </a:lnTo>
                      <a:lnTo>
                        <a:pt x="32" y="0"/>
                      </a:lnTo>
                      <a:close/>
                    </a:path>
                  </a:pathLst>
                </a:custGeom>
                <a:solidFill>
                  <a:srgbClr val="FF0000"/>
                </a:solidFill>
                <a:ln w="9525">
                  <a:solidFill>
                    <a:schemeClr val="tx1"/>
                  </a:solidFill>
                  <a:round/>
                  <a:headEnd/>
                  <a:tailEnd/>
                </a:ln>
              </p:spPr>
              <p:txBody>
                <a:bodyPr/>
                <a:lstStyle/>
                <a:p>
                  <a:endParaRPr lang="sv-SE"/>
                </a:p>
              </p:txBody>
            </p:sp>
            <p:sp>
              <p:nvSpPr>
                <p:cNvPr id="20541" name="Freeform 211"/>
                <p:cNvSpPr>
                  <a:spLocks/>
                </p:cNvSpPr>
                <p:nvPr/>
              </p:nvSpPr>
              <p:spPr bwMode="auto">
                <a:xfrm>
                  <a:off x="2931" y="2062"/>
                  <a:ext cx="73" cy="68"/>
                </a:xfrm>
                <a:custGeom>
                  <a:avLst/>
                  <a:gdLst>
                    <a:gd name="T0" fmla="*/ 52 w 73"/>
                    <a:gd name="T1" fmla="*/ 0 h 68"/>
                    <a:gd name="T2" fmla="*/ 16 w 73"/>
                    <a:gd name="T3" fmla="*/ 27 h 68"/>
                    <a:gd name="T4" fmla="*/ 9 w 73"/>
                    <a:gd name="T5" fmla="*/ 32 h 68"/>
                    <a:gd name="T6" fmla="*/ 3 w 73"/>
                    <a:gd name="T7" fmla="*/ 41 h 68"/>
                    <a:gd name="T8" fmla="*/ 0 w 73"/>
                    <a:gd name="T9" fmla="*/ 51 h 68"/>
                    <a:gd name="T10" fmla="*/ 4 w 73"/>
                    <a:gd name="T11" fmla="*/ 61 h 68"/>
                    <a:gd name="T12" fmla="*/ 12 w 73"/>
                    <a:gd name="T13" fmla="*/ 66 h 68"/>
                    <a:gd name="T14" fmla="*/ 19 w 73"/>
                    <a:gd name="T15" fmla="*/ 68 h 68"/>
                    <a:gd name="T16" fmla="*/ 30 w 73"/>
                    <a:gd name="T17" fmla="*/ 64 h 68"/>
                    <a:gd name="T18" fmla="*/ 73 w 73"/>
                    <a:gd name="T19" fmla="*/ 45 h 68"/>
                    <a:gd name="T20" fmla="*/ 64 w 73"/>
                    <a:gd name="T21" fmla="*/ 40 h 68"/>
                    <a:gd name="T22" fmla="*/ 57 w 73"/>
                    <a:gd name="T23" fmla="*/ 33 h 68"/>
                    <a:gd name="T24" fmla="*/ 53 w 73"/>
                    <a:gd name="T25" fmla="*/ 25 h 68"/>
                    <a:gd name="T26" fmla="*/ 52 w 73"/>
                    <a:gd name="T27" fmla="*/ 17 h 68"/>
                    <a:gd name="T28" fmla="*/ 51 w 73"/>
                    <a:gd name="T29" fmla="*/ 7 h 68"/>
                    <a:gd name="T30" fmla="*/ 52 w 73"/>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3"/>
                    <a:gd name="T49" fmla="*/ 0 h 68"/>
                    <a:gd name="T50" fmla="*/ 73 w 73"/>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3" h="68">
                      <a:moveTo>
                        <a:pt x="52" y="0"/>
                      </a:moveTo>
                      <a:lnTo>
                        <a:pt x="16" y="27"/>
                      </a:lnTo>
                      <a:lnTo>
                        <a:pt x="9" y="32"/>
                      </a:lnTo>
                      <a:lnTo>
                        <a:pt x="3" y="41"/>
                      </a:lnTo>
                      <a:lnTo>
                        <a:pt x="0" y="51"/>
                      </a:lnTo>
                      <a:lnTo>
                        <a:pt x="4" y="61"/>
                      </a:lnTo>
                      <a:lnTo>
                        <a:pt x="12" y="66"/>
                      </a:lnTo>
                      <a:lnTo>
                        <a:pt x="19" y="68"/>
                      </a:lnTo>
                      <a:lnTo>
                        <a:pt x="30" y="64"/>
                      </a:lnTo>
                      <a:lnTo>
                        <a:pt x="73" y="45"/>
                      </a:lnTo>
                      <a:lnTo>
                        <a:pt x="64" y="40"/>
                      </a:lnTo>
                      <a:lnTo>
                        <a:pt x="57" y="33"/>
                      </a:lnTo>
                      <a:lnTo>
                        <a:pt x="53" y="25"/>
                      </a:lnTo>
                      <a:lnTo>
                        <a:pt x="52" y="17"/>
                      </a:lnTo>
                      <a:lnTo>
                        <a:pt x="51" y="7"/>
                      </a:lnTo>
                      <a:lnTo>
                        <a:pt x="52" y="0"/>
                      </a:lnTo>
                      <a:close/>
                    </a:path>
                  </a:pathLst>
                </a:custGeom>
                <a:solidFill>
                  <a:srgbClr val="00FF00"/>
                </a:solidFill>
                <a:ln w="9525">
                  <a:solidFill>
                    <a:schemeClr val="tx1"/>
                  </a:solidFill>
                  <a:round/>
                  <a:headEnd/>
                  <a:tailEnd/>
                </a:ln>
              </p:spPr>
              <p:txBody>
                <a:bodyPr/>
                <a:lstStyle/>
                <a:p>
                  <a:endParaRPr lang="sv-SE"/>
                </a:p>
              </p:txBody>
            </p:sp>
          </p:grpSp>
        </p:grpSp>
        <p:grpSp>
          <p:nvGrpSpPr>
            <p:cNvPr id="20680" name="Group 212"/>
            <p:cNvGrpSpPr>
              <a:grpSpLocks/>
            </p:cNvGrpSpPr>
            <p:nvPr/>
          </p:nvGrpSpPr>
          <p:grpSpPr bwMode="auto">
            <a:xfrm>
              <a:off x="697" y="2495"/>
              <a:ext cx="427" cy="448"/>
              <a:chOff x="2812" y="1263"/>
              <a:chExt cx="798" cy="867"/>
            </a:xfrm>
          </p:grpSpPr>
          <p:sp>
            <p:nvSpPr>
              <p:cNvPr id="20512" name="Freeform 213"/>
              <p:cNvSpPr>
                <a:spLocks/>
              </p:cNvSpPr>
              <p:nvPr/>
            </p:nvSpPr>
            <p:spPr bwMode="auto">
              <a:xfrm>
                <a:off x="2827" y="2088"/>
                <a:ext cx="74" cy="42"/>
              </a:xfrm>
              <a:custGeom>
                <a:avLst/>
                <a:gdLst>
                  <a:gd name="T0" fmla="*/ 0 w 74"/>
                  <a:gd name="T1" fmla="*/ 27 h 42"/>
                  <a:gd name="T2" fmla="*/ 22 w 74"/>
                  <a:gd name="T3" fmla="*/ 0 h 42"/>
                  <a:gd name="T4" fmla="*/ 74 w 74"/>
                  <a:gd name="T5" fmla="*/ 34 h 42"/>
                  <a:gd name="T6" fmla="*/ 17 w 74"/>
                  <a:gd name="T7" fmla="*/ 42 h 42"/>
                  <a:gd name="T8" fmla="*/ 0 w 74"/>
                  <a:gd name="T9" fmla="*/ 27 h 42"/>
                  <a:gd name="T10" fmla="*/ 0 60000 65536"/>
                  <a:gd name="T11" fmla="*/ 0 60000 65536"/>
                  <a:gd name="T12" fmla="*/ 0 60000 65536"/>
                  <a:gd name="T13" fmla="*/ 0 60000 65536"/>
                  <a:gd name="T14" fmla="*/ 0 60000 65536"/>
                  <a:gd name="T15" fmla="*/ 0 w 74"/>
                  <a:gd name="T16" fmla="*/ 0 h 42"/>
                  <a:gd name="T17" fmla="*/ 74 w 74"/>
                  <a:gd name="T18" fmla="*/ 42 h 42"/>
                </a:gdLst>
                <a:ahLst/>
                <a:cxnLst>
                  <a:cxn ang="T10">
                    <a:pos x="T0" y="T1"/>
                  </a:cxn>
                  <a:cxn ang="T11">
                    <a:pos x="T2" y="T3"/>
                  </a:cxn>
                  <a:cxn ang="T12">
                    <a:pos x="T4" y="T5"/>
                  </a:cxn>
                  <a:cxn ang="T13">
                    <a:pos x="T6" y="T7"/>
                  </a:cxn>
                  <a:cxn ang="T14">
                    <a:pos x="T8" y="T9"/>
                  </a:cxn>
                </a:cxnLst>
                <a:rect l="T15" t="T16" r="T17" b="T18"/>
                <a:pathLst>
                  <a:path w="74" h="42">
                    <a:moveTo>
                      <a:pt x="0" y="27"/>
                    </a:moveTo>
                    <a:lnTo>
                      <a:pt x="22" y="0"/>
                    </a:lnTo>
                    <a:lnTo>
                      <a:pt x="74" y="34"/>
                    </a:lnTo>
                    <a:lnTo>
                      <a:pt x="17" y="42"/>
                    </a:lnTo>
                    <a:lnTo>
                      <a:pt x="0" y="27"/>
                    </a:lnTo>
                    <a:close/>
                  </a:path>
                </a:pathLst>
              </a:custGeom>
              <a:solidFill>
                <a:srgbClr val="3F3F3F"/>
              </a:solidFill>
              <a:ln w="9525">
                <a:solidFill>
                  <a:schemeClr val="tx1"/>
                </a:solidFill>
                <a:round/>
                <a:headEnd/>
                <a:tailEnd/>
              </a:ln>
            </p:spPr>
            <p:txBody>
              <a:bodyPr/>
              <a:lstStyle/>
              <a:p>
                <a:endParaRPr lang="sv-SE"/>
              </a:p>
            </p:txBody>
          </p:sp>
          <p:sp>
            <p:nvSpPr>
              <p:cNvPr id="20513" name="Freeform 214"/>
              <p:cNvSpPr>
                <a:spLocks/>
              </p:cNvSpPr>
              <p:nvPr/>
            </p:nvSpPr>
            <p:spPr bwMode="auto">
              <a:xfrm>
                <a:off x="2817" y="2024"/>
                <a:ext cx="84" cy="99"/>
              </a:xfrm>
              <a:custGeom>
                <a:avLst/>
                <a:gdLst>
                  <a:gd name="T0" fmla="*/ 0 w 84"/>
                  <a:gd name="T1" fmla="*/ 0 h 99"/>
                  <a:gd name="T2" fmla="*/ 50 w 84"/>
                  <a:gd name="T3" fmla="*/ 47 h 99"/>
                  <a:gd name="T4" fmla="*/ 84 w 84"/>
                  <a:gd name="T5" fmla="*/ 99 h 99"/>
                  <a:gd name="T6" fmla="*/ 32 w 84"/>
                  <a:gd name="T7" fmla="*/ 64 h 99"/>
                  <a:gd name="T8" fmla="*/ 0 w 84"/>
                  <a:gd name="T9" fmla="*/ 0 h 99"/>
                  <a:gd name="T10" fmla="*/ 0 60000 65536"/>
                  <a:gd name="T11" fmla="*/ 0 60000 65536"/>
                  <a:gd name="T12" fmla="*/ 0 60000 65536"/>
                  <a:gd name="T13" fmla="*/ 0 60000 65536"/>
                  <a:gd name="T14" fmla="*/ 0 60000 65536"/>
                  <a:gd name="T15" fmla="*/ 0 w 84"/>
                  <a:gd name="T16" fmla="*/ 0 h 99"/>
                  <a:gd name="T17" fmla="*/ 84 w 84"/>
                  <a:gd name="T18" fmla="*/ 99 h 99"/>
                </a:gdLst>
                <a:ahLst/>
                <a:cxnLst>
                  <a:cxn ang="T10">
                    <a:pos x="T0" y="T1"/>
                  </a:cxn>
                  <a:cxn ang="T11">
                    <a:pos x="T2" y="T3"/>
                  </a:cxn>
                  <a:cxn ang="T12">
                    <a:pos x="T4" y="T5"/>
                  </a:cxn>
                  <a:cxn ang="T13">
                    <a:pos x="T6" y="T7"/>
                  </a:cxn>
                  <a:cxn ang="T14">
                    <a:pos x="T8" y="T9"/>
                  </a:cxn>
                </a:cxnLst>
                <a:rect l="T15" t="T16" r="T17" b="T18"/>
                <a:pathLst>
                  <a:path w="84" h="99">
                    <a:moveTo>
                      <a:pt x="0" y="0"/>
                    </a:moveTo>
                    <a:lnTo>
                      <a:pt x="50" y="47"/>
                    </a:lnTo>
                    <a:lnTo>
                      <a:pt x="84" y="99"/>
                    </a:lnTo>
                    <a:lnTo>
                      <a:pt x="32" y="64"/>
                    </a:lnTo>
                    <a:lnTo>
                      <a:pt x="0" y="0"/>
                    </a:lnTo>
                    <a:close/>
                  </a:path>
                </a:pathLst>
              </a:custGeom>
              <a:solidFill>
                <a:srgbClr val="9F9F9F"/>
              </a:solidFill>
              <a:ln w="9525">
                <a:solidFill>
                  <a:schemeClr val="tx1"/>
                </a:solidFill>
                <a:round/>
                <a:headEnd/>
                <a:tailEnd/>
              </a:ln>
            </p:spPr>
            <p:txBody>
              <a:bodyPr/>
              <a:lstStyle/>
              <a:p>
                <a:endParaRPr lang="sv-SE"/>
              </a:p>
            </p:txBody>
          </p:sp>
          <p:sp>
            <p:nvSpPr>
              <p:cNvPr id="20514" name="Freeform 215"/>
              <p:cNvSpPr>
                <a:spLocks/>
              </p:cNvSpPr>
              <p:nvPr/>
            </p:nvSpPr>
            <p:spPr bwMode="auto">
              <a:xfrm>
                <a:off x="2812" y="2026"/>
                <a:ext cx="37" cy="88"/>
              </a:xfrm>
              <a:custGeom>
                <a:avLst/>
                <a:gdLst>
                  <a:gd name="T0" fmla="*/ 6 w 37"/>
                  <a:gd name="T1" fmla="*/ 0 h 88"/>
                  <a:gd name="T2" fmla="*/ 37 w 37"/>
                  <a:gd name="T3" fmla="*/ 61 h 88"/>
                  <a:gd name="T4" fmla="*/ 14 w 37"/>
                  <a:gd name="T5" fmla="*/ 88 h 88"/>
                  <a:gd name="T6" fmla="*/ 0 w 37"/>
                  <a:gd name="T7" fmla="*/ 72 h 88"/>
                  <a:gd name="T8" fmla="*/ 6 w 37"/>
                  <a:gd name="T9" fmla="*/ 0 h 88"/>
                  <a:gd name="T10" fmla="*/ 0 60000 65536"/>
                  <a:gd name="T11" fmla="*/ 0 60000 65536"/>
                  <a:gd name="T12" fmla="*/ 0 60000 65536"/>
                  <a:gd name="T13" fmla="*/ 0 60000 65536"/>
                  <a:gd name="T14" fmla="*/ 0 60000 65536"/>
                  <a:gd name="T15" fmla="*/ 0 w 37"/>
                  <a:gd name="T16" fmla="*/ 0 h 88"/>
                  <a:gd name="T17" fmla="*/ 37 w 37"/>
                  <a:gd name="T18" fmla="*/ 88 h 88"/>
                </a:gdLst>
                <a:ahLst/>
                <a:cxnLst>
                  <a:cxn ang="T10">
                    <a:pos x="T0" y="T1"/>
                  </a:cxn>
                  <a:cxn ang="T11">
                    <a:pos x="T2" y="T3"/>
                  </a:cxn>
                  <a:cxn ang="T12">
                    <a:pos x="T4" y="T5"/>
                  </a:cxn>
                  <a:cxn ang="T13">
                    <a:pos x="T6" y="T7"/>
                  </a:cxn>
                  <a:cxn ang="T14">
                    <a:pos x="T8" y="T9"/>
                  </a:cxn>
                </a:cxnLst>
                <a:rect l="T15" t="T16" r="T17" b="T18"/>
                <a:pathLst>
                  <a:path w="37" h="88">
                    <a:moveTo>
                      <a:pt x="6" y="0"/>
                    </a:moveTo>
                    <a:lnTo>
                      <a:pt x="37" y="61"/>
                    </a:lnTo>
                    <a:lnTo>
                      <a:pt x="14" y="88"/>
                    </a:lnTo>
                    <a:lnTo>
                      <a:pt x="0" y="72"/>
                    </a:lnTo>
                    <a:lnTo>
                      <a:pt x="6" y="0"/>
                    </a:lnTo>
                    <a:close/>
                  </a:path>
                </a:pathLst>
              </a:custGeom>
              <a:solidFill>
                <a:srgbClr val="5F5F5F"/>
              </a:solidFill>
              <a:ln w="9525">
                <a:solidFill>
                  <a:schemeClr val="tx1"/>
                </a:solidFill>
                <a:round/>
                <a:headEnd/>
                <a:tailEnd/>
              </a:ln>
            </p:spPr>
            <p:txBody>
              <a:bodyPr/>
              <a:lstStyle/>
              <a:p>
                <a:endParaRPr lang="sv-SE"/>
              </a:p>
            </p:txBody>
          </p:sp>
          <p:sp>
            <p:nvSpPr>
              <p:cNvPr id="20515" name="Freeform 216"/>
              <p:cNvSpPr>
                <a:spLocks/>
              </p:cNvSpPr>
              <p:nvPr/>
            </p:nvSpPr>
            <p:spPr bwMode="auto">
              <a:xfrm>
                <a:off x="2842" y="1484"/>
                <a:ext cx="574" cy="613"/>
              </a:xfrm>
              <a:custGeom>
                <a:avLst/>
                <a:gdLst>
                  <a:gd name="T0" fmla="*/ 432 w 574"/>
                  <a:gd name="T1" fmla="*/ 0 h 613"/>
                  <a:gd name="T2" fmla="*/ 2 w 574"/>
                  <a:gd name="T3" fmla="*/ 583 h 613"/>
                  <a:gd name="T4" fmla="*/ 0 w 574"/>
                  <a:gd name="T5" fmla="*/ 590 h 613"/>
                  <a:gd name="T6" fmla="*/ 1 w 574"/>
                  <a:gd name="T7" fmla="*/ 599 h 613"/>
                  <a:gd name="T8" fmla="*/ 4 w 574"/>
                  <a:gd name="T9" fmla="*/ 607 h 613"/>
                  <a:gd name="T10" fmla="*/ 9 w 574"/>
                  <a:gd name="T11" fmla="*/ 611 h 613"/>
                  <a:gd name="T12" fmla="*/ 17 w 574"/>
                  <a:gd name="T13" fmla="*/ 613 h 613"/>
                  <a:gd name="T14" fmla="*/ 26 w 574"/>
                  <a:gd name="T15" fmla="*/ 612 h 613"/>
                  <a:gd name="T16" fmla="*/ 574 w 574"/>
                  <a:gd name="T17" fmla="*/ 122 h 613"/>
                  <a:gd name="T18" fmla="*/ 432 w 574"/>
                  <a:gd name="T19" fmla="*/ 0 h 6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4"/>
                  <a:gd name="T31" fmla="*/ 0 h 613"/>
                  <a:gd name="T32" fmla="*/ 574 w 574"/>
                  <a:gd name="T33" fmla="*/ 613 h 6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4" h="613">
                    <a:moveTo>
                      <a:pt x="432" y="0"/>
                    </a:moveTo>
                    <a:lnTo>
                      <a:pt x="2" y="583"/>
                    </a:lnTo>
                    <a:lnTo>
                      <a:pt x="0" y="590"/>
                    </a:lnTo>
                    <a:lnTo>
                      <a:pt x="1" y="599"/>
                    </a:lnTo>
                    <a:lnTo>
                      <a:pt x="4" y="607"/>
                    </a:lnTo>
                    <a:lnTo>
                      <a:pt x="9" y="611"/>
                    </a:lnTo>
                    <a:lnTo>
                      <a:pt x="17" y="613"/>
                    </a:lnTo>
                    <a:lnTo>
                      <a:pt x="26" y="612"/>
                    </a:lnTo>
                    <a:lnTo>
                      <a:pt x="574" y="122"/>
                    </a:lnTo>
                    <a:lnTo>
                      <a:pt x="432" y="0"/>
                    </a:lnTo>
                    <a:close/>
                  </a:path>
                </a:pathLst>
              </a:custGeom>
              <a:solidFill>
                <a:srgbClr val="808080"/>
              </a:solidFill>
              <a:ln w="9525">
                <a:solidFill>
                  <a:schemeClr val="tx1"/>
                </a:solidFill>
                <a:round/>
                <a:headEnd/>
                <a:tailEnd/>
              </a:ln>
            </p:spPr>
            <p:txBody>
              <a:bodyPr/>
              <a:lstStyle/>
              <a:p>
                <a:endParaRPr lang="sv-SE"/>
              </a:p>
            </p:txBody>
          </p:sp>
          <p:sp>
            <p:nvSpPr>
              <p:cNvPr id="20516" name="Freeform 217"/>
              <p:cNvSpPr>
                <a:spLocks/>
              </p:cNvSpPr>
              <p:nvPr/>
            </p:nvSpPr>
            <p:spPr bwMode="auto">
              <a:xfrm>
                <a:off x="3261" y="1425"/>
                <a:ext cx="240" cy="110"/>
              </a:xfrm>
              <a:custGeom>
                <a:avLst/>
                <a:gdLst>
                  <a:gd name="T0" fmla="*/ 68 w 240"/>
                  <a:gd name="T1" fmla="*/ 0 h 110"/>
                  <a:gd name="T2" fmla="*/ 240 w 240"/>
                  <a:gd name="T3" fmla="*/ 55 h 110"/>
                  <a:gd name="T4" fmla="*/ 227 w 240"/>
                  <a:gd name="T5" fmla="*/ 68 h 110"/>
                  <a:gd name="T6" fmla="*/ 226 w 240"/>
                  <a:gd name="T7" fmla="*/ 80 h 110"/>
                  <a:gd name="T8" fmla="*/ 83 w 240"/>
                  <a:gd name="T9" fmla="*/ 30 h 110"/>
                  <a:gd name="T10" fmla="*/ 2 w 240"/>
                  <a:gd name="T11" fmla="*/ 110 h 110"/>
                  <a:gd name="T12" fmla="*/ 0 w 240"/>
                  <a:gd name="T13" fmla="*/ 82 h 110"/>
                  <a:gd name="T14" fmla="*/ 68 w 240"/>
                  <a:gd name="T15" fmla="*/ 0 h 110"/>
                  <a:gd name="T16" fmla="*/ 0 60000 65536"/>
                  <a:gd name="T17" fmla="*/ 0 60000 65536"/>
                  <a:gd name="T18" fmla="*/ 0 60000 65536"/>
                  <a:gd name="T19" fmla="*/ 0 60000 65536"/>
                  <a:gd name="T20" fmla="*/ 0 60000 65536"/>
                  <a:gd name="T21" fmla="*/ 0 60000 65536"/>
                  <a:gd name="T22" fmla="*/ 0 60000 65536"/>
                  <a:gd name="T23" fmla="*/ 0 60000 65536"/>
                  <a:gd name="T24" fmla="*/ 0 w 240"/>
                  <a:gd name="T25" fmla="*/ 0 h 110"/>
                  <a:gd name="T26" fmla="*/ 240 w 240"/>
                  <a:gd name="T27" fmla="*/ 110 h 1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0" h="110">
                    <a:moveTo>
                      <a:pt x="68" y="0"/>
                    </a:moveTo>
                    <a:lnTo>
                      <a:pt x="240" y="55"/>
                    </a:lnTo>
                    <a:lnTo>
                      <a:pt x="227" y="68"/>
                    </a:lnTo>
                    <a:lnTo>
                      <a:pt x="226" y="80"/>
                    </a:lnTo>
                    <a:lnTo>
                      <a:pt x="83" y="30"/>
                    </a:lnTo>
                    <a:lnTo>
                      <a:pt x="2" y="110"/>
                    </a:lnTo>
                    <a:lnTo>
                      <a:pt x="0" y="82"/>
                    </a:lnTo>
                    <a:lnTo>
                      <a:pt x="68" y="0"/>
                    </a:lnTo>
                    <a:close/>
                  </a:path>
                </a:pathLst>
              </a:custGeom>
              <a:solidFill>
                <a:srgbClr val="808080"/>
              </a:solidFill>
              <a:ln w="9525">
                <a:solidFill>
                  <a:schemeClr val="tx1"/>
                </a:solidFill>
                <a:round/>
                <a:headEnd/>
                <a:tailEnd/>
              </a:ln>
            </p:spPr>
            <p:txBody>
              <a:bodyPr/>
              <a:lstStyle/>
              <a:p>
                <a:endParaRPr lang="sv-SE"/>
              </a:p>
            </p:txBody>
          </p:sp>
          <p:sp>
            <p:nvSpPr>
              <p:cNvPr id="20517" name="Freeform 218"/>
              <p:cNvSpPr>
                <a:spLocks/>
              </p:cNvSpPr>
              <p:nvPr/>
            </p:nvSpPr>
            <p:spPr bwMode="auto">
              <a:xfrm>
                <a:off x="3340" y="1449"/>
                <a:ext cx="166" cy="96"/>
              </a:xfrm>
              <a:custGeom>
                <a:avLst/>
                <a:gdLst>
                  <a:gd name="T0" fmla="*/ 0 w 166"/>
                  <a:gd name="T1" fmla="*/ 0 h 96"/>
                  <a:gd name="T2" fmla="*/ 163 w 166"/>
                  <a:gd name="T3" fmla="*/ 46 h 96"/>
                  <a:gd name="T4" fmla="*/ 166 w 166"/>
                  <a:gd name="T5" fmla="*/ 61 h 96"/>
                  <a:gd name="T6" fmla="*/ 163 w 166"/>
                  <a:gd name="T7" fmla="*/ 75 h 96"/>
                  <a:gd name="T8" fmla="*/ 156 w 166"/>
                  <a:gd name="T9" fmla="*/ 86 h 96"/>
                  <a:gd name="T10" fmla="*/ 129 w 166"/>
                  <a:gd name="T11" fmla="*/ 96 h 96"/>
                  <a:gd name="T12" fmla="*/ 85 w 166"/>
                  <a:gd name="T13" fmla="*/ 84 h 96"/>
                  <a:gd name="T14" fmla="*/ 33 w 166"/>
                  <a:gd name="T15" fmla="*/ 52 h 96"/>
                  <a:gd name="T16" fmla="*/ 5 w 166"/>
                  <a:gd name="T17" fmla="*/ 19 h 96"/>
                  <a:gd name="T18" fmla="*/ 0 w 166"/>
                  <a:gd name="T19" fmla="*/ 0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6"/>
                  <a:gd name="T31" fmla="*/ 0 h 96"/>
                  <a:gd name="T32" fmla="*/ 166 w 166"/>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6" h="96">
                    <a:moveTo>
                      <a:pt x="0" y="0"/>
                    </a:moveTo>
                    <a:lnTo>
                      <a:pt x="163" y="46"/>
                    </a:lnTo>
                    <a:lnTo>
                      <a:pt x="166" y="61"/>
                    </a:lnTo>
                    <a:lnTo>
                      <a:pt x="163" y="75"/>
                    </a:lnTo>
                    <a:lnTo>
                      <a:pt x="156" y="86"/>
                    </a:lnTo>
                    <a:lnTo>
                      <a:pt x="129" y="96"/>
                    </a:lnTo>
                    <a:lnTo>
                      <a:pt x="85" y="84"/>
                    </a:lnTo>
                    <a:lnTo>
                      <a:pt x="33" y="52"/>
                    </a:lnTo>
                    <a:lnTo>
                      <a:pt x="5" y="19"/>
                    </a:lnTo>
                    <a:lnTo>
                      <a:pt x="0" y="0"/>
                    </a:lnTo>
                    <a:close/>
                  </a:path>
                </a:pathLst>
              </a:custGeom>
              <a:solidFill>
                <a:srgbClr val="9F9F9F"/>
              </a:solidFill>
              <a:ln w="9525">
                <a:solidFill>
                  <a:schemeClr val="tx1"/>
                </a:solidFill>
                <a:round/>
                <a:headEnd/>
                <a:tailEnd/>
              </a:ln>
            </p:spPr>
            <p:txBody>
              <a:bodyPr/>
              <a:lstStyle/>
              <a:p>
                <a:endParaRPr lang="sv-SE"/>
              </a:p>
            </p:txBody>
          </p:sp>
          <p:sp>
            <p:nvSpPr>
              <p:cNvPr id="20518" name="Freeform 219"/>
              <p:cNvSpPr>
                <a:spLocks/>
              </p:cNvSpPr>
              <p:nvPr/>
            </p:nvSpPr>
            <p:spPr bwMode="auto">
              <a:xfrm>
                <a:off x="3324" y="1383"/>
                <a:ext cx="178" cy="98"/>
              </a:xfrm>
              <a:custGeom>
                <a:avLst/>
                <a:gdLst>
                  <a:gd name="T0" fmla="*/ 9 w 178"/>
                  <a:gd name="T1" fmla="*/ 47 h 98"/>
                  <a:gd name="T2" fmla="*/ 178 w 178"/>
                  <a:gd name="T3" fmla="*/ 98 h 98"/>
                  <a:gd name="T4" fmla="*/ 174 w 178"/>
                  <a:gd name="T5" fmla="*/ 81 h 98"/>
                  <a:gd name="T6" fmla="*/ 167 w 178"/>
                  <a:gd name="T7" fmla="*/ 68 h 98"/>
                  <a:gd name="T8" fmla="*/ 155 w 178"/>
                  <a:gd name="T9" fmla="*/ 50 h 98"/>
                  <a:gd name="T10" fmla="*/ 145 w 178"/>
                  <a:gd name="T11" fmla="*/ 38 h 98"/>
                  <a:gd name="T12" fmla="*/ 130 w 178"/>
                  <a:gd name="T13" fmla="*/ 25 h 98"/>
                  <a:gd name="T14" fmla="*/ 114 w 178"/>
                  <a:gd name="T15" fmla="*/ 15 h 98"/>
                  <a:gd name="T16" fmla="*/ 96 w 178"/>
                  <a:gd name="T17" fmla="*/ 8 h 98"/>
                  <a:gd name="T18" fmla="*/ 79 w 178"/>
                  <a:gd name="T19" fmla="*/ 3 h 98"/>
                  <a:gd name="T20" fmla="*/ 61 w 178"/>
                  <a:gd name="T21" fmla="*/ 0 h 98"/>
                  <a:gd name="T22" fmla="*/ 47 w 178"/>
                  <a:gd name="T23" fmla="*/ 0 h 98"/>
                  <a:gd name="T24" fmla="*/ 35 w 178"/>
                  <a:gd name="T25" fmla="*/ 2 h 98"/>
                  <a:gd name="T26" fmla="*/ 20 w 178"/>
                  <a:gd name="T27" fmla="*/ 7 h 98"/>
                  <a:gd name="T28" fmla="*/ 9 w 178"/>
                  <a:gd name="T29" fmla="*/ 15 h 98"/>
                  <a:gd name="T30" fmla="*/ 3 w 178"/>
                  <a:gd name="T31" fmla="*/ 26 h 98"/>
                  <a:gd name="T32" fmla="*/ 0 w 178"/>
                  <a:gd name="T33" fmla="*/ 44 h 98"/>
                  <a:gd name="T34" fmla="*/ 9 w 178"/>
                  <a:gd name="T35" fmla="*/ 47 h 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8"/>
                  <a:gd name="T55" fmla="*/ 0 h 98"/>
                  <a:gd name="T56" fmla="*/ 178 w 178"/>
                  <a:gd name="T57" fmla="*/ 98 h 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8" h="98">
                    <a:moveTo>
                      <a:pt x="9" y="47"/>
                    </a:moveTo>
                    <a:lnTo>
                      <a:pt x="178" y="98"/>
                    </a:lnTo>
                    <a:lnTo>
                      <a:pt x="174" y="81"/>
                    </a:lnTo>
                    <a:lnTo>
                      <a:pt x="167" y="68"/>
                    </a:lnTo>
                    <a:lnTo>
                      <a:pt x="155" y="50"/>
                    </a:lnTo>
                    <a:lnTo>
                      <a:pt x="145" y="38"/>
                    </a:lnTo>
                    <a:lnTo>
                      <a:pt x="130" y="25"/>
                    </a:lnTo>
                    <a:lnTo>
                      <a:pt x="114" y="15"/>
                    </a:lnTo>
                    <a:lnTo>
                      <a:pt x="96" y="8"/>
                    </a:lnTo>
                    <a:lnTo>
                      <a:pt x="79" y="3"/>
                    </a:lnTo>
                    <a:lnTo>
                      <a:pt x="61" y="0"/>
                    </a:lnTo>
                    <a:lnTo>
                      <a:pt x="47" y="0"/>
                    </a:lnTo>
                    <a:lnTo>
                      <a:pt x="35" y="2"/>
                    </a:lnTo>
                    <a:lnTo>
                      <a:pt x="20" y="7"/>
                    </a:lnTo>
                    <a:lnTo>
                      <a:pt x="9" y="15"/>
                    </a:lnTo>
                    <a:lnTo>
                      <a:pt x="3" y="26"/>
                    </a:lnTo>
                    <a:lnTo>
                      <a:pt x="0" y="44"/>
                    </a:lnTo>
                    <a:lnTo>
                      <a:pt x="9" y="47"/>
                    </a:lnTo>
                    <a:close/>
                  </a:path>
                </a:pathLst>
              </a:custGeom>
              <a:solidFill>
                <a:srgbClr val="9F9F9F"/>
              </a:solidFill>
              <a:ln w="9525">
                <a:solidFill>
                  <a:schemeClr val="tx1"/>
                </a:solidFill>
                <a:round/>
                <a:headEnd/>
                <a:tailEnd/>
              </a:ln>
            </p:spPr>
            <p:txBody>
              <a:bodyPr/>
              <a:lstStyle/>
              <a:p>
                <a:endParaRPr lang="sv-SE"/>
              </a:p>
            </p:txBody>
          </p:sp>
          <p:sp>
            <p:nvSpPr>
              <p:cNvPr id="20519" name="Freeform 220"/>
              <p:cNvSpPr>
                <a:spLocks/>
              </p:cNvSpPr>
              <p:nvPr/>
            </p:nvSpPr>
            <p:spPr bwMode="auto">
              <a:xfrm>
                <a:off x="3252" y="1412"/>
                <a:ext cx="245" cy="219"/>
              </a:xfrm>
              <a:custGeom>
                <a:avLst/>
                <a:gdLst>
                  <a:gd name="T0" fmla="*/ 74 w 245"/>
                  <a:gd name="T1" fmla="*/ 0 h 219"/>
                  <a:gd name="T2" fmla="*/ 4 w 245"/>
                  <a:gd name="T3" fmla="*/ 96 h 219"/>
                  <a:gd name="T4" fmla="*/ 0 w 245"/>
                  <a:gd name="T5" fmla="*/ 113 h 219"/>
                  <a:gd name="T6" fmla="*/ 0 w 245"/>
                  <a:gd name="T7" fmla="*/ 125 h 219"/>
                  <a:gd name="T8" fmla="*/ 1 w 245"/>
                  <a:gd name="T9" fmla="*/ 139 h 219"/>
                  <a:gd name="T10" fmla="*/ 5 w 245"/>
                  <a:gd name="T11" fmla="*/ 156 h 219"/>
                  <a:gd name="T12" fmla="*/ 12 w 245"/>
                  <a:gd name="T13" fmla="*/ 170 h 219"/>
                  <a:gd name="T14" fmla="*/ 24 w 245"/>
                  <a:gd name="T15" fmla="*/ 185 h 219"/>
                  <a:gd name="T16" fmla="*/ 38 w 245"/>
                  <a:gd name="T17" fmla="*/ 196 h 219"/>
                  <a:gd name="T18" fmla="*/ 58 w 245"/>
                  <a:gd name="T19" fmla="*/ 208 h 219"/>
                  <a:gd name="T20" fmla="*/ 75 w 245"/>
                  <a:gd name="T21" fmla="*/ 214 h 219"/>
                  <a:gd name="T22" fmla="*/ 92 w 245"/>
                  <a:gd name="T23" fmla="*/ 217 h 219"/>
                  <a:gd name="T24" fmla="*/ 114 w 245"/>
                  <a:gd name="T25" fmla="*/ 219 h 219"/>
                  <a:gd name="T26" fmla="*/ 129 w 245"/>
                  <a:gd name="T27" fmla="*/ 216 h 219"/>
                  <a:gd name="T28" fmla="*/ 146 w 245"/>
                  <a:gd name="T29" fmla="*/ 210 h 219"/>
                  <a:gd name="T30" fmla="*/ 245 w 245"/>
                  <a:gd name="T31" fmla="*/ 122 h 219"/>
                  <a:gd name="T32" fmla="*/ 229 w 245"/>
                  <a:gd name="T33" fmla="*/ 127 h 219"/>
                  <a:gd name="T34" fmla="*/ 214 w 245"/>
                  <a:gd name="T35" fmla="*/ 128 h 219"/>
                  <a:gd name="T36" fmla="*/ 195 w 245"/>
                  <a:gd name="T37" fmla="*/ 125 h 219"/>
                  <a:gd name="T38" fmla="*/ 179 w 245"/>
                  <a:gd name="T39" fmla="*/ 120 h 219"/>
                  <a:gd name="T40" fmla="*/ 162 w 245"/>
                  <a:gd name="T41" fmla="*/ 114 h 219"/>
                  <a:gd name="T42" fmla="*/ 141 w 245"/>
                  <a:gd name="T43" fmla="*/ 101 h 219"/>
                  <a:gd name="T44" fmla="*/ 122 w 245"/>
                  <a:gd name="T45" fmla="*/ 87 h 219"/>
                  <a:gd name="T46" fmla="*/ 112 w 245"/>
                  <a:gd name="T47" fmla="*/ 76 h 219"/>
                  <a:gd name="T48" fmla="*/ 100 w 245"/>
                  <a:gd name="T49" fmla="*/ 61 h 219"/>
                  <a:gd name="T50" fmla="*/ 92 w 245"/>
                  <a:gd name="T51" fmla="*/ 50 h 219"/>
                  <a:gd name="T52" fmla="*/ 86 w 245"/>
                  <a:gd name="T53" fmla="*/ 36 h 219"/>
                  <a:gd name="T54" fmla="*/ 14 w 245"/>
                  <a:gd name="T55" fmla="*/ 115 h 219"/>
                  <a:gd name="T56" fmla="*/ 14 w 245"/>
                  <a:gd name="T57" fmla="*/ 97 h 219"/>
                  <a:gd name="T58" fmla="*/ 81 w 245"/>
                  <a:gd name="T59" fmla="*/ 20 h 219"/>
                  <a:gd name="T60" fmla="*/ 78 w 245"/>
                  <a:gd name="T61" fmla="*/ 15 h 219"/>
                  <a:gd name="T62" fmla="*/ 75 w 245"/>
                  <a:gd name="T63" fmla="*/ 7 h 219"/>
                  <a:gd name="T64" fmla="*/ 74 w 245"/>
                  <a:gd name="T65" fmla="*/ 0 h 2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45"/>
                  <a:gd name="T100" fmla="*/ 0 h 219"/>
                  <a:gd name="T101" fmla="*/ 245 w 245"/>
                  <a:gd name="T102" fmla="*/ 219 h 2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45" h="219">
                    <a:moveTo>
                      <a:pt x="74" y="0"/>
                    </a:moveTo>
                    <a:lnTo>
                      <a:pt x="4" y="96"/>
                    </a:lnTo>
                    <a:lnTo>
                      <a:pt x="0" y="113"/>
                    </a:lnTo>
                    <a:lnTo>
                      <a:pt x="0" y="125"/>
                    </a:lnTo>
                    <a:lnTo>
                      <a:pt x="1" y="139"/>
                    </a:lnTo>
                    <a:lnTo>
                      <a:pt x="5" y="156"/>
                    </a:lnTo>
                    <a:lnTo>
                      <a:pt x="12" y="170"/>
                    </a:lnTo>
                    <a:lnTo>
                      <a:pt x="24" y="185"/>
                    </a:lnTo>
                    <a:lnTo>
                      <a:pt x="38" y="196"/>
                    </a:lnTo>
                    <a:lnTo>
                      <a:pt x="58" y="208"/>
                    </a:lnTo>
                    <a:lnTo>
                      <a:pt x="75" y="214"/>
                    </a:lnTo>
                    <a:lnTo>
                      <a:pt x="92" y="217"/>
                    </a:lnTo>
                    <a:lnTo>
                      <a:pt x="114" y="219"/>
                    </a:lnTo>
                    <a:lnTo>
                      <a:pt x="129" y="216"/>
                    </a:lnTo>
                    <a:lnTo>
                      <a:pt x="146" y="210"/>
                    </a:lnTo>
                    <a:lnTo>
                      <a:pt x="245" y="122"/>
                    </a:lnTo>
                    <a:lnTo>
                      <a:pt x="229" y="127"/>
                    </a:lnTo>
                    <a:lnTo>
                      <a:pt x="214" y="128"/>
                    </a:lnTo>
                    <a:lnTo>
                      <a:pt x="195" y="125"/>
                    </a:lnTo>
                    <a:lnTo>
                      <a:pt x="179" y="120"/>
                    </a:lnTo>
                    <a:lnTo>
                      <a:pt x="162" y="114"/>
                    </a:lnTo>
                    <a:lnTo>
                      <a:pt x="141" y="101"/>
                    </a:lnTo>
                    <a:lnTo>
                      <a:pt x="122" y="87"/>
                    </a:lnTo>
                    <a:lnTo>
                      <a:pt x="112" y="76"/>
                    </a:lnTo>
                    <a:lnTo>
                      <a:pt x="100" y="61"/>
                    </a:lnTo>
                    <a:lnTo>
                      <a:pt x="92" y="50"/>
                    </a:lnTo>
                    <a:lnTo>
                      <a:pt x="86" y="36"/>
                    </a:lnTo>
                    <a:lnTo>
                      <a:pt x="14" y="115"/>
                    </a:lnTo>
                    <a:lnTo>
                      <a:pt x="14" y="97"/>
                    </a:lnTo>
                    <a:lnTo>
                      <a:pt x="81" y="20"/>
                    </a:lnTo>
                    <a:lnTo>
                      <a:pt x="78" y="15"/>
                    </a:lnTo>
                    <a:lnTo>
                      <a:pt x="75" y="7"/>
                    </a:lnTo>
                    <a:lnTo>
                      <a:pt x="74" y="0"/>
                    </a:lnTo>
                    <a:close/>
                  </a:path>
                </a:pathLst>
              </a:custGeom>
              <a:solidFill>
                <a:srgbClr val="C0C0C0"/>
              </a:solidFill>
              <a:ln w="9525">
                <a:solidFill>
                  <a:schemeClr val="tx1"/>
                </a:solidFill>
                <a:round/>
                <a:headEnd/>
                <a:tailEnd/>
              </a:ln>
            </p:spPr>
            <p:txBody>
              <a:bodyPr/>
              <a:lstStyle/>
              <a:p>
                <a:endParaRPr lang="sv-SE"/>
              </a:p>
            </p:txBody>
          </p:sp>
          <p:grpSp>
            <p:nvGrpSpPr>
              <p:cNvPr id="20684" name="Group 221"/>
              <p:cNvGrpSpPr>
                <a:grpSpLocks/>
              </p:cNvGrpSpPr>
              <p:nvPr/>
            </p:nvGrpSpPr>
            <p:grpSpPr bwMode="auto">
              <a:xfrm>
                <a:off x="3082" y="1263"/>
                <a:ext cx="528" cy="558"/>
                <a:chOff x="3082" y="1263"/>
                <a:chExt cx="528" cy="558"/>
              </a:xfrm>
            </p:grpSpPr>
            <p:sp>
              <p:nvSpPr>
                <p:cNvPr id="20524" name="Freeform 222"/>
                <p:cNvSpPr>
                  <a:spLocks/>
                </p:cNvSpPr>
                <p:nvPr/>
              </p:nvSpPr>
              <p:spPr bwMode="auto">
                <a:xfrm>
                  <a:off x="3125" y="1585"/>
                  <a:ext cx="485" cy="236"/>
                </a:xfrm>
                <a:custGeom>
                  <a:avLst/>
                  <a:gdLst>
                    <a:gd name="T0" fmla="*/ 0 w 485"/>
                    <a:gd name="T1" fmla="*/ 236 h 236"/>
                    <a:gd name="T2" fmla="*/ 276 w 485"/>
                    <a:gd name="T3" fmla="*/ 0 h 236"/>
                    <a:gd name="T4" fmla="*/ 485 w 485"/>
                    <a:gd name="T5" fmla="*/ 11 h 236"/>
                    <a:gd name="T6" fmla="*/ 369 w 485"/>
                    <a:gd name="T7" fmla="*/ 74 h 236"/>
                    <a:gd name="T8" fmla="*/ 389 w 485"/>
                    <a:gd name="T9" fmla="*/ 79 h 236"/>
                    <a:gd name="T10" fmla="*/ 261 w 485"/>
                    <a:gd name="T11" fmla="*/ 143 h 236"/>
                    <a:gd name="T12" fmla="*/ 282 w 485"/>
                    <a:gd name="T13" fmla="*/ 149 h 236"/>
                    <a:gd name="T14" fmla="*/ 144 w 485"/>
                    <a:gd name="T15" fmla="*/ 215 h 236"/>
                    <a:gd name="T16" fmla="*/ 0 w 485"/>
                    <a:gd name="T17" fmla="*/ 236 h 2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5"/>
                    <a:gd name="T28" fmla="*/ 0 h 236"/>
                    <a:gd name="T29" fmla="*/ 485 w 485"/>
                    <a:gd name="T30" fmla="*/ 236 h 2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5" h="236">
                      <a:moveTo>
                        <a:pt x="0" y="236"/>
                      </a:moveTo>
                      <a:lnTo>
                        <a:pt x="276" y="0"/>
                      </a:lnTo>
                      <a:lnTo>
                        <a:pt x="485" y="11"/>
                      </a:lnTo>
                      <a:lnTo>
                        <a:pt x="369" y="74"/>
                      </a:lnTo>
                      <a:lnTo>
                        <a:pt x="389" y="79"/>
                      </a:lnTo>
                      <a:lnTo>
                        <a:pt x="261" y="143"/>
                      </a:lnTo>
                      <a:lnTo>
                        <a:pt x="282" y="149"/>
                      </a:lnTo>
                      <a:lnTo>
                        <a:pt x="144" y="215"/>
                      </a:lnTo>
                      <a:lnTo>
                        <a:pt x="0" y="236"/>
                      </a:lnTo>
                      <a:close/>
                    </a:path>
                  </a:pathLst>
                </a:custGeom>
                <a:solidFill>
                  <a:srgbClr val="FFFF00"/>
                </a:solidFill>
                <a:ln w="9525">
                  <a:solidFill>
                    <a:schemeClr val="tx1"/>
                  </a:solidFill>
                  <a:round/>
                  <a:headEnd/>
                  <a:tailEnd/>
                </a:ln>
              </p:spPr>
              <p:txBody>
                <a:bodyPr/>
                <a:lstStyle/>
                <a:p>
                  <a:endParaRPr lang="sv-SE"/>
                </a:p>
              </p:txBody>
            </p:sp>
            <p:sp>
              <p:nvSpPr>
                <p:cNvPr id="20525" name="Freeform 223"/>
                <p:cNvSpPr>
                  <a:spLocks/>
                </p:cNvSpPr>
                <p:nvPr/>
              </p:nvSpPr>
              <p:spPr bwMode="auto">
                <a:xfrm>
                  <a:off x="3101" y="1507"/>
                  <a:ext cx="218" cy="282"/>
                </a:xfrm>
                <a:custGeom>
                  <a:avLst/>
                  <a:gdLst>
                    <a:gd name="T0" fmla="*/ 21 w 218"/>
                    <a:gd name="T1" fmla="*/ 237 h 282"/>
                    <a:gd name="T2" fmla="*/ 218 w 218"/>
                    <a:gd name="T3" fmla="*/ 0 h 282"/>
                    <a:gd name="T4" fmla="*/ 174 w 218"/>
                    <a:gd name="T5" fmla="*/ 93 h 282"/>
                    <a:gd name="T6" fmla="*/ 0 w 218"/>
                    <a:gd name="T7" fmla="*/ 282 h 282"/>
                    <a:gd name="T8" fmla="*/ 21 w 218"/>
                    <a:gd name="T9" fmla="*/ 237 h 282"/>
                    <a:gd name="T10" fmla="*/ 0 60000 65536"/>
                    <a:gd name="T11" fmla="*/ 0 60000 65536"/>
                    <a:gd name="T12" fmla="*/ 0 60000 65536"/>
                    <a:gd name="T13" fmla="*/ 0 60000 65536"/>
                    <a:gd name="T14" fmla="*/ 0 60000 65536"/>
                    <a:gd name="T15" fmla="*/ 0 w 218"/>
                    <a:gd name="T16" fmla="*/ 0 h 282"/>
                    <a:gd name="T17" fmla="*/ 218 w 218"/>
                    <a:gd name="T18" fmla="*/ 282 h 282"/>
                  </a:gdLst>
                  <a:ahLst/>
                  <a:cxnLst>
                    <a:cxn ang="T10">
                      <a:pos x="T0" y="T1"/>
                    </a:cxn>
                    <a:cxn ang="T11">
                      <a:pos x="T2" y="T3"/>
                    </a:cxn>
                    <a:cxn ang="T12">
                      <a:pos x="T4" y="T5"/>
                    </a:cxn>
                    <a:cxn ang="T13">
                      <a:pos x="T6" y="T7"/>
                    </a:cxn>
                    <a:cxn ang="T14">
                      <a:pos x="T8" y="T9"/>
                    </a:cxn>
                  </a:cxnLst>
                  <a:rect l="T15" t="T16" r="T17" b="T18"/>
                  <a:pathLst>
                    <a:path w="218" h="282">
                      <a:moveTo>
                        <a:pt x="21" y="237"/>
                      </a:moveTo>
                      <a:lnTo>
                        <a:pt x="218" y="0"/>
                      </a:lnTo>
                      <a:lnTo>
                        <a:pt x="174" y="93"/>
                      </a:lnTo>
                      <a:lnTo>
                        <a:pt x="0" y="282"/>
                      </a:lnTo>
                      <a:lnTo>
                        <a:pt x="21" y="237"/>
                      </a:lnTo>
                      <a:close/>
                    </a:path>
                  </a:pathLst>
                </a:custGeom>
                <a:solidFill>
                  <a:srgbClr val="FFFF00"/>
                </a:solidFill>
                <a:ln w="9525">
                  <a:solidFill>
                    <a:schemeClr val="tx1"/>
                  </a:solidFill>
                  <a:round/>
                  <a:headEnd/>
                  <a:tailEnd/>
                </a:ln>
              </p:spPr>
              <p:txBody>
                <a:bodyPr/>
                <a:lstStyle/>
                <a:p>
                  <a:endParaRPr lang="sv-SE"/>
                </a:p>
              </p:txBody>
            </p:sp>
            <p:sp>
              <p:nvSpPr>
                <p:cNvPr id="20526" name="Freeform 224"/>
                <p:cNvSpPr>
                  <a:spLocks/>
                </p:cNvSpPr>
                <p:nvPr/>
              </p:nvSpPr>
              <p:spPr bwMode="auto">
                <a:xfrm>
                  <a:off x="3082" y="1263"/>
                  <a:ext cx="195" cy="502"/>
                </a:xfrm>
                <a:custGeom>
                  <a:avLst/>
                  <a:gdLst>
                    <a:gd name="T0" fmla="*/ 0 w 195"/>
                    <a:gd name="T1" fmla="*/ 502 h 502"/>
                    <a:gd name="T2" fmla="*/ 195 w 195"/>
                    <a:gd name="T3" fmla="*/ 235 h 502"/>
                    <a:gd name="T4" fmla="*/ 190 w 195"/>
                    <a:gd name="T5" fmla="*/ 0 h 502"/>
                    <a:gd name="T6" fmla="*/ 143 w 195"/>
                    <a:gd name="T7" fmla="*/ 101 h 502"/>
                    <a:gd name="T8" fmla="*/ 135 w 195"/>
                    <a:gd name="T9" fmla="*/ 136 h 502"/>
                    <a:gd name="T10" fmla="*/ 120 w 195"/>
                    <a:gd name="T11" fmla="*/ 117 h 502"/>
                    <a:gd name="T12" fmla="*/ 79 w 195"/>
                    <a:gd name="T13" fmla="*/ 247 h 502"/>
                    <a:gd name="T14" fmla="*/ 73 w 195"/>
                    <a:gd name="T15" fmla="*/ 224 h 502"/>
                    <a:gd name="T16" fmla="*/ 18 w 195"/>
                    <a:gd name="T17" fmla="*/ 354 h 502"/>
                    <a:gd name="T18" fmla="*/ 0 w 195"/>
                    <a:gd name="T19" fmla="*/ 502 h 5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5"/>
                    <a:gd name="T31" fmla="*/ 0 h 502"/>
                    <a:gd name="T32" fmla="*/ 195 w 195"/>
                    <a:gd name="T33" fmla="*/ 502 h 50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5" h="502">
                      <a:moveTo>
                        <a:pt x="0" y="502"/>
                      </a:moveTo>
                      <a:lnTo>
                        <a:pt x="195" y="235"/>
                      </a:lnTo>
                      <a:lnTo>
                        <a:pt x="190" y="0"/>
                      </a:lnTo>
                      <a:lnTo>
                        <a:pt x="143" y="101"/>
                      </a:lnTo>
                      <a:lnTo>
                        <a:pt x="135" y="136"/>
                      </a:lnTo>
                      <a:lnTo>
                        <a:pt x="120" y="117"/>
                      </a:lnTo>
                      <a:lnTo>
                        <a:pt x="79" y="247"/>
                      </a:lnTo>
                      <a:lnTo>
                        <a:pt x="73" y="224"/>
                      </a:lnTo>
                      <a:lnTo>
                        <a:pt x="18" y="354"/>
                      </a:lnTo>
                      <a:lnTo>
                        <a:pt x="0" y="502"/>
                      </a:lnTo>
                      <a:close/>
                    </a:path>
                  </a:pathLst>
                </a:custGeom>
                <a:solidFill>
                  <a:srgbClr val="FFFF00"/>
                </a:solidFill>
                <a:ln w="9525">
                  <a:solidFill>
                    <a:schemeClr val="tx1"/>
                  </a:solidFill>
                  <a:round/>
                  <a:headEnd/>
                  <a:tailEnd/>
                </a:ln>
              </p:spPr>
              <p:txBody>
                <a:bodyPr/>
                <a:lstStyle/>
                <a:p>
                  <a:endParaRPr lang="sv-SE"/>
                </a:p>
              </p:txBody>
            </p:sp>
          </p:grpSp>
          <p:sp>
            <p:nvSpPr>
              <p:cNvPr id="20521" name="Freeform 225"/>
              <p:cNvSpPr>
                <a:spLocks/>
              </p:cNvSpPr>
              <p:nvPr/>
            </p:nvSpPr>
            <p:spPr bwMode="auto">
              <a:xfrm>
                <a:off x="3015" y="1742"/>
                <a:ext cx="151" cy="164"/>
              </a:xfrm>
              <a:custGeom>
                <a:avLst/>
                <a:gdLst>
                  <a:gd name="T0" fmla="*/ 69 w 151"/>
                  <a:gd name="T1" fmla="*/ 0 h 164"/>
                  <a:gd name="T2" fmla="*/ 67 w 151"/>
                  <a:gd name="T3" fmla="*/ 17 h 164"/>
                  <a:gd name="T4" fmla="*/ 65 w 151"/>
                  <a:gd name="T5" fmla="*/ 29 h 164"/>
                  <a:gd name="T6" fmla="*/ 67 w 151"/>
                  <a:gd name="T7" fmla="*/ 41 h 164"/>
                  <a:gd name="T8" fmla="*/ 72 w 151"/>
                  <a:gd name="T9" fmla="*/ 51 h 164"/>
                  <a:gd name="T10" fmla="*/ 79 w 151"/>
                  <a:gd name="T11" fmla="*/ 63 h 164"/>
                  <a:gd name="T12" fmla="*/ 89 w 151"/>
                  <a:gd name="T13" fmla="*/ 74 h 164"/>
                  <a:gd name="T14" fmla="*/ 99 w 151"/>
                  <a:gd name="T15" fmla="*/ 82 h 164"/>
                  <a:gd name="T16" fmla="*/ 113 w 151"/>
                  <a:gd name="T17" fmla="*/ 86 h 164"/>
                  <a:gd name="T18" fmla="*/ 127 w 151"/>
                  <a:gd name="T19" fmla="*/ 89 h 164"/>
                  <a:gd name="T20" fmla="*/ 139 w 151"/>
                  <a:gd name="T21" fmla="*/ 88 h 164"/>
                  <a:gd name="T22" fmla="*/ 151 w 151"/>
                  <a:gd name="T23" fmla="*/ 86 h 164"/>
                  <a:gd name="T24" fmla="*/ 67 w 151"/>
                  <a:gd name="T25" fmla="*/ 161 h 164"/>
                  <a:gd name="T26" fmla="*/ 56 w 151"/>
                  <a:gd name="T27" fmla="*/ 164 h 164"/>
                  <a:gd name="T28" fmla="*/ 44 w 151"/>
                  <a:gd name="T29" fmla="*/ 164 h 164"/>
                  <a:gd name="T30" fmla="*/ 34 w 151"/>
                  <a:gd name="T31" fmla="*/ 161 h 164"/>
                  <a:gd name="T32" fmla="*/ 24 w 151"/>
                  <a:gd name="T33" fmla="*/ 156 h 164"/>
                  <a:gd name="T34" fmla="*/ 14 w 151"/>
                  <a:gd name="T35" fmla="*/ 149 h 164"/>
                  <a:gd name="T36" fmla="*/ 6 w 151"/>
                  <a:gd name="T37" fmla="*/ 139 h 164"/>
                  <a:gd name="T38" fmla="*/ 2 w 151"/>
                  <a:gd name="T39" fmla="*/ 127 h 164"/>
                  <a:gd name="T40" fmla="*/ 0 w 151"/>
                  <a:gd name="T41" fmla="*/ 116 h 164"/>
                  <a:gd name="T42" fmla="*/ 0 w 151"/>
                  <a:gd name="T43" fmla="*/ 104 h 164"/>
                  <a:gd name="T44" fmla="*/ 3 w 151"/>
                  <a:gd name="T45" fmla="*/ 90 h 164"/>
                  <a:gd name="T46" fmla="*/ 69 w 151"/>
                  <a:gd name="T47" fmla="*/ 0 h 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1"/>
                  <a:gd name="T73" fmla="*/ 0 h 164"/>
                  <a:gd name="T74" fmla="*/ 151 w 151"/>
                  <a:gd name="T75" fmla="*/ 164 h 16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1" h="164">
                    <a:moveTo>
                      <a:pt x="69" y="0"/>
                    </a:moveTo>
                    <a:lnTo>
                      <a:pt x="67" y="17"/>
                    </a:lnTo>
                    <a:lnTo>
                      <a:pt x="65" y="29"/>
                    </a:lnTo>
                    <a:lnTo>
                      <a:pt x="67" y="41"/>
                    </a:lnTo>
                    <a:lnTo>
                      <a:pt x="72" y="51"/>
                    </a:lnTo>
                    <a:lnTo>
                      <a:pt x="79" y="63"/>
                    </a:lnTo>
                    <a:lnTo>
                      <a:pt x="89" y="74"/>
                    </a:lnTo>
                    <a:lnTo>
                      <a:pt x="99" y="82"/>
                    </a:lnTo>
                    <a:lnTo>
                      <a:pt x="113" y="86"/>
                    </a:lnTo>
                    <a:lnTo>
                      <a:pt x="127" y="89"/>
                    </a:lnTo>
                    <a:lnTo>
                      <a:pt x="139" y="88"/>
                    </a:lnTo>
                    <a:lnTo>
                      <a:pt x="151" y="86"/>
                    </a:lnTo>
                    <a:lnTo>
                      <a:pt x="67" y="161"/>
                    </a:lnTo>
                    <a:lnTo>
                      <a:pt x="56" y="164"/>
                    </a:lnTo>
                    <a:lnTo>
                      <a:pt x="44" y="164"/>
                    </a:lnTo>
                    <a:lnTo>
                      <a:pt x="34" y="161"/>
                    </a:lnTo>
                    <a:lnTo>
                      <a:pt x="24" y="156"/>
                    </a:lnTo>
                    <a:lnTo>
                      <a:pt x="14" y="149"/>
                    </a:lnTo>
                    <a:lnTo>
                      <a:pt x="6" y="139"/>
                    </a:lnTo>
                    <a:lnTo>
                      <a:pt x="2" y="127"/>
                    </a:lnTo>
                    <a:lnTo>
                      <a:pt x="0" y="116"/>
                    </a:lnTo>
                    <a:lnTo>
                      <a:pt x="0" y="104"/>
                    </a:lnTo>
                    <a:lnTo>
                      <a:pt x="3" y="90"/>
                    </a:lnTo>
                    <a:lnTo>
                      <a:pt x="69" y="0"/>
                    </a:lnTo>
                    <a:close/>
                  </a:path>
                </a:pathLst>
              </a:custGeom>
              <a:solidFill>
                <a:srgbClr val="FFFF00"/>
              </a:solidFill>
              <a:ln w="9525">
                <a:solidFill>
                  <a:schemeClr val="tx1"/>
                </a:solidFill>
                <a:round/>
                <a:headEnd/>
                <a:tailEnd/>
              </a:ln>
            </p:spPr>
            <p:txBody>
              <a:bodyPr/>
              <a:lstStyle/>
              <a:p>
                <a:endParaRPr lang="sv-SE"/>
              </a:p>
            </p:txBody>
          </p:sp>
          <p:sp>
            <p:nvSpPr>
              <p:cNvPr id="20522" name="Freeform 226"/>
              <p:cNvSpPr>
                <a:spLocks/>
              </p:cNvSpPr>
              <p:nvPr/>
            </p:nvSpPr>
            <p:spPr bwMode="auto">
              <a:xfrm>
                <a:off x="3031" y="1788"/>
                <a:ext cx="89" cy="102"/>
              </a:xfrm>
              <a:custGeom>
                <a:avLst/>
                <a:gdLst>
                  <a:gd name="T0" fmla="*/ 20 w 89"/>
                  <a:gd name="T1" fmla="*/ 0 h 102"/>
                  <a:gd name="T2" fmla="*/ 17 w 89"/>
                  <a:gd name="T3" fmla="*/ 10 h 102"/>
                  <a:gd name="T4" fmla="*/ 15 w 89"/>
                  <a:gd name="T5" fmla="*/ 22 h 102"/>
                  <a:gd name="T6" fmla="*/ 14 w 89"/>
                  <a:gd name="T7" fmla="*/ 33 h 102"/>
                  <a:gd name="T8" fmla="*/ 14 w 89"/>
                  <a:gd name="T9" fmla="*/ 43 h 102"/>
                  <a:gd name="T10" fmla="*/ 16 w 89"/>
                  <a:gd name="T11" fmla="*/ 57 h 102"/>
                  <a:gd name="T12" fmla="*/ 21 w 89"/>
                  <a:gd name="T13" fmla="*/ 69 h 102"/>
                  <a:gd name="T14" fmla="*/ 28 w 89"/>
                  <a:gd name="T15" fmla="*/ 76 h 102"/>
                  <a:gd name="T16" fmla="*/ 41 w 89"/>
                  <a:gd name="T17" fmla="*/ 82 h 102"/>
                  <a:gd name="T18" fmla="*/ 57 w 89"/>
                  <a:gd name="T19" fmla="*/ 85 h 102"/>
                  <a:gd name="T20" fmla="*/ 72 w 89"/>
                  <a:gd name="T21" fmla="*/ 84 h 102"/>
                  <a:gd name="T22" fmla="*/ 89 w 89"/>
                  <a:gd name="T23" fmla="*/ 80 h 102"/>
                  <a:gd name="T24" fmla="*/ 69 w 89"/>
                  <a:gd name="T25" fmla="*/ 99 h 102"/>
                  <a:gd name="T26" fmla="*/ 58 w 89"/>
                  <a:gd name="T27" fmla="*/ 102 h 102"/>
                  <a:gd name="T28" fmla="*/ 44 w 89"/>
                  <a:gd name="T29" fmla="*/ 101 h 102"/>
                  <a:gd name="T30" fmla="*/ 32 w 89"/>
                  <a:gd name="T31" fmla="*/ 98 h 102"/>
                  <a:gd name="T32" fmla="*/ 22 w 89"/>
                  <a:gd name="T33" fmla="*/ 93 h 102"/>
                  <a:gd name="T34" fmla="*/ 14 w 89"/>
                  <a:gd name="T35" fmla="*/ 85 h 102"/>
                  <a:gd name="T36" fmla="*/ 6 w 89"/>
                  <a:gd name="T37" fmla="*/ 76 h 102"/>
                  <a:gd name="T38" fmla="*/ 2 w 89"/>
                  <a:gd name="T39" fmla="*/ 65 h 102"/>
                  <a:gd name="T40" fmla="*/ 0 w 89"/>
                  <a:gd name="T41" fmla="*/ 52 h 102"/>
                  <a:gd name="T42" fmla="*/ 0 w 89"/>
                  <a:gd name="T43" fmla="*/ 40 h 102"/>
                  <a:gd name="T44" fmla="*/ 3 w 89"/>
                  <a:gd name="T45" fmla="*/ 25 h 102"/>
                  <a:gd name="T46" fmla="*/ 20 w 89"/>
                  <a:gd name="T47" fmla="*/ 0 h 10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9"/>
                  <a:gd name="T73" fmla="*/ 0 h 102"/>
                  <a:gd name="T74" fmla="*/ 89 w 89"/>
                  <a:gd name="T75" fmla="*/ 102 h 10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9" h="102">
                    <a:moveTo>
                      <a:pt x="20" y="0"/>
                    </a:moveTo>
                    <a:lnTo>
                      <a:pt x="17" y="10"/>
                    </a:lnTo>
                    <a:lnTo>
                      <a:pt x="15" y="22"/>
                    </a:lnTo>
                    <a:lnTo>
                      <a:pt x="14" y="33"/>
                    </a:lnTo>
                    <a:lnTo>
                      <a:pt x="14" y="43"/>
                    </a:lnTo>
                    <a:lnTo>
                      <a:pt x="16" y="57"/>
                    </a:lnTo>
                    <a:lnTo>
                      <a:pt x="21" y="69"/>
                    </a:lnTo>
                    <a:lnTo>
                      <a:pt x="28" y="76"/>
                    </a:lnTo>
                    <a:lnTo>
                      <a:pt x="41" y="82"/>
                    </a:lnTo>
                    <a:lnTo>
                      <a:pt x="57" y="85"/>
                    </a:lnTo>
                    <a:lnTo>
                      <a:pt x="72" y="84"/>
                    </a:lnTo>
                    <a:lnTo>
                      <a:pt x="89" y="80"/>
                    </a:lnTo>
                    <a:lnTo>
                      <a:pt x="69" y="99"/>
                    </a:lnTo>
                    <a:lnTo>
                      <a:pt x="58" y="102"/>
                    </a:lnTo>
                    <a:lnTo>
                      <a:pt x="44" y="101"/>
                    </a:lnTo>
                    <a:lnTo>
                      <a:pt x="32" y="98"/>
                    </a:lnTo>
                    <a:lnTo>
                      <a:pt x="22" y="93"/>
                    </a:lnTo>
                    <a:lnTo>
                      <a:pt x="14" y="85"/>
                    </a:lnTo>
                    <a:lnTo>
                      <a:pt x="6" y="76"/>
                    </a:lnTo>
                    <a:lnTo>
                      <a:pt x="2" y="65"/>
                    </a:lnTo>
                    <a:lnTo>
                      <a:pt x="0" y="52"/>
                    </a:lnTo>
                    <a:lnTo>
                      <a:pt x="0" y="40"/>
                    </a:lnTo>
                    <a:lnTo>
                      <a:pt x="3" y="25"/>
                    </a:lnTo>
                    <a:lnTo>
                      <a:pt x="20" y="0"/>
                    </a:lnTo>
                    <a:close/>
                  </a:path>
                </a:pathLst>
              </a:custGeom>
              <a:solidFill>
                <a:srgbClr val="FF0000"/>
              </a:solidFill>
              <a:ln w="9525">
                <a:solidFill>
                  <a:schemeClr val="tx1"/>
                </a:solidFill>
                <a:round/>
                <a:headEnd/>
                <a:tailEnd/>
              </a:ln>
            </p:spPr>
            <p:txBody>
              <a:bodyPr/>
              <a:lstStyle/>
              <a:p>
                <a:endParaRPr lang="sv-SE"/>
              </a:p>
            </p:txBody>
          </p:sp>
          <p:sp>
            <p:nvSpPr>
              <p:cNvPr id="20523" name="Freeform 227"/>
              <p:cNvSpPr>
                <a:spLocks/>
              </p:cNvSpPr>
              <p:nvPr/>
            </p:nvSpPr>
            <p:spPr bwMode="auto">
              <a:xfrm>
                <a:off x="2841" y="2024"/>
                <a:ext cx="67" cy="74"/>
              </a:xfrm>
              <a:custGeom>
                <a:avLst/>
                <a:gdLst>
                  <a:gd name="T0" fmla="*/ 36 w 67"/>
                  <a:gd name="T1" fmla="*/ 0 h 74"/>
                  <a:gd name="T2" fmla="*/ 2 w 67"/>
                  <a:gd name="T3" fmla="*/ 45 h 74"/>
                  <a:gd name="T4" fmla="*/ 0 w 67"/>
                  <a:gd name="T5" fmla="*/ 52 h 74"/>
                  <a:gd name="T6" fmla="*/ 1 w 67"/>
                  <a:gd name="T7" fmla="*/ 60 h 74"/>
                  <a:gd name="T8" fmla="*/ 4 w 67"/>
                  <a:gd name="T9" fmla="*/ 67 h 74"/>
                  <a:gd name="T10" fmla="*/ 9 w 67"/>
                  <a:gd name="T11" fmla="*/ 72 h 74"/>
                  <a:gd name="T12" fmla="*/ 17 w 67"/>
                  <a:gd name="T13" fmla="*/ 74 h 74"/>
                  <a:gd name="T14" fmla="*/ 25 w 67"/>
                  <a:gd name="T15" fmla="*/ 73 h 74"/>
                  <a:gd name="T16" fmla="*/ 67 w 67"/>
                  <a:gd name="T17" fmla="*/ 35 h 74"/>
                  <a:gd name="T18" fmla="*/ 58 w 67"/>
                  <a:gd name="T19" fmla="*/ 32 h 74"/>
                  <a:gd name="T20" fmla="*/ 50 w 67"/>
                  <a:gd name="T21" fmla="*/ 27 h 74"/>
                  <a:gd name="T22" fmla="*/ 44 w 67"/>
                  <a:gd name="T23" fmla="*/ 21 h 74"/>
                  <a:gd name="T24" fmla="*/ 40 w 67"/>
                  <a:gd name="T25" fmla="*/ 15 h 74"/>
                  <a:gd name="T26" fmla="*/ 37 w 67"/>
                  <a:gd name="T27" fmla="*/ 8 h 74"/>
                  <a:gd name="T28" fmla="*/ 36 w 67"/>
                  <a:gd name="T29" fmla="*/ 0 h 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7"/>
                  <a:gd name="T46" fmla="*/ 0 h 74"/>
                  <a:gd name="T47" fmla="*/ 67 w 67"/>
                  <a:gd name="T48" fmla="*/ 74 h 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7" h="74">
                    <a:moveTo>
                      <a:pt x="36" y="0"/>
                    </a:moveTo>
                    <a:lnTo>
                      <a:pt x="2" y="45"/>
                    </a:lnTo>
                    <a:lnTo>
                      <a:pt x="0" y="52"/>
                    </a:lnTo>
                    <a:lnTo>
                      <a:pt x="1" y="60"/>
                    </a:lnTo>
                    <a:lnTo>
                      <a:pt x="4" y="67"/>
                    </a:lnTo>
                    <a:lnTo>
                      <a:pt x="9" y="72"/>
                    </a:lnTo>
                    <a:lnTo>
                      <a:pt x="17" y="74"/>
                    </a:lnTo>
                    <a:lnTo>
                      <a:pt x="25" y="73"/>
                    </a:lnTo>
                    <a:lnTo>
                      <a:pt x="67" y="35"/>
                    </a:lnTo>
                    <a:lnTo>
                      <a:pt x="58" y="32"/>
                    </a:lnTo>
                    <a:lnTo>
                      <a:pt x="50" y="27"/>
                    </a:lnTo>
                    <a:lnTo>
                      <a:pt x="44" y="21"/>
                    </a:lnTo>
                    <a:lnTo>
                      <a:pt x="40" y="15"/>
                    </a:lnTo>
                    <a:lnTo>
                      <a:pt x="37" y="8"/>
                    </a:lnTo>
                    <a:lnTo>
                      <a:pt x="36" y="0"/>
                    </a:lnTo>
                    <a:close/>
                  </a:path>
                </a:pathLst>
              </a:custGeom>
              <a:solidFill>
                <a:srgbClr val="FFFF00"/>
              </a:solidFill>
              <a:ln w="9525">
                <a:solidFill>
                  <a:schemeClr val="tx1"/>
                </a:solidFill>
                <a:round/>
                <a:headEnd/>
                <a:tailEnd/>
              </a:ln>
            </p:spPr>
            <p:txBody>
              <a:bodyPr/>
              <a:lstStyle/>
              <a:p>
                <a:endParaRPr lang="sv-SE"/>
              </a:p>
            </p:txBody>
          </p:sp>
        </p:grpSp>
        <p:grpSp>
          <p:nvGrpSpPr>
            <p:cNvPr id="20702" name="Group 228"/>
            <p:cNvGrpSpPr>
              <a:grpSpLocks/>
            </p:cNvGrpSpPr>
            <p:nvPr/>
          </p:nvGrpSpPr>
          <p:grpSpPr bwMode="auto">
            <a:xfrm>
              <a:off x="276" y="2974"/>
              <a:ext cx="504" cy="257"/>
              <a:chOff x="2912" y="1764"/>
              <a:chExt cx="942" cy="497"/>
            </a:xfrm>
          </p:grpSpPr>
          <p:grpSp>
            <p:nvGrpSpPr>
              <p:cNvPr id="20480" name="Group 229"/>
              <p:cNvGrpSpPr>
                <a:grpSpLocks/>
              </p:cNvGrpSpPr>
              <p:nvPr/>
            </p:nvGrpSpPr>
            <p:grpSpPr bwMode="auto">
              <a:xfrm>
                <a:off x="2912" y="1764"/>
                <a:ext cx="942" cy="497"/>
                <a:chOff x="2912" y="1764"/>
                <a:chExt cx="942" cy="497"/>
              </a:xfrm>
            </p:grpSpPr>
            <p:grpSp>
              <p:nvGrpSpPr>
                <p:cNvPr id="20481" name="Group 230"/>
                <p:cNvGrpSpPr>
                  <a:grpSpLocks/>
                </p:cNvGrpSpPr>
                <p:nvPr/>
              </p:nvGrpSpPr>
              <p:grpSpPr bwMode="auto">
                <a:xfrm>
                  <a:off x="2912" y="1910"/>
                  <a:ext cx="925" cy="351"/>
                  <a:chOff x="2912" y="1910"/>
                  <a:chExt cx="925" cy="351"/>
                </a:xfrm>
              </p:grpSpPr>
              <p:grpSp>
                <p:nvGrpSpPr>
                  <p:cNvPr id="20482" name="Group 231"/>
                  <p:cNvGrpSpPr>
                    <a:grpSpLocks/>
                  </p:cNvGrpSpPr>
                  <p:nvPr/>
                </p:nvGrpSpPr>
                <p:grpSpPr bwMode="auto">
                  <a:xfrm>
                    <a:off x="2912" y="2131"/>
                    <a:ext cx="58" cy="130"/>
                    <a:chOff x="2912" y="2131"/>
                    <a:chExt cx="58" cy="130"/>
                  </a:xfrm>
                </p:grpSpPr>
                <p:sp>
                  <p:nvSpPr>
                    <p:cNvPr id="20509" name="Freeform 232"/>
                    <p:cNvSpPr>
                      <a:spLocks/>
                    </p:cNvSpPr>
                    <p:nvPr/>
                  </p:nvSpPr>
                  <p:spPr bwMode="auto">
                    <a:xfrm>
                      <a:off x="2954" y="2131"/>
                      <a:ext cx="16" cy="130"/>
                    </a:xfrm>
                    <a:custGeom>
                      <a:avLst/>
                      <a:gdLst>
                        <a:gd name="T0" fmla="*/ 4 w 16"/>
                        <a:gd name="T1" fmla="*/ 0 h 130"/>
                        <a:gd name="T2" fmla="*/ 0 w 16"/>
                        <a:gd name="T3" fmla="*/ 71 h 130"/>
                        <a:gd name="T4" fmla="*/ 16 w 16"/>
                        <a:gd name="T5" fmla="*/ 130 h 130"/>
                        <a:gd name="T6" fmla="*/ 16 w 16"/>
                        <a:gd name="T7" fmla="*/ 67 h 130"/>
                        <a:gd name="T8" fmla="*/ 4 w 16"/>
                        <a:gd name="T9" fmla="*/ 0 h 130"/>
                        <a:gd name="T10" fmla="*/ 0 60000 65536"/>
                        <a:gd name="T11" fmla="*/ 0 60000 65536"/>
                        <a:gd name="T12" fmla="*/ 0 60000 65536"/>
                        <a:gd name="T13" fmla="*/ 0 60000 65536"/>
                        <a:gd name="T14" fmla="*/ 0 60000 65536"/>
                        <a:gd name="T15" fmla="*/ 0 w 16"/>
                        <a:gd name="T16" fmla="*/ 0 h 130"/>
                        <a:gd name="T17" fmla="*/ 16 w 16"/>
                        <a:gd name="T18" fmla="*/ 130 h 130"/>
                      </a:gdLst>
                      <a:ahLst/>
                      <a:cxnLst>
                        <a:cxn ang="T10">
                          <a:pos x="T0" y="T1"/>
                        </a:cxn>
                        <a:cxn ang="T11">
                          <a:pos x="T2" y="T3"/>
                        </a:cxn>
                        <a:cxn ang="T12">
                          <a:pos x="T4" y="T5"/>
                        </a:cxn>
                        <a:cxn ang="T13">
                          <a:pos x="T6" y="T7"/>
                        </a:cxn>
                        <a:cxn ang="T14">
                          <a:pos x="T8" y="T9"/>
                        </a:cxn>
                      </a:cxnLst>
                      <a:rect l="T15" t="T16" r="T17" b="T18"/>
                      <a:pathLst>
                        <a:path w="16" h="130">
                          <a:moveTo>
                            <a:pt x="4" y="0"/>
                          </a:moveTo>
                          <a:lnTo>
                            <a:pt x="0" y="71"/>
                          </a:lnTo>
                          <a:lnTo>
                            <a:pt x="16" y="130"/>
                          </a:lnTo>
                          <a:lnTo>
                            <a:pt x="16" y="67"/>
                          </a:lnTo>
                          <a:lnTo>
                            <a:pt x="4" y="0"/>
                          </a:lnTo>
                          <a:close/>
                        </a:path>
                      </a:pathLst>
                    </a:custGeom>
                    <a:solidFill>
                      <a:srgbClr val="9F9F9F"/>
                    </a:solidFill>
                    <a:ln w="9525">
                      <a:solidFill>
                        <a:schemeClr val="tx1"/>
                      </a:solidFill>
                      <a:round/>
                      <a:headEnd/>
                      <a:tailEnd/>
                    </a:ln>
                  </p:spPr>
                  <p:txBody>
                    <a:bodyPr/>
                    <a:lstStyle/>
                    <a:p>
                      <a:endParaRPr lang="sv-SE"/>
                    </a:p>
                  </p:txBody>
                </p:sp>
                <p:sp>
                  <p:nvSpPr>
                    <p:cNvPr id="20510" name="Freeform 233"/>
                    <p:cNvSpPr>
                      <a:spLocks/>
                    </p:cNvSpPr>
                    <p:nvPr/>
                  </p:nvSpPr>
                  <p:spPr bwMode="auto">
                    <a:xfrm>
                      <a:off x="2912" y="2131"/>
                      <a:ext cx="45" cy="79"/>
                    </a:xfrm>
                    <a:custGeom>
                      <a:avLst/>
                      <a:gdLst>
                        <a:gd name="T0" fmla="*/ 45 w 45"/>
                        <a:gd name="T1" fmla="*/ 0 h 79"/>
                        <a:gd name="T2" fmla="*/ 41 w 45"/>
                        <a:gd name="T3" fmla="*/ 69 h 79"/>
                        <a:gd name="T4" fmla="*/ 0 w 45"/>
                        <a:gd name="T5" fmla="*/ 79 h 79"/>
                        <a:gd name="T6" fmla="*/ 0 w 45"/>
                        <a:gd name="T7" fmla="*/ 53 h 79"/>
                        <a:gd name="T8" fmla="*/ 45 w 45"/>
                        <a:gd name="T9" fmla="*/ 0 h 79"/>
                        <a:gd name="T10" fmla="*/ 0 60000 65536"/>
                        <a:gd name="T11" fmla="*/ 0 60000 65536"/>
                        <a:gd name="T12" fmla="*/ 0 60000 65536"/>
                        <a:gd name="T13" fmla="*/ 0 60000 65536"/>
                        <a:gd name="T14" fmla="*/ 0 60000 65536"/>
                        <a:gd name="T15" fmla="*/ 0 w 45"/>
                        <a:gd name="T16" fmla="*/ 0 h 79"/>
                        <a:gd name="T17" fmla="*/ 45 w 45"/>
                        <a:gd name="T18" fmla="*/ 79 h 79"/>
                      </a:gdLst>
                      <a:ahLst/>
                      <a:cxnLst>
                        <a:cxn ang="T10">
                          <a:pos x="T0" y="T1"/>
                        </a:cxn>
                        <a:cxn ang="T11">
                          <a:pos x="T2" y="T3"/>
                        </a:cxn>
                        <a:cxn ang="T12">
                          <a:pos x="T4" y="T5"/>
                        </a:cxn>
                        <a:cxn ang="T13">
                          <a:pos x="T6" y="T7"/>
                        </a:cxn>
                        <a:cxn ang="T14">
                          <a:pos x="T8" y="T9"/>
                        </a:cxn>
                      </a:cxnLst>
                      <a:rect l="T15" t="T16" r="T17" b="T18"/>
                      <a:pathLst>
                        <a:path w="45" h="79">
                          <a:moveTo>
                            <a:pt x="45" y="0"/>
                          </a:moveTo>
                          <a:lnTo>
                            <a:pt x="41" y="69"/>
                          </a:lnTo>
                          <a:lnTo>
                            <a:pt x="0" y="79"/>
                          </a:lnTo>
                          <a:lnTo>
                            <a:pt x="0" y="53"/>
                          </a:lnTo>
                          <a:lnTo>
                            <a:pt x="45" y="0"/>
                          </a:lnTo>
                          <a:close/>
                        </a:path>
                      </a:pathLst>
                    </a:custGeom>
                    <a:solidFill>
                      <a:srgbClr val="5F5F5F"/>
                    </a:solidFill>
                    <a:ln w="9525">
                      <a:solidFill>
                        <a:schemeClr val="tx1"/>
                      </a:solidFill>
                      <a:round/>
                      <a:headEnd/>
                      <a:tailEnd/>
                    </a:ln>
                  </p:spPr>
                  <p:txBody>
                    <a:bodyPr/>
                    <a:lstStyle/>
                    <a:p>
                      <a:endParaRPr lang="sv-SE"/>
                    </a:p>
                  </p:txBody>
                </p:sp>
                <p:sp>
                  <p:nvSpPr>
                    <p:cNvPr id="20511" name="Freeform 234"/>
                    <p:cNvSpPr>
                      <a:spLocks/>
                    </p:cNvSpPr>
                    <p:nvPr/>
                  </p:nvSpPr>
                  <p:spPr bwMode="auto">
                    <a:xfrm>
                      <a:off x="2912" y="2202"/>
                      <a:ext cx="58" cy="58"/>
                    </a:xfrm>
                    <a:custGeom>
                      <a:avLst/>
                      <a:gdLst>
                        <a:gd name="T0" fmla="*/ 0 w 58"/>
                        <a:gd name="T1" fmla="*/ 10 h 58"/>
                        <a:gd name="T2" fmla="*/ 42 w 58"/>
                        <a:gd name="T3" fmla="*/ 0 h 58"/>
                        <a:gd name="T4" fmla="*/ 58 w 58"/>
                        <a:gd name="T5" fmla="*/ 58 h 58"/>
                        <a:gd name="T6" fmla="*/ 7 w 58"/>
                        <a:gd name="T7" fmla="*/ 31 h 58"/>
                        <a:gd name="T8" fmla="*/ 0 w 58"/>
                        <a:gd name="T9" fmla="*/ 10 h 58"/>
                        <a:gd name="T10" fmla="*/ 0 60000 65536"/>
                        <a:gd name="T11" fmla="*/ 0 60000 65536"/>
                        <a:gd name="T12" fmla="*/ 0 60000 65536"/>
                        <a:gd name="T13" fmla="*/ 0 60000 65536"/>
                        <a:gd name="T14" fmla="*/ 0 60000 65536"/>
                        <a:gd name="T15" fmla="*/ 0 w 58"/>
                        <a:gd name="T16" fmla="*/ 0 h 58"/>
                        <a:gd name="T17" fmla="*/ 58 w 58"/>
                        <a:gd name="T18" fmla="*/ 58 h 58"/>
                      </a:gdLst>
                      <a:ahLst/>
                      <a:cxnLst>
                        <a:cxn ang="T10">
                          <a:pos x="T0" y="T1"/>
                        </a:cxn>
                        <a:cxn ang="T11">
                          <a:pos x="T2" y="T3"/>
                        </a:cxn>
                        <a:cxn ang="T12">
                          <a:pos x="T4" y="T5"/>
                        </a:cxn>
                        <a:cxn ang="T13">
                          <a:pos x="T6" y="T7"/>
                        </a:cxn>
                        <a:cxn ang="T14">
                          <a:pos x="T8" y="T9"/>
                        </a:cxn>
                      </a:cxnLst>
                      <a:rect l="T15" t="T16" r="T17" b="T18"/>
                      <a:pathLst>
                        <a:path w="58" h="58">
                          <a:moveTo>
                            <a:pt x="0" y="10"/>
                          </a:moveTo>
                          <a:lnTo>
                            <a:pt x="42" y="0"/>
                          </a:lnTo>
                          <a:lnTo>
                            <a:pt x="58" y="58"/>
                          </a:lnTo>
                          <a:lnTo>
                            <a:pt x="7" y="31"/>
                          </a:lnTo>
                          <a:lnTo>
                            <a:pt x="0" y="10"/>
                          </a:lnTo>
                          <a:close/>
                        </a:path>
                      </a:pathLst>
                    </a:custGeom>
                    <a:solidFill>
                      <a:srgbClr val="3F3F3F"/>
                    </a:solidFill>
                    <a:ln w="9525">
                      <a:solidFill>
                        <a:schemeClr val="tx1"/>
                      </a:solidFill>
                      <a:round/>
                      <a:headEnd/>
                      <a:tailEnd/>
                    </a:ln>
                  </p:spPr>
                  <p:txBody>
                    <a:bodyPr/>
                    <a:lstStyle/>
                    <a:p>
                      <a:endParaRPr lang="sv-SE"/>
                    </a:p>
                  </p:txBody>
                </p:sp>
              </p:grpSp>
              <p:sp>
                <p:nvSpPr>
                  <p:cNvPr id="20503" name="Freeform 235"/>
                  <p:cNvSpPr>
                    <a:spLocks/>
                  </p:cNvSpPr>
                  <p:nvPr/>
                </p:nvSpPr>
                <p:spPr bwMode="auto">
                  <a:xfrm>
                    <a:off x="2944" y="1925"/>
                    <a:ext cx="786" cy="296"/>
                  </a:xfrm>
                  <a:custGeom>
                    <a:avLst/>
                    <a:gdLst>
                      <a:gd name="T0" fmla="*/ 14 w 786"/>
                      <a:gd name="T1" fmla="*/ 296 h 296"/>
                      <a:gd name="T2" fmla="*/ 7 w 786"/>
                      <a:gd name="T3" fmla="*/ 293 h 296"/>
                      <a:gd name="T4" fmla="*/ 2 w 786"/>
                      <a:gd name="T5" fmla="*/ 289 h 296"/>
                      <a:gd name="T6" fmla="*/ 0 w 786"/>
                      <a:gd name="T7" fmla="*/ 282 h 296"/>
                      <a:gd name="T8" fmla="*/ 0 w 786"/>
                      <a:gd name="T9" fmla="*/ 275 h 296"/>
                      <a:gd name="T10" fmla="*/ 2 w 786"/>
                      <a:gd name="T11" fmla="*/ 266 h 296"/>
                      <a:gd name="T12" fmla="*/ 5 w 786"/>
                      <a:gd name="T13" fmla="*/ 261 h 296"/>
                      <a:gd name="T14" fmla="*/ 12 w 786"/>
                      <a:gd name="T15" fmla="*/ 256 h 296"/>
                      <a:gd name="T16" fmla="*/ 756 w 786"/>
                      <a:gd name="T17" fmla="*/ 0 h 296"/>
                      <a:gd name="T18" fmla="*/ 786 w 786"/>
                      <a:gd name="T19" fmla="*/ 195 h 296"/>
                      <a:gd name="T20" fmla="*/ 14 w 786"/>
                      <a:gd name="T21" fmla="*/ 296 h 2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6"/>
                      <a:gd name="T34" fmla="*/ 0 h 296"/>
                      <a:gd name="T35" fmla="*/ 786 w 786"/>
                      <a:gd name="T36" fmla="*/ 296 h 2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6" h="296">
                        <a:moveTo>
                          <a:pt x="14" y="296"/>
                        </a:moveTo>
                        <a:lnTo>
                          <a:pt x="7" y="293"/>
                        </a:lnTo>
                        <a:lnTo>
                          <a:pt x="2" y="289"/>
                        </a:lnTo>
                        <a:lnTo>
                          <a:pt x="0" y="282"/>
                        </a:lnTo>
                        <a:lnTo>
                          <a:pt x="0" y="275"/>
                        </a:lnTo>
                        <a:lnTo>
                          <a:pt x="2" y="266"/>
                        </a:lnTo>
                        <a:lnTo>
                          <a:pt x="5" y="261"/>
                        </a:lnTo>
                        <a:lnTo>
                          <a:pt x="12" y="256"/>
                        </a:lnTo>
                        <a:lnTo>
                          <a:pt x="756" y="0"/>
                        </a:lnTo>
                        <a:lnTo>
                          <a:pt x="786" y="195"/>
                        </a:lnTo>
                        <a:lnTo>
                          <a:pt x="14" y="296"/>
                        </a:lnTo>
                        <a:close/>
                      </a:path>
                    </a:pathLst>
                  </a:custGeom>
                  <a:solidFill>
                    <a:srgbClr val="808080"/>
                  </a:solidFill>
                  <a:ln w="9525">
                    <a:solidFill>
                      <a:schemeClr val="tx1"/>
                    </a:solidFill>
                    <a:round/>
                    <a:headEnd/>
                    <a:tailEnd/>
                  </a:ln>
                </p:spPr>
                <p:txBody>
                  <a:bodyPr/>
                  <a:lstStyle/>
                  <a:p>
                    <a:endParaRPr lang="sv-SE"/>
                  </a:p>
                </p:txBody>
              </p:sp>
              <p:sp>
                <p:nvSpPr>
                  <p:cNvPr id="20504" name="Freeform 236"/>
                  <p:cNvSpPr>
                    <a:spLocks/>
                  </p:cNvSpPr>
                  <p:nvPr/>
                </p:nvSpPr>
                <p:spPr bwMode="auto">
                  <a:xfrm>
                    <a:off x="3598" y="1927"/>
                    <a:ext cx="229" cy="148"/>
                  </a:xfrm>
                  <a:custGeom>
                    <a:avLst/>
                    <a:gdLst>
                      <a:gd name="T0" fmla="*/ 229 w 229"/>
                      <a:gd name="T1" fmla="*/ 143 h 148"/>
                      <a:gd name="T2" fmla="*/ 211 w 229"/>
                      <a:gd name="T3" fmla="*/ 148 h 148"/>
                      <a:gd name="T4" fmla="*/ 109 w 229"/>
                      <a:gd name="T5" fmla="*/ 32 h 148"/>
                      <a:gd name="T6" fmla="*/ 0 w 229"/>
                      <a:gd name="T7" fmla="*/ 52 h 148"/>
                      <a:gd name="T8" fmla="*/ 14 w 229"/>
                      <a:gd name="T9" fmla="*/ 33 h 148"/>
                      <a:gd name="T10" fmla="*/ 125 w 229"/>
                      <a:gd name="T11" fmla="*/ 0 h 148"/>
                      <a:gd name="T12" fmla="*/ 229 w 229"/>
                      <a:gd name="T13" fmla="*/ 143 h 148"/>
                      <a:gd name="T14" fmla="*/ 0 60000 65536"/>
                      <a:gd name="T15" fmla="*/ 0 60000 65536"/>
                      <a:gd name="T16" fmla="*/ 0 60000 65536"/>
                      <a:gd name="T17" fmla="*/ 0 60000 65536"/>
                      <a:gd name="T18" fmla="*/ 0 60000 65536"/>
                      <a:gd name="T19" fmla="*/ 0 60000 65536"/>
                      <a:gd name="T20" fmla="*/ 0 60000 65536"/>
                      <a:gd name="T21" fmla="*/ 0 w 229"/>
                      <a:gd name="T22" fmla="*/ 0 h 148"/>
                      <a:gd name="T23" fmla="*/ 229 w 229"/>
                      <a:gd name="T24" fmla="*/ 148 h 1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9" h="148">
                        <a:moveTo>
                          <a:pt x="229" y="143"/>
                        </a:moveTo>
                        <a:lnTo>
                          <a:pt x="211" y="148"/>
                        </a:lnTo>
                        <a:lnTo>
                          <a:pt x="109" y="32"/>
                        </a:lnTo>
                        <a:lnTo>
                          <a:pt x="0" y="52"/>
                        </a:lnTo>
                        <a:lnTo>
                          <a:pt x="14" y="33"/>
                        </a:lnTo>
                        <a:lnTo>
                          <a:pt x="125" y="0"/>
                        </a:lnTo>
                        <a:lnTo>
                          <a:pt x="229" y="143"/>
                        </a:lnTo>
                        <a:close/>
                      </a:path>
                    </a:pathLst>
                  </a:custGeom>
                  <a:solidFill>
                    <a:srgbClr val="808080"/>
                  </a:solidFill>
                  <a:ln w="9525">
                    <a:solidFill>
                      <a:schemeClr val="tx1"/>
                    </a:solidFill>
                    <a:round/>
                    <a:headEnd/>
                    <a:tailEnd/>
                  </a:ln>
                </p:spPr>
                <p:txBody>
                  <a:bodyPr/>
                  <a:lstStyle/>
                  <a:p>
                    <a:endParaRPr lang="sv-SE"/>
                  </a:p>
                </p:txBody>
              </p:sp>
              <p:sp>
                <p:nvSpPr>
                  <p:cNvPr id="20505" name="Freeform 237"/>
                  <p:cNvSpPr>
                    <a:spLocks/>
                  </p:cNvSpPr>
                  <p:nvPr/>
                </p:nvSpPr>
                <p:spPr bwMode="auto">
                  <a:xfrm>
                    <a:off x="3576" y="1913"/>
                    <a:ext cx="221" cy="216"/>
                  </a:xfrm>
                  <a:custGeom>
                    <a:avLst/>
                    <a:gdLst>
                      <a:gd name="T0" fmla="*/ 156 w 221"/>
                      <a:gd name="T1" fmla="*/ 0 h 216"/>
                      <a:gd name="T2" fmla="*/ 41 w 221"/>
                      <a:gd name="T3" fmla="*/ 41 h 216"/>
                      <a:gd name="T4" fmla="*/ 31 w 221"/>
                      <a:gd name="T5" fmla="*/ 49 h 216"/>
                      <a:gd name="T6" fmla="*/ 19 w 221"/>
                      <a:gd name="T7" fmla="*/ 62 h 216"/>
                      <a:gd name="T8" fmla="*/ 12 w 221"/>
                      <a:gd name="T9" fmla="*/ 75 h 216"/>
                      <a:gd name="T10" fmla="*/ 6 w 221"/>
                      <a:gd name="T11" fmla="*/ 88 h 216"/>
                      <a:gd name="T12" fmla="*/ 1 w 221"/>
                      <a:gd name="T13" fmla="*/ 107 h 216"/>
                      <a:gd name="T14" fmla="*/ 0 w 221"/>
                      <a:gd name="T15" fmla="*/ 123 h 216"/>
                      <a:gd name="T16" fmla="*/ 4 w 221"/>
                      <a:gd name="T17" fmla="*/ 145 h 216"/>
                      <a:gd name="T18" fmla="*/ 12 w 221"/>
                      <a:gd name="T19" fmla="*/ 164 h 216"/>
                      <a:gd name="T20" fmla="*/ 22 w 221"/>
                      <a:gd name="T21" fmla="*/ 180 h 216"/>
                      <a:gd name="T22" fmla="*/ 33 w 221"/>
                      <a:gd name="T23" fmla="*/ 194 h 216"/>
                      <a:gd name="T24" fmla="*/ 47 w 221"/>
                      <a:gd name="T25" fmla="*/ 205 h 216"/>
                      <a:gd name="T26" fmla="*/ 61 w 221"/>
                      <a:gd name="T27" fmla="*/ 211 h 216"/>
                      <a:gd name="T28" fmla="*/ 75 w 221"/>
                      <a:gd name="T29" fmla="*/ 216 h 216"/>
                      <a:gd name="T30" fmla="*/ 221 w 221"/>
                      <a:gd name="T31" fmla="*/ 199 h 216"/>
                      <a:gd name="T32" fmla="*/ 135 w 221"/>
                      <a:gd name="T33" fmla="*/ 40 h 216"/>
                      <a:gd name="T34" fmla="*/ 30 w 221"/>
                      <a:gd name="T35" fmla="*/ 61 h 216"/>
                      <a:gd name="T36" fmla="*/ 39 w 221"/>
                      <a:gd name="T37" fmla="*/ 48 h 216"/>
                      <a:gd name="T38" fmla="*/ 141 w 221"/>
                      <a:gd name="T39" fmla="*/ 20 h 216"/>
                      <a:gd name="T40" fmla="*/ 156 w 221"/>
                      <a:gd name="T41" fmla="*/ 0 h 2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1"/>
                      <a:gd name="T64" fmla="*/ 0 h 216"/>
                      <a:gd name="T65" fmla="*/ 221 w 221"/>
                      <a:gd name="T66" fmla="*/ 216 h 2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1" h="216">
                        <a:moveTo>
                          <a:pt x="156" y="0"/>
                        </a:moveTo>
                        <a:lnTo>
                          <a:pt x="41" y="41"/>
                        </a:lnTo>
                        <a:lnTo>
                          <a:pt x="31" y="49"/>
                        </a:lnTo>
                        <a:lnTo>
                          <a:pt x="19" y="62"/>
                        </a:lnTo>
                        <a:lnTo>
                          <a:pt x="12" y="75"/>
                        </a:lnTo>
                        <a:lnTo>
                          <a:pt x="6" y="88"/>
                        </a:lnTo>
                        <a:lnTo>
                          <a:pt x="1" y="107"/>
                        </a:lnTo>
                        <a:lnTo>
                          <a:pt x="0" y="123"/>
                        </a:lnTo>
                        <a:lnTo>
                          <a:pt x="4" y="145"/>
                        </a:lnTo>
                        <a:lnTo>
                          <a:pt x="12" y="164"/>
                        </a:lnTo>
                        <a:lnTo>
                          <a:pt x="22" y="180"/>
                        </a:lnTo>
                        <a:lnTo>
                          <a:pt x="33" y="194"/>
                        </a:lnTo>
                        <a:lnTo>
                          <a:pt x="47" y="205"/>
                        </a:lnTo>
                        <a:lnTo>
                          <a:pt x="61" y="211"/>
                        </a:lnTo>
                        <a:lnTo>
                          <a:pt x="75" y="216"/>
                        </a:lnTo>
                        <a:lnTo>
                          <a:pt x="221" y="199"/>
                        </a:lnTo>
                        <a:lnTo>
                          <a:pt x="135" y="40"/>
                        </a:lnTo>
                        <a:lnTo>
                          <a:pt x="30" y="61"/>
                        </a:lnTo>
                        <a:lnTo>
                          <a:pt x="39" y="48"/>
                        </a:lnTo>
                        <a:lnTo>
                          <a:pt x="141" y="20"/>
                        </a:lnTo>
                        <a:lnTo>
                          <a:pt x="156" y="0"/>
                        </a:lnTo>
                        <a:close/>
                      </a:path>
                    </a:pathLst>
                  </a:custGeom>
                  <a:solidFill>
                    <a:srgbClr val="C0C0C0"/>
                  </a:solidFill>
                  <a:ln w="9525">
                    <a:solidFill>
                      <a:schemeClr val="tx1"/>
                    </a:solidFill>
                    <a:round/>
                    <a:headEnd/>
                    <a:tailEnd/>
                  </a:ln>
                </p:spPr>
                <p:txBody>
                  <a:bodyPr/>
                  <a:lstStyle/>
                  <a:p>
                    <a:endParaRPr lang="sv-SE"/>
                  </a:p>
                </p:txBody>
              </p:sp>
              <p:sp>
                <p:nvSpPr>
                  <p:cNvPr id="20506" name="Freeform 238"/>
                  <p:cNvSpPr>
                    <a:spLocks/>
                  </p:cNvSpPr>
                  <p:nvPr/>
                </p:nvSpPr>
                <p:spPr bwMode="auto">
                  <a:xfrm>
                    <a:off x="3709" y="1952"/>
                    <a:ext cx="111" cy="161"/>
                  </a:xfrm>
                  <a:custGeom>
                    <a:avLst/>
                    <a:gdLst>
                      <a:gd name="T0" fmla="*/ 4 w 111"/>
                      <a:gd name="T1" fmla="*/ 0 h 161"/>
                      <a:gd name="T2" fmla="*/ 111 w 111"/>
                      <a:gd name="T3" fmla="*/ 132 h 161"/>
                      <a:gd name="T4" fmla="*/ 104 w 111"/>
                      <a:gd name="T5" fmla="*/ 144 h 161"/>
                      <a:gd name="T6" fmla="*/ 96 w 111"/>
                      <a:gd name="T7" fmla="*/ 156 h 161"/>
                      <a:gd name="T8" fmla="*/ 87 w 111"/>
                      <a:gd name="T9" fmla="*/ 161 h 161"/>
                      <a:gd name="T10" fmla="*/ 77 w 111"/>
                      <a:gd name="T11" fmla="*/ 160 h 161"/>
                      <a:gd name="T12" fmla="*/ 65 w 111"/>
                      <a:gd name="T13" fmla="*/ 152 h 161"/>
                      <a:gd name="T14" fmla="*/ 53 w 111"/>
                      <a:gd name="T15" fmla="*/ 143 h 161"/>
                      <a:gd name="T16" fmla="*/ 43 w 111"/>
                      <a:gd name="T17" fmla="*/ 133 h 161"/>
                      <a:gd name="T18" fmla="*/ 34 w 111"/>
                      <a:gd name="T19" fmla="*/ 121 h 161"/>
                      <a:gd name="T20" fmla="*/ 28 w 111"/>
                      <a:gd name="T21" fmla="*/ 111 h 161"/>
                      <a:gd name="T22" fmla="*/ 19 w 111"/>
                      <a:gd name="T23" fmla="*/ 97 h 161"/>
                      <a:gd name="T24" fmla="*/ 12 w 111"/>
                      <a:gd name="T25" fmla="*/ 83 h 161"/>
                      <a:gd name="T26" fmla="*/ 7 w 111"/>
                      <a:gd name="T27" fmla="*/ 67 h 161"/>
                      <a:gd name="T28" fmla="*/ 3 w 111"/>
                      <a:gd name="T29" fmla="*/ 49 h 161"/>
                      <a:gd name="T30" fmla="*/ 1 w 111"/>
                      <a:gd name="T31" fmla="*/ 35 h 161"/>
                      <a:gd name="T32" fmla="*/ 0 w 111"/>
                      <a:gd name="T33" fmla="*/ 22 h 161"/>
                      <a:gd name="T34" fmla="*/ 1 w 111"/>
                      <a:gd name="T35" fmla="*/ 10 h 161"/>
                      <a:gd name="T36" fmla="*/ 4 w 111"/>
                      <a:gd name="T37" fmla="*/ 0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1"/>
                      <a:gd name="T58" fmla="*/ 0 h 161"/>
                      <a:gd name="T59" fmla="*/ 111 w 111"/>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1" h="161">
                        <a:moveTo>
                          <a:pt x="4" y="0"/>
                        </a:moveTo>
                        <a:lnTo>
                          <a:pt x="111" y="132"/>
                        </a:lnTo>
                        <a:lnTo>
                          <a:pt x="104" y="144"/>
                        </a:lnTo>
                        <a:lnTo>
                          <a:pt x="96" y="156"/>
                        </a:lnTo>
                        <a:lnTo>
                          <a:pt x="87" y="161"/>
                        </a:lnTo>
                        <a:lnTo>
                          <a:pt x="77" y="160"/>
                        </a:lnTo>
                        <a:lnTo>
                          <a:pt x="65" y="152"/>
                        </a:lnTo>
                        <a:lnTo>
                          <a:pt x="53" y="143"/>
                        </a:lnTo>
                        <a:lnTo>
                          <a:pt x="43" y="133"/>
                        </a:lnTo>
                        <a:lnTo>
                          <a:pt x="34" y="121"/>
                        </a:lnTo>
                        <a:lnTo>
                          <a:pt x="28" y="111"/>
                        </a:lnTo>
                        <a:lnTo>
                          <a:pt x="19" y="97"/>
                        </a:lnTo>
                        <a:lnTo>
                          <a:pt x="12" y="83"/>
                        </a:lnTo>
                        <a:lnTo>
                          <a:pt x="7" y="67"/>
                        </a:lnTo>
                        <a:lnTo>
                          <a:pt x="3" y="49"/>
                        </a:lnTo>
                        <a:lnTo>
                          <a:pt x="1" y="35"/>
                        </a:lnTo>
                        <a:lnTo>
                          <a:pt x="0" y="22"/>
                        </a:lnTo>
                        <a:lnTo>
                          <a:pt x="1" y="10"/>
                        </a:lnTo>
                        <a:lnTo>
                          <a:pt x="4" y="0"/>
                        </a:lnTo>
                        <a:close/>
                      </a:path>
                    </a:pathLst>
                  </a:custGeom>
                  <a:solidFill>
                    <a:srgbClr val="9F9F9F"/>
                  </a:solidFill>
                  <a:ln w="9525">
                    <a:solidFill>
                      <a:schemeClr val="tx1"/>
                    </a:solidFill>
                    <a:round/>
                    <a:headEnd/>
                    <a:tailEnd/>
                  </a:ln>
                </p:spPr>
                <p:txBody>
                  <a:bodyPr/>
                  <a:lstStyle/>
                  <a:p>
                    <a:endParaRPr lang="sv-SE"/>
                  </a:p>
                </p:txBody>
              </p:sp>
              <p:sp>
                <p:nvSpPr>
                  <p:cNvPr id="20507" name="Freeform 239"/>
                  <p:cNvSpPr>
                    <a:spLocks/>
                  </p:cNvSpPr>
                  <p:nvPr/>
                </p:nvSpPr>
                <p:spPr bwMode="auto">
                  <a:xfrm>
                    <a:off x="3718" y="1910"/>
                    <a:ext cx="119" cy="160"/>
                  </a:xfrm>
                  <a:custGeom>
                    <a:avLst/>
                    <a:gdLst>
                      <a:gd name="T0" fmla="*/ 0 w 119"/>
                      <a:gd name="T1" fmla="*/ 22 h 160"/>
                      <a:gd name="T2" fmla="*/ 109 w 119"/>
                      <a:gd name="T3" fmla="*/ 160 h 160"/>
                      <a:gd name="T4" fmla="*/ 113 w 119"/>
                      <a:gd name="T5" fmla="*/ 147 h 160"/>
                      <a:gd name="T6" fmla="*/ 118 w 119"/>
                      <a:gd name="T7" fmla="*/ 126 h 160"/>
                      <a:gd name="T8" fmla="*/ 119 w 119"/>
                      <a:gd name="T9" fmla="*/ 111 h 160"/>
                      <a:gd name="T10" fmla="*/ 118 w 119"/>
                      <a:gd name="T11" fmla="*/ 97 h 160"/>
                      <a:gd name="T12" fmla="*/ 114 w 119"/>
                      <a:gd name="T13" fmla="*/ 78 h 160"/>
                      <a:gd name="T14" fmla="*/ 107 w 119"/>
                      <a:gd name="T15" fmla="*/ 63 h 160"/>
                      <a:gd name="T16" fmla="*/ 97 w 119"/>
                      <a:gd name="T17" fmla="*/ 47 h 160"/>
                      <a:gd name="T18" fmla="*/ 87 w 119"/>
                      <a:gd name="T19" fmla="*/ 33 h 160"/>
                      <a:gd name="T20" fmla="*/ 71 w 119"/>
                      <a:gd name="T21" fmla="*/ 19 h 160"/>
                      <a:gd name="T22" fmla="*/ 56 w 119"/>
                      <a:gd name="T23" fmla="*/ 10 h 160"/>
                      <a:gd name="T24" fmla="*/ 40 w 119"/>
                      <a:gd name="T25" fmla="*/ 2 h 160"/>
                      <a:gd name="T26" fmla="*/ 25 w 119"/>
                      <a:gd name="T27" fmla="*/ 0 h 160"/>
                      <a:gd name="T28" fmla="*/ 14 w 119"/>
                      <a:gd name="T29" fmla="*/ 3 h 160"/>
                      <a:gd name="T30" fmla="*/ 7 w 119"/>
                      <a:gd name="T31" fmla="*/ 12 h 160"/>
                      <a:gd name="T32" fmla="*/ 0 w 119"/>
                      <a:gd name="T33" fmla="*/ 22 h 16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9"/>
                      <a:gd name="T52" fmla="*/ 0 h 160"/>
                      <a:gd name="T53" fmla="*/ 119 w 119"/>
                      <a:gd name="T54" fmla="*/ 160 h 16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9" h="160">
                        <a:moveTo>
                          <a:pt x="0" y="22"/>
                        </a:moveTo>
                        <a:lnTo>
                          <a:pt x="109" y="160"/>
                        </a:lnTo>
                        <a:lnTo>
                          <a:pt x="113" y="147"/>
                        </a:lnTo>
                        <a:lnTo>
                          <a:pt x="118" y="126"/>
                        </a:lnTo>
                        <a:lnTo>
                          <a:pt x="119" y="111"/>
                        </a:lnTo>
                        <a:lnTo>
                          <a:pt x="118" y="97"/>
                        </a:lnTo>
                        <a:lnTo>
                          <a:pt x="114" y="78"/>
                        </a:lnTo>
                        <a:lnTo>
                          <a:pt x="107" y="63"/>
                        </a:lnTo>
                        <a:lnTo>
                          <a:pt x="97" y="47"/>
                        </a:lnTo>
                        <a:lnTo>
                          <a:pt x="87" y="33"/>
                        </a:lnTo>
                        <a:lnTo>
                          <a:pt x="71" y="19"/>
                        </a:lnTo>
                        <a:lnTo>
                          <a:pt x="56" y="10"/>
                        </a:lnTo>
                        <a:lnTo>
                          <a:pt x="40" y="2"/>
                        </a:lnTo>
                        <a:lnTo>
                          <a:pt x="25" y="0"/>
                        </a:lnTo>
                        <a:lnTo>
                          <a:pt x="14" y="3"/>
                        </a:lnTo>
                        <a:lnTo>
                          <a:pt x="7" y="12"/>
                        </a:lnTo>
                        <a:lnTo>
                          <a:pt x="0" y="22"/>
                        </a:lnTo>
                        <a:close/>
                      </a:path>
                    </a:pathLst>
                  </a:custGeom>
                  <a:solidFill>
                    <a:srgbClr val="9F9F9F"/>
                  </a:solidFill>
                  <a:ln w="9525">
                    <a:solidFill>
                      <a:schemeClr val="tx1"/>
                    </a:solidFill>
                    <a:round/>
                    <a:headEnd/>
                    <a:tailEnd/>
                  </a:ln>
                </p:spPr>
                <p:txBody>
                  <a:bodyPr/>
                  <a:lstStyle/>
                  <a:p>
                    <a:endParaRPr lang="sv-SE"/>
                  </a:p>
                </p:txBody>
              </p:sp>
              <p:sp>
                <p:nvSpPr>
                  <p:cNvPr id="20508" name="Freeform 240"/>
                  <p:cNvSpPr>
                    <a:spLocks/>
                  </p:cNvSpPr>
                  <p:nvPr/>
                </p:nvSpPr>
                <p:spPr bwMode="auto">
                  <a:xfrm>
                    <a:off x="2944" y="2168"/>
                    <a:ext cx="56" cy="53"/>
                  </a:xfrm>
                  <a:custGeom>
                    <a:avLst/>
                    <a:gdLst>
                      <a:gd name="T0" fmla="*/ 14 w 56"/>
                      <a:gd name="T1" fmla="*/ 53 h 53"/>
                      <a:gd name="T2" fmla="*/ 7 w 56"/>
                      <a:gd name="T3" fmla="*/ 50 h 53"/>
                      <a:gd name="T4" fmla="*/ 2 w 56"/>
                      <a:gd name="T5" fmla="*/ 46 h 53"/>
                      <a:gd name="T6" fmla="*/ 0 w 56"/>
                      <a:gd name="T7" fmla="*/ 40 h 53"/>
                      <a:gd name="T8" fmla="*/ 0 w 56"/>
                      <a:gd name="T9" fmla="*/ 33 h 53"/>
                      <a:gd name="T10" fmla="*/ 2 w 56"/>
                      <a:gd name="T11" fmla="*/ 24 h 53"/>
                      <a:gd name="T12" fmla="*/ 5 w 56"/>
                      <a:gd name="T13" fmla="*/ 19 h 53"/>
                      <a:gd name="T14" fmla="*/ 12 w 56"/>
                      <a:gd name="T15" fmla="*/ 14 h 53"/>
                      <a:gd name="T16" fmla="*/ 51 w 56"/>
                      <a:gd name="T17" fmla="*/ 0 h 53"/>
                      <a:gd name="T18" fmla="*/ 46 w 56"/>
                      <a:gd name="T19" fmla="*/ 6 h 53"/>
                      <a:gd name="T20" fmla="*/ 42 w 56"/>
                      <a:gd name="T21" fmla="*/ 13 h 53"/>
                      <a:gd name="T22" fmla="*/ 41 w 56"/>
                      <a:gd name="T23" fmla="*/ 21 h 53"/>
                      <a:gd name="T24" fmla="*/ 40 w 56"/>
                      <a:gd name="T25" fmla="*/ 27 h 53"/>
                      <a:gd name="T26" fmla="*/ 42 w 56"/>
                      <a:gd name="T27" fmla="*/ 36 h 53"/>
                      <a:gd name="T28" fmla="*/ 48 w 56"/>
                      <a:gd name="T29" fmla="*/ 42 h 53"/>
                      <a:gd name="T30" fmla="*/ 56 w 56"/>
                      <a:gd name="T31" fmla="*/ 47 h 53"/>
                      <a:gd name="T32" fmla="*/ 14 w 56"/>
                      <a:gd name="T33" fmla="*/ 53 h 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6"/>
                      <a:gd name="T52" fmla="*/ 0 h 53"/>
                      <a:gd name="T53" fmla="*/ 56 w 56"/>
                      <a:gd name="T54" fmla="*/ 53 h 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6" h="53">
                        <a:moveTo>
                          <a:pt x="14" y="53"/>
                        </a:moveTo>
                        <a:lnTo>
                          <a:pt x="7" y="50"/>
                        </a:lnTo>
                        <a:lnTo>
                          <a:pt x="2" y="46"/>
                        </a:lnTo>
                        <a:lnTo>
                          <a:pt x="0" y="40"/>
                        </a:lnTo>
                        <a:lnTo>
                          <a:pt x="0" y="33"/>
                        </a:lnTo>
                        <a:lnTo>
                          <a:pt x="2" y="24"/>
                        </a:lnTo>
                        <a:lnTo>
                          <a:pt x="5" y="19"/>
                        </a:lnTo>
                        <a:lnTo>
                          <a:pt x="12" y="14"/>
                        </a:lnTo>
                        <a:lnTo>
                          <a:pt x="51" y="0"/>
                        </a:lnTo>
                        <a:lnTo>
                          <a:pt x="46" y="6"/>
                        </a:lnTo>
                        <a:lnTo>
                          <a:pt x="42" y="13"/>
                        </a:lnTo>
                        <a:lnTo>
                          <a:pt x="41" y="21"/>
                        </a:lnTo>
                        <a:lnTo>
                          <a:pt x="40" y="27"/>
                        </a:lnTo>
                        <a:lnTo>
                          <a:pt x="42" y="36"/>
                        </a:lnTo>
                        <a:lnTo>
                          <a:pt x="48" y="42"/>
                        </a:lnTo>
                        <a:lnTo>
                          <a:pt x="56" y="47"/>
                        </a:lnTo>
                        <a:lnTo>
                          <a:pt x="14" y="53"/>
                        </a:lnTo>
                        <a:close/>
                      </a:path>
                    </a:pathLst>
                  </a:custGeom>
                  <a:solidFill>
                    <a:srgbClr val="FFFF00"/>
                  </a:solidFill>
                  <a:ln w="9525">
                    <a:solidFill>
                      <a:schemeClr val="tx1"/>
                    </a:solidFill>
                    <a:round/>
                    <a:headEnd/>
                    <a:tailEnd/>
                  </a:ln>
                </p:spPr>
                <p:txBody>
                  <a:bodyPr/>
                  <a:lstStyle/>
                  <a:p>
                    <a:endParaRPr lang="sv-SE"/>
                  </a:p>
                </p:txBody>
              </p:sp>
            </p:grpSp>
            <p:grpSp>
              <p:nvGrpSpPr>
                <p:cNvPr id="20483" name="Group 241"/>
                <p:cNvGrpSpPr>
                  <a:grpSpLocks/>
                </p:cNvGrpSpPr>
                <p:nvPr/>
              </p:nvGrpSpPr>
              <p:grpSpPr bwMode="auto">
                <a:xfrm>
                  <a:off x="3320" y="1764"/>
                  <a:ext cx="534" cy="465"/>
                  <a:chOff x="3320" y="1764"/>
                  <a:chExt cx="534" cy="465"/>
                </a:xfrm>
              </p:grpSpPr>
              <p:sp>
                <p:nvSpPr>
                  <p:cNvPr id="20499" name="Freeform 242"/>
                  <p:cNvSpPr>
                    <a:spLocks/>
                  </p:cNvSpPr>
                  <p:nvPr/>
                </p:nvSpPr>
                <p:spPr bwMode="auto">
                  <a:xfrm>
                    <a:off x="3322" y="2100"/>
                    <a:ext cx="532" cy="129"/>
                  </a:xfrm>
                  <a:custGeom>
                    <a:avLst/>
                    <a:gdLst>
                      <a:gd name="T0" fmla="*/ 0 w 532"/>
                      <a:gd name="T1" fmla="*/ 39 h 129"/>
                      <a:gd name="T2" fmla="*/ 368 w 532"/>
                      <a:gd name="T3" fmla="*/ 0 h 129"/>
                      <a:gd name="T4" fmla="*/ 532 w 532"/>
                      <a:gd name="T5" fmla="*/ 125 h 129"/>
                      <a:gd name="T6" fmla="*/ 424 w 532"/>
                      <a:gd name="T7" fmla="*/ 118 h 129"/>
                      <a:gd name="T8" fmla="*/ 397 w 532"/>
                      <a:gd name="T9" fmla="*/ 112 h 129"/>
                      <a:gd name="T10" fmla="*/ 414 w 532"/>
                      <a:gd name="T11" fmla="*/ 129 h 129"/>
                      <a:gd name="T12" fmla="*/ 304 w 532"/>
                      <a:gd name="T13" fmla="*/ 118 h 129"/>
                      <a:gd name="T14" fmla="*/ 269 w 532"/>
                      <a:gd name="T15" fmla="*/ 106 h 129"/>
                      <a:gd name="T16" fmla="*/ 286 w 532"/>
                      <a:gd name="T17" fmla="*/ 123 h 129"/>
                      <a:gd name="T18" fmla="*/ 135 w 532"/>
                      <a:gd name="T19" fmla="*/ 106 h 129"/>
                      <a:gd name="T20" fmla="*/ 0 w 532"/>
                      <a:gd name="T21" fmla="*/ 39 h 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2"/>
                      <a:gd name="T34" fmla="*/ 0 h 129"/>
                      <a:gd name="T35" fmla="*/ 532 w 532"/>
                      <a:gd name="T36" fmla="*/ 129 h 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2" h="129">
                        <a:moveTo>
                          <a:pt x="0" y="39"/>
                        </a:moveTo>
                        <a:lnTo>
                          <a:pt x="368" y="0"/>
                        </a:lnTo>
                        <a:lnTo>
                          <a:pt x="532" y="125"/>
                        </a:lnTo>
                        <a:lnTo>
                          <a:pt x="424" y="118"/>
                        </a:lnTo>
                        <a:lnTo>
                          <a:pt x="397" y="112"/>
                        </a:lnTo>
                        <a:lnTo>
                          <a:pt x="414" y="129"/>
                        </a:lnTo>
                        <a:lnTo>
                          <a:pt x="304" y="118"/>
                        </a:lnTo>
                        <a:lnTo>
                          <a:pt x="269" y="106"/>
                        </a:lnTo>
                        <a:lnTo>
                          <a:pt x="286" y="123"/>
                        </a:lnTo>
                        <a:lnTo>
                          <a:pt x="135" y="106"/>
                        </a:lnTo>
                        <a:lnTo>
                          <a:pt x="0" y="39"/>
                        </a:lnTo>
                        <a:close/>
                      </a:path>
                    </a:pathLst>
                  </a:custGeom>
                  <a:solidFill>
                    <a:srgbClr val="FFFF00"/>
                  </a:solidFill>
                  <a:ln w="9525">
                    <a:solidFill>
                      <a:schemeClr val="tx1"/>
                    </a:solidFill>
                    <a:round/>
                    <a:headEnd/>
                    <a:tailEnd/>
                  </a:ln>
                </p:spPr>
                <p:txBody>
                  <a:bodyPr/>
                  <a:lstStyle/>
                  <a:p>
                    <a:endParaRPr lang="sv-SE"/>
                  </a:p>
                </p:txBody>
              </p:sp>
              <p:sp>
                <p:nvSpPr>
                  <p:cNvPr id="20500" name="Freeform 243"/>
                  <p:cNvSpPr>
                    <a:spLocks/>
                  </p:cNvSpPr>
                  <p:nvPr/>
                </p:nvSpPr>
                <p:spPr bwMode="auto">
                  <a:xfrm>
                    <a:off x="3325" y="1990"/>
                    <a:ext cx="340" cy="107"/>
                  </a:xfrm>
                  <a:custGeom>
                    <a:avLst/>
                    <a:gdLst>
                      <a:gd name="T0" fmla="*/ 44 w 340"/>
                      <a:gd name="T1" fmla="*/ 81 h 107"/>
                      <a:gd name="T2" fmla="*/ 340 w 340"/>
                      <a:gd name="T3" fmla="*/ 0 h 107"/>
                      <a:gd name="T4" fmla="*/ 254 w 340"/>
                      <a:gd name="T5" fmla="*/ 49 h 107"/>
                      <a:gd name="T6" fmla="*/ 0 w 340"/>
                      <a:gd name="T7" fmla="*/ 107 h 107"/>
                      <a:gd name="T8" fmla="*/ 44 w 340"/>
                      <a:gd name="T9" fmla="*/ 81 h 107"/>
                      <a:gd name="T10" fmla="*/ 0 60000 65536"/>
                      <a:gd name="T11" fmla="*/ 0 60000 65536"/>
                      <a:gd name="T12" fmla="*/ 0 60000 65536"/>
                      <a:gd name="T13" fmla="*/ 0 60000 65536"/>
                      <a:gd name="T14" fmla="*/ 0 60000 65536"/>
                      <a:gd name="T15" fmla="*/ 0 w 340"/>
                      <a:gd name="T16" fmla="*/ 0 h 107"/>
                      <a:gd name="T17" fmla="*/ 340 w 340"/>
                      <a:gd name="T18" fmla="*/ 107 h 107"/>
                    </a:gdLst>
                    <a:ahLst/>
                    <a:cxnLst>
                      <a:cxn ang="T10">
                        <a:pos x="T0" y="T1"/>
                      </a:cxn>
                      <a:cxn ang="T11">
                        <a:pos x="T2" y="T3"/>
                      </a:cxn>
                      <a:cxn ang="T12">
                        <a:pos x="T4" y="T5"/>
                      </a:cxn>
                      <a:cxn ang="T13">
                        <a:pos x="T6" y="T7"/>
                      </a:cxn>
                      <a:cxn ang="T14">
                        <a:pos x="T8" y="T9"/>
                      </a:cxn>
                    </a:cxnLst>
                    <a:rect l="T15" t="T16" r="T17" b="T18"/>
                    <a:pathLst>
                      <a:path w="340" h="107">
                        <a:moveTo>
                          <a:pt x="44" y="81"/>
                        </a:moveTo>
                        <a:lnTo>
                          <a:pt x="340" y="0"/>
                        </a:lnTo>
                        <a:lnTo>
                          <a:pt x="254" y="49"/>
                        </a:lnTo>
                        <a:lnTo>
                          <a:pt x="0" y="107"/>
                        </a:lnTo>
                        <a:lnTo>
                          <a:pt x="44" y="81"/>
                        </a:lnTo>
                        <a:close/>
                      </a:path>
                    </a:pathLst>
                  </a:custGeom>
                  <a:solidFill>
                    <a:srgbClr val="FFFF00"/>
                  </a:solidFill>
                  <a:ln w="9525">
                    <a:solidFill>
                      <a:schemeClr val="tx1"/>
                    </a:solidFill>
                    <a:round/>
                    <a:headEnd/>
                    <a:tailEnd/>
                  </a:ln>
                </p:spPr>
                <p:txBody>
                  <a:bodyPr/>
                  <a:lstStyle/>
                  <a:p>
                    <a:endParaRPr lang="sv-SE"/>
                  </a:p>
                </p:txBody>
              </p:sp>
              <p:sp>
                <p:nvSpPr>
                  <p:cNvPr id="20501" name="Freeform 244"/>
                  <p:cNvSpPr>
                    <a:spLocks/>
                  </p:cNvSpPr>
                  <p:nvPr/>
                </p:nvSpPr>
                <p:spPr bwMode="auto">
                  <a:xfrm>
                    <a:off x="3320" y="1764"/>
                    <a:ext cx="440" cy="305"/>
                  </a:xfrm>
                  <a:custGeom>
                    <a:avLst/>
                    <a:gdLst>
                      <a:gd name="T0" fmla="*/ 0 w 440"/>
                      <a:gd name="T1" fmla="*/ 305 h 305"/>
                      <a:gd name="T2" fmla="*/ 316 w 440"/>
                      <a:gd name="T3" fmla="*/ 196 h 305"/>
                      <a:gd name="T4" fmla="*/ 440 w 440"/>
                      <a:gd name="T5" fmla="*/ 0 h 305"/>
                      <a:gd name="T6" fmla="*/ 343 w 440"/>
                      <a:gd name="T7" fmla="*/ 59 h 305"/>
                      <a:gd name="T8" fmla="*/ 321 w 440"/>
                      <a:gd name="T9" fmla="*/ 80 h 305"/>
                      <a:gd name="T10" fmla="*/ 321 w 440"/>
                      <a:gd name="T11" fmla="*/ 58 h 305"/>
                      <a:gd name="T12" fmla="*/ 211 w 440"/>
                      <a:gd name="T13" fmla="*/ 141 h 305"/>
                      <a:gd name="T14" fmla="*/ 218 w 440"/>
                      <a:gd name="T15" fmla="*/ 117 h 305"/>
                      <a:gd name="T16" fmla="*/ 99 w 440"/>
                      <a:gd name="T17" fmla="*/ 192 h 305"/>
                      <a:gd name="T18" fmla="*/ 0 w 440"/>
                      <a:gd name="T19" fmla="*/ 305 h 3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0"/>
                      <a:gd name="T31" fmla="*/ 0 h 305"/>
                      <a:gd name="T32" fmla="*/ 440 w 440"/>
                      <a:gd name="T33" fmla="*/ 305 h 30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0" h="305">
                        <a:moveTo>
                          <a:pt x="0" y="305"/>
                        </a:moveTo>
                        <a:lnTo>
                          <a:pt x="316" y="196"/>
                        </a:lnTo>
                        <a:lnTo>
                          <a:pt x="440" y="0"/>
                        </a:lnTo>
                        <a:lnTo>
                          <a:pt x="343" y="59"/>
                        </a:lnTo>
                        <a:lnTo>
                          <a:pt x="321" y="80"/>
                        </a:lnTo>
                        <a:lnTo>
                          <a:pt x="321" y="58"/>
                        </a:lnTo>
                        <a:lnTo>
                          <a:pt x="211" y="141"/>
                        </a:lnTo>
                        <a:lnTo>
                          <a:pt x="218" y="117"/>
                        </a:lnTo>
                        <a:lnTo>
                          <a:pt x="99" y="192"/>
                        </a:lnTo>
                        <a:lnTo>
                          <a:pt x="0" y="305"/>
                        </a:lnTo>
                        <a:close/>
                      </a:path>
                    </a:pathLst>
                  </a:custGeom>
                  <a:solidFill>
                    <a:srgbClr val="FFFF00"/>
                  </a:solidFill>
                  <a:ln w="9525">
                    <a:solidFill>
                      <a:schemeClr val="tx1"/>
                    </a:solidFill>
                    <a:round/>
                    <a:headEnd/>
                    <a:tailEnd/>
                  </a:ln>
                </p:spPr>
                <p:txBody>
                  <a:bodyPr/>
                  <a:lstStyle/>
                  <a:p>
                    <a:endParaRPr lang="sv-SE"/>
                  </a:p>
                </p:txBody>
              </p:sp>
            </p:grpSp>
          </p:grpSp>
          <p:sp>
            <p:nvSpPr>
              <p:cNvPr id="20495" name="Freeform 245"/>
              <p:cNvSpPr>
                <a:spLocks/>
              </p:cNvSpPr>
              <p:nvPr/>
            </p:nvSpPr>
            <p:spPr bwMode="auto">
              <a:xfrm>
                <a:off x="3205" y="2051"/>
                <a:ext cx="148" cy="133"/>
              </a:xfrm>
              <a:custGeom>
                <a:avLst/>
                <a:gdLst>
                  <a:gd name="T0" fmla="*/ 131 w 148"/>
                  <a:gd name="T1" fmla="*/ 0 h 133"/>
                  <a:gd name="T2" fmla="*/ 122 w 148"/>
                  <a:gd name="T3" fmla="*/ 10 h 133"/>
                  <a:gd name="T4" fmla="*/ 112 w 148"/>
                  <a:gd name="T5" fmla="*/ 25 h 133"/>
                  <a:gd name="T6" fmla="*/ 108 w 148"/>
                  <a:gd name="T7" fmla="*/ 37 h 133"/>
                  <a:gd name="T8" fmla="*/ 104 w 148"/>
                  <a:gd name="T9" fmla="*/ 52 h 133"/>
                  <a:gd name="T10" fmla="*/ 104 w 148"/>
                  <a:gd name="T11" fmla="*/ 66 h 133"/>
                  <a:gd name="T12" fmla="*/ 108 w 148"/>
                  <a:gd name="T13" fmla="*/ 80 h 133"/>
                  <a:gd name="T14" fmla="*/ 114 w 148"/>
                  <a:gd name="T15" fmla="*/ 92 h 133"/>
                  <a:gd name="T16" fmla="*/ 125 w 148"/>
                  <a:gd name="T17" fmla="*/ 102 h 133"/>
                  <a:gd name="T18" fmla="*/ 137 w 148"/>
                  <a:gd name="T19" fmla="*/ 109 h 133"/>
                  <a:gd name="T20" fmla="*/ 148 w 148"/>
                  <a:gd name="T21" fmla="*/ 117 h 133"/>
                  <a:gd name="T22" fmla="*/ 36 w 148"/>
                  <a:gd name="T23" fmla="*/ 133 h 133"/>
                  <a:gd name="T24" fmla="*/ 24 w 148"/>
                  <a:gd name="T25" fmla="*/ 127 h 133"/>
                  <a:gd name="T26" fmla="*/ 14 w 148"/>
                  <a:gd name="T27" fmla="*/ 120 h 133"/>
                  <a:gd name="T28" fmla="*/ 7 w 148"/>
                  <a:gd name="T29" fmla="*/ 111 h 133"/>
                  <a:gd name="T30" fmla="*/ 3 w 148"/>
                  <a:gd name="T31" fmla="*/ 103 h 133"/>
                  <a:gd name="T32" fmla="*/ 0 w 148"/>
                  <a:gd name="T33" fmla="*/ 93 h 133"/>
                  <a:gd name="T34" fmla="*/ 0 w 148"/>
                  <a:gd name="T35" fmla="*/ 80 h 133"/>
                  <a:gd name="T36" fmla="*/ 3 w 148"/>
                  <a:gd name="T37" fmla="*/ 69 h 133"/>
                  <a:gd name="T38" fmla="*/ 6 w 148"/>
                  <a:gd name="T39" fmla="*/ 58 h 133"/>
                  <a:gd name="T40" fmla="*/ 10 w 148"/>
                  <a:gd name="T41" fmla="*/ 50 h 133"/>
                  <a:gd name="T42" fmla="*/ 16 w 148"/>
                  <a:gd name="T43" fmla="*/ 41 h 133"/>
                  <a:gd name="T44" fmla="*/ 21 w 148"/>
                  <a:gd name="T45" fmla="*/ 37 h 133"/>
                  <a:gd name="T46" fmla="*/ 131 w 148"/>
                  <a:gd name="T47" fmla="*/ 0 h 13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8"/>
                  <a:gd name="T73" fmla="*/ 0 h 133"/>
                  <a:gd name="T74" fmla="*/ 148 w 148"/>
                  <a:gd name="T75" fmla="*/ 133 h 13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8" h="133">
                    <a:moveTo>
                      <a:pt x="131" y="0"/>
                    </a:moveTo>
                    <a:lnTo>
                      <a:pt x="122" y="10"/>
                    </a:lnTo>
                    <a:lnTo>
                      <a:pt x="112" y="25"/>
                    </a:lnTo>
                    <a:lnTo>
                      <a:pt x="108" y="37"/>
                    </a:lnTo>
                    <a:lnTo>
                      <a:pt x="104" y="52"/>
                    </a:lnTo>
                    <a:lnTo>
                      <a:pt x="104" y="66"/>
                    </a:lnTo>
                    <a:lnTo>
                      <a:pt x="108" y="80"/>
                    </a:lnTo>
                    <a:lnTo>
                      <a:pt x="114" y="92"/>
                    </a:lnTo>
                    <a:lnTo>
                      <a:pt x="125" y="102"/>
                    </a:lnTo>
                    <a:lnTo>
                      <a:pt x="137" y="109"/>
                    </a:lnTo>
                    <a:lnTo>
                      <a:pt x="148" y="117"/>
                    </a:lnTo>
                    <a:lnTo>
                      <a:pt x="36" y="133"/>
                    </a:lnTo>
                    <a:lnTo>
                      <a:pt x="24" y="127"/>
                    </a:lnTo>
                    <a:lnTo>
                      <a:pt x="14" y="120"/>
                    </a:lnTo>
                    <a:lnTo>
                      <a:pt x="7" y="111"/>
                    </a:lnTo>
                    <a:lnTo>
                      <a:pt x="3" y="103"/>
                    </a:lnTo>
                    <a:lnTo>
                      <a:pt x="0" y="93"/>
                    </a:lnTo>
                    <a:lnTo>
                      <a:pt x="0" y="80"/>
                    </a:lnTo>
                    <a:lnTo>
                      <a:pt x="3" y="69"/>
                    </a:lnTo>
                    <a:lnTo>
                      <a:pt x="6" y="58"/>
                    </a:lnTo>
                    <a:lnTo>
                      <a:pt x="10" y="50"/>
                    </a:lnTo>
                    <a:lnTo>
                      <a:pt x="16" y="41"/>
                    </a:lnTo>
                    <a:lnTo>
                      <a:pt x="21" y="37"/>
                    </a:lnTo>
                    <a:lnTo>
                      <a:pt x="131" y="0"/>
                    </a:lnTo>
                    <a:close/>
                  </a:path>
                </a:pathLst>
              </a:custGeom>
              <a:solidFill>
                <a:srgbClr val="FFFF00"/>
              </a:solidFill>
              <a:ln w="9525">
                <a:solidFill>
                  <a:schemeClr val="tx1"/>
                </a:solidFill>
                <a:round/>
                <a:headEnd/>
                <a:tailEnd/>
              </a:ln>
            </p:spPr>
            <p:txBody>
              <a:bodyPr/>
              <a:lstStyle/>
              <a:p>
                <a:endParaRPr lang="sv-SE"/>
              </a:p>
            </p:txBody>
          </p:sp>
          <p:sp>
            <p:nvSpPr>
              <p:cNvPr id="20496" name="Freeform 246"/>
              <p:cNvSpPr>
                <a:spLocks/>
              </p:cNvSpPr>
              <p:nvPr/>
            </p:nvSpPr>
            <p:spPr bwMode="auto">
              <a:xfrm>
                <a:off x="3233" y="2071"/>
                <a:ext cx="62" cy="108"/>
              </a:xfrm>
              <a:custGeom>
                <a:avLst/>
                <a:gdLst>
                  <a:gd name="T0" fmla="*/ 41 w 62"/>
                  <a:gd name="T1" fmla="*/ 0 h 108"/>
                  <a:gd name="T2" fmla="*/ 34 w 62"/>
                  <a:gd name="T3" fmla="*/ 15 h 108"/>
                  <a:gd name="T4" fmla="*/ 28 w 62"/>
                  <a:gd name="T5" fmla="*/ 27 h 108"/>
                  <a:gd name="T6" fmla="*/ 23 w 62"/>
                  <a:gd name="T7" fmla="*/ 41 h 108"/>
                  <a:gd name="T8" fmla="*/ 20 w 62"/>
                  <a:gd name="T9" fmla="*/ 55 h 108"/>
                  <a:gd name="T10" fmla="*/ 23 w 62"/>
                  <a:gd name="T11" fmla="*/ 70 h 108"/>
                  <a:gd name="T12" fmla="*/ 29 w 62"/>
                  <a:gd name="T13" fmla="*/ 80 h 108"/>
                  <a:gd name="T14" fmla="*/ 38 w 62"/>
                  <a:gd name="T15" fmla="*/ 88 h 108"/>
                  <a:gd name="T16" fmla="*/ 47 w 62"/>
                  <a:gd name="T17" fmla="*/ 96 h 108"/>
                  <a:gd name="T18" fmla="*/ 62 w 62"/>
                  <a:gd name="T19" fmla="*/ 106 h 108"/>
                  <a:gd name="T20" fmla="*/ 41 w 62"/>
                  <a:gd name="T21" fmla="*/ 108 h 108"/>
                  <a:gd name="T22" fmla="*/ 32 w 62"/>
                  <a:gd name="T23" fmla="*/ 105 h 108"/>
                  <a:gd name="T24" fmla="*/ 23 w 62"/>
                  <a:gd name="T25" fmla="*/ 100 h 108"/>
                  <a:gd name="T26" fmla="*/ 14 w 62"/>
                  <a:gd name="T27" fmla="*/ 93 h 108"/>
                  <a:gd name="T28" fmla="*/ 8 w 62"/>
                  <a:gd name="T29" fmla="*/ 85 h 108"/>
                  <a:gd name="T30" fmla="*/ 3 w 62"/>
                  <a:gd name="T31" fmla="*/ 77 h 108"/>
                  <a:gd name="T32" fmla="*/ 0 w 62"/>
                  <a:gd name="T33" fmla="*/ 66 h 108"/>
                  <a:gd name="T34" fmla="*/ 0 w 62"/>
                  <a:gd name="T35" fmla="*/ 54 h 108"/>
                  <a:gd name="T36" fmla="*/ 3 w 62"/>
                  <a:gd name="T37" fmla="*/ 42 h 108"/>
                  <a:gd name="T38" fmla="*/ 7 w 62"/>
                  <a:gd name="T39" fmla="*/ 31 h 108"/>
                  <a:gd name="T40" fmla="*/ 11 w 62"/>
                  <a:gd name="T41" fmla="*/ 24 h 108"/>
                  <a:gd name="T42" fmla="*/ 16 w 62"/>
                  <a:gd name="T43" fmla="*/ 16 h 108"/>
                  <a:gd name="T44" fmla="*/ 22 w 62"/>
                  <a:gd name="T45" fmla="*/ 7 h 108"/>
                  <a:gd name="T46" fmla="*/ 41 w 62"/>
                  <a:gd name="T47" fmla="*/ 0 h 1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2"/>
                  <a:gd name="T73" fmla="*/ 0 h 108"/>
                  <a:gd name="T74" fmla="*/ 62 w 62"/>
                  <a:gd name="T75" fmla="*/ 108 h 10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2" h="108">
                    <a:moveTo>
                      <a:pt x="41" y="0"/>
                    </a:moveTo>
                    <a:lnTo>
                      <a:pt x="34" y="15"/>
                    </a:lnTo>
                    <a:lnTo>
                      <a:pt x="28" y="27"/>
                    </a:lnTo>
                    <a:lnTo>
                      <a:pt x="23" y="41"/>
                    </a:lnTo>
                    <a:lnTo>
                      <a:pt x="20" y="55"/>
                    </a:lnTo>
                    <a:lnTo>
                      <a:pt x="23" y="70"/>
                    </a:lnTo>
                    <a:lnTo>
                      <a:pt x="29" y="80"/>
                    </a:lnTo>
                    <a:lnTo>
                      <a:pt x="38" y="88"/>
                    </a:lnTo>
                    <a:lnTo>
                      <a:pt x="47" y="96"/>
                    </a:lnTo>
                    <a:lnTo>
                      <a:pt x="62" y="106"/>
                    </a:lnTo>
                    <a:lnTo>
                      <a:pt x="41" y="108"/>
                    </a:lnTo>
                    <a:lnTo>
                      <a:pt x="32" y="105"/>
                    </a:lnTo>
                    <a:lnTo>
                      <a:pt x="23" y="100"/>
                    </a:lnTo>
                    <a:lnTo>
                      <a:pt x="14" y="93"/>
                    </a:lnTo>
                    <a:lnTo>
                      <a:pt x="8" y="85"/>
                    </a:lnTo>
                    <a:lnTo>
                      <a:pt x="3" y="77"/>
                    </a:lnTo>
                    <a:lnTo>
                      <a:pt x="0" y="66"/>
                    </a:lnTo>
                    <a:lnTo>
                      <a:pt x="0" y="54"/>
                    </a:lnTo>
                    <a:lnTo>
                      <a:pt x="3" y="42"/>
                    </a:lnTo>
                    <a:lnTo>
                      <a:pt x="7" y="31"/>
                    </a:lnTo>
                    <a:lnTo>
                      <a:pt x="11" y="24"/>
                    </a:lnTo>
                    <a:lnTo>
                      <a:pt x="16" y="16"/>
                    </a:lnTo>
                    <a:lnTo>
                      <a:pt x="22" y="7"/>
                    </a:lnTo>
                    <a:lnTo>
                      <a:pt x="41" y="0"/>
                    </a:lnTo>
                    <a:close/>
                  </a:path>
                </a:pathLst>
              </a:custGeom>
              <a:solidFill>
                <a:srgbClr val="FF0000"/>
              </a:solidFill>
              <a:ln w="9525">
                <a:solidFill>
                  <a:schemeClr val="tx1"/>
                </a:solidFill>
                <a:round/>
                <a:headEnd/>
                <a:tailEnd/>
              </a:ln>
            </p:spPr>
            <p:txBody>
              <a:bodyPr/>
              <a:lstStyle/>
              <a:p>
                <a:endParaRPr lang="sv-SE"/>
              </a:p>
            </p:txBody>
          </p:sp>
        </p:grpSp>
      </p:grpSp>
      <p:sp>
        <p:nvSpPr>
          <p:cNvPr id="20486" name="Text Box 247"/>
          <p:cNvSpPr txBox="1">
            <a:spLocks noChangeArrowheads="1"/>
          </p:cNvSpPr>
          <p:nvPr/>
        </p:nvSpPr>
        <p:spPr bwMode="auto">
          <a:xfrm>
            <a:off x="1524000" y="3581400"/>
            <a:ext cx="7080250" cy="611188"/>
          </a:xfrm>
          <a:prstGeom prst="rect">
            <a:avLst/>
          </a:prstGeom>
          <a:noFill/>
          <a:ln w="9525">
            <a:noFill/>
            <a:miter lim="800000"/>
            <a:headEnd/>
            <a:tailEnd/>
          </a:ln>
        </p:spPr>
        <p:txBody>
          <a:bodyPr wrap="none"/>
          <a:lstStyle/>
          <a:p>
            <a:pPr>
              <a:tabLst>
                <a:tab pos="1698625" algn="l"/>
                <a:tab pos="2600325" algn="l"/>
                <a:tab pos="4216400" algn="l"/>
                <a:tab pos="5200650" algn="l"/>
              </a:tabLst>
            </a:pPr>
            <a:r>
              <a:rPr lang="en-US" sz="1600" b="1" dirty="0"/>
              <a:t>   </a:t>
            </a:r>
            <a:r>
              <a:rPr lang="sl-SI" sz="1600" b="1" dirty="0"/>
              <a:t>Točen</a:t>
            </a:r>
            <a:r>
              <a:rPr lang="en-US" sz="1600" b="1" dirty="0"/>
              <a:t>	+	</a:t>
            </a:r>
            <a:r>
              <a:rPr lang="sl-SI" sz="1600" b="1" dirty="0"/>
              <a:t>Natančen</a:t>
            </a:r>
            <a:r>
              <a:rPr lang="en-US" sz="1600" b="1" dirty="0"/>
              <a:t>	=	</a:t>
            </a:r>
            <a:r>
              <a:rPr lang="en-US" sz="1600" b="1" dirty="0" err="1"/>
              <a:t>Perfe</a:t>
            </a:r>
            <a:r>
              <a:rPr lang="sl-SI" sz="1600" b="1" dirty="0"/>
              <a:t>k</a:t>
            </a:r>
            <a:r>
              <a:rPr lang="en-US" sz="1600" b="1" dirty="0"/>
              <a:t>t</a:t>
            </a:r>
            <a:r>
              <a:rPr lang="sl-SI" sz="1600" b="1" dirty="0"/>
              <a:t>en</a:t>
            </a:r>
            <a:endParaRPr lang="en-US" sz="1600" b="1" dirty="0"/>
          </a:p>
          <a:p>
            <a:pPr>
              <a:tabLst>
                <a:tab pos="1698625" algn="l"/>
                <a:tab pos="2600325" algn="l"/>
                <a:tab pos="4216400" algn="l"/>
                <a:tab pos="5200650" algn="l"/>
              </a:tabLst>
            </a:pPr>
            <a:r>
              <a:rPr lang="en-US" sz="1600" dirty="0"/>
              <a:t> </a:t>
            </a:r>
          </a:p>
        </p:txBody>
      </p:sp>
      <p:sp>
        <p:nvSpPr>
          <p:cNvPr id="20487" name="Text Box 250"/>
          <p:cNvSpPr txBox="1">
            <a:spLocks noChangeArrowheads="1"/>
          </p:cNvSpPr>
          <p:nvPr/>
        </p:nvSpPr>
        <p:spPr bwMode="auto">
          <a:xfrm>
            <a:off x="6108239" y="6069013"/>
            <a:ext cx="2144048" cy="338554"/>
          </a:xfrm>
          <a:prstGeom prst="rect">
            <a:avLst/>
          </a:prstGeom>
          <a:noFill/>
          <a:ln w="9525">
            <a:noFill/>
            <a:miter lim="800000"/>
            <a:headEnd/>
            <a:tailEnd/>
          </a:ln>
        </p:spPr>
        <p:txBody>
          <a:bodyPr wrap="none">
            <a:spAutoFit/>
          </a:bodyPr>
          <a:lstStyle/>
          <a:p>
            <a:pPr algn="ctr"/>
            <a:r>
              <a:rPr lang="sl-SI" sz="1600" b="1" dirty="0"/>
              <a:t>Ni točen in ni natančen</a:t>
            </a:r>
            <a:endParaRPr lang="en-US" sz="1600" b="1" dirty="0"/>
          </a:p>
        </p:txBody>
      </p:sp>
      <p:sp>
        <p:nvSpPr>
          <p:cNvPr id="20488" name="Text Box 253"/>
          <p:cNvSpPr txBox="1">
            <a:spLocks noChangeArrowheads="1"/>
          </p:cNvSpPr>
          <p:nvPr/>
        </p:nvSpPr>
        <p:spPr bwMode="auto">
          <a:xfrm>
            <a:off x="381000" y="4579938"/>
            <a:ext cx="4543425" cy="1815882"/>
          </a:xfrm>
          <a:prstGeom prst="rect">
            <a:avLst/>
          </a:prstGeom>
          <a:noFill/>
          <a:ln w="9525">
            <a:noFill/>
            <a:miter lim="800000"/>
            <a:headEnd/>
            <a:tailEnd/>
          </a:ln>
        </p:spPr>
        <p:txBody>
          <a:bodyPr>
            <a:spAutoFit/>
          </a:bodyPr>
          <a:lstStyle/>
          <a:p>
            <a:r>
              <a:rPr lang="sl-SI" sz="1600" b="1" dirty="0"/>
              <a:t>Dve kategoriji merjene napake</a:t>
            </a:r>
            <a:r>
              <a:rPr lang="en-US" sz="1600" b="1" dirty="0"/>
              <a:t>:</a:t>
            </a:r>
          </a:p>
          <a:p>
            <a:endParaRPr lang="nl-NL" sz="1600" b="1" dirty="0"/>
          </a:p>
          <a:p>
            <a:r>
              <a:rPr lang="sl-SI" sz="1600" b="1" u="sng" dirty="0"/>
              <a:t>Točnost</a:t>
            </a:r>
            <a:r>
              <a:rPr lang="sl-SI" sz="1600" b="1" dirty="0"/>
              <a:t> pove, kako blizu ‚prave‘ vrednosti je meritev</a:t>
            </a:r>
            <a:r>
              <a:rPr lang="en-US" sz="1600" b="1" dirty="0"/>
              <a:t>. </a:t>
            </a:r>
          </a:p>
          <a:p>
            <a:endParaRPr lang="nl-NL" sz="1600" b="1" dirty="0"/>
          </a:p>
          <a:p>
            <a:r>
              <a:rPr lang="sl-SI" sz="1600" b="1" u="sng" dirty="0"/>
              <a:t>Natančnost</a:t>
            </a:r>
            <a:r>
              <a:rPr lang="sl-SI" sz="1600" b="1" dirty="0"/>
              <a:t> pove, kako blizu druga drugi so meritve</a:t>
            </a:r>
            <a:r>
              <a:rPr lang="en-US" sz="1600" b="1" dirty="0"/>
              <a:t>.</a:t>
            </a:r>
            <a:endParaRPr lang="nl-NL" sz="1600" b="1" dirty="0"/>
          </a:p>
        </p:txBody>
      </p:sp>
      <p:sp>
        <p:nvSpPr>
          <p:cNvPr id="20489" name="Titel 250"/>
          <p:cNvSpPr>
            <a:spLocks noGrp="1"/>
          </p:cNvSpPr>
          <p:nvPr>
            <p:ph type="title"/>
          </p:nvPr>
        </p:nvSpPr>
        <p:spPr/>
        <p:txBody>
          <a:bodyPr/>
          <a:lstStyle/>
          <a:p>
            <a:r>
              <a:rPr lang="en-GB" dirty="0" err="1">
                <a:latin typeface="Arial" charset="0"/>
              </a:rPr>
              <a:t>Analiza</a:t>
            </a:r>
            <a:r>
              <a:rPr lang="en-GB" dirty="0">
                <a:latin typeface="Arial" charset="0"/>
              </a:rPr>
              <a:t> </a:t>
            </a:r>
            <a:r>
              <a:rPr lang="en-GB" dirty="0" err="1">
                <a:latin typeface="Arial" charset="0"/>
              </a:rPr>
              <a:t>merilnega</a:t>
            </a:r>
            <a:r>
              <a:rPr lang="en-GB" dirty="0">
                <a:latin typeface="Arial" charset="0"/>
              </a:rPr>
              <a:t> </a:t>
            </a:r>
            <a:r>
              <a:rPr lang="en-GB" dirty="0" err="1">
                <a:latin typeface="Arial" charset="0"/>
              </a:rPr>
              <a:t>sistema</a:t>
            </a:r>
            <a:endParaRPr dirty="0">
              <a:latin typeface="Arial" charset="0"/>
              <a:cs typeface="Arial" charset="0"/>
            </a:endParaRPr>
          </a:p>
        </p:txBody>
      </p:sp>
    </p:spTree>
    <p:extLst>
      <p:ext uri="{BB962C8B-B14F-4D97-AF65-F5344CB8AC3E}">
        <p14:creationId xmlns:p14="http://schemas.microsoft.com/office/powerpoint/2010/main" val="216854155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Oval 2"/>
          <p:cNvSpPr>
            <a:spLocks noChangeArrowheads="1"/>
          </p:cNvSpPr>
          <p:nvPr/>
        </p:nvSpPr>
        <p:spPr bwMode="auto">
          <a:xfrm>
            <a:off x="4873625" y="6276975"/>
            <a:ext cx="2333625" cy="504825"/>
          </a:xfrm>
          <a:prstGeom prst="ellipse">
            <a:avLst/>
          </a:prstGeom>
          <a:solidFill>
            <a:srgbClr val="DDDDDD"/>
          </a:solidFill>
          <a:ln w="9525">
            <a:solidFill>
              <a:schemeClr val="tx1"/>
            </a:solidFill>
            <a:round/>
            <a:headEnd/>
            <a:tailEnd/>
          </a:ln>
        </p:spPr>
        <p:txBody>
          <a:bodyPr wrap="none" anchor="ctr"/>
          <a:lstStyle/>
          <a:p>
            <a:endParaRPr lang="en-GB"/>
          </a:p>
        </p:txBody>
      </p:sp>
      <p:sp>
        <p:nvSpPr>
          <p:cNvPr id="25603" name="Rectangle 4"/>
          <p:cNvSpPr>
            <a:spLocks noChangeArrowheads="1"/>
          </p:cNvSpPr>
          <p:nvPr/>
        </p:nvSpPr>
        <p:spPr bwMode="auto">
          <a:xfrm>
            <a:off x="1666875" y="3705225"/>
            <a:ext cx="2654300" cy="254000"/>
          </a:xfrm>
          <a:prstGeom prst="rect">
            <a:avLst/>
          </a:prstGeom>
          <a:gradFill rotWithShape="1">
            <a:gsLst>
              <a:gs pos="0">
                <a:srgbClr val="762F00"/>
              </a:gs>
              <a:gs pos="50000">
                <a:srgbClr val="FF6600"/>
              </a:gs>
              <a:gs pos="100000">
                <a:srgbClr val="762F00"/>
              </a:gs>
            </a:gsLst>
            <a:lin ang="5400000" scaled="1"/>
          </a:gradFill>
          <a:ln w="9525">
            <a:solidFill>
              <a:schemeClr val="tx1"/>
            </a:solidFill>
            <a:miter lim="800000"/>
            <a:headEnd/>
            <a:tailEnd/>
          </a:ln>
        </p:spPr>
        <p:txBody>
          <a:bodyPr wrap="none" anchor="ctr"/>
          <a:lstStyle/>
          <a:p>
            <a:endParaRPr lang="en-GB"/>
          </a:p>
        </p:txBody>
      </p:sp>
      <p:sp>
        <p:nvSpPr>
          <p:cNvPr id="25604" name="Rectangle 5"/>
          <p:cNvSpPr>
            <a:spLocks noChangeArrowheads="1"/>
          </p:cNvSpPr>
          <p:nvPr/>
        </p:nvSpPr>
        <p:spPr bwMode="auto">
          <a:xfrm>
            <a:off x="1681163" y="5200650"/>
            <a:ext cx="2654300" cy="254000"/>
          </a:xfrm>
          <a:prstGeom prst="rect">
            <a:avLst/>
          </a:prstGeom>
          <a:gradFill rotWithShape="1">
            <a:gsLst>
              <a:gs pos="0">
                <a:srgbClr val="762F00"/>
              </a:gs>
              <a:gs pos="50000">
                <a:srgbClr val="FF6600"/>
              </a:gs>
              <a:gs pos="100000">
                <a:srgbClr val="762F00"/>
              </a:gs>
            </a:gsLst>
            <a:lin ang="5400000" scaled="1"/>
          </a:gradFill>
          <a:ln w="9525">
            <a:solidFill>
              <a:schemeClr val="tx1"/>
            </a:solidFill>
            <a:miter lim="800000"/>
            <a:headEnd/>
            <a:tailEnd/>
          </a:ln>
        </p:spPr>
        <p:txBody>
          <a:bodyPr wrap="none" anchor="ctr"/>
          <a:lstStyle/>
          <a:p>
            <a:endParaRPr lang="en-GB"/>
          </a:p>
        </p:txBody>
      </p:sp>
      <p:sp>
        <p:nvSpPr>
          <p:cNvPr id="152582" name="Text Box 6"/>
          <p:cNvSpPr txBox="1">
            <a:spLocks noChangeArrowheads="1"/>
          </p:cNvSpPr>
          <p:nvPr/>
        </p:nvSpPr>
        <p:spPr bwMode="auto">
          <a:xfrm>
            <a:off x="5086350" y="6375400"/>
            <a:ext cx="1901611" cy="338554"/>
          </a:xfrm>
          <a:prstGeom prst="rect">
            <a:avLst/>
          </a:prstGeom>
          <a:noFill/>
          <a:ln w="9525">
            <a:noFill/>
            <a:miter lim="800000"/>
            <a:headEnd/>
            <a:tailEnd/>
          </a:ln>
        </p:spPr>
        <p:txBody>
          <a:bodyPr wrap="none">
            <a:spAutoFit/>
          </a:bodyPr>
          <a:lstStyle/>
          <a:p>
            <a:r>
              <a:rPr lang="sl-SI" sz="1600" dirty="0">
                <a:solidFill>
                  <a:srgbClr val="A00000"/>
                </a:solidFill>
              </a:rPr>
              <a:t>Zadovoljiva ločljivost</a:t>
            </a:r>
            <a:endParaRPr lang="en-GB" sz="1600" dirty="0">
              <a:solidFill>
                <a:srgbClr val="A00000"/>
              </a:solidFill>
            </a:endParaRPr>
          </a:p>
        </p:txBody>
      </p:sp>
      <p:sp>
        <p:nvSpPr>
          <p:cNvPr id="25606" name="Oval 7"/>
          <p:cNvSpPr>
            <a:spLocks noChangeArrowheads="1"/>
          </p:cNvSpPr>
          <p:nvPr/>
        </p:nvSpPr>
        <p:spPr bwMode="auto">
          <a:xfrm>
            <a:off x="4902200" y="4781550"/>
            <a:ext cx="2333625" cy="504825"/>
          </a:xfrm>
          <a:prstGeom prst="ellipse">
            <a:avLst/>
          </a:prstGeom>
          <a:solidFill>
            <a:srgbClr val="DDDDDD"/>
          </a:solidFill>
          <a:ln w="9525">
            <a:solidFill>
              <a:schemeClr val="tx1"/>
            </a:solidFill>
            <a:round/>
            <a:headEnd/>
            <a:tailEnd/>
          </a:ln>
        </p:spPr>
        <p:txBody>
          <a:bodyPr wrap="none" anchor="ctr"/>
          <a:lstStyle/>
          <a:p>
            <a:endParaRPr lang="en-GB"/>
          </a:p>
        </p:txBody>
      </p:sp>
      <p:sp>
        <p:nvSpPr>
          <p:cNvPr id="152584" name="Text Box 8"/>
          <p:cNvSpPr txBox="1">
            <a:spLocks noChangeArrowheads="1"/>
          </p:cNvSpPr>
          <p:nvPr/>
        </p:nvSpPr>
        <p:spPr bwMode="auto">
          <a:xfrm>
            <a:off x="5343525" y="4879975"/>
            <a:ext cx="1406732" cy="338554"/>
          </a:xfrm>
          <a:prstGeom prst="rect">
            <a:avLst/>
          </a:prstGeom>
          <a:noFill/>
          <a:ln w="9525">
            <a:noFill/>
            <a:miter lim="800000"/>
            <a:headEnd/>
            <a:tailEnd/>
          </a:ln>
        </p:spPr>
        <p:txBody>
          <a:bodyPr wrap="none">
            <a:spAutoFit/>
          </a:bodyPr>
          <a:lstStyle/>
          <a:p>
            <a:r>
              <a:rPr lang="sl-SI" sz="1600" dirty="0">
                <a:solidFill>
                  <a:srgbClr val="A00000"/>
                </a:solidFill>
              </a:rPr>
              <a:t>Slaba ločljivost</a:t>
            </a:r>
            <a:endParaRPr lang="en-GB" sz="1600" dirty="0">
              <a:solidFill>
                <a:srgbClr val="A00000"/>
              </a:solidFill>
            </a:endParaRPr>
          </a:p>
        </p:txBody>
      </p:sp>
      <p:grpSp>
        <p:nvGrpSpPr>
          <p:cNvPr id="2" name="Group 10"/>
          <p:cNvGrpSpPr>
            <a:grpSpLocks/>
          </p:cNvGrpSpPr>
          <p:nvPr/>
        </p:nvGrpSpPr>
        <p:grpSpPr bwMode="auto">
          <a:xfrm>
            <a:off x="1543050" y="5507038"/>
            <a:ext cx="5397500" cy="687387"/>
            <a:chOff x="972" y="3175"/>
            <a:chExt cx="3400" cy="433"/>
          </a:xfrm>
        </p:grpSpPr>
        <p:sp>
          <p:nvSpPr>
            <p:cNvPr id="25625" name="Rectangle 11"/>
            <p:cNvSpPr>
              <a:spLocks noChangeArrowheads="1"/>
            </p:cNvSpPr>
            <p:nvPr/>
          </p:nvSpPr>
          <p:spPr bwMode="auto">
            <a:xfrm>
              <a:off x="972" y="3184"/>
              <a:ext cx="3400" cy="424"/>
            </a:xfrm>
            <a:prstGeom prst="rect">
              <a:avLst/>
            </a:prstGeom>
            <a:solidFill>
              <a:srgbClr val="FFFF99"/>
            </a:solidFill>
            <a:ln w="12700">
              <a:solidFill>
                <a:schemeClr val="tx1"/>
              </a:solidFill>
              <a:miter lim="800000"/>
              <a:headEnd/>
              <a:tailEnd/>
            </a:ln>
          </p:spPr>
          <p:txBody>
            <a:bodyPr wrap="none" anchor="ctr"/>
            <a:lstStyle/>
            <a:p>
              <a:endParaRPr lang="en-GB"/>
            </a:p>
          </p:txBody>
        </p:sp>
        <p:grpSp>
          <p:nvGrpSpPr>
            <p:cNvPr id="3" name="Group 12"/>
            <p:cNvGrpSpPr>
              <a:grpSpLocks/>
            </p:cNvGrpSpPr>
            <p:nvPr/>
          </p:nvGrpSpPr>
          <p:grpSpPr bwMode="auto">
            <a:xfrm>
              <a:off x="1112" y="3184"/>
              <a:ext cx="3120" cy="232"/>
              <a:chOff x="1200" y="3220"/>
              <a:chExt cx="3120" cy="232"/>
            </a:xfrm>
          </p:grpSpPr>
          <p:sp>
            <p:nvSpPr>
              <p:cNvPr id="25699" name="Line 13"/>
              <p:cNvSpPr>
                <a:spLocks noChangeShapeType="1"/>
              </p:cNvSpPr>
              <p:nvPr/>
            </p:nvSpPr>
            <p:spPr bwMode="auto">
              <a:xfrm>
                <a:off x="1200" y="3220"/>
                <a:ext cx="0" cy="232"/>
              </a:xfrm>
              <a:prstGeom prst="line">
                <a:avLst/>
              </a:prstGeom>
              <a:noFill/>
              <a:ln w="12700">
                <a:solidFill>
                  <a:schemeClr val="tx1"/>
                </a:solidFill>
                <a:round/>
                <a:headEnd/>
                <a:tailEnd/>
              </a:ln>
            </p:spPr>
            <p:txBody>
              <a:bodyPr wrap="none" anchor="ctr"/>
              <a:lstStyle/>
              <a:p>
                <a:endParaRPr lang="sv-SE"/>
              </a:p>
            </p:txBody>
          </p:sp>
          <p:sp>
            <p:nvSpPr>
              <p:cNvPr id="25700" name="Line 14"/>
              <p:cNvSpPr>
                <a:spLocks noChangeShapeType="1"/>
              </p:cNvSpPr>
              <p:nvPr/>
            </p:nvSpPr>
            <p:spPr bwMode="auto">
              <a:xfrm>
                <a:off x="1824" y="3220"/>
                <a:ext cx="0" cy="232"/>
              </a:xfrm>
              <a:prstGeom prst="line">
                <a:avLst/>
              </a:prstGeom>
              <a:noFill/>
              <a:ln w="12700">
                <a:solidFill>
                  <a:schemeClr val="tx1"/>
                </a:solidFill>
                <a:round/>
                <a:headEnd/>
                <a:tailEnd/>
              </a:ln>
            </p:spPr>
            <p:txBody>
              <a:bodyPr wrap="none" anchor="ctr"/>
              <a:lstStyle/>
              <a:p>
                <a:endParaRPr lang="sv-SE"/>
              </a:p>
            </p:txBody>
          </p:sp>
          <p:sp>
            <p:nvSpPr>
              <p:cNvPr id="25701" name="Line 15"/>
              <p:cNvSpPr>
                <a:spLocks noChangeShapeType="1"/>
              </p:cNvSpPr>
              <p:nvPr/>
            </p:nvSpPr>
            <p:spPr bwMode="auto">
              <a:xfrm>
                <a:off x="2448" y="3220"/>
                <a:ext cx="0" cy="232"/>
              </a:xfrm>
              <a:prstGeom prst="line">
                <a:avLst/>
              </a:prstGeom>
              <a:noFill/>
              <a:ln w="12700">
                <a:solidFill>
                  <a:schemeClr val="tx1"/>
                </a:solidFill>
                <a:round/>
                <a:headEnd/>
                <a:tailEnd/>
              </a:ln>
            </p:spPr>
            <p:txBody>
              <a:bodyPr wrap="none" anchor="ctr"/>
              <a:lstStyle/>
              <a:p>
                <a:endParaRPr lang="sv-SE"/>
              </a:p>
            </p:txBody>
          </p:sp>
          <p:sp>
            <p:nvSpPr>
              <p:cNvPr id="25702" name="Line 16"/>
              <p:cNvSpPr>
                <a:spLocks noChangeShapeType="1"/>
              </p:cNvSpPr>
              <p:nvPr/>
            </p:nvSpPr>
            <p:spPr bwMode="auto">
              <a:xfrm>
                <a:off x="3072" y="3220"/>
                <a:ext cx="0" cy="232"/>
              </a:xfrm>
              <a:prstGeom prst="line">
                <a:avLst/>
              </a:prstGeom>
              <a:noFill/>
              <a:ln w="12700">
                <a:solidFill>
                  <a:schemeClr val="tx1"/>
                </a:solidFill>
                <a:round/>
                <a:headEnd/>
                <a:tailEnd/>
              </a:ln>
            </p:spPr>
            <p:txBody>
              <a:bodyPr wrap="none" anchor="ctr"/>
              <a:lstStyle/>
              <a:p>
                <a:endParaRPr lang="sv-SE"/>
              </a:p>
            </p:txBody>
          </p:sp>
          <p:sp>
            <p:nvSpPr>
              <p:cNvPr id="25703" name="Line 17"/>
              <p:cNvSpPr>
                <a:spLocks noChangeShapeType="1"/>
              </p:cNvSpPr>
              <p:nvPr/>
            </p:nvSpPr>
            <p:spPr bwMode="auto">
              <a:xfrm>
                <a:off x="3696" y="3220"/>
                <a:ext cx="0" cy="232"/>
              </a:xfrm>
              <a:prstGeom prst="line">
                <a:avLst/>
              </a:prstGeom>
              <a:noFill/>
              <a:ln w="12700">
                <a:solidFill>
                  <a:schemeClr val="tx1"/>
                </a:solidFill>
                <a:round/>
                <a:headEnd/>
                <a:tailEnd/>
              </a:ln>
            </p:spPr>
            <p:txBody>
              <a:bodyPr wrap="none" anchor="ctr"/>
              <a:lstStyle/>
              <a:p>
                <a:endParaRPr lang="sv-SE"/>
              </a:p>
            </p:txBody>
          </p:sp>
          <p:sp>
            <p:nvSpPr>
              <p:cNvPr id="25704" name="Line 18"/>
              <p:cNvSpPr>
                <a:spLocks noChangeShapeType="1"/>
              </p:cNvSpPr>
              <p:nvPr/>
            </p:nvSpPr>
            <p:spPr bwMode="auto">
              <a:xfrm>
                <a:off x="4320" y="3220"/>
                <a:ext cx="0" cy="232"/>
              </a:xfrm>
              <a:prstGeom prst="line">
                <a:avLst/>
              </a:prstGeom>
              <a:noFill/>
              <a:ln w="12700">
                <a:solidFill>
                  <a:schemeClr val="tx1"/>
                </a:solidFill>
                <a:round/>
                <a:headEnd/>
                <a:tailEnd/>
              </a:ln>
            </p:spPr>
            <p:txBody>
              <a:bodyPr wrap="none" anchor="ctr"/>
              <a:lstStyle/>
              <a:p>
                <a:endParaRPr lang="sv-SE"/>
              </a:p>
            </p:txBody>
          </p:sp>
        </p:grpSp>
        <p:sp>
          <p:nvSpPr>
            <p:cNvPr id="25627" name="Rectangle 19"/>
            <p:cNvSpPr>
              <a:spLocks noChangeArrowheads="1"/>
            </p:cNvSpPr>
            <p:nvPr/>
          </p:nvSpPr>
          <p:spPr bwMode="auto">
            <a:xfrm>
              <a:off x="1561" y="3360"/>
              <a:ext cx="202" cy="231"/>
            </a:xfrm>
            <a:prstGeom prst="rect">
              <a:avLst/>
            </a:prstGeom>
            <a:solidFill>
              <a:srgbClr val="FFFF99"/>
            </a:solidFill>
            <a:ln w="12700">
              <a:noFill/>
              <a:miter lim="800000"/>
              <a:headEnd/>
              <a:tailEnd/>
            </a:ln>
          </p:spPr>
          <p:txBody>
            <a:bodyPr wrap="none" lIns="90488" tIns="44450" rIns="90488" bIns="44450">
              <a:spAutoFit/>
            </a:bodyPr>
            <a:lstStyle/>
            <a:p>
              <a:pPr algn="r" eaLnBrk="0" hangingPunct="0">
                <a:spcBef>
                  <a:spcPct val="50000"/>
                </a:spcBef>
              </a:pPr>
              <a:r>
                <a:rPr lang="en-GB" b="1">
                  <a:latin typeface="Courier New" pitchFamily="49" charset="0"/>
                </a:rPr>
                <a:t>1</a:t>
              </a:r>
            </a:p>
          </p:txBody>
        </p:sp>
        <p:sp>
          <p:nvSpPr>
            <p:cNvPr id="25628" name="Rectangle 20"/>
            <p:cNvSpPr>
              <a:spLocks noChangeArrowheads="1"/>
            </p:cNvSpPr>
            <p:nvPr/>
          </p:nvSpPr>
          <p:spPr bwMode="auto">
            <a:xfrm>
              <a:off x="2185" y="3360"/>
              <a:ext cx="202" cy="231"/>
            </a:xfrm>
            <a:prstGeom prst="rect">
              <a:avLst/>
            </a:prstGeom>
            <a:solidFill>
              <a:srgbClr val="FFFF99"/>
            </a:solidFill>
            <a:ln w="12700">
              <a:noFill/>
              <a:miter lim="800000"/>
              <a:headEnd/>
              <a:tailEnd/>
            </a:ln>
          </p:spPr>
          <p:txBody>
            <a:bodyPr wrap="none" lIns="90488" tIns="44450" rIns="90488" bIns="44450">
              <a:spAutoFit/>
            </a:bodyPr>
            <a:lstStyle/>
            <a:p>
              <a:pPr algn="r" eaLnBrk="0" hangingPunct="0">
                <a:spcBef>
                  <a:spcPct val="50000"/>
                </a:spcBef>
              </a:pPr>
              <a:r>
                <a:rPr lang="en-GB" b="1">
                  <a:latin typeface="Courier New" pitchFamily="49" charset="0"/>
                </a:rPr>
                <a:t>2</a:t>
              </a:r>
            </a:p>
          </p:txBody>
        </p:sp>
        <p:sp>
          <p:nvSpPr>
            <p:cNvPr id="25629" name="Rectangle 21"/>
            <p:cNvSpPr>
              <a:spLocks noChangeArrowheads="1"/>
            </p:cNvSpPr>
            <p:nvPr/>
          </p:nvSpPr>
          <p:spPr bwMode="auto">
            <a:xfrm>
              <a:off x="2809" y="3360"/>
              <a:ext cx="202" cy="231"/>
            </a:xfrm>
            <a:prstGeom prst="rect">
              <a:avLst/>
            </a:prstGeom>
            <a:solidFill>
              <a:srgbClr val="FFFF99"/>
            </a:solidFill>
            <a:ln w="12700">
              <a:noFill/>
              <a:miter lim="800000"/>
              <a:headEnd/>
              <a:tailEnd/>
            </a:ln>
          </p:spPr>
          <p:txBody>
            <a:bodyPr wrap="none" lIns="90488" tIns="44450" rIns="90488" bIns="44450">
              <a:spAutoFit/>
            </a:bodyPr>
            <a:lstStyle/>
            <a:p>
              <a:pPr algn="r" eaLnBrk="0" hangingPunct="0">
                <a:spcBef>
                  <a:spcPct val="50000"/>
                </a:spcBef>
              </a:pPr>
              <a:r>
                <a:rPr lang="en-GB" b="1">
                  <a:latin typeface="Courier New" pitchFamily="49" charset="0"/>
                </a:rPr>
                <a:t>3</a:t>
              </a:r>
            </a:p>
          </p:txBody>
        </p:sp>
        <p:sp>
          <p:nvSpPr>
            <p:cNvPr id="25630" name="Rectangle 22"/>
            <p:cNvSpPr>
              <a:spLocks noChangeArrowheads="1"/>
            </p:cNvSpPr>
            <p:nvPr/>
          </p:nvSpPr>
          <p:spPr bwMode="auto">
            <a:xfrm>
              <a:off x="3433" y="3360"/>
              <a:ext cx="202" cy="231"/>
            </a:xfrm>
            <a:prstGeom prst="rect">
              <a:avLst/>
            </a:prstGeom>
            <a:solidFill>
              <a:srgbClr val="FFFF99"/>
            </a:solidFill>
            <a:ln w="12700">
              <a:noFill/>
              <a:miter lim="800000"/>
              <a:headEnd/>
              <a:tailEnd/>
            </a:ln>
          </p:spPr>
          <p:txBody>
            <a:bodyPr wrap="none" lIns="90488" tIns="44450" rIns="90488" bIns="44450">
              <a:spAutoFit/>
            </a:bodyPr>
            <a:lstStyle/>
            <a:p>
              <a:pPr algn="r" eaLnBrk="0" hangingPunct="0">
                <a:spcBef>
                  <a:spcPct val="50000"/>
                </a:spcBef>
              </a:pPr>
              <a:r>
                <a:rPr lang="en-GB" b="1">
                  <a:latin typeface="Courier New" pitchFamily="49" charset="0"/>
                </a:rPr>
                <a:t>4</a:t>
              </a:r>
            </a:p>
          </p:txBody>
        </p:sp>
        <p:sp>
          <p:nvSpPr>
            <p:cNvPr id="25631" name="Rectangle 23"/>
            <p:cNvSpPr>
              <a:spLocks noChangeArrowheads="1"/>
            </p:cNvSpPr>
            <p:nvPr/>
          </p:nvSpPr>
          <p:spPr bwMode="auto">
            <a:xfrm>
              <a:off x="4057" y="3360"/>
              <a:ext cx="202" cy="231"/>
            </a:xfrm>
            <a:prstGeom prst="rect">
              <a:avLst/>
            </a:prstGeom>
            <a:solidFill>
              <a:srgbClr val="FFFF99"/>
            </a:solidFill>
            <a:ln w="12700">
              <a:noFill/>
              <a:miter lim="800000"/>
              <a:headEnd/>
              <a:tailEnd/>
            </a:ln>
          </p:spPr>
          <p:txBody>
            <a:bodyPr wrap="none" lIns="90488" tIns="44450" rIns="90488" bIns="44450">
              <a:spAutoFit/>
            </a:bodyPr>
            <a:lstStyle/>
            <a:p>
              <a:pPr algn="r" eaLnBrk="0" hangingPunct="0">
                <a:spcBef>
                  <a:spcPct val="50000"/>
                </a:spcBef>
              </a:pPr>
              <a:r>
                <a:rPr lang="en-GB" b="1">
                  <a:latin typeface="Courier New" pitchFamily="49" charset="0"/>
                </a:rPr>
                <a:t>5</a:t>
              </a:r>
            </a:p>
          </p:txBody>
        </p:sp>
        <p:grpSp>
          <p:nvGrpSpPr>
            <p:cNvPr id="4" name="Group 24"/>
            <p:cNvGrpSpPr>
              <a:grpSpLocks/>
            </p:cNvGrpSpPr>
            <p:nvPr/>
          </p:nvGrpSpPr>
          <p:grpSpPr bwMode="auto">
            <a:xfrm>
              <a:off x="1112" y="3184"/>
              <a:ext cx="624" cy="136"/>
              <a:chOff x="1200" y="3220"/>
              <a:chExt cx="624" cy="136"/>
            </a:xfrm>
          </p:grpSpPr>
          <p:sp>
            <p:nvSpPr>
              <p:cNvPr id="25688" name="Line 25"/>
              <p:cNvSpPr>
                <a:spLocks noChangeShapeType="1"/>
              </p:cNvSpPr>
              <p:nvPr/>
            </p:nvSpPr>
            <p:spPr bwMode="auto">
              <a:xfrm>
                <a:off x="1200" y="3220"/>
                <a:ext cx="0" cy="136"/>
              </a:xfrm>
              <a:prstGeom prst="line">
                <a:avLst/>
              </a:prstGeom>
              <a:noFill/>
              <a:ln w="12700">
                <a:solidFill>
                  <a:schemeClr val="tx1"/>
                </a:solidFill>
                <a:round/>
                <a:headEnd/>
                <a:tailEnd/>
              </a:ln>
            </p:spPr>
            <p:txBody>
              <a:bodyPr wrap="none" anchor="ctr"/>
              <a:lstStyle/>
              <a:p>
                <a:endParaRPr lang="sv-SE"/>
              </a:p>
            </p:txBody>
          </p:sp>
          <p:sp>
            <p:nvSpPr>
              <p:cNvPr id="25689" name="Line 26"/>
              <p:cNvSpPr>
                <a:spLocks noChangeShapeType="1"/>
              </p:cNvSpPr>
              <p:nvPr/>
            </p:nvSpPr>
            <p:spPr bwMode="auto">
              <a:xfrm>
                <a:off x="1263" y="3220"/>
                <a:ext cx="0" cy="136"/>
              </a:xfrm>
              <a:prstGeom prst="line">
                <a:avLst/>
              </a:prstGeom>
              <a:noFill/>
              <a:ln w="12700">
                <a:solidFill>
                  <a:schemeClr val="tx1"/>
                </a:solidFill>
                <a:round/>
                <a:headEnd/>
                <a:tailEnd/>
              </a:ln>
            </p:spPr>
            <p:txBody>
              <a:bodyPr wrap="none" anchor="ctr"/>
              <a:lstStyle/>
              <a:p>
                <a:endParaRPr lang="sv-SE"/>
              </a:p>
            </p:txBody>
          </p:sp>
          <p:sp>
            <p:nvSpPr>
              <p:cNvPr id="25690" name="Line 27"/>
              <p:cNvSpPr>
                <a:spLocks noChangeShapeType="1"/>
              </p:cNvSpPr>
              <p:nvPr/>
            </p:nvSpPr>
            <p:spPr bwMode="auto">
              <a:xfrm>
                <a:off x="1325" y="3220"/>
                <a:ext cx="0" cy="136"/>
              </a:xfrm>
              <a:prstGeom prst="line">
                <a:avLst/>
              </a:prstGeom>
              <a:noFill/>
              <a:ln w="12700">
                <a:solidFill>
                  <a:schemeClr val="tx1"/>
                </a:solidFill>
                <a:round/>
                <a:headEnd/>
                <a:tailEnd/>
              </a:ln>
            </p:spPr>
            <p:txBody>
              <a:bodyPr wrap="none" anchor="ctr"/>
              <a:lstStyle/>
              <a:p>
                <a:endParaRPr lang="sv-SE"/>
              </a:p>
            </p:txBody>
          </p:sp>
          <p:sp>
            <p:nvSpPr>
              <p:cNvPr id="25691" name="Line 28"/>
              <p:cNvSpPr>
                <a:spLocks noChangeShapeType="1"/>
              </p:cNvSpPr>
              <p:nvPr/>
            </p:nvSpPr>
            <p:spPr bwMode="auto">
              <a:xfrm>
                <a:off x="1387" y="3220"/>
                <a:ext cx="0" cy="136"/>
              </a:xfrm>
              <a:prstGeom prst="line">
                <a:avLst/>
              </a:prstGeom>
              <a:noFill/>
              <a:ln w="12700">
                <a:solidFill>
                  <a:schemeClr val="tx1"/>
                </a:solidFill>
                <a:round/>
                <a:headEnd/>
                <a:tailEnd/>
              </a:ln>
            </p:spPr>
            <p:txBody>
              <a:bodyPr wrap="none" anchor="ctr"/>
              <a:lstStyle/>
              <a:p>
                <a:endParaRPr lang="sv-SE"/>
              </a:p>
            </p:txBody>
          </p:sp>
          <p:sp>
            <p:nvSpPr>
              <p:cNvPr id="25692" name="Line 29"/>
              <p:cNvSpPr>
                <a:spLocks noChangeShapeType="1"/>
              </p:cNvSpPr>
              <p:nvPr/>
            </p:nvSpPr>
            <p:spPr bwMode="auto">
              <a:xfrm>
                <a:off x="1449" y="3220"/>
                <a:ext cx="0" cy="136"/>
              </a:xfrm>
              <a:prstGeom prst="line">
                <a:avLst/>
              </a:prstGeom>
              <a:noFill/>
              <a:ln w="12700">
                <a:solidFill>
                  <a:schemeClr val="tx1"/>
                </a:solidFill>
                <a:round/>
                <a:headEnd/>
                <a:tailEnd/>
              </a:ln>
            </p:spPr>
            <p:txBody>
              <a:bodyPr wrap="none" anchor="ctr"/>
              <a:lstStyle/>
              <a:p>
                <a:endParaRPr lang="sv-SE"/>
              </a:p>
            </p:txBody>
          </p:sp>
          <p:sp>
            <p:nvSpPr>
              <p:cNvPr id="25693" name="Line 30"/>
              <p:cNvSpPr>
                <a:spLocks noChangeShapeType="1"/>
              </p:cNvSpPr>
              <p:nvPr/>
            </p:nvSpPr>
            <p:spPr bwMode="auto">
              <a:xfrm>
                <a:off x="1512" y="3220"/>
                <a:ext cx="0" cy="136"/>
              </a:xfrm>
              <a:prstGeom prst="line">
                <a:avLst/>
              </a:prstGeom>
              <a:noFill/>
              <a:ln w="12700">
                <a:solidFill>
                  <a:schemeClr val="tx1"/>
                </a:solidFill>
                <a:round/>
                <a:headEnd/>
                <a:tailEnd/>
              </a:ln>
            </p:spPr>
            <p:txBody>
              <a:bodyPr wrap="none" anchor="ctr"/>
              <a:lstStyle/>
              <a:p>
                <a:endParaRPr lang="sv-SE"/>
              </a:p>
            </p:txBody>
          </p:sp>
          <p:sp>
            <p:nvSpPr>
              <p:cNvPr id="25694" name="Line 31"/>
              <p:cNvSpPr>
                <a:spLocks noChangeShapeType="1"/>
              </p:cNvSpPr>
              <p:nvPr/>
            </p:nvSpPr>
            <p:spPr bwMode="auto">
              <a:xfrm>
                <a:off x="1575" y="3220"/>
                <a:ext cx="0" cy="136"/>
              </a:xfrm>
              <a:prstGeom prst="line">
                <a:avLst/>
              </a:prstGeom>
              <a:noFill/>
              <a:ln w="12700">
                <a:solidFill>
                  <a:schemeClr val="tx1"/>
                </a:solidFill>
                <a:round/>
                <a:headEnd/>
                <a:tailEnd/>
              </a:ln>
            </p:spPr>
            <p:txBody>
              <a:bodyPr wrap="none" anchor="ctr"/>
              <a:lstStyle/>
              <a:p>
                <a:endParaRPr lang="sv-SE"/>
              </a:p>
            </p:txBody>
          </p:sp>
          <p:sp>
            <p:nvSpPr>
              <p:cNvPr id="25695" name="Line 32"/>
              <p:cNvSpPr>
                <a:spLocks noChangeShapeType="1"/>
              </p:cNvSpPr>
              <p:nvPr/>
            </p:nvSpPr>
            <p:spPr bwMode="auto">
              <a:xfrm>
                <a:off x="1637" y="3220"/>
                <a:ext cx="0" cy="136"/>
              </a:xfrm>
              <a:prstGeom prst="line">
                <a:avLst/>
              </a:prstGeom>
              <a:noFill/>
              <a:ln w="12700">
                <a:solidFill>
                  <a:schemeClr val="tx1"/>
                </a:solidFill>
                <a:round/>
                <a:headEnd/>
                <a:tailEnd/>
              </a:ln>
            </p:spPr>
            <p:txBody>
              <a:bodyPr wrap="none" anchor="ctr"/>
              <a:lstStyle/>
              <a:p>
                <a:endParaRPr lang="sv-SE"/>
              </a:p>
            </p:txBody>
          </p:sp>
          <p:sp>
            <p:nvSpPr>
              <p:cNvPr id="25696" name="Line 33"/>
              <p:cNvSpPr>
                <a:spLocks noChangeShapeType="1"/>
              </p:cNvSpPr>
              <p:nvPr/>
            </p:nvSpPr>
            <p:spPr bwMode="auto">
              <a:xfrm>
                <a:off x="1699" y="3220"/>
                <a:ext cx="0" cy="136"/>
              </a:xfrm>
              <a:prstGeom prst="line">
                <a:avLst/>
              </a:prstGeom>
              <a:noFill/>
              <a:ln w="12700">
                <a:solidFill>
                  <a:schemeClr val="tx1"/>
                </a:solidFill>
                <a:round/>
                <a:headEnd/>
                <a:tailEnd/>
              </a:ln>
            </p:spPr>
            <p:txBody>
              <a:bodyPr wrap="none" anchor="ctr"/>
              <a:lstStyle/>
              <a:p>
                <a:endParaRPr lang="sv-SE"/>
              </a:p>
            </p:txBody>
          </p:sp>
          <p:sp>
            <p:nvSpPr>
              <p:cNvPr id="25697" name="Line 34"/>
              <p:cNvSpPr>
                <a:spLocks noChangeShapeType="1"/>
              </p:cNvSpPr>
              <p:nvPr/>
            </p:nvSpPr>
            <p:spPr bwMode="auto">
              <a:xfrm>
                <a:off x="1761" y="3220"/>
                <a:ext cx="0" cy="136"/>
              </a:xfrm>
              <a:prstGeom prst="line">
                <a:avLst/>
              </a:prstGeom>
              <a:noFill/>
              <a:ln w="12700">
                <a:solidFill>
                  <a:schemeClr val="tx1"/>
                </a:solidFill>
                <a:round/>
                <a:headEnd/>
                <a:tailEnd/>
              </a:ln>
            </p:spPr>
            <p:txBody>
              <a:bodyPr wrap="none" anchor="ctr"/>
              <a:lstStyle/>
              <a:p>
                <a:endParaRPr lang="sv-SE"/>
              </a:p>
            </p:txBody>
          </p:sp>
          <p:sp>
            <p:nvSpPr>
              <p:cNvPr id="25698" name="Line 35"/>
              <p:cNvSpPr>
                <a:spLocks noChangeShapeType="1"/>
              </p:cNvSpPr>
              <p:nvPr/>
            </p:nvSpPr>
            <p:spPr bwMode="auto">
              <a:xfrm>
                <a:off x="1824" y="3220"/>
                <a:ext cx="0" cy="136"/>
              </a:xfrm>
              <a:prstGeom prst="line">
                <a:avLst/>
              </a:prstGeom>
              <a:noFill/>
              <a:ln w="12700">
                <a:solidFill>
                  <a:schemeClr val="tx1"/>
                </a:solidFill>
                <a:round/>
                <a:headEnd/>
                <a:tailEnd/>
              </a:ln>
            </p:spPr>
            <p:txBody>
              <a:bodyPr wrap="none" anchor="ctr"/>
              <a:lstStyle/>
              <a:p>
                <a:endParaRPr lang="sv-SE"/>
              </a:p>
            </p:txBody>
          </p:sp>
        </p:grpSp>
        <p:grpSp>
          <p:nvGrpSpPr>
            <p:cNvPr id="5" name="Group 36"/>
            <p:cNvGrpSpPr>
              <a:grpSpLocks/>
            </p:cNvGrpSpPr>
            <p:nvPr/>
          </p:nvGrpSpPr>
          <p:grpSpPr bwMode="auto">
            <a:xfrm>
              <a:off x="1736" y="3184"/>
              <a:ext cx="624" cy="136"/>
              <a:chOff x="1824" y="3220"/>
              <a:chExt cx="624" cy="136"/>
            </a:xfrm>
          </p:grpSpPr>
          <p:sp>
            <p:nvSpPr>
              <p:cNvPr id="25677" name="Line 37"/>
              <p:cNvSpPr>
                <a:spLocks noChangeShapeType="1"/>
              </p:cNvSpPr>
              <p:nvPr/>
            </p:nvSpPr>
            <p:spPr bwMode="auto">
              <a:xfrm>
                <a:off x="1824" y="3220"/>
                <a:ext cx="0" cy="136"/>
              </a:xfrm>
              <a:prstGeom prst="line">
                <a:avLst/>
              </a:prstGeom>
              <a:noFill/>
              <a:ln w="12700">
                <a:solidFill>
                  <a:schemeClr val="tx1"/>
                </a:solidFill>
                <a:round/>
                <a:headEnd/>
                <a:tailEnd/>
              </a:ln>
            </p:spPr>
            <p:txBody>
              <a:bodyPr wrap="none" anchor="ctr"/>
              <a:lstStyle/>
              <a:p>
                <a:endParaRPr lang="sv-SE"/>
              </a:p>
            </p:txBody>
          </p:sp>
          <p:sp>
            <p:nvSpPr>
              <p:cNvPr id="25678" name="Line 38"/>
              <p:cNvSpPr>
                <a:spLocks noChangeShapeType="1"/>
              </p:cNvSpPr>
              <p:nvPr/>
            </p:nvSpPr>
            <p:spPr bwMode="auto">
              <a:xfrm>
                <a:off x="1887" y="3220"/>
                <a:ext cx="0" cy="136"/>
              </a:xfrm>
              <a:prstGeom prst="line">
                <a:avLst/>
              </a:prstGeom>
              <a:noFill/>
              <a:ln w="12700">
                <a:solidFill>
                  <a:schemeClr val="tx1"/>
                </a:solidFill>
                <a:round/>
                <a:headEnd/>
                <a:tailEnd/>
              </a:ln>
            </p:spPr>
            <p:txBody>
              <a:bodyPr wrap="none" anchor="ctr"/>
              <a:lstStyle/>
              <a:p>
                <a:endParaRPr lang="sv-SE"/>
              </a:p>
            </p:txBody>
          </p:sp>
          <p:sp>
            <p:nvSpPr>
              <p:cNvPr id="25679" name="Line 39"/>
              <p:cNvSpPr>
                <a:spLocks noChangeShapeType="1"/>
              </p:cNvSpPr>
              <p:nvPr/>
            </p:nvSpPr>
            <p:spPr bwMode="auto">
              <a:xfrm>
                <a:off x="1949" y="3220"/>
                <a:ext cx="0" cy="136"/>
              </a:xfrm>
              <a:prstGeom prst="line">
                <a:avLst/>
              </a:prstGeom>
              <a:noFill/>
              <a:ln w="12700">
                <a:solidFill>
                  <a:schemeClr val="tx1"/>
                </a:solidFill>
                <a:round/>
                <a:headEnd/>
                <a:tailEnd/>
              </a:ln>
            </p:spPr>
            <p:txBody>
              <a:bodyPr wrap="none" anchor="ctr"/>
              <a:lstStyle/>
              <a:p>
                <a:endParaRPr lang="sv-SE"/>
              </a:p>
            </p:txBody>
          </p:sp>
          <p:sp>
            <p:nvSpPr>
              <p:cNvPr id="25680" name="Line 40"/>
              <p:cNvSpPr>
                <a:spLocks noChangeShapeType="1"/>
              </p:cNvSpPr>
              <p:nvPr/>
            </p:nvSpPr>
            <p:spPr bwMode="auto">
              <a:xfrm>
                <a:off x="2011" y="3220"/>
                <a:ext cx="0" cy="136"/>
              </a:xfrm>
              <a:prstGeom prst="line">
                <a:avLst/>
              </a:prstGeom>
              <a:noFill/>
              <a:ln w="12700">
                <a:solidFill>
                  <a:schemeClr val="tx1"/>
                </a:solidFill>
                <a:round/>
                <a:headEnd/>
                <a:tailEnd/>
              </a:ln>
            </p:spPr>
            <p:txBody>
              <a:bodyPr wrap="none" anchor="ctr"/>
              <a:lstStyle/>
              <a:p>
                <a:endParaRPr lang="sv-SE"/>
              </a:p>
            </p:txBody>
          </p:sp>
          <p:sp>
            <p:nvSpPr>
              <p:cNvPr id="25681" name="Line 41"/>
              <p:cNvSpPr>
                <a:spLocks noChangeShapeType="1"/>
              </p:cNvSpPr>
              <p:nvPr/>
            </p:nvSpPr>
            <p:spPr bwMode="auto">
              <a:xfrm>
                <a:off x="2073" y="3220"/>
                <a:ext cx="0" cy="136"/>
              </a:xfrm>
              <a:prstGeom prst="line">
                <a:avLst/>
              </a:prstGeom>
              <a:noFill/>
              <a:ln w="12700">
                <a:solidFill>
                  <a:schemeClr val="tx1"/>
                </a:solidFill>
                <a:round/>
                <a:headEnd/>
                <a:tailEnd/>
              </a:ln>
            </p:spPr>
            <p:txBody>
              <a:bodyPr wrap="none" anchor="ctr"/>
              <a:lstStyle/>
              <a:p>
                <a:endParaRPr lang="sv-SE"/>
              </a:p>
            </p:txBody>
          </p:sp>
          <p:sp>
            <p:nvSpPr>
              <p:cNvPr id="25682" name="Line 42"/>
              <p:cNvSpPr>
                <a:spLocks noChangeShapeType="1"/>
              </p:cNvSpPr>
              <p:nvPr/>
            </p:nvSpPr>
            <p:spPr bwMode="auto">
              <a:xfrm>
                <a:off x="2136" y="3220"/>
                <a:ext cx="0" cy="136"/>
              </a:xfrm>
              <a:prstGeom prst="line">
                <a:avLst/>
              </a:prstGeom>
              <a:noFill/>
              <a:ln w="12700">
                <a:solidFill>
                  <a:schemeClr val="tx1"/>
                </a:solidFill>
                <a:round/>
                <a:headEnd/>
                <a:tailEnd/>
              </a:ln>
            </p:spPr>
            <p:txBody>
              <a:bodyPr wrap="none" anchor="ctr"/>
              <a:lstStyle/>
              <a:p>
                <a:endParaRPr lang="sv-SE"/>
              </a:p>
            </p:txBody>
          </p:sp>
          <p:sp>
            <p:nvSpPr>
              <p:cNvPr id="25683" name="Line 43"/>
              <p:cNvSpPr>
                <a:spLocks noChangeShapeType="1"/>
              </p:cNvSpPr>
              <p:nvPr/>
            </p:nvSpPr>
            <p:spPr bwMode="auto">
              <a:xfrm>
                <a:off x="2199" y="3220"/>
                <a:ext cx="0" cy="136"/>
              </a:xfrm>
              <a:prstGeom prst="line">
                <a:avLst/>
              </a:prstGeom>
              <a:noFill/>
              <a:ln w="12700">
                <a:solidFill>
                  <a:schemeClr val="tx1"/>
                </a:solidFill>
                <a:round/>
                <a:headEnd/>
                <a:tailEnd/>
              </a:ln>
            </p:spPr>
            <p:txBody>
              <a:bodyPr wrap="none" anchor="ctr"/>
              <a:lstStyle/>
              <a:p>
                <a:endParaRPr lang="sv-SE"/>
              </a:p>
            </p:txBody>
          </p:sp>
          <p:sp>
            <p:nvSpPr>
              <p:cNvPr id="25684" name="Line 44"/>
              <p:cNvSpPr>
                <a:spLocks noChangeShapeType="1"/>
              </p:cNvSpPr>
              <p:nvPr/>
            </p:nvSpPr>
            <p:spPr bwMode="auto">
              <a:xfrm>
                <a:off x="2261" y="3220"/>
                <a:ext cx="0" cy="136"/>
              </a:xfrm>
              <a:prstGeom prst="line">
                <a:avLst/>
              </a:prstGeom>
              <a:noFill/>
              <a:ln w="12700">
                <a:solidFill>
                  <a:schemeClr val="tx1"/>
                </a:solidFill>
                <a:round/>
                <a:headEnd/>
                <a:tailEnd/>
              </a:ln>
            </p:spPr>
            <p:txBody>
              <a:bodyPr wrap="none" anchor="ctr"/>
              <a:lstStyle/>
              <a:p>
                <a:endParaRPr lang="sv-SE"/>
              </a:p>
            </p:txBody>
          </p:sp>
          <p:sp>
            <p:nvSpPr>
              <p:cNvPr id="25685" name="Line 45"/>
              <p:cNvSpPr>
                <a:spLocks noChangeShapeType="1"/>
              </p:cNvSpPr>
              <p:nvPr/>
            </p:nvSpPr>
            <p:spPr bwMode="auto">
              <a:xfrm>
                <a:off x="2323" y="3220"/>
                <a:ext cx="0" cy="136"/>
              </a:xfrm>
              <a:prstGeom prst="line">
                <a:avLst/>
              </a:prstGeom>
              <a:noFill/>
              <a:ln w="12700">
                <a:solidFill>
                  <a:schemeClr val="tx1"/>
                </a:solidFill>
                <a:round/>
                <a:headEnd/>
                <a:tailEnd/>
              </a:ln>
            </p:spPr>
            <p:txBody>
              <a:bodyPr wrap="none" anchor="ctr"/>
              <a:lstStyle/>
              <a:p>
                <a:endParaRPr lang="sv-SE"/>
              </a:p>
            </p:txBody>
          </p:sp>
          <p:sp>
            <p:nvSpPr>
              <p:cNvPr id="25686" name="Line 46"/>
              <p:cNvSpPr>
                <a:spLocks noChangeShapeType="1"/>
              </p:cNvSpPr>
              <p:nvPr/>
            </p:nvSpPr>
            <p:spPr bwMode="auto">
              <a:xfrm>
                <a:off x="2385" y="3220"/>
                <a:ext cx="0" cy="136"/>
              </a:xfrm>
              <a:prstGeom prst="line">
                <a:avLst/>
              </a:prstGeom>
              <a:noFill/>
              <a:ln w="12700">
                <a:solidFill>
                  <a:schemeClr val="tx1"/>
                </a:solidFill>
                <a:round/>
                <a:headEnd/>
                <a:tailEnd/>
              </a:ln>
            </p:spPr>
            <p:txBody>
              <a:bodyPr wrap="none" anchor="ctr"/>
              <a:lstStyle/>
              <a:p>
                <a:endParaRPr lang="sv-SE"/>
              </a:p>
            </p:txBody>
          </p:sp>
          <p:sp>
            <p:nvSpPr>
              <p:cNvPr id="25687" name="Line 47"/>
              <p:cNvSpPr>
                <a:spLocks noChangeShapeType="1"/>
              </p:cNvSpPr>
              <p:nvPr/>
            </p:nvSpPr>
            <p:spPr bwMode="auto">
              <a:xfrm>
                <a:off x="2448" y="3220"/>
                <a:ext cx="0" cy="136"/>
              </a:xfrm>
              <a:prstGeom prst="line">
                <a:avLst/>
              </a:prstGeom>
              <a:noFill/>
              <a:ln w="12700">
                <a:solidFill>
                  <a:schemeClr val="tx1"/>
                </a:solidFill>
                <a:round/>
                <a:headEnd/>
                <a:tailEnd/>
              </a:ln>
            </p:spPr>
            <p:txBody>
              <a:bodyPr wrap="none" anchor="ctr"/>
              <a:lstStyle/>
              <a:p>
                <a:endParaRPr lang="sv-SE"/>
              </a:p>
            </p:txBody>
          </p:sp>
        </p:grpSp>
        <p:grpSp>
          <p:nvGrpSpPr>
            <p:cNvPr id="6" name="Group 48"/>
            <p:cNvGrpSpPr>
              <a:grpSpLocks/>
            </p:cNvGrpSpPr>
            <p:nvPr/>
          </p:nvGrpSpPr>
          <p:grpSpPr bwMode="auto">
            <a:xfrm>
              <a:off x="2360" y="3184"/>
              <a:ext cx="624" cy="136"/>
              <a:chOff x="2448" y="3220"/>
              <a:chExt cx="624" cy="136"/>
            </a:xfrm>
          </p:grpSpPr>
          <p:sp>
            <p:nvSpPr>
              <p:cNvPr id="25666" name="Line 49"/>
              <p:cNvSpPr>
                <a:spLocks noChangeShapeType="1"/>
              </p:cNvSpPr>
              <p:nvPr/>
            </p:nvSpPr>
            <p:spPr bwMode="auto">
              <a:xfrm>
                <a:off x="2448" y="3220"/>
                <a:ext cx="0" cy="136"/>
              </a:xfrm>
              <a:prstGeom prst="line">
                <a:avLst/>
              </a:prstGeom>
              <a:noFill/>
              <a:ln w="12700">
                <a:solidFill>
                  <a:schemeClr val="tx1"/>
                </a:solidFill>
                <a:round/>
                <a:headEnd/>
                <a:tailEnd/>
              </a:ln>
            </p:spPr>
            <p:txBody>
              <a:bodyPr wrap="none" anchor="ctr"/>
              <a:lstStyle/>
              <a:p>
                <a:endParaRPr lang="sv-SE"/>
              </a:p>
            </p:txBody>
          </p:sp>
          <p:sp>
            <p:nvSpPr>
              <p:cNvPr id="25667" name="Line 50"/>
              <p:cNvSpPr>
                <a:spLocks noChangeShapeType="1"/>
              </p:cNvSpPr>
              <p:nvPr/>
            </p:nvSpPr>
            <p:spPr bwMode="auto">
              <a:xfrm>
                <a:off x="2511" y="3220"/>
                <a:ext cx="0" cy="136"/>
              </a:xfrm>
              <a:prstGeom prst="line">
                <a:avLst/>
              </a:prstGeom>
              <a:noFill/>
              <a:ln w="12700">
                <a:solidFill>
                  <a:schemeClr val="tx1"/>
                </a:solidFill>
                <a:round/>
                <a:headEnd/>
                <a:tailEnd/>
              </a:ln>
            </p:spPr>
            <p:txBody>
              <a:bodyPr wrap="none" anchor="ctr"/>
              <a:lstStyle/>
              <a:p>
                <a:endParaRPr lang="sv-SE"/>
              </a:p>
            </p:txBody>
          </p:sp>
          <p:sp>
            <p:nvSpPr>
              <p:cNvPr id="25668" name="Line 51"/>
              <p:cNvSpPr>
                <a:spLocks noChangeShapeType="1"/>
              </p:cNvSpPr>
              <p:nvPr/>
            </p:nvSpPr>
            <p:spPr bwMode="auto">
              <a:xfrm>
                <a:off x="2573" y="3220"/>
                <a:ext cx="0" cy="136"/>
              </a:xfrm>
              <a:prstGeom prst="line">
                <a:avLst/>
              </a:prstGeom>
              <a:noFill/>
              <a:ln w="12700">
                <a:solidFill>
                  <a:schemeClr val="tx1"/>
                </a:solidFill>
                <a:round/>
                <a:headEnd/>
                <a:tailEnd/>
              </a:ln>
            </p:spPr>
            <p:txBody>
              <a:bodyPr wrap="none" anchor="ctr"/>
              <a:lstStyle/>
              <a:p>
                <a:endParaRPr lang="sv-SE"/>
              </a:p>
            </p:txBody>
          </p:sp>
          <p:sp>
            <p:nvSpPr>
              <p:cNvPr id="25669" name="Line 52"/>
              <p:cNvSpPr>
                <a:spLocks noChangeShapeType="1"/>
              </p:cNvSpPr>
              <p:nvPr/>
            </p:nvSpPr>
            <p:spPr bwMode="auto">
              <a:xfrm>
                <a:off x="2635" y="3220"/>
                <a:ext cx="0" cy="136"/>
              </a:xfrm>
              <a:prstGeom prst="line">
                <a:avLst/>
              </a:prstGeom>
              <a:noFill/>
              <a:ln w="12700">
                <a:solidFill>
                  <a:schemeClr val="tx1"/>
                </a:solidFill>
                <a:round/>
                <a:headEnd/>
                <a:tailEnd/>
              </a:ln>
            </p:spPr>
            <p:txBody>
              <a:bodyPr wrap="none" anchor="ctr"/>
              <a:lstStyle/>
              <a:p>
                <a:endParaRPr lang="sv-SE"/>
              </a:p>
            </p:txBody>
          </p:sp>
          <p:sp>
            <p:nvSpPr>
              <p:cNvPr id="25670" name="Line 53"/>
              <p:cNvSpPr>
                <a:spLocks noChangeShapeType="1"/>
              </p:cNvSpPr>
              <p:nvPr/>
            </p:nvSpPr>
            <p:spPr bwMode="auto">
              <a:xfrm>
                <a:off x="2697" y="3220"/>
                <a:ext cx="0" cy="136"/>
              </a:xfrm>
              <a:prstGeom prst="line">
                <a:avLst/>
              </a:prstGeom>
              <a:noFill/>
              <a:ln w="12700">
                <a:solidFill>
                  <a:schemeClr val="tx1"/>
                </a:solidFill>
                <a:round/>
                <a:headEnd/>
                <a:tailEnd/>
              </a:ln>
            </p:spPr>
            <p:txBody>
              <a:bodyPr wrap="none" anchor="ctr"/>
              <a:lstStyle/>
              <a:p>
                <a:endParaRPr lang="sv-SE"/>
              </a:p>
            </p:txBody>
          </p:sp>
          <p:sp>
            <p:nvSpPr>
              <p:cNvPr id="25671" name="Line 54"/>
              <p:cNvSpPr>
                <a:spLocks noChangeShapeType="1"/>
              </p:cNvSpPr>
              <p:nvPr/>
            </p:nvSpPr>
            <p:spPr bwMode="auto">
              <a:xfrm>
                <a:off x="2760" y="3220"/>
                <a:ext cx="0" cy="136"/>
              </a:xfrm>
              <a:prstGeom prst="line">
                <a:avLst/>
              </a:prstGeom>
              <a:noFill/>
              <a:ln w="12700">
                <a:solidFill>
                  <a:schemeClr val="tx1"/>
                </a:solidFill>
                <a:round/>
                <a:headEnd/>
                <a:tailEnd/>
              </a:ln>
            </p:spPr>
            <p:txBody>
              <a:bodyPr wrap="none" anchor="ctr"/>
              <a:lstStyle/>
              <a:p>
                <a:endParaRPr lang="sv-SE"/>
              </a:p>
            </p:txBody>
          </p:sp>
          <p:sp>
            <p:nvSpPr>
              <p:cNvPr id="25672" name="Line 55"/>
              <p:cNvSpPr>
                <a:spLocks noChangeShapeType="1"/>
              </p:cNvSpPr>
              <p:nvPr/>
            </p:nvSpPr>
            <p:spPr bwMode="auto">
              <a:xfrm>
                <a:off x="2823" y="3220"/>
                <a:ext cx="0" cy="136"/>
              </a:xfrm>
              <a:prstGeom prst="line">
                <a:avLst/>
              </a:prstGeom>
              <a:noFill/>
              <a:ln w="12700">
                <a:solidFill>
                  <a:schemeClr val="tx1"/>
                </a:solidFill>
                <a:round/>
                <a:headEnd/>
                <a:tailEnd/>
              </a:ln>
            </p:spPr>
            <p:txBody>
              <a:bodyPr wrap="none" anchor="ctr"/>
              <a:lstStyle/>
              <a:p>
                <a:endParaRPr lang="sv-SE"/>
              </a:p>
            </p:txBody>
          </p:sp>
          <p:sp>
            <p:nvSpPr>
              <p:cNvPr id="25673" name="Line 56"/>
              <p:cNvSpPr>
                <a:spLocks noChangeShapeType="1"/>
              </p:cNvSpPr>
              <p:nvPr/>
            </p:nvSpPr>
            <p:spPr bwMode="auto">
              <a:xfrm>
                <a:off x="2885" y="3220"/>
                <a:ext cx="0" cy="136"/>
              </a:xfrm>
              <a:prstGeom prst="line">
                <a:avLst/>
              </a:prstGeom>
              <a:noFill/>
              <a:ln w="12700">
                <a:solidFill>
                  <a:schemeClr val="tx1"/>
                </a:solidFill>
                <a:round/>
                <a:headEnd/>
                <a:tailEnd/>
              </a:ln>
            </p:spPr>
            <p:txBody>
              <a:bodyPr wrap="none" anchor="ctr"/>
              <a:lstStyle/>
              <a:p>
                <a:endParaRPr lang="sv-SE"/>
              </a:p>
            </p:txBody>
          </p:sp>
          <p:sp>
            <p:nvSpPr>
              <p:cNvPr id="25674" name="Line 57"/>
              <p:cNvSpPr>
                <a:spLocks noChangeShapeType="1"/>
              </p:cNvSpPr>
              <p:nvPr/>
            </p:nvSpPr>
            <p:spPr bwMode="auto">
              <a:xfrm>
                <a:off x="2947" y="3220"/>
                <a:ext cx="0" cy="136"/>
              </a:xfrm>
              <a:prstGeom prst="line">
                <a:avLst/>
              </a:prstGeom>
              <a:noFill/>
              <a:ln w="12700">
                <a:solidFill>
                  <a:schemeClr val="tx1"/>
                </a:solidFill>
                <a:round/>
                <a:headEnd/>
                <a:tailEnd/>
              </a:ln>
            </p:spPr>
            <p:txBody>
              <a:bodyPr wrap="none" anchor="ctr"/>
              <a:lstStyle/>
              <a:p>
                <a:endParaRPr lang="sv-SE"/>
              </a:p>
            </p:txBody>
          </p:sp>
          <p:sp>
            <p:nvSpPr>
              <p:cNvPr id="25675" name="Line 58"/>
              <p:cNvSpPr>
                <a:spLocks noChangeShapeType="1"/>
              </p:cNvSpPr>
              <p:nvPr/>
            </p:nvSpPr>
            <p:spPr bwMode="auto">
              <a:xfrm>
                <a:off x="3009" y="3220"/>
                <a:ext cx="0" cy="136"/>
              </a:xfrm>
              <a:prstGeom prst="line">
                <a:avLst/>
              </a:prstGeom>
              <a:noFill/>
              <a:ln w="12700">
                <a:solidFill>
                  <a:schemeClr val="tx1"/>
                </a:solidFill>
                <a:round/>
                <a:headEnd/>
                <a:tailEnd/>
              </a:ln>
            </p:spPr>
            <p:txBody>
              <a:bodyPr wrap="none" anchor="ctr"/>
              <a:lstStyle/>
              <a:p>
                <a:endParaRPr lang="sv-SE"/>
              </a:p>
            </p:txBody>
          </p:sp>
          <p:sp>
            <p:nvSpPr>
              <p:cNvPr id="25676" name="Line 59"/>
              <p:cNvSpPr>
                <a:spLocks noChangeShapeType="1"/>
              </p:cNvSpPr>
              <p:nvPr/>
            </p:nvSpPr>
            <p:spPr bwMode="auto">
              <a:xfrm>
                <a:off x="3072" y="3220"/>
                <a:ext cx="0" cy="136"/>
              </a:xfrm>
              <a:prstGeom prst="line">
                <a:avLst/>
              </a:prstGeom>
              <a:noFill/>
              <a:ln w="12700">
                <a:solidFill>
                  <a:schemeClr val="tx1"/>
                </a:solidFill>
                <a:round/>
                <a:headEnd/>
                <a:tailEnd/>
              </a:ln>
            </p:spPr>
            <p:txBody>
              <a:bodyPr wrap="none" anchor="ctr"/>
              <a:lstStyle/>
              <a:p>
                <a:endParaRPr lang="sv-SE"/>
              </a:p>
            </p:txBody>
          </p:sp>
        </p:grpSp>
        <p:grpSp>
          <p:nvGrpSpPr>
            <p:cNvPr id="7" name="Group 60"/>
            <p:cNvGrpSpPr>
              <a:grpSpLocks/>
            </p:cNvGrpSpPr>
            <p:nvPr/>
          </p:nvGrpSpPr>
          <p:grpSpPr bwMode="auto">
            <a:xfrm>
              <a:off x="2984" y="3184"/>
              <a:ext cx="624" cy="136"/>
              <a:chOff x="3072" y="3220"/>
              <a:chExt cx="624" cy="136"/>
            </a:xfrm>
          </p:grpSpPr>
          <p:sp>
            <p:nvSpPr>
              <p:cNvPr id="25655" name="Line 61"/>
              <p:cNvSpPr>
                <a:spLocks noChangeShapeType="1"/>
              </p:cNvSpPr>
              <p:nvPr/>
            </p:nvSpPr>
            <p:spPr bwMode="auto">
              <a:xfrm>
                <a:off x="3072" y="3220"/>
                <a:ext cx="0" cy="136"/>
              </a:xfrm>
              <a:prstGeom prst="line">
                <a:avLst/>
              </a:prstGeom>
              <a:noFill/>
              <a:ln w="12700">
                <a:solidFill>
                  <a:schemeClr val="tx1"/>
                </a:solidFill>
                <a:round/>
                <a:headEnd/>
                <a:tailEnd/>
              </a:ln>
            </p:spPr>
            <p:txBody>
              <a:bodyPr wrap="none" anchor="ctr"/>
              <a:lstStyle/>
              <a:p>
                <a:endParaRPr lang="sv-SE"/>
              </a:p>
            </p:txBody>
          </p:sp>
          <p:sp>
            <p:nvSpPr>
              <p:cNvPr id="25656" name="Line 62"/>
              <p:cNvSpPr>
                <a:spLocks noChangeShapeType="1"/>
              </p:cNvSpPr>
              <p:nvPr/>
            </p:nvSpPr>
            <p:spPr bwMode="auto">
              <a:xfrm>
                <a:off x="3135" y="3220"/>
                <a:ext cx="0" cy="136"/>
              </a:xfrm>
              <a:prstGeom prst="line">
                <a:avLst/>
              </a:prstGeom>
              <a:noFill/>
              <a:ln w="12700">
                <a:solidFill>
                  <a:schemeClr val="tx1"/>
                </a:solidFill>
                <a:round/>
                <a:headEnd/>
                <a:tailEnd/>
              </a:ln>
            </p:spPr>
            <p:txBody>
              <a:bodyPr wrap="none" anchor="ctr"/>
              <a:lstStyle/>
              <a:p>
                <a:endParaRPr lang="sv-SE"/>
              </a:p>
            </p:txBody>
          </p:sp>
          <p:sp>
            <p:nvSpPr>
              <p:cNvPr id="25657" name="Line 63"/>
              <p:cNvSpPr>
                <a:spLocks noChangeShapeType="1"/>
              </p:cNvSpPr>
              <p:nvPr/>
            </p:nvSpPr>
            <p:spPr bwMode="auto">
              <a:xfrm>
                <a:off x="3197" y="3220"/>
                <a:ext cx="0" cy="136"/>
              </a:xfrm>
              <a:prstGeom prst="line">
                <a:avLst/>
              </a:prstGeom>
              <a:noFill/>
              <a:ln w="12700">
                <a:solidFill>
                  <a:schemeClr val="tx1"/>
                </a:solidFill>
                <a:round/>
                <a:headEnd/>
                <a:tailEnd/>
              </a:ln>
            </p:spPr>
            <p:txBody>
              <a:bodyPr wrap="none" anchor="ctr"/>
              <a:lstStyle/>
              <a:p>
                <a:endParaRPr lang="sv-SE"/>
              </a:p>
            </p:txBody>
          </p:sp>
          <p:sp>
            <p:nvSpPr>
              <p:cNvPr id="25658" name="Line 64"/>
              <p:cNvSpPr>
                <a:spLocks noChangeShapeType="1"/>
              </p:cNvSpPr>
              <p:nvPr/>
            </p:nvSpPr>
            <p:spPr bwMode="auto">
              <a:xfrm>
                <a:off x="3259" y="3220"/>
                <a:ext cx="0" cy="136"/>
              </a:xfrm>
              <a:prstGeom prst="line">
                <a:avLst/>
              </a:prstGeom>
              <a:noFill/>
              <a:ln w="12700">
                <a:solidFill>
                  <a:schemeClr val="tx1"/>
                </a:solidFill>
                <a:round/>
                <a:headEnd/>
                <a:tailEnd/>
              </a:ln>
            </p:spPr>
            <p:txBody>
              <a:bodyPr wrap="none" anchor="ctr"/>
              <a:lstStyle/>
              <a:p>
                <a:endParaRPr lang="sv-SE"/>
              </a:p>
            </p:txBody>
          </p:sp>
          <p:sp>
            <p:nvSpPr>
              <p:cNvPr id="25659" name="Line 65"/>
              <p:cNvSpPr>
                <a:spLocks noChangeShapeType="1"/>
              </p:cNvSpPr>
              <p:nvPr/>
            </p:nvSpPr>
            <p:spPr bwMode="auto">
              <a:xfrm>
                <a:off x="3321" y="3220"/>
                <a:ext cx="0" cy="136"/>
              </a:xfrm>
              <a:prstGeom prst="line">
                <a:avLst/>
              </a:prstGeom>
              <a:noFill/>
              <a:ln w="12700">
                <a:solidFill>
                  <a:schemeClr val="tx1"/>
                </a:solidFill>
                <a:round/>
                <a:headEnd/>
                <a:tailEnd/>
              </a:ln>
            </p:spPr>
            <p:txBody>
              <a:bodyPr wrap="none" anchor="ctr"/>
              <a:lstStyle/>
              <a:p>
                <a:endParaRPr lang="sv-SE"/>
              </a:p>
            </p:txBody>
          </p:sp>
          <p:sp>
            <p:nvSpPr>
              <p:cNvPr id="25660" name="Line 66"/>
              <p:cNvSpPr>
                <a:spLocks noChangeShapeType="1"/>
              </p:cNvSpPr>
              <p:nvPr/>
            </p:nvSpPr>
            <p:spPr bwMode="auto">
              <a:xfrm>
                <a:off x="3384" y="3220"/>
                <a:ext cx="0" cy="136"/>
              </a:xfrm>
              <a:prstGeom prst="line">
                <a:avLst/>
              </a:prstGeom>
              <a:noFill/>
              <a:ln w="12700">
                <a:solidFill>
                  <a:schemeClr val="tx1"/>
                </a:solidFill>
                <a:round/>
                <a:headEnd/>
                <a:tailEnd/>
              </a:ln>
            </p:spPr>
            <p:txBody>
              <a:bodyPr wrap="none" anchor="ctr"/>
              <a:lstStyle/>
              <a:p>
                <a:endParaRPr lang="sv-SE"/>
              </a:p>
            </p:txBody>
          </p:sp>
          <p:sp>
            <p:nvSpPr>
              <p:cNvPr id="25661" name="Line 67"/>
              <p:cNvSpPr>
                <a:spLocks noChangeShapeType="1"/>
              </p:cNvSpPr>
              <p:nvPr/>
            </p:nvSpPr>
            <p:spPr bwMode="auto">
              <a:xfrm>
                <a:off x="3447" y="3220"/>
                <a:ext cx="0" cy="136"/>
              </a:xfrm>
              <a:prstGeom prst="line">
                <a:avLst/>
              </a:prstGeom>
              <a:noFill/>
              <a:ln w="12700">
                <a:solidFill>
                  <a:schemeClr val="tx1"/>
                </a:solidFill>
                <a:round/>
                <a:headEnd/>
                <a:tailEnd/>
              </a:ln>
            </p:spPr>
            <p:txBody>
              <a:bodyPr wrap="none" anchor="ctr"/>
              <a:lstStyle/>
              <a:p>
                <a:endParaRPr lang="sv-SE"/>
              </a:p>
            </p:txBody>
          </p:sp>
          <p:sp>
            <p:nvSpPr>
              <p:cNvPr id="25662" name="Line 68"/>
              <p:cNvSpPr>
                <a:spLocks noChangeShapeType="1"/>
              </p:cNvSpPr>
              <p:nvPr/>
            </p:nvSpPr>
            <p:spPr bwMode="auto">
              <a:xfrm>
                <a:off x="3509" y="3220"/>
                <a:ext cx="0" cy="136"/>
              </a:xfrm>
              <a:prstGeom prst="line">
                <a:avLst/>
              </a:prstGeom>
              <a:noFill/>
              <a:ln w="12700">
                <a:solidFill>
                  <a:schemeClr val="tx1"/>
                </a:solidFill>
                <a:round/>
                <a:headEnd/>
                <a:tailEnd/>
              </a:ln>
            </p:spPr>
            <p:txBody>
              <a:bodyPr wrap="none" anchor="ctr"/>
              <a:lstStyle/>
              <a:p>
                <a:endParaRPr lang="sv-SE"/>
              </a:p>
            </p:txBody>
          </p:sp>
          <p:sp>
            <p:nvSpPr>
              <p:cNvPr id="25663" name="Line 69"/>
              <p:cNvSpPr>
                <a:spLocks noChangeShapeType="1"/>
              </p:cNvSpPr>
              <p:nvPr/>
            </p:nvSpPr>
            <p:spPr bwMode="auto">
              <a:xfrm>
                <a:off x="3571" y="3220"/>
                <a:ext cx="0" cy="136"/>
              </a:xfrm>
              <a:prstGeom prst="line">
                <a:avLst/>
              </a:prstGeom>
              <a:noFill/>
              <a:ln w="12700">
                <a:solidFill>
                  <a:schemeClr val="tx1"/>
                </a:solidFill>
                <a:round/>
                <a:headEnd/>
                <a:tailEnd/>
              </a:ln>
            </p:spPr>
            <p:txBody>
              <a:bodyPr wrap="none" anchor="ctr"/>
              <a:lstStyle/>
              <a:p>
                <a:endParaRPr lang="sv-SE"/>
              </a:p>
            </p:txBody>
          </p:sp>
          <p:sp>
            <p:nvSpPr>
              <p:cNvPr id="25664" name="Line 70"/>
              <p:cNvSpPr>
                <a:spLocks noChangeShapeType="1"/>
              </p:cNvSpPr>
              <p:nvPr/>
            </p:nvSpPr>
            <p:spPr bwMode="auto">
              <a:xfrm>
                <a:off x="3633" y="3220"/>
                <a:ext cx="0" cy="136"/>
              </a:xfrm>
              <a:prstGeom prst="line">
                <a:avLst/>
              </a:prstGeom>
              <a:noFill/>
              <a:ln w="12700">
                <a:solidFill>
                  <a:schemeClr val="tx1"/>
                </a:solidFill>
                <a:round/>
                <a:headEnd/>
                <a:tailEnd/>
              </a:ln>
            </p:spPr>
            <p:txBody>
              <a:bodyPr wrap="none" anchor="ctr"/>
              <a:lstStyle/>
              <a:p>
                <a:endParaRPr lang="sv-SE"/>
              </a:p>
            </p:txBody>
          </p:sp>
          <p:sp>
            <p:nvSpPr>
              <p:cNvPr id="25665" name="Line 71"/>
              <p:cNvSpPr>
                <a:spLocks noChangeShapeType="1"/>
              </p:cNvSpPr>
              <p:nvPr/>
            </p:nvSpPr>
            <p:spPr bwMode="auto">
              <a:xfrm>
                <a:off x="3696" y="3220"/>
                <a:ext cx="0" cy="136"/>
              </a:xfrm>
              <a:prstGeom prst="line">
                <a:avLst/>
              </a:prstGeom>
              <a:noFill/>
              <a:ln w="12700">
                <a:solidFill>
                  <a:schemeClr val="tx1"/>
                </a:solidFill>
                <a:round/>
                <a:headEnd/>
                <a:tailEnd/>
              </a:ln>
            </p:spPr>
            <p:txBody>
              <a:bodyPr wrap="none" anchor="ctr"/>
              <a:lstStyle/>
              <a:p>
                <a:endParaRPr lang="sv-SE"/>
              </a:p>
            </p:txBody>
          </p:sp>
        </p:grpSp>
        <p:grpSp>
          <p:nvGrpSpPr>
            <p:cNvPr id="8" name="Group 72"/>
            <p:cNvGrpSpPr>
              <a:grpSpLocks/>
            </p:cNvGrpSpPr>
            <p:nvPr/>
          </p:nvGrpSpPr>
          <p:grpSpPr bwMode="auto">
            <a:xfrm>
              <a:off x="3608" y="3184"/>
              <a:ext cx="624" cy="136"/>
              <a:chOff x="3696" y="3220"/>
              <a:chExt cx="624" cy="136"/>
            </a:xfrm>
          </p:grpSpPr>
          <p:sp>
            <p:nvSpPr>
              <p:cNvPr id="25644" name="Line 73"/>
              <p:cNvSpPr>
                <a:spLocks noChangeShapeType="1"/>
              </p:cNvSpPr>
              <p:nvPr/>
            </p:nvSpPr>
            <p:spPr bwMode="auto">
              <a:xfrm>
                <a:off x="3696" y="3220"/>
                <a:ext cx="0" cy="136"/>
              </a:xfrm>
              <a:prstGeom prst="line">
                <a:avLst/>
              </a:prstGeom>
              <a:noFill/>
              <a:ln w="12700">
                <a:solidFill>
                  <a:schemeClr val="tx1"/>
                </a:solidFill>
                <a:round/>
                <a:headEnd/>
                <a:tailEnd/>
              </a:ln>
            </p:spPr>
            <p:txBody>
              <a:bodyPr wrap="none" anchor="ctr"/>
              <a:lstStyle/>
              <a:p>
                <a:endParaRPr lang="sv-SE"/>
              </a:p>
            </p:txBody>
          </p:sp>
          <p:sp>
            <p:nvSpPr>
              <p:cNvPr id="25645" name="Line 74"/>
              <p:cNvSpPr>
                <a:spLocks noChangeShapeType="1"/>
              </p:cNvSpPr>
              <p:nvPr/>
            </p:nvSpPr>
            <p:spPr bwMode="auto">
              <a:xfrm>
                <a:off x="3759" y="3220"/>
                <a:ext cx="0" cy="136"/>
              </a:xfrm>
              <a:prstGeom prst="line">
                <a:avLst/>
              </a:prstGeom>
              <a:noFill/>
              <a:ln w="12700">
                <a:solidFill>
                  <a:schemeClr val="tx1"/>
                </a:solidFill>
                <a:round/>
                <a:headEnd/>
                <a:tailEnd/>
              </a:ln>
            </p:spPr>
            <p:txBody>
              <a:bodyPr wrap="none" anchor="ctr"/>
              <a:lstStyle/>
              <a:p>
                <a:endParaRPr lang="sv-SE"/>
              </a:p>
            </p:txBody>
          </p:sp>
          <p:sp>
            <p:nvSpPr>
              <p:cNvPr id="25646" name="Line 75"/>
              <p:cNvSpPr>
                <a:spLocks noChangeShapeType="1"/>
              </p:cNvSpPr>
              <p:nvPr/>
            </p:nvSpPr>
            <p:spPr bwMode="auto">
              <a:xfrm>
                <a:off x="3821" y="3220"/>
                <a:ext cx="0" cy="136"/>
              </a:xfrm>
              <a:prstGeom prst="line">
                <a:avLst/>
              </a:prstGeom>
              <a:noFill/>
              <a:ln w="12700">
                <a:solidFill>
                  <a:schemeClr val="tx1"/>
                </a:solidFill>
                <a:round/>
                <a:headEnd/>
                <a:tailEnd/>
              </a:ln>
            </p:spPr>
            <p:txBody>
              <a:bodyPr wrap="none" anchor="ctr"/>
              <a:lstStyle/>
              <a:p>
                <a:endParaRPr lang="sv-SE"/>
              </a:p>
            </p:txBody>
          </p:sp>
          <p:sp>
            <p:nvSpPr>
              <p:cNvPr id="25647" name="Line 76"/>
              <p:cNvSpPr>
                <a:spLocks noChangeShapeType="1"/>
              </p:cNvSpPr>
              <p:nvPr/>
            </p:nvSpPr>
            <p:spPr bwMode="auto">
              <a:xfrm>
                <a:off x="3883" y="3220"/>
                <a:ext cx="0" cy="136"/>
              </a:xfrm>
              <a:prstGeom prst="line">
                <a:avLst/>
              </a:prstGeom>
              <a:noFill/>
              <a:ln w="12700">
                <a:solidFill>
                  <a:schemeClr val="tx1"/>
                </a:solidFill>
                <a:round/>
                <a:headEnd/>
                <a:tailEnd/>
              </a:ln>
            </p:spPr>
            <p:txBody>
              <a:bodyPr wrap="none" anchor="ctr"/>
              <a:lstStyle/>
              <a:p>
                <a:endParaRPr lang="sv-SE"/>
              </a:p>
            </p:txBody>
          </p:sp>
          <p:sp>
            <p:nvSpPr>
              <p:cNvPr id="25648" name="Line 77"/>
              <p:cNvSpPr>
                <a:spLocks noChangeShapeType="1"/>
              </p:cNvSpPr>
              <p:nvPr/>
            </p:nvSpPr>
            <p:spPr bwMode="auto">
              <a:xfrm>
                <a:off x="3945" y="3220"/>
                <a:ext cx="0" cy="136"/>
              </a:xfrm>
              <a:prstGeom prst="line">
                <a:avLst/>
              </a:prstGeom>
              <a:noFill/>
              <a:ln w="12700">
                <a:solidFill>
                  <a:schemeClr val="tx1"/>
                </a:solidFill>
                <a:round/>
                <a:headEnd/>
                <a:tailEnd/>
              </a:ln>
            </p:spPr>
            <p:txBody>
              <a:bodyPr wrap="none" anchor="ctr"/>
              <a:lstStyle/>
              <a:p>
                <a:endParaRPr lang="sv-SE"/>
              </a:p>
            </p:txBody>
          </p:sp>
          <p:sp>
            <p:nvSpPr>
              <p:cNvPr id="25649" name="Line 78"/>
              <p:cNvSpPr>
                <a:spLocks noChangeShapeType="1"/>
              </p:cNvSpPr>
              <p:nvPr/>
            </p:nvSpPr>
            <p:spPr bwMode="auto">
              <a:xfrm>
                <a:off x="4008" y="3220"/>
                <a:ext cx="0" cy="136"/>
              </a:xfrm>
              <a:prstGeom prst="line">
                <a:avLst/>
              </a:prstGeom>
              <a:noFill/>
              <a:ln w="12700">
                <a:solidFill>
                  <a:schemeClr val="tx1"/>
                </a:solidFill>
                <a:round/>
                <a:headEnd/>
                <a:tailEnd/>
              </a:ln>
            </p:spPr>
            <p:txBody>
              <a:bodyPr wrap="none" anchor="ctr"/>
              <a:lstStyle/>
              <a:p>
                <a:endParaRPr lang="sv-SE"/>
              </a:p>
            </p:txBody>
          </p:sp>
          <p:sp>
            <p:nvSpPr>
              <p:cNvPr id="25650" name="Line 79"/>
              <p:cNvSpPr>
                <a:spLocks noChangeShapeType="1"/>
              </p:cNvSpPr>
              <p:nvPr/>
            </p:nvSpPr>
            <p:spPr bwMode="auto">
              <a:xfrm>
                <a:off x="4071" y="3220"/>
                <a:ext cx="0" cy="136"/>
              </a:xfrm>
              <a:prstGeom prst="line">
                <a:avLst/>
              </a:prstGeom>
              <a:noFill/>
              <a:ln w="12700">
                <a:solidFill>
                  <a:schemeClr val="tx1"/>
                </a:solidFill>
                <a:round/>
                <a:headEnd/>
                <a:tailEnd/>
              </a:ln>
            </p:spPr>
            <p:txBody>
              <a:bodyPr wrap="none" anchor="ctr"/>
              <a:lstStyle/>
              <a:p>
                <a:endParaRPr lang="sv-SE"/>
              </a:p>
            </p:txBody>
          </p:sp>
          <p:sp>
            <p:nvSpPr>
              <p:cNvPr id="25651" name="Line 80"/>
              <p:cNvSpPr>
                <a:spLocks noChangeShapeType="1"/>
              </p:cNvSpPr>
              <p:nvPr/>
            </p:nvSpPr>
            <p:spPr bwMode="auto">
              <a:xfrm>
                <a:off x="4133" y="3220"/>
                <a:ext cx="0" cy="136"/>
              </a:xfrm>
              <a:prstGeom prst="line">
                <a:avLst/>
              </a:prstGeom>
              <a:noFill/>
              <a:ln w="12700">
                <a:solidFill>
                  <a:schemeClr val="tx1"/>
                </a:solidFill>
                <a:round/>
                <a:headEnd/>
                <a:tailEnd/>
              </a:ln>
            </p:spPr>
            <p:txBody>
              <a:bodyPr wrap="none" anchor="ctr"/>
              <a:lstStyle/>
              <a:p>
                <a:endParaRPr lang="sv-SE"/>
              </a:p>
            </p:txBody>
          </p:sp>
          <p:sp>
            <p:nvSpPr>
              <p:cNvPr id="25652" name="Line 81"/>
              <p:cNvSpPr>
                <a:spLocks noChangeShapeType="1"/>
              </p:cNvSpPr>
              <p:nvPr/>
            </p:nvSpPr>
            <p:spPr bwMode="auto">
              <a:xfrm>
                <a:off x="4195" y="3220"/>
                <a:ext cx="0" cy="136"/>
              </a:xfrm>
              <a:prstGeom prst="line">
                <a:avLst/>
              </a:prstGeom>
              <a:noFill/>
              <a:ln w="12700">
                <a:solidFill>
                  <a:schemeClr val="tx1"/>
                </a:solidFill>
                <a:round/>
                <a:headEnd/>
                <a:tailEnd/>
              </a:ln>
            </p:spPr>
            <p:txBody>
              <a:bodyPr wrap="none" anchor="ctr"/>
              <a:lstStyle/>
              <a:p>
                <a:endParaRPr lang="sv-SE"/>
              </a:p>
            </p:txBody>
          </p:sp>
          <p:sp>
            <p:nvSpPr>
              <p:cNvPr id="25653" name="Line 82"/>
              <p:cNvSpPr>
                <a:spLocks noChangeShapeType="1"/>
              </p:cNvSpPr>
              <p:nvPr/>
            </p:nvSpPr>
            <p:spPr bwMode="auto">
              <a:xfrm>
                <a:off x="4257" y="3220"/>
                <a:ext cx="0" cy="136"/>
              </a:xfrm>
              <a:prstGeom prst="line">
                <a:avLst/>
              </a:prstGeom>
              <a:noFill/>
              <a:ln w="12700">
                <a:solidFill>
                  <a:schemeClr val="tx1"/>
                </a:solidFill>
                <a:round/>
                <a:headEnd/>
                <a:tailEnd/>
              </a:ln>
            </p:spPr>
            <p:txBody>
              <a:bodyPr wrap="none" anchor="ctr"/>
              <a:lstStyle/>
              <a:p>
                <a:endParaRPr lang="sv-SE"/>
              </a:p>
            </p:txBody>
          </p:sp>
          <p:sp>
            <p:nvSpPr>
              <p:cNvPr id="25654" name="Line 83"/>
              <p:cNvSpPr>
                <a:spLocks noChangeShapeType="1"/>
              </p:cNvSpPr>
              <p:nvPr/>
            </p:nvSpPr>
            <p:spPr bwMode="auto">
              <a:xfrm>
                <a:off x="4320" y="3220"/>
                <a:ext cx="0" cy="136"/>
              </a:xfrm>
              <a:prstGeom prst="line">
                <a:avLst/>
              </a:prstGeom>
              <a:noFill/>
              <a:ln w="12700">
                <a:solidFill>
                  <a:schemeClr val="tx1"/>
                </a:solidFill>
                <a:round/>
                <a:headEnd/>
                <a:tailEnd/>
              </a:ln>
            </p:spPr>
            <p:txBody>
              <a:bodyPr wrap="none" anchor="ctr"/>
              <a:lstStyle/>
              <a:p>
                <a:endParaRPr lang="sv-SE"/>
              </a:p>
            </p:txBody>
          </p:sp>
        </p:grpSp>
        <p:sp>
          <p:nvSpPr>
            <p:cNvPr id="25637" name="Text Box 84"/>
            <p:cNvSpPr txBox="1">
              <a:spLocks noChangeArrowheads="1"/>
            </p:cNvSpPr>
            <p:nvPr/>
          </p:nvSpPr>
          <p:spPr bwMode="auto">
            <a:xfrm>
              <a:off x="1029" y="3341"/>
              <a:ext cx="202" cy="231"/>
            </a:xfrm>
            <a:prstGeom prst="rect">
              <a:avLst/>
            </a:prstGeom>
            <a:solidFill>
              <a:srgbClr val="FFFF99"/>
            </a:solidFill>
            <a:ln w="9525">
              <a:noFill/>
              <a:miter lim="800000"/>
              <a:headEnd/>
              <a:tailEnd/>
            </a:ln>
          </p:spPr>
          <p:txBody>
            <a:bodyPr>
              <a:spAutoFit/>
            </a:bodyPr>
            <a:lstStyle/>
            <a:p>
              <a:pPr algn="ctr"/>
              <a:r>
                <a:rPr lang="en-GB" b="1">
                  <a:latin typeface="Courier New" pitchFamily="49" charset="0"/>
                </a:rPr>
                <a:t>0</a:t>
              </a:r>
            </a:p>
          </p:txBody>
        </p:sp>
        <p:sp>
          <p:nvSpPr>
            <p:cNvPr id="25638" name="Line 85"/>
            <p:cNvSpPr>
              <a:spLocks noChangeShapeType="1"/>
            </p:cNvSpPr>
            <p:nvPr/>
          </p:nvSpPr>
          <p:spPr bwMode="auto">
            <a:xfrm>
              <a:off x="1608" y="3175"/>
              <a:ext cx="0" cy="232"/>
            </a:xfrm>
            <a:prstGeom prst="line">
              <a:avLst/>
            </a:prstGeom>
            <a:noFill/>
            <a:ln w="12700">
              <a:solidFill>
                <a:schemeClr val="tx1"/>
              </a:solidFill>
              <a:round/>
              <a:headEnd/>
              <a:tailEnd/>
            </a:ln>
          </p:spPr>
          <p:txBody>
            <a:bodyPr wrap="none" anchor="ctr"/>
            <a:lstStyle/>
            <a:p>
              <a:endParaRPr lang="sv-SE"/>
            </a:p>
          </p:txBody>
        </p:sp>
        <p:sp>
          <p:nvSpPr>
            <p:cNvPr id="25639" name="Line 86"/>
            <p:cNvSpPr>
              <a:spLocks noChangeShapeType="1"/>
            </p:cNvSpPr>
            <p:nvPr/>
          </p:nvSpPr>
          <p:spPr bwMode="auto">
            <a:xfrm>
              <a:off x="2232" y="3175"/>
              <a:ext cx="0" cy="232"/>
            </a:xfrm>
            <a:prstGeom prst="line">
              <a:avLst/>
            </a:prstGeom>
            <a:noFill/>
            <a:ln w="12700">
              <a:solidFill>
                <a:schemeClr val="tx1"/>
              </a:solidFill>
              <a:round/>
              <a:headEnd/>
              <a:tailEnd/>
            </a:ln>
          </p:spPr>
          <p:txBody>
            <a:bodyPr wrap="none" anchor="ctr"/>
            <a:lstStyle/>
            <a:p>
              <a:endParaRPr lang="sv-SE"/>
            </a:p>
          </p:txBody>
        </p:sp>
        <p:sp>
          <p:nvSpPr>
            <p:cNvPr id="25640" name="Line 87"/>
            <p:cNvSpPr>
              <a:spLocks noChangeShapeType="1"/>
            </p:cNvSpPr>
            <p:nvPr/>
          </p:nvSpPr>
          <p:spPr bwMode="auto">
            <a:xfrm>
              <a:off x="2856" y="3175"/>
              <a:ext cx="0" cy="232"/>
            </a:xfrm>
            <a:prstGeom prst="line">
              <a:avLst/>
            </a:prstGeom>
            <a:noFill/>
            <a:ln w="12700">
              <a:solidFill>
                <a:schemeClr val="tx1"/>
              </a:solidFill>
              <a:round/>
              <a:headEnd/>
              <a:tailEnd/>
            </a:ln>
          </p:spPr>
          <p:txBody>
            <a:bodyPr wrap="none" anchor="ctr"/>
            <a:lstStyle/>
            <a:p>
              <a:endParaRPr lang="sv-SE"/>
            </a:p>
          </p:txBody>
        </p:sp>
        <p:sp>
          <p:nvSpPr>
            <p:cNvPr id="25641" name="Line 88"/>
            <p:cNvSpPr>
              <a:spLocks noChangeShapeType="1"/>
            </p:cNvSpPr>
            <p:nvPr/>
          </p:nvSpPr>
          <p:spPr bwMode="auto">
            <a:xfrm>
              <a:off x="3480" y="3175"/>
              <a:ext cx="0" cy="232"/>
            </a:xfrm>
            <a:prstGeom prst="line">
              <a:avLst/>
            </a:prstGeom>
            <a:noFill/>
            <a:ln w="12700">
              <a:solidFill>
                <a:schemeClr val="tx1"/>
              </a:solidFill>
              <a:round/>
              <a:headEnd/>
              <a:tailEnd/>
            </a:ln>
          </p:spPr>
          <p:txBody>
            <a:bodyPr wrap="none" anchor="ctr"/>
            <a:lstStyle/>
            <a:p>
              <a:endParaRPr lang="sv-SE"/>
            </a:p>
          </p:txBody>
        </p:sp>
        <p:sp>
          <p:nvSpPr>
            <p:cNvPr id="25642" name="Line 89"/>
            <p:cNvSpPr>
              <a:spLocks noChangeShapeType="1"/>
            </p:cNvSpPr>
            <p:nvPr/>
          </p:nvSpPr>
          <p:spPr bwMode="auto">
            <a:xfrm>
              <a:off x="4111" y="3175"/>
              <a:ext cx="0" cy="232"/>
            </a:xfrm>
            <a:prstGeom prst="line">
              <a:avLst/>
            </a:prstGeom>
            <a:noFill/>
            <a:ln w="12700">
              <a:solidFill>
                <a:schemeClr val="tx1"/>
              </a:solidFill>
              <a:round/>
              <a:headEnd/>
              <a:tailEnd/>
            </a:ln>
          </p:spPr>
          <p:txBody>
            <a:bodyPr wrap="none" anchor="ctr"/>
            <a:lstStyle/>
            <a:p>
              <a:endParaRPr lang="sv-SE"/>
            </a:p>
          </p:txBody>
        </p:sp>
        <p:sp>
          <p:nvSpPr>
            <p:cNvPr id="25643" name="Line 90"/>
            <p:cNvSpPr>
              <a:spLocks noChangeShapeType="1"/>
            </p:cNvSpPr>
            <p:nvPr/>
          </p:nvSpPr>
          <p:spPr bwMode="auto">
            <a:xfrm>
              <a:off x="1054" y="3182"/>
              <a:ext cx="0" cy="232"/>
            </a:xfrm>
            <a:prstGeom prst="line">
              <a:avLst/>
            </a:prstGeom>
            <a:noFill/>
            <a:ln w="12700">
              <a:solidFill>
                <a:schemeClr val="tx1"/>
              </a:solidFill>
              <a:round/>
              <a:headEnd/>
              <a:tailEnd/>
            </a:ln>
          </p:spPr>
          <p:txBody>
            <a:bodyPr wrap="none" anchor="ctr"/>
            <a:lstStyle/>
            <a:p>
              <a:endParaRPr lang="sv-SE"/>
            </a:p>
          </p:txBody>
        </p:sp>
      </p:grpSp>
      <p:grpSp>
        <p:nvGrpSpPr>
          <p:cNvPr id="9" name="Group 91"/>
          <p:cNvGrpSpPr>
            <a:grpSpLocks/>
          </p:cNvGrpSpPr>
          <p:nvPr/>
        </p:nvGrpSpPr>
        <p:grpSpPr bwMode="auto">
          <a:xfrm>
            <a:off x="1543050" y="4054475"/>
            <a:ext cx="5397500" cy="673100"/>
            <a:chOff x="972" y="2554"/>
            <a:chExt cx="3400" cy="424"/>
          </a:xfrm>
        </p:grpSpPr>
        <p:sp>
          <p:nvSpPr>
            <p:cNvPr id="25612" name="Rectangle 92"/>
            <p:cNvSpPr>
              <a:spLocks noChangeArrowheads="1"/>
            </p:cNvSpPr>
            <p:nvPr/>
          </p:nvSpPr>
          <p:spPr bwMode="auto">
            <a:xfrm>
              <a:off x="972" y="2554"/>
              <a:ext cx="3400" cy="424"/>
            </a:xfrm>
            <a:prstGeom prst="rect">
              <a:avLst/>
            </a:prstGeom>
            <a:solidFill>
              <a:srgbClr val="CCECFF"/>
            </a:solidFill>
            <a:ln w="12700">
              <a:solidFill>
                <a:schemeClr val="tx1"/>
              </a:solidFill>
              <a:miter lim="800000"/>
              <a:headEnd/>
              <a:tailEnd/>
            </a:ln>
          </p:spPr>
          <p:txBody>
            <a:bodyPr wrap="none" anchor="ctr"/>
            <a:lstStyle/>
            <a:p>
              <a:endParaRPr lang="en-GB"/>
            </a:p>
          </p:txBody>
        </p:sp>
        <p:sp>
          <p:nvSpPr>
            <p:cNvPr id="25613" name="Line 93"/>
            <p:cNvSpPr>
              <a:spLocks noChangeShapeType="1"/>
            </p:cNvSpPr>
            <p:nvPr/>
          </p:nvSpPr>
          <p:spPr bwMode="auto">
            <a:xfrm>
              <a:off x="1056" y="2554"/>
              <a:ext cx="0" cy="232"/>
            </a:xfrm>
            <a:prstGeom prst="line">
              <a:avLst/>
            </a:prstGeom>
            <a:noFill/>
            <a:ln w="12700">
              <a:solidFill>
                <a:schemeClr val="tx1"/>
              </a:solidFill>
              <a:round/>
              <a:headEnd/>
              <a:tailEnd/>
            </a:ln>
          </p:spPr>
          <p:txBody>
            <a:bodyPr wrap="none" anchor="ctr"/>
            <a:lstStyle/>
            <a:p>
              <a:endParaRPr lang="sv-SE"/>
            </a:p>
          </p:txBody>
        </p:sp>
        <p:sp>
          <p:nvSpPr>
            <p:cNvPr id="25614" name="Rectangle 94"/>
            <p:cNvSpPr>
              <a:spLocks noChangeArrowheads="1"/>
            </p:cNvSpPr>
            <p:nvPr/>
          </p:nvSpPr>
          <p:spPr bwMode="auto">
            <a:xfrm>
              <a:off x="1561" y="2730"/>
              <a:ext cx="202" cy="231"/>
            </a:xfrm>
            <a:prstGeom prst="rect">
              <a:avLst/>
            </a:prstGeom>
            <a:solidFill>
              <a:srgbClr val="CCECFF"/>
            </a:solidFill>
            <a:ln w="12700">
              <a:noFill/>
              <a:miter lim="800000"/>
              <a:headEnd/>
              <a:tailEnd/>
            </a:ln>
          </p:spPr>
          <p:txBody>
            <a:bodyPr wrap="none" lIns="90488" tIns="44450" rIns="90488" bIns="44450">
              <a:spAutoFit/>
            </a:bodyPr>
            <a:lstStyle/>
            <a:p>
              <a:pPr algn="r" eaLnBrk="0" hangingPunct="0">
                <a:spcBef>
                  <a:spcPct val="50000"/>
                </a:spcBef>
              </a:pPr>
              <a:r>
                <a:rPr lang="en-GB" b="1">
                  <a:latin typeface="Courier New" pitchFamily="49" charset="0"/>
                </a:rPr>
                <a:t>1</a:t>
              </a:r>
            </a:p>
          </p:txBody>
        </p:sp>
        <p:sp>
          <p:nvSpPr>
            <p:cNvPr id="25615" name="Rectangle 95"/>
            <p:cNvSpPr>
              <a:spLocks noChangeArrowheads="1"/>
            </p:cNvSpPr>
            <p:nvPr/>
          </p:nvSpPr>
          <p:spPr bwMode="auto">
            <a:xfrm>
              <a:off x="2185" y="2730"/>
              <a:ext cx="202" cy="231"/>
            </a:xfrm>
            <a:prstGeom prst="rect">
              <a:avLst/>
            </a:prstGeom>
            <a:solidFill>
              <a:srgbClr val="CCECFF"/>
            </a:solidFill>
            <a:ln w="12700">
              <a:noFill/>
              <a:miter lim="800000"/>
              <a:headEnd/>
              <a:tailEnd/>
            </a:ln>
          </p:spPr>
          <p:txBody>
            <a:bodyPr wrap="none" lIns="90488" tIns="44450" rIns="90488" bIns="44450">
              <a:spAutoFit/>
            </a:bodyPr>
            <a:lstStyle/>
            <a:p>
              <a:pPr algn="r" eaLnBrk="0" hangingPunct="0">
                <a:spcBef>
                  <a:spcPct val="50000"/>
                </a:spcBef>
              </a:pPr>
              <a:r>
                <a:rPr lang="en-GB" b="1">
                  <a:latin typeface="Courier New" pitchFamily="49" charset="0"/>
                </a:rPr>
                <a:t>2</a:t>
              </a:r>
            </a:p>
          </p:txBody>
        </p:sp>
        <p:sp>
          <p:nvSpPr>
            <p:cNvPr id="25616" name="Rectangle 96"/>
            <p:cNvSpPr>
              <a:spLocks noChangeArrowheads="1"/>
            </p:cNvSpPr>
            <p:nvPr/>
          </p:nvSpPr>
          <p:spPr bwMode="auto">
            <a:xfrm>
              <a:off x="2809" y="2730"/>
              <a:ext cx="202" cy="231"/>
            </a:xfrm>
            <a:prstGeom prst="rect">
              <a:avLst/>
            </a:prstGeom>
            <a:solidFill>
              <a:srgbClr val="CCECFF"/>
            </a:solidFill>
            <a:ln w="12700">
              <a:noFill/>
              <a:miter lim="800000"/>
              <a:headEnd/>
              <a:tailEnd/>
            </a:ln>
          </p:spPr>
          <p:txBody>
            <a:bodyPr wrap="none" lIns="90488" tIns="44450" rIns="90488" bIns="44450">
              <a:spAutoFit/>
            </a:bodyPr>
            <a:lstStyle/>
            <a:p>
              <a:pPr algn="r" eaLnBrk="0" hangingPunct="0">
                <a:spcBef>
                  <a:spcPct val="50000"/>
                </a:spcBef>
              </a:pPr>
              <a:r>
                <a:rPr lang="en-GB" b="1">
                  <a:latin typeface="Courier New" pitchFamily="49" charset="0"/>
                </a:rPr>
                <a:t>3</a:t>
              </a:r>
            </a:p>
          </p:txBody>
        </p:sp>
        <p:sp>
          <p:nvSpPr>
            <p:cNvPr id="25617" name="Rectangle 97"/>
            <p:cNvSpPr>
              <a:spLocks noChangeArrowheads="1"/>
            </p:cNvSpPr>
            <p:nvPr/>
          </p:nvSpPr>
          <p:spPr bwMode="auto">
            <a:xfrm>
              <a:off x="3433" y="2730"/>
              <a:ext cx="202" cy="231"/>
            </a:xfrm>
            <a:prstGeom prst="rect">
              <a:avLst/>
            </a:prstGeom>
            <a:solidFill>
              <a:srgbClr val="CCECFF"/>
            </a:solidFill>
            <a:ln w="12700">
              <a:noFill/>
              <a:miter lim="800000"/>
              <a:headEnd/>
              <a:tailEnd/>
            </a:ln>
          </p:spPr>
          <p:txBody>
            <a:bodyPr wrap="none" lIns="90488" tIns="44450" rIns="90488" bIns="44450">
              <a:spAutoFit/>
            </a:bodyPr>
            <a:lstStyle/>
            <a:p>
              <a:pPr algn="r" eaLnBrk="0" hangingPunct="0">
                <a:spcBef>
                  <a:spcPct val="50000"/>
                </a:spcBef>
              </a:pPr>
              <a:r>
                <a:rPr lang="en-GB" b="1">
                  <a:latin typeface="Courier New" pitchFamily="49" charset="0"/>
                </a:rPr>
                <a:t>4</a:t>
              </a:r>
            </a:p>
          </p:txBody>
        </p:sp>
        <p:sp>
          <p:nvSpPr>
            <p:cNvPr id="25618" name="Rectangle 98"/>
            <p:cNvSpPr>
              <a:spLocks noChangeArrowheads="1"/>
            </p:cNvSpPr>
            <p:nvPr/>
          </p:nvSpPr>
          <p:spPr bwMode="auto">
            <a:xfrm>
              <a:off x="4057" y="2730"/>
              <a:ext cx="202" cy="231"/>
            </a:xfrm>
            <a:prstGeom prst="rect">
              <a:avLst/>
            </a:prstGeom>
            <a:solidFill>
              <a:srgbClr val="CCECFF"/>
            </a:solidFill>
            <a:ln w="12700">
              <a:noFill/>
              <a:miter lim="800000"/>
              <a:headEnd/>
              <a:tailEnd/>
            </a:ln>
          </p:spPr>
          <p:txBody>
            <a:bodyPr wrap="none" lIns="90488" tIns="44450" rIns="90488" bIns="44450">
              <a:spAutoFit/>
            </a:bodyPr>
            <a:lstStyle/>
            <a:p>
              <a:pPr algn="r" eaLnBrk="0" hangingPunct="0">
                <a:spcBef>
                  <a:spcPct val="50000"/>
                </a:spcBef>
              </a:pPr>
              <a:r>
                <a:rPr lang="en-GB" b="1">
                  <a:latin typeface="Courier New" pitchFamily="49" charset="0"/>
                </a:rPr>
                <a:t>5</a:t>
              </a:r>
            </a:p>
          </p:txBody>
        </p:sp>
        <p:sp>
          <p:nvSpPr>
            <p:cNvPr id="25619" name="Text Box 99"/>
            <p:cNvSpPr txBox="1">
              <a:spLocks noChangeArrowheads="1"/>
            </p:cNvSpPr>
            <p:nvPr/>
          </p:nvSpPr>
          <p:spPr bwMode="auto">
            <a:xfrm>
              <a:off x="1031" y="2733"/>
              <a:ext cx="202" cy="231"/>
            </a:xfrm>
            <a:prstGeom prst="rect">
              <a:avLst/>
            </a:prstGeom>
            <a:noFill/>
            <a:ln w="9525">
              <a:noFill/>
              <a:miter lim="800000"/>
              <a:headEnd/>
              <a:tailEnd/>
            </a:ln>
          </p:spPr>
          <p:txBody>
            <a:bodyPr wrap="none">
              <a:spAutoFit/>
            </a:bodyPr>
            <a:lstStyle/>
            <a:p>
              <a:pPr algn="ctr"/>
              <a:r>
                <a:rPr lang="en-GB" b="1">
                  <a:latin typeface="Courier New" pitchFamily="49" charset="0"/>
                </a:rPr>
                <a:t>0</a:t>
              </a:r>
            </a:p>
          </p:txBody>
        </p:sp>
        <p:sp>
          <p:nvSpPr>
            <p:cNvPr id="25620" name="Line 100"/>
            <p:cNvSpPr>
              <a:spLocks noChangeShapeType="1"/>
            </p:cNvSpPr>
            <p:nvPr/>
          </p:nvSpPr>
          <p:spPr bwMode="auto">
            <a:xfrm>
              <a:off x="1610" y="2554"/>
              <a:ext cx="0" cy="232"/>
            </a:xfrm>
            <a:prstGeom prst="line">
              <a:avLst/>
            </a:prstGeom>
            <a:noFill/>
            <a:ln w="12700">
              <a:solidFill>
                <a:schemeClr val="tx1"/>
              </a:solidFill>
              <a:round/>
              <a:headEnd/>
              <a:tailEnd/>
            </a:ln>
          </p:spPr>
          <p:txBody>
            <a:bodyPr wrap="none" anchor="ctr"/>
            <a:lstStyle/>
            <a:p>
              <a:endParaRPr lang="sv-SE"/>
            </a:p>
          </p:txBody>
        </p:sp>
        <p:sp>
          <p:nvSpPr>
            <p:cNvPr id="25621" name="Line 101"/>
            <p:cNvSpPr>
              <a:spLocks noChangeShapeType="1"/>
            </p:cNvSpPr>
            <p:nvPr/>
          </p:nvSpPr>
          <p:spPr bwMode="auto">
            <a:xfrm>
              <a:off x="2234" y="2554"/>
              <a:ext cx="0" cy="232"/>
            </a:xfrm>
            <a:prstGeom prst="line">
              <a:avLst/>
            </a:prstGeom>
            <a:noFill/>
            <a:ln w="12700">
              <a:solidFill>
                <a:schemeClr val="tx1"/>
              </a:solidFill>
              <a:round/>
              <a:headEnd/>
              <a:tailEnd/>
            </a:ln>
          </p:spPr>
          <p:txBody>
            <a:bodyPr wrap="none" anchor="ctr"/>
            <a:lstStyle/>
            <a:p>
              <a:endParaRPr lang="sv-SE"/>
            </a:p>
          </p:txBody>
        </p:sp>
        <p:sp>
          <p:nvSpPr>
            <p:cNvPr id="25622" name="Line 102"/>
            <p:cNvSpPr>
              <a:spLocks noChangeShapeType="1"/>
            </p:cNvSpPr>
            <p:nvPr/>
          </p:nvSpPr>
          <p:spPr bwMode="auto">
            <a:xfrm>
              <a:off x="2858" y="2554"/>
              <a:ext cx="0" cy="232"/>
            </a:xfrm>
            <a:prstGeom prst="line">
              <a:avLst/>
            </a:prstGeom>
            <a:noFill/>
            <a:ln w="12700">
              <a:solidFill>
                <a:schemeClr val="tx1"/>
              </a:solidFill>
              <a:round/>
              <a:headEnd/>
              <a:tailEnd/>
            </a:ln>
          </p:spPr>
          <p:txBody>
            <a:bodyPr wrap="none" anchor="ctr"/>
            <a:lstStyle/>
            <a:p>
              <a:endParaRPr lang="sv-SE"/>
            </a:p>
          </p:txBody>
        </p:sp>
        <p:sp>
          <p:nvSpPr>
            <p:cNvPr id="25623" name="Line 103"/>
            <p:cNvSpPr>
              <a:spLocks noChangeShapeType="1"/>
            </p:cNvSpPr>
            <p:nvPr/>
          </p:nvSpPr>
          <p:spPr bwMode="auto">
            <a:xfrm>
              <a:off x="3482" y="2554"/>
              <a:ext cx="0" cy="232"/>
            </a:xfrm>
            <a:prstGeom prst="line">
              <a:avLst/>
            </a:prstGeom>
            <a:noFill/>
            <a:ln w="12700">
              <a:solidFill>
                <a:schemeClr val="tx1"/>
              </a:solidFill>
              <a:round/>
              <a:headEnd/>
              <a:tailEnd/>
            </a:ln>
          </p:spPr>
          <p:txBody>
            <a:bodyPr wrap="none" anchor="ctr"/>
            <a:lstStyle/>
            <a:p>
              <a:endParaRPr lang="sv-SE"/>
            </a:p>
          </p:txBody>
        </p:sp>
        <p:sp>
          <p:nvSpPr>
            <p:cNvPr id="25624" name="Line 104"/>
            <p:cNvSpPr>
              <a:spLocks noChangeShapeType="1"/>
            </p:cNvSpPr>
            <p:nvPr/>
          </p:nvSpPr>
          <p:spPr bwMode="auto">
            <a:xfrm>
              <a:off x="4106" y="2554"/>
              <a:ext cx="0" cy="232"/>
            </a:xfrm>
            <a:prstGeom prst="line">
              <a:avLst/>
            </a:prstGeom>
            <a:noFill/>
            <a:ln w="12700">
              <a:solidFill>
                <a:schemeClr val="tx1"/>
              </a:solidFill>
              <a:round/>
              <a:headEnd/>
              <a:tailEnd/>
            </a:ln>
          </p:spPr>
          <p:txBody>
            <a:bodyPr wrap="none" anchor="ctr"/>
            <a:lstStyle/>
            <a:p>
              <a:endParaRPr lang="sv-SE"/>
            </a:p>
          </p:txBody>
        </p:sp>
      </p:grpSp>
      <p:sp>
        <p:nvSpPr>
          <p:cNvPr id="23563" name="Rectangle 106"/>
          <p:cNvSpPr>
            <a:spLocks noGrp="1" noChangeArrowheads="1"/>
          </p:cNvSpPr>
          <p:nvPr>
            <p:ph idx="1"/>
          </p:nvPr>
        </p:nvSpPr>
        <p:spPr/>
        <p:txBody>
          <a:bodyPr/>
          <a:lstStyle/>
          <a:p>
            <a:pPr marL="0" indent="0" eaLnBrk="1" hangingPunct="1">
              <a:defRPr/>
            </a:pPr>
            <a:r>
              <a:rPr lang="sl-SI" dirty="0"/>
              <a:t>Razločevanje </a:t>
            </a:r>
            <a:r>
              <a:rPr lang="en-GB" dirty="0"/>
              <a:t>&amp; </a:t>
            </a:r>
            <a:r>
              <a:rPr lang="sl-SI" dirty="0"/>
              <a:t>ločljivost</a:t>
            </a:r>
            <a:endParaRPr lang="en-GB" dirty="0"/>
          </a:p>
          <a:p>
            <a:pPr lvl="1" eaLnBrk="1" hangingPunct="1">
              <a:defRPr/>
            </a:pPr>
            <a:endParaRPr lang="en-GB" dirty="0"/>
          </a:p>
          <a:p>
            <a:pPr lvl="1" eaLnBrk="1" hangingPunct="1">
              <a:defRPr/>
            </a:pPr>
            <a:r>
              <a:rPr lang="sl-SI" dirty="0"/>
              <a:t>Kakšna je dolžina palice</a:t>
            </a:r>
            <a:r>
              <a:rPr lang="en-GB" dirty="0"/>
              <a:t>?</a:t>
            </a:r>
          </a:p>
          <a:p>
            <a:pPr lvl="1" eaLnBrk="1" hangingPunct="1">
              <a:defRPr/>
            </a:pPr>
            <a:endParaRPr lang="en-GB" dirty="0"/>
          </a:p>
          <a:p>
            <a:pPr lvl="1" eaLnBrk="1" hangingPunct="1">
              <a:defRPr/>
            </a:pPr>
            <a:r>
              <a:rPr lang="sl-SI" dirty="0"/>
              <a:t>Kateri sistem ima najboljšo razločevanje</a:t>
            </a:r>
            <a:r>
              <a:rPr lang="en-GB" dirty="0"/>
              <a:t>?</a:t>
            </a:r>
          </a:p>
          <a:p>
            <a:pPr lvl="1" eaLnBrk="1" hangingPunct="1">
              <a:defRPr/>
            </a:pPr>
            <a:endParaRPr lang="en-GB" dirty="0"/>
          </a:p>
          <a:p>
            <a:pPr lvl="1" eaLnBrk="1" hangingPunct="1">
              <a:defRPr/>
            </a:pPr>
            <a:r>
              <a:rPr lang="sl-SI" dirty="0"/>
              <a:t>Katero merilo ima najvišjo ločljivost</a:t>
            </a:r>
            <a:r>
              <a:rPr lang="en-GB" dirty="0"/>
              <a:t>?</a:t>
            </a:r>
          </a:p>
          <a:p>
            <a:pPr marL="179388" lvl="1" indent="0" eaLnBrk="1" hangingPunct="1">
              <a:buFont typeface="Arial" charset="0"/>
              <a:buNone/>
              <a:defRPr/>
            </a:pPr>
            <a:endParaRPr lang="en-GB" dirty="0"/>
          </a:p>
        </p:txBody>
      </p:sp>
      <p:sp>
        <p:nvSpPr>
          <p:cNvPr id="25611" name="Titel 104"/>
          <p:cNvSpPr>
            <a:spLocks noGrp="1"/>
          </p:cNvSpPr>
          <p:nvPr>
            <p:ph type="title"/>
          </p:nvPr>
        </p:nvSpPr>
        <p:spPr/>
        <p:txBody>
          <a:bodyPr/>
          <a:lstStyle/>
          <a:p>
            <a:r>
              <a:rPr lang="en-GB" dirty="0" err="1">
                <a:latin typeface="Arial" charset="0"/>
              </a:rPr>
              <a:t>Analiza</a:t>
            </a:r>
            <a:r>
              <a:rPr lang="en-GB" dirty="0">
                <a:latin typeface="Arial" charset="0"/>
              </a:rPr>
              <a:t> </a:t>
            </a:r>
            <a:r>
              <a:rPr lang="en-GB" dirty="0" err="1">
                <a:latin typeface="Arial" charset="0"/>
              </a:rPr>
              <a:t>merilnega</a:t>
            </a:r>
            <a:r>
              <a:rPr lang="en-GB" dirty="0">
                <a:latin typeface="Arial" charset="0"/>
              </a:rPr>
              <a:t> </a:t>
            </a:r>
            <a:r>
              <a:rPr lang="en-GB" dirty="0" err="1">
                <a:latin typeface="Arial" charset="0"/>
              </a:rPr>
              <a:t>sistema</a:t>
            </a:r>
            <a:endParaRPr dirty="0">
              <a:latin typeface="Arial" charset="0"/>
              <a:cs typeface="Arial" charset="0"/>
            </a:endParaRPr>
          </a:p>
        </p:txBody>
      </p:sp>
    </p:spTree>
    <p:extLst>
      <p:ext uri="{BB962C8B-B14F-4D97-AF65-F5344CB8AC3E}">
        <p14:creationId xmlns:p14="http://schemas.microsoft.com/office/powerpoint/2010/main" val="10121949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58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25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2" grpId="0"/>
      <p:bldP spid="15258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5507038" y="4222750"/>
            <a:ext cx="11112" cy="2290763"/>
          </a:xfrm>
          <a:prstGeom prst="line">
            <a:avLst/>
          </a:prstGeom>
          <a:noFill/>
          <a:ln w="19050">
            <a:solidFill>
              <a:schemeClr val="tx1"/>
            </a:solidFill>
            <a:prstDash val="lgDash"/>
            <a:round/>
            <a:headEnd/>
            <a:tailEnd/>
          </a:ln>
        </p:spPr>
        <p:txBody>
          <a:bodyPr/>
          <a:lstStyle/>
          <a:p>
            <a:endParaRPr lang="en-GB" dirty="0"/>
          </a:p>
        </p:txBody>
      </p:sp>
      <p:sp>
        <p:nvSpPr>
          <p:cNvPr id="10243" name="Freeform 4"/>
          <p:cNvSpPr>
            <a:spLocks/>
          </p:cNvSpPr>
          <p:nvPr/>
        </p:nvSpPr>
        <p:spPr bwMode="auto">
          <a:xfrm>
            <a:off x="3695700" y="4543425"/>
            <a:ext cx="1193800" cy="1425575"/>
          </a:xfrm>
          <a:custGeom>
            <a:avLst/>
            <a:gdLst>
              <a:gd name="T0" fmla="*/ 2147483647 w 4097"/>
              <a:gd name="T1" fmla="*/ 2147483647 h 1593"/>
              <a:gd name="T2" fmla="*/ 2147483647 w 4097"/>
              <a:gd name="T3" fmla="*/ 2147483647 h 1593"/>
              <a:gd name="T4" fmla="*/ 2147483647 w 4097"/>
              <a:gd name="T5" fmla="*/ 2147483647 h 1593"/>
              <a:gd name="T6" fmla="*/ 2147483647 w 4097"/>
              <a:gd name="T7" fmla="*/ 2147483647 h 1593"/>
              <a:gd name="T8" fmla="*/ 2147483647 w 4097"/>
              <a:gd name="T9" fmla="*/ 2147483647 h 1593"/>
              <a:gd name="T10" fmla="*/ 2147483647 w 4097"/>
              <a:gd name="T11" fmla="*/ 2147483647 h 1593"/>
              <a:gd name="T12" fmla="*/ 2147483647 w 4097"/>
              <a:gd name="T13" fmla="*/ 2147483647 h 1593"/>
              <a:gd name="T14" fmla="*/ 2147483647 w 4097"/>
              <a:gd name="T15" fmla="*/ 2147483647 h 1593"/>
              <a:gd name="T16" fmla="*/ 2147483647 w 4097"/>
              <a:gd name="T17" fmla="*/ 2147483647 h 1593"/>
              <a:gd name="T18" fmla="*/ 2147483647 w 4097"/>
              <a:gd name="T19" fmla="*/ 2147483647 h 1593"/>
              <a:gd name="T20" fmla="*/ 2147483647 w 4097"/>
              <a:gd name="T21" fmla="*/ 2147483647 h 1593"/>
              <a:gd name="T22" fmla="*/ 2147483647 w 4097"/>
              <a:gd name="T23" fmla="*/ 2147483647 h 1593"/>
              <a:gd name="T24" fmla="*/ 2147483647 w 4097"/>
              <a:gd name="T25" fmla="*/ 2147483647 h 1593"/>
              <a:gd name="T26" fmla="*/ 2147483647 w 4097"/>
              <a:gd name="T27" fmla="*/ 2147483647 h 1593"/>
              <a:gd name="T28" fmla="*/ 2147483647 w 4097"/>
              <a:gd name="T29" fmla="*/ 2147483647 h 1593"/>
              <a:gd name="T30" fmla="*/ 2147483647 w 4097"/>
              <a:gd name="T31" fmla="*/ 2147483647 h 1593"/>
              <a:gd name="T32" fmla="*/ 2147483647 w 4097"/>
              <a:gd name="T33" fmla="*/ 2147483647 h 1593"/>
              <a:gd name="T34" fmla="*/ 2147483647 w 4097"/>
              <a:gd name="T35" fmla="*/ 2147483647 h 1593"/>
              <a:gd name="T36" fmla="*/ 2147483647 w 4097"/>
              <a:gd name="T37" fmla="*/ 2147483647 h 1593"/>
              <a:gd name="T38" fmla="*/ 2147483647 w 4097"/>
              <a:gd name="T39" fmla="*/ 2147483647 h 1593"/>
              <a:gd name="T40" fmla="*/ 2147483647 w 4097"/>
              <a:gd name="T41" fmla="*/ 2147483647 h 1593"/>
              <a:gd name="T42" fmla="*/ 2147483647 w 4097"/>
              <a:gd name="T43" fmla="*/ 2147483647 h 1593"/>
              <a:gd name="T44" fmla="*/ 2147483647 w 4097"/>
              <a:gd name="T45" fmla="*/ 2147483647 h 1593"/>
              <a:gd name="T46" fmla="*/ 2147483647 w 4097"/>
              <a:gd name="T47" fmla="*/ 2147483647 h 1593"/>
              <a:gd name="T48" fmla="*/ 2147483647 w 4097"/>
              <a:gd name="T49" fmla="*/ 2147483647 h 1593"/>
              <a:gd name="T50" fmla="*/ 2147483647 w 4097"/>
              <a:gd name="T51" fmla="*/ 2147483647 h 1593"/>
              <a:gd name="T52" fmla="*/ 2147483647 w 4097"/>
              <a:gd name="T53" fmla="*/ 2147483647 h 1593"/>
              <a:gd name="T54" fmla="*/ 2147483647 w 4097"/>
              <a:gd name="T55" fmla="*/ 2147483647 h 1593"/>
              <a:gd name="T56" fmla="*/ 2147483647 w 4097"/>
              <a:gd name="T57" fmla="*/ 2147483647 h 1593"/>
              <a:gd name="T58" fmla="*/ 2147483647 w 4097"/>
              <a:gd name="T59" fmla="*/ 2147483647 h 1593"/>
              <a:gd name="T60" fmla="*/ 2147483647 w 4097"/>
              <a:gd name="T61" fmla="*/ 2147483647 h 1593"/>
              <a:gd name="T62" fmla="*/ 2147483647 w 4097"/>
              <a:gd name="T63" fmla="*/ 2147483647 h 1593"/>
              <a:gd name="T64" fmla="*/ 2147483647 w 4097"/>
              <a:gd name="T65" fmla="*/ 2147483647 h 1593"/>
              <a:gd name="T66" fmla="*/ 2147483647 w 4097"/>
              <a:gd name="T67" fmla="*/ 2147483647 h 1593"/>
              <a:gd name="T68" fmla="*/ 2147483647 w 4097"/>
              <a:gd name="T69" fmla="*/ 2147483647 h 1593"/>
              <a:gd name="T70" fmla="*/ 2147483647 w 4097"/>
              <a:gd name="T71" fmla="*/ 2147483647 h 1593"/>
              <a:gd name="T72" fmla="*/ 2147483647 w 4097"/>
              <a:gd name="T73" fmla="*/ 2147483647 h 1593"/>
              <a:gd name="T74" fmla="*/ 2147483647 w 4097"/>
              <a:gd name="T75" fmla="*/ 2147483647 h 1593"/>
              <a:gd name="T76" fmla="*/ 2147483647 w 4097"/>
              <a:gd name="T77" fmla="*/ 2147483647 h 1593"/>
              <a:gd name="T78" fmla="*/ 2147483647 w 4097"/>
              <a:gd name="T79" fmla="*/ 2147483647 h 159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097"/>
              <a:gd name="T121" fmla="*/ 0 h 1593"/>
              <a:gd name="T122" fmla="*/ 4097 w 4097"/>
              <a:gd name="T123" fmla="*/ 1593 h 159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097" h="1593">
                <a:moveTo>
                  <a:pt x="0" y="1592"/>
                </a:moveTo>
                <a:lnTo>
                  <a:pt x="49" y="1592"/>
                </a:lnTo>
                <a:lnTo>
                  <a:pt x="100" y="1592"/>
                </a:lnTo>
                <a:lnTo>
                  <a:pt x="151" y="1592"/>
                </a:lnTo>
                <a:lnTo>
                  <a:pt x="200" y="1592"/>
                </a:lnTo>
                <a:lnTo>
                  <a:pt x="251" y="1592"/>
                </a:lnTo>
                <a:lnTo>
                  <a:pt x="301" y="1592"/>
                </a:lnTo>
                <a:lnTo>
                  <a:pt x="352" y="1592"/>
                </a:lnTo>
                <a:lnTo>
                  <a:pt x="401" y="1583"/>
                </a:lnTo>
                <a:lnTo>
                  <a:pt x="452" y="1583"/>
                </a:lnTo>
                <a:lnTo>
                  <a:pt x="501" y="1583"/>
                </a:lnTo>
                <a:lnTo>
                  <a:pt x="552" y="1573"/>
                </a:lnTo>
                <a:lnTo>
                  <a:pt x="601" y="1563"/>
                </a:lnTo>
                <a:lnTo>
                  <a:pt x="669" y="1554"/>
                </a:lnTo>
                <a:lnTo>
                  <a:pt x="719" y="1544"/>
                </a:lnTo>
                <a:lnTo>
                  <a:pt x="770" y="1524"/>
                </a:lnTo>
                <a:lnTo>
                  <a:pt x="819" y="1505"/>
                </a:lnTo>
                <a:lnTo>
                  <a:pt x="870" y="1486"/>
                </a:lnTo>
                <a:lnTo>
                  <a:pt x="919" y="1456"/>
                </a:lnTo>
                <a:lnTo>
                  <a:pt x="970" y="1418"/>
                </a:lnTo>
                <a:lnTo>
                  <a:pt x="1019" y="1379"/>
                </a:lnTo>
                <a:lnTo>
                  <a:pt x="1070" y="1330"/>
                </a:lnTo>
                <a:lnTo>
                  <a:pt x="1120" y="1282"/>
                </a:lnTo>
                <a:lnTo>
                  <a:pt x="1171" y="1223"/>
                </a:lnTo>
                <a:lnTo>
                  <a:pt x="1220" y="1155"/>
                </a:lnTo>
                <a:lnTo>
                  <a:pt x="1271" y="1078"/>
                </a:lnTo>
                <a:lnTo>
                  <a:pt x="1322" y="1000"/>
                </a:lnTo>
                <a:lnTo>
                  <a:pt x="1388" y="913"/>
                </a:lnTo>
                <a:lnTo>
                  <a:pt x="1437" y="825"/>
                </a:lnTo>
                <a:lnTo>
                  <a:pt x="1488" y="729"/>
                </a:lnTo>
                <a:lnTo>
                  <a:pt x="1538" y="631"/>
                </a:lnTo>
                <a:lnTo>
                  <a:pt x="1588" y="534"/>
                </a:lnTo>
                <a:lnTo>
                  <a:pt x="1639" y="437"/>
                </a:lnTo>
                <a:lnTo>
                  <a:pt x="1689" y="350"/>
                </a:lnTo>
                <a:lnTo>
                  <a:pt x="1740" y="263"/>
                </a:lnTo>
                <a:lnTo>
                  <a:pt x="1789" y="195"/>
                </a:lnTo>
                <a:lnTo>
                  <a:pt x="1840" y="127"/>
                </a:lnTo>
                <a:lnTo>
                  <a:pt x="1889" y="68"/>
                </a:lnTo>
                <a:lnTo>
                  <a:pt x="1940" y="39"/>
                </a:lnTo>
                <a:lnTo>
                  <a:pt x="1989" y="10"/>
                </a:lnTo>
                <a:lnTo>
                  <a:pt x="2057" y="0"/>
                </a:lnTo>
                <a:lnTo>
                  <a:pt x="2107" y="10"/>
                </a:lnTo>
                <a:lnTo>
                  <a:pt x="2157" y="39"/>
                </a:lnTo>
                <a:lnTo>
                  <a:pt x="2207" y="68"/>
                </a:lnTo>
                <a:lnTo>
                  <a:pt x="2258" y="127"/>
                </a:lnTo>
                <a:lnTo>
                  <a:pt x="2307" y="195"/>
                </a:lnTo>
                <a:lnTo>
                  <a:pt x="2358" y="263"/>
                </a:lnTo>
                <a:lnTo>
                  <a:pt x="2407" y="350"/>
                </a:lnTo>
                <a:lnTo>
                  <a:pt x="2458" y="437"/>
                </a:lnTo>
                <a:lnTo>
                  <a:pt x="2508" y="534"/>
                </a:lnTo>
                <a:lnTo>
                  <a:pt x="2558" y="631"/>
                </a:lnTo>
                <a:lnTo>
                  <a:pt x="2608" y="729"/>
                </a:lnTo>
                <a:lnTo>
                  <a:pt x="2659" y="825"/>
                </a:lnTo>
                <a:lnTo>
                  <a:pt x="2708" y="913"/>
                </a:lnTo>
                <a:lnTo>
                  <a:pt x="2776" y="1000"/>
                </a:lnTo>
                <a:lnTo>
                  <a:pt x="2825" y="1078"/>
                </a:lnTo>
                <a:lnTo>
                  <a:pt x="2876" y="1155"/>
                </a:lnTo>
                <a:lnTo>
                  <a:pt x="2925" y="1223"/>
                </a:lnTo>
                <a:lnTo>
                  <a:pt x="2976" y="1282"/>
                </a:lnTo>
                <a:lnTo>
                  <a:pt x="3026" y="1330"/>
                </a:lnTo>
                <a:lnTo>
                  <a:pt x="3077" y="1379"/>
                </a:lnTo>
                <a:lnTo>
                  <a:pt x="3126" y="1418"/>
                </a:lnTo>
                <a:lnTo>
                  <a:pt x="3177" y="1456"/>
                </a:lnTo>
                <a:lnTo>
                  <a:pt x="3228" y="1486"/>
                </a:lnTo>
                <a:lnTo>
                  <a:pt x="3277" y="1505"/>
                </a:lnTo>
                <a:lnTo>
                  <a:pt x="3328" y="1524"/>
                </a:lnTo>
                <a:lnTo>
                  <a:pt x="3377" y="1544"/>
                </a:lnTo>
                <a:lnTo>
                  <a:pt x="3428" y="1554"/>
                </a:lnTo>
                <a:lnTo>
                  <a:pt x="3495" y="1563"/>
                </a:lnTo>
                <a:lnTo>
                  <a:pt x="3545" y="1573"/>
                </a:lnTo>
                <a:lnTo>
                  <a:pt x="3595" y="1583"/>
                </a:lnTo>
                <a:lnTo>
                  <a:pt x="3646" y="1583"/>
                </a:lnTo>
                <a:lnTo>
                  <a:pt x="3695" y="1583"/>
                </a:lnTo>
                <a:lnTo>
                  <a:pt x="3746" y="1592"/>
                </a:lnTo>
                <a:lnTo>
                  <a:pt x="3795" y="1592"/>
                </a:lnTo>
                <a:lnTo>
                  <a:pt x="3846" y="1592"/>
                </a:lnTo>
                <a:lnTo>
                  <a:pt x="3896" y="1592"/>
                </a:lnTo>
                <a:lnTo>
                  <a:pt x="3946" y="1592"/>
                </a:lnTo>
                <a:lnTo>
                  <a:pt x="3996" y="1592"/>
                </a:lnTo>
                <a:lnTo>
                  <a:pt x="4047" y="1592"/>
                </a:lnTo>
                <a:lnTo>
                  <a:pt x="4096" y="1592"/>
                </a:lnTo>
              </a:path>
            </a:pathLst>
          </a:custGeom>
          <a:noFill/>
          <a:ln w="38100" cap="rnd">
            <a:solidFill>
              <a:srgbClr val="FF6600"/>
            </a:solidFill>
            <a:round/>
            <a:headEnd/>
            <a:tailEnd/>
          </a:ln>
        </p:spPr>
        <p:txBody>
          <a:bodyPr/>
          <a:lstStyle/>
          <a:p>
            <a:endParaRPr lang="en-GB" dirty="0"/>
          </a:p>
        </p:txBody>
      </p:sp>
      <p:sp>
        <p:nvSpPr>
          <p:cNvPr id="10244" name="Line 5"/>
          <p:cNvSpPr>
            <a:spLocks noChangeShapeType="1"/>
          </p:cNvSpPr>
          <p:nvPr/>
        </p:nvSpPr>
        <p:spPr bwMode="auto">
          <a:xfrm>
            <a:off x="2724150" y="6010275"/>
            <a:ext cx="4659313" cy="0"/>
          </a:xfrm>
          <a:prstGeom prst="line">
            <a:avLst/>
          </a:prstGeom>
          <a:noFill/>
          <a:ln w="19050">
            <a:solidFill>
              <a:schemeClr val="tx1"/>
            </a:solidFill>
            <a:round/>
            <a:headEnd/>
            <a:tailEnd/>
          </a:ln>
        </p:spPr>
        <p:txBody>
          <a:bodyPr/>
          <a:lstStyle/>
          <a:p>
            <a:endParaRPr lang="en-GB" dirty="0"/>
          </a:p>
        </p:txBody>
      </p:sp>
      <p:sp>
        <p:nvSpPr>
          <p:cNvPr id="10245" name="Text Box 6"/>
          <p:cNvSpPr txBox="1">
            <a:spLocks noChangeArrowheads="1"/>
          </p:cNvSpPr>
          <p:nvPr/>
        </p:nvSpPr>
        <p:spPr bwMode="auto">
          <a:xfrm>
            <a:off x="4956175" y="4113213"/>
            <a:ext cx="1063625" cy="523875"/>
          </a:xfrm>
          <a:prstGeom prst="rect">
            <a:avLst/>
          </a:prstGeom>
          <a:solidFill>
            <a:srgbClr val="FDA749"/>
          </a:solidFill>
          <a:ln w="9525">
            <a:noFill/>
            <a:miter lim="800000"/>
            <a:headEnd/>
            <a:tailEnd/>
          </a:ln>
          <a:effectLst>
            <a:outerShdw dist="107763" dir="2700000" algn="ctr" rotWithShape="0">
              <a:schemeClr val="bg2">
                <a:alpha val="50000"/>
              </a:schemeClr>
            </a:outerShdw>
          </a:effectLst>
        </p:spPr>
        <p:txBody>
          <a:bodyPr>
            <a:spAutoFit/>
          </a:bodyPr>
          <a:lstStyle/>
          <a:p>
            <a:pPr algn="ctr"/>
            <a:r>
              <a:rPr lang="en-GB" sz="1400" b="1" dirty="0"/>
              <a:t>Referenčna vrednost</a:t>
            </a:r>
            <a:endParaRPr lang="sl-SI" sz="1400" b="1" dirty="0"/>
          </a:p>
        </p:txBody>
      </p:sp>
      <p:sp>
        <p:nvSpPr>
          <p:cNvPr id="10246" name="Line 7"/>
          <p:cNvSpPr>
            <a:spLocks noChangeShapeType="1"/>
          </p:cNvSpPr>
          <p:nvPr/>
        </p:nvSpPr>
        <p:spPr bwMode="auto">
          <a:xfrm>
            <a:off x="4337050" y="6323013"/>
            <a:ext cx="1165225" cy="1587"/>
          </a:xfrm>
          <a:prstGeom prst="line">
            <a:avLst/>
          </a:prstGeom>
          <a:noFill/>
          <a:ln w="9525">
            <a:solidFill>
              <a:schemeClr val="tx1"/>
            </a:solidFill>
            <a:round/>
            <a:headEnd type="triangle" w="med" len="med"/>
            <a:tailEnd type="triangle" w="med" len="med"/>
          </a:ln>
        </p:spPr>
        <p:txBody>
          <a:bodyPr/>
          <a:lstStyle/>
          <a:p>
            <a:endParaRPr lang="en-GB" dirty="0"/>
          </a:p>
        </p:txBody>
      </p:sp>
      <p:sp>
        <p:nvSpPr>
          <p:cNvPr id="10247" name="Text Box 8"/>
          <p:cNvSpPr txBox="1">
            <a:spLocks noChangeArrowheads="1"/>
          </p:cNvSpPr>
          <p:nvPr/>
        </p:nvSpPr>
        <p:spPr bwMode="auto">
          <a:xfrm>
            <a:off x="4604767" y="6153210"/>
            <a:ext cx="687313" cy="304800"/>
          </a:xfrm>
          <a:prstGeom prst="rect">
            <a:avLst/>
          </a:prstGeom>
          <a:solidFill>
            <a:srgbClr val="FDA749"/>
          </a:solidFill>
          <a:ln w="9525">
            <a:noFill/>
            <a:miter lim="800000"/>
            <a:headEnd/>
            <a:tailEnd/>
          </a:ln>
          <a:effectLst>
            <a:outerShdw dist="107763" dir="2700000" algn="ctr" rotWithShape="0">
              <a:schemeClr val="bg2">
                <a:alpha val="50000"/>
              </a:schemeClr>
            </a:outerShdw>
          </a:effectLst>
        </p:spPr>
        <p:txBody>
          <a:bodyPr wrap="square">
            <a:spAutoFit/>
          </a:bodyPr>
          <a:lstStyle/>
          <a:p>
            <a:r>
              <a:rPr lang="en-GB" sz="1400" b="1" dirty="0"/>
              <a:t>Odmik</a:t>
            </a:r>
            <a:endParaRPr lang="sl-SI" sz="1400" b="1" dirty="0"/>
          </a:p>
        </p:txBody>
      </p:sp>
      <p:sp>
        <p:nvSpPr>
          <p:cNvPr id="10248" name="Line 9"/>
          <p:cNvSpPr>
            <a:spLocks noChangeShapeType="1"/>
          </p:cNvSpPr>
          <p:nvPr/>
        </p:nvSpPr>
        <p:spPr bwMode="auto">
          <a:xfrm>
            <a:off x="4287838" y="4222750"/>
            <a:ext cx="11112" cy="2290763"/>
          </a:xfrm>
          <a:prstGeom prst="line">
            <a:avLst/>
          </a:prstGeom>
          <a:noFill/>
          <a:ln w="19050">
            <a:solidFill>
              <a:schemeClr val="tx1"/>
            </a:solidFill>
            <a:prstDash val="lgDash"/>
            <a:round/>
            <a:headEnd/>
            <a:tailEnd/>
          </a:ln>
        </p:spPr>
        <p:txBody>
          <a:bodyPr/>
          <a:lstStyle/>
          <a:p>
            <a:endParaRPr lang="en-GB" dirty="0"/>
          </a:p>
        </p:txBody>
      </p:sp>
      <p:sp>
        <p:nvSpPr>
          <p:cNvPr id="10249" name="Text Box 10"/>
          <p:cNvSpPr txBox="1">
            <a:spLocks noChangeArrowheads="1"/>
          </p:cNvSpPr>
          <p:nvPr/>
        </p:nvSpPr>
        <p:spPr bwMode="auto">
          <a:xfrm>
            <a:off x="1697038" y="4364038"/>
            <a:ext cx="2060575" cy="523220"/>
          </a:xfrm>
          <a:prstGeom prst="rect">
            <a:avLst/>
          </a:prstGeom>
          <a:solidFill>
            <a:srgbClr val="FDA749"/>
          </a:solidFill>
          <a:ln w="9525">
            <a:noFill/>
            <a:miter lim="800000"/>
            <a:headEnd/>
            <a:tailEnd/>
          </a:ln>
          <a:effectLst>
            <a:outerShdw dist="107763" dir="2700000" algn="ctr" rotWithShape="0">
              <a:schemeClr val="bg2">
                <a:alpha val="50000"/>
              </a:schemeClr>
            </a:outerShdw>
          </a:effectLst>
        </p:spPr>
        <p:txBody>
          <a:bodyPr>
            <a:spAutoFit/>
          </a:bodyPr>
          <a:lstStyle/>
          <a:p>
            <a:pPr algn="ctr"/>
            <a:r>
              <a:rPr lang="en-GB" sz="1400" b="1" dirty="0"/>
              <a:t>Povprečje ponovljenih meritev </a:t>
            </a:r>
            <a:endParaRPr lang="sl-SI" sz="1400" b="1" dirty="0"/>
          </a:p>
        </p:txBody>
      </p:sp>
      <p:sp>
        <p:nvSpPr>
          <p:cNvPr id="10250" name="Line 11"/>
          <p:cNvSpPr>
            <a:spLocks noChangeShapeType="1"/>
          </p:cNvSpPr>
          <p:nvPr/>
        </p:nvSpPr>
        <p:spPr bwMode="auto">
          <a:xfrm>
            <a:off x="3776663" y="4762500"/>
            <a:ext cx="501650" cy="350838"/>
          </a:xfrm>
          <a:prstGeom prst="line">
            <a:avLst/>
          </a:prstGeom>
          <a:noFill/>
          <a:ln w="9525">
            <a:solidFill>
              <a:schemeClr val="tx1"/>
            </a:solidFill>
            <a:round/>
            <a:headEnd/>
            <a:tailEnd type="triangle" w="med" len="med"/>
          </a:ln>
        </p:spPr>
        <p:txBody>
          <a:bodyPr/>
          <a:lstStyle/>
          <a:p>
            <a:endParaRPr lang="en-GB" dirty="0"/>
          </a:p>
        </p:txBody>
      </p:sp>
      <p:sp>
        <p:nvSpPr>
          <p:cNvPr id="10251" name="Tijdelijke aanduiding voor inhoud 12"/>
          <p:cNvSpPr>
            <a:spLocks noGrp="1"/>
          </p:cNvSpPr>
          <p:nvPr>
            <p:ph idx="1"/>
          </p:nvPr>
        </p:nvSpPr>
        <p:spPr/>
        <p:txBody>
          <a:bodyPr/>
          <a:lstStyle/>
          <a:p>
            <a:pPr eaLnBrk="1" hangingPunct="1"/>
            <a:r>
              <a:rPr lang="en-GB" dirty="0">
                <a:latin typeface="Arial" charset="0"/>
              </a:rPr>
              <a:t>1 - Točnost - Odmik</a:t>
            </a:r>
          </a:p>
          <a:p>
            <a:pPr lvl="1" eaLnBrk="1" hangingPunct="1"/>
            <a:endParaRPr lang="sl-SI" dirty="0">
              <a:latin typeface="Arial" charset="0"/>
              <a:cs typeface="Arial" charset="0"/>
            </a:endParaRPr>
          </a:p>
          <a:p>
            <a:pPr lvl="1" eaLnBrk="1" hangingPunct="1"/>
            <a:r>
              <a:rPr lang="en-GB" sz="1600" dirty="0">
                <a:latin typeface="Arial" charset="0"/>
              </a:rPr>
              <a:t>Točnost je razlika med </a:t>
            </a:r>
            <a:r>
              <a:rPr lang="en-GB" sz="1600" dirty="0">
                <a:solidFill>
                  <a:srgbClr val="C00000"/>
                </a:solidFill>
                <a:latin typeface="Arial" charset="0"/>
              </a:rPr>
              <a:t>izmerjenim povprečjem </a:t>
            </a:r>
          </a:p>
          <a:p>
            <a:pPr lvl="1" eaLnBrk="1" hangingPunct="1">
              <a:buFont typeface="Arial" charset="0"/>
              <a:buNone/>
            </a:pPr>
            <a:r>
              <a:rPr lang="en-US" sz="1600" dirty="0">
                <a:latin typeface="Arial" charset="0"/>
              </a:rPr>
              <a:t>	</a:t>
            </a:r>
            <a:r>
              <a:rPr lang="en-GB" sz="1600" dirty="0">
                <a:latin typeface="Arial" charset="0"/>
              </a:rPr>
              <a:t>in </a:t>
            </a:r>
            <a:r>
              <a:rPr lang="en-GB" sz="1600" dirty="0">
                <a:solidFill>
                  <a:srgbClr val="C00000"/>
                </a:solidFill>
                <a:latin typeface="Arial" charset="0"/>
              </a:rPr>
              <a:t>resnično vrednostjo </a:t>
            </a:r>
            <a:r>
              <a:rPr lang="en-GB" sz="1600" dirty="0">
                <a:latin typeface="Arial" charset="0"/>
              </a:rPr>
              <a:t>(referenčno vrednostjo).</a:t>
            </a:r>
          </a:p>
          <a:p>
            <a:pPr lvl="1" eaLnBrk="1" hangingPunct="1"/>
            <a:endParaRPr lang="sl-SI" sz="1600" dirty="0">
              <a:latin typeface="Arial" charset="0"/>
              <a:cs typeface="Arial" charset="0"/>
            </a:endParaRPr>
          </a:p>
          <a:p>
            <a:pPr lvl="1" eaLnBrk="1" hangingPunct="1"/>
            <a:r>
              <a:rPr lang="en-GB" sz="1600" dirty="0">
                <a:latin typeface="Arial" charset="0"/>
              </a:rPr>
              <a:t>To razliko imenujemo 'odmik' ali 'sistematična napaka'. </a:t>
            </a:r>
          </a:p>
        </p:txBody>
      </p:sp>
      <p:sp>
        <p:nvSpPr>
          <p:cNvPr id="10252" name="Titel 12"/>
          <p:cNvSpPr>
            <a:spLocks noGrp="1"/>
          </p:cNvSpPr>
          <p:nvPr>
            <p:ph type="title"/>
          </p:nvPr>
        </p:nvSpPr>
        <p:spPr/>
        <p:txBody>
          <a:bodyPr/>
          <a:lstStyle/>
          <a:p>
            <a:r>
              <a:rPr lang="en-GB" dirty="0">
                <a:latin typeface="Arial" charset="0"/>
              </a:rPr>
              <a:t>Analiza merilnega sistema</a:t>
            </a:r>
          </a:p>
        </p:txBody>
      </p:sp>
    </p:spTree>
    <p:extLst>
      <p:ext uri="{BB962C8B-B14F-4D97-AF65-F5344CB8AC3E}">
        <p14:creationId xmlns:p14="http://schemas.microsoft.com/office/powerpoint/2010/main" val="317139600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jdelijke aanduiding voor inhoud 4"/>
          <p:cNvSpPr>
            <a:spLocks noGrp="1"/>
          </p:cNvSpPr>
          <p:nvPr>
            <p:ph idx="1"/>
          </p:nvPr>
        </p:nvSpPr>
        <p:spPr>
          <a:xfrm>
            <a:off x="720725" y="1341438"/>
            <a:ext cx="7920038" cy="5183906"/>
          </a:xfrm>
        </p:spPr>
        <p:txBody>
          <a:bodyPr/>
          <a:lstStyle/>
          <a:p>
            <a:pPr eaLnBrk="1" hangingPunct="1"/>
            <a:r>
              <a:rPr lang="en-GB" noProof="0" dirty="0">
                <a:latin typeface="Arial" charset="0"/>
              </a:rPr>
              <a:t>2 - Natančnost</a:t>
            </a:r>
          </a:p>
          <a:p>
            <a:pPr lvl="1" eaLnBrk="1" hangingPunct="1"/>
            <a:endParaRPr lang="sl-SI" noProof="0" dirty="0">
              <a:latin typeface="Arial" charset="0"/>
              <a:cs typeface="Arial" charset="0"/>
            </a:endParaRPr>
          </a:p>
          <a:p>
            <a:pPr lvl="1" eaLnBrk="1" hangingPunct="1"/>
            <a:r>
              <a:rPr lang="en-GB" sz="1600" noProof="0" dirty="0">
                <a:latin typeface="Arial" charset="0"/>
              </a:rPr>
              <a:t>Celotna variabilnost merilnega sistema.</a:t>
            </a:r>
          </a:p>
          <a:p>
            <a:pPr lvl="1" eaLnBrk="1" hangingPunct="1"/>
            <a:endParaRPr lang="sl-SI" sz="1600" noProof="0" dirty="0">
              <a:latin typeface="Arial" charset="0"/>
              <a:cs typeface="Arial" charset="0"/>
            </a:endParaRPr>
          </a:p>
          <a:p>
            <a:pPr lvl="1" eaLnBrk="1" hangingPunct="1"/>
            <a:r>
              <a:rPr lang="en-GB" sz="1600" noProof="0" dirty="0">
                <a:latin typeface="Arial" charset="0"/>
              </a:rPr>
              <a:t>To je variabilnost, ki jo povzročata merilni instrument in merilni proces.</a:t>
            </a:r>
          </a:p>
          <a:p>
            <a:pPr lvl="1" eaLnBrk="1" hangingPunct="1"/>
            <a:endParaRPr lang="sl-SI" sz="1600" noProof="0" dirty="0">
              <a:latin typeface="Arial" charset="0"/>
              <a:cs typeface="Arial" charset="0"/>
            </a:endParaRPr>
          </a:p>
          <a:p>
            <a:pPr lvl="1" eaLnBrk="1" hangingPunct="1"/>
            <a:r>
              <a:rPr lang="en-GB" sz="1600" noProof="0" dirty="0">
                <a:solidFill>
                  <a:srgbClr val="C00000"/>
                </a:solidFill>
                <a:latin typeface="Arial" charset="0"/>
              </a:rPr>
              <a:t>P</a:t>
            </a:r>
            <a:r>
              <a:rPr lang="en-GB" sz="1600" dirty="0" err="1">
                <a:solidFill>
                  <a:srgbClr val="C00000"/>
                </a:solidFill>
                <a:latin typeface="Arial" charset="0"/>
              </a:rPr>
              <a:t>onovljivost</a:t>
            </a:r>
            <a:r>
              <a:rPr lang="en-GB" sz="1600" dirty="0">
                <a:solidFill>
                  <a:srgbClr val="C00000"/>
                </a:solidFill>
                <a:latin typeface="Arial" charset="0"/>
              </a:rPr>
              <a:t> </a:t>
            </a:r>
            <a:r>
              <a:rPr lang="en-GB" sz="1600" dirty="0" err="1">
                <a:solidFill>
                  <a:srgbClr val="C00000"/>
                </a:solidFill>
                <a:latin typeface="Arial" charset="0"/>
              </a:rPr>
              <a:t>meritve</a:t>
            </a:r>
            <a:r>
              <a:rPr lang="sl-SI" sz="1600" dirty="0">
                <a:solidFill>
                  <a:srgbClr val="C00000"/>
                </a:solidFill>
                <a:latin typeface="Arial" charset="0"/>
              </a:rPr>
              <a:t> </a:t>
            </a:r>
            <a:r>
              <a:rPr lang="en-GB" sz="1200" dirty="0">
                <a:solidFill>
                  <a:srgbClr val="C00000"/>
                </a:solidFill>
                <a:latin typeface="Arial" charset="0"/>
              </a:rPr>
              <a:t>(Repeatability)</a:t>
            </a:r>
            <a:r>
              <a:rPr lang="sl-SI" sz="1600" dirty="0">
                <a:solidFill>
                  <a:srgbClr val="C00000"/>
                </a:solidFill>
                <a:latin typeface="Arial" charset="0"/>
              </a:rPr>
              <a:t>: </a:t>
            </a:r>
            <a:r>
              <a:rPr lang="sl-SI" sz="1600" b="0" noProof="0" dirty="0">
                <a:latin typeface="Arial" charset="0"/>
              </a:rPr>
              <a:t>Ponovljivost je tisti del lastne variabilnosti, ki jo povzroča sam </a:t>
            </a:r>
            <a:r>
              <a:rPr lang="sl-SI" sz="1600" noProof="0" dirty="0">
                <a:latin typeface="Arial" charset="0"/>
              </a:rPr>
              <a:t>merilni instrument</a:t>
            </a:r>
            <a:r>
              <a:rPr lang="sl-SI" sz="1600" b="0" noProof="0" dirty="0">
                <a:latin typeface="Arial" charset="0"/>
              </a:rPr>
              <a:t>. Gre za variabilnost pri meritvah, ki se </a:t>
            </a:r>
            <a:r>
              <a:rPr lang="sl-SI" sz="1600" noProof="0" dirty="0">
                <a:latin typeface="Arial" charset="0"/>
              </a:rPr>
              <a:t>ponavljajo brez spremembe konfiguracije in pogojev meritev</a:t>
            </a:r>
            <a:r>
              <a:rPr lang="sl-SI" sz="1600" b="0" noProof="0" dirty="0">
                <a:latin typeface="Arial" charset="0"/>
              </a:rPr>
              <a:t>.</a:t>
            </a:r>
          </a:p>
          <a:p>
            <a:pPr marL="179387" lvl="1" indent="0" eaLnBrk="1" hangingPunct="1">
              <a:buNone/>
            </a:pPr>
            <a:endParaRPr lang="sl-SI" sz="1600" noProof="0" dirty="0">
              <a:latin typeface="Arial" charset="0"/>
              <a:cs typeface="Arial" charset="0"/>
            </a:endParaRPr>
          </a:p>
          <a:p>
            <a:pPr lvl="1" eaLnBrk="1" hangingPunct="1"/>
            <a:r>
              <a:rPr lang="en-GB" sz="1600" noProof="0" dirty="0">
                <a:solidFill>
                  <a:srgbClr val="C00000"/>
                </a:solidFill>
                <a:latin typeface="Arial" charset="0"/>
              </a:rPr>
              <a:t>Obnovljivost</a:t>
            </a:r>
            <a:r>
              <a:rPr lang="sl-SI" sz="1600" noProof="0" dirty="0">
                <a:solidFill>
                  <a:srgbClr val="C00000"/>
                </a:solidFill>
                <a:latin typeface="Arial" charset="0"/>
              </a:rPr>
              <a:t> </a:t>
            </a:r>
            <a:r>
              <a:rPr lang="en-GB" sz="1600" dirty="0" err="1">
                <a:solidFill>
                  <a:srgbClr val="C00000"/>
                </a:solidFill>
                <a:latin typeface="Arial" charset="0"/>
              </a:rPr>
              <a:t>meritve</a:t>
            </a:r>
            <a:r>
              <a:rPr lang="sl-SI" sz="1600" dirty="0">
                <a:solidFill>
                  <a:srgbClr val="C00000"/>
                </a:solidFill>
                <a:latin typeface="Arial" charset="0"/>
              </a:rPr>
              <a:t> </a:t>
            </a:r>
            <a:r>
              <a:rPr lang="en-GB" sz="1200" dirty="0">
                <a:solidFill>
                  <a:srgbClr val="C00000"/>
                </a:solidFill>
                <a:latin typeface="Arial" charset="0"/>
              </a:rPr>
              <a:t>(Reproducibility)</a:t>
            </a:r>
            <a:r>
              <a:rPr lang="en-GB" sz="1600" dirty="0">
                <a:solidFill>
                  <a:srgbClr val="C00000"/>
                </a:solidFill>
                <a:latin typeface="Arial" charset="0"/>
              </a:rPr>
              <a:t>:</a:t>
            </a:r>
            <a:r>
              <a:rPr lang="sl-SI" sz="1600" dirty="0">
                <a:solidFill>
                  <a:srgbClr val="C00000"/>
                </a:solidFill>
                <a:latin typeface="Arial" charset="0"/>
              </a:rPr>
              <a:t> </a:t>
            </a:r>
            <a:r>
              <a:rPr lang="en-GB" sz="1600" b="0" kern="1200" dirty="0" err="1">
                <a:solidFill>
                  <a:schemeClr val="tx1"/>
                </a:solidFill>
                <a:latin typeface="+mn-lt"/>
              </a:rPr>
              <a:t>Obnovljivost</a:t>
            </a:r>
            <a:r>
              <a:rPr lang="en-GB" sz="1600" b="0" kern="1200" dirty="0">
                <a:solidFill>
                  <a:schemeClr val="tx1"/>
                </a:solidFill>
                <a:latin typeface="+mn-lt"/>
              </a:rPr>
              <a:t> je del </a:t>
            </a:r>
            <a:r>
              <a:rPr lang="en-GB" sz="1600" b="0" kern="1200" dirty="0" err="1">
                <a:solidFill>
                  <a:schemeClr val="tx1"/>
                </a:solidFill>
                <a:latin typeface="+mn-lt"/>
              </a:rPr>
              <a:t>variabilnosti</a:t>
            </a:r>
            <a:r>
              <a:rPr lang="en-GB" sz="1600" b="0" kern="1200" dirty="0">
                <a:solidFill>
                  <a:schemeClr val="tx1"/>
                </a:solidFill>
                <a:latin typeface="+mn-lt"/>
              </a:rPr>
              <a:t>, </a:t>
            </a:r>
            <a:r>
              <a:rPr lang="en-GB" sz="1600" b="0" kern="1200" dirty="0" err="1">
                <a:solidFill>
                  <a:schemeClr val="tx1"/>
                </a:solidFill>
                <a:latin typeface="+mn-lt"/>
              </a:rPr>
              <a:t>ki</a:t>
            </a:r>
            <a:r>
              <a:rPr lang="en-GB" sz="1600" b="0" kern="1200" dirty="0">
                <a:solidFill>
                  <a:schemeClr val="tx1"/>
                </a:solidFill>
                <a:latin typeface="+mn-lt"/>
              </a:rPr>
              <a:t> jo </a:t>
            </a:r>
            <a:r>
              <a:rPr lang="en-GB" sz="1600" b="0" kern="1200" dirty="0" err="1">
                <a:solidFill>
                  <a:schemeClr val="tx1"/>
                </a:solidFill>
                <a:latin typeface="+mn-lt"/>
              </a:rPr>
              <a:t>prispeva</a:t>
            </a:r>
            <a:r>
              <a:rPr lang="en-GB" sz="1600" b="0" kern="1200" dirty="0">
                <a:solidFill>
                  <a:schemeClr val="tx1"/>
                </a:solidFill>
                <a:latin typeface="+mn-lt"/>
              </a:rPr>
              <a:t> </a:t>
            </a:r>
            <a:r>
              <a:rPr lang="en-GB" sz="1600" kern="1200" dirty="0" err="1">
                <a:solidFill>
                  <a:schemeClr val="tx1"/>
                </a:solidFill>
                <a:latin typeface="+mn-lt"/>
              </a:rPr>
              <a:t>merilni</a:t>
            </a:r>
            <a:r>
              <a:rPr lang="en-GB" sz="1600" kern="1200" dirty="0">
                <a:solidFill>
                  <a:schemeClr val="tx1"/>
                </a:solidFill>
                <a:latin typeface="+mn-lt"/>
              </a:rPr>
              <a:t> </a:t>
            </a:r>
            <a:r>
              <a:rPr lang="en-GB" sz="1600" kern="1200" dirty="0" err="1">
                <a:solidFill>
                  <a:schemeClr val="tx1"/>
                </a:solidFill>
                <a:latin typeface="+mn-lt"/>
              </a:rPr>
              <a:t>postopek</a:t>
            </a:r>
            <a:r>
              <a:rPr lang="en-GB" sz="1600" b="0" kern="1200" dirty="0">
                <a:solidFill>
                  <a:schemeClr val="tx1"/>
                </a:solidFill>
                <a:latin typeface="+mn-lt"/>
              </a:rPr>
              <a:t>. </a:t>
            </a:r>
            <a:r>
              <a:rPr lang="sl-SI" sz="1600" b="0" kern="1200" dirty="0">
                <a:solidFill>
                  <a:schemeClr val="tx1"/>
                </a:solidFill>
                <a:latin typeface="+mn-lt"/>
              </a:rPr>
              <a:t>Gre za </a:t>
            </a:r>
            <a:r>
              <a:rPr lang="en-US" sz="1600" b="0" noProof="0" dirty="0" err="1">
                <a:latin typeface="Arial" charset="0"/>
              </a:rPr>
              <a:t>variabilnost</a:t>
            </a:r>
            <a:r>
              <a:rPr lang="en-US" sz="1600" b="0" noProof="0" dirty="0">
                <a:latin typeface="Arial" charset="0"/>
              </a:rPr>
              <a:t> </a:t>
            </a:r>
            <a:r>
              <a:rPr lang="en-US" sz="1600" b="0" noProof="0" dirty="0" err="1">
                <a:latin typeface="Arial" charset="0"/>
              </a:rPr>
              <a:t>pri</a:t>
            </a:r>
            <a:r>
              <a:rPr lang="en-US" sz="1600" b="0" noProof="0" dirty="0">
                <a:latin typeface="Arial" charset="0"/>
              </a:rPr>
              <a:t> </a:t>
            </a:r>
            <a:r>
              <a:rPr lang="en-US" sz="1600" b="0" noProof="0" dirty="0" err="1">
                <a:latin typeface="Arial" charset="0"/>
              </a:rPr>
              <a:t>ponovljenih</a:t>
            </a:r>
            <a:r>
              <a:rPr lang="en-US" sz="1600" b="0" noProof="0" dirty="0">
                <a:latin typeface="Arial" charset="0"/>
              </a:rPr>
              <a:t> </a:t>
            </a:r>
            <a:r>
              <a:rPr lang="en-US" sz="1600" noProof="0" dirty="0" err="1">
                <a:latin typeface="Arial" charset="0"/>
              </a:rPr>
              <a:t>meritvah</a:t>
            </a:r>
            <a:r>
              <a:rPr lang="en-US" sz="1600" noProof="0" dirty="0">
                <a:latin typeface="Arial" charset="0"/>
              </a:rPr>
              <a:t> </a:t>
            </a:r>
            <a:r>
              <a:rPr lang="en-US" sz="1600" noProof="0" dirty="0" err="1">
                <a:latin typeface="Arial" charset="0"/>
              </a:rPr>
              <a:t>iste</a:t>
            </a:r>
            <a:r>
              <a:rPr lang="en-US" sz="1600" noProof="0" dirty="0">
                <a:latin typeface="Arial" charset="0"/>
              </a:rPr>
              <a:t> </a:t>
            </a:r>
            <a:r>
              <a:rPr lang="en-US" sz="1600" noProof="0" dirty="0" err="1">
                <a:latin typeface="Arial" charset="0"/>
              </a:rPr>
              <a:t>spremenljivke</a:t>
            </a:r>
            <a:r>
              <a:rPr lang="en-US" sz="1600" noProof="0" dirty="0">
                <a:latin typeface="Arial" charset="0"/>
              </a:rPr>
              <a:t> v </a:t>
            </a:r>
            <a:r>
              <a:rPr lang="en-US" sz="1600" noProof="0" dirty="0" err="1">
                <a:latin typeface="Arial" charset="0"/>
              </a:rPr>
              <a:t>različnih</a:t>
            </a:r>
            <a:r>
              <a:rPr lang="en-US" sz="1600" noProof="0" dirty="0">
                <a:latin typeface="Arial" charset="0"/>
              </a:rPr>
              <a:t> </a:t>
            </a:r>
            <a:r>
              <a:rPr lang="en-US" sz="1600" noProof="0" dirty="0" err="1">
                <a:latin typeface="Arial" charset="0"/>
              </a:rPr>
              <a:t>pogojih</a:t>
            </a:r>
            <a:r>
              <a:rPr lang="en-US" sz="1600" b="0" noProof="0" dirty="0">
                <a:latin typeface="Arial" charset="0"/>
              </a:rPr>
              <a:t> </a:t>
            </a:r>
            <a:r>
              <a:rPr lang="en-US" sz="1400" b="0" noProof="0" dirty="0">
                <a:latin typeface="Arial" charset="0"/>
              </a:rPr>
              <a:t>(</a:t>
            </a:r>
            <a:r>
              <a:rPr lang="en-US" sz="1400" b="0" noProof="0" dirty="0" err="1">
                <a:latin typeface="Arial" charset="0"/>
              </a:rPr>
              <a:t>npr</a:t>
            </a:r>
            <a:r>
              <a:rPr lang="en-US" sz="1400" b="0" noProof="0" dirty="0">
                <a:latin typeface="Arial" charset="0"/>
              </a:rPr>
              <a:t>. </a:t>
            </a:r>
            <a:r>
              <a:rPr lang="en-US" sz="1400" b="0" noProof="0" dirty="0" err="1">
                <a:latin typeface="Arial" charset="0"/>
              </a:rPr>
              <a:t>različni</a:t>
            </a:r>
            <a:r>
              <a:rPr lang="en-US" sz="1400" b="0" noProof="0" dirty="0">
                <a:latin typeface="Arial" charset="0"/>
              </a:rPr>
              <a:t> </a:t>
            </a:r>
            <a:r>
              <a:rPr lang="en-US" sz="1400" b="0" noProof="0" dirty="0" err="1">
                <a:latin typeface="Arial" charset="0"/>
              </a:rPr>
              <a:t>operaterji</a:t>
            </a:r>
            <a:r>
              <a:rPr lang="en-US" sz="1400" b="0" noProof="0" dirty="0">
                <a:latin typeface="Arial" charset="0"/>
              </a:rPr>
              <a:t>, </a:t>
            </a:r>
            <a:r>
              <a:rPr lang="en-US" sz="1400" b="0" noProof="0" dirty="0" err="1">
                <a:latin typeface="Arial" charset="0"/>
              </a:rPr>
              <a:t>različne</a:t>
            </a:r>
            <a:r>
              <a:rPr lang="en-US" sz="1400" b="0" noProof="0" dirty="0">
                <a:latin typeface="Arial" charset="0"/>
              </a:rPr>
              <a:t> </a:t>
            </a:r>
            <a:r>
              <a:rPr lang="en-US" sz="1400" b="0" noProof="0" dirty="0" err="1">
                <a:latin typeface="Arial" charset="0"/>
              </a:rPr>
              <a:t>konfiguracije</a:t>
            </a:r>
            <a:r>
              <a:rPr lang="en-US" sz="1400" b="0" noProof="0" dirty="0">
                <a:latin typeface="Arial" charset="0"/>
              </a:rPr>
              <a:t>, </a:t>
            </a:r>
            <a:r>
              <a:rPr lang="en-US" sz="1400" b="0" noProof="0" dirty="0" err="1">
                <a:latin typeface="Arial" charset="0"/>
              </a:rPr>
              <a:t>različne</a:t>
            </a:r>
            <a:r>
              <a:rPr lang="en-US" sz="1400" b="0" noProof="0" dirty="0">
                <a:latin typeface="Arial" charset="0"/>
              </a:rPr>
              <a:t> </a:t>
            </a:r>
            <a:r>
              <a:rPr lang="en-US" sz="1400" b="0" noProof="0" dirty="0" err="1">
                <a:latin typeface="Arial" charset="0"/>
              </a:rPr>
              <a:t>testne</a:t>
            </a:r>
            <a:r>
              <a:rPr lang="en-US" sz="1400" b="0" noProof="0" dirty="0">
                <a:latin typeface="Arial" charset="0"/>
              </a:rPr>
              <a:t> </a:t>
            </a:r>
            <a:r>
              <a:rPr lang="en-US" sz="1400" b="0" noProof="0" dirty="0" err="1">
                <a:latin typeface="Arial" charset="0"/>
              </a:rPr>
              <a:t>enote</a:t>
            </a:r>
            <a:r>
              <a:rPr lang="en-US" sz="1400" b="0" noProof="0" dirty="0">
                <a:latin typeface="Arial" charset="0"/>
              </a:rPr>
              <a:t>, </a:t>
            </a:r>
            <a:r>
              <a:rPr lang="en-US" sz="1400" b="0" noProof="0" dirty="0" err="1">
                <a:latin typeface="Arial" charset="0"/>
              </a:rPr>
              <a:t>različni</a:t>
            </a:r>
            <a:r>
              <a:rPr lang="en-US" sz="1400" b="0" noProof="0" dirty="0">
                <a:latin typeface="Arial" charset="0"/>
              </a:rPr>
              <a:t> </a:t>
            </a:r>
            <a:r>
              <a:rPr lang="en-US" sz="1400" b="0" noProof="0" dirty="0" err="1">
                <a:latin typeface="Arial" charset="0"/>
              </a:rPr>
              <a:t>okoljski</a:t>
            </a:r>
            <a:r>
              <a:rPr lang="en-US" sz="1400" b="0" noProof="0" dirty="0">
                <a:latin typeface="Arial" charset="0"/>
              </a:rPr>
              <a:t> </a:t>
            </a:r>
            <a:r>
              <a:rPr lang="en-US" sz="1400" b="0" noProof="0" dirty="0" err="1">
                <a:latin typeface="Arial" charset="0"/>
              </a:rPr>
              <a:t>pogoji</a:t>
            </a:r>
            <a:r>
              <a:rPr lang="en-US" sz="1400" b="0" noProof="0" dirty="0">
                <a:latin typeface="Arial" charset="0"/>
              </a:rPr>
              <a:t>, </a:t>
            </a:r>
            <a:r>
              <a:rPr lang="en-US" sz="1400" b="0" noProof="0" dirty="0" err="1">
                <a:latin typeface="Arial" charset="0"/>
              </a:rPr>
              <a:t>dolgoročna</a:t>
            </a:r>
            <a:r>
              <a:rPr lang="en-US" sz="1400" b="0" noProof="0" dirty="0">
                <a:latin typeface="Arial" charset="0"/>
              </a:rPr>
              <a:t>).</a:t>
            </a:r>
            <a:endParaRPr lang="en-US" sz="1600" b="0" noProof="0" dirty="0">
              <a:latin typeface="Arial" charset="0"/>
            </a:endParaRPr>
          </a:p>
          <a:p>
            <a:pPr lvl="1" eaLnBrk="1" hangingPunct="1"/>
            <a:endParaRPr lang="en-GB" sz="1600" noProof="0" dirty="0">
              <a:latin typeface="Arial" charset="0"/>
            </a:endParaRPr>
          </a:p>
          <a:p>
            <a:pPr lvl="1" eaLnBrk="1" hangingPunct="1"/>
            <a:endParaRPr lang="sl-SI" sz="1600" noProof="0" dirty="0">
              <a:latin typeface="Arial" charset="0"/>
              <a:cs typeface="Arial" charset="0"/>
            </a:endParaRPr>
          </a:p>
          <a:p>
            <a:pPr eaLnBrk="1" hangingPunct="1"/>
            <a:endParaRPr lang="sl-SI" sz="1600" noProof="0" dirty="0">
              <a:latin typeface="Arial" charset="0"/>
              <a:cs typeface="Arial" charset="0"/>
            </a:endParaRPr>
          </a:p>
        </p:txBody>
      </p:sp>
      <p:graphicFrame>
        <p:nvGraphicFramePr>
          <p:cNvPr id="117763" name="Object 2">
            <a:hlinkClick r:id="" action="ppaction://ole?verb=0"/>
          </p:cNvPr>
          <p:cNvGraphicFramePr>
            <a:graphicFrameLocks noChangeAspect="1"/>
          </p:cNvGraphicFramePr>
          <p:nvPr>
            <p:extLst>
              <p:ext uri="{D42A27DB-BD31-4B8C-83A1-F6EECF244321}">
                <p14:modId xmlns:p14="http://schemas.microsoft.com/office/powerpoint/2010/main" val="2099329070"/>
              </p:ext>
            </p:extLst>
          </p:nvPr>
        </p:nvGraphicFramePr>
        <p:xfrm>
          <a:off x="1826418" y="5733256"/>
          <a:ext cx="5491163" cy="636587"/>
        </p:xfrm>
        <a:graphic>
          <a:graphicData uri="http://schemas.openxmlformats.org/presentationml/2006/ole">
            <mc:AlternateContent xmlns:mc="http://schemas.openxmlformats.org/markup-compatibility/2006">
              <mc:Choice xmlns:v="urn:schemas-microsoft-com:vml" Requires="v">
                <p:oleObj name="Equation" r:id="rId3" imgW="2222280" imgH="253800" progId="Equation.3">
                  <p:embed/>
                </p:oleObj>
              </mc:Choice>
              <mc:Fallback>
                <p:oleObj name="Equation" r:id="rId3" imgW="2222280" imgH="253800" progId="Equation.3">
                  <p:embed/>
                  <p:pic>
                    <p:nvPicPr>
                      <p:cNvPr id="0" name=""/>
                      <p:cNvPicPr>
                        <a:picLocks noChangeAspect="1" noChangeArrowheads="1"/>
                      </p:cNvPicPr>
                      <p:nvPr/>
                    </p:nvPicPr>
                    <p:blipFill>
                      <a:blip r:embed="rId4"/>
                      <a:srcRect/>
                      <a:stretch>
                        <a:fillRect/>
                      </a:stretch>
                    </p:blipFill>
                    <p:spPr bwMode="auto">
                      <a:xfrm>
                        <a:off x="1826418" y="5733256"/>
                        <a:ext cx="5491163" cy="636587"/>
                      </a:xfrm>
                      <a:prstGeom prst="rect">
                        <a:avLst/>
                      </a:prstGeom>
                      <a:solidFill>
                        <a:srgbClr val="99CCFF"/>
                      </a:solidFill>
                      <a:ln w="19050">
                        <a:solidFill>
                          <a:schemeClr val="tx1"/>
                        </a:solidFill>
                        <a:miter lim="800000"/>
                        <a:headEnd/>
                        <a:tailEnd/>
                      </a:ln>
                      <a:effectLst>
                        <a:outerShdw dist="107763" dir="2700000" algn="ctr" rotWithShape="0">
                          <a:schemeClr val="bg2"/>
                        </a:outerShdw>
                      </a:effectLst>
                    </p:spPr>
                  </p:pic>
                </p:oleObj>
              </mc:Fallback>
            </mc:AlternateContent>
          </a:graphicData>
        </a:graphic>
      </p:graphicFrame>
      <p:graphicFrame>
        <p:nvGraphicFramePr>
          <p:cNvPr id="14340" name="Object 3">
            <a:hlinkClick r:id="" action="ppaction://ole?verb=0"/>
          </p:cNvPr>
          <p:cNvGraphicFramePr>
            <a:graphicFrameLocks noChangeAspect="1"/>
          </p:cNvGraphicFramePr>
          <p:nvPr/>
        </p:nvGraphicFramePr>
        <p:xfrm>
          <a:off x="7126288" y="1268413"/>
          <a:ext cx="1711325" cy="508000"/>
        </p:xfrm>
        <a:graphic>
          <a:graphicData uri="http://schemas.openxmlformats.org/presentationml/2006/ole">
            <mc:AlternateContent xmlns:mc="http://schemas.openxmlformats.org/markup-compatibility/2006">
              <mc:Choice xmlns:v="urn:schemas-microsoft-com:vml" Requires="v">
                <p:oleObj name="Vergelijking" r:id="rId5" imgW="990170" imgH="253890" progId="Equation.3">
                  <p:embed/>
                </p:oleObj>
              </mc:Choice>
              <mc:Fallback>
                <p:oleObj name="Vergelijking" r:id="rId5" imgW="990170" imgH="25389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6288" y="1268413"/>
                        <a:ext cx="1711325" cy="508000"/>
                      </a:xfrm>
                      <a:prstGeom prst="rect">
                        <a:avLst/>
                      </a:prstGeom>
                      <a:solidFill>
                        <a:srgbClr val="99CCFF"/>
                      </a:solidFill>
                      <a:ln w="19050">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14341" name="Titel 5"/>
          <p:cNvSpPr>
            <a:spLocks noGrp="1"/>
          </p:cNvSpPr>
          <p:nvPr>
            <p:ph type="title"/>
          </p:nvPr>
        </p:nvSpPr>
        <p:spPr/>
        <p:txBody>
          <a:bodyPr/>
          <a:lstStyle/>
          <a:p>
            <a:r>
              <a:rPr lang="en-GB" noProof="0" dirty="0">
                <a:latin typeface="Arial" charset="0"/>
              </a:rPr>
              <a:t>Analiza merilnega sistema</a:t>
            </a:r>
          </a:p>
        </p:txBody>
      </p:sp>
    </p:spTree>
    <p:extLst>
      <p:ext uri="{BB962C8B-B14F-4D97-AF65-F5344CB8AC3E}">
        <p14:creationId xmlns:p14="http://schemas.microsoft.com/office/powerpoint/2010/main" val="9375560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7000"/>
                                  </p:stCondLst>
                                  <p:childTnLst>
                                    <p:set>
                                      <p:cBhvr>
                                        <p:cTn id="6" dur="1" fill="hold">
                                          <p:stCondLst>
                                            <p:cond delay="0"/>
                                          </p:stCondLst>
                                        </p:cTn>
                                        <p:tgtEl>
                                          <p:spTgt spid="117763"/>
                                        </p:tgtEl>
                                        <p:attrNameLst>
                                          <p:attrName>style.visibility</p:attrName>
                                        </p:attrNameLst>
                                      </p:cBhvr>
                                      <p:to>
                                        <p:strVal val="visible"/>
                                      </p:to>
                                    </p:set>
                                    <p:anim calcmode="lin" valueType="num">
                                      <p:cBhvr additive="base">
                                        <p:cTn id="7" dur="500" fill="hold"/>
                                        <p:tgtEl>
                                          <p:spTgt spid="117763"/>
                                        </p:tgtEl>
                                        <p:attrNameLst>
                                          <p:attrName>ppt_x</p:attrName>
                                        </p:attrNameLst>
                                      </p:cBhvr>
                                      <p:tavLst>
                                        <p:tav tm="0">
                                          <p:val>
                                            <p:strVal val="0-#ppt_w/2"/>
                                          </p:val>
                                        </p:tav>
                                        <p:tav tm="100000">
                                          <p:val>
                                            <p:strVal val="#ppt_x"/>
                                          </p:val>
                                        </p:tav>
                                      </p:tavLst>
                                    </p:anim>
                                    <p:anim calcmode="lin" valueType="num">
                                      <p:cBhvr additive="base">
                                        <p:cTn id="8" dur="500" fill="hold"/>
                                        <p:tgtEl>
                                          <p:spTgt spid="1177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jdelijke aanduiding voor inhoud 3"/>
          <p:cNvSpPr>
            <a:spLocks noGrp="1"/>
          </p:cNvSpPr>
          <p:nvPr>
            <p:ph idx="1"/>
          </p:nvPr>
        </p:nvSpPr>
        <p:spPr>
          <a:xfrm>
            <a:off x="720724" y="1341438"/>
            <a:ext cx="8243763" cy="5040312"/>
          </a:xfrm>
        </p:spPr>
        <p:txBody>
          <a:bodyPr/>
          <a:lstStyle/>
          <a:p>
            <a:r>
              <a:rPr lang="en-GB" noProof="0" dirty="0">
                <a:latin typeface="Arial" charset="0"/>
              </a:rPr>
              <a:t>3 - Stabilnost</a:t>
            </a:r>
          </a:p>
          <a:p>
            <a:pPr lvl="1"/>
            <a:endParaRPr lang="sl-SI" noProof="0" dirty="0">
              <a:latin typeface="Arial" charset="0"/>
              <a:cs typeface="Arial" charset="0"/>
            </a:endParaRPr>
          </a:p>
          <a:p>
            <a:pPr lvl="1"/>
            <a:r>
              <a:rPr lang="en-GB" sz="1600" noProof="0" dirty="0">
                <a:latin typeface="Arial" charset="0"/>
              </a:rPr>
              <a:t>Konstantnost odmika meritev v času.</a:t>
            </a:r>
          </a:p>
          <a:p>
            <a:pPr lvl="1"/>
            <a:endParaRPr lang="sl-SI" sz="1600" u="sng" noProof="0" dirty="0">
              <a:latin typeface="Arial" charset="0"/>
              <a:cs typeface="Arial" charset="0"/>
            </a:endParaRPr>
          </a:p>
          <a:p>
            <a:pPr lvl="1"/>
            <a:r>
              <a:rPr lang="en-GB" sz="1600" noProof="0" dirty="0">
                <a:latin typeface="Arial" charset="0"/>
              </a:rPr>
              <a:t>Meritve so prikazane v obliki trendov, izmen, cikličnih vzorcev, osamelcev itd. </a:t>
            </a:r>
          </a:p>
          <a:p>
            <a:pPr lvl="1"/>
            <a:endParaRPr lang="sl-SI" sz="1600" noProof="0" dirty="0">
              <a:latin typeface="Arial" charset="0"/>
              <a:cs typeface="Arial" charset="0"/>
            </a:endParaRPr>
          </a:p>
          <a:p>
            <a:pPr lvl="1"/>
            <a:r>
              <a:rPr lang="en-GB" sz="1600" noProof="0" dirty="0">
                <a:latin typeface="Arial" charset="0"/>
              </a:rPr>
              <a:t>Preučuje se lahko s standardnimi periodičnimi ukrepi in vrednoti z </a:t>
            </a:r>
            <a:r>
              <a:rPr lang="en-GB" sz="1600" noProof="0" dirty="0" err="1">
                <a:latin typeface="Arial" charset="0"/>
              </a:rPr>
              <a:t>grafi</a:t>
            </a:r>
            <a:r>
              <a:rPr lang="en-GB" sz="1600" noProof="0" dirty="0">
                <a:latin typeface="Arial" charset="0"/>
              </a:rPr>
              <a:t> poteka </a:t>
            </a:r>
            <a:r>
              <a:rPr lang="en-GB" sz="1600" noProof="0" dirty="0" err="1">
                <a:latin typeface="Arial" charset="0"/>
              </a:rPr>
              <a:t>ali</a:t>
            </a:r>
            <a:r>
              <a:rPr lang="en-GB" sz="1600" noProof="0" dirty="0">
                <a:latin typeface="Arial" charset="0"/>
              </a:rPr>
              <a:t> </a:t>
            </a:r>
            <a:r>
              <a:rPr lang="sl-SI" sz="1600" noProof="0" dirty="0">
                <a:latin typeface="Arial" charset="0"/>
              </a:rPr>
              <a:t>s </a:t>
            </a:r>
            <a:r>
              <a:rPr lang="en-GB" sz="1600" noProof="0" dirty="0" err="1">
                <a:latin typeface="Arial" charset="0"/>
              </a:rPr>
              <a:t>kontrolnimi</a:t>
            </a:r>
            <a:r>
              <a:rPr lang="en-GB" sz="1600" noProof="0" dirty="0">
                <a:latin typeface="Arial" charset="0"/>
              </a:rPr>
              <a:t> kartami </a:t>
            </a:r>
          </a:p>
          <a:p>
            <a:pPr lvl="1"/>
            <a:endParaRPr lang="sl-SI" sz="1600" noProof="0" dirty="0">
              <a:latin typeface="Arial" charset="0"/>
              <a:cs typeface="Arial" charset="0"/>
            </a:endParaRPr>
          </a:p>
          <a:p>
            <a:pPr lvl="1">
              <a:buNone/>
            </a:pPr>
            <a:r>
              <a:rPr lang="en-GB" sz="1600" noProof="0" dirty="0">
                <a:latin typeface="Arial" charset="0"/>
              </a:rPr>
              <a:t>Možni vzroki:</a:t>
            </a:r>
          </a:p>
          <a:p>
            <a:pPr lvl="1">
              <a:buNone/>
            </a:pPr>
            <a:endParaRPr lang="sl-SI" sz="1600" noProof="0" dirty="0">
              <a:latin typeface="Arial" charset="0"/>
              <a:cs typeface="Arial" charset="0"/>
            </a:endParaRPr>
          </a:p>
          <a:p>
            <a:pPr lvl="2"/>
            <a:r>
              <a:rPr lang="en-GB" noProof="0" dirty="0">
                <a:latin typeface="Arial" charset="0"/>
              </a:rPr>
              <a:t>Okvara merilnega instrumenta</a:t>
            </a:r>
          </a:p>
          <a:p>
            <a:pPr lvl="2"/>
            <a:r>
              <a:rPr lang="en-GB" noProof="0" dirty="0">
                <a:latin typeface="Arial" charset="0"/>
              </a:rPr>
              <a:t>Obraba</a:t>
            </a:r>
          </a:p>
          <a:p>
            <a:pPr lvl="2"/>
            <a:r>
              <a:rPr dirty="0"/>
              <a:t>Nepravilna namestitev ali vpetje merilnega instrumenta</a:t>
            </a:r>
            <a:endParaRPr lang="sl-SI" noProof="0" dirty="0">
              <a:latin typeface="Arial" charset="0"/>
              <a:cs typeface="Arial" charset="0"/>
            </a:endParaRPr>
          </a:p>
          <a:p>
            <a:pPr lvl="2"/>
            <a:r>
              <a:rPr lang="en-GB" noProof="0" dirty="0">
                <a:latin typeface="Arial" charset="0"/>
              </a:rPr>
              <a:t>Zunanji vplivi, npr. električne motnje </a:t>
            </a:r>
          </a:p>
          <a:p>
            <a:pPr lvl="2"/>
            <a:r>
              <a:rPr lang="en-GB" noProof="0" dirty="0">
                <a:latin typeface="Arial" charset="0"/>
              </a:rPr>
              <a:t>Operaterjeva malomarnost</a:t>
            </a:r>
          </a:p>
          <a:p>
            <a:endParaRPr lang="sl-SI" sz="1600" noProof="0" dirty="0">
              <a:latin typeface="Arial" charset="0"/>
              <a:cs typeface="Arial" charset="0"/>
            </a:endParaRPr>
          </a:p>
        </p:txBody>
      </p:sp>
      <p:sp>
        <p:nvSpPr>
          <p:cNvPr id="22531" name="Titel 3"/>
          <p:cNvSpPr>
            <a:spLocks noGrp="1"/>
          </p:cNvSpPr>
          <p:nvPr>
            <p:ph type="title"/>
          </p:nvPr>
        </p:nvSpPr>
        <p:spPr/>
        <p:txBody>
          <a:bodyPr/>
          <a:lstStyle/>
          <a:p>
            <a:r>
              <a:rPr lang="en-GB" noProof="0" dirty="0">
                <a:latin typeface="Arial" charset="0"/>
              </a:rPr>
              <a:t>Analiza merilnega sistema</a:t>
            </a:r>
          </a:p>
        </p:txBody>
      </p:sp>
    </p:spTree>
    <p:extLst>
      <p:ext uri="{BB962C8B-B14F-4D97-AF65-F5344CB8AC3E}">
        <p14:creationId xmlns:p14="http://schemas.microsoft.com/office/powerpoint/2010/main" val="344995649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latin typeface="Arial" charset="0"/>
              </a:rPr>
              <a:t>Analiza merilnega sistema</a:t>
            </a:r>
            <a:endParaRPr lang="sl-SI" dirty="0"/>
          </a:p>
        </p:txBody>
      </p:sp>
      <p:sp>
        <p:nvSpPr>
          <p:cNvPr id="4" name="Text Box 32"/>
          <p:cNvSpPr txBox="1">
            <a:spLocks noGrp="1" noChangeArrowheads="1"/>
          </p:cNvSpPr>
          <p:nvPr>
            <p:ph idx="1"/>
          </p:nvPr>
        </p:nvSpPr>
        <p:spPr/>
        <p:txBody>
          <a:bodyPr/>
          <a:lstStyle/>
          <a:p>
            <a:r>
              <a:rPr dirty="0"/>
              <a:t>Študija ponovljivosti in obnovljivosti</a:t>
            </a:r>
            <a:endParaRPr lang="sl-SI" dirty="0"/>
          </a:p>
          <a:p>
            <a:pPr lvl="1"/>
            <a:endParaRPr lang="sl-SI" dirty="0"/>
          </a:p>
          <a:p>
            <a:pPr lvl="1"/>
            <a:r>
              <a:rPr dirty="0"/>
              <a:t>Trije različni operaterji po trikrat premerijo 10 delov  </a:t>
            </a:r>
          </a:p>
          <a:p>
            <a:pPr lvl="1"/>
            <a:endParaRPr lang="sl-SI" dirty="0"/>
          </a:p>
          <a:p>
            <a:endParaRPr lang="sl-SI" dirty="0"/>
          </a:p>
        </p:txBody>
      </p:sp>
      <p:grpSp>
        <p:nvGrpSpPr>
          <p:cNvPr id="3" name="Groep 37"/>
          <p:cNvGrpSpPr/>
          <p:nvPr/>
        </p:nvGrpSpPr>
        <p:grpSpPr>
          <a:xfrm>
            <a:off x="144016" y="2785307"/>
            <a:ext cx="8748464" cy="3307989"/>
            <a:chOff x="0" y="3505387"/>
            <a:chExt cx="8748464" cy="3307989"/>
          </a:xfrm>
        </p:grpSpPr>
        <p:sp>
          <p:nvSpPr>
            <p:cNvPr id="39" name="Oval 4"/>
            <p:cNvSpPr>
              <a:spLocks noChangeArrowheads="1"/>
            </p:cNvSpPr>
            <p:nvPr/>
          </p:nvSpPr>
          <p:spPr bwMode="auto">
            <a:xfrm>
              <a:off x="1089877" y="5125670"/>
              <a:ext cx="302095" cy="283653"/>
            </a:xfrm>
            <a:prstGeom prst="ellipse">
              <a:avLst/>
            </a:prstGeom>
            <a:solidFill>
              <a:srgbClr val="969696"/>
            </a:solidFill>
            <a:ln w="9525">
              <a:solidFill>
                <a:schemeClr val="tx1"/>
              </a:solidFill>
              <a:round/>
              <a:headEnd/>
              <a:tailEnd/>
            </a:ln>
          </p:spPr>
          <p:txBody>
            <a:bodyPr wrap="none" anchor="ctr"/>
            <a:lstStyle/>
            <a:p>
              <a:pPr algn="ctr"/>
              <a:r>
                <a:rPr lang="en-US" sz="1200" dirty="0">
                  <a:latin typeface="Verdana" pitchFamily="34" charset="0"/>
                </a:rPr>
                <a:t>1</a:t>
              </a:r>
            </a:p>
          </p:txBody>
        </p:sp>
        <p:sp>
          <p:nvSpPr>
            <p:cNvPr id="40" name="Oval 5"/>
            <p:cNvSpPr>
              <a:spLocks noChangeArrowheads="1"/>
            </p:cNvSpPr>
            <p:nvPr/>
          </p:nvSpPr>
          <p:spPr bwMode="auto">
            <a:xfrm>
              <a:off x="1467495" y="5125670"/>
              <a:ext cx="302095" cy="283653"/>
            </a:xfrm>
            <a:prstGeom prst="ellipse">
              <a:avLst/>
            </a:prstGeom>
            <a:solidFill>
              <a:srgbClr val="969696"/>
            </a:solidFill>
            <a:ln w="9525">
              <a:solidFill>
                <a:schemeClr val="tx1"/>
              </a:solidFill>
              <a:round/>
              <a:headEnd/>
              <a:tailEnd/>
            </a:ln>
          </p:spPr>
          <p:txBody>
            <a:bodyPr wrap="none" anchor="ctr"/>
            <a:lstStyle/>
            <a:p>
              <a:pPr algn="ctr"/>
              <a:r>
                <a:rPr lang="en-US" sz="1200">
                  <a:latin typeface="Verdana" pitchFamily="34" charset="0"/>
                </a:rPr>
                <a:t>2</a:t>
              </a:r>
            </a:p>
          </p:txBody>
        </p:sp>
        <p:sp>
          <p:nvSpPr>
            <p:cNvPr id="41" name="Oval 6"/>
            <p:cNvSpPr>
              <a:spLocks noChangeArrowheads="1"/>
            </p:cNvSpPr>
            <p:nvPr/>
          </p:nvSpPr>
          <p:spPr bwMode="auto">
            <a:xfrm>
              <a:off x="1845113" y="5125670"/>
              <a:ext cx="302095" cy="283653"/>
            </a:xfrm>
            <a:prstGeom prst="ellipse">
              <a:avLst/>
            </a:prstGeom>
            <a:solidFill>
              <a:srgbClr val="969696"/>
            </a:solidFill>
            <a:ln w="9525">
              <a:solidFill>
                <a:schemeClr val="tx1"/>
              </a:solidFill>
              <a:round/>
              <a:headEnd/>
              <a:tailEnd/>
            </a:ln>
          </p:spPr>
          <p:txBody>
            <a:bodyPr wrap="none" anchor="ctr"/>
            <a:lstStyle/>
            <a:p>
              <a:pPr algn="ctr"/>
              <a:r>
                <a:rPr lang="en-US" sz="1200">
                  <a:latin typeface="Verdana" pitchFamily="34" charset="0"/>
                </a:rPr>
                <a:t>3</a:t>
              </a:r>
            </a:p>
          </p:txBody>
        </p:sp>
        <p:sp>
          <p:nvSpPr>
            <p:cNvPr id="42" name="Oval 7"/>
            <p:cNvSpPr>
              <a:spLocks noChangeArrowheads="1"/>
            </p:cNvSpPr>
            <p:nvPr/>
          </p:nvSpPr>
          <p:spPr bwMode="auto">
            <a:xfrm>
              <a:off x="2222731" y="5125670"/>
              <a:ext cx="302095" cy="283653"/>
            </a:xfrm>
            <a:prstGeom prst="ellipse">
              <a:avLst/>
            </a:prstGeom>
            <a:solidFill>
              <a:srgbClr val="969696"/>
            </a:solidFill>
            <a:ln w="9525">
              <a:solidFill>
                <a:schemeClr val="tx1"/>
              </a:solidFill>
              <a:round/>
              <a:headEnd/>
              <a:tailEnd/>
            </a:ln>
          </p:spPr>
          <p:txBody>
            <a:bodyPr wrap="none" anchor="ctr"/>
            <a:lstStyle/>
            <a:p>
              <a:pPr algn="ctr"/>
              <a:r>
                <a:rPr lang="en-US" sz="1200">
                  <a:latin typeface="Verdana" pitchFamily="34" charset="0"/>
                </a:rPr>
                <a:t>4</a:t>
              </a:r>
            </a:p>
          </p:txBody>
        </p:sp>
        <p:sp>
          <p:nvSpPr>
            <p:cNvPr id="43" name="Oval 8"/>
            <p:cNvSpPr>
              <a:spLocks noChangeArrowheads="1"/>
            </p:cNvSpPr>
            <p:nvPr/>
          </p:nvSpPr>
          <p:spPr bwMode="auto">
            <a:xfrm>
              <a:off x="2600349" y="5125670"/>
              <a:ext cx="302095" cy="283653"/>
            </a:xfrm>
            <a:prstGeom prst="ellipse">
              <a:avLst/>
            </a:prstGeom>
            <a:solidFill>
              <a:srgbClr val="969696"/>
            </a:solidFill>
            <a:ln w="9525">
              <a:solidFill>
                <a:schemeClr val="tx1"/>
              </a:solidFill>
              <a:round/>
              <a:headEnd/>
              <a:tailEnd/>
            </a:ln>
          </p:spPr>
          <p:txBody>
            <a:bodyPr wrap="none" anchor="ctr"/>
            <a:lstStyle/>
            <a:p>
              <a:pPr algn="ctr"/>
              <a:r>
                <a:rPr lang="en-US" sz="1200">
                  <a:latin typeface="Verdana" pitchFamily="34" charset="0"/>
                </a:rPr>
                <a:t>5</a:t>
              </a:r>
            </a:p>
          </p:txBody>
        </p:sp>
        <p:sp>
          <p:nvSpPr>
            <p:cNvPr id="44" name="Oval 9"/>
            <p:cNvSpPr>
              <a:spLocks noChangeArrowheads="1"/>
            </p:cNvSpPr>
            <p:nvPr/>
          </p:nvSpPr>
          <p:spPr bwMode="auto">
            <a:xfrm>
              <a:off x="2977966" y="5125670"/>
              <a:ext cx="302095" cy="283653"/>
            </a:xfrm>
            <a:prstGeom prst="ellipse">
              <a:avLst/>
            </a:prstGeom>
            <a:solidFill>
              <a:srgbClr val="969696"/>
            </a:solidFill>
            <a:ln w="9525">
              <a:solidFill>
                <a:schemeClr val="tx1"/>
              </a:solidFill>
              <a:round/>
              <a:headEnd/>
              <a:tailEnd/>
            </a:ln>
          </p:spPr>
          <p:txBody>
            <a:bodyPr wrap="none" anchor="ctr"/>
            <a:lstStyle/>
            <a:p>
              <a:pPr algn="ctr"/>
              <a:r>
                <a:rPr lang="en-US" sz="1200">
                  <a:latin typeface="Verdana" pitchFamily="34" charset="0"/>
                </a:rPr>
                <a:t>6</a:t>
              </a:r>
            </a:p>
          </p:txBody>
        </p:sp>
        <p:sp>
          <p:nvSpPr>
            <p:cNvPr id="45" name="Oval 10"/>
            <p:cNvSpPr>
              <a:spLocks noChangeArrowheads="1"/>
            </p:cNvSpPr>
            <p:nvPr/>
          </p:nvSpPr>
          <p:spPr bwMode="auto">
            <a:xfrm>
              <a:off x="3355584" y="5125670"/>
              <a:ext cx="302095" cy="283653"/>
            </a:xfrm>
            <a:prstGeom prst="ellipse">
              <a:avLst/>
            </a:prstGeom>
            <a:solidFill>
              <a:srgbClr val="969696"/>
            </a:solidFill>
            <a:ln w="9525">
              <a:solidFill>
                <a:schemeClr val="tx1"/>
              </a:solidFill>
              <a:round/>
              <a:headEnd/>
              <a:tailEnd/>
            </a:ln>
          </p:spPr>
          <p:txBody>
            <a:bodyPr wrap="none" anchor="ctr"/>
            <a:lstStyle/>
            <a:p>
              <a:pPr algn="ctr"/>
              <a:r>
                <a:rPr lang="en-US" sz="1200">
                  <a:latin typeface="Verdana" pitchFamily="34" charset="0"/>
                </a:rPr>
                <a:t>7</a:t>
              </a:r>
            </a:p>
          </p:txBody>
        </p:sp>
        <p:sp>
          <p:nvSpPr>
            <p:cNvPr id="46" name="Oval 11"/>
            <p:cNvSpPr>
              <a:spLocks noChangeArrowheads="1"/>
            </p:cNvSpPr>
            <p:nvPr/>
          </p:nvSpPr>
          <p:spPr bwMode="auto">
            <a:xfrm>
              <a:off x="3733203" y="5125670"/>
              <a:ext cx="302095" cy="283653"/>
            </a:xfrm>
            <a:prstGeom prst="ellipse">
              <a:avLst/>
            </a:prstGeom>
            <a:solidFill>
              <a:srgbClr val="969696"/>
            </a:solidFill>
            <a:ln w="9525">
              <a:solidFill>
                <a:schemeClr val="tx1"/>
              </a:solidFill>
              <a:round/>
              <a:headEnd/>
              <a:tailEnd/>
            </a:ln>
          </p:spPr>
          <p:txBody>
            <a:bodyPr wrap="none" anchor="ctr"/>
            <a:lstStyle/>
            <a:p>
              <a:pPr algn="ctr"/>
              <a:r>
                <a:rPr lang="en-US" sz="1200">
                  <a:latin typeface="Verdana" pitchFamily="34" charset="0"/>
                </a:rPr>
                <a:t>8</a:t>
              </a:r>
            </a:p>
          </p:txBody>
        </p:sp>
        <p:sp>
          <p:nvSpPr>
            <p:cNvPr id="47" name="Oval 12"/>
            <p:cNvSpPr>
              <a:spLocks noChangeArrowheads="1"/>
            </p:cNvSpPr>
            <p:nvPr/>
          </p:nvSpPr>
          <p:spPr bwMode="auto">
            <a:xfrm>
              <a:off x="4110820" y="5125670"/>
              <a:ext cx="302095" cy="283653"/>
            </a:xfrm>
            <a:prstGeom prst="ellipse">
              <a:avLst/>
            </a:prstGeom>
            <a:solidFill>
              <a:srgbClr val="969696"/>
            </a:solidFill>
            <a:ln w="9525">
              <a:solidFill>
                <a:schemeClr val="tx1"/>
              </a:solidFill>
              <a:round/>
              <a:headEnd/>
              <a:tailEnd/>
            </a:ln>
          </p:spPr>
          <p:txBody>
            <a:bodyPr wrap="none" anchor="ctr"/>
            <a:lstStyle/>
            <a:p>
              <a:pPr algn="ctr"/>
              <a:r>
                <a:rPr lang="en-US" sz="1200">
                  <a:latin typeface="Verdana" pitchFamily="34" charset="0"/>
                </a:rPr>
                <a:t>9</a:t>
              </a:r>
            </a:p>
          </p:txBody>
        </p:sp>
        <p:sp>
          <p:nvSpPr>
            <p:cNvPr id="48" name="Oval 13"/>
            <p:cNvSpPr>
              <a:spLocks noChangeArrowheads="1"/>
            </p:cNvSpPr>
            <p:nvPr/>
          </p:nvSpPr>
          <p:spPr bwMode="auto">
            <a:xfrm>
              <a:off x="4488438" y="5125670"/>
              <a:ext cx="302095" cy="283653"/>
            </a:xfrm>
            <a:prstGeom prst="ellipse">
              <a:avLst/>
            </a:prstGeom>
            <a:solidFill>
              <a:srgbClr val="969696"/>
            </a:solidFill>
            <a:ln w="9525">
              <a:solidFill>
                <a:schemeClr val="tx1"/>
              </a:solidFill>
              <a:round/>
              <a:headEnd/>
              <a:tailEnd/>
            </a:ln>
          </p:spPr>
          <p:txBody>
            <a:bodyPr wrap="none" anchor="ctr"/>
            <a:lstStyle/>
            <a:p>
              <a:pPr algn="ctr"/>
              <a:r>
                <a:rPr lang="en-US" sz="1200">
                  <a:latin typeface="Verdana" pitchFamily="34" charset="0"/>
                </a:rPr>
                <a:t>10</a:t>
              </a:r>
            </a:p>
          </p:txBody>
        </p:sp>
        <p:sp>
          <p:nvSpPr>
            <p:cNvPr id="49" name="Rectangle 14"/>
            <p:cNvSpPr>
              <a:spLocks noChangeArrowheads="1"/>
            </p:cNvSpPr>
            <p:nvPr/>
          </p:nvSpPr>
          <p:spPr bwMode="auto">
            <a:xfrm>
              <a:off x="5202765" y="3991056"/>
              <a:ext cx="1641065" cy="425479"/>
            </a:xfrm>
            <a:prstGeom prst="rect">
              <a:avLst/>
            </a:prstGeom>
            <a:gradFill rotWithShape="1">
              <a:gsLst>
                <a:gs pos="0">
                  <a:srgbClr val="339933"/>
                </a:gs>
                <a:gs pos="100000">
                  <a:schemeClr val="bg1"/>
                </a:gs>
              </a:gsLst>
              <a:lin ang="0" scaled="1"/>
            </a:gradFill>
            <a:ln w="9525">
              <a:solidFill>
                <a:schemeClr val="tx1"/>
              </a:solidFill>
              <a:miter lim="800000"/>
              <a:headEnd/>
              <a:tailEnd/>
            </a:ln>
          </p:spPr>
          <p:txBody>
            <a:bodyPr wrap="none" anchor="ctr"/>
            <a:lstStyle/>
            <a:p>
              <a:pPr algn="ctr"/>
              <a:r>
                <a:rPr lang="en-US" sz="1800" b="1" dirty="0">
                  <a:latin typeface="Verdana" pitchFamily="34" charset="0"/>
                </a:rPr>
                <a:t>Operater 1</a:t>
              </a:r>
            </a:p>
          </p:txBody>
        </p:sp>
        <p:sp>
          <p:nvSpPr>
            <p:cNvPr id="50" name="Rectangle 15"/>
            <p:cNvSpPr>
              <a:spLocks noChangeArrowheads="1"/>
            </p:cNvSpPr>
            <p:nvPr/>
          </p:nvSpPr>
          <p:spPr bwMode="auto">
            <a:xfrm>
              <a:off x="5202765" y="5054757"/>
              <a:ext cx="1641065" cy="425479"/>
            </a:xfrm>
            <a:prstGeom prst="rect">
              <a:avLst/>
            </a:prstGeom>
            <a:gradFill rotWithShape="1">
              <a:gsLst>
                <a:gs pos="0">
                  <a:srgbClr val="339933"/>
                </a:gs>
                <a:gs pos="100000">
                  <a:schemeClr val="bg1"/>
                </a:gs>
              </a:gsLst>
              <a:lin ang="0" scaled="1"/>
            </a:gradFill>
            <a:ln w="9525">
              <a:solidFill>
                <a:schemeClr val="tx1"/>
              </a:solidFill>
              <a:miter lim="800000"/>
              <a:headEnd/>
              <a:tailEnd/>
            </a:ln>
          </p:spPr>
          <p:txBody>
            <a:bodyPr wrap="none" anchor="ctr"/>
            <a:lstStyle/>
            <a:p>
              <a:pPr algn="ctr"/>
              <a:r>
                <a:rPr lang="en-US" sz="1800" b="1">
                  <a:latin typeface="Verdana" pitchFamily="34" charset="0"/>
                </a:rPr>
                <a:t>Operater 2</a:t>
              </a:r>
            </a:p>
          </p:txBody>
        </p:sp>
        <p:sp>
          <p:nvSpPr>
            <p:cNvPr id="51" name="Rectangle 16"/>
            <p:cNvSpPr>
              <a:spLocks noChangeArrowheads="1"/>
            </p:cNvSpPr>
            <p:nvPr/>
          </p:nvSpPr>
          <p:spPr bwMode="auto">
            <a:xfrm>
              <a:off x="5202765" y="6035725"/>
              <a:ext cx="1641065" cy="425479"/>
            </a:xfrm>
            <a:prstGeom prst="rect">
              <a:avLst/>
            </a:prstGeom>
            <a:gradFill rotWithShape="1">
              <a:gsLst>
                <a:gs pos="0">
                  <a:srgbClr val="339933"/>
                </a:gs>
                <a:gs pos="100000">
                  <a:schemeClr val="bg1"/>
                </a:gs>
              </a:gsLst>
              <a:lin ang="0" scaled="1"/>
            </a:gradFill>
            <a:ln w="9525">
              <a:solidFill>
                <a:schemeClr val="tx1"/>
              </a:solidFill>
              <a:miter lim="800000"/>
              <a:headEnd/>
              <a:tailEnd/>
            </a:ln>
          </p:spPr>
          <p:txBody>
            <a:bodyPr wrap="none" anchor="ctr"/>
            <a:lstStyle/>
            <a:p>
              <a:pPr algn="ctr"/>
              <a:r>
                <a:rPr lang="en-US" sz="1800" b="1">
                  <a:latin typeface="Verdana" pitchFamily="34" charset="0"/>
                </a:rPr>
                <a:t>Operater 3</a:t>
              </a:r>
            </a:p>
          </p:txBody>
        </p:sp>
        <p:sp>
          <p:nvSpPr>
            <p:cNvPr id="52" name="Rectangle 17"/>
            <p:cNvSpPr>
              <a:spLocks noChangeArrowheads="1"/>
            </p:cNvSpPr>
            <p:nvPr/>
          </p:nvSpPr>
          <p:spPr bwMode="auto">
            <a:xfrm>
              <a:off x="7307985" y="3861048"/>
              <a:ext cx="1434948" cy="283653"/>
            </a:xfrm>
            <a:prstGeom prst="rect">
              <a:avLst/>
            </a:prstGeom>
            <a:gradFill rotWithShape="1">
              <a:gsLst>
                <a:gs pos="0">
                  <a:srgbClr val="FFFFFF"/>
                </a:gs>
                <a:gs pos="100000">
                  <a:srgbClr val="B46B00"/>
                </a:gs>
              </a:gsLst>
              <a:lin ang="2700000" scaled="1"/>
            </a:gradFill>
            <a:ln w="9525">
              <a:solidFill>
                <a:schemeClr val="tx1"/>
              </a:solidFill>
              <a:miter lim="800000"/>
              <a:headEnd/>
              <a:tailEnd/>
            </a:ln>
          </p:spPr>
          <p:txBody>
            <a:bodyPr wrap="none" anchor="ctr"/>
            <a:lstStyle/>
            <a:p>
              <a:pPr algn="ctr"/>
              <a:r>
                <a:rPr lang="en-US" sz="1200" b="1" dirty="0">
                  <a:latin typeface="Verdana" pitchFamily="34" charset="0"/>
                </a:rPr>
                <a:t>Meritev 2</a:t>
              </a:r>
              <a:endParaRPr lang="sl-SI" sz="1200" b="1" dirty="0">
                <a:latin typeface="Verdana" pitchFamily="34" charset="0"/>
                <a:ea typeface="Verdana" pitchFamily="34" charset="0"/>
                <a:cs typeface="Verdana" pitchFamily="34" charset="0"/>
              </a:endParaRPr>
            </a:p>
          </p:txBody>
        </p:sp>
        <p:sp>
          <p:nvSpPr>
            <p:cNvPr id="53" name="Rectangle 18"/>
            <p:cNvSpPr>
              <a:spLocks noChangeArrowheads="1"/>
            </p:cNvSpPr>
            <p:nvPr/>
          </p:nvSpPr>
          <p:spPr bwMode="auto">
            <a:xfrm>
              <a:off x="7307985" y="4221088"/>
              <a:ext cx="1434948" cy="283653"/>
            </a:xfrm>
            <a:prstGeom prst="rect">
              <a:avLst/>
            </a:prstGeom>
            <a:gradFill rotWithShape="1">
              <a:gsLst>
                <a:gs pos="0">
                  <a:srgbClr val="FFFFFF"/>
                </a:gs>
                <a:gs pos="100000">
                  <a:srgbClr val="B46B00"/>
                </a:gs>
              </a:gsLst>
              <a:lin ang="2700000" scaled="1"/>
            </a:gradFill>
            <a:ln w="9525">
              <a:solidFill>
                <a:schemeClr val="tx1"/>
              </a:solidFill>
              <a:miter lim="800000"/>
              <a:headEnd/>
              <a:tailEnd/>
            </a:ln>
          </p:spPr>
          <p:txBody>
            <a:bodyPr wrap="none" anchor="ctr"/>
            <a:lstStyle/>
            <a:p>
              <a:pPr algn="ctr"/>
              <a:r>
                <a:rPr lang="en-US" sz="1200" b="1" dirty="0">
                  <a:latin typeface="Verdana" pitchFamily="34" charset="0"/>
                </a:rPr>
                <a:t>Meritev 3</a:t>
              </a:r>
              <a:endParaRPr lang="sl-SI" sz="1200" b="1" dirty="0">
                <a:latin typeface="Verdana" pitchFamily="34" charset="0"/>
                <a:ea typeface="Verdana" pitchFamily="34" charset="0"/>
                <a:cs typeface="Verdana" pitchFamily="34" charset="0"/>
              </a:endParaRPr>
            </a:p>
          </p:txBody>
        </p:sp>
        <p:cxnSp>
          <p:nvCxnSpPr>
            <p:cNvPr id="54" name="AutoShape 19"/>
            <p:cNvCxnSpPr>
              <a:cxnSpLocks noChangeShapeType="1"/>
              <a:endCxn id="39" idx="2"/>
            </p:cNvCxnSpPr>
            <p:nvPr/>
          </p:nvCxnSpPr>
          <p:spPr bwMode="auto">
            <a:xfrm flipV="1">
              <a:off x="636736" y="5267496"/>
              <a:ext cx="453142" cy="2954"/>
            </a:xfrm>
            <a:prstGeom prst="straightConnector1">
              <a:avLst/>
            </a:prstGeom>
            <a:noFill/>
            <a:ln w="9525">
              <a:solidFill>
                <a:schemeClr val="tx1"/>
              </a:solidFill>
              <a:round/>
              <a:headEnd/>
              <a:tailEnd/>
            </a:ln>
          </p:spPr>
        </p:cxnSp>
        <p:cxnSp>
          <p:nvCxnSpPr>
            <p:cNvPr id="55" name="AutoShape 20"/>
            <p:cNvCxnSpPr>
              <a:cxnSpLocks noChangeShapeType="1"/>
              <a:stCxn id="49" idx="3"/>
              <a:endCxn id="52" idx="1"/>
            </p:cNvCxnSpPr>
            <p:nvPr/>
          </p:nvCxnSpPr>
          <p:spPr bwMode="auto">
            <a:xfrm flipV="1">
              <a:off x="6843830" y="4002874"/>
              <a:ext cx="464155" cy="200921"/>
            </a:xfrm>
            <a:prstGeom prst="straightConnector1">
              <a:avLst/>
            </a:prstGeom>
            <a:noFill/>
            <a:ln w="9525">
              <a:solidFill>
                <a:schemeClr val="tx1"/>
              </a:solidFill>
              <a:round/>
              <a:headEnd/>
              <a:tailEnd type="triangle" w="med" len="med"/>
            </a:ln>
          </p:spPr>
        </p:cxnSp>
        <p:cxnSp>
          <p:nvCxnSpPr>
            <p:cNvPr id="56" name="AutoShape 21"/>
            <p:cNvCxnSpPr>
              <a:cxnSpLocks noChangeShapeType="1"/>
              <a:stCxn id="49" idx="3"/>
              <a:endCxn id="53" idx="1"/>
            </p:cNvCxnSpPr>
            <p:nvPr/>
          </p:nvCxnSpPr>
          <p:spPr bwMode="auto">
            <a:xfrm>
              <a:off x="6843830" y="4203796"/>
              <a:ext cx="464155" cy="159119"/>
            </a:xfrm>
            <a:prstGeom prst="straightConnector1">
              <a:avLst/>
            </a:prstGeom>
            <a:noFill/>
            <a:ln w="9525">
              <a:solidFill>
                <a:schemeClr val="tx1"/>
              </a:solidFill>
              <a:round/>
              <a:headEnd/>
              <a:tailEnd type="triangle" w="med" len="med"/>
            </a:ln>
          </p:spPr>
        </p:cxnSp>
        <p:sp>
          <p:nvSpPr>
            <p:cNvPr id="57" name="Rectangle 22"/>
            <p:cNvSpPr>
              <a:spLocks noChangeArrowheads="1"/>
            </p:cNvSpPr>
            <p:nvPr/>
          </p:nvSpPr>
          <p:spPr bwMode="auto">
            <a:xfrm>
              <a:off x="7307985" y="4653136"/>
              <a:ext cx="1434948" cy="283653"/>
            </a:xfrm>
            <a:prstGeom prst="rect">
              <a:avLst/>
            </a:prstGeom>
            <a:gradFill rotWithShape="1">
              <a:gsLst>
                <a:gs pos="0">
                  <a:srgbClr val="FFFFFF"/>
                </a:gs>
                <a:gs pos="100000">
                  <a:srgbClr val="B46B00"/>
                </a:gs>
              </a:gsLst>
              <a:lin ang="2700000" scaled="1"/>
            </a:gradFill>
            <a:ln w="9525">
              <a:solidFill>
                <a:schemeClr val="tx1"/>
              </a:solidFill>
              <a:miter lim="800000"/>
              <a:headEnd/>
              <a:tailEnd/>
            </a:ln>
          </p:spPr>
          <p:txBody>
            <a:bodyPr wrap="none" anchor="ctr"/>
            <a:lstStyle/>
            <a:p>
              <a:pPr algn="ctr"/>
              <a:r>
                <a:rPr lang="en-US" sz="1200" b="1" dirty="0">
                  <a:latin typeface="Verdana" pitchFamily="34" charset="0"/>
                </a:rPr>
                <a:t>Meritev 1</a:t>
              </a:r>
              <a:endParaRPr lang="sl-SI" sz="1200" b="1" dirty="0">
                <a:latin typeface="Verdana" pitchFamily="34" charset="0"/>
                <a:ea typeface="Verdana" pitchFamily="34" charset="0"/>
                <a:cs typeface="Verdana" pitchFamily="34" charset="0"/>
              </a:endParaRPr>
            </a:p>
          </p:txBody>
        </p:sp>
        <p:sp>
          <p:nvSpPr>
            <p:cNvPr id="58" name="Rectangle 23"/>
            <p:cNvSpPr>
              <a:spLocks noChangeArrowheads="1"/>
            </p:cNvSpPr>
            <p:nvPr/>
          </p:nvSpPr>
          <p:spPr bwMode="auto">
            <a:xfrm>
              <a:off x="7307985" y="5013176"/>
              <a:ext cx="1434948" cy="283653"/>
            </a:xfrm>
            <a:prstGeom prst="rect">
              <a:avLst/>
            </a:prstGeom>
            <a:gradFill rotWithShape="1">
              <a:gsLst>
                <a:gs pos="0">
                  <a:srgbClr val="FFFFFF"/>
                </a:gs>
                <a:gs pos="100000">
                  <a:srgbClr val="B46B00"/>
                </a:gs>
              </a:gsLst>
              <a:lin ang="2700000" scaled="1"/>
            </a:gradFill>
            <a:ln w="9525">
              <a:solidFill>
                <a:schemeClr val="tx1"/>
              </a:solidFill>
              <a:miter lim="800000"/>
              <a:headEnd/>
              <a:tailEnd/>
            </a:ln>
          </p:spPr>
          <p:txBody>
            <a:bodyPr wrap="none" anchor="ctr"/>
            <a:lstStyle/>
            <a:p>
              <a:pPr algn="ctr"/>
              <a:r>
                <a:rPr lang="en-US" sz="1200" b="1" dirty="0">
                  <a:latin typeface="Verdana" pitchFamily="34" charset="0"/>
                </a:rPr>
                <a:t>Meritev 2</a:t>
              </a:r>
              <a:endParaRPr lang="sl-SI" sz="1200" b="1" dirty="0">
                <a:latin typeface="Verdana" pitchFamily="34" charset="0"/>
                <a:ea typeface="Verdana" pitchFamily="34" charset="0"/>
                <a:cs typeface="Verdana" pitchFamily="34" charset="0"/>
              </a:endParaRPr>
            </a:p>
          </p:txBody>
        </p:sp>
        <p:cxnSp>
          <p:nvCxnSpPr>
            <p:cNvPr id="59" name="AutoShape 24"/>
            <p:cNvCxnSpPr>
              <a:cxnSpLocks noChangeShapeType="1"/>
              <a:stCxn id="50" idx="3"/>
              <a:endCxn id="57" idx="1"/>
            </p:cNvCxnSpPr>
            <p:nvPr/>
          </p:nvCxnSpPr>
          <p:spPr bwMode="auto">
            <a:xfrm flipV="1">
              <a:off x="6843830" y="4794963"/>
              <a:ext cx="464155" cy="472534"/>
            </a:xfrm>
            <a:prstGeom prst="straightConnector1">
              <a:avLst/>
            </a:prstGeom>
            <a:noFill/>
            <a:ln w="9525">
              <a:solidFill>
                <a:schemeClr val="tx1"/>
              </a:solidFill>
              <a:round/>
              <a:headEnd/>
              <a:tailEnd type="triangle" w="med" len="med"/>
            </a:ln>
          </p:spPr>
        </p:cxnSp>
        <p:cxnSp>
          <p:nvCxnSpPr>
            <p:cNvPr id="60" name="AutoShape 25"/>
            <p:cNvCxnSpPr>
              <a:cxnSpLocks noChangeShapeType="1"/>
              <a:stCxn id="50" idx="3"/>
              <a:endCxn id="58" idx="1"/>
            </p:cNvCxnSpPr>
            <p:nvPr/>
          </p:nvCxnSpPr>
          <p:spPr bwMode="auto">
            <a:xfrm flipV="1">
              <a:off x="6843830" y="5155003"/>
              <a:ext cx="464155" cy="112494"/>
            </a:xfrm>
            <a:prstGeom prst="straightConnector1">
              <a:avLst/>
            </a:prstGeom>
            <a:noFill/>
            <a:ln w="9525">
              <a:solidFill>
                <a:schemeClr val="tx1"/>
              </a:solidFill>
              <a:round/>
              <a:headEnd/>
              <a:tailEnd type="triangle" w="med" len="med"/>
            </a:ln>
          </p:spPr>
        </p:cxnSp>
        <p:sp>
          <p:nvSpPr>
            <p:cNvPr id="61" name="Rectangle 26"/>
            <p:cNvSpPr>
              <a:spLocks noChangeArrowheads="1"/>
            </p:cNvSpPr>
            <p:nvPr/>
          </p:nvSpPr>
          <p:spPr bwMode="auto">
            <a:xfrm>
              <a:off x="7307985" y="5805264"/>
              <a:ext cx="1434948" cy="283653"/>
            </a:xfrm>
            <a:prstGeom prst="rect">
              <a:avLst/>
            </a:prstGeom>
            <a:gradFill rotWithShape="1">
              <a:gsLst>
                <a:gs pos="0">
                  <a:srgbClr val="FFFFFF"/>
                </a:gs>
                <a:gs pos="100000">
                  <a:srgbClr val="B46B00"/>
                </a:gs>
              </a:gsLst>
              <a:lin ang="2700000" scaled="1"/>
            </a:gradFill>
            <a:ln w="9525">
              <a:solidFill>
                <a:schemeClr val="tx1"/>
              </a:solidFill>
              <a:miter lim="800000"/>
              <a:headEnd/>
              <a:tailEnd/>
            </a:ln>
          </p:spPr>
          <p:txBody>
            <a:bodyPr wrap="none" anchor="ctr"/>
            <a:lstStyle/>
            <a:p>
              <a:pPr algn="ctr"/>
              <a:r>
                <a:rPr lang="en-US" sz="1200" b="1" dirty="0">
                  <a:latin typeface="Verdana" pitchFamily="34" charset="0"/>
                </a:rPr>
                <a:t>Meritev 1</a:t>
              </a:r>
              <a:endParaRPr lang="sl-SI" sz="1200" b="1" dirty="0">
                <a:latin typeface="Verdana" pitchFamily="34" charset="0"/>
                <a:ea typeface="Verdana" pitchFamily="34" charset="0"/>
                <a:cs typeface="Verdana" pitchFamily="34" charset="0"/>
              </a:endParaRPr>
            </a:p>
          </p:txBody>
        </p:sp>
        <p:sp>
          <p:nvSpPr>
            <p:cNvPr id="62" name="Rectangle 27"/>
            <p:cNvSpPr>
              <a:spLocks noChangeArrowheads="1"/>
            </p:cNvSpPr>
            <p:nvPr/>
          </p:nvSpPr>
          <p:spPr bwMode="auto">
            <a:xfrm>
              <a:off x="7308304" y="6165304"/>
              <a:ext cx="1434948" cy="283653"/>
            </a:xfrm>
            <a:prstGeom prst="rect">
              <a:avLst/>
            </a:prstGeom>
            <a:gradFill rotWithShape="1">
              <a:gsLst>
                <a:gs pos="0">
                  <a:srgbClr val="FFFFFF"/>
                </a:gs>
                <a:gs pos="100000">
                  <a:srgbClr val="B46B00"/>
                </a:gs>
              </a:gsLst>
              <a:lin ang="2700000" scaled="1"/>
            </a:gradFill>
            <a:ln w="9525">
              <a:solidFill>
                <a:schemeClr val="tx1"/>
              </a:solidFill>
              <a:miter lim="800000"/>
              <a:headEnd/>
              <a:tailEnd/>
            </a:ln>
          </p:spPr>
          <p:txBody>
            <a:bodyPr wrap="none" anchor="ctr"/>
            <a:lstStyle/>
            <a:p>
              <a:pPr algn="ctr"/>
              <a:r>
                <a:rPr lang="en-US" sz="1200" b="1" dirty="0">
                  <a:latin typeface="Verdana" pitchFamily="34" charset="0"/>
                </a:rPr>
                <a:t>Meritev 2</a:t>
              </a:r>
              <a:endParaRPr lang="sl-SI" sz="1200" b="1" dirty="0">
                <a:latin typeface="Verdana" pitchFamily="34" charset="0"/>
                <a:ea typeface="Verdana" pitchFamily="34" charset="0"/>
                <a:cs typeface="Verdana" pitchFamily="34" charset="0"/>
              </a:endParaRPr>
            </a:p>
          </p:txBody>
        </p:sp>
        <p:cxnSp>
          <p:nvCxnSpPr>
            <p:cNvPr id="63" name="AutoShape 28"/>
            <p:cNvCxnSpPr>
              <a:cxnSpLocks noChangeShapeType="1"/>
              <a:endCxn id="61" idx="1"/>
            </p:cNvCxnSpPr>
            <p:nvPr/>
          </p:nvCxnSpPr>
          <p:spPr bwMode="auto">
            <a:xfrm flipV="1">
              <a:off x="6854843" y="5947090"/>
              <a:ext cx="453142" cy="200921"/>
            </a:xfrm>
            <a:prstGeom prst="straightConnector1">
              <a:avLst/>
            </a:prstGeom>
            <a:noFill/>
            <a:ln w="9525">
              <a:solidFill>
                <a:schemeClr val="tx1"/>
              </a:solidFill>
              <a:round/>
              <a:headEnd/>
              <a:tailEnd type="triangle" w="med" len="med"/>
            </a:ln>
          </p:spPr>
        </p:cxnSp>
        <p:cxnSp>
          <p:nvCxnSpPr>
            <p:cNvPr id="64" name="AutoShape 29"/>
            <p:cNvCxnSpPr>
              <a:cxnSpLocks noChangeShapeType="1"/>
              <a:stCxn id="51" idx="3"/>
              <a:endCxn id="62" idx="1"/>
            </p:cNvCxnSpPr>
            <p:nvPr/>
          </p:nvCxnSpPr>
          <p:spPr bwMode="auto">
            <a:xfrm>
              <a:off x="6843830" y="6248465"/>
              <a:ext cx="464474" cy="58666"/>
            </a:xfrm>
            <a:prstGeom prst="straightConnector1">
              <a:avLst/>
            </a:prstGeom>
            <a:noFill/>
            <a:ln w="9525">
              <a:solidFill>
                <a:schemeClr val="tx1"/>
              </a:solidFill>
              <a:round/>
              <a:headEnd/>
              <a:tailEnd type="triangle" w="med" len="med"/>
            </a:ln>
          </p:spPr>
        </p:cxnSp>
        <p:sp>
          <p:nvSpPr>
            <p:cNvPr id="65" name="Text Box 30"/>
            <p:cNvSpPr txBox="1">
              <a:spLocks noChangeArrowheads="1"/>
            </p:cNvSpPr>
            <p:nvPr/>
          </p:nvSpPr>
          <p:spPr bwMode="auto">
            <a:xfrm>
              <a:off x="0" y="5089563"/>
              <a:ext cx="921553" cy="338554"/>
            </a:xfrm>
            <a:prstGeom prst="rect">
              <a:avLst/>
            </a:prstGeom>
            <a:solidFill>
              <a:srgbClr val="F6F1D8"/>
            </a:solidFill>
            <a:ln w="9525">
              <a:solidFill>
                <a:schemeClr val="tx1"/>
              </a:solidFill>
              <a:miter lim="800000"/>
              <a:headEnd/>
              <a:tailEnd/>
            </a:ln>
          </p:spPr>
          <p:txBody>
            <a:bodyPr wrap="square">
              <a:spAutoFit/>
            </a:bodyPr>
            <a:lstStyle/>
            <a:p>
              <a:pPr algn="ctr">
                <a:spcBef>
                  <a:spcPct val="50000"/>
                </a:spcBef>
              </a:pPr>
              <a:r>
                <a:rPr lang="en-US" sz="1600" b="1" dirty="0">
                  <a:latin typeface="Verdana" pitchFamily="34" charset="0"/>
                </a:rPr>
                <a:t>Deli</a:t>
              </a:r>
            </a:p>
          </p:txBody>
        </p:sp>
        <p:sp>
          <p:nvSpPr>
            <p:cNvPr id="66" name="Line 33"/>
            <p:cNvSpPr>
              <a:spLocks noChangeShapeType="1"/>
            </p:cNvSpPr>
            <p:nvPr/>
          </p:nvSpPr>
          <p:spPr bwMode="auto">
            <a:xfrm flipV="1">
              <a:off x="4715009" y="4193455"/>
              <a:ext cx="440554" cy="932214"/>
            </a:xfrm>
            <a:prstGeom prst="line">
              <a:avLst/>
            </a:prstGeom>
            <a:noFill/>
            <a:ln w="9525">
              <a:solidFill>
                <a:schemeClr val="tx1"/>
              </a:solidFill>
              <a:round/>
              <a:headEnd/>
              <a:tailEnd type="triangle" w="med" len="med"/>
            </a:ln>
          </p:spPr>
          <p:txBody>
            <a:bodyPr/>
            <a:lstStyle/>
            <a:p>
              <a:endParaRPr lang="nl-NL">
                <a:latin typeface="Verdana" pitchFamily="34" charset="0"/>
                <a:ea typeface="Verdana" pitchFamily="34" charset="0"/>
                <a:cs typeface="Verdana" pitchFamily="34" charset="0"/>
              </a:endParaRPr>
            </a:p>
          </p:txBody>
        </p:sp>
        <p:sp>
          <p:nvSpPr>
            <p:cNvPr id="67" name="Line 34"/>
            <p:cNvSpPr>
              <a:spLocks noChangeShapeType="1"/>
            </p:cNvSpPr>
            <p:nvPr/>
          </p:nvSpPr>
          <p:spPr bwMode="auto">
            <a:xfrm>
              <a:off x="4790533" y="5267496"/>
              <a:ext cx="377618" cy="0"/>
            </a:xfrm>
            <a:prstGeom prst="line">
              <a:avLst/>
            </a:prstGeom>
            <a:noFill/>
            <a:ln w="9525">
              <a:solidFill>
                <a:schemeClr val="tx1"/>
              </a:solidFill>
              <a:round/>
              <a:headEnd/>
              <a:tailEnd type="triangle" w="med" len="med"/>
            </a:ln>
          </p:spPr>
          <p:txBody>
            <a:bodyPr/>
            <a:lstStyle/>
            <a:p>
              <a:endParaRPr lang="nl-NL">
                <a:latin typeface="Verdana" pitchFamily="34" charset="0"/>
                <a:ea typeface="Verdana" pitchFamily="34" charset="0"/>
                <a:cs typeface="Verdana" pitchFamily="34" charset="0"/>
              </a:endParaRPr>
            </a:p>
          </p:txBody>
        </p:sp>
        <p:sp>
          <p:nvSpPr>
            <p:cNvPr id="68" name="Line 35"/>
            <p:cNvSpPr>
              <a:spLocks noChangeShapeType="1"/>
            </p:cNvSpPr>
            <p:nvPr/>
          </p:nvSpPr>
          <p:spPr bwMode="auto">
            <a:xfrm>
              <a:off x="4715009" y="5409323"/>
              <a:ext cx="427967" cy="827323"/>
            </a:xfrm>
            <a:prstGeom prst="line">
              <a:avLst/>
            </a:prstGeom>
            <a:noFill/>
            <a:ln w="9525">
              <a:solidFill>
                <a:schemeClr val="tx1"/>
              </a:solidFill>
              <a:round/>
              <a:headEnd/>
              <a:tailEnd type="triangle" w="med" len="med"/>
            </a:ln>
          </p:spPr>
          <p:txBody>
            <a:bodyPr/>
            <a:lstStyle/>
            <a:p>
              <a:endParaRPr lang="nl-NL">
                <a:latin typeface="Verdana" pitchFamily="34" charset="0"/>
                <a:ea typeface="Verdana" pitchFamily="34" charset="0"/>
                <a:cs typeface="Verdana" pitchFamily="34" charset="0"/>
              </a:endParaRPr>
            </a:p>
          </p:txBody>
        </p:sp>
        <p:sp>
          <p:nvSpPr>
            <p:cNvPr id="69" name="Rectangle 17"/>
            <p:cNvSpPr>
              <a:spLocks noChangeArrowheads="1"/>
            </p:cNvSpPr>
            <p:nvPr/>
          </p:nvSpPr>
          <p:spPr bwMode="auto">
            <a:xfrm>
              <a:off x="7308304" y="3505387"/>
              <a:ext cx="1434948" cy="283653"/>
            </a:xfrm>
            <a:prstGeom prst="rect">
              <a:avLst/>
            </a:prstGeom>
            <a:gradFill rotWithShape="1">
              <a:gsLst>
                <a:gs pos="0">
                  <a:srgbClr val="FFFFFF"/>
                </a:gs>
                <a:gs pos="100000">
                  <a:srgbClr val="B46B00"/>
                </a:gs>
              </a:gsLst>
              <a:lin ang="2700000" scaled="1"/>
            </a:gradFill>
            <a:ln w="9525">
              <a:solidFill>
                <a:schemeClr val="tx1"/>
              </a:solidFill>
              <a:miter lim="800000"/>
              <a:headEnd/>
              <a:tailEnd/>
            </a:ln>
          </p:spPr>
          <p:txBody>
            <a:bodyPr wrap="none" anchor="ctr"/>
            <a:lstStyle/>
            <a:p>
              <a:pPr algn="ctr"/>
              <a:r>
                <a:rPr lang="en-US" sz="1200" b="1" dirty="0">
                  <a:latin typeface="Verdana" pitchFamily="34" charset="0"/>
                </a:rPr>
                <a:t>Meritev 1</a:t>
              </a:r>
              <a:endParaRPr lang="sl-SI" sz="1200" b="1" dirty="0">
                <a:latin typeface="Verdana" pitchFamily="34" charset="0"/>
                <a:ea typeface="Verdana" pitchFamily="34" charset="0"/>
                <a:cs typeface="Verdana" pitchFamily="34" charset="0"/>
              </a:endParaRPr>
            </a:p>
          </p:txBody>
        </p:sp>
        <p:cxnSp>
          <p:nvCxnSpPr>
            <p:cNvPr id="70" name="AutoShape 20"/>
            <p:cNvCxnSpPr>
              <a:cxnSpLocks noChangeShapeType="1"/>
              <a:stCxn id="49" idx="3"/>
              <a:endCxn id="69" idx="1"/>
            </p:cNvCxnSpPr>
            <p:nvPr/>
          </p:nvCxnSpPr>
          <p:spPr bwMode="auto">
            <a:xfrm flipV="1">
              <a:off x="6843830" y="3647214"/>
              <a:ext cx="464474" cy="556582"/>
            </a:xfrm>
            <a:prstGeom prst="straightConnector1">
              <a:avLst/>
            </a:prstGeom>
            <a:noFill/>
            <a:ln w="9525">
              <a:solidFill>
                <a:schemeClr val="tx1"/>
              </a:solidFill>
              <a:round/>
              <a:headEnd/>
              <a:tailEnd type="triangle" w="med" len="med"/>
            </a:ln>
          </p:spPr>
        </p:cxnSp>
        <p:sp>
          <p:nvSpPr>
            <p:cNvPr id="71" name="Rectangle 18"/>
            <p:cNvSpPr>
              <a:spLocks noChangeArrowheads="1"/>
            </p:cNvSpPr>
            <p:nvPr/>
          </p:nvSpPr>
          <p:spPr bwMode="auto">
            <a:xfrm>
              <a:off x="7308304" y="5373216"/>
              <a:ext cx="1434948" cy="283653"/>
            </a:xfrm>
            <a:prstGeom prst="rect">
              <a:avLst/>
            </a:prstGeom>
            <a:gradFill rotWithShape="1">
              <a:gsLst>
                <a:gs pos="0">
                  <a:srgbClr val="FFFFFF"/>
                </a:gs>
                <a:gs pos="100000">
                  <a:srgbClr val="B46B00"/>
                </a:gs>
              </a:gsLst>
              <a:lin ang="2700000" scaled="1"/>
            </a:gradFill>
            <a:ln w="9525">
              <a:solidFill>
                <a:schemeClr val="tx1"/>
              </a:solidFill>
              <a:miter lim="800000"/>
              <a:headEnd/>
              <a:tailEnd/>
            </a:ln>
          </p:spPr>
          <p:txBody>
            <a:bodyPr wrap="none" anchor="ctr"/>
            <a:lstStyle/>
            <a:p>
              <a:pPr algn="ctr"/>
              <a:r>
                <a:rPr lang="en-US" sz="1200" b="1" dirty="0">
                  <a:latin typeface="Verdana" pitchFamily="34" charset="0"/>
                </a:rPr>
                <a:t>Meritev 3</a:t>
              </a:r>
              <a:endParaRPr lang="sl-SI" sz="1200" b="1" dirty="0">
                <a:latin typeface="Verdana" pitchFamily="34" charset="0"/>
                <a:ea typeface="Verdana" pitchFamily="34" charset="0"/>
                <a:cs typeface="Verdana" pitchFamily="34" charset="0"/>
              </a:endParaRPr>
            </a:p>
          </p:txBody>
        </p:sp>
        <p:cxnSp>
          <p:nvCxnSpPr>
            <p:cNvPr id="72" name="AutoShape 21"/>
            <p:cNvCxnSpPr>
              <a:cxnSpLocks noChangeShapeType="1"/>
              <a:stCxn id="50" idx="3"/>
              <a:endCxn id="71" idx="1"/>
            </p:cNvCxnSpPr>
            <p:nvPr/>
          </p:nvCxnSpPr>
          <p:spPr bwMode="auto">
            <a:xfrm>
              <a:off x="6843830" y="5267497"/>
              <a:ext cx="464474" cy="247546"/>
            </a:xfrm>
            <a:prstGeom prst="straightConnector1">
              <a:avLst/>
            </a:prstGeom>
            <a:noFill/>
            <a:ln w="9525">
              <a:solidFill>
                <a:schemeClr val="tx1"/>
              </a:solidFill>
              <a:round/>
              <a:headEnd/>
              <a:tailEnd type="triangle" w="med" len="med"/>
            </a:ln>
          </p:spPr>
        </p:cxnSp>
        <p:sp>
          <p:nvSpPr>
            <p:cNvPr id="73" name="Rectangle 18"/>
            <p:cNvSpPr>
              <a:spLocks noChangeArrowheads="1"/>
            </p:cNvSpPr>
            <p:nvPr/>
          </p:nvSpPr>
          <p:spPr bwMode="auto">
            <a:xfrm>
              <a:off x="7313516" y="6529723"/>
              <a:ext cx="1434948" cy="283653"/>
            </a:xfrm>
            <a:prstGeom prst="rect">
              <a:avLst/>
            </a:prstGeom>
            <a:gradFill rotWithShape="1">
              <a:gsLst>
                <a:gs pos="0">
                  <a:srgbClr val="FFFFFF"/>
                </a:gs>
                <a:gs pos="100000">
                  <a:srgbClr val="B46B00"/>
                </a:gs>
              </a:gsLst>
              <a:lin ang="2700000" scaled="1"/>
            </a:gradFill>
            <a:ln w="9525">
              <a:solidFill>
                <a:schemeClr val="tx1"/>
              </a:solidFill>
              <a:miter lim="800000"/>
              <a:headEnd/>
              <a:tailEnd/>
            </a:ln>
          </p:spPr>
          <p:txBody>
            <a:bodyPr wrap="none" anchor="ctr"/>
            <a:lstStyle/>
            <a:p>
              <a:pPr algn="ctr"/>
              <a:r>
                <a:rPr lang="en-US" sz="1200" b="1" dirty="0">
                  <a:latin typeface="Verdana" pitchFamily="34" charset="0"/>
                </a:rPr>
                <a:t>Meritev 3</a:t>
              </a:r>
              <a:endParaRPr lang="sl-SI" sz="1200" b="1" dirty="0">
                <a:latin typeface="Verdana" pitchFamily="34" charset="0"/>
                <a:ea typeface="Verdana" pitchFamily="34" charset="0"/>
                <a:cs typeface="Verdana" pitchFamily="34" charset="0"/>
              </a:endParaRPr>
            </a:p>
          </p:txBody>
        </p:sp>
        <p:cxnSp>
          <p:nvCxnSpPr>
            <p:cNvPr id="74" name="AutoShape 21"/>
            <p:cNvCxnSpPr>
              <a:cxnSpLocks noChangeShapeType="1"/>
              <a:stCxn id="51" idx="3"/>
              <a:endCxn id="73" idx="1"/>
            </p:cNvCxnSpPr>
            <p:nvPr/>
          </p:nvCxnSpPr>
          <p:spPr bwMode="auto">
            <a:xfrm>
              <a:off x="6843830" y="6248465"/>
              <a:ext cx="469686" cy="423085"/>
            </a:xfrm>
            <a:prstGeom prst="straightConnector1">
              <a:avLst/>
            </a:prstGeom>
            <a:noFill/>
            <a:ln w="9525">
              <a:solidFill>
                <a:schemeClr val="tx1"/>
              </a:solidFill>
              <a:round/>
              <a:headEnd/>
              <a:tailEnd type="triangle" w="med" len="med"/>
            </a:ln>
          </p:spPr>
        </p:cxnSp>
      </p:grpSp>
    </p:spTree>
    <p:extLst>
      <p:ext uri="{BB962C8B-B14F-4D97-AF65-F5344CB8AC3E}">
        <p14:creationId xmlns:p14="http://schemas.microsoft.com/office/powerpoint/2010/main" val="166304316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jdelijke aanduiding voor inhoud 7"/>
          <p:cNvSpPr>
            <a:spLocks noGrp="1"/>
          </p:cNvSpPr>
          <p:nvPr>
            <p:ph idx="1"/>
          </p:nvPr>
        </p:nvSpPr>
        <p:spPr/>
        <p:txBody>
          <a:bodyPr/>
          <a:lstStyle/>
          <a:p>
            <a:r>
              <a:rPr lang="en-GB" noProof="0" dirty="0">
                <a:latin typeface="Arial" charset="0"/>
              </a:rPr>
              <a:t>1 – Razmerje med natančnostjo in toleranco (P/T) %</a:t>
            </a:r>
          </a:p>
          <a:p>
            <a:pPr lvl="1"/>
            <a:r>
              <a:rPr lang="en-GB" sz="1600" b="0" noProof="0" dirty="0">
                <a:latin typeface="Arial" charset="0"/>
              </a:rPr>
              <a:t>% tolerance izraža </a:t>
            </a:r>
            <a:r>
              <a:rPr lang="en-GB" sz="1600" noProof="0" dirty="0">
                <a:latin typeface="Arial" charset="0"/>
              </a:rPr>
              <a:t>odstotni delež tolerance izdelka, ki ga vzame merilna napaka.</a:t>
            </a:r>
          </a:p>
          <a:p>
            <a:pPr lvl="1"/>
            <a:endParaRPr lang="sl-SI" sz="1600" noProof="0" dirty="0">
              <a:latin typeface="Arial" charset="0"/>
              <a:cs typeface="Arial" charset="0"/>
            </a:endParaRPr>
          </a:p>
          <a:p>
            <a:pPr lvl="1"/>
            <a:endParaRPr lang="sl-SI" sz="1600" noProof="0" dirty="0">
              <a:latin typeface="Arial" charset="0"/>
              <a:cs typeface="Arial" charset="0"/>
            </a:endParaRPr>
          </a:p>
          <a:p>
            <a:pPr lvl="1"/>
            <a:endParaRPr lang="sl-SI" sz="1600" noProof="0" dirty="0">
              <a:latin typeface="Arial" charset="0"/>
              <a:cs typeface="Arial" charset="0"/>
            </a:endParaRPr>
          </a:p>
          <a:p>
            <a:pPr lvl="1"/>
            <a:endParaRPr lang="sl-SI" sz="1600" noProof="0" dirty="0">
              <a:latin typeface="Arial" charset="0"/>
              <a:cs typeface="Arial" charset="0"/>
            </a:endParaRPr>
          </a:p>
          <a:p>
            <a:pPr marL="355600" lvl="1" indent="-355600">
              <a:buNone/>
            </a:pPr>
            <a:r>
              <a:rPr lang="en-GB" dirty="0">
                <a:latin typeface="Arial" charset="0"/>
              </a:rPr>
              <a:t>2 – % variabilnosti študije ali % R</a:t>
            </a:r>
            <a:r>
              <a:rPr lang="sl-SI" dirty="0">
                <a:latin typeface="Arial" charset="0"/>
              </a:rPr>
              <a:t>&amp;</a:t>
            </a:r>
            <a:r>
              <a:rPr lang="en-GB" dirty="0">
                <a:latin typeface="Arial" charset="0"/>
              </a:rPr>
              <a:t>R</a:t>
            </a:r>
          </a:p>
          <a:p>
            <a:pPr lvl="1"/>
            <a:r>
              <a:rPr lang="en-GB" sz="1600" b="0" dirty="0">
                <a:latin typeface="Arial" charset="0"/>
              </a:rPr>
              <a:t>% variabilnosti študije izraža </a:t>
            </a:r>
            <a:r>
              <a:rPr lang="en-GB" sz="1600" dirty="0">
                <a:latin typeface="Arial" charset="0"/>
              </a:rPr>
              <a:t>odstotni delež celotne variabilnosti, ki ga vzame merilna napaka.</a:t>
            </a:r>
          </a:p>
          <a:p>
            <a:pPr lvl="1"/>
            <a:endParaRPr lang="sl-SI" sz="1600" dirty="0">
              <a:latin typeface="Arial" charset="0"/>
              <a:cs typeface="Arial" charset="0"/>
            </a:endParaRPr>
          </a:p>
          <a:p>
            <a:pPr lvl="1"/>
            <a:r>
              <a:rPr lang="en-GB" sz="1600" dirty="0">
                <a:latin typeface="Arial" charset="0"/>
              </a:rPr>
              <a:t>Ocenjuje, kako dobro se odreže merilni sistem glede na skupno variabilnost procesa. </a:t>
            </a:r>
          </a:p>
          <a:p>
            <a:pPr lvl="1"/>
            <a:endParaRPr lang="sl-SI" sz="1600" noProof="0" dirty="0">
              <a:latin typeface="Arial" charset="0"/>
              <a:cs typeface="Arial" charset="0"/>
            </a:endParaRPr>
          </a:p>
          <a:p>
            <a:pPr lvl="1"/>
            <a:endParaRPr lang="sl-SI" sz="1600" noProof="0" dirty="0">
              <a:latin typeface="Arial" charset="0"/>
              <a:cs typeface="Arial" charset="0"/>
            </a:endParaRPr>
          </a:p>
          <a:p>
            <a:endParaRPr lang="sl-SI" sz="1600" noProof="0" dirty="0">
              <a:latin typeface="Arial" charset="0"/>
              <a:cs typeface="Arial" charset="0"/>
            </a:endParaRPr>
          </a:p>
        </p:txBody>
      </p:sp>
      <p:graphicFrame>
        <p:nvGraphicFramePr>
          <p:cNvPr id="28675" name="Object 2">
            <a:hlinkClick r:id="" action="ppaction://ole?verb=0"/>
          </p:cNvPr>
          <p:cNvGraphicFramePr>
            <a:graphicFrameLocks noChangeAspect="1"/>
          </p:cNvGraphicFramePr>
          <p:nvPr/>
        </p:nvGraphicFramePr>
        <p:xfrm>
          <a:off x="2038350" y="2492375"/>
          <a:ext cx="2287588" cy="788988"/>
        </p:xfrm>
        <a:graphic>
          <a:graphicData uri="http://schemas.openxmlformats.org/presentationml/2006/ole">
            <mc:AlternateContent xmlns:mc="http://schemas.openxmlformats.org/markup-compatibility/2006">
              <mc:Choice xmlns:v="urn:schemas-microsoft-com:vml" Requires="v">
                <p:oleObj name="Equation" r:id="rId3" imgW="1091880" imgH="393480" progId="Equation.3">
                  <p:embed/>
                </p:oleObj>
              </mc:Choice>
              <mc:Fallback>
                <p:oleObj name="Equation" r:id="rId3" imgW="1091880" imgH="393480" progId="Equation.3">
                  <p:embed/>
                  <p:pic>
                    <p:nvPicPr>
                      <p:cNvPr id="0" name=""/>
                      <p:cNvPicPr>
                        <a:picLocks noChangeAspect="1" noChangeArrowheads="1"/>
                      </p:cNvPicPr>
                      <p:nvPr/>
                    </p:nvPicPr>
                    <p:blipFill>
                      <a:blip r:embed="rId4"/>
                      <a:srcRect/>
                      <a:stretch>
                        <a:fillRect/>
                      </a:stretch>
                    </p:blipFill>
                    <p:spPr bwMode="auto">
                      <a:xfrm>
                        <a:off x="2038350" y="2492375"/>
                        <a:ext cx="2287588" cy="788988"/>
                      </a:xfrm>
                      <a:prstGeom prst="rect">
                        <a:avLst/>
                      </a:prstGeom>
                      <a:solidFill>
                        <a:srgbClr val="FDA749"/>
                      </a:solidFill>
                      <a:ln w="19050">
                        <a:solidFill>
                          <a:schemeClr val="tx1"/>
                        </a:solidFill>
                        <a:miter lim="800000"/>
                        <a:headEnd/>
                        <a:tailEnd/>
                      </a:ln>
                      <a:effectLst>
                        <a:outerShdw dist="107763" dir="2700000" algn="ctr" rotWithShape="0">
                          <a:schemeClr val="bg2">
                            <a:alpha val="50000"/>
                          </a:schemeClr>
                        </a:outerShdw>
                      </a:effectLst>
                    </p:spPr>
                  </p:pic>
                </p:oleObj>
              </mc:Fallback>
            </mc:AlternateContent>
          </a:graphicData>
        </a:graphic>
      </p:graphicFrame>
      <p:grpSp>
        <p:nvGrpSpPr>
          <p:cNvPr id="9" name="Groep 8"/>
          <p:cNvGrpSpPr/>
          <p:nvPr/>
        </p:nvGrpSpPr>
        <p:grpSpPr>
          <a:xfrm>
            <a:off x="7155656" y="2078286"/>
            <a:ext cx="1651000" cy="1782762"/>
            <a:chOff x="6915150" y="4694238"/>
            <a:chExt cx="1651000" cy="1782762"/>
          </a:xfrm>
        </p:grpSpPr>
        <p:sp>
          <p:nvSpPr>
            <p:cNvPr id="28677" name="Oval 5"/>
            <p:cNvSpPr>
              <a:spLocks noChangeArrowheads="1"/>
            </p:cNvSpPr>
            <p:nvPr/>
          </p:nvSpPr>
          <p:spPr bwMode="auto">
            <a:xfrm>
              <a:off x="6915150" y="4694238"/>
              <a:ext cx="1165225" cy="625475"/>
            </a:xfrm>
            <a:prstGeom prst="ellipse">
              <a:avLst/>
            </a:prstGeom>
            <a:noFill/>
            <a:ln w="19050">
              <a:solidFill>
                <a:schemeClr val="accent2"/>
              </a:solidFill>
              <a:round/>
              <a:headEnd/>
              <a:tailEnd/>
            </a:ln>
          </p:spPr>
          <p:txBody>
            <a:bodyPr wrap="none" anchor="ctr"/>
            <a:lstStyle/>
            <a:p>
              <a:endParaRPr lang="en-US" dirty="0"/>
            </a:p>
          </p:txBody>
        </p:sp>
        <p:sp>
          <p:nvSpPr>
            <p:cNvPr id="28678" name="Oval 6"/>
            <p:cNvSpPr>
              <a:spLocks noChangeArrowheads="1"/>
            </p:cNvSpPr>
            <p:nvPr/>
          </p:nvSpPr>
          <p:spPr bwMode="auto">
            <a:xfrm>
              <a:off x="7400925" y="5851525"/>
              <a:ext cx="1165225" cy="625475"/>
            </a:xfrm>
            <a:prstGeom prst="ellipse">
              <a:avLst/>
            </a:prstGeom>
            <a:noFill/>
            <a:ln w="19050">
              <a:solidFill>
                <a:schemeClr val="accent2"/>
              </a:solidFill>
              <a:round/>
              <a:headEnd/>
              <a:tailEnd/>
            </a:ln>
          </p:spPr>
          <p:txBody>
            <a:bodyPr wrap="none" anchor="ctr"/>
            <a:lstStyle/>
            <a:p>
              <a:endParaRPr lang="en-US" dirty="0"/>
            </a:p>
          </p:txBody>
        </p:sp>
      </p:grpSp>
      <p:sp>
        <p:nvSpPr>
          <p:cNvPr id="28679" name="Titel 7"/>
          <p:cNvSpPr>
            <a:spLocks noGrp="1"/>
          </p:cNvSpPr>
          <p:nvPr>
            <p:ph type="title"/>
          </p:nvPr>
        </p:nvSpPr>
        <p:spPr/>
        <p:txBody>
          <a:bodyPr/>
          <a:lstStyle/>
          <a:p>
            <a:r>
              <a:rPr lang="en-GB" noProof="0" dirty="0">
                <a:latin typeface="Arial" charset="0"/>
              </a:rPr>
              <a:t>Analiza merilnega sistema</a:t>
            </a:r>
          </a:p>
        </p:txBody>
      </p:sp>
      <p:graphicFrame>
        <p:nvGraphicFramePr>
          <p:cNvPr id="11267" name="Object 3"/>
          <p:cNvGraphicFramePr>
            <a:graphicFrameLocks noChangeAspect="1"/>
          </p:cNvGraphicFramePr>
          <p:nvPr/>
        </p:nvGraphicFramePr>
        <p:xfrm>
          <a:off x="1259632" y="5589612"/>
          <a:ext cx="4318000" cy="647700"/>
        </p:xfrm>
        <a:graphic>
          <a:graphicData uri="http://schemas.openxmlformats.org/presentationml/2006/ole">
            <mc:AlternateContent xmlns:mc="http://schemas.openxmlformats.org/markup-compatibility/2006">
              <mc:Choice xmlns:v="urn:schemas-microsoft-com:vml" Requires="v">
                <p:oleObj name="Vergelijking" r:id="rId5" imgW="2463800" imgH="431800" progId="Equation.3">
                  <p:embed/>
                </p:oleObj>
              </mc:Choice>
              <mc:Fallback>
                <p:oleObj name="Vergelijking" r:id="rId5" imgW="24638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9632" y="5589612"/>
                        <a:ext cx="43180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Organization Chart 3"/>
          <p:cNvGrpSpPr>
            <a:grpSpLocks/>
          </p:cNvGrpSpPr>
          <p:nvPr/>
        </p:nvGrpSpPr>
        <p:grpSpPr bwMode="auto">
          <a:xfrm>
            <a:off x="6156176" y="5228803"/>
            <a:ext cx="1881188" cy="1044575"/>
            <a:chOff x="1218" y="1714"/>
            <a:chExt cx="1896" cy="1123"/>
          </a:xfrm>
        </p:grpSpPr>
        <p:cxnSp>
          <p:nvCxnSpPr>
            <p:cNvPr id="11" name="_s11268"/>
            <p:cNvCxnSpPr>
              <a:cxnSpLocks noChangeShapeType="1"/>
              <a:stCxn id="15" idx="0"/>
              <a:endCxn id="13" idx="2"/>
            </p:cNvCxnSpPr>
            <p:nvPr/>
          </p:nvCxnSpPr>
          <p:spPr bwMode="auto">
            <a:xfrm rot="5400000" flipH="1">
              <a:off x="2310" y="2020"/>
              <a:ext cx="224" cy="511"/>
            </a:xfrm>
            <a:prstGeom prst="bentConnector3">
              <a:avLst>
                <a:gd name="adj1" fmla="val 49620"/>
              </a:avLst>
            </a:prstGeom>
            <a:noFill/>
            <a:ln w="28575">
              <a:solidFill>
                <a:schemeClr val="tx1"/>
              </a:solidFill>
              <a:miter lim="800000"/>
              <a:headEnd/>
              <a:tailEnd/>
            </a:ln>
          </p:spPr>
        </p:cxnSp>
        <p:cxnSp>
          <p:nvCxnSpPr>
            <p:cNvPr id="12" name="_s11269"/>
            <p:cNvCxnSpPr>
              <a:cxnSpLocks noChangeShapeType="1"/>
              <a:stCxn id="14" idx="0"/>
              <a:endCxn id="13" idx="2"/>
            </p:cNvCxnSpPr>
            <p:nvPr/>
          </p:nvCxnSpPr>
          <p:spPr bwMode="auto">
            <a:xfrm rot="-5400000">
              <a:off x="1800" y="2021"/>
              <a:ext cx="223" cy="511"/>
            </a:xfrm>
            <a:prstGeom prst="bentConnector3">
              <a:avLst>
                <a:gd name="adj1" fmla="val 49620"/>
              </a:avLst>
            </a:prstGeom>
            <a:noFill/>
            <a:ln w="28575">
              <a:solidFill>
                <a:schemeClr val="tx1"/>
              </a:solidFill>
              <a:miter lim="800000"/>
              <a:headEnd/>
              <a:tailEnd/>
            </a:ln>
          </p:spPr>
        </p:cxnSp>
        <p:sp>
          <p:nvSpPr>
            <p:cNvPr id="13" name="_s11270"/>
            <p:cNvSpPr>
              <a:spLocks noChangeArrowheads="1"/>
            </p:cNvSpPr>
            <p:nvPr/>
          </p:nvSpPr>
          <p:spPr bwMode="auto">
            <a:xfrm>
              <a:off x="1728" y="1714"/>
              <a:ext cx="876" cy="450"/>
            </a:xfrm>
            <a:prstGeom prst="roundRect">
              <a:avLst>
                <a:gd name="adj" fmla="val 16667"/>
              </a:avLst>
            </a:prstGeom>
            <a:solidFill>
              <a:srgbClr val="FF6600"/>
            </a:solidFill>
            <a:ln w="9525">
              <a:solidFill>
                <a:schemeClr val="tx1"/>
              </a:solidFill>
              <a:round/>
              <a:headEnd/>
              <a:tailEnd/>
            </a:ln>
          </p:spPr>
          <p:txBody>
            <a:bodyPr wrap="none" lIns="0" tIns="0" rIns="0" bIns="0" anchor="ctr"/>
            <a:lstStyle/>
            <a:p>
              <a:pPr algn="ctr"/>
              <a:r>
                <a:rPr lang="sl-SI" sz="700" b="1">
                  <a:solidFill>
                    <a:srgbClr val="FCF8C0"/>
                  </a:solidFill>
                </a:rPr>
                <a:t>Opažena</a:t>
              </a:r>
              <a:endParaRPr lang="en-GB" sz="700" b="1" dirty="0">
                <a:solidFill>
                  <a:srgbClr val="FCF8C0"/>
                </a:solidFill>
              </a:endParaRPr>
            </a:p>
            <a:p>
              <a:pPr algn="ctr"/>
              <a:r>
                <a:rPr lang="en-GB" sz="700" b="1" dirty="0">
                  <a:solidFill>
                    <a:srgbClr val="FCF8C0"/>
                  </a:solidFill>
                </a:rPr>
                <a:t>variabilnost procesa</a:t>
              </a:r>
              <a:endParaRPr lang="sl-SI" sz="700" b="1" dirty="0">
                <a:solidFill>
                  <a:srgbClr val="FCF8C0"/>
                </a:solidFill>
              </a:endParaRPr>
            </a:p>
          </p:txBody>
        </p:sp>
        <p:sp>
          <p:nvSpPr>
            <p:cNvPr id="14" name="_s11271"/>
            <p:cNvSpPr>
              <a:spLocks noChangeArrowheads="1"/>
            </p:cNvSpPr>
            <p:nvPr/>
          </p:nvSpPr>
          <p:spPr bwMode="auto">
            <a:xfrm>
              <a:off x="1218" y="2388"/>
              <a:ext cx="875" cy="449"/>
            </a:xfrm>
            <a:prstGeom prst="roundRect">
              <a:avLst>
                <a:gd name="adj" fmla="val 16667"/>
              </a:avLst>
            </a:prstGeom>
            <a:solidFill>
              <a:srgbClr val="FFCC00"/>
            </a:solidFill>
            <a:ln w="9525">
              <a:solidFill>
                <a:schemeClr val="tx1"/>
              </a:solidFill>
              <a:round/>
              <a:headEnd/>
              <a:tailEnd/>
            </a:ln>
          </p:spPr>
          <p:txBody>
            <a:bodyPr wrap="none" lIns="0" tIns="0" rIns="0" bIns="0" anchor="ctr"/>
            <a:lstStyle/>
            <a:p>
              <a:pPr algn="ctr"/>
              <a:r>
                <a:rPr lang="en-GB" sz="700" b="1" dirty="0"/>
                <a:t>Dejanska</a:t>
              </a:r>
            </a:p>
            <a:p>
              <a:pPr algn="ctr"/>
              <a:r>
                <a:rPr lang="en-GB" sz="700" b="1" dirty="0"/>
                <a:t>variabilnost procesa</a:t>
              </a:r>
              <a:endParaRPr lang="sl-SI" sz="700" b="1" dirty="0"/>
            </a:p>
          </p:txBody>
        </p:sp>
        <p:sp>
          <p:nvSpPr>
            <p:cNvPr id="15" name="_s11272"/>
            <p:cNvSpPr>
              <a:spLocks noChangeArrowheads="1"/>
            </p:cNvSpPr>
            <p:nvPr/>
          </p:nvSpPr>
          <p:spPr bwMode="auto">
            <a:xfrm>
              <a:off x="2239" y="2388"/>
              <a:ext cx="875" cy="449"/>
            </a:xfrm>
            <a:prstGeom prst="roundRect">
              <a:avLst>
                <a:gd name="adj" fmla="val 16667"/>
              </a:avLst>
            </a:prstGeom>
            <a:solidFill>
              <a:srgbClr val="FFCC00"/>
            </a:solidFill>
            <a:ln w="9525">
              <a:solidFill>
                <a:schemeClr val="tx1"/>
              </a:solidFill>
              <a:round/>
              <a:headEnd/>
              <a:tailEnd/>
            </a:ln>
          </p:spPr>
          <p:txBody>
            <a:bodyPr wrap="none" lIns="0" tIns="0" rIns="0" bIns="0" anchor="ctr"/>
            <a:lstStyle/>
            <a:p>
              <a:pPr algn="ctr"/>
              <a:r>
                <a:rPr lang="en-GB" sz="700" b="1" dirty="0"/>
                <a:t>Izmerjena</a:t>
              </a:r>
            </a:p>
            <a:p>
              <a:pPr algn="ctr"/>
              <a:r>
                <a:rPr lang="en-GB" sz="700" b="1" dirty="0"/>
                <a:t>variabilnost procesa</a:t>
              </a:r>
              <a:endParaRPr lang="sl-SI" sz="700" b="1" dirty="0"/>
            </a:p>
          </p:txBody>
        </p:sp>
      </p:grpSp>
      <p:sp>
        <p:nvSpPr>
          <p:cNvPr id="16" name="Oval 10"/>
          <p:cNvSpPr>
            <a:spLocks noChangeArrowheads="1"/>
          </p:cNvSpPr>
          <p:nvPr/>
        </p:nvSpPr>
        <p:spPr bwMode="auto">
          <a:xfrm>
            <a:off x="6513364" y="5125615"/>
            <a:ext cx="1165225" cy="625475"/>
          </a:xfrm>
          <a:prstGeom prst="ellipse">
            <a:avLst/>
          </a:prstGeom>
          <a:noFill/>
          <a:ln w="19050">
            <a:solidFill>
              <a:schemeClr val="accent2"/>
            </a:solidFill>
            <a:round/>
            <a:headEnd/>
            <a:tailEnd/>
          </a:ln>
        </p:spPr>
        <p:txBody>
          <a:bodyPr wrap="none" anchor="ctr"/>
          <a:lstStyle/>
          <a:p>
            <a:endParaRPr lang="en-GB" dirty="0"/>
          </a:p>
        </p:txBody>
      </p:sp>
      <p:sp>
        <p:nvSpPr>
          <p:cNvPr id="17" name="Oval 11"/>
          <p:cNvSpPr>
            <a:spLocks noChangeArrowheads="1"/>
          </p:cNvSpPr>
          <p:nvPr/>
        </p:nvSpPr>
        <p:spPr bwMode="auto">
          <a:xfrm>
            <a:off x="7018189" y="5755853"/>
            <a:ext cx="1165225" cy="625475"/>
          </a:xfrm>
          <a:prstGeom prst="ellipse">
            <a:avLst/>
          </a:prstGeom>
          <a:noFill/>
          <a:ln w="19050">
            <a:solidFill>
              <a:schemeClr val="accent2"/>
            </a:solidFill>
            <a:round/>
            <a:headEnd/>
            <a:tailEnd/>
          </a:ln>
        </p:spPr>
        <p:txBody>
          <a:bodyPr wrap="none" anchor="ctr"/>
          <a:lstStyle/>
          <a:p>
            <a:endParaRPr lang="en-GB" dirty="0"/>
          </a:p>
        </p:txBody>
      </p:sp>
      <p:sp>
        <p:nvSpPr>
          <p:cNvPr id="18" name="Text Box 12"/>
          <p:cNvSpPr txBox="1">
            <a:spLocks noChangeArrowheads="1"/>
          </p:cNvSpPr>
          <p:nvPr/>
        </p:nvSpPr>
        <p:spPr bwMode="auto">
          <a:xfrm>
            <a:off x="8242151" y="5139903"/>
            <a:ext cx="495300" cy="366712"/>
          </a:xfrm>
          <a:prstGeom prst="rect">
            <a:avLst/>
          </a:prstGeom>
          <a:noFill/>
          <a:ln w="9525">
            <a:noFill/>
            <a:miter lim="800000"/>
            <a:headEnd/>
            <a:tailEnd/>
          </a:ln>
        </p:spPr>
        <p:txBody>
          <a:bodyPr wrap="none">
            <a:spAutoFit/>
          </a:bodyPr>
          <a:lstStyle/>
          <a:p>
            <a:r>
              <a:rPr dirty="0"/>
              <a:t>σ</a:t>
            </a:r>
            <a:r>
              <a:rPr lang="en-GB" baseline="-25000" dirty="0"/>
              <a:t>tot</a:t>
            </a:r>
            <a:endParaRPr lang="sl-SI" baseline="-25000" dirty="0"/>
          </a:p>
        </p:txBody>
      </p:sp>
      <p:sp>
        <p:nvSpPr>
          <p:cNvPr id="19" name="Text Box 13"/>
          <p:cNvSpPr txBox="1">
            <a:spLocks noChangeArrowheads="1"/>
          </p:cNvSpPr>
          <p:nvPr/>
        </p:nvSpPr>
        <p:spPr bwMode="auto">
          <a:xfrm>
            <a:off x="8213576" y="5863803"/>
            <a:ext cx="554038" cy="366712"/>
          </a:xfrm>
          <a:prstGeom prst="rect">
            <a:avLst/>
          </a:prstGeom>
          <a:noFill/>
          <a:ln w="9525">
            <a:noFill/>
            <a:miter lim="800000"/>
            <a:headEnd/>
            <a:tailEnd/>
          </a:ln>
        </p:spPr>
        <p:txBody>
          <a:bodyPr wrap="none">
            <a:spAutoFit/>
          </a:bodyPr>
          <a:lstStyle/>
          <a:p>
            <a:r>
              <a:rPr dirty="0"/>
              <a:t>σ</a:t>
            </a:r>
            <a:r>
              <a:rPr lang="en-GB" baseline="-25000" dirty="0"/>
              <a:t>MS</a:t>
            </a:r>
            <a:endParaRPr lang="sl-SI" baseline="-25000" dirty="0"/>
          </a:p>
        </p:txBody>
      </p:sp>
      <p:grpSp>
        <p:nvGrpSpPr>
          <p:cNvPr id="3" name="Group 100"/>
          <p:cNvGrpSpPr>
            <a:grpSpLocks noChangeAspect="1"/>
          </p:cNvGrpSpPr>
          <p:nvPr/>
        </p:nvGrpSpPr>
        <p:grpSpPr bwMode="auto">
          <a:xfrm>
            <a:off x="6876256" y="2204864"/>
            <a:ext cx="1958976" cy="1533525"/>
            <a:chOff x="4180" y="3024"/>
            <a:chExt cx="1234" cy="966"/>
          </a:xfrm>
        </p:grpSpPr>
        <p:sp>
          <p:nvSpPr>
            <p:cNvPr id="4" name="AutoShape 99"/>
            <p:cNvSpPr>
              <a:spLocks noChangeAspect="1" noChangeArrowheads="1" noTextEdit="1"/>
            </p:cNvSpPr>
            <p:nvPr/>
          </p:nvSpPr>
          <p:spPr bwMode="auto">
            <a:xfrm>
              <a:off x="4180" y="3024"/>
              <a:ext cx="1231" cy="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sl-SI"/>
            </a:p>
          </p:txBody>
        </p:sp>
        <p:sp>
          <p:nvSpPr>
            <p:cNvPr id="5" name="Freeform 101"/>
            <p:cNvSpPr>
              <a:spLocks/>
            </p:cNvSpPr>
            <p:nvPr/>
          </p:nvSpPr>
          <p:spPr bwMode="auto">
            <a:xfrm>
              <a:off x="4718" y="3625"/>
              <a:ext cx="290" cy="120"/>
            </a:xfrm>
            <a:custGeom>
              <a:avLst/>
              <a:gdLst>
                <a:gd name="T0" fmla="*/ 290 w 290"/>
                <a:gd name="T1" fmla="*/ 120 h 120"/>
                <a:gd name="T2" fmla="*/ 290 w 290"/>
                <a:gd name="T3" fmla="*/ 76 h 120"/>
                <a:gd name="T4" fmla="*/ 0 w 290"/>
                <a:gd name="T5" fmla="*/ 76 h 120"/>
                <a:gd name="T6" fmla="*/ 0 w 290"/>
                <a:gd name="T7" fmla="*/ 0 h 120"/>
              </a:gdLst>
              <a:ahLst/>
              <a:cxnLst>
                <a:cxn ang="0">
                  <a:pos x="T0" y="T1"/>
                </a:cxn>
                <a:cxn ang="0">
                  <a:pos x="T2" y="T3"/>
                </a:cxn>
                <a:cxn ang="0">
                  <a:pos x="T4" y="T5"/>
                </a:cxn>
                <a:cxn ang="0">
                  <a:pos x="T6" y="T7"/>
                </a:cxn>
              </a:cxnLst>
              <a:rect l="0" t="0" r="r" b="b"/>
              <a:pathLst>
                <a:path w="290" h="120">
                  <a:moveTo>
                    <a:pt x="290" y="120"/>
                  </a:moveTo>
                  <a:lnTo>
                    <a:pt x="290" y="76"/>
                  </a:lnTo>
                  <a:lnTo>
                    <a:pt x="0" y="76"/>
                  </a:lnTo>
                  <a:lnTo>
                    <a:pt x="0" y="0"/>
                  </a:lnTo>
                </a:path>
              </a:pathLst>
            </a:custGeom>
            <a:noFill/>
            <a:ln w="174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l-SI"/>
            </a:p>
          </p:txBody>
        </p:sp>
        <p:sp>
          <p:nvSpPr>
            <p:cNvPr id="6" name="Freeform 102"/>
            <p:cNvSpPr>
              <a:spLocks/>
            </p:cNvSpPr>
            <p:nvPr/>
          </p:nvSpPr>
          <p:spPr bwMode="auto">
            <a:xfrm>
              <a:off x="4430" y="3625"/>
              <a:ext cx="288" cy="120"/>
            </a:xfrm>
            <a:custGeom>
              <a:avLst/>
              <a:gdLst>
                <a:gd name="T0" fmla="*/ 0 w 288"/>
                <a:gd name="T1" fmla="*/ 120 h 120"/>
                <a:gd name="T2" fmla="*/ 0 w 288"/>
                <a:gd name="T3" fmla="*/ 76 h 120"/>
                <a:gd name="T4" fmla="*/ 288 w 288"/>
                <a:gd name="T5" fmla="*/ 76 h 120"/>
                <a:gd name="T6" fmla="*/ 288 w 288"/>
                <a:gd name="T7" fmla="*/ 0 h 120"/>
              </a:gdLst>
              <a:ahLst/>
              <a:cxnLst>
                <a:cxn ang="0">
                  <a:pos x="T0" y="T1"/>
                </a:cxn>
                <a:cxn ang="0">
                  <a:pos x="T2" y="T3"/>
                </a:cxn>
                <a:cxn ang="0">
                  <a:pos x="T4" y="T5"/>
                </a:cxn>
                <a:cxn ang="0">
                  <a:pos x="T6" y="T7"/>
                </a:cxn>
              </a:cxnLst>
              <a:rect l="0" t="0" r="r" b="b"/>
              <a:pathLst>
                <a:path w="288" h="120">
                  <a:moveTo>
                    <a:pt x="0" y="120"/>
                  </a:moveTo>
                  <a:lnTo>
                    <a:pt x="0" y="76"/>
                  </a:lnTo>
                  <a:lnTo>
                    <a:pt x="288" y="76"/>
                  </a:lnTo>
                  <a:lnTo>
                    <a:pt x="288" y="0"/>
                  </a:lnTo>
                </a:path>
              </a:pathLst>
            </a:custGeom>
            <a:noFill/>
            <a:ln w="174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l-SI"/>
            </a:p>
          </p:txBody>
        </p:sp>
        <p:grpSp>
          <p:nvGrpSpPr>
            <p:cNvPr id="7" name="Group 105"/>
            <p:cNvGrpSpPr>
              <a:grpSpLocks/>
            </p:cNvGrpSpPr>
            <p:nvPr/>
          </p:nvGrpSpPr>
          <p:grpSpPr bwMode="auto">
            <a:xfrm>
              <a:off x="4471" y="3387"/>
              <a:ext cx="495" cy="238"/>
              <a:chOff x="4471" y="3387"/>
              <a:chExt cx="495" cy="238"/>
            </a:xfrm>
          </p:grpSpPr>
          <p:sp>
            <p:nvSpPr>
              <p:cNvPr id="56" name="Freeform 103"/>
              <p:cNvSpPr>
                <a:spLocks/>
              </p:cNvSpPr>
              <p:nvPr/>
            </p:nvSpPr>
            <p:spPr bwMode="auto">
              <a:xfrm>
                <a:off x="4471" y="3387"/>
                <a:ext cx="495" cy="238"/>
              </a:xfrm>
              <a:custGeom>
                <a:avLst/>
                <a:gdLst>
                  <a:gd name="T0" fmla="*/ 273 w 3384"/>
                  <a:gd name="T1" fmla="*/ 0 h 1633"/>
                  <a:gd name="T2" fmla="*/ 0 w 3384"/>
                  <a:gd name="T3" fmla="*/ 272 h 1633"/>
                  <a:gd name="T4" fmla="*/ 0 w 3384"/>
                  <a:gd name="T5" fmla="*/ 1361 h 1633"/>
                  <a:gd name="T6" fmla="*/ 273 w 3384"/>
                  <a:gd name="T7" fmla="*/ 1633 h 1633"/>
                  <a:gd name="T8" fmla="*/ 3112 w 3384"/>
                  <a:gd name="T9" fmla="*/ 1633 h 1633"/>
                  <a:gd name="T10" fmla="*/ 3384 w 3384"/>
                  <a:gd name="T11" fmla="*/ 1361 h 1633"/>
                  <a:gd name="T12" fmla="*/ 3384 w 3384"/>
                  <a:gd name="T13" fmla="*/ 272 h 1633"/>
                  <a:gd name="T14" fmla="*/ 3112 w 3384"/>
                  <a:gd name="T15" fmla="*/ 0 h 1633"/>
                  <a:gd name="T16" fmla="*/ 273 w 3384"/>
                  <a:gd name="T17" fmla="*/ 0 h 1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84" h="1633">
                    <a:moveTo>
                      <a:pt x="273" y="0"/>
                    </a:moveTo>
                    <a:cubicBezTo>
                      <a:pt x="122" y="0"/>
                      <a:pt x="0" y="122"/>
                      <a:pt x="0" y="272"/>
                    </a:cubicBezTo>
                    <a:lnTo>
                      <a:pt x="0" y="1361"/>
                    </a:lnTo>
                    <a:cubicBezTo>
                      <a:pt x="0" y="1511"/>
                      <a:pt x="122" y="1633"/>
                      <a:pt x="273" y="1633"/>
                    </a:cubicBezTo>
                    <a:lnTo>
                      <a:pt x="3112" y="1633"/>
                    </a:lnTo>
                    <a:cubicBezTo>
                      <a:pt x="3262" y="1633"/>
                      <a:pt x="3384" y="1511"/>
                      <a:pt x="3384" y="1361"/>
                    </a:cubicBezTo>
                    <a:lnTo>
                      <a:pt x="3384" y="272"/>
                    </a:lnTo>
                    <a:cubicBezTo>
                      <a:pt x="3384" y="122"/>
                      <a:pt x="3262" y="0"/>
                      <a:pt x="3112" y="0"/>
                    </a:cubicBezTo>
                    <a:lnTo>
                      <a:pt x="273" y="0"/>
                    </a:lnTo>
                    <a:close/>
                  </a:path>
                </a:pathLst>
              </a:custGeom>
              <a:solidFill>
                <a:srgbClr val="FF66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sl-SI"/>
              </a:p>
            </p:txBody>
          </p:sp>
          <p:sp>
            <p:nvSpPr>
              <p:cNvPr id="57" name="Freeform 104"/>
              <p:cNvSpPr>
                <a:spLocks/>
              </p:cNvSpPr>
              <p:nvPr/>
            </p:nvSpPr>
            <p:spPr bwMode="auto">
              <a:xfrm>
                <a:off x="4471" y="3387"/>
                <a:ext cx="495" cy="238"/>
              </a:xfrm>
              <a:custGeom>
                <a:avLst/>
                <a:gdLst>
                  <a:gd name="T0" fmla="*/ 273 w 3384"/>
                  <a:gd name="T1" fmla="*/ 0 h 1633"/>
                  <a:gd name="T2" fmla="*/ 0 w 3384"/>
                  <a:gd name="T3" fmla="*/ 272 h 1633"/>
                  <a:gd name="T4" fmla="*/ 0 w 3384"/>
                  <a:gd name="T5" fmla="*/ 1361 h 1633"/>
                  <a:gd name="T6" fmla="*/ 273 w 3384"/>
                  <a:gd name="T7" fmla="*/ 1633 h 1633"/>
                  <a:gd name="T8" fmla="*/ 3112 w 3384"/>
                  <a:gd name="T9" fmla="*/ 1633 h 1633"/>
                  <a:gd name="T10" fmla="*/ 3384 w 3384"/>
                  <a:gd name="T11" fmla="*/ 1361 h 1633"/>
                  <a:gd name="T12" fmla="*/ 3384 w 3384"/>
                  <a:gd name="T13" fmla="*/ 272 h 1633"/>
                  <a:gd name="T14" fmla="*/ 3112 w 3384"/>
                  <a:gd name="T15" fmla="*/ 0 h 1633"/>
                  <a:gd name="T16" fmla="*/ 273 w 3384"/>
                  <a:gd name="T17" fmla="*/ 0 h 1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84" h="1633">
                    <a:moveTo>
                      <a:pt x="273" y="0"/>
                    </a:moveTo>
                    <a:cubicBezTo>
                      <a:pt x="122" y="0"/>
                      <a:pt x="0" y="122"/>
                      <a:pt x="0" y="272"/>
                    </a:cubicBezTo>
                    <a:lnTo>
                      <a:pt x="0" y="1361"/>
                    </a:lnTo>
                    <a:cubicBezTo>
                      <a:pt x="0" y="1511"/>
                      <a:pt x="122" y="1633"/>
                      <a:pt x="273" y="1633"/>
                    </a:cubicBezTo>
                    <a:lnTo>
                      <a:pt x="3112" y="1633"/>
                    </a:lnTo>
                    <a:cubicBezTo>
                      <a:pt x="3262" y="1633"/>
                      <a:pt x="3384" y="1511"/>
                      <a:pt x="3384" y="1361"/>
                    </a:cubicBezTo>
                    <a:lnTo>
                      <a:pt x="3384" y="272"/>
                    </a:lnTo>
                    <a:cubicBezTo>
                      <a:pt x="3384" y="122"/>
                      <a:pt x="3262" y="0"/>
                      <a:pt x="3112" y="0"/>
                    </a:cubicBezTo>
                    <a:lnTo>
                      <a:pt x="273" y="0"/>
                    </a:lnTo>
                    <a:close/>
                  </a:path>
                </a:pathLst>
              </a:custGeom>
              <a:noFill/>
              <a:ln w="63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l-SI"/>
              </a:p>
            </p:txBody>
          </p:sp>
        </p:grpSp>
        <p:sp>
          <p:nvSpPr>
            <p:cNvPr id="8" name="Rectangle 106"/>
            <p:cNvSpPr>
              <a:spLocks noChangeArrowheads="1"/>
            </p:cNvSpPr>
            <p:nvPr/>
          </p:nvSpPr>
          <p:spPr bwMode="auto">
            <a:xfrm>
              <a:off x="4588" y="3443"/>
              <a:ext cx="30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1" i="0" u="none" strike="noStrike" cap="none" normalizeH="0" baseline="0">
                  <a:ln>
                    <a:noFill/>
                  </a:ln>
                  <a:solidFill>
                    <a:srgbClr val="FCF8C0"/>
                  </a:solidFill>
                  <a:effectLst/>
                  <a:latin typeface="Arial" pitchFamily="34" charset="0"/>
                  <a:cs typeface="Arial" pitchFamily="34" charset="0"/>
                </a:rPr>
                <a:t>Observed </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sp>
          <p:nvSpPr>
            <p:cNvPr id="20" name="Rectangle 107"/>
            <p:cNvSpPr>
              <a:spLocks noChangeArrowheads="1"/>
            </p:cNvSpPr>
            <p:nvPr/>
          </p:nvSpPr>
          <p:spPr bwMode="auto">
            <a:xfrm>
              <a:off x="4492" y="3507"/>
              <a:ext cx="50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1" i="0" u="none" strike="noStrike" cap="none" normalizeH="0" baseline="0">
                  <a:ln>
                    <a:noFill/>
                  </a:ln>
                  <a:solidFill>
                    <a:srgbClr val="FCF8C0"/>
                  </a:solidFill>
                  <a:effectLst/>
                  <a:latin typeface="Arial" pitchFamily="34" charset="0"/>
                  <a:cs typeface="Arial" pitchFamily="34" charset="0"/>
                </a:rPr>
                <a:t>Process Variation</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grpSp>
          <p:nvGrpSpPr>
            <p:cNvPr id="21" name="Group 110"/>
            <p:cNvGrpSpPr>
              <a:grpSpLocks/>
            </p:cNvGrpSpPr>
            <p:nvPr/>
          </p:nvGrpSpPr>
          <p:grpSpPr bwMode="auto">
            <a:xfrm>
              <a:off x="4182" y="3745"/>
              <a:ext cx="496" cy="238"/>
              <a:chOff x="4182" y="3745"/>
              <a:chExt cx="496" cy="238"/>
            </a:xfrm>
          </p:grpSpPr>
          <p:sp>
            <p:nvSpPr>
              <p:cNvPr id="54" name="Freeform 108"/>
              <p:cNvSpPr>
                <a:spLocks/>
              </p:cNvSpPr>
              <p:nvPr/>
            </p:nvSpPr>
            <p:spPr bwMode="auto">
              <a:xfrm>
                <a:off x="4182" y="3745"/>
                <a:ext cx="496" cy="238"/>
              </a:xfrm>
              <a:custGeom>
                <a:avLst/>
                <a:gdLst>
                  <a:gd name="T0" fmla="*/ 272 w 3392"/>
                  <a:gd name="T1" fmla="*/ 0 h 1629"/>
                  <a:gd name="T2" fmla="*/ 0 w 3392"/>
                  <a:gd name="T3" fmla="*/ 271 h 1629"/>
                  <a:gd name="T4" fmla="*/ 0 w 3392"/>
                  <a:gd name="T5" fmla="*/ 1357 h 1629"/>
                  <a:gd name="T6" fmla="*/ 272 w 3392"/>
                  <a:gd name="T7" fmla="*/ 1629 h 1629"/>
                  <a:gd name="T8" fmla="*/ 3120 w 3392"/>
                  <a:gd name="T9" fmla="*/ 1629 h 1629"/>
                  <a:gd name="T10" fmla="*/ 3392 w 3392"/>
                  <a:gd name="T11" fmla="*/ 1357 h 1629"/>
                  <a:gd name="T12" fmla="*/ 3392 w 3392"/>
                  <a:gd name="T13" fmla="*/ 271 h 1629"/>
                  <a:gd name="T14" fmla="*/ 3120 w 3392"/>
                  <a:gd name="T15" fmla="*/ 0 h 1629"/>
                  <a:gd name="T16" fmla="*/ 272 w 3392"/>
                  <a:gd name="T17" fmla="*/ 0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92" h="1629">
                    <a:moveTo>
                      <a:pt x="272" y="0"/>
                    </a:moveTo>
                    <a:cubicBezTo>
                      <a:pt x="122" y="0"/>
                      <a:pt x="0" y="121"/>
                      <a:pt x="0" y="271"/>
                    </a:cubicBezTo>
                    <a:lnTo>
                      <a:pt x="0" y="1357"/>
                    </a:lnTo>
                    <a:cubicBezTo>
                      <a:pt x="0" y="1507"/>
                      <a:pt x="122" y="1629"/>
                      <a:pt x="272" y="1629"/>
                    </a:cubicBezTo>
                    <a:lnTo>
                      <a:pt x="3120" y="1629"/>
                    </a:lnTo>
                    <a:cubicBezTo>
                      <a:pt x="3270" y="1629"/>
                      <a:pt x="3392" y="1507"/>
                      <a:pt x="3392" y="1357"/>
                    </a:cubicBezTo>
                    <a:lnTo>
                      <a:pt x="3392" y="271"/>
                    </a:lnTo>
                    <a:cubicBezTo>
                      <a:pt x="3392" y="121"/>
                      <a:pt x="3270" y="0"/>
                      <a:pt x="3120" y="0"/>
                    </a:cubicBezTo>
                    <a:lnTo>
                      <a:pt x="272" y="0"/>
                    </a:lnTo>
                    <a:close/>
                  </a:path>
                </a:pathLst>
              </a:custGeom>
              <a:solidFill>
                <a:srgbClr val="FFCC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sl-SI"/>
              </a:p>
            </p:txBody>
          </p:sp>
          <p:sp>
            <p:nvSpPr>
              <p:cNvPr id="55" name="Freeform 109"/>
              <p:cNvSpPr>
                <a:spLocks/>
              </p:cNvSpPr>
              <p:nvPr/>
            </p:nvSpPr>
            <p:spPr bwMode="auto">
              <a:xfrm>
                <a:off x="4182" y="3745"/>
                <a:ext cx="496" cy="238"/>
              </a:xfrm>
              <a:custGeom>
                <a:avLst/>
                <a:gdLst>
                  <a:gd name="T0" fmla="*/ 272 w 3392"/>
                  <a:gd name="T1" fmla="*/ 0 h 1629"/>
                  <a:gd name="T2" fmla="*/ 0 w 3392"/>
                  <a:gd name="T3" fmla="*/ 271 h 1629"/>
                  <a:gd name="T4" fmla="*/ 0 w 3392"/>
                  <a:gd name="T5" fmla="*/ 1357 h 1629"/>
                  <a:gd name="T6" fmla="*/ 272 w 3392"/>
                  <a:gd name="T7" fmla="*/ 1629 h 1629"/>
                  <a:gd name="T8" fmla="*/ 3120 w 3392"/>
                  <a:gd name="T9" fmla="*/ 1629 h 1629"/>
                  <a:gd name="T10" fmla="*/ 3392 w 3392"/>
                  <a:gd name="T11" fmla="*/ 1357 h 1629"/>
                  <a:gd name="T12" fmla="*/ 3392 w 3392"/>
                  <a:gd name="T13" fmla="*/ 271 h 1629"/>
                  <a:gd name="T14" fmla="*/ 3120 w 3392"/>
                  <a:gd name="T15" fmla="*/ 0 h 1629"/>
                  <a:gd name="T16" fmla="*/ 272 w 3392"/>
                  <a:gd name="T17" fmla="*/ 0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92" h="1629">
                    <a:moveTo>
                      <a:pt x="272" y="0"/>
                    </a:moveTo>
                    <a:cubicBezTo>
                      <a:pt x="122" y="0"/>
                      <a:pt x="0" y="121"/>
                      <a:pt x="0" y="271"/>
                    </a:cubicBezTo>
                    <a:lnTo>
                      <a:pt x="0" y="1357"/>
                    </a:lnTo>
                    <a:cubicBezTo>
                      <a:pt x="0" y="1507"/>
                      <a:pt x="122" y="1629"/>
                      <a:pt x="272" y="1629"/>
                    </a:cubicBezTo>
                    <a:lnTo>
                      <a:pt x="3120" y="1629"/>
                    </a:lnTo>
                    <a:cubicBezTo>
                      <a:pt x="3270" y="1629"/>
                      <a:pt x="3392" y="1507"/>
                      <a:pt x="3392" y="1357"/>
                    </a:cubicBezTo>
                    <a:lnTo>
                      <a:pt x="3392" y="271"/>
                    </a:lnTo>
                    <a:cubicBezTo>
                      <a:pt x="3392" y="121"/>
                      <a:pt x="3270" y="0"/>
                      <a:pt x="3120" y="0"/>
                    </a:cubicBezTo>
                    <a:lnTo>
                      <a:pt x="272" y="0"/>
                    </a:lnTo>
                    <a:close/>
                  </a:path>
                </a:pathLst>
              </a:custGeom>
              <a:noFill/>
              <a:ln w="63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l-SI"/>
              </a:p>
            </p:txBody>
          </p:sp>
        </p:grpSp>
        <p:sp>
          <p:nvSpPr>
            <p:cNvPr id="22" name="Rectangle 111"/>
            <p:cNvSpPr>
              <a:spLocks noChangeArrowheads="1"/>
            </p:cNvSpPr>
            <p:nvPr/>
          </p:nvSpPr>
          <p:spPr bwMode="auto">
            <a:xfrm>
              <a:off x="4348" y="3800"/>
              <a:ext cx="197"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1" i="0" u="none" strike="noStrike" cap="none" normalizeH="0" baseline="0">
                  <a:ln>
                    <a:noFill/>
                  </a:ln>
                  <a:solidFill>
                    <a:srgbClr val="000000"/>
                  </a:solidFill>
                  <a:effectLst/>
                  <a:latin typeface="Arial" pitchFamily="34" charset="0"/>
                  <a:cs typeface="Arial" pitchFamily="34" charset="0"/>
                </a:rPr>
                <a:t>Actual</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sp>
          <p:nvSpPr>
            <p:cNvPr id="23" name="Rectangle 112"/>
            <p:cNvSpPr>
              <a:spLocks noChangeArrowheads="1"/>
            </p:cNvSpPr>
            <p:nvPr/>
          </p:nvSpPr>
          <p:spPr bwMode="auto">
            <a:xfrm>
              <a:off x="4203" y="3865"/>
              <a:ext cx="50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1" i="0" u="none" strike="noStrike" cap="none" normalizeH="0" baseline="0">
                  <a:ln>
                    <a:noFill/>
                  </a:ln>
                  <a:solidFill>
                    <a:srgbClr val="000000"/>
                  </a:solidFill>
                  <a:effectLst/>
                  <a:latin typeface="Arial" pitchFamily="34" charset="0"/>
                  <a:cs typeface="Arial" pitchFamily="34" charset="0"/>
                </a:rPr>
                <a:t>Process Variation</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grpSp>
          <p:nvGrpSpPr>
            <p:cNvPr id="24" name="Group 115"/>
            <p:cNvGrpSpPr>
              <a:grpSpLocks/>
            </p:cNvGrpSpPr>
            <p:nvPr/>
          </p:nvGrpSpPr>
          <p:grpSpPr bwMode="auto">
            <a:xfrm>
              <a:off x="4760" y="3745"/>
              <a:ext cx="496" cy="238"/>
              <a:chOff x="4760" y="3745"/>
              <a:chExt cx="496" cy="238"/>
            </a:xfrm>
          </p:grpSpPr>
          <p:sp>
            <p:nvSpPr>
              <p:cNvPr id="52" name="Freeform 113"/>
              <p:cNvSpPr>
                <a:spLocks/>
              </p:cNvSpPr>
              <p:nvPr/>
            </p:nvSpPr>
            <p:spPr bwMode="auto">
              <a:xfrm>
                <a:off x="4760" y="3745"/>
                <a:ext cx="496" cy="238"/>
              </a:xfrm>
              <a:custGeom>
                <a:avLst/>
                <a:gdLst>
                  <a:gd name="T0" fmla="*/ 272 w 3392"/>
                  <a:gd name="T1" fmla="*/ 0 h 1629"/>
                  <a:gd name="T2" fmla="*/ 0 w 3392"/>
                  <a:gd name="T3" fmla="*/ 271 h 1629"/>
                  <a:gd name="T4" fmla="*/ 0 w 3392"/>
                  <a:gd name="T5" fmla="*/ 1357 h 1629"/>
                  <a:gd name="T6" fmla="*/ 272 w 3392"/>
                  <a:gd name="T7" fmla="*/ 1629 h 1629"/>
                  <a:gd name="T8" fmla="*/ 3121 w 3392"/>
                  <a:gd name="T9" fmla="*/ 1629 h 1629"/>
                  <a:gd name="T10" fmla="*/ 3392 w 3392"/>
                  <a:gd name="T11" fmla="*/ 1357 h 1629"/>
                  <a:gd name="T12" fmla="*/ 3392 w 3392"/>
                  <a:gd name="T13" fmla="*/ 271 h 1629"/>
                  <a:gd name="T14" fmla="*/ 3121 w 3392"/>
                  <a:gd name="T15" fmla="*/ 0 h 1629"/>
                  <a:gd name="T16" fmla="*/ 272 w 3392"/>
                  <a:gd name="T17" fmla="*/ 0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92" h="1629">
                    <a:moveTo>
                      <a:pt x="272" y="0"/>
                    </a:moveTo>
                    <a:cubicBezTo>
                      <a:pt x="122" y="0"/>
                      <a:pt x="0" y="121"/>
                      <a:pt x="0" y="271"/>
                    </a:cubicBezTo>
                    <a:lnTo>
                      <a:pt x="0" y="1357"/>
                    </a:lnTo>
                    <a:cubicBezTo>
                      <a:pt x="0" y="1507"/>
                      <a:pt x="122" y="1629"/>
                      <a:pt x="272" y="1629"/>
                    </a:cubicBezTo>
                    <a:lnTo>
                      <a:pt x="3121" y="1629"/>
                    </a:lnTo>
                    <a:cubicBezTo>
                      <a:pt x="3271" y="1629"/>
                      <a:pt x="3392" y="1507"/>
                      <a:pt x="3392" y="1357"/>
                    </a:cubicBezTo>
                    <a:lnTo>
                      <a:pt x="3392" y="271"/>
                    </a:lnTo>
                    <a:cubicBezTo>
                      <a:pt x="3392" y="121"/>
                      <a:pt x="3271" y="0"/>
                      <a:pt x="3121" y="0"/>
                    </a:cubicBezTo>
                    <a:lnTo>
                      <a:pt x="272" y="0"/>
                    </a:lnTo>
                    <a:close/>
                  </a:path>
                </a:pathLst>
              </a:custGeom>
              <a:solidFill>
                <a:srgbClr val="FFCC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sl-SI"/>
              </a:p>
            </p:txBody>
          </p:sp>
          <p:sp>
            <p:nvSpPr>
              <p:cNvPr id="53" name="Freeform 114"/>
              <p:cNvSpPr>
                <a:spLocks/>
              </p:cNvSpPr>
              <p:nvPr/>
            </p:nvSpPr>
            <p:spPr bwMode="auto">
              <a:xfrm>
                <a:off x="4760" y="3745"/>
                <a:ext cx="496" cy="238"/>
              </a:xfrm>
              <a:custGeom>
                <a:avLst/>
                <a:gdLst>
                  <a:gd name="T0" fmla="*/ 272 w 3392"/>
                  <a:gd name="T1" fmla="*/ 0 h 1629"/>
                  <a:gd name="T2" fmla="*/ 0 w 3392"/>
                  <a:gd name="T3" fmla="*/ 271 h 1629"/>
                  <a:gd name="T4" fmla="*/ 0 w 3392"/>
                  <a:gd name="T5" fmla="*/ 1357 h 1629"/>
                  <a:gd name="T6" fmla="*/ 272 w 3392"/>
                  <a:gd name="T7" fmla="*/ 1629 h 1629"/>
                  <a:gd name="T8" fmla="*/ 3121 w 3392"/>
                  <a:gd name="T9" fmla="*/ 1629 h 1629"/>
                  <a:gd name="T10" fmla="*/ 3392 w 3392"/>
                  <a:gd name="T11" fmla="*/ 1357 h 1629"/>
                  <a:gd name="T12" fmla="*/ 3392 w 3392"/>
                  <a:gd name="T13" fmla="*/ 271 h 1629"/>
                  <a:gd name="T14" fmla="*/ 3121 w 3392"/>
                  <a:gd name="T15" fmla="*/ 0 h 1629"/>
                  <a:gd name="T16" fmla="*/ 272 w 3392"/>
                  <a:gd name="T17" fmla="*/ 0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92" h="1629">
                    <a:moveTo>
                      <a:pt x="272" y="0"/>
                    </a:moveTo>
                    <a:cubicBezTo>
                      <a:pt x="122" y="0"/>
                      <a:pt x="0" y="121"/>
                      <a:pt x="0" y="271"/>
                    </a:cubicBezTo>
                    <a:lnTo>
                      <a:pt x="0" y="1357"/>
                    </a:lnTo>
                    <a:cubicBezTo>
                      <a:pt x="0" y="1507"/>
                      <a:pt x="122" y="1629"/>
                      <a:pt x="272" y="1629"/>
                    </a:cubicBezTo>
                    <a:lnTo>
                      <a:pt x="3121" y="1629"/>
                    </a:lnTo>
                    <a:cubicBezTo>
                      <a:pt x="3271" y="1629"/>
                      <a:pt x="3392" y="1507"/>
                      <a:pt x="3392" y="1357"/>
                    </a:cubicBezTo>
                    <a:lnTo>
                      <a:pt x="3392" y="271"/>
                    </a:lnTo>
                    <a:cubicBezTo>
                      <a:pt x="3392" y="121"/>
                      <a:pt x="3271" y="0"/>
                      <a:pt x="3121" y="0"/>
                    </a:cubicBezTo>
                    <a:lnTo>
                      <a:pt x="272" y="0"/>
                    </a:lnTo>
                    <a:close/>
                  </a:path>
                </a:pathLst>
              </a:custGeom>
              <a:noFill/>
              <a:ln w="63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l-SI"/>
              </a:p>
            </p:txBody>
          </p:sp>
        </p:grpSp>
        <p:sp>
          <p:nvSpPr>
            <p:cNvPr id="25" name="Rectangle 116"/>
            <p:cNvSpPr>
              <a:spLocks noChangeArrowheads="1"/>
            </p:cNvSpPr>
            <p:nvPr/>
          </p:nvSpPr>
          <p:spPr bwMode="auto">
            <a:xfrm>
              <a:off x="4882" y="3800"/>
              <a:ext cx="28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1" i="0" u="none" strike="noStrike" cap="none" normalizeH="0" baseline="0">
                  <a:ln>
                    <a:noFill/>
                  </a:ln>
                  <a:solidFill>
                    <a:srgbClr val="000000"/>
                  </a:solidFill>
                  <a:effectLst/>
                  <a:latin typeface="Arial" pitchFamily="34" charset="0"/>
                  <a:cs typeface="Arial" pitchFamily="34" charset="0"/>
                </a:rPr>
                <a:t>Measured</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sp>
          <p:nvSpPr>
            <p:cNvPr id="26" name="Rectangle 117"/>
            <p:cNvSpPr>
              <a:spLocks noChangeArrowheads="1"/>
            </p:cNvSpPr>
            <p:nvPr/>
          </p:nvSpPr>
          <p:spPr bwMode="auto">
            <a:xfrm>
              <a:off x="4781" y="3865"/>
              <a:ext cx="50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1" i="0" u="none" strike="noStrike" cap="none" normalizeH="0" baseline="0">
                  <a:ln>
                    <a:noFill/>
                  </a:ln>
                  <a:solidFill>
                    <a:srgbClr val="000000"/>
                  </a:solidFill>
                  <a:effectLst/>
                  <a:latin typeface="Arial" pitchFamily="34" charset="0"/>
                  <a:cs typeface="Arial" pitchFamily="34" charset="0"/>
                </a:rPr>
                <a:t>Process Variation</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sp>
          <p:nvSpPr>
            <p:cNvPr id="27" name="Freeform 118"/>
            <p:cNvSpPr>
              <a:spLocks/>
            </p:cNvSpPr>
            <p:nvPr/>
          </p:nvSpPr>
          <p:spPr bwMode="auto">
            <a:xfrm>
              <a:off x="4718" y="3625"/>
              <a:ext cx="290" cy="120"/>
            </a:xfrm>
            <a:custGeom>
              <a:avLst/>
              <a:gdLst>
                <a:gd name="T0" fmla="*/ 290 w 290"/>
                <a:gd name="T1" fmla="*/ 120 h 120"/>
                <a:gd name="T2" fmla="*/ 290 w 290"/>
                <a:gd name="T3" fmla="*/ 76 h 120"/>
                <a:gd name="T4" fmla="*/ 0 w 290"/>
                <a:gd name="T5" fmla="*/ 76 h 120"/>
                <a:gd name="T6" fmla="*/ 0 w 290"/>
                <a:gd name="T7" fmla="*/ 0 h 120"/>
              </a:gdLst>
              <a:ahLst/>
              <a:cxnLst>
                <a:cxn ang="0">
                  <a:pos x="T0" y="T1"/>
                </a:cxn>
                <a:cxn ang="0">
                  <a:pos x="T2" y="T3"/>
                </a:cxn>
                <a:cxn ang="0">
                  <a:pos x="T4" y="T5"/>
                </a:cxn>
                <a:cxn ang="0">
                  <a:pos x="T6" y="T7"/>
                </a:cxn>
              </a:cxnLst>
              <a:rect l="0" t="0" r="r" b="b"/>
              <a:pathLst>
                <a:path w="290" h="120">
                  <a:moveTo>
                    <a:pt x="290" y="120"/>
                  </a:moveTo>
                  <a:lnTo>
                    <a:pt x="290" y="76"/>
                  </a:lnTo>
                  <a:lnTo>
                    <a:pt x="0" y="76"/>
                  </a:lnTo>
                  <a:lnTo>
                    <a:pt x="0" y="0"/>
                  </a:lnTo>
                </a:path>
              </a:pathLst>
            </a:custGeom>
            <a:noFill/>
            <a:ln w="174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l-SI"/>
            </a:p>
          </p:txBody>
        </p:sp>
        <p:sp>
          <p:nvSpPr>
            <p:cNvPr id="28" name="Freeform 119"/>
            <p:cNvSpPr>
              <a:spLocks/>
            </p:cNvSpPr>
            <p:nvPr/>
          </p:nvSpPr>
          <p:spPr bwMode="auto">
            <a:xfrm>
              <a:off x="4430" y="3625"/>
              <a:ext cx="288" cy="120"/>
            </a:xfrm>
            <a:custGeom>
              <a:avLst/>
              <a:gdLst>
                <a:gd name="T0" fmla="*/ 0 w 288"/>
                <a:gd name="T1" fmla="*/ 120 h 120"/>
                <a:gd name="T2" fmla="*/ 0 w 288"/>
                <a:gd name="T3" fmla="*/ 76 h 120"/>
                <a:gd name="T4" fmla="*/ 288 w 288"/>
                <a:gd name="T5" fmla="*/ 76 h 120"/>
                <a:gd name="T6" fmla="*/ 288 w 288"/>
                <a:gd name="T7" fmla="*/ 0 h 120"/>
              </a:gdLst>
              <a:ahLst/>
              <a:cxnLst>
                <a:cxn ang="0">
                  <a:pos x="T0" y="T1"/>
                </a:cxn>
                <a:cxn ang="0">
                  <a:pos x="T2" y="T3"/>
                </a:cxn>
                <a:cxn ang="0">
                  <a:pos x="T4" y="T5"/>
                </a:cxn>
                <a:cxn ang="0">
                  <a:pos x="T6" y="T7"/>
                </a:cxn>
              </a:cxnLst>
              <a:rect l="0" t="0" r="r" b="b"/>
              <a:pathLst>
                <a:path w="288" h="120">
                  <a:moveTo>
                    <a:pt x="0" y="120"/>
                  </a:moveTo>
                  <a:lnTo>
                    <a:pt x="0" y="76"/>
                  </a:lnTo>
                  <a:lnTo>
                    <a:pt x="288" y="76"/>
                  </a:lnTo>
                  <a:lnTo>
                    <a:pt x="288" y="0"/>
                  </a:lnTo>
                </a:path>
              </a:pathLst>
            </a:custGeom>
            <a:noFill/>
            <a:ln w="174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l-SI"/>
            </a:p>
          </p:txBody>
        </p:sp>
        <p:grpSp>
          <p:nvGrpSpPr>
            <p:cNvPr id="29" name="Group 122"/>
            <p:cNvGrpSpPr>
              <a:grpSpLocks/>
            </p:cNvGrpSpPr>
            <p:nvPr/>
          </p:nvGrpSpPr>
          <p:grpSpPr bwMode="auto">
            <a:xfrm>
              <a:off x="4471" y="3387"/>
              <a:ext cx="495" cy="238"/>
              <a:chOff x="4471" y="3387"/>
              <a:chExt cx="495" cy="238"/>
            </a:xfrm>
          </p:grpSpPr>
          <p:sp>
            <p:nvSpPr>
              <p:cNvPr id="50" name="Freeform 120"/>
              <p:cNvSpPr>
                <a:spLocks/>
              </p:cNvSpPr>
              <p:nvPr/>
            </p:nvSpPr>
            <p:spPr bwMode="auto">
              <a:xfrm>
                <a:off x="4471" y="3387"/>
                <a:ext cx="495" cy="238"/>
              </a:xfrm>
              <a:custGeom>
                <a:avLst/>
                <a:gdLst>
                  <a:gd name="T0" fmla="*/ 273 w 3384"/>
                  <a:gd name="T1" fmla="*/ 0 h 1633"/>
                  <a:gd name="T2" fmla="*/ 0 w 3384"/>
                  <a:gd name="T3" fmla="*/ 272 h 1633"/>
                  <a:gd name="T4" fmla="*/ 0 w 3384"/>
                  <a:gd name="T5" fmla="*/ 1361 h 1633"/>
                  <a:gd name="T6" fmla="*/ 273 w 3384"/>
                  <a:gd name="T7" fmla="*/ 1633 h 1633"/>
                  <a:gd name="T8" fmla="*/ 3112 w 3384"/>
                  <a:gd name="T9" fmla="*/ 1633 h 1633"/>
                  <a:gd name="T10" fmla="*/ 3384 w 3384"/>
                  <a:gd name="T11" fmla="*/ 1361 h 1633"/>
                  <a:gd name="T12" fmla="*/ 3384 w 3384"/>
                  <a:gd name="T13" fmla="*/ 272 h 1633"/>
                  <a:gd name="T14" fmla="*/ 3112 w 3384"/>
                  <a:gd name="T15" fmla="*/ 0 h 1633"/>
                  <a:gd name="T16" fmla="*/ 273 w 3384"/>
                  <a:gd name="T17" fmla="*/ 0 h 1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84" h="1633">
                    <a:moveTo>
                      <a:pt x="273" y="0"/>
                    </a:moveTo>
                    <a:cubicBezTo>
                      <a:pt x="122" y="0"/>
                      <a:pt x="0" y="122"/>
                      <a:pt x="0" y="272"/>
                    </a:cubicBezTo>
                    <a:lnTo>
                      <a:pt x="0" y="1361"/>
                    </a:lnTo>
                    <a:cubicBezTo>
                      <a:pt x="0" y="1511"/>
                      <a:pt x="122" y="1633"/>
                      <a:pt x="273" y="1633"/>
                    </a:cubicBezTo>
                    <a:lnTo>
                      <a:pt x="3112" y="1633"/>
                    </a:lnTo>
                    <a:cubicBezTo>
                      <a:pt x="3262" y="1633"/>
                      <a:pt x="3384" y="1511"/>
                      <a:pt x="3384" y="1361"/>
                    </a:cubicBezTo>
                    <a:lnTo>
                      <a:pt x="3384" y="272"/>
                    </a:lnTo>
                    <a:cubicBezTo>
                      <a:pt x="3384" y="122"/>
                      <a:pt x="3262" y="0"/>
                      <a:pt x="3112" y="0"/>
                    </a:cubicBezTo>
                    <a:lnTo>
                      <a:pt x="273" y="0"/>
                    </a:lnTo>
                    <a:close/>
                  </a:path>
                </a:pathLst>
              </a:custGeom>
              <a:solidFill>
                <a:srgbClr val="FF66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sl-SI"/>
              </a:p>
            </p:txBody>
          </p:sp>
          <p:sp>
            <p:nvSpPr>
              <p:cNvPr id="51" name="Freeform 121"/>
              <p:cNvSpPr>
                <a:spLocks/>
              </p:cNvSpPr>
              <p:nvPr/>
            </p:nvSpPr>
            <p:spPr bwMode="auto">
              <a:xfrm>
                <a:off x="4471" y="3387"/>
                <a:ext cx="495" cy="238"/>
              </a:xfrm>
              <a:custGeom>
                <a:avLst/>
                <a:gdLst>
                  <a:gd name="T0" fmla="*/ 273 w 3384"/>
                  <a:gd name="T1" fmla="*/ 0 h 1633"/>
                  <a:gd name="T2" fmla="*/ 0 w 3384"/>
                  <a:gd name="T3" fmla="*/ 272 h 1633"/>
                  <a:gd name="T4" fmla="*/ 0 w 3384"/>
                  <a:gd name="T5" fmla="*/ 1361 h 1633"/>
                  <a:gd name="T6" fmla="*/ 273 w 3384"/>
                  <a:gd name="T7" fmla="*/ 1633 h 1633"/>
                  <a:gd name="T8" fmla="*/ 3112 w 3384"/>
                  <a:gd name="T9" fmla="*/ 1633 h 1633"/>
                  <a:gd name="T10" fmla="*/ 3384 w 3384"/>
                  <a:gd name="T11" fmla="*/ 1361 h 1633"/>
                  <a:gd name="T12" fmla="*/ 3384 w 3384"/>
                  <a:gd name="T13" fmla="*/ 272 h 1633"/>
                  <a:gd name="T14" fmla="*/ 3112 w 3384"/>
                  <a:gd name="T15" fmla="*/ 0 h 1633"/>
                  <a:gd name="T16" fmla="*/ 273 w 3384"/>
                  <a:gd name="T17" fmla="*/ 0 h 1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84" h="1633">
                    <a:moveTo>
                      <a:pt x="273" y="0"/>
                    </a:moveTo>
                    <a:cubicBezTo>
                      <a:pt x="122" y="0"/>
                      <a:pt x="0" y="122"/>
                      <a:pt x="0" y="272"/>
                    </a:cubicBezTo>
                    <a:lnTo>
                      <a:pt x="0" y="1361"/>
                    </a:lnTo>
                    <a:cubicBezTo>
                      <a:pt x="0" y="1511"/>
                      <a:pt x="122" y="1633"/>
                      <a:pt x="273" y="1633"/>
                    </a:cubicBezTo>
                    <a:lnTo>
                      <a:pt x="3112" y="1633"/>
                    </a:lnTo>
                    <a:cubicBezTo>
                      <a:pt x="3262" y="1633"/>
                      <a:pt x="3384" y="1511"/>
                      <a:pt x="3384" y="1361"/>
                    </a:cubicBezTo>
                    <a:lnTo>
                      <a:pt x="3384" y="272"/>
                    </a:lnTo>
                    <a:cubicBezTo>
                      <a:pt x="3384" y="122"/>
                      <a:pt x="3262" y="0"/>
                      <a:pt x="3112" y="0"/>
                    </a:cubicBezTo>
                    <a:lnTo>
                      <a:pt x="273" y="0"/>
                    </a:lnTo>
                    <a:close/>
                  </a:path>
                </a:pathLst>
              </a:custGeom>
              <a:noFill/>
              <a:ln w="63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l-SI"/>
              </a:p>
            </p:txBody>
          </p:sp>
        </p:grpSp>
        <p:sp>
          <p:nvSpPr>
            <p:cNvPr id="30" name="Rectangle 123"/>
            <p:cNvSpPr>
              <a:spLocks noChangeArrowheads="1"/>
            </p:cNvSpPr>
            <p:nvPr/>
          </p:nvSpPr>
          <p:spPr bwMode="auto">
            <a:xfrm>
              <a:off x="4588" y="3443"/>
              <a:ext cx="235"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1" i="0" u="none" strike="noStrike" cap="none" normalizeH="0" baseline="0">
                  <a:ln>
                    <a:noFill/>
                  </a:ln>
                  <a:solidFill>
                    <a:srgbClr val="FCF8C0"/>
                  </a:solidFill>
                  <a:effectLst/>
                  <a:latin typeface="Arial" pitchFamily="34" charset="0"/>
                  <a:cs typeface="Arial" pitchFamily="34" charset="0"/>
                </a:rPr>
                <a:t>Opažena</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sp>
          <p:nvSpPr>
            <p:cNvPr id="31" name="Rectangle 124"/>
            <p:cNvSpPr>
              <a:spLocks noChangeArrowheads="1"/>
            </p:cNvSpPr>
            <p:nvPr/>
          </p:nvSpPr>
          <p:spPr bwMode="auto">
            <a:xfrm>
              <a:off x="4492" y="3507"/>
              <a:ext cx="473"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1" i="0" u="none" strike="noStrike" cap="none" normalizeH="0" baseline="0">
                  <a:ln>
                    <a:noFill/>
                  </a:ln>
                  <a:solidFill>
                    <a:srgbClr val="FCF8C0"/>
                  </a:solidFill>
                  <a:effectLst/>
                  <a:latin typeface="Arial" pitchFamily="34" charset="0"/>
                  <a:cs typeface="Arial" pitchFamily="34" charset="0"/>
                </a:rPr>
                <a:t>variabilnost proc.</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grpSp>
          <p:nvGrpSpPr>
            <p:cNvPr id="32" name="Group 127"/>
            <p:cNvGrpSpPr>
              <a:grpSpLocks/>
            </p:cNvGrpSpPr>
            <p:nvPr/>
          </p:nvGrpSpPr>
          <p:grpSpPr bwMode="auto">
            <a:xfrm>
              <a:off x="4182" y="3745"/>
              <a:ext cx="496" cy="238"/>
              <a:chOff x="4182" y="3745"/>
              <a:chExt cx="496" cy="238"/>
            </a:xfrm>
          </p:grpSpPr>
          <p:sp>
            <p:nvSpPr>
              <p:cNvPr id="48" name="Freeform 125"/>
              <p:cNvSpPr>
                <a:spLocks/>
              </p:cNvSpPr>
              <p:nvPr/>
            </p:nvSpPr>
            <p:spPr bwMode="auto">
              <a:xfrm>
                <a:off x="4182" y="3745"/>
                <a:ext cx="496" cy="238"/>
              </a:xfrm>
              <a:custGeom>
                <a:avLst/>
                <a:gdLst>
                  <a:gd name="T0" fmla="*/ 272 w 3392"/>
                  <a:gd name="T1" fmla="*/ 0 h 1629"/>
                  <a:gd name="T2" fmla="*/ 0 w 3392"/>
                  <a:gd name="T3" fmla="*/ 271 h 1629"/>
                  <a:gd name="T4" fmla="*/ 0 w 3392"/>
                  <a:gd name="T5" fmla="*/ 1357 h 1629"/>
                  <a:gd name="T6" fmla="*/ 272 w 3392"/>
                  <a:gd name="T7" fmla="*/ 1629 h 1629"/>
                  <a:gd name="T8" fmla="*/ 3120 w 3392"/>
                  <a:gd name="T9" fmla="*/ 1629 h 1629"/>
                  <a:gd name="T10" fmla="*/ 3392 w 3392"/>
                  <a:gd name="T11" fmla="*/ 1357 h 1629"/>
                  <a:gd name="T12" fmla="*/ 3392 w 3392"/>
                  <a:gd name="T13" fmla="*/ 271 h 1629"/>
                  <a:gd name="T14" fmla="*/ 3120 w 3392"/>
                  <a:gd name="T15" fmla="*/ 0 h 1629"/>
                  <a:gd name="T16" fmla="*/ 272 w 3392"/>
                  <a:gd name="T17" fmla="*/ 0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92" h="1629">
                    <a:moveTo>
                      <a:pt x="272" y="0"/>
                    </a:moveTo>
                    <a:cubicBezTo>
                      <a:pt x="122" y="0"/>
                      <a:pt x="0" y="121"/>
                      <a:pt x="0" y="271"/>
                    </a:cubicBezTo>
                    <a:lnTo>
                      <a:pt x="0" y="1357"/>
                    </a:lnTo>
                    <a:cubicBezTo>
                      <a:pt x="0" y="1507"/>
                      <a:pt x="122" y="1629"/>
                      <a:pt x="272" y="1629"/>
                    </a:cubicBezTo>
                    <a:lnTo>
                      <a:pt x="3120" y="1629"/>
                    </a:lnTo>
                    <a:cubicBezTo>
                      <a:pt x="3270" y="1629"/>
                      <a:pt x="3392" y="1507"/>
                      <a:pt x="3392" y="1357"/>
                    </a:cubicBezTo>
                    <a:lnTo>
                      <a:pt x="3392" y="271"/>
                    </a:lnTo>
                    <a:cubicBezTo>
                      <a:pt x="3392" y="121"/>
                      <a:pt x="3270" y="0"/>
                      <a:pt x="3120" y="0"/>
                    </a:cubicBezTo>
                    <a:lnTo>
                      <a:pt x="272" y="0"/>
                    </a:lnTo>
                    <a:close/>
                  </a:path>
                </a:pathLst>
              </a:custGeom>
              <a:solidFill>
                <a:srgbClr val="FFCC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sl-SI"/>
              </a:p>
            </p:txBody>
          </p:sp>
          <p:sp>
            <p:nvSpPr>
              <p:cNvPr id="49" name="Freeform 126"/>
              <p:cNvSpPr>
                <a:spLocks/>
              </p:cNvSpPr>
              <p:nvPr/>
            </p:nvSpPr>
            <p:spPr bwMode="auto">
              <a:xfrm>
                <a:off x="4182" y="3745"/>
                <a:ext cx="496" cy="238"/>
              </a:xfrm>
              <a:custGeom>
                <a:avLst/>
                <a:gdLst>
                  <a:gd name="T0" fmla="*/ 272 w 3392"/>
                  <a:gd name="T1" fmla="*/ 0 h 1629"/>
                  <a:gd name="T2" fmla="*/ 0 w 3392"/>
                  <a:gd name="T3" fmla="*/ 271 h 1629"/>
                  <a:gd name="T4" fmla="*/ 0 w 3392"/>
                  <a:gd name="T5" fmla="*/ 1357 h 1629"/>
                  <a:gd name="T6" fmla="*/ 272 w 3392"/>
                  <a:gd name="T7" fmla="*/ 1629 h 1629"/>
                  <a:gd name="T8" fmla="*/ 3120 w 3392"/>
                  <a:gd name="T9" fmla="*/ 1629 h 1629"/>
                  <a:gd name="T10" fmla="*/ 3392 w 3392"/>
                  <a:gd name="T11" fmla="*/ 1357 h 1629"/>
                  <a:gd name="T12" fmla="*/ 3392 w 3392"/>
                  <a:gd name="T13" fmla="*/ 271 h 1629"/>
                  <a:gd name="T14" fmla="*/ 3120 w 3392"/>
                  <a:gd name="T15" fmla="*/ 0 h 1629"/>
                  <a:gd name="T16" fmla="*/ 272 w 3392"/>
                  <a:gd name="T17" fmla="*/ 0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92" h="1629">
                    <a:moveTo>
                      <a:pt x="272" y="0"/>
                    </a:moveTo>
                    <a:cubicBezTo>
                      <a:pt x="122" y="0"/>
                      <a:pt x="0" y="121"/>
                      <a:pt x="0" y="271"/>
                    </a:cubicBezTo>
                    <a:lnTo>
                      <a:pt x="0" y="1357"/>
                    </a:lnTo>
                    <a:cubicBezTo>
                      <a:pt x="0" y="1507"/>
                      <a:pt x="122" y="1629"/>
                      <a:pt x="272" y="1629"/>
                    </a:cubicBezTo>
                    <a:lnTo>
                      <a:pt x="3120" y="1629"/>
                    </a:lnTo>
                    <a:cubicBezTo>
                      <a:pt x="3270" y="1629"/>
                      <a:pt x="3392" y="1507"/>
                      <a:pt x="3392" y="1357"/>
                    </a:cubicBezTo>
                    <a:lnTo>
                      <a:pt x="3392" y="271"/>
                    </a:lnTo>
                    <a:cubicBezTo>
                      <a:pt x="3392" y="121"/>
                      <a:pt x="3270" y="0"/>
                      <a:pt x="3120" y="0"/>
                    </a:cubicBezTo>
                    <a:lnTo>
                      <a:pt x="272" y="0"/>
                    </a:lnTo>
                    <a:close/>
                  </a:path>
                </a:pathLst>
              </a:custGeom>
              <a:noFill/>
              <a:ln w="63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l-SI"/>
              </a:p>
            </p:txBody>
          </p:sp>
        </p:grpSp>
        <p:sp>
          <p:nvSpPr>
            <p:cNvPr id="33" name="Rectangle 128"/>
            <p:cNvSpPr>
              <a:spLocks noChangeArrowheads="1"/>
            </p:cNvSpPr>
            <p:nvPr/>
          </p:nvSpPr>
          <p:spPr bwMode="auto">
            <a:xfrm>
              <a:off x="4348" y="3800"/>
              <a:ext cx="247"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1" i="0" u="none" strike="noStrike" cap="none" normalizeH="0" baseline="0">
                  <a:ln>
                    <a:noFill/>
                  </a:ln>
                  <a:solidFill>
                    <a:srgbClr val="000000"/>
                  </a:solidFill>
                  <a:effectLst/>
                  <a:latin typeface="Arial" pitchFamily="34" charset="0"/>
                  <a:cs typeface="Arial" pitchFamily="34" charset="0"/>
                </a:rPr>
                <a:t>Dejanska</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sp>
          <p:nvSpPr>
            <p:cNvPr id="34" name="Rectangle 129"/>
            <p:cNvSpPr>
              <a:spLocks noChangeArrowheads="1"/>
            </p:cNvSpPr>
            <p:nvPr/>
          </p:nvSpPr>
          <p:spPr bwMode="auto">
            <a:xfrm>
              <a:off x="4203" y="3865"/>
              <a:ext cx="473"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1" i="0" u="none" strike="noStrike" cap="none" normalizeH="0" baseline="0">
                  <a:ln>
                    <a:noFill/>
                  </a:ln>
                  <a:solidFill>
                    <a:srgbClr val="000000"/>
                  </a:solidFill>
                  <a:effectLst/>
                  <a:latin typeface="Arial" pitchFamily="34" charset="0"/>
                  <a:cs typeface="Arial" pitchFamily="34" charset="0"/>
                </a:rPr>
                <a:t>variabilnost proc.</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grpSp>
          <p:nvGrpSpPr>
            <p:cNvPr id="35" name="Group 132"/>
            <p:cNvGrpSpPr>
              <a:grpSpLocks/>
            </p:cNvGrpSpPr>
            <p:nvPr/>
          </p:nvGrpSpPr>
          <p:grpSpPr bwMode="auto">
            <a:xfrm>
              <a:off x="4760" y="3745"/>
              <a:ext cx="496" cy="238"/>
              <a:chOff x="4760" y="3745"/>
              <a:chExt cx="496" cy="238"/>
            </a:xfrm>
          </p:grpSpPr>
          <p:sp>
            <p:nvSpPr>
              <p:cNvPr id="46" name="Freeform 130"/>
              <p:cNvSpPr>
                <a:spLocks/>
              </p:cNvSpPr>
              <p:nvPr/>
            </p:nvSpPr>
            <p:spPr bwMode="auto">
              <a:xfrm>
                <a:off x="4760" y="3745"/>
                <a:ext cx="496" cy="238"/>
              </a:xfrm>
              <a:custGeom>
                <a:avLst/>
                <a:gdLst>
                  <a:gd name="T0" fmla="*/ 272 w 3392"/>
                  <a:gd name="T1" fmla="*/ 0 h 1629"/>
                  <a:gd name="T2" fmla="*/ 0 w 3392"/>
                  <a:gd name="T3" fmla="*/ 271 h 1629"/>
                  <a:gd name="T4" fmla="*/ 0 w 3392"/>
                  <a:gd name="T5" fmla="*/ 1357 h 1629"/>
                  <a:gd name="T6" fmla="*/ 272 w 3392"/>
                  <a:gd name="T7" fmla="*/ 1629 h 1629"/>
                  <a:gd name="T8" fmla="*/ 3121 w 3392"/>
                  <a:gd name="T9" fmla="*/ 1629 h 1629"/>
                  <a:gd name="T10" fmla="*/ 3392 w 3392"/>
                  <a:gd name="T11" fmla="*/ 1357 h 1629"/>
                  <a:gd name="T12" fmla="*/ 3392 w 3392"/>
                  <a:gd name="T13" fmla="*/ 271 h 1629"/>
                  <a:gd name="T14" fmla="*/ 3121 w 3392"/>
                  <a:gd name="T15" fmla="*/ 0 h 1629"/>
                  <a:gd name="T16" fmla="*/ 272 w 3392"/>
                  <a:gd name="T17" fmla="*/ 0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92" h="1629">
                    <a:moveTo>
                      <a:pt x="272" y="0"/>
                    </a:moveTo>
                    <a:cubicBezTo>
                      <a:pt x="122" y="0"/>
                      <a:pt x="0" y="121"/>
                      <a:pt x="0" y="271"/>
                    </a:cubicBezTo>
                    <a:lnTo>
                      <a:pt x="0" y="1357"/>
                    </a:lnTo>
                    <a:cubicBezTo>
                      <a:pt x="0" y="1507"/>
                      <a:pt x="122" y="1629"/>
                      <a:pt x="272" y="1629"/>
                    </a:cubicBezTo>
                    <a:lnTo>
                      <a:pt x="3121" y="1629"/>
                    </a:lnTo>
                    <a:cubicBezTo>
                      <a:pt x="3271" y="1629"/>
                      <a:pt x="3392" y="1507"/>
                      <a:pt x="3392" y="1357"/>
                    </a:cubicBezTo>
                    <a:lnTo>
                      <a:pt x="3392" y="271"/>
                    </a:lnTo>
                    <a:cubicBezTo>
                      <a:pt x="3392" y="121"/>
                      <a:pt x="3271" y="0"/>
                      <a:pt x="3121" y="0"/>
                    </a:cubicBezTo>
                    <a:lnTo>
                      <a:pt x="272" y="0"/>
                    </a:lnTo>
                    <a:close/>
                  </a:path>
                </a:pathLst>
              </a:custGeom>
              <a:solidFill>
                <a:srgbClr val="FFCC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sl-SI"/>
              </a:p>
            </p:txBody>
          </p:sp>
          <p:sp>
            <p:nvSpPr>
              <p:cNvPr id="47" name="Freeform 131"/>
              <p:cNvSpPr>
                <a:spLocks/>
              </p:cNvSpPr>
              <p:nvPr/>
            </p:nvSpPr>
            <p:spPr bwMode="auto">
              <a:xfrm>
                <a:off x="4760" y="3745"/>
                <a:ext cx="496" cy="238"/>
              </a:xfrm>
              <a:custGeom>
                <a:avLst/>
                <a:gdLst>
                  <a:gd name="T0" fmla="*/ 272 w 3392"/>
                  <a:gd name="T1" fmla="*/ 0 h 1629"/>
                  <a:gd name="T2" fmla="*/ 0 w 3392"/>
                  <a:gd name="T3" fmla="*/ 271 h 1629"/>
                  <a:gd name="T4" fmla="*/ 0 w 3392"/>
                  <a:gd name="T5" fmla="*/ 1357 h 1629"/>
                  <a:gd name="T6" fmla="*/ 272 w 3392"/>
                  <a:gd name="T7" fmla="*/ 1629 h 1629"/>
                  <a:gd name="T8" fmla="*/ 3121 w 3392"/>
                  <a:gd name="T9" fmla="*/ 1629 h 1629"/>
                  <a:gd name="T10" fmla="*/ 3392 w 3392"/>
                  <a:gd name="T11" fmla="*/ 1357 h 1629"/>
                  <a:gd name="T12" fmla="*/ 3392 w 3392"/>
                  <a:gd name="T13" fmla="*/ 271 h 1629"/>
                  <a:gd name="T14" fmla="*/ 3121 w 3392"/>
                  <a:gd name="T15" fmla="*/ 0 h 1629"/>
                  <a:gd name="T16" fmla="*/ 272 w 3392"/>
                  <a:gd name="T17" fmla="*/ 0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92" h="1629">
                    <a:moveTo>
                      <a:pt x="272" y="0"/>
                    </a:moveTo>
                    <a:cubicBezTo>
                      <a:pt x="122" y="0"/>
                      <a:pt x="0" y="121"/>
                      <a:pt x="0" y="271"/>
                    </a:cubicBezTo>
                    <a:lnTo>
                      <a:pt x="0" y="1357"/>
                    </a:lnTo>
                    <a:cubicBezTo>
                      <a:pt x="0" y="1507"/>
                      <a:pt x="122" y="1629"/>
                      <a:pt x="272" y="1629"/>
                    </a:cubicBezTo>
                    <a:lnTo>
                      <a:pt x="3121" y="1629"/>
                    </a:lnTo>
                    <a:cubicBezTo>
                      <a:pt x="3271" y="1629"/>
                      <a:pt x="3392" y="1507"/>
                      <a:pt x="3392" y="1357"/>
                    </a:cubicBezTo>
                    <a:lnTo>
                      <a:pt x="3392" y="271"/>
                    </a:lnTo>
                    <a:cubicBezTo>
                      <a:pt x="3392" y="121"/>
                      <a:pt x="3271" y="0"/>
                      <a:pt x="3121" y="0"/>
                    </a:cubicBezTo>
                    <a:lnTo>
                      <a:pt x="272" y="0"/>
                    </a:lnTo>
                    <a:close/>
                  </a:path>
                </a:pathLst>
              </a:custGeom>
              <a:noFill/>
              <a:ln w="63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l-SI"/>
              </a:p>
            </p:txBody>
          </p:sp>
        </p:grpSp>
        <p:sp>
          <p:nvSpPr>
            <p:cNvPr id="36" name="Rectangle 133"/>
            <p:cNvSpPr>
              <a:spLocks noChangeArrowheads="1"/>
            </p:cNvSpPr>
            <p:nvPr/>
          </p:nvSpPr>
          <p:spPr bwMode="auto">
            <a:xfrm>
              <a:off x="4882" y="3800"/>
              <a:ext cx="262"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1" i="0" u="none" strike="noStrike" cap="none" normalizeH="0" baseline="0">
                  <a:ln>
                    <a:noFill/>
                  </a:ln>
                  <a:solidFill>
                    <a:srgbClr val="000000"/>
                  </a:solidFill>
                  <a:effectLst/>
                  <a:latin typeface="Arial" pitchFamily="34" charset="0"/>
                  <a:cs typeface="Arial" pitchFamily="34" charset="0"/>
                </a:rPr>
                <a:t>Izmerjena</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sp>
          <p:nvSpPr>
            <p:cNvPr id="37" name="Rectangle 134"/>
            <p:cNvSpPr>
              <a:spLocks noChangeArrowheads="1"/>
            </p:cNvSpPr>
            <p:nvPr/>
          </p:nvSpPr>
          <p:spPr bwMode="auto">
            <a:xfrm>
              <a:off x="4781" y="3865"/>
              <a:ext cx="473"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sl-SI" altLang="sl-SI" sz="700" b="1">
                  <a:solidFill>
                    <a:srgbClr val="000000"/>
                  </a:solidFill>
                </a:rPr>
                <a:t>v</a:t>
              </a:r>
              <a:r>
                <a:rPr kumimoji="0" lang="sl-SI" altLang="sl-SI" sz="700" b="1" i="0" u="none" strike="noStrike" cap="none" normalizeH="0" baseline="0">
                  <a:ln>
                    <a:noFill/>
                  </a:ln>
                  <a:solidFill>
                    <a:srgbClr val="000000"/>
                  </a:solidFill>
                  <a:effectLst/>
                  <a:latin typeface="Arial" pitchFamily="34" charset="0"/>
                  <a:cs typeface="Arial" pitchFamily="34" charset="0"/>
                </a:rPr>
                <a:t>ariabilnost</a:t>
              </a:r>
              <a:r>
                <a:rPr kumimoji="0" lang="sl-SI" altLang="sl-SI" sz="700" b="1" i="0" u="none" strike="noStrike" cap="none" normalizeH="0">
                  <a:ln>
                    <a:noFill/>
                  </a:ln>
                  <a:solidFill>
                    <a:srgbClr val="000000"/>
                  </a:solidFill>
                  <a:effectLst/>
                  <a:latin typeface="Arial" pitchFamily="34" charset="0"/>
                  <a:cs typeface="Arial" pitchFamily="34" charset="0"/>
                </a:rPr>
                <a:t> proc.</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grpSp>
          <p:nvGrpSpPr>
            <p:cNvPr id="38" name="Group 137"/>
            <p:cNvGrpSpPr>
              <a:grpSpLocks/>
            </p:cNvGrpSpPr>
            <p:nvPr/>
          </p:nvGrpSpPr>
          <p:grpSpPr bwMode="auto">
            <a:xfrm>
              <a:off x="4475" y="3026"/>
              <a:ext cx="495" cy="243"/>
              <a:chOff x="4475" y="3026"/>
              <a:chExt cx="495" cy="243"/>
            </a:xfrm>
          </p:grpSpPr>
          <p:sp>
            <p:nvSpPr>
              <p:cNvPr id="44" name="Freeform 135"/>
              <p:cNvSpPr>
                <a:spLocks/>
              </p:cNvSpPr>
              <p:nvPr/>
            </p:nvSpPr>
            <p:spPr bwMode="auto">
              <a:xfrm>
                <a:off x="4475" y="3026"/>
                <a:ext cx="495" cy="243"/>
              </a:xfrm>
              <a:custGeom>
                <a:avLst/>
                <a:gdLst>
                  <a:gd name="T0" fmla="*/ 277 w 3383"/>
                  <a:gd name="T1" fmla="*/ 0 h 1666"/>
                  <a:gd name="T2" fmla="*/ 0 w 3383"/>
                  <a:gd name="T3" fmla="*/ 278 h 1666"/>
                  <a:gd name="T4" fmla="*/ 0 w 3383"/>
                  <a:gd name="T5" fmla="*/ 1389 h 1666"/>
                  <a:gd name="T6" fmla="*/ 277 w 3383"/>
                  <a:gd name="T7" fmla="*/ 1666 h 1666"/>
                  <a:gd name="T8" fmla="*/ 3105 w 3383"/>
                  <a:gd name="T9" fmla="*/ 1666 h 1666"/>
                  <a:gd name="T10" fmla="*/ 3383 w 3383"/>
                  <a:gd name="T11" fmla="*/ 1389 h 1666"/>
                  <a:gd name="T12" fmla="*/ 3383 w 3383"/>
                  <a:gd name="T13" fmla="*/ 278 h 1666"/>
                  <a:gd name="T14" fmla="*/ 3105 w 3383"/>
                  <a:gd name="T15" fmla="*/ 0 h 1666"/>
                  <a:gd name="T16" fmla="*/ 277 w 3383"/>
                  <a:gd name="T17" fmla="*/ 0 h 1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83" h="1666">
                    <a:moveTo>
                      <a:pt x="277" y="0"/>
                    </a:moveTo>
                    <a:cubicBezTo>
                      <a:pt x="124" y="0"/>
                      <a:pt x="0" y="124"/>
                      <a:pt x="0" y="278"/>
                    </a:cubicBezTo>
                    <a:lnTo>
                      <a:pt x="0" y="1389"/>
                    </a:lnTo>
                    <a:cubicBezTo>
                      <a:pt x="0" y="1542"/>
                      <a:pt x="124" y="1666"/>
                      <a:pt x="277" y="1666"/>
                    </a:cubicBezTo>
                    <a:lnTo>
                      <a:pt x="3105" y="1666"/>
                    </a:lnTo>
                    <a:cubicBezTo>
                      <a:pt x="3259" y="1666"/>
                      <a:pt x="3383" y="1542"/>
                      <a:pt x="3383" y="1389"/>
                    </a:cubicBezTo>
                    <a:lnTo>
                      <a:pt x="3383" y="278"/>
                    </a:lnTo>
                    <a:cubicBezTo>
                      <a:pt x="3383" y="124"/>
                      <a:pt x="3259" y="0"/>
                      <a:pt x="3105" y="0"/>
                    </a:cubicBezTo>
                    <a:lnTo>
                      <a:pt x="277" y="0"/>
                    </a:lnTo>
                    <a:close/>
                  </a:path>
                </a:pathLst>
              </a:custGeom>
              <a:solidFill>
                <a:srgbClr val="FF33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sl-SI"/>
              </a:p>
            </p:txBody>
          </p:sp>
          <p:sp>
            <p:nvSpPr>
              <p:cNvPr id="45" name="Freeform 136"/>
              <p:cNvSpPr>
                <a:spLocks/>
              </p:cNvSpPr>
              <p:nvPr/>
            </p:nvSpPr>
            <p:spPr bwMode="auto">
              <a:xfrm>
                <a:off x="4475" y="3026"/>
                <a:ext cx="495" cy="243"/>
              </a:xfrm>
              <a:custGeom>
                <a:avLst/>
                <a:gdLst>
                  <a:gd name="T0" fmla="*/ 277 w 3383"/>
                  <a:gd name="T1" fmla="*/ 0 h 1666"/>
                  <a:gd name="T2" fmla="*/ 0 w 3383"/>
                  <a:gd name="T3" fmla="*/ 278 h 1666"/>
                  <a:gd name="T4" fmla="*/ 0 w 3383"/>
                  <a:gd name="T5" fmla="*/ 1389 h 1666"/>
                  <a:gd name="T6" fmla="*/ 277 w 3383"/>
                  <a:gd name="T7" fmla="*/ 1666 h 1666"/>
                  <a:gd name="T8" fmla="*/ 3105 w 3383"/>
                  <a:gd name="T9" fmla="*/ 1666 h 1666"/>
                  <a:gd name="T10" fmla="*/ 3383 w 3383"/>
                  <a:gd name="T11" fmla="*/ 1389 h 1666"/>
                  <a:gd name="T12" fmla="*/ 3383 w 3383"/>
                  <a:gd name="T13" fmla="*/ 278 h 1666"/>
                  <a:gd name="T14" fmla="*/ 3105 w 3383"/>
                  <a:gd name="T15" fmla="*/ 0 h 1666"/>
                  <a:gd name="T16" fmla="*/ 277 w 3383"/>
                  <a:gd name="T17" fmla="*/ 0 h 1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83" h="1666">
                    <a:moveTo>
                      <a:pt x="277" y="0"/>
                    </a:moveTo>
                    <a:cubicBezTo>
                      <a:pt x="124" y="0"/>
                      <a:pt x="0" y="124"/>
                      <a:pt x="0" y="278"/>
                    </a:cubicBezTo>
                    <a:lnTo>
                      <a:pt x="0" y="1389"/>
                    </a:lnTo>
                    <a:cubicBezTo>
                      <a:pt x="0" y="1542"/>
                      <a:pt x="124" y="1666"/>
                      <a:pt x="277" y="1666"/>
                    </a:cubicBezTo>
                    <a:lnTo>
                      <a:pt x="3105" y="1666"/>
                    </a:lnTo>
                    <a:cubicBezTo>
                      <a:pt x="3259" y="1666"/>
                      <a:pt x="3383" y="1542"/>
                      <a:pt x="3383" y="1389"/>
                    </a:cubicBezTo>
                    <a:lnTo>
                      <a:pt x="3383" y="278"/>
                    </a:lnTo>
                    <a:cubicBezTo>
                      <a:pt x="3383" y="124"/>
                      <a:pt x="3259" y="0"/>
                      <a:pt x="3105" y="0"/>
                    </a:cubicBezTo>
                    <a:lnTo>
                      <a:pt x="277" y="0"/>
                    </a:lnTo>
                    <a:close/>
                  </a:path>
                </a:pathLst>
              </a:custGeom>
              <a:noFill/>
              <a:ln w="63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l-SI"/>
              </a:p>
            </p:txBody>
          </p:sp>
        </p:grpSp>
        <p:sp>
          <p:nvSpPr>
            <p:cNvPr id="39" name="Rectangle 138"/>
            <p:cNvSpPr>
              <a:spLocks noChangeArrowheads="1"/>
            </p:cNvSpPr>
            <p:nvPr/>
          </p:nvSpPr>
          <p:spPr bwMode="auto">
            <a:xfrm>
              <a:off x="4621" y="3082"/>
              <a:ext cx="249"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0" i="0" u="none" strike="noStrike" cap="none" normalizeH="0" baseline="0">
                  <a:ln>
                    <a:noFill/>
                  </a:ln>
                  <a:solidFill>
                    <a:srgbClr val="FCF8C0"/>
                  </a:solidFill>
                  <a:effectLst/>
                  <a:latin typeface="Arial" pitchFamily="34" charset="0"/>
                  <a:cs typeface="Arial" pitchFamily="34" charset="0"/>
                </a:rPr>
                <a:t>Dovoljena</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sp>
          <p:nvSpPr>
            <p:cNvPr id="40" name="Rectangle 139"/>
            <p:cNvSpPr>
              <a:spLocks noChangeArrowheads="1"/>
            </p:cNvSpPr>
            <p:nvPr/>
          </p:nvSpPr>
          <p:spPr bwMode="auto">
            <a:xfrm>
              <a:off x="4495" y="3152"/>
              <a:ext cx="427"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700" b="0" i="0" u="none" strike="noStrike" cap="none" normalizeH="0" baseline="0">
                  <a:ln>
                    <a:noFill/>
                  </a:ln>
                  <a:solidFill>
                    <a:srgbClr val="FCF8C0"/>
                  </a:solidFill>
                  <a:effectLst/>
                  <a:latin typeface="Arial" pitchFamily="34" charset="0"/>
                  <a:cs typeface="Arial" pitchFamily="34" charset="0"/>
                </a:rPr>
                <a:t>variabilnost proc.</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sp>
          <p:nvSpPr>
            <p:cNvPr id="41" name="Line 140"/>
            <p:cNvSpPr>
              <a:spLocks noChangeShapeType="1"/>
            </p:cNvSpPr>
            <p:nvPr/>
          </p:nvSpPr>
          <p:spPr bwMode="auto">
            <a:xfrm flipV="1">
              <a:off x="4719" y="3272"/>
              <a:ext cx="0" cy="112"/>
            </a:xfrm>
            <a:prstGeom prst="line">
              <a:avLst/>
            </a:prstGeom>
            <a:noFill/>
            <a:ln w="17463"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sl-SI"/>
            </a:p>
          </p:txBody>
        </p:sp>
        <p:sp>
          <p:nvSpPr>
            <p:cNvPr id="42" name="Rectangle 141"/>
            <p:cNvSpPr>
              <a:spLocks noChangeArrowheads="1"/>
            </p:cNvSpPr>
            <p:nvPr/>
          </p:nvSpPr>
          <p:spPr bwMode="auto">
            <a:xfrm>
              <a:off x="5317" y="3095"/>
              <a:ext cx="96"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1100" b="1" i="0" u="none" strike="noStrike" cap="none" normalizeH="0" baseline="0">
                  <a:ln>
                    <a:noFill/>
                  </a:ln>
                  <a:solidFill>
                    <a:srgbClr val="000000"/>
                  </a:solidFill>
                  <a:effectLst/>
                  <a:latin typeface="Arial" pitchFamily="34" charset="0"/>
                  <a:cs typeface="Arial" pitchFamily="34" charset="0"/>
                </a:rPr>
                <a:t>T</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sp>
          <p:nvSpPr>
            <p:cNvPr id="43" name="Rectangle 142"/>
            <p:cNvSpPr>
              <a:spLocks noChangeArrowheads="1"/>
            </p:cNvSpPr>
            <p:nvPr/>
          </p:nvSpPr>
          <p:spPr bwMode="auto">
            <a:xfrm>
              <a:off x="5313" y="3811"/>
              <a:ext cx="101"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l-SI" altLang="sl-SI" sz="1100" b="1" i="0" u="none" strike="noStrike" cap="none" normalizeH="0" baseline="0">
                  <a:ln>
                    <a:noFill/>
                  </a:ln>
                  <a:solidFill>
                    <a:srgbClr val="000000"/>
                  </a:solidFill>
                  <a:effectLst/>
                  <a:latin typeface="Arial" pitchFamily="34" charset="0"/>
                  <a:cs typeface="Arial" pitchFamily="34" charset="0"/>
                </a:rPr>
                <a:t>P</a:t>
              </a:r>
              <a:endParaRPr kumimoji="0" lang="sl-SI" altLang="sl-SI" sz="1800" b="0" i="0" u="none" strike="noStrike" cap="none" normalizeH="0" baseline="0">
                <a:ln>
                  <a:noFill/>
                </a:ln>
                <a:solidFill>
                  <a:schemeClr val="tx1"/>
                </a:solidFill>
                <a:effectLst/>
                <a:latin typeface="Arial" pitchFamily="34" charset="0"/>
                <a:cs typeface="Arial" pitchFamily="34" charset="0"/>
              </a:endParaRPr>
            </a:p>
          </p:txBody>
        </p:sp>
      </p:grpSp>
    </p:spTree>
    <p:extLst>
      <p:ext uri="{BB962C8B-B14F-4D97-AF65-F5344CB8AC3E}">
        <p14:creationId xmlns:p14="http://schemas.microsoft.com/office/powerpoint/2010/main" val="79626121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jdelijke aanduiding voor inhoud 25"/>
          <p:cNvSpPr>
            <a:spLocks noGrp="1"/>
          </p:cNvSpPr>
          <p:nvPr>
            <p:ph idx="1"/>
          </p:nvPr>
        </p:nvSpPr>
        <p:spPr/>
        <p:txBody>
          <a:bodyPr/>
          <a:lstStyle/>
          <a:p>
            <a:r>
              <a:rPr lang="en-GB" noProof="0" dirty="0">
                <a:latin typeface="Arial" charset="0"/>
              </a:rPr>
              <a:t>Norme sprejemljivosti merila po AIAG</a:t>
            </a:r>
          </a:p>
          <a:p>
            <a:pPr lvl="1"/>
            <a:r>
              <a:rPr lang="en-GB" sz="1600" noProof="0" dirty="0">
                <a:latin typeface="Arial" charset="0"/>
              </a:rPr>
              <a:t>  (Automotive Industry Action Group) </a:t>
            </a:r>
          </a:p>
        </p:txBody>
      </p:sp>
      <p:sp>
        <p:nvSpPr>
          <p:cNvPr id="31757" name="Rectangle 14"/>
          <p:cNvSpPr>
            <a:spLocks noChangeArrowheads="1"/>
          </p:cNvSpPr>
          <p:nvPr/>
        </p:nvSpPr>
        <p:spPr bwMode="auto">
          <a:xfrm>
            <a:off x="3327400" y="5892800"/>
            <a:ext cx="1390650" cy="576263"/>
          </a:xfrm>
          <a:prstGeom prst="rect">
            <a:avLst/>
          </a:prstGeom>
          <a:solidFill>
            <a:schemeClr val="bg1"/>
          </a:solidFill>
          <a:ln w="25400">
            <a:solidFill>
              <a:srgbClr val="FF0000"/>
            </a:solidFill>
            <a:miter lim="800000"/>
            <a:headEnd/>
            <a:tailEnd/>
          </a:ln>
          <a:effectLst>
            <a:outerShdw dist="107763" dir="2700000" algn="ctr" rotWithShape="0">
              <a:schemeClr val="bg2">
                <a:alpha val="50000"/>
              </a:schemeClr>
            </a:outerShdw>
          </a:effectLst>
        </p:spPr>
        <p:txBody>
          <a:bodyPr lIns="18000" tIns="55562" rIns="18000" bIns="55562" anchor="ctr"/>
          <a:lstStyle/>
          <a:p>
            <a:pPr algn="ctr" defTabSz="1316038" eaLnBrk="0" hangingPunct="0">
              <a:spcBef>
                <a:spcPct val="50000"/>
              </a:spcBef>
            </a:pPr>
            <a:r>
              <a:rPr lang="en-GB" sz="1200" b="1" dirty="0">
                <a:solidFill>
                  <a:schemeClr val="tx2"/>
                </a:solidFill>
              </a:rPr>
              <a:t>% R&amp;R</a:t>
            </a:r>
          </a:p>
          <a:p>
            <a:pPr algn="ctr" defTabSz="1316038" eaLnBrk="0" hangingPunct="0">
              <a:spcBef>
                <a:spcPct val="50000"/>
              </a:spcBef>
            </a:pPr>
            <a:r>
              <a:rPr lang="en-GB" sz="1200" b="1">
                <a:solidFill>
                  <a:schemeClr val="tx2"/>
                </a:solidFill>
              </a:rPr>
              <a:t>% variab</a:t>
            </a:r>
            <a:r>
              <a:rPr lang="sl-SI" sz="1200" b="1">
                <a:solidFill>
                  <a:schemeClr val="tx2"/>
                </a:solidFill>
              </a:rPr>
              <a:t>.</a:t>
            </a:r>
            <a:r>
              <a:rPr lang="en-GB" sz="1200" b="1">
                <a:solidFill>
                  <a:schemeClr val="tx2"/>
                </a:solidFill>
              </a:rPr>
              <a:t> </a:t>
            </a:r>
            <a:r>
              <a:rPr lang="en-GB" sz="1200" b="1" dirty="0">
                <a:solidFill>
                  <a:schemeClr val="tx2"/>
                </a:solidFill>
              </a:rPr>
              <a:t>študije</a:t>
            </a:r>
            <a:endParaRPr lang="sl-SI" sz="800" b="1" dirty="0">
              <a:solidFill>
                <a:schemeClr val="tx2"/>
              </a:solidFill>
            </a:endParaRPr>
          </a:p>
        </p:txBody>
      </p:sp>
      <p:sp>
        <p:nvSpPr>
          <p:cNvPr id="31759" name="Rectangle 16"/>
          <p:cNvSpPr>
            <a:spLocks noChangeArrowheads="1"/>
          </p:cNvSpPr>
          <p:nvPr/>
        </p:nvSpPr>
        <p:spPr bwMode="auto">
          <a:xfrm>
            <a:off x="1866900" y="5892800"/>
            <a:ext cx="1390650" cy="576263"/>
          </a:xfrm>
          <a:prstGeom prst="rect">
            <a:avLst/>
          </a:prstGeom>
          <a:solidFill>
            <a:schemeClr val="bg1"/>
          </a:solidFill>
          <a:ln w="25400">
            <a:solidFill>
              <a:srgbClr val="FF0000"/>
            </a:solidFill>
            <a:miter lim="800000"/>
            <a:headEnd/>
            <a:tailEnd/>
          </a:ln>
          <a:effectLst>
            <a:outerShdw dist="107763" dir="2700000" algn="ctr" rotWithShape="0">
              <a:schemeClr val="bg2">
                <a:alpha val="50000"/>
              </a:schemeClr>
            </a:outerShdw>
          </a:effectLst>
        </p:spPr>
        <p:txBody>
          <a:bodyPr lIns="18000" tIns="55562" rIns="18000" bIns="55562" anchor="ctr"/>
          <a:lstStyle/>
          <a:p>
            <a:pPr algn="ctr" defTabSz="1316038" eaLnBrk="0" hangingPunct="0">
              <a:spcBef>
                <a:spcPct val="50000"/>
              </a:spcBef>
            </a:pPr>
            <a:r>
              <a:rPr lang="en-GB" sz="1200" b="1" dirty="0">
                <a:solidFill>
                  <a:schemeClr val="tx2"/>
                </a:solidFill>
              </a:rPr>
              <a:t>% P/T</a:t>
            </a:r>
          </a:p>
          <a:p>
            <a:pPr algn="ctr" defTabSz="1316038" eaLnBrk="0" hangingPunct="0">
              <a:spcBef>
                <a:spcPct val="50000"/>
              </a:spcBef>
            </a:pPr>
            <a:r>
              <a:rPr lang="en-GB" sz="1200" b="1" dirty="0">
                <a:solidFill>
                  <a:schemeClr val="tx2"/>
                </a:solidFill>
              </a:rPr>
              <a:t>% tolerance</a:t>
            </a:r>
            <a:endParaRPr lang="sl-SI" sz="800" b="1" dirty="0">
              <a:solidFill>
                <a:schemeClr val="tx2"/>
              </a:solidFill>
            </a:endParaRPr>
          </a:p>
        </p:txBody>
      </p:sp>
      <p:sp>
        <p:nvSpPr>
          <p:cNvPr id="31760" name="Rectangle 17"/>
          <p:cNvSpPr>
            <a:spLocks noChangeArrowheads="1"/>
          </p:cNvSpPr>
          <p:nvPr/>
        </p:nvSpPr>
        <p:spPr bwMode="auto">
          <a:xfrm>
            <a:off x="4762500" y="5892800"/>
            <a:ext cx="1390650" cy="576263"/>
          </a:xfrm>
          <a:prstGeom prst="rect">
            <a:avLst/>
          </a:prstGeom>
          <a:solidFill>
            <a:schemeClr val="bg1"/>
          </a:solidFill>
          <a:ln w="12699">
            <a:solidFill>
              <a:schemeClr val="tx2"/>
            </a:solidFill>
            <a:miter lim="800000"/>
            <a:headEnd/>
            <a:tailEnd/>
          </a:ln>
          <a:effectLst>
            <a:outerShdw dist="107763" dir="2700000" algn="ctr" rotWithShape="0">
              <a:schemeClr val="bg2">
                <a:alpha val="50000"/>
              </a:schemeClr>
            </a:outerShdw>
          </a:effectLst>
        </p:spPr>
        <p:txBody>
          <a:bodyPr lIns="18000" tIns="55562" rIns="18000" bIns="55562" anchor="ctr"/>
          <a:lstStyle/>
          <a:p>
            <a:pPr algn="ctr" defTabSz="1316038" eaLnBrk="0" hangingPunct="0">
              <a:spcBef>
                <a:spcPct val="50000"/>
              </a:spcBef>
            </a:pPr>
            <a:r>
              <a:rPr lang="en-GB" sz="1200" b="1" dirty="0">
                <a:solidFill>
                  <a:schemeClr val="tx2"/>
                </a:solidFill>
              </a:rPr>
              <a:t>% prispevka</a:t>
            </a:r>
          </a:p>
        </p:txBody>
      </p:sp>
      <p:sp>
        <p:nvSpPr>
          <p:cNvPr id="31761" name="Rectangle 18"/>
          <p:cNvSpPr>
            <a:spLocks noChangeArrowheads="1"/>
          </p:cNvSpPr>
          <p:nvPr/>
        </p:nvSpPr>
        <p:spPr bwMode="auto">
          <a:xfrm>
            <a:off x="6223000" y="5892800"/>
            <a:ext cx="1625600" cy="576263"/>
          </a:xfrm>
          <a:prstGeom prst="rect">
            <a:avLst/>
          </a:prstGeom>
          <a:solidFill>
            <a:schemeClr val="bg1"/>
          </a:solidFill>
          <a:ln w="12700">
            <a:solidFill>
              <a:schemeClr val="tx2"/>
            </a:solidFill>
            <a:miter lim="800000"/>
            <a:headEnd/>
            <a:tailEnd/>
          </a:ln>
          <a:effectLst>
            <a:outerShdw dist="107763" dir="2700000" algn="ctr" rotWithShape="0">
              <a:schemeClr val="bg2">
                <a:alpha val="50000"/>
              </a:schemeClr>
            </a:outerShdw>
          </a:effectLst>
        </p:spPr>
        <p:txBody>
          <a:bodyPr lIns="18000" tIns="55562" rIns="18000" bIns="55562" anchor="ctr"/>
          <a:lstStyle/>
          <a:p>
            <a:pPr algn="ctr" defTabSz="1316038" eaLnBrk="0" hangingPunct="0">
              <a:spcBef>
                <a:spcPct val="50000"/>
              </a:spcBef>
            </a:pPr>
            <a:r>
              <a:rPr lang="en-US" sz="1200" b="1" dirty="0">
                <a:solidFill>
                  <a:schemeClr val="tx2"/>
                </a:solidFill>
              </a:rPr>
              <a:t>št. ločenih kategorij</a:t>
            </a:r>
            <a:endParaRPr lang="sl-SI" sz="800" b="1" dirty="0">
              <a:solidFill>
                <a:schemeClr val="tx2"/>
              </a:solidFill>
            </a:endParaRPr>
          </a:p>
        </p:txBody>
      </p:sp>
      <p:sp>
        <p:nvSpPr>
          <p:cNvPr id="31762" name="Text Box 19"/>
          <p:cNvSpPr txBox="1">
            <a:spLocks noChangeArrowheads="1"/>
          </p:cNvSpPr>
          <p:nvPr/>
        </p:nvSpPr>
        <p:spPr bwMode="auto">
          <a:xfrm>
            <a:off x="365125" y="5902325"/>
            <a:ext cx="1456745" cy="584775"/>
          </a:xfrm>
          <a:prstGeom prst="rect">
            <a:avLst/>
          </a:prstGeom>
          <a:noFill/>
          <a:ln w="9525">
            <a:noFill/>
            <a:miter lim="800000"/>
            <a:headEnd/>
            <a:tailEnd/>
          </a:ln>
        </p:spPr>
        <p:txBody>
          <a:bodyPr wrap="none">
            <a:spAutoFit/>
          </a:bodyPr>
          <a:lstStyle/>
          <a:p>
            <a:r>
              <a:rPr lang="en-GB" sz="1600" b="1"/>
              <a:t>Manjše vredn</a:t>
            </a:r>
            <a:r>
              <a:rPr lang="sl-SI" sz="1600" b="1"/>
              <a:t>.</a:t>
            </a:r>
            <a:endParaRPr lang="en-GB" sz="1600" b="1" dirty="0"/>
          </a:p>
          <a:p>
            <a:r>
              <a:rPr lang="en-GB" sz="1600" b="1" dirty="0"/>
              <a:t>so boljše</a:t>
            </a:r>
          </a:p>
        </p:txBody>
      </p:sp>
      <p:grpSp>
        <p:nvGrpSpPr>
          <p:cNvPr id="2" name="Groep 1"/>
          <p:cNvGrpSpPr/>
          <p:nvPr/>
        </p:nvGrpSpPr>
        <p:grpSpPr>
          <a:xfrm>
            <a:off x="1536700" y="2286000"/>
            <a:ext cx="6337300" cy="3241675"/>
            <a:chOff x="1536700" y="2286000"/>
            <a:chExt cx="6337300" cy="3241675"/>
          </a:xfrm>
        </p:grpSpPr>
        <p:sp>
          <p:nvSpPr>
            <p:cNvPr id="31768" name="Rectangle 3"/>
            <p:cNvSpPr>
              <a:spLocks noChangeArrowheads="1"/>
            </p:cNvSpPr>
            <p:nvPr/>
          </p:nvSpPr>
          <p:spPr bwMode="auto">
            <a:xfrm>
              <a:off x="1536700" y="3788958"/>
              <a:ext cx="6337300" cy="1738717"/>
            </a:xfrm>
            <a:prstGeom prst="rect">
              <a:avLst/>
            </a:prstGeom>
            <a:gradFill rotWithShape="1">
              <a:gsLst>
                <a:gs pos="0">
                  <a:srgbClr val="FFCC00"/>
                </a:gs>
                <a:gs pos="100000">
                  <a:schemeClr val="accent3">
                    <a:lumMod val="50000"/>
                  </a:schemeClr>
                </a:gs>
              </a:gsLst>
              <a:lin ang="5400000" scaled="1"/>
            </a:gradFill>
            <a:ln w="9525">
              <a:noFill/>
              <a:miter lim="800000"/>
              <a:headEnd/>
              <a:tailEnd/>
            </a:ln>
          </p:spPr>
          <p:txBody>
            <a:bodyPr wrap="none" anchor="ctr"/>
            <a:lstStyle/>
            <a:p>
              <a:endParaRPr lang="en-GB" dirty="0"/>
            </a:p>
          </p:txBody>
        </p:sp>
        <p:sp>
          <p:nvSpPr>
            <p:cNvPr id="31769" name="Rectangle 4"/>
            <p:cNvSpPr>
              <a:spLocks noChangeArrowheads="1"/>
            </p:cNvSpPr>
            <p:nvPr/>
          </p:nvSpPr>
          <p:spPr bwMode="auto">
            <a:xfrm>
              <a:off x="1536700" y="2286000"/>
              <a:ext cx="6337300" cy="1679777"/>
            </a:xfrm>
            <a:prstGeom prst="rect">
              <a:avLst/>
            </a:prstGeom>
            <a:gradFill rotWithShape="1">
              <a:gsLst>
                <a:gs pos="0">
                  <a:srgbClr val="F40000"/>
                </a:gs>
                <a:gs pos="100000">
                  <a:srgbClr val="FFCC00"/>
                </a:gs>
              </a:gsLst>
              <a:lin ang="5400000" scaled="1"/>
            </a:gradFill>
            <a:ln w="9525">
              <a:noFill/>
              <a:miter lim="800000"/>
              <a:headEnd/>
              <a:tailEnd/>
            </a:ln>
          </p:spPr>
          <p:txBody>
            <a:bodyPr wrap="none" anchor="ctr"/>
            <a:lstStyle/>
            <a:p>
              <a:endParaRPr lang="en-GB" dirty="0"/>
            </a:p>
          </p:txBody>
        </p:sp>
        <p:sp>
          <p:nvSpPr>
            <p:cNvPr id="31748" name="Line 5"/>
            <p:cNvSpPr>
              <a:spLocks noChangeShapeType="1"/>
            </p:cNvSpPr>
            <p:nvPr/>
          </p:nvSpPr>
          <p:spPr bwMode="auto">
            <a:xfrm>
              <a:off x="1862138" y="4751388"/>
              <a:ext cx="5637212" cy="0"/>
            </a:xfrm>
            <a:prstGeom prst="line">
              <a:avLst/>
            </a:prstGeom>
            <a:noFill/>
            <a:ln w="50799">
              <a:solidFill>
                <a:schemeClr val="folHlink"/>
              </a:solidFill>
              <a:round/>
              <a:headEnd/>
              <a:tailEnd/>
            </a:ln>
          </p:spPr>
          <p:txBody>
            <a:bodyPr wrap="none" anchor="ctr"/>
            <a:lstStyle/>
            <a:p>
              <a:endParaRPr lang="nl-NL" dirty="0"/>
            </a:p>
          </p:txBody>
        </p:sp>
        <p:sp>
          <p:nvSpPr>
            <p:cNvPr id="31749" name="Line 6"/>
            <p:cNvSpPr>
              <a:spLocks noChangeShapeType="1"/>
            </p:cNvSpPr>
            <p:nvPr/>
          </p:nvSpPr>
          <p:spPr bwMode="auto">
            <a:xfrm>
              <a:off x="1862138" y="3140075"/>
              <a:ext cx="5611812" cy="0"/>
            </a:xfrm>
            <a:prstGeom prst="line">
              <a:avLst/>
            </a:prstGeom>
            <a:noFill/>
            <a:ln w="50799">
              <a:solidFill>
                <a:srgbClr val="F40000"/>
              </a:solidFill>
              <a:round/>
              <a:headEnd/>
              <a:tailEnd/>
            </a:ln>
          </p:spPr>
          <p:txBody>
            <a:bodyPr wrap="none" anchor="ctr"/>
            <a:lstStyle/>
            <a:p>
              <a:endParaRPr lang="nl-NL" dirty="0"/>
            </a:p>
          </p:txBody>
        </p:sp>
        <p:sp>
          <p:nvSpPr>
            <p:cNvPr id="31750" name="Rectangle 7"/>
            <p:cNvSpPr>
              <a:spLocks noChangeArrowheads="1"/>
            </p:cNvSpPr>
            <p:nvPr/>
          </p:nvSpPr>
          <p:spPr bwMode="auto">
            <a:xfrm>
              <a:off x="2184400" y="4556125"/>
              <a:ext cx="792163" cy="390525"/>
            </a:xfrm>
            <a:prstGeom prst="rect">
              <a:avLst/>
            </a:prstGeom>
            <a:solidFill>
              <a:schemeClr val="bg1"/>
            </a:solidFill>
            <a:ln w="12699">
              <a:solidFill>
                <a:schemeClr val="tx2"/>
              </a:solidFill>
              <a:miter lim="800000"/>
              <a:headEnd/>
              <a:tailEnd/>
            </a:ln>
            <a:effectLst>
              <a:outerShdw dist="53882" dir="2700000" algn="ctr" rotWithShape="0">
                <a:schemeClr val="bg2"/>
              </a:outerShdw>
            </a:effectLst>
          </p:spPr>
          <p:txBody>
            <a:bodyPr lIns="87312" tIns="44450" rIns="87312" bIns="44450">
              <a:spAutoFit/>
            </a:bodyPr>
            <a:lstStyle/>
            <a:p>
              <a:pPr algn="ctr" defTabSz="844550" eaLnBrk="0" hangingPunct="0"/>
              <a:r>
                <a:rPr lang="nl-NL" sz="1900" b="1" dirty="0"/>
                <a:t>10%</a:t>
              </a:r>
            </a:p>
          </p:txBody>
        </p:sp>
        <p:sp>
          <p:nvSpPr>
            <p:cNvPr id="31751" name="Rectangle 8"/>
            <p:cNvSpPr>
              <a:spLocks noChangeArrowheads="1"/>
            </p:cNvSpPr>
            <p:nvPr/>
          </p:nvSpPr>
          <p:spPr bwMode="auto">
            <a:xfrm>
              <a:off x="5162550" y="4556125"/>
              <a:ext cx="704850" cy="390525"/>
            </a:xfrm>
            <a:prstGeom prst="rect">
              <a:avLst/>
            </a:prstGeom>
            <a:solidFill>
              <a:schemeClr val="bg1"/>
            </a:solidFill>
            <a:ln w="12699">
              <a:solidFill>
                <a:schemeClr val="tx2"/>
              </a:solidFill>
              <a:miter lim="800000"/>
              <a:headEnd/>
              <a:tailEnd/>
            </a:ln>
            <a:effectLst>
              <a:outerShdw dist="53882" dir="2700000" algn="ctr" rotWithShape="0">
                <a:schemeClr val="bg2"/>
              </a:outerShdw>
            </a:effectLst>
          </p:spPr>
          <p:txBody>
            <a:bodyPr lIns="87312" tIns="44450" rIns="87312" bIns="44450">
              <a:spAutoFit/>
            </a:bodyPr>
            <a:lstStyle/>
            <a:p>
              <a:pPr algn="ctr" defTabSz="844550" eaLnBrk="0" hangingPunct="0"/>
              <a:r>
                <a:rPr lang="nl-NL" sz="1900" b="1" dirty="0"/>
                <a:t>1%</a:t>
              </a:r>
            </a:p>
          </p:txBody>
        </p:sp>
        <p:sp>
          <p:nvSpPr>
            <p:cNvPr id="31752" name="Rectangle 9"/>
            <p:cNvSpPr>
              <a:spLocks noChangeArrowheads="1"/>
            </p:cNvSpPr>
            <p:nvPr/>
          </p:nvSpPr>
          <p:spPr bwMode="auto">
            <a:xfrm>
              <a:off x="6680200" y="4556125"/>
              <a:ext cx="469900" cy="390525"/>
            </a:xfrm>
            <a:prstGeom prst="rect">
              <a:avLst/>
            </a:prstGeom>
            <a:solidFill>
              <a:schemeClr val="bg1"/>
            </a:solidFill>
            <a:ln w="12699">
              <a:solidFill>
                <a:schemeClr val="tx2"/>
              </a:solidFill>
              <a:miter lim="800000"/>
              <a:headEnd/>
              <a:tailEnd/>
            </a:ln>
            <a:effectLst>
              <a:outerShdw dist="53882" dir="2700000" algn="ctr" rotWithShape="0">
                <a:schemeClr val="bg2"/>
              </a:outerShdw>
            </a:effectLst>
          </p:spPr>
          <p:txBody>
            <a:bodyPr lIns="87312" tIns="44450" rIns="87312" bIns="44450">
              <a:spAutoFit/>
            </a:bodyPr>
            <a:lstStyle/>
            <a:p>
              <a:pPr algn="ctr" defTabSz="844550" eaLnBrk="0" hangingPunct="0"/>
              <a:r>
                <a:rPr lang="nl-NL" sz="1900" b="1" dirty="0"/>
                <a:t>10</a:t>
              </a:r>
            </a:p>
          </p:txBody>
        </p:sp>
        <p:sp>
          <p:nvSpPr>
            <p:cNvPr id="31753" name="Rectangle 10"/>
            <p:cNvSpPr>
              <a:spLocks noChangeArrowheads="1"/>
            </p:cNvSpPr>
            <p:nvPr/>
          </p:nvSpPr>
          <p:spPr bwMode="auto">
            <a:xfrm>
              <a:off x="2244725" y="2944813"/>
              <a:ext cx="671513" cy="390525"/>
            </a:xfrm>
            <a:prstGeom prst="rect">
              <a:avLst/>
            </a:prstGeom>
            <a:solidFill>
              <a:schemeClr val="bg1"/>
            </a:solidFill>
            <a:ln w="12699">
              <a:solidFill>
                <a:schemeClr val="tx2"/>
              </a:solidFill>
              <a:miter lim="800000"/>
              <a:headEnd/>
              <a:tailEnd/>
            </a:ln>
            <a:effectLst>
              <a:outerShdw dist="53882" dir="2700000" algn="ctr" rotWithShape="0">
                <a:schemeClr val="bg2"/>
              </a:outerShdw>
            </a:effectLst>
          </p:spPr>
          <p:txBody>
            <a:bodyPr wrap="none" lIns="87312" tIns="44450" rIns="87312" bIns="44450">
              <a:spAutoFit/>
            </a:bodyPr>
            <a:lstStyle/>
            <a:p>
              <a:pPr algn="ctr" defTabSz="844550" eaLnBrk="0" hangingPunct="0"/>
              <a:r>
                <a:rPr lang="nl-NL" sz="1900" b="1" dirty="0"/>
                <a:t>30%</a:t>
              </a:r>
            </a:p>
          </p:txBody>
        </p:sp>
        <p:sp>
          <p:nvSpPr>
            <p:cNvPr id="31754" name="Rectangle 11"/>
            <p:cNvSpPr>
              <a:spLocks noChangeArrowheads="1"/>
            </p:cNvSpPr>
            <p:nvPr/>
          </p:nvSpPr>
          <p:spPr bwMode="auto">
            <a:xfrm>
              <a:off x="3673475" y="2944813"/>
              <a:ext cx="671513" cy="390525"/>
            </a:xfrm>
            <a:prstGeom prst="rect">
              <a:avLst/>
            </a:prstGeom>
            <a:solidFill>
              <a:schemeClr val="bg1"/>
            </a:solidFill>
            <a:ln w="12699">
              <a:solidFill>
                <a:schemeClr val="tx2"/>
              </a:solidFill>
              <a:miter lim="800000"/>
              <a:headEnd/>
              <a:tailEnd/>
            </a:ln>
            <a:effectLst>
              <a:outerShdw dist="53882" dir="2700000" algn="ctr" rotWithShape="0">
                <a:schemeClr val="bg2"/>
              </a:outerShdw>
            </a:effectLst>
          </p:spPr>
          <p:txBody>
            <a:bodyPr wrap="none" lIns="87312" tIns="44450" rIns="87312" bIns="44450">
              <a:spAutoFit/>
            </a:bodyPr>
            <a:lstStyle/>
            <a:p>
              <a:pPr algn="ctr" defTabSz="844550" eaLnBrk="0" hangingPunct="0"/>
              <a:r>
                <a:rPr lang="nl-NL" sz="1900" b="1" dirty="0"/>
                <a:t>30%</a:t>
              </a:r>
            </a:p>
          </p:txBody>
        </p:sp>
        <p:sp>
          <p:nvSpPr>
            <p:cNvPr id="31755" name="Rectangle 12"/>
            <p:cNvSpPr>
              <a:spLocks noChangeArrowheads="1"/>
            </p:cNvSpPr>
            <p:nvPr/>
          </p:nvSpPr>
          <p:spPr bwMode="auto">
            <a:xfrm>
              <a:off x="6680200" y="2944813"/>
              <a:ext cx="469900" cy="390525"/>
            </a:xfrm>
            <a:prstGeom prst="rect">
              <a:avLst/>
            </a:prstGeom>
            <a:solidFill>
              <a:schemeClr val="bg1"/>
            </a:solidFill>
            <a:ln w="12699">
              <a:solidFill>
                <a:schemeClr val="tx2"/>
              </a:solidFill>
              <a:miter lim="800000"/>
              <a:headEnd/>
              <a:tailEnd/>
            </a:ln>
            <a:effectLst>
              <a:outerShdw dist="53882" dir="2700000" algn="ctr" rotWithShape="0">
                <a:schemeClr val="bg2"/>
              </a:outerShdw>
            </a:effectLst>
          </p:spPr>
          <p:txBody>
            <a:bodyPr lIns="87312" tIns="44450" rIns="87312" bIns="44450">
              <a:spAutoFit/>
            </a:bodyPr>
            <a:lstStyle/>
            <a:p>
              <a:pPr algn="ctr" defTabSz="844550" eaLnBrk="0" hangingPunct="0"/>
              <a:r>
                <a:rPr lang="nl-NL" sz="1900" b="1" dirty="0"/>
                <a:t>5</a:t>
              </a:r>
              <a:endParaRPr lang="sl-SI" sz="1900" b="1" dirty="0"/>
            </a:p>
          </p:txBody>
        </p:sp>
        <p:sp>
          <p:nvSpPr>
            <p:cNvPr id="31756" name="Rectangle 13"/>
            <p:cNvSpPr>
              <a:spLocks noChangeArrowheads="1"/>
            </p:cNvSpPr>
            <p:nvPr/>
          </p:nvSpPr>
          <p:spPr bwMode="auto">
            <a:xfrm>
              <a:off x="5140325" y="2944813"/>
              <a:ext cx="671513" cy="390525"/>
            </a:xfrm>
            <a:prstGeom prst="rect">
              <a:avLst/>
            </a:prstGeom>
            <a:solidFill>
              <a:schemeClr val="bg1"/>
            </a:solidFill>
            <a:ln w="12699">
              <a:solidFill>
                <a:schemeClr val="tx2"/>
              </a:solidFill>
              <a:miter lim="800000"/>
              <a:headEnd/>
              <a:tailEnd/>
            </a:ln>
            <a:effectLst>
              <a:outerShdw dist="53882" dir="2700000" algn="ctr" rotWithShape="0">
                <a:schemeClr val="bg2"/>
              </a:outerShdw>
            </a:effectLst>
          </p:spPr>
          <p:txBody>
            <a:bodyPr wrap="none" lIns="87312" tIns="44450" rIns="87312" bIns="44450">
              <a:spAutoFit/>
            </a:bodyPr>
            <a:lstStyle/>
            <a:p>
              <a:pPr algn="ctr" defTabSz="844550" eaLnBrk="0" hangingPunct="0"/>
              <a:r>
                <a:rPr lang="nl-NL" sz="1900" b="1" dirty="0"/>
                <a:t>10%</a:t>
              </a:r>
            </a:p>
          </p:txBody>
        </p:sp>
        <p:sp>
          <p:nvSpPr>
            <p:cNvPr id="31758" name="Rectangle 15"/>
            <p:cNvSpPr>
              <a:spLocks noChangeArrowheads="1"/>
            </p:cNvSpPr>
            <p:nvPr/>
          </p:nvSpPr>
          <p:spPr bwMode="auto">
            <a:xfrm>
              <a:off x="3673475" y="4557713"/>
              <a:ext cx="671513" cy="390525"/>
            </a:xfrm>
            <a:prstGeom prst="rect">
              <a:avLst/>
            </a:prstGeom>
            <a:solidFill>
              <a:schemeClr val="bg1"/>
            </a:solidFill>
            <a:ln w="12699">
              <a:solidFill>
                <a:schemeClr val="tx2"/>
              </a:solidFill>
              <a:miter lim="800000"/>
              <a:headEnd/>
              <a:tailEnd/>
            </a:ln>
            <a:effectLst>
              <a:outerShdw dist="53882" dir="2700000" algn="ctr" rotWithShape="0">
                <a:schemeClr val="bg2"/>
              </a:outerShdw>
            </a:effectLst>
          </p:spPr>
          <p:txBody>
            <a:bodyPr wrap="none" lIns="87312" tIns="44450" rIns="87312" bIns="44450">
              <a:spAutoFit/>
            </a:bodyPr>
            <a:lstStyle/>
            <a:p>
              <a:pPr algn="ctr" defTabSz="844550" eaLnBrk="0" hangingPunct="0"/>
              <a:r>
                <a:rPr lang="nl-NL" sz="1900" b="1" dirty="0"/>
                <a:t>10%</a:t>
              </a:r>
            </a:p>
          </p:txBody>
        </p:sp>
        <p:sp>
          <p:nvSpPr>
            <p:cNvPr id="31763" name="Text Box 20"/>
            <p:cNvSpPr txBox="1">
              <a:spLocks noChangeArrowheads="1"/>
            </p:cNvSpPr>
            <p:nvPr/>
          </p:nvSpPr>
          <p:spPr bwMode="auto">
            <a:xfrm>
              <a:off x="4459288" y="5029200"/>
              <a:ext cx="623887" cy="336550"/>
            </a:xfrm>
            <a:prstGeom prst="rect">
              <a:avLst/>
            </a:prstGeom>
            <a:noFill/>
            <a:ln w="9525">
              <a:noFill/>
              <a:miter lim="800000"/>
              <a:headEnd/>
              <a:tailEnd/>
            </a:ln>
          </p:spPr>
          <p:txBody>
            <a:bodyPr wrap="none">
              <a:spAutoFit/>
            </a:bodyPr>
            <a:lstStyle/>
            <a:p>
              <a:pPr algn="ctr"/>
              <a:r>
                <a:rPr lang="en-GB" sz="1600" dirty="0"/>
                <a:t>Idealno</a:t>
              </a:r>
            </a:p>
          </p:txBody>
        </p:sp>
        <p:sp>
          <p:nvSpPr>
            <p:cNvPr id="31764" name="Text Box 21"/>
            <p:cNvSpPr txBox="1">
              <a:spLocks noChangeArrowheads="1"/>
            </p:cNvSpPr>
            <p:nvPr/>
          </p:nvSpPr>
          <p:spPr bwMode="auto">
            <a:xfrm>
              <a:off x="4306888" y="3406775"/>
              <a:ext cx="962025" cy="336550"/>
            </a:xfrm>
            <a:prstGeom prst="rect">
              <a:avLst/>
            </a:prstGeom>
            <a:noFill/>
            <a:ln w="9525">
              <a:noFill/>
              <a:miter lim="800000"/>
              <a:headEnd/>
              <a:tailEnd/>
            </a:ln>
          </p:spPr>
          <p:txBody>
            <a:bodyPr wrap="none">
              <a:spAutoFit/>
            </a:bodyPr>
            <a:lstStyle/>
            <a:p>
              <a:pPr algn="ctr"/>
              <a:r>
                <a:rPr lang="en-GB" sz="1600" dirty="0"/>
                <a:t>Mejno</a:t>
              </a:r>
            </a:p>
          </p:txBody>
        </p:sp>
        <p:sp>
          <p:nvSpPr>
            <p:cNvPr id="31765" name="Text Box 22"/>
            <p:cNvSpPr txBox="1">
              <a:spLocks noChangeArrowheads="1"/>
            </p:cNvSpPr>
            <p:nvPr/>
          </p:nvSpPr>
          <p:spPr bwMode="auto">
            <a:xfrm>
              <a:off x="4506913" y="2492375"/>
              <a:ext cx="547687" cy="338138"/>
            </a:xfrm>
            <a:prstGeom prst="rect">
              <a:avLst/>
            </a:prstGeom>
            <a:noFill/>
            <a:ln w="9525">
              <a:noFill/>
              <a:miter lim="800000"/>
              <a:headEnd/>
              <a:tailEnd/>
            </a:ln>
          </p:spPr>
          <p:txBody>
            <a:bodyPr wrap="none">
              <a:spAutoFit/>
            </a:bodyPr>
            <a:lstStyle/>
            <a:p>
              <a:pPr algn="ctr"/>
              <a:r>
                <a:rPr lang="en-GB" sz="1600" dirty="0"/>
                <a:t>Slabo</a:t>
              </a:r>
            </a:p>
          </p:txBody>
        </p:sp>
        <p:sp>
          <p:nvSpPr>
            <p:cNvPr id="31766" name="Text Box 23"/>
            <p:cNvSpPr txBox="1">
              <a:spLocks noChangeArrowheads="1"/>
            </p:cNvSpPr>
            <p:nvPr/>
          </p:nvSpPr>
          <p:spPr bwMode="auto">
            <a:xfrm>
              <a:off x="4197350" y="4187825"/>
              <a:ext cx="1187450" cy="336550"/>
            </a:xfrm>
            <a:prstGeom prst="rect">
              <a:avLst/>
            </a:prstGeom>
            <a:noFill/>
            <a:ln w="9525">
              <a:noFill/>
              <a:miter lim="800000"/>
              <a:headEnd/>
              <a:tailEnd/>
            </a:ln>
          </p:spPr>
          <p:txBody>
            <a:bodyPr wrap="none">
              <a:spAutoFit/>
            </a:bodyPr>
            <a:lstStyle/>
            <a:p>
              <a:pPr algn="ctr"/>
              <a:r>
                <a:rPr lang="en-GB" sz="1600" dirty="0"/>
                <a:t>Sprejemljivo</a:t>
              </a:r>
            </a:p>
          </p:txBody>
        </p:sp>
      </p:grpSp>
      <p:sp>
        <p:nvSpPr>
          <p:cNvPr id="31767" name="Titel 25"/>
          <p:cNvSpPr>
            <a:spLocks noGrp="1"/>
          </p:cNvSpPr>
          <p:nvPr>
            <p:ph type="title"/>
          </p:nvPr>
        </p:nvSpPr>
        <p:spPr/>
        <p:txBody>
          <a:bodyPr/>
          <a:lstStyle/>
          <a:p>
            <a:r>
              <a:rPr lang="en-GB" noProof="0" dirty="0">
                <a:latin typeface="Arial" charset="0"/>
              </a:rPr>
              <a:t>Analiza merilnega sistema</a:t>
            </a:r>
          </a:p>
        </p:txBody>
      </p:sp>
    </p:spTree>
    <p:extLst>
      <p:ext uri="{BB962C8B-B14F-4D97-AF65-F5344CB8AC3E}">
        <p14:creationId xmlns:p14="http://schemas.microsoft.com/office/powerpoint/2010/main" val="270841770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sl-SI" dirty="0"/>
              <a:t>Povzetek</a:t>
            </a:r>
            <a:endParaRPr lang="en-GB" dirty="0"/>
          </a:p>
        </p:txBody>
      </p:sp>
      <p:sp>
        <p:nvSpPr>
          <p:cNvPr id="3" name="Inhaltsplatzhalter 2"/>
          <p:cNvSpPr>
            <a:spLocks noGrp="1"/>
          </p:cNvSpPr>
          <p:nvPr>
            <p:ph idx="1"/>
          </p:nvPr>
        </p:nvSpPr>
        <p:spPr/>
        <p:txBody>
          <a:bodyPr>
            <a:normAutofit/>
          </a:bodyPr>
          <a:lstStyle/>
          <a:p>
            <a:pPr>
              <a:buFont typeface="Arial" pitchFamily="34" charset="0"/>
              <a:buChar char="•"/>
            </a:pPr>
            <a:r>
              <a:rPr lang="en-US" sz="2800" b="0" dirty="0"/>
              <a:t>Six Sigma </a:t>
            </a:r>
            <a:r>
              <a:rPr lang="sl-SI" sz="2800" b="0" dirty="0"/>
              <a:t>uporablja veliko kvantitativnih indikatorjev za merjenje in primerjavo zmogljivosti procesa. </a:t>
            </a:r>
            <a:r>
              <a:rPr lang="en-US" sz="2800" b="0" dirty="0"/>
              <a:t> </a:t>
            </a:r>
          </a:p>
          <a:p>
            <a:pPr>
              <a:buFont typeface="Arial" pitchFamily="34" charset="0"/>
              <a:buChar char="•"/>
            </a:pPr>
            <a:r>
              <a:rPr lang="sl-SI" sz="2800" b="0" dirty="0"/>
              <a:t>Med pogosto uporabljene indikatorje spadajo </a:t>
            </a:r>
            <a:r>
              <a:rPr lang="en-US" sz="2800" b="0" dirty="0"/>
              <a:t>PPM, DPMO, </a:t>
            </a:r>
            <a:r>
              <a:rPr lang="sl-SI" sz="2800" b="0" dirty="0"/>
              <a:t>izkoristek</a:t>
            </a:r>
            <a:r>
              <a:rPr lang="en-US" sz="2800" b="0" dirty="0"/>
              <a:t>, </a:t>
            </a:r>
            <a:r>
              <a:rPr lang="sl-SI" sz="2800" b="0" dirty="0"/>
              <a:t>..</a:t>
            </a:r>
            <a:r>
              <a:rPr lang="en-US" sz="2800" b="0" dirty="0"/>
              <a:t>. </a:t>
            </a:r>
          </a:p>
          <a:p>
            <a:pPr>
              <a:buFont typeface="Arial" pitchFamily="34" charset="0"/>
              <a:buChar char="•"/>
            </a:pPr>
            <a:r>
              <a:rPr lang="sl-SI" sz="2800" b="0" dirty="0"/>
              <a:t>Analiza merilnega sistema </a:t>
            </a:r>
            <a:r>
              <a:rPr lang="en-US" sz="2800" b="0" dirty="0"/>
              <a:t>(</a:t>
            </a:r>
            <a:r>
              <a:rPr lang="en-US" sz="2800" b="0" dirty="0" err="1"/>
              <a:t>MSA</a:t>
            </a:r>
            <a:r>
              <a:rPr lang="en-US" sz="2800" b="0" dirty="0"/>
              <a:t>) </a:t>
            </a:r>
            <a:r>
              <a:rPr lang="sl-SI" sz="2800" b="0" dirty="0"/>
              <a:t>skuša analizirati vpliv merilnega sistema na spremenljivost procesa. </a:t>
            </a:r>
            <a:r>
              <a:rPr lang="en-US" sz="2800" b="0" dirty="0"/>
              <a:t> </a:t>
            </a:r>
          </a:p>
          <a:p>
            <a:pPr>
              <a:buFont typeface="Arial" pitchFamily="34" charset="0"/>
              <a:buChar char="•"/>
            </a:pPr>
            <a:r>
              <a:rPr lang="sl-SI" sz="2800" b="0" dirty="0"/>
              <a:t>Ključni parametri </a:t>
            </a:r>
            <a:r>
              <a:rPr lang="sl-SI" sz="2800" b="0" dirty="0" err="1"/>
              <a:t>MSA</a:t>
            </a:r>
            <a:r>
              <a:rPr lang="sl-SI" sz="2800" b="0" dirty="0"/>
              <a:t> so točnost, natančnost, razločevanje, ponovljivost, …</a:t>
            </a:r>
            <a:r>
              <a:rPr lang="en-US" sz="2800" b="0" dirty="0"/>
              <a:t> </a:t>
            </a:r>
          </a:p>
          <a:p>
            <a:pPr>
              <a:buFont typeface="Arial" pitchFamily="34" charset="0"/>
              <a:buChar char="•"/>
            </a:pPr>
            <a:endParaRPr lang="en-US" sz="2800" b="0" dirty="0"/>
          </a:p>
        </p:txBody>
      </p:sp>
    </p:spTree>
    <p:extLst>
      <p:ext uri="{BB962C8B-B14F-4D97-AF65-F5344CB8AC3E}">
        <p14:creationId xmlns:p14="http://schemas.microsoft.com/office/powerpoint/2010/main" val="1566879933"/>
      </p:ext>
    </p:extLst>
  </p:cSld>
  <p:clrMapOvr>
    <a:masterClrMapping/>
  </p:clrMapOvr>
  <mc:AlternateContent xmlns:mc="http://schemas.openxmlformats.org/markup-compatibility/2006" xmlns:p14="http://schemas.microsoft.com/office/powerpoint/2010/main">
    <mc:Choice Requires="p14">
      <p:transition spd="slow" p14:dur="2000" advTm="10985"/>
    </mc:Choice>
    <mc:Fallback xmlns="">
      <p:transition spd="slow" advTm="1098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sl-SI" dirty="0">
                <a:latin typeface="Arial" charset="0"/>
              </a:rPr>
              <a:t>Avtorji</a:t>
            </a:r>
            <a:endParaRPr lang="sl-SI" dirty="0"/>
          </a:p>
        </p:txBody>
      </p:sp>
      <p:sp>
        <p:nvSpPr>
          <p:cNvPr id="5" name="Rectangle 3"/>
          <p:cNvSpPr txBox="1">
            <a:spLocks noChangeArrowheads="1"/>
          </p:cNvSpPr>
          <p:nvPr/>
        </p:nvSpPr>
        <p:spPr bwMode="auto">
          <a:xfrm>
            <a:off x="296863" y="1102048"/>
            <a:ext cx="8569325" cy="46804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spcBef>
                <a:spcPts val="0"/>
              </a:spcBef>
            </a:pPr>
            <a:r>
              <a:rPr lang="fr-FR" sz="1400" dirty="0">
                <a:latin typeface="Arial" pitchFamily="34" charset="0"/>
              </a:rPr>
              <a:t>To </a:t>
            </a:r>
            <a:r>
              <a:rPr lang="fr-FR" sz="1400" dirty="0" err="1">
                <a:latin typeface="Arial" pitchFamily="34" charset="0"/>
              </a:rPr>
              <a:t>učno</a:t>
            </a:r>
            <a:r>
              <a:rPr lang="fr-FR" sz="1400" dirty="0">
                <a:latin typeface="Arial" pitchFamily="34" charset="0"/>
              </a:rPr>
              <a:t> </a:t>
            </a:r>
            <a:r>
              <a:rPr lang="fr-FR" sz="1400" dirty="0" err="1">
                <a:latin typeface="Arial" pitchFamily="34" charset="0"/>
              </a:rPr>
              <a:t>gradivo</a:t>
            </a:r>
            <a:r>
              <a:rPr lang="fr-FR" sz="1400" dirty="0">
                <a:latin typeface="Arial" pitchFamily="34" charset="0"/>
              </a:rPr>
              <a:t> je </a:t>
            </a:r>
            <a:r>
              <a:rPr lang="fr-FR" sz="1400" dirty="0" err="1">
                <a:latin typeface="Arial" pitchFamily="34" charset="0"/>
              </a:rPr>
              <a:t>bilo</a:t>
            </a:r>
            <a:r>
              <a:rPr lang="fr-FR" sz="1400" dirty="0">
                <a:latin typeface="Arial" pitchFamily="34" charset="0"/>
              </a:rPr>
              <a:t> </a:t>
            </a:r>
            <a:r>
              <a:rPr lang="fr-FR" sz="1400" dirty="0" err="1">
                <a:latin typeface="Arial" pitchFamily="34" charset="0"/>
              </a:rPr>
              <a:t>certificirano</a:t>
            </a:r>
            <a:r>
              <a:rPr lang="fr-FR" sz="1400" dirty="0">
                <a:latin typeface="Arial" pitchFamily="34" charset="0"/>
              </a:rPr>
              <a:t> v </a:t>
            </a:r>
            <a:r>
              <a:rPr lang="fr-FR" sz="1400" dirty="0" err="1">
                <a:latin typeface="Arial" pitchFamily="34" charset="0"/>
              </a:rPr>
              <a:t>skladu</a:t>
            </a:r>
            <a:r>
              <a:rPr lang="fr-FR" sz="1400" dirty="0">
                <a:latin typeface="Arial" pitchFamily="34" charset="0"/>
              </a:rPr>
              <a:t> s </a:t>
            </a:r>
            <a:r>
              <a:rPr lang="fr-FR" sz="1400" dirty="0" err="1">
                <a:latin typeface="Arial" pitchFamily="34" charset="0"/>
              </a:rPr>
              <a:t>pravili</a:t>
            </a:r>
            <a:r>
              <a:rPr lang="fr-FR" sz="1400" dirty="0">
                <a:latin typeface="Arial" pitchFamily="34" charset="0"/>
              </a:rPr>
              <a:t> </a:t>
            </a:r>
            <a:r>
              <a:rPr lang="fr-FR" sz="1400" b="1" dirty="0">
                <a:latin typeface="Arial" pitchFamily="34" charset="0"/>
              </a:rPr>
              <a:t>ECQA – </a:t>
            </a:r>
            <a:r>
              <a:rPr lang="fr-FR" sz="1400" b="1" dirty="0" err="1">
                <a:latin typeface="Arial" pitchFamily="34" charset="0"/>
              </a:rPr>
              <a:t>Evropskega</a:t>
            </a:r>
            <a:r>
              <a:rPr lang="fr-FR" sz="1400" b="1" dirty="0">
                <a:latin typeface="Arial" pitchFamily="34" charset="0"/>
              </a:rPr>
              <a:t> </a:t>
            </a:r>
            <a:r>
              <a:rPr lang="fr-FR" sz="1400" b="1" dirty="0" err="1">
                <a:latin typeface="Arial" pitchFamily="34" charset="0"/>
              </a:rPr>
              <a:t>združenja</a:t>
            </a:r>
            <a:r>
              <a:rPr lang="fr-FR" sz="1400" b="1" dirty="0">
                <a:latin typeface="Arial" pitchFamily="34" charset="0"/>
              </a:rPr>
              <a:t> </a:t>
            </a:r>
            <a:r>
              <a:rPr lang="fr-FR" sz="1400" b="1" dirty="0" err="1">
                <a:latin typeface="Arial" pitchFamily="34" charset="0"/>
              </a:rPr>
              <a:t>za</a:t>
            </a:r>
            <a:r>
              <a:rPr lang="fr-FR" sz="1400" b="1" dirty="0">
                <a:latin typeface="Arial" pitchFamily="34" charset="0"/>
              </a:rPr>
              <a:t> </a:t>
            </a:r>
            <a:r>
              <a:rPr lang="fr-FR" sz="1400" b="1" dirty="0" err="1">
                <a:latin typeface="Arial" pitchFamily="34" charset="0"/>
              </a:rPr>
              <a:t>certificiranje</a:t>
            </a:r>
            <a:r>
              <a:rPr lang="fr-FR" sz="1400" b="1" dirty="0">
                <a:latin typeface="Arial" pitchFamily="34" charset="0"/>
              </a:rPr>
              <a:t> in </a:t>
            </a:r>
            <a:r>
              <a:rPr lang="fr-FR" sz="1400" b="1" dirty="0" err="1">
                <a:latin typeface="Arial" pitchFamily="34" charset="0"/>
              </a:rPr>
              <a:t>kvalificiranje</a:t>
            </a:r>
            <a:r>
              <a:rPr lang="fr-FR" sz="1400" dirty="0">
                <a:latin typeface="Arial" pitchFamily="34" charset="0"/>
              </a:rPr>
              <a:t>.</a:t>
            </a:r>
          </a:p>
          <a:p>
            <a:pPr>
              <a:spcBef>
                <a:spcPts val="0"/>
              </a:spcBef>
            </a:pPr>
            <a:endParaRPr lang="fr-FR" sz="1400" b="1" dirty="0">
              <a:latin typeface="Arial" pitchFamily="34" charset="0"/>
              <a:cs typeface="Arial" pitchFamily="34" charset="0"/>
            </a:endParaRPr>
          </a:p>
          <a:p>
            <a:pPr>
              <a:spcBef>
                <a:spcPts val="0"/>
              </a:spcBef>
            </a:pPr>
            <a:r>
              <a:rPr lang="fr-FR" sz="1400" dirty="0" err="1">
                <a:latin typeface="Arial" pitchFamily="34" charset="0"/>
              </a:rPr>
              <a:t>Učno</a:t>
            </a:r>
            <a:r>
              <a:rPr lang="fr-FR" sz="1400" dirty="0">
                <a:latin typeface="Arial" pitchFamily="34" charset="0"/>
              </a:rPr>
              <a:t> </a:t>
            </a:r>
            <a:r>
              <a:rPr lang="fr-FR" sz="1400" dirty="0" err="1">
                <a:latin typeface="Arial" pitchFamily="34" charset="0"/>
              </a:rPr>
              <a:t>gradivo</a:t>
            </a:r>
            <a:r>
              <a:rPr lang="fr-FR" sz="1400" dirty="0">
                <a:latin typeface="Arial" pitchFamily="34" charset="0"/>
              </a:rPr>
              <a:t> je </a:t>
            </a:r>
            <a:r>
              <a:rPr lang="fr-FR" sz="1400" dirty="0" err="1">
                <a:latin typeface="Arial" pitchFamily="34" charset="0"/>
              </a:rPr>
              <a:t>bilo</a:t>
            </a:r>
            <a:r>
              <a:rPr lang="fr-FR" sz="1400" dirty="0">
                <a:latin typeface="Arial" pitchFamily="34" charset="0"/>
              </a:rPr>
              <a:t> </a:t>
            </a:r>
            <a:r>
              <a:rPr lang="fr-FR" sz="1400" dirty="0" err="1">
                <a:latin typeface="Arial" pitchFamily="34" charset="0"/>
              </a:rPr>
              <a:t>usklajeno</a:t>
            </a:r>
            <a:r>
              <a:rPr lang="fr-FR" sz="1400" dirty="0">
                <a:latin typeface="Arial" pitchFamily="34" charset="0"/>
              </a:rPr>
              <a:t> </a:t>
            </a:r>
            <a:r>
              <a:rPr lang="fr-FR" sz="1400" dirty="0" err="1">
                <a:latin typeface="Arial" pitchFamily="34" charset="0"/>
              </a:rPr>
              <a:t>med</a:t>
            </a:r>
            <a:r>
              <a:rPr lang="fr-FR" sz="1400" dirty="0">
                <a:latin typeface="Arial" pitchFamily="34" charset="0"/>
              </a:rPr>
              <a:t> </a:t>
            </a:r>
            <a:r>
              <a:rPr lang="fr-FR" sz="1400" dirty="0" err="1">
                <a:latin typeface="Arial" pitchFamily="34" charset="0"/>
              </a:rPr>
              <a:t>univerzami</a:t>
            </a:r>
            <a:r>
              <a:rPr lang="fr-FR" sz="1400" dirty="0">
                <a:latin typeface="Arial" pitchFamily="34" charset="0"/>
              </a:rPr>
              <a:t> in  </a:t>
            </a:r>
            <a:r>
              <a:rPr lang="fr-FR" sz="1400" dirty="0" err="1">
                <a:latin typeface="Arial" pitchFamily="34" charset="0"/>
              </a:rPr>
              <a:t>industrijo</a:t>
            </a:r>
            <a:r>
              <a:rPr lang="fr-FR" sz="1400" dirty="0">
                <a:latin typeface="Arial" pitchFamily="34" charset="0"/>
              </a:rPr>
              <a:t> v </a:t>
            </a:r>
            <a:r>
              <a:rPr lang="fr-FR" sz="1400" dirty="0" err="1">
                <a:latin typeface="Arial" pitchFamily="34" charset="0"/>
              </a:rPr>
              <a:t>okviru</a:t>
            </a:r>
            <a:r>
              <a:rPr lang="fr-FR" sz="1400" dirty="0">
                <a:latin typeface="Arial" pitchFamily="34" charset="0"/>
              </a:rPr>
              <a:t> </a:t>
            </a:r>
            <a:r>
              <a:rPr lang="fr-FR" sz="1400" dirty="0" err="1">
                <a:latin typeface="Arial" pitchFamily="34" charset="0"/>
              </a:rPr>
              <a:t>mednarodnega</a:t>
            </a:r>
            <a:r>
              <a:rPr lang="fr-FR" sz="1400" dirty="0">
                <a:latin typeface="Arial" pitchFamily="34" charset="0"/>
              </a:rPr>
              <a:t> </a:t>
            </a:r>
            <a:r>
              <a:rPr lang="fr-FR" sz="1400" dirty="0" err="1">
                <a:latin typeface="Arial" pitchFamily="34" charset="0"/>
              </a:rPr>
              <a:t>konzorcija</a:t>
            </a:r>
            <a:r>
              <a:rPr lang="fr-FR" sz="1400" dirty="0">
                <a:latin typeface="Arial" pitchFamily="34" charset="0"/>
              </a:rPr>
              <a:t> </a:t>
            </a:r>
            <a:r>
              <a:rPr lang="fr-FR" sz="1400" dirty="0" err="1">
                <a:latin typeface="Arial" pitchFamily="34" charset="0"/>
              </a:rPr>
              <a:t>projekta</a:t>
            </a:r>
            <a:r>
              <a:rPr lang="fr-FR" sz="1400" dirty="0">
                <a:latin typeface="Arial" pitchFamily="34" charset="0"/>
              </a:rPr>
              <a:t> </a:t>
            </a:r>
            <a:br>
              <a:rPr lang="fr-FR" sz="1400" dirty="0"/>
            </a:br>
            <a:r>
              <a:rPr lang="fr-FR" sz="1400" b="1" dirty="0">
                <a:latin typeface="Arial" pitchFamily="34" charset="0"/>
              </a:rPr>
              <a:t>“</a:t>
            </a:r>
            <a:r>
              <a:rPr lang="fr-FR" sz="1400" b="1" dirty="0">
                <a:solidFill>
                  <a:srgbClr val="000099"/>
                </a:solidFill>
                <a:latin typeface="Tw Cen MT" pitchFamily="34" charset="0"/>
              </a:rPr>
              <a:t>Automotive </a:t>
            </a:r>
            <a:r>
              <a:rPr lang="fr-FR" sz="1400" b="1" dirty="0" err="1">
                <a:solidFill>
                  <a:srgbClr val="000099"/>
                </a:solidFill>
                <a:latin typeface="Tw Cen MT" pitchFamily="34" charset="0"/>
              </a:rPr>
              <a:t>Quality</a:t>
            </a:r>
            <a:r>
              <a:rPr lang="fr-FR" sz="1400" b="1" dirty="0">
                <a:solidFill>
                  <a:srgbClr val="000099"/>
                </a:solidFill>
                <a:latin typeface="Tw Cen MT" pitchFamily="34" charset="0"/>
              </a:rPr>
              <a:t> </a:t>
            </a:r>
            <a:r>
              <a:rPr lang="fr-FR" sz="1400" b="1" dirty="0" err="1">
                <a:solidFill>
                  <a:srgbClr val="000099"/>
                </a:solidFill>
                <a:latin typeface="Tw Cen MT" pitchFamily="34" charset="0"/>
              </a:rPr>
              <a:t>Universities</a:t>
            </a:r>
            <a:r>
              <a:rPr lang="fr-FR" sz="1400" b="1" dirty="0">
                <a:solidFill>
                  <a:srgbClr val="000099"/>
                </a:solidFill>
                <a:latin typeface="Tw Cen MT" pitchFamily="34" charset="0"/>
              </a:rPr>
              <a:t> – </a:t>
            </a:r>
            <a:r>
              <a:rPr lang="fr-FR" sz="1400" b="1" dirty="0" err="1">
                <a:solidFill>
                  <a:srgbClr val="000099"/>
                </a:solidFill>
                <a:latin typeface="Tw Cen MT" pitchFamily="34" charset="0"/>
              </a:rPr>
              <a:t>AutoUniverse</a:t>
            </a:r>
            <a:r>
              <a:rPr lang="fr-FR" sz="1400" b="1" dirty="0">
                <a:solidFill>
                  <a:srgbClr val="000099"/>
                </a:solidFill>
                <a:latin typeface="Tw Cen MT" pitchFamily="34" charset="0"/>
              </a:rPr>
              <a:t> (AQU)</a:t>
            </a:r>
            <a:r>
              <a:rPr lang="fr-FR" sz="1400" b="1" dirty="0">
                <a:latin typeface="Arial" pitchFamily="34" charset="0"/>
              </a:rPr>
              <a:t>”:</a:t>
            </a:r>
          </a:p>
          <a:p>
            <a:pPr>
              <a:spcBef>
                <a:spcPts val="0"/>
              </a:spcBef>
            </a:pPr>
            <a:endParaRPr lang="fr-FR" sz="1400" dirty="0">
              <a:latin typeface="Arial" pitchFamily="34" charset="0"/>
              <a:cs typeface="Arial" pitchFamily="34" charset="0"/>
            </a:endParaRPr>
          </a:p>
          <a:p>
            <a:pPr>
              <a:spcBef>
                <a:spcPts val="0"/>
              </a:spcBef>
            </a:pPr>
            <a:r>
              <a:rPr lang="fr-FR" sz="1400" b="1" dirty="0">
                <a:latin typeface="Arial" pitchFamily="34" charset="0"/>
                <a:cs typeface="Arial" pitchFamily="34" charset="0"/>
              </a:rPr>
              <a:t>VSB – </a:t>
            </a:r>
            <a:r>
              <a:rPr lang="fr-FR" sz="1400" b="1" dirty="0" err="1">
                <a:latin typeface="Arial" pitchFamily="34" charset="0"/>
                <a:cs typeface="Arial" pitchFamily="34" charset="0"/>
              </a:rPr>
              <a:t>Technical</a:t>
            </a:r>
            <a:r>
              <a:rPr lang="fr-FR" sz="1400" b="1" dirty="0">
                <a:latin typeface="Arial" pitchFamily="34" charset="0"/>
                <a:cs typeface="Arial" pitchFamily="34" charset="0"/>
              </a:rPr>
              <a:t> </a:t>
            </a:r>
            <a:r>
              <a:rPr lang="fr-FR" sz="1400" b="1" dirty="0" err="1">
                <a:latin typeface="Arial" pitchFamily="34" charset="0"/>
                <a:cs typeface="Arial" pitchFamily="34" charset="0"/>
              </a:rPr>
              <a:t>University</a:t>
            </a:r>
            <a:r>
              <a:rPr lang="fr-FR" sz="1400" b="1" dirty="0">
                <a:latin typeface="Arial" pitchFamily="34" charset="0"/>
                <a:cs typeface="Arial" pitchFamily="34" charset="0"/>
              </a:rPr>
              <a:t> of Ostrava</a:t>
            </a:r>
            <a:r>
              <a:rPr lang="fr-FR" sz="1400" dirty="0">
                <a:latin typeface="Arial" pitchFamily="34" charset="0"/>
                <a:cs typeface="Arial" pitchFamily="34" charset="0"/>
              </a:rPr>
              <a:t>, </a:t>
            </a:r>
            <a:r>
              <a:rPr lang="fr-FR" sz="1400" dirty="0" err="1">
                <a:latin typeface="Arial" pitchFamily="34" charset="0"/>
                <a:cs typeface="Arial" pitchFamily="34" charset="0"/>
              </a:rPr>
              <a:t>Faculty</a:t>
            </a:r>
            <a:r>
              <a:rPr lang="fr-FR" sz="1400" dirty="0">
                <a:latin typeface="Arial" pitchFamily="34" charset="0"/>
                <a:cs typeface="Arial" pitchFamily="34" charset="0"/>
              </a:rPr>
              <a:t> of </a:t>
            </a:r>
            <a:r>
              <a:rPr lang="fr-FR" sz="1400" dirty="0" err="1">
                <a:latin typeface="Arial" pitchFamily="34" charset="0"/>
                <a:cs typeface="Arial" pitchFamily="34" charset="0"/>
              </a:rPr>
              <a:t>Electrical</a:t>
            </a:r>
            <a:r>
              <a:rPr lang="fr-FR" sz="1400" dirty="0">
                <a:latin typeface="Arial" pitchFamily="34" charset="0"/>
                <a:cs typeface="Arial" pitchFamily="34" charset="0"/>
              </a:rPr>
              <a:t> Engineering and Computer Science, </a:t>
            </a:r>
            <a:r>
              <a:rPr lang="fr-FR" sz="1400" dirty="0" err="1">
                <a:latin typeface="Arial" pitchFamily="34" charset="0"/>
                <a:cs typeface="Arial" pitchFamily="34" charset="0"/>
              </a:rPr>
              <a:t>Češka</a:t>
            </a:r>
            <a:r>
              <a:rPr lang="fr-FR" sz="1400" dirty="0">
                <a:latin typeface="Arial" pitchFamily="34" charset="0"/>
                <a:cs typeface="Arial" pitchFamily="34" charset="0"/>
              </a:rPr>
              <a:t>, www.fei.vsb.cz/en</a:t>
            </a:r>
          </a:p>
          <a:p>
            <a:pPr>
              <a:spcBef>
                <a:spcPts val="0"/>
              </a:spcBef>
            </a:pPr>
            <a:r>
              <a:rPr lang="fr-FR" sz="1400" b="1" dirty="0">
                <a:latin typeface="Arial" pitchFamily="34" charset="0"/>
                <a:cs typeface="Arial" pitchFamily="34" charset="0"/>
              </a:rPr>
              <a:t>Graz </a:t>
            </a:r>
            <a:r>
              <a:rPr lang="fr-FR" sz="1400" b="1" dirty="0" err="1">
                <a:latin typeface="Arial" pitchFamily="34" charset="0"/>
                <a:cs typeface="Arial" pitchFamily="34" charset="0"/>
              </a:rPr>
              <a:t>University</a:t>
            </a:r>
            <a:r>
              <a:rPr lang="fr-FR" sz="1400" b="1" dirty="0">
                <a:latin typeface="Arial" pitchFamily="34" charset="0"/>
                <a:cs typeface="Arial" pitchFamily="34" charset="0"/>
              </a:rPr>
              <a:t> of </a:t>
            </a:r>
            <a:r>
              <a:rPr lang="fr-FR" sz="1400" b="1" dirty="0" err="1">
                <a:latin typeface="Arial" pitchFamily="34" charset="0"/>
                <a:cs typeface="Arial" pitchFamily="34" charset="0"/>
              </a:rPr>
              <a:t>Technology</a:t>
            </a:r>
            <a:r>
              <a:rPr lang="fr-FR" sz="1400" dirty="0">
                <a:latin typeface="Arial" pitchFamily="34" charset="0"/>
                <a:cs typeface="Arial" pitchFamily="34" charset="0"/>
              </a:rPr>
              <a:t>, Institute for </a:t>
            </a:r>
            <a:r>
              <a:rPr lang="fr-FR" sz="1400" dirty="0" err="1">
                <a:latin typeface="Arial" pitchFamily="34" charset="0"/>
                <a:cs typeface="Arial" pitchFamily="34" charset="0"/>
              </a:rPr>
              <a:t>Technical</a:t>
            </a:r>
            <a:r>
              <a:rPr lang="fr-FR" sz="1400" dirty="0">
                <a:latin typeface="Arial" pitchFamily="34" charset="0"/>
                <a:cs typeface="Arial" pitchFamily="34" charset="0"/>
              </a:rPr>
              <a:t> </a:t>
            </a:r>
            <a:r>
              <a:rPr lang="fr-FR" sz="1400" dirty="0" err="1">
                <a:latin typeface="Arial" pitchFamily="34" charset="0"/>
                <a:cs typeface="Arial" pitchFamily="34" charset="0"/>
              </a:rPr>
              <a:t>Informatics</a:t>
            </a:r>
            <a:r>
              <a:rPr lang="fr-FR" sz="1400" dirty="0">
                <a:latin typeface="Arial" pitchFamily="34" charset="0"/>
                <a:cs typeface="Arial" pitchFamily="34" charset="0"/>
              </a:rPr>
              <a:t>, </a:t>
            </a:r>
            <a:r>
              <a:rPr lang="fr-FR" sz="1400" dirty="0" err="1">
                <a:latin typeface="Arial" pitchFamily="34" charset="0"/>
                <a:cs typeface="Arial" pitchFamily="34" charset="0"/>
              </a:rPr>
              <a:t>Avstrija</a:t>
            </a:r>
            <a:r>
              <a:rPr lang="fr-FR" sz="1400" dirty="0">
                <a:latin typeface="Arial" pitchFamily="34" charset="0"/>
                <a:cs typeface="Arial" pitchFamily="34" charset="0"/>
              </a:rPr>
              <a:t>, www.iti.tugraz.at</a:t>
            </a:r>
          </a:p>
          <a:p>
            <a:pPr defTabSz="990478">
              <a:spcBef>
                <a:spcPts val="0"/>
              </a:spcBef>
              <a:defRPr/>
            </a:pPr>
            <a:r>
              <a:rPr lang="fr-FR" sz="1400" b="1" dirty="0" err="1"/>
              <a:t>University</a:t>
            </a:r>
            <a:r>
              <a:rPr lang="fr-FR" sz="1400" b="1" dirty="0"/>
              <a:t> of </a:t>
            </a:r>
            <a:r>
              <a:rPr lang="fr-FR" sz="1400" b="1" dirty="0" err="1"/>
              <a:t>Applied</a:t>
            </a:r>
            <a:r>
              <a:rPr lang="fr-FR" sz="1400" b="1" dirty="0"/>
              <a:t> Sciences </a:t>
            </a:r>
            <a:r>
              <a:rPr lang="fr-FR" sz="1400" b="1" dirty="0">
                <a:latin typeface="Arial" pitchFamily="34" charset="0"/>
                <a:cs typeface="Arial" pitchFamily="34" charset="0"/>
              </a:rPr>
              <a:t>JOANNEUM</a:t>
            </a:r>
            <a:r>
              <a:rPr lang="fr-FR" sz="1400" b="1" dirty="0"/>
              <a:t>, </a:t>
            </a:r>
            <a:r>
              <a:rPr lang="fr-FR" sz="1400" dirty="0"/>
              <a:t>Institute for Automotive Engineering, Graz, </a:t>
            </a:r>
            <a:r>
              <a:rPr lang="fr-FR" sz="1400" dirty="0" err="1">
                <a:latin typeface="Arial" pitchFamily="34" charset="0"/>
                <a:cs typeface="Arial" pitchFamily="34" charset="0"/>
              </a:rPr>
              <a:t>Avstrija</a:t>
            </a:r>
            <a:r>
              <a:rPr lang="fr-FR" sz="1400" dirty="0"/>
              <a:t>, https://www.fh-joanneum.at/en/institut/automotive-engineering/</a:t>
            </a:r>
          </a:p>
          <a:p>
            <a:pPr defTabSz="990478">
              <a:spcBef>
                <a:spcPts val="0"/>
              </a:spcBef>
              <a:defRPr/>
            </a:pPr>
            <a:r>
              <a:rPr lang="fr-FR" sz="1400" b="1" dirty="0" err="1">
                <a:latin typeface="Arial" pitchFamily="34" charset="0"/>
                <a:cs typeface="Arial" pitchFamily="34" charset="0"/>
              </a:rPr>
              <a:t>EMIRAcle</a:t>
            </a:r>
            <a:r>
              <a:rPr lang="fr-FR" sz="1400" b="1" dirty="0">
                <a:latin typeface="Arial" pitchFamily="34" charset="0"/>
                <a:cs typeface="Arial" pitchFamily="34" charset="0"/>
              </a:rPr>
              <a:t> – </a:t>
            </a:r>
            <a:r>
              <a:rPr lang="fr-FR" sz="1400" b="1" dirty="0" err="1">
                <a:latin typeface="Arial" pitchFamily="34" charset="0"/>
                <a:cs typeface="Arial" pitchFamily="34" charset="0"/>
              </a:rPr>
              <a:t>European</a:t>
            </a:r>
            <a:r>
              <a:rPr lang="fr-FR" sz="1400" b="1" dirty="0">
                <a:latin typeface="Arial" pitchFamily="34" charset="0"/>
                <a:cs typeface="Arial" pitchFamily="34" charset="0"/>
              </a:rPr>
              <a:t> </a:t>
            </a:r>
            <a:r>
              <a:rPr lang="fr-FR" sz="1400" b="1" dirty="0" err="1">
                <a:latin typeface="Arial" pitchFamily="34" charset="0"/>
                <a:cs typeface="Arial" pitchFamily="34" charset="0"/>
              </a:rPr>
              <a:t>Manufacturing</a:t>
            </a:r>
            <a:r>
              <a:rPr lang="fr-FR" sz="1400" b="1" dirty="0">
                <a:latin typeface="Arial" pitchFamily="34" charset="0"/>
                <a:cs typeface="Arial" pitchFamily="34" charset="0"/>
              </a:rPr>
              <a:t> and Innovation </a:t>
            </a:r>
            <a:r>
              <a:rPr lang="fr-FR" sz="1400" b="1" dirty="0" err="1">
                <a:latin typeface="Arial" pitchFamily="34" charset="0"/>
                <a:cs typeface="Arial" pitchFamily="34" charset="0"/>
              </a:rPr>
              <a:t>Research</a:t>
            </a:r>
            <a:r>
              <a:rPr lang="fr-FR" sz="1400" b="1" dirty="0">
                <a:latin typeface="Arial" pitchFamily="34" charset="0"/>
                <a:cs typeface="Arial" pitchFamily="34" charset="0"/>
              </a:rPr>
              <a:t> Association</a:t>
            </a:r>
            <a:r>
              <a:rPr lang="fr-FR" sz="1400" dirty="0">
                <a:latin typeface="Arial" pitchFamily="34" charset="0"/>
                <a:cs typeface="Arial" pitchFamily="34" charset="0"/>
              </a:rPr>
              <a:t>, </a:t>
            </a:r>
            <a:r>
              <a:rPr lang="fr-FR" sz="1400" dirty="0" err="1">
                <a:latin typeface="Arial" pitchFamily="34" charset="0"/>
                <a:cs typeface="Arial" pitchFamily="34" charset="0"/>
              </a:rPr>
              <a:t>Belgija</a:t>
            </a:r>
            <a:r>
              <a:rPr lang="fr-FR" sz="1400" dirty="0">
                <a:latin typeface="Arial" pitchFamily="34" charset="0"/>
                <a:cs typeface="Arial" pitchFamily="34" charset="0"/>
              </a:rPr>
              <a:t>, http://www.emiracle.eu/</a:t>
            </a:r>
          </a:p>
          <a:p>
            <a:pPr defTabSz="990478">
              <a:spcBef>
                <a:spcPts val="0"/>
              </a:spcBef>
              <a:defRPr/>
            </a:pPr>
            <a:r>
              <a:rPr lang="fr-FR" sz="1400" b="1" dirty="0" err="1"/>
              <a:t>Univerza</a:t>
            </a:r>
            <a:r>
              <a:rPr lang="fr-FR" sz="1400" b="1" dirty="0"/>
              <a:t> v </a:t>
            </a:r>
            <a:r>
              <a:rPr lang="fr-FR" sz="1400" b="1" dirty="0" err="1"/>
              <a:t>Mariboru</a:t>
            </a:r>
            <a:r>
              <a:rPr lang="fr-FR" sz="1400" b="1" dirty="0"/>
              <a:t>,</a:t>
            </a:r>
            <a:r>
              <a:rPr lang="fr-FR" sz="1400" dirty="0"/>
              <a:t> </a:t>
            </a:r>
            <a:r>
              <a:rPr lang="fr-FR" sz="1400" dirty="0" err="1"/>
              <a:t>Fakulteta</a:t>
            </a:r>
            <a:r>
              <a:rPr lang="fr-FR" sz="1400" dirty="0"/>
              <a:t> </a:t>
            </a:r>
            <a:r>
              <a:rPr lang="fr-FR" sz="1400" dirty="0" err="1"/>
              <a:t>za</a:t>
            </a:r>
            <a:r>
              <a:rPr lang="fr-FR" sz="1400" dirty="0"/>
              <a:t> </a:t>
            </a:r>
            <a:r>
              <a:rPr lang="fr-FR" sz="1400" dirty="0" err="1"/>
              <a:t>elektrotehniko</a:t>
            </a:r>
            <a:r>
              <a:rPr lang="fr-FR" sz="1400" dirty="0"/>
              <a:t>, </a:t>
            </a:r>
            <a:r>
              <a:rPr lang="fr-FR" sz="1400" dirty="0" err="1"/>
              <a:t>računalništvo</a:t>
            </a:r>
            <a:r>
              <a:rPr lang="fr-FR" sz="1400" dirty="0"/>
              <a:t> in </a:t>
            </a:r>
            <a:r>
              <a:rPr lang="fr-FR" sz="1400" dirty="0" err="1"/>
              <a:t>informatiko</a:t>
            </a:r>
            <a:r>
              <a:rPr lang="fr-FR" sz="1400" dirty="0"/>
              <a:t>, Slovenija, https://feri.um.si/</a:t>
            </a:r>
            <a:endParaRPr lang="fr-FR" sz="1400" dirty="0">
              <a:latin typeface="Arial" pitchFamily="34" charset="0"/>
              <a:cs typeface="Arial" pitchFamily="34" charset="0"/>
            </a:endParaRPr>
          </a:p>
          <a:p>
            <a:pPr>
              <a:spcBef>
                <a:spcPts val="0"/>
              </a:spcBef>
            </a:pPr>
            <a:r>
              <a:rPr lang="fr-FR" sz="1400" b="1" dirty="0">
                <a:latin typeface="Arial" pitchFamily="34" charset="0"/>
                <a:cs typeface="Arial" pitchFamily="34" charset="0"/>
              </a:rPr>
              <a:t>ISCN Ltd./</a:t>
            </a:r>
            <a:r>
              <a:rPr lang="fr-FR" sz="1400" b="1" dirty="0" err="1">
                <a:latin typeface="Arial" pitchFamily="34" charset="0"/>
                <a:cs typeface="Arial" pitchFamily="34" charset="0"/>
              </a:rPr>
              <a:t>Ges.m.b.H</a:t>
            </a:r>
            <a:r>
              <a:rPr lang="fr-FR" sz="1400" dirty="0">
                <a:latin typeface="Arial" pitchFamily="34" charset="0"/>
                <a:cs typeface="Arial" pitchFamily="34" charset="0"/>
              </a:rPr>
              <a:t>, </a:t>
            </a:r>
            <a:r>
              <a:rPr lang="fr-FR" sz="1400" dirty="0" err="1">
                <a:latin typeface="Arial" pitchFamily="34" charset="0"/>
                <a:cs typeface="Arial" pitchFamily="34" charset="0"/>
              </a:rPr>
              <a:t>Irska</a:t>
            </a:r>
            <a:r>
              <a:rPr lang="fr-FR" sz="1400" dirty="0">
                <a:latin typeface="Arial" pitchFamily="34" charset="0"/>
                <a:cs typeface="Arial" pitchFamily="34" charset="0"/>
              </a:rPr>
              <a:t>/</a:t>
            </a:r>
            <a:r>
              <a:rPr lang="fr-FR" sz="1400" dirty="0" err="1">
                <a:latin typeface="Arial" pitchFamily="34" charset="0"/>
                <a:cs typeface="Arial" pitchFamily="34" charset="0"/>
              </a:rPr>
              <a:t>Avstrija</a:t>
            </a:r>
            <a:r>
              <a:rPr lang="fr-FR" sz="1400" dirty="0">
                <a:latin typeface="Arial" pitchFamily="34" charset="0"/>
                <a:cs typeface="Arial" pitchFamily="34" charset="0"/>
              </a:rPr>
              <a:t>, www.iscn.com</a:t>
            </a:r>
          </a:p>
          <a:p>
            <a:pPr>
              <a:spcBef>
                <a:spcPts val="0"/>
              </a:spcBef>
            </a:pPr>
            <a:r>
              <a:rPr lang="fr-FR" sz="1400" b="1" dirty="0">
                <a:latin typeface="Arial" pitchFamily="34" charset="0"/>
                <a:cs typeface="Arial" pitchFamily="34" charset="0"/>
              </a:rPr>
              <a:t>ECQA – </a:t>
            </a:r>
            <a:r>
              <a:rPr lang="fr-FR" sz="1400" b="1" dirty="0" err="1">
                <a:latin typeface="Arial" pitchFamily="34" charset="0"/>
                <a:cs typeface="Arial" pitchFamily="34" charset="0"/>
              </a:rPr>
              <a:t>European</a:t>
            </a:r>
            <a:r>
              <a:rPr lang="fr-FR" sz="1400" b="1" dirty="0">
                <a:latin typeface="Arial" pitchFamily="34" charset="0"/>
                <a:cs typeface="Arial" pitchFamily="34" charset="0"/>
              </a:rPr>
              <a:t> Certification and Qualification Association</a:t>
            </a:r>
            <a:r>
              <a:rPr lang="fr-FR" sz="1400" dirty="0">
                <a:latin typeface="Arial" pitchFamily="34" charset="0"/>
                <a:cs typeface="Arial" pitchFamily="34" charset="0"/>
              </a:rPr>
              <a:t>, </a:t>
            </a:r>
            <a:r>
              <a:rPr lang="fr-FR" sz="1400" dirty="0" err="1">
                <a:latin typeface="Arial" pitchFamily="34" charset="0"/>
                <a:cs typeface="Arial" pitchFamily="34" charset="0"/>
              </a:rPr>
              <a:t>Avstrija</a:t>
            </a:r>
            <a:r>
              <a:rPr lang="fr-FR" sz="1400" dirty="0">
                <a:latin typeface="Arial" pitchFamily="34" charset="0"/>
                <a:cs typeface="Arial" pitchFamily="34" charset="0"/>
              </a:rPr>
              <a:t>, www.ecqa.org</a:t>
            </a:r>
          </a:p>
          <a:p>
            <a:pPr>
              <a:lnSpc>
                <a:spcPct val="80000"/>
              </a:lnSpc>
            </a:pPr>
            <a:endParaRPr lang="fr-FR" sz="1400" dirty="0">
              <a:latin typeface="Arial" pitchFamily="34" charset="0"/>
              <a:cs typeface="Arial" pitchFamily="34" charset="0"/>
            </a:endParaRPr>
          </a:p>
          <a:p>
            <a:pPr>
              <a:spcBef>
                <a:spcPts val="0"/>
              </a:spcBef>
            </a:pPr>
            <a:r>
              <a:rPr lang="fr-FR" sz="1400" dirty="0">
                <a:latin typeface="Arial" pitchFamily="34" charset="0"/>
              </a:rPr>
              <a:t>Ta </a:t>
            </a:r>
            <a:r>
              <a:rPr lang="fr-FR" sz="1400" dirty="0" err="1">
                <a:latin typeface="Arial" pitchFamily="34" charset="0"/>
              </a:rPr>
              <a:t>projekt</a:t>
            </a:r>
            <a:r>
              <a:rPr lang="fr-FR" sz="1400" dirty="0">
                <a:latin typeface="Arial" pitchFamily="34" charset="0"/>
              </a:rPr>
              <a:t> je </a:t>
            </a:r>
            <a:r>
              <a:rPr lang="fr-FR" sz="1400" dirty="0" err="1">
                <a:latin typeface="Arial" pitchFamily="34" charset="0"/>
              </a:rPr>
              <a:t>bil</a:t>
            </a:r>
            <a:r>
              <a:rPr lang="fr-FR" sz="1400" dirty="0">
                <a:latin typeface="Arial" pitchFamily="34" charset="0"/>
              </a:rPr>
              <a:t> </a:t>
            </a:r>
            <a:r>
              <a:rPr lang="fr-FR" sz="1400" dirty="0" err="1">
                <a:latin typeface="Arial" pitchFamily="34" charset="0"/>
              </a:rPr>
              <a:t>financiran</a:t>
            </a:r>
            <a:r>
              <a:rPr lang="fr-FR" sz="1400" dirty="0">
                <a:latin typeface="Arial" pitchFamily="34" charset="0"/>
              </a:rPr>
              <a:t> s </a:t>
            </a:r>
            <a:r>
              <a:rPr lang="fr-FR" sz="1400" dirty="0" err="1">
                <a:latin typeface="Arial" pitchFamily="34" charset="0"/>
              </a:rPr>
              <a:t>podporo</a:t>
            </a:r>
            <a:r>
              <a:rPr lang="fr-FR" sz="1400" dirty="0">
                <a:latin typeface="Arial" pitchFamily="34" charset="0"/>
              </a:rPr>
              <a:t> </a:t>
            </a:r>
            <a:r>
              <a:rPr lang="fr-FR" sz="1400" dirty="0" err="1">
                <a:latin typeface="Arial" pitchFamily="34" charset="0"/>
              </a:rPr>
              <a:t>programa</a:t>
            </a:r>
            <a:r>
              <a:rPr lang="fr-FR" sz="1400" dirty="0">
                <a:latin typeface="Arial" pitchFamily="34" charset="0"/>
              </a:rPr>
              <a:t> </a:t>
            </a:r>
            <a:r>
              <a:rPr lang="fr-FR" sz="1400" dirty="0"/>
              <a:t>Erasmus+</a:t>
            </a:r>
            <a:r>
              <a:rPr lang="fr-FR" sz="1400" dirty="0">
                <a:latin typeface="Arial" pitchFamily="34" charset="0"/>
              </a:rPr>
              <a:t> </a:t>
            </a:r>
            <a:r>
              <a:rPr lang="fr-FR" sz="1400" dirty="0" err="1">
                <a:latin typeface="Arial" pitchFamily="34" charset="0"/>
              </a:rPr>
              <a:t>Evropske</a:t>
            </a:r>
            <a:r>
              <a:rPr lang="fr-FR" sz="1400" dirty="0">
                <a:latin typeface="Arial" pitchFamily="34" charset="0"/>
              </a:rPr>
              <a:t> </a:t>
            </a:r>
            <a:r>
              <a:rPr lang="fr-FR" sz="1400" dirty="0" err="1">
                <a:latin typeface="Arial" pitchFamily="34" charset="0"/>
              </a:rPr>
              <a:t>komisije</a:t>
            </a:r>
            <a:r>
              <a:rPr lang="fr-FR" sz="1400" dirty="0">
                <a:latin typeface="Arial" pitchFamily="34" charset="0"/>
              </a:rPr>
              <a:t> po </a:t>
            </a:r>
            <a:r>
              <a:rPr lang="fr-FR" sz="1400" dirty="0" err="1">
                <a:latin typeface="Arial" pitchFamily="34" charset="0"/>
              </a:rPr>
              <a:t>pogodbi</a:t>
            </a:r>
            <a:r>
              <a:rPr lang="fr-FR" sz="1400" dirty="0">
                <a:latin typeface="Arial" pitchFamily="34" charset="0"/>
              </a:rPr>
              <a:t> </a:t>
            </a:r>
            <a:r>
              <a:rPr lang="fr-FR" sz="1400" dirty="0"/>
              <a:t>2015-1-CZ01-KA203-013986 - 2015 – 2017</a:t>
            </a:r>
            <a:r>
              <a:rPr lang="fr-FR" sz="1400" dirty="0">
                <a:latin typeface="Arial" pitchFamily="34" charset="0"/>
              </a:rPr>
              <a:t>.</a:t>
            </a:r>
          </a:p>
          <a:p>
            <a:pPr marL="342900" marR="0" lvl="0" indent="-342900" algn="l" defTabSz="914400" rtl="0" eaLnBrk="0" fontAlgn="base" latinLnBrk="0" hangingPunct="0">
              <a:lnSpc>
                <a:spcPct val="80000"/>
              </a:lnSpc>
              <a:spcBef>
                <a:spcPct val="20000"/>
              </a:spcBef>
              <a:spcAft>
                <a:spcPct val="0"/>
              </a:spcAft>
              <a:buClrTx/>
              <a:buSzTx/>
              <a:buFont typeface="Arial" charset="0"/>
              <a:buNone/>
              <a:tabLst/>
              <a:defRPr/>
            </a:pPr>
            <a:endParaRPr kumimoji="0" lang="sl-SI" sz="1400" b="1" i="0" u="none" strike="noStrike" kern="1200" cap="none" spc="0" normalizeH="0" baseline="0" noProof="0" dirty="0">
              <a:ln>
                <a:noFill/>
              </a:ln>
              <a:solidFill>
                <a:schemeClr val="tx1"/>
              </a:solidFill>
              <a:effectLst/>
              <a:uLnTx/>
              <a:uFillTx/>
              <a:latin typeface="Arial" charset="0"/>
              <a:ea typeface="+mn-ea"/>
              <a:cs typeface="Arial" charset="0"/>
            </a:endParaRPr>
          </a:p>
          <a:p>
            <a:pPr marL="342900" marR="0" lvl="0" indent="-342900" algn="l" defTabSz="914400" rtl="0" eaLnBrk="0" fontAlgn="base" latinLnBrk="0" hangingPunct="0">
              <a:lnSpc>
                <a:spcPct val="80000"/>
              </a:lnSpc>
              <a:spcBef>
                <a:spcPct val="20000"/>
              </a:spcBef>
              <a:spcAft>
                <a:spcPct val="0"/>
              </a:spcAft>
              <a:buClrTx/>
              <a:buSzTx/>
              <a:buFont typeface="Arial" charset="0"/>
              <a:buNone/>
              <a:tabLst/>
              <a:defRPr/>
            </a:pPr>
            <a:endParaRPr kumimoji="0" lang="sl-SI" sz="2000" b="1" i="0" u="none" strike="noStrike" kern="1200" cap="none" spc="0" normalizeH="0" baseline="0" noProof="0" dirty="0">
              <a:ln>
                <a:noFill/>
              </a:ln>
              <a:solidFill>
                <a:schemeClr val="tx1"/>
              </a:solidFill>
              <a:effectLst/>
              <a:uLnTx/>
              <a:uFillTx/>
              <a:latin typeface="Arial" charset="0"/>
              <a:ea typeface="+mn-ea"/>
              <a:cs typeface="Arial" charset="0"/>
            </a:endParaRPr>
          </a:p>
        </p:txBody>
      </p:sp>
      <p:sp>
        <p:nvSpPr>
          <p:cNvPr id="6" name="Text Box 5"/>
          <p:cNvSpPr txBox="1">
            <a:spLocks noChangeArrowheads="1"/>
          </p:cNvSpPr>
          <p:nvPr/>
        </p:nvSpPr>
        <p:spPr bwMode="auto">
          <a:xfrm>
            <a:off x="3744819" y="5877272"/>
            <a:ext cx="5373688" cy="738664"/>
          </a:xfrm>
          <a:prstGeom prst="rect">
            <a:avLst/>
          </a:prstGeom>
          <a:noFill/>
          <a:ln w="9525">
            <a:noFill/>
            <a:miter lim="800000"/>
            <a:headEnd/>
            <a:tailEnd/>
          </a:ln>
        </p:spPr>
        <p:txBody>
          <a:bodyPr>
            <a:spAutoFit/>
          </a:bodyPr>
          <a:lstStyle/>
          <a:p>
            <a:r>
              <a:rPr lang="en-US" sz="1400" dirty="0">
                <a:solidFill>
                  <a:srgbClr val="000099"/>
                </a:solidFill>
                <a:latin typeface="+mj-lt"/>
              </a:rPr>
              <a:t>Ta </a:t>
            </a:r>
            <a:r>
              <a:rPr lang="en-US" sz="1400" dirty="0" err="1">
                <a:solidFill>
                  <a:srgbClr val="000099"/>
                </a:solidFill>
                <a:latin typeface="+mj-lt"/>
              </a:rPr>
              <a:t>publikacija</a:t>
            </a:r>
            <a:r>
              <a:rPr lang="en-US" sz="1400" dirty="0">
                <a:solidFill>
                  <a:srgbClr val="000099"/>
                </a:solidFill>
                <a:latin typeface="+mj-lt"/>
              </a:rPr>
              <a:t>/</a:t>
            </a:r>
            <a:r>
              <a:rPr lang="en-US" sz="1400" dirty="0" err="1">
                <a:solidFill>
                  <a:srgbClr val="000099"/>
                </a:solidFill>
                <a:latin typeface="+mj-lt"/>
              </a:rPr>
              <a:t>sporočilo</a:t>
            </a:r>
            <a:r>
              <a:rPr lang="en-US" sz="1400" dirty="0">
                <a:solidFill>
                  <a:srgbClr val="000099"/>
                </a:solidFill>
                <a:latin typeface="+mj-lt"/>
              </a:rPr>
              <a:t> </a:t>
            </a:r>
            <a:r>
              <a:rPr lang="en-US" sz="1400" dirty="0" err="1">
                <a:solidFill>
                  <a:srgbClr val="000099"/>
                </a:solidFill>
                <a:latin typeface="+mj-lt"/>
              </a:rPr>
              <a:t>odraža</a:t>
            </a:r>
            <a:r>
              <a:rPr lang="en-US" sz="1400" dirty="0">
                <a:solidFill>
                  <a:srgbClr val="000099"/>
                </a:solidFill>
                <a:latin typeface="+mj-lt"/>
              </a:rPr>
              <a:t> </a:t>
            </a:r>
            <a:r>
              <a:rPr lang="en-US" sz="1400" dirty="0" err="1">
                <a:solidFill>
                  <a:srgbClr val="000099"/>
                </a:solidFill>
                <a:latin typeface="+mj-lt"/>
              </a:rPr>
              <a:t>stališče</a:t>
            </a:r>
            <a:r>
              <a:rPr lang="en-US" sz="1400" dirty="0">
                <a:solidFill>
                  <a:srgbClr val="000099"/>
                </a:solidFill>
                <a:latin typeface="+mj-lt"/>
              </a:rPr>
              <a:t> </a:t>
            </a:r>
            <a:r>
              <a:rPr lang="en-US" sz="1400" dirty="0" err="1">
                <a:solidFill>
                  <a:srgbClr val="000099"/>
                </a:solidFill>
                <a:latin typeface="+mj-lt"/>
              </a:rPr>
              <a:t>avtorjev</a:t>
            </a:r>
            <a:r>
              <a:rPr lang="en-US" sz="1400" dirty="0">
                <a:solidFill>
                  <a:srgbClr val="000099"/>
                </a:solidFill>
                <a:latin typeface="+mj-lt"/>
              </a:rPr>
              <a:t> in </a:t>
            </a:r>
            <a:r>
              <a:rPr lang="en-US" sz="1400" dirty="0" err="1">
                <a:solidFill>
                  <a:srgbClr val="000099"/>
                </a:solidFill>
                <a:latin typeface="+mj-lt"/>
              </a:rPr>
              <a:t>Komisija</a:t>
            </a:r>
            <a:r>
              <a:rPr lang="en-US" sz="1400" dirty="0">
                <a:solidFill>
                  <a:srgbClr val="000099"/>
                </a:solidFill>
                <a:latin typeface="+mj-lt"/>
              </a:rPr>
              <a:t> ne </a:t>
            </a:r>
            <a:r>
              <a:rPr lang="en-US" sz="1400" dirty="0" err="1">
                <a:solidFill>
                  <a:srgbClr val="000099"/>
                </a:solidFill>
                <a:latin typeface="+mj-lt"/>
              </a:rPr>
              <a:t>prevzema</a:t>
            </a:r>
            <a:r>
              <a:rPr lang="en-US" sz="1400" dirty="0">
                <a:solidFill>
                  <a:srgbClr val="000099"/>
                </a:solidFill>
                <a:latin typeface="+mj-lt"/>
              </a:rPr>
              <a:t> </a:t>
            </a:r>
            <a:r>
              <a:rPr lang="en-US" sz="1400" dirty="0" err="1">
                <a:solidFill>
                  <a:srgbClr val="000099"/>
                </a:solidFill>
                <a:latin typeface="+mj-lt"/>
              </a:rPr>
              <a:t>odgovornosti</a:t>
            </a:r>
            <a:r>
              <a:rPr lang="en-US" sz="1400" dirty="0">
                <a:solidFill>
                  <a:srgbClr val="000099"/>
                </a:solidFill>
                <a:latin typeface="+mj-lt"/>
              </a:rPr>
              <a:t> </a:t>
            </a:r>
            <a:r>
              <a:rPr lang="en-US" sz="1400" dirty="0" err="1">
                <a:solidFill>
                  <a:srgbClr val="000099"/>
                </a:solidFill>
                <a:latin typeface="+mj-lt"/>
              </a:rPr>
              <a:t>za</a:t>
            </a:r>
            <a:r>
              <a:rPr lang="en-US" sz="1400" dirty="0">
                <a:solidFill>
                  <a:srgbClr val="000099"/>
                </a:solidFill>
                <a:latin typeface="+mj-lt"/>
              </a:rPr>
              <a:t> </a:t>
            </a:r>
            <a:r>
              <a:rPr lang="en-US" sz="1400" dirty="0" err="1">
                <a:solidFill>
                  <a:srgbClr val="000099"/>
                </a:solidFill>
                <a:latin typeface="+mj-lt"/>
              </a:rPr>
              <a:t>kakršnokoli</a:t>
            </a:r>
            <a:r>
              <a:rPr lang="en-US" sz="1400" dirty="0">
                <a:solidFill>
                  <a:srgbClr val="000099"/>
                </a:solidFill>
                <a:latin typeface="+mj-lt"/>
              </a:rPr>
              <a:t> </a:t>
            </a:r>
            <a:r>
              <a:rPr lang="en-US" sz="1400" dirty="0" err="1">
                <a:solidFill>
                  <a:srgbClr val="000099"/>
                </a:solidFill>
                <a:latin typeface="+mj-lt"/>
              </a:rPr>
              <a:t>uporabo</a:t>
            </a:r>
            <a:r>
              <a:rPr lang="en-US" sz="1400" dirty="0">
                <a:solidFill>
                  <a:srgbClr val="000099"/>
                </a:solidFill>
                <a:latin typeface="+mj-lt"/>
              </a:rPr>
              <a:t> </a:t>
            </a:r>
            <a:r>
              <a:rPr lang="en-US" sz="1400" dirty="0" err="1">
                <a:solidFill>
                  <a:srgbClr val="000099"/>
                </a:solidFill>
                <a:latin typeface="+mj-lt"/>
              </a:rPr>
              <a:t>informacij</a:t>
            </a:r>
            <a:r>
              <a:rPr lang="en-US" sz="1400" dirty="0">
                <a:solidFill>
                  <a:srgbClr val="000099"/>
                </a:solidFill>
                <a:latin typeface="+mj-lt"/>
              </a:rPr>
              <a:t>, </a:t>
            </a:r>
            <a:r>
              <a:rPr lang="en-US" sz="1400" dirty="0" err="1">
                <a:solidFill>
                  <a:srgbClr val="000099"/>
                </a:solidFill>
                <a:latin typeface="+mj-lt"/>
              </a:rPr>
              <a:t>ki</a:t>
            </a:r>
            <a:r>
              <a:rPr lang="en-US" sz="1400" dirty="0">
                <a:solidFill>
                  <a:srgbClr val="000099"/>
                </a:solidFill>
                <a:latin typeface="+mj-lt"/>
              </a:rPr>
              <a:t> </a:t>
            </a:r>
            <a:r>
              <a:rPr lang="en-US" sz="1400" dirty="0" err="1">
                <a:solidFill>
                  <a:srgbClr val="000099"/>
                </a:solidFill>
                <a:latin typeface="+mj-lt"/>
              </a:rPr>
              <a:t>jih</a:t>
            </a:r>
            <a:r>
              <a:rPr lang="en-US" sz="1400" dirty="0">
                <a:solidFill>
                  <a:srgbClr val="000099"/>
                </a:solidFill>
                <a:latin typeface="+mj-lt"/>
              </a:rPr>
              <a:t> </a:t>
            </a:r>
            <a:r>
              <a:rPr lang="en-US" sz="1400" dirty="0" err="1">
                <a:solidFill>
                  <a:srgbClr val="000099"/>
                </a:solidFill>
                <a:latin typeface="+mj-lt"/>
              </a:rPr>
              <a:t>vsebuje</a:t>
            </a:r>
            <a:r>
              <a:rPr lang="en-US" sz="1400" dirty="0">
                <a:solidFill>
                  <a:srgbClr val="000099"/>
                </a:solidFill>
                <a:latin typeface="+mj-lt"/>
              </a:rPr>
              <a:t>. </a:t>
            </a:r>
          </a:p>
        </p:txBody>
      </p:sp>
      <p:pic>
        <p:nvPicPr>
          <p:cNvPr id="8" name="Obrázek 7"/>
          <p:cNvPicPr>
            <a:picLocks noChangeAspect="1"/>
          </p:cNvPicPr>
          <p:nvPr/>
        </p:nvPicPr>
        <p:blipFill>
          <a:blip r:embed="rId4"/>
          <a:stretch>
            <a:fillRect/>
          </a:stretch>
        </p:blipFill>
        <p:spPr>
          <a:xfrm>
            <a:off x="827584" y="5933104"/>
            <a:ext cx="2451850" cy="589831"/>
          </a:xfrm>
          <a:prstGeom prst="rect">
            <a:avLst/>
          </a:prstGeom>
        </p:spPr>
      </p:pic>
    </p:spTree>
    <p:custDataLst>
      <p:tags r:id="rId1"/>
    </p:custDataLst>
    <p:extLst>
      <p:ext uri="{BB962C8B-B14F-4D97-AF65-F5344CB8AC3E}">
        <p14:creationId xmlns:p14="http://schemas.microsoft.com/office/powerpoint/2010/main" val="14605683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ymbol">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 klassie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dirty="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161</TotalTime>
  <Words>5020</Words>
  <Application>Microsoft Office PowerPoint</Application>
  <PresentationFormat>Diaprojekcija na zaslonu (4:3)</PresentationFormat>
  <Paragraphs>690</Paragraphs>
  <Slides>25</Slides>
  <Notes>25</Notes>
  <HiddenSlides>0</HiddenSlides>
  <MMClips>0</MMClips>
  <ScaleCrop>false</ScaleCrop>
  <HeadingPairs>
    <vt:vector size="8" baseType="variant">
      <vt:variant>
        <vt:lpstr>Uporabljene pisave</vt:lpstr>
      </vt:variant>
      <vt:variant>
        <vt:i4>5</vt:i4>
      </vt:variant>
      <vt:variant>
        <vt:lpstr>Tema</vt:lpstr>
      </vt:variant>
      <vt:variant>
        <vt:i4>1</vt:i4>
      </vt:variant>
      <vt:variant>
        <vt:lpstr>Vdelani OLE strežniki</vt:lpstr>
      </vt:variant>
      <vt:variant>
        <vt:i4>2</vt:i4>
      </vt:variant>
      <vt:variant>
        <vt:lpstr>Naslovi diapozitivov</vt:lpstr>
      </vt:variant>
      <vt:variant>
        <vt:i4>25</vt:i4>
      </vt:variant>
    </vt:vector>
  </HeadingPairs>
  <TitlesOfParts>
    <vt:vector size="33" baseType="lpstr">
      <vt:lpstr>Arial</vt:lpstr>
      <vt:lpstr>Calibri</vt:lpstr>
      <vt:lpstr>Verdana</vt:lpstr>
      <vt:lpstr>Courier New</vt:lpstr>
      <vt:lpstr>Tw Cen MT</vt:lpstr>
      <vt:lpstr>Symbol</vt:lpstr>
      <vt:lpstr>Equation</vt:lpstr>
      <vt:lpstr>Vergelijking</vt:lpstr>
      <vt:lpstr>4. enota: Merjenje</vt:lpstr>
      <vt:lpstr>Auto Universe Ecosystem</vt:lpstr>
      <vt:lpstr>Učni cilji</vt:lpstr>
      <vt:lpstr>Merila zmogljivosti procesa</vt:lpstr>
      <vt:lpstr>Metrike zmogljivosti procesov</vt:lpstr>
      <vt:lpstr>Metrike zmogljivosti procesov</vt:lpstr>
      <vt:lpstr>Metrike zmogljivosti procesov</vt:lpstr>
      <vt:lpstr>Metrike zmogljivosti procesov</vt:lpstr>
      <vt:lpstr>Metrike zmogljivosti procesov</vt:lpstr>
      <vt:lpstr>Metrike zmogljivosti procesov</vt:lpstr>
      <vt:lpstr>Metrike zmogljivosti procesov</vt:lpstr>
      <vt:lpstr>Analiza merilnega sistema</vt:lpstr>
      <vt:lpstr>Analiza merilnega sistema</vt:lpstr>
      <vt:lpstr>Analiza merilnega sistema</vt:lpstr>
      <vt:lpstr>Analiza merilnega sistema</vt:lpstr>
      <vt:lpstr>Analiza merilnega sistema</vt:lpstr>
      <vt:lpstr>Analiza merilnega sistema</vt:lpstr>
      <vt:lpstr>Analiza merilnega sistema</vt:lpstr>
      <vt:lpstr>Analiza merilnega sistema</vt:lpstr>
      <vt:lpstr>Analiza merilnega sistema</vt:lpstr>
      <vt:lpstr>Analiza merilnega sistema</vt:lpstr>
      <vt:lpstr>Analiza merilnega sistema</vt:lpstr>
      <vt:lpstr>Analiza merilnega sistema</vt:lpstr>
      <vt:lpstr>Povzetek</vt:lpstr>
      <vt:lpstr>Avtorji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AQUA.U2.E2.INTEGRATION</dc:title>
  <dc:creator>AQUA consortium</dc:creator>
  <cp:lastModifiedBy>Milan Zorman</cp:lastModifiedBy>
  <cp:revision>223</cp:revision>
  <cp:lastPrinted>2014-09-01T17:08:17Z</cp:lastPrinted>
  <dcterms:created xsi:type="dcterms:W3CDTF">2010-08-18T19:09:35Z</dcterms:created>
  <dcterms:modified xsi:type="dcterms:W3CDTF">2023-11-27T06:28:42Z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74B74FA5-5B52-48B8-8D15-A5753E2BDD29</vt:lpwstr>
  </property>
  <property fmtid="{D5CDD505-2E9C-101B-9397-08002B2CF9AE}" pid="3" name="ArticulatePath">
    <vt:lpwstr>AQUA.R1.U2.E2.INTEGRATION-EN-Slides</vt:lpwstr>
  </property>
</Properties>
</file>