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0287000" cy="6858000" type="35mm"/>
  <p:notesSz cx="6858000" cy="9144000"/>
  <p:embeddedFontLst>
    <p:embeddedFont>
      <p:font typeface="Arial Black" pitchFamily="34" charset="0"/>
      <p:bold r:id="rId22"/>
    </p:embeddedFont>
    <p:embeddedFont>
      <p:font typeface="Calibri" pitchFamily="34" charset="0"/>
      <p:regular r:id="rId23"/>
      <p:bold r:id="rId24"/>
      <p:italic r:id="rId25"/>
      <p:boldItalic r:id="rId26"/>
    </p:embeddedFont>
  </p:embeddedFontLst>
  <p:defaultTextStyle>
    <a:defPPr>
      <a:defRPr lang="nl-NL"/>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721"/>
    <a:srgbClr val="C00000"/>
    <a:srgbClr val="DD6F11"/>
    <a:srgbClr val="C8B8A4"/>
    <a:srgbClr val="967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446" autoAdjust="0"/>
    <p:restoredTop sz="74725" autoAdjust="0"/>
  </p:normalViewPr>
  <p:slideViewPr>
    <p:cSldViewPr>
      <p:cViewPr varScale="1">
        <p:scale>
          <a:sx n="81" d="100"/>
          <a:sy n="81" d="100"/>
        </p:scale>
        <p:origin x="-1140" y="-84"/>
      </p:cViewPr>
      <p:guideLst>
        <p:guide orient="horz" pos="2160"/>
        <p:guide pos="3240"/>
      </p:guideLst>
    </p:cSldViewPr>
  </p:slideViewPr>
  <p:notesTextViewPr>
    <p:cViewPr>
      <p:scale>
        <a:sx n="1" d="1"/>
        <a:sy n="1" d="1"/>
      </p:scale>
      <p:origin x="0" y="29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9487C86-B1BF-4180-BFEC-FC38B8F58E76}" type="datetimeFigureOut">
              <a:rPr lang="nl-NL"/>
              <a:pPr>
                <a:defRPr/>
              </a:pPr>
              <a:t>13-5-2014</a:t>
            </a:fld>
            <a:endParaRPr lang="nl-NL"/>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F7DD8EB-68D7-4EC4-9C51-29F9A11ED22A}" type="slidenum">
              <a:rPr lang="nl-NL"/>
              <a:pPr>
                <a:defRPr/>
              </a:pPr>
              <a:t>‹#›</a:t>
            </a:fld>
            <a:endParaRPr lang="nl-NL"/>
          </a:p>
        </p:txBody>
      </p:sp>
    </p:spTree>
    <p:extLst>
      <p:ext uri="{BB962C8B-B14F-4D97-AF65-F5344CB8AC3E}">
        <p14:creationId xmlns:p14="http://schemas.microsoft.com/office/powerpoint/2010/main" val="2593125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E6B8595-C9F9-4080-9DDF-BC4382BF9CAC}" type="datetimeFigureOut">
              <a:rPr lang="nl-NL"/>
              <a:pPr>
                <a:defRPr/>
              </a:pPr>
              <a:t>13-5-2014</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pPr lvl="0"/>
            <a:endParaRPr lang="nl-NL" noProof="0" smtClean="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noProof="0" smtClean="0"/>
              <a:t>Klik om de modelstijlen te bewerken</a:t>
            </a:r>
          </a:p>
          <a:p>
            <a:pPr lvl="1"/>
            <a:r>
              <a:rPr lang="nl-NL" noProof="0" smtClean="0"/>
              <a:t>Tweede niveau</a:t>
            </a:r>
          </a:p>
          <a:p>
            <a:pPr lvl="2"/>
            <a:r>
              <a:rPr lang="nl-NL" noProof="0" smtClean="0"/>
              <a:t>Derde niveau</a:t>
            </a:r>
          </a:p>
          <a:p>
            <a:pPr lvl="3"/>
            <a:r>
              <a:rPr lang="nl-NL" noProof="0" smtClean="0"/>
              <a:t>Vierde niveau</a:t>
            </a:r>
          </a:p>
          <a:p>
            <a:pPr lvl="4"/>
            <a:r>
              <a:rPr lang="nl-NL" noProof="0" smtClean="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8F32DABC-3F6B-4988-B4C4-458D2B2D8BD4}" type="slidenum">
              <a:rPr lang="nl-NL"/>
              <a:pPr>
                <a:defRPr/>
              </a:pPr>
              <a:t>‹#›</a:t>
            </a:fld>
            <a:endParaRPr lang="nl-NL"/>
          </a:p>
        </p:txBody>
      </p:sp>
    </p:spTree>
    <p:extLst>
      <p:ext uri="{BB962C8B-B14F-4D97-AF65-F5344CB8AC3E}">
        <p14:creationId xmlns:p14="http://schemas.microsoft.com/office/powerpoint/2010/main" val="32140968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Welcome to this Lean Six Sigma Academy Yellow Belt training module.</a:t>
            </a:r>
          </a:p>
          <a:p>
            <a:endParaRPr lang="en-GB"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1</a:t>
            </a:fld>
            <a:endParaRPr lang="nl-NL"/>
          </a:p>
        </p:txBody>
      </p:sp>
    </p:spTree>
    <p:extLst>
      <p:ext uri="{BB962C8B-B14F-4D97-AF65-F5344CB8AC3E}">
        <p14:creationId xmlns:p14="http://schemas.microsoft.com/office/powerpoint/2010/main" val="224758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jdelijke aanduiding voor dia-afbeelding 1"/>
          <p:cNvSpPr>
            <a:spLocks noGrp="1" noRot="1" noChangeAspect="1" noTextEdit="1"/>
          </p:cNvSpPr>
          <p:nvPr>
            <p:ph type="sldImg"/>
          </p:nvPr>
        </p:nvSpPr>
        <p:spPr>
          <a:xfrm>
            <a:off x="857250" y="685800"/>
            <a:ext cx="5143500" cy="3429000"/>
          </a:xfrm>
          <a:ln/>
        </p:spPr>
      </p:sp>
      <p:sp>
        <p:nvSpPr>
          <p:cNvPr id="22531"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The first step in the process to achieve world class manufacturing involves the 5S method. Here we see an overview of the 5 steps that must be taken to arrange </a:t>
            </a:r>
            <a:r>
              <a:rPr lang="en-GB" dirty="0" smtClean="0">
                <a:latin typeface="Arial" pitchFamily="34" charset="0"/>
                <a:cs typeface="Arial" pitchFamily="34" charset="0"/>
              </a:rPr>
              <a:t>a work area  </a:t>
            </a:r>
            <a:r>
              <a:rPr lang="en-GB" dirty="0" smtClean="0">
                <a:latin typeface="Arial" pitchFamily="34" charset="0"/>
                <a:cs typeface="Arial" pitchFamily="34" charset="0"/>
              </a:rPr>
              <a:t>in the correct way. First of all, we need ensure that there is dedication and discipline. This is why 5S has to be done jointly with those </a:t>
            </a:r>
            <a:r>
              <a:rPr lang="en-GB" dirty="0" smtClean="0">
                <a:latin typeface="Arial" pitchFamily="34" charset="0"/>
                <a:cs typeface="Arial" pitchFamily="34" charset="0"/>
              </a:rPr>
              <a:t>in the work area. It </a:t>
            </a:r>
            <a:r>
              <a:rPr lang="en-GB" dirty="0" smtClean="0">
                <a:latin typeface="Arial" pitchFamily="34" charset="0"/>
                <a:cs typeface="Arial" pitchFamily="34" charset="0"/>
              </a:rPr>
              <a:t>is also important that there is sufficient communication during the introduction of 5S, this includes communication with other departments. </a:t>
            </a:r>
            <a:endParaRPr lang="en-US" dirty="0" smtClean="0">
              <a:latin typeface="Arial" pitchFamily="34" charset="0"/>
              <a:cs typeface="Arial" pitchFamily="34" charset="0"/>
            </a:endParaRPr>
          </a:p>
        </p:txBody>
      </p:sp>
      <p:sp>
        <p:nvSpPr>
          <p:cNvPr id="22532"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A1A4D25E-2034-4BC4-9503-DC2B085139AD}" type="slidenum">
              <a:rPr lang="en-US" smtClean="0"/>
              <a:pPr eaLnBrk="1" hangingPunct="1"/>
              <a:t>2</a:t>
            </a:fld>
            <a:endParaRPr lang="en-US" dirty="0" smtClean="0"/>
          </a:p>
        </p:txBody>
      </p:sp>
    </p:spTree>
    <p:extLst>
      <p:ext uri="{BB962C8B-B14F-4D97-AF65-F5344CB8AC3E}">
        <p14:creationId xmlns:p14="http://schemas.microsoft.com/office/powerpoint/2010/main" val="3746140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As you can see, 5S is clearly a part of what we call the </a:t>
            </a:r>
            <a:r>
              <a:rPr lang="en-GB" dirty="0" smtClean="0"/>
              <a:t>‘Organised Work Environment”. </a:t>
            </a:r>
            <a:r>
              <a:rPr lang="en-GB" dirty="0" smtClean="0"/>
              <a:t>By clarifying exactly what is necessary </a:t>
            </a:r>
            <a:r>
              <a:rPr lang="en-GB" dirty="0" smtClean="0"/>
              <a:t> in the work area and </a:t>
            </a:r>
            <a:r>
              <a:rPr lang="en-GB" dirty="0" smtClean="0"/>
              <a:t>clarifying the status of </a:t>
            </a:r>
            <a:r>
              <a:rPr lang="en-GB" dirty="0" smtClean="0"/>
              <a:t>work at </a:t>
            </a:r>
            <a:r>
              <a:rPr lang="en-GB" dirty="0" smtClean="0"/>
              <a:t>the moment, we can create an efficient work space. The company can also obtain a more professional look, making a customer visit  possible anytime. An added benefit is that deviations from the normal situation can be easily seen which leads to the prevention of losses.</a:t>
            </a:r>
          </a:p>
          <a:p>
            <a:endParaRPr lang="nl-NL" dirty="0"/>
          </a:p>
        </p:txBody>
      </p:sp>
      <p:sp>
        <p:nvSpPr>
          <p:cNvPr id="4" name="Tijdelijke aanduiding voor dianummer 3"/>
          <p:cNvSpPr>
            <a:spLocks noGrp="1"/>
          </p:cNvSpPr>
          <p:nvPr>
            <p:ph type="sldNum" sz="quarter" idx="10"/>
          </p:nvPr>
        </p:nvSpPr>
        <p:spPr/>
        <p:txBody>
          <a:bodyPr/>
          <a:lstStyle/>
          <a:p>
            <a:pPr>
              <a:defRPr/>
            </a:pPr>
            <a:fld id="{39D97A3B-AFFC-4674-AD62-38A9075E27AB}" type="slidenum">
              <a:rPr lang="en-US" smtClean="0"/>
              <a:pPr>
                <a:defRPr/>
              </a:pPr>
              <a:t>3</a:t>
            </a:fld>
            <a:endParaRPr lang="en-US" dirty="0"/>
          </a:p>
        </p:txBody>
      </p:sp>
    </p:spTree>
    <p:extLst>
      <p:ext uri="{BB962C8B-B14F-4D97-AF65-F5344CB8AC3E}">
        <p14:creationId xmlns:p14="http://schemas.microsoft.com/office/powerpoint/2010/main" val="4030058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jdelijke aanduiding voor dia-afbeelding 1"/>
          <p:cNvSpPr>
            <a:spLocks noGrp="1" noRot="1" noChangeAspect="1" noTextEdit="1"/>
          </p:cNvSpPr>
          <p:nvPr>
            <p:ph type="sldImg"/>
          </p:nvPr>
        </p:nvSpPr>
        <p:spPr>
          <a:xfrm>
            <a:off x="857250" y="685800"/>
            <a:ext cx="5143500" cy="3429000"/>
          </a:xfrm>
          <a:ln/>
        </p:spPr>
      </p:sp>
      <p:sp>
        <p:nvSpPr>
          <p:cNvPr id="23555"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We will now give a short explanation of the meaning of the 5 steps: The First thing we want, is to be able to see </a:t>
            </a:r>
            <a:r>
              <a:rPr lang="en-GB" dirty="0" smtClean="0">
                <a:latin typeface="Arial" pitchFamily="34" charset="0"/>
                <a:cs typeface="Arial" pitchFamily="34" charset="0"/>
              </a:rPr>
              <a:t>in the work area, only </a:t>
            </a:r>
            <a:r>
              <a:rPr lang="en-GB" dirty="0" smtClean="0">
                <a:latin typeface="Arial" pitchFamily="34" charset="0"/>
                <a:cs typeface="Arial" pitchFamily="34" charset="0"/>
              </a:rPr>
              <a:t>those things we need in order to perform the daily workload. If we know what these necessary items are, we can take care to create a fixed place for them, so we don’t need to look for them when they are needed. Cleaning the work environment contributes to our ability to visualize any deviations and/or problems early on. With standardization and the visual aspect of 5S, we are able to clearly see when something has to be done, by whom and how often. With discipline and follow-up concerning the progress, we can take care to sustain the 5S system. Audits are also important here and need to take place on a regular basis.</a:t>
            </a:r>
          </a:p>
          <a:p>
            <a:endParaRPr lang="en-US" dirty="0" smtClean="0">
              <a:latin typeface="Arial" pitchFamily="34" charset="0"/>
              <a:cs typeface="Arial" pitchFamily="34" charset="0"/>
            </a:endParaRPr>
          </a:p>
        </p:txBody>
      </p:sp>
      <p:sp>
        <p:nvSpPr>
          <p:cNvPr id="23556"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0CCD73AB-CA5A-4A0F-98A4-CF1FE914D414}" type="slidenum">
              <a:rPr lang="en-US" smtClean="0"/>
              <a:pPr eaLnBrk="1" hangingPunct="1"/>
              <a:t>4</a:t>
            </a:fld>
            <a:endParaRPr lang="en-US" dirty="0" smtClean="0"/>
          </a:p>
        </p:txBody>
      </p:sp>
    </p:spTree>
    <p:extLst>
      <p:ext uri="{BB962C8B-B14F-4D97-AF65-F5344CB8AC3E}">
        <p14:creationId xmlns:p14="http://schemas.microsoft.com/office/powerpoint/2010/main" val="4255349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jdelijke aanduiding voor dia-afbeelding 1"/>
          <p:cNvSpPr>
            <a:spLocks noGrp="1" noRot="1" noChangeAspect="1" noTextEdit="1"/>
          </p:cNvSpPr>
          <p:nvPr>
            <p:ph type="sldImg"/>
          </p:nvPr>
        </p:nvSpPr>
        <p:spPr>
          <a:xfrm>
            <a:off x="857250" y="685800"/>
            <a:ext cx="5143500" cy="3429000"/>
          </a:xfrm>
          <a:ln/>
        </p:spPr>
      </p:sp>
      <p:sp>
        <p:nvSpPr>
          <p:cNvPr id="24579"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To start a 5S project, we need to chose an area that can serve as an example. It is important to be able to make a clear improvement. We first start with a good assessment of the current situation. We do this by making a floor map and by taking pictures of the ‘AS-IS’ situation. If we have realized the improvements within one department, we can use this to motivate other departments to undertake similar projects.</a:t>
            </a:r>
          </a:p>
          <a:p>
            <a:endParaRPr lang="en-US" dirty="0" smtClean="0">
              <a:latin typeface="Arial" pitchFamily="34" charset="0"/>
              <a:cs typeface="Arial" pitchFamily="34" charset="0"/>
            </a:endParaRPr>
          </a:p>
        </p:txBody>
      </p:sp>
      <p:sp>
        <p:nvSpPr>
          <p:cNvPr id="24580"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B189A78F-EBF1-44D5-B6F1-FABBED65DCD4}" type="slidenum">
              <a:rPr lang="en-US" smtClean="0"/>
              <a:pPr eaLnBrk="1" hangingPunct="1"/>
              <a:t>5</a:t>
            </a:fld>
            <a:endParaRPr lang="en-US" dirty="0" smtClean="0"/>
          </a:p>
        </p:txBody>
      </p:sp>
    </p:spTree>
    <p:extLst>
      <p:ext uri="{BB962C8B-B14F-4D97-AF65-F5344CB8AC3E}">
        <p14:creationId xmlns:p14="http://schemas.microsoft.com/office/powerpoint/2010/main" val="1695436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We will now discuss each step of 5S in more detail. The first step is </a:t>
            </a:r>
            <a:r>
              <a:rPr lang="en-GB" dirty="0" err="1" smtClean="0"/>
              <a:t>Seiri</a:t>
            </a:r>
            <a:r>
              <a:rPr lang="en-GB" dirty="0" smtClean="0"/>
              <a:t> or Sort. A team is selected and a department is chosen. Discuss with the team, what is necessary for daily operation and what is extra or unessential. All items not necessary for the daily work of the department need to be </a:t>
            </a:r>
            <a:r>
              <a:rPr lang="en-GB" dirty="0" err="1" smtClean="0"/>
              <a:t>labeled</a:t>
            </a:r>
            <a:r>
              <a:rPr lang="en-GB" dirty="0" smtClean="0"/>
              <a:t> with a red tag. Any items that are needed for daily work but that are missing, need to be provided. All of the items with a red tag are placed in a special area to await a decision that will be made concerning what to do with them after informing all concerned personnel.</a:t>
            </a:r>
          </a:p>
          <a:p>
            <a:endParaRPr lang="nl-NL" dirty="0"/>
          </a:p>
        </p:txBody>
      </p:sp>
      <p:sp>
        <p:nvSpPr>
          <p:cNvPr id="4" name="Tijdelijke aanduiding voor dianummer 3"/>
          <p:cNvSpPr>
            <a:spLocks noGrp="1"/>
          </p:cNvSpPr>
          <p:nvPr>
            <p:ph type="sldNum" sz="quarter" idx="10"/>
          </p:nvPr>
        </p:nvSpPr>
        <p:spPr/>
        <p:txBody>
          <a:bodyPr/>
          <a:lstStyle/>
          <a:p>
            <a:pPr>
              <a:defRPr/>
            </a:pPr>
            <a:fld id="{39D97A3B-AFFC-4674-AD62-38A9075E27AB}" type="slidenum">
              <a:rPr lang="en-US" smtClean="0"/>
              <a:pPr>
                <a:defRPr/>
              </a:pPr>
              <a:t>6</a:t>
            </a:fld>
            <a:endParaRPr lang="en-US" dirty="0"/>
          </a:p>
        </p:txBody>
      </p:sp>
    </p:spTree>
    <p:extLst>
      <p:ext uri="{BB962C8B-B14F-4D97-AF65-F5344CB8AC3E}">
        <p14:creationId xmlns:p14="http://schemas.microsoft.com/office/powerpoint/2010/main" val="65929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By removing what is not necessary in daily practice and by making necessary items clearly visible on the shop floor, efficiency is improved. There is less distraction from all of the excessive, unessential materials, and you never miss anything required to perform the tasks. </a:t>
            </a:r>
            <a:endParaRPr lang="en-GB"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7</a:t>
            </a:fld>
            <a:endParaRPr lang="nl-NL"/>
          </a:p>
        </p:txBody>
      </p:sp>
    </p:spTree>
    <p:extLst>
      <p:ext uri="{BB962C8B-B14F-4D97-AF65-F5344CB8AC3E}">
        <p14:creationId xmlns:p14="http://schemas.microsoft.com/office/powerpoint/2010/main" val="3722410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jdelijke aanduiding voor dia-afbeelding 1"/>
          <p:cNvSpPr>
            <a:spLocks noGrp="1" noRot="1" noChangeAspect="1" noTextEdit="1"/>
          </p:cNvSpPr>
          <p:nvPr>
            <p:ph type="sldImg"/>
          </p:nvPr>
        </p:nvSpPr>
        <p:spPr>
          <a:xfrm>
            <a:off x="857250" y="685800"/>
            <a:ext cx="5143500" cy="3429000"/>
          </a:xfrm>
          <a:ln/>
        </p:spPr>
      </p:sp>
      <p:sp>
        <p:nvSpPr>
          <p:cNvPr id="26627"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latin typeface="Arial" pitchFamily="34" charset="0"/>
                <a:cs typeface="Arial" pitchFamily="34" charset="0"/>
              </a:rPr>
              <a:t>The second step is straighten –each item is given a fixed location, identical items are grouped, and labels and signs demonstrate where items belong.</a:t>
            </a:r>
            <a:endParaRPr lang="en-US" dirty="0" smtClean="0">
              <a:latin typeface="Arial" pitchFamily="34" charset="0"/>
              <a:cs typeface="Arial" pitchFamily="34" charset="0"/>
            </a:endParaRPr>
          </a:p>
        </p:txBody>
      </p:sp>
      <p:sp>
        <p:nvSpPr>
          <p:cNvPr id="26628"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D958B315-5FEC-41DB-8CAD-E4B5C5D8791D}" type="slidenum">
              <a:rPr lang="en-US" smtClean="0"/>
              <a:pPr eaLnBrk="1" hangingPunct="1"/>
              <a:t>8</a:t>
            </a:fld>
            <a:endParaRPr lang="en-US" dirty="0" smtClean="0"/>
          </a:p>
        </p:txBody>
      </p:sp>
    </p:spTree>
    <p:extLst>
      <p:ext uri="{BB962C8B-B14F-4D97-AF65-F5344CB8AC3E}">
        <p14:creationId xmlns:p14="http://schemas.microsoft.com/office/powerpoint/2010/main" val="3553064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Here we see a possible estimation of the choices to be made to decide </a:t>
            </a:r>
            <a:r>
              <a:rPr lang="en-GB" dirty="0" smtClean="0"/>
              <a:t>whether certain </a:t>
            </a:r>
            <a:r>
              <a:rPr lang="en-GB" dirty="0" smtClean="0"/>
              <a:t>item needs to be kept. This is dependent on the frequency that the particular item is used in practice. The principle is that what is used frequently must be as close at hand as possible. For all items that are no longer available </a:t>
            </a:r>
            <a:r>
              <a:rPr lang="en-GB" dirty="0" smtClean="0"/>
              <a:t>in the work area , </a:t>
            </a:r>
            <a:r>
              <a:rPr lang="en-GB" dirty="0" smtClean="0"/>
              <a:t>a record must be kept that describes where each item can now be found, for example in the central or regional warehouse. </a:t>
            </a:r>
          </a:p>
          <a:p>
            <a:endParaRPr lang="nl-NL" dirty="0"/>
          </a:p>
        </p:txBody>
      </p:sp>
      <p:sp>
        <p:nvSpPr>
          <p:cNvPr id="4" name="Tijdelijke aanduiding voor dianummer 3"/>
          <p:cNvSpPr>
            <a:spLocks noGrp="1"/>
          </p:cNvSpPr>
          <p:nvPr>
            <p:ph type="sldNum" sz="quarter" idx="10"/>
          </p:nvPr>
        </p:nvSpPr>
        <p:spPr/>
        <p:txBody>
          <a:bodyPr/>
          <a:lstStyle/>
          <a:p>
            <a:pPr>
              <a:defRPr/>
            </a:pPr>
            <a:fld id="{39D97A3B-AFFC-4674-AD62-38A9075E27AB}" type="slidenum">
              <a:rPr lang="en-US" smtClean="0"/>
              <a:pPr>
                <a:defRPr/>
              </a:pPr>
              <a:t>9</a:t>
            </a:fld>
            <a:endParaRPr lang="en-US" dirty="0"/>
          </a:p>
        </p:txBody>
      </p:sp>
    </p:spTree>
    <p:extLst>
      <p:ext uri="{BB962C8B-B14F-4D97-AF65-F5344CB8AC3E}">
        <p14:creationId xmlns:p14="http://schemas.microsoft.com/office/powerpoint/2010/main" val="1271343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When straightening, some preconditions exist –all commonly used item are at one location , everything is labelled. </a:t>
            </a:r>
            <a:endParaRPr lang="en-GB"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10</a:t>
            </a:fld>
            <a:endParaRPr lang="nl-NL"/>
          </a:p>
        </p:txBody>
      </p:sp>
    </p:spTree>
    <p:extLst>
      <p:ext uri="{BB962C8B-B14F-4D97-AF65-F5344CB8AC3E}">
        <p14:creationId xmlns:p14="http://schemas.microsoft.com/office/powerpoint/2010/main" val="2554875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jdelijke aanduiding voor dia-afbeelding 1"/>
          <p:cNvSpPr>
            <a:spLocks noGrp="1" noRot="1" noChangeAspect="1" noTextEdit="1"/>
          </p:cNvSpPr>
          <p:nvPr>
            <p:ph type="sldImg"/>
          </p:nvPr>
        </p:nvSpPr>
        <p:spPr>
          <a:xfrm>
            <a:off x="857250" y="685800"/>
            <a:ext cx="5143500" cy="3429000"/>
          </a:xfrm>
          <a:ln/>
        </p:spPr>
      </p:sp>
      <p:sp>
        <p:nvSpPr>
          <p:cNvPr id="27651"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Here we see some examples of storerooms and workspaces where it is immediately clear what is present or in stock. This prevents any unnecessary searching for tools or materials. To locate tools on the shop floor, the use of shadow boards are preferred because they clearly show which tools are in use or missing.</a:t>
            </a:r>
          </a:p>
          <a:p>
            <a:endParaRPr lang="en-US" dirty="0" smtClean="0">
              <a:latin typeface="Arial" pitchFamily="34" charset="0"/>
              <a:cs typeface="Arial" pitchFamily="34" charset="0"/>
            </a:endParaRPr>
          </a:p>
        </p:txBody>
      </p:sp>
      <p:sp>
        <p:nvSpPr>
          <p:cNvPr id="27652"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65ED4BF7-88A0-4E50-B67F-A9956275F2E6}" type="slidenum">
              <a:rPr lang="en-US" smtClean="0"/>
              <a:pPr eaLnBrk="1" hangingPunct="1"/>
              <a:t>11</a:t>
            </a:fld>
            <a:endParaRPr lang="en-US" dirty="0" smtClean="0"/>
          </a:p>
        </p:txBody>
      </p:sp>
    </p:spTree>
    <p:extLst>
      <p:ext uri="{BB962C8B-B14F-4D97-AF65-F5344CB8AC3E}">
        <p14:creationId xmlns:p14="http://schemas.microsoft.com/office/powerpoint/2010/main" val="2954613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jdelijke aanduiding voor dia-afbeelding 1"/>
          <p:cNvSpPr>
            <a:spLocks noGrp="1" noRot="1" noChangeAspect="1" noTextEdit="1"/>
          </p:cNvSpPr>
          <p:nvPr>
            <p:ph type="sldImg"/>
          </p:nvPr>
        </p:nvSpPr>
        <p:spPr>
          <a:xfrm>
            <a:off x="857250" y="685800"/>
            <a:ext cx="5143500" cy="3429000"/>
          </a:xfrm>
          <a:ln/>
        </p:spPr>
      </p:sp>
      <p:sp>
        <p:nvSpPr>
          <p:cNvPr id="28675"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A consistently clean workspace can only be achieved with regular maintenance and inspection by people on the shop floor themselves. This also prevents problems with </a:t>
            </a:r>
            <a:r>
              <a:rPr lang="en-GB" dirty="0" smtClean="0">
                <a:latin typeface="Arial" pitchFamily="34" charset="0"/>
                <a:cs typeface="Arial" pitchFamily="34" charset="0"/>
              </a:rPr>
              <a:t>spillages </a:t>
            </a:r>
            <a:r>
              <a:rPr lang="en-GB" dirty="0" smtClean="0">
                <a:latin typeface="Arial" pitchFamily="34" charset="0"/>
                <a:cs typeface="Arial" pitchFamily="34" charset="0"/>
              </a:rPr>
              <a:t>and health risks. Deviations like </a:t>
            </a:r>
            <a:r>
              <a:rPr lang="en-GB" dirty="0" smtClean="0">
                <a:latin typeface="Arial" pitchFamily="34" charset="0"/>
                <a:cs typeface="Arial" pitchFamily="34" charset="0"/>
              </a:rPr>
              <a:t>waste, water </a:t>
            </a:r>
            <a:r>
              <a:rPr lang="en-GB" dirty="0" smtClean="0">
                <a:latin typeface="Arial" pitchFamily="34" charset="0"/>
                <a:cs typeface="Arial" pitchFamily="34" charset="0"/>
              </a:rPr>
              <a:t>and </a:t>
            </a:r>
            <a:r>
              <a:rPr lang="en-GB" dirty="0" smtClean="0">
                <a:latin typeface="Arial" pitchFamily="34" charset="0"/>
                <a:cs typeface="Arial" pitchFamily="34" charset="0"/>
              </a:rPr>
              <a:t>spillages </a:t>
            </a:r>
            <a:r>
              <a:rPr lang="en-GB" dirty="0" smtClean="0">
                <a:latin typeface="Arial" pitchFamily="34" charset="0"/>
                <a:cs typeface="Arial" pitchFamily="34" charset="0"/>
              </a:rPr>
              <a:t>are immediately visible. The cleaning and inspection of machines on the shop floor is called ‘first line maintenance’. This type of maintenance also allows you to create higher involvement of the shop floor personnel in the overall improvement process. Finally, it is important to prevent future pollutions by removing the source of pollution. </a:t>
            </a:r>
          </a:p>
          <a:p>
            <a:endParaRPr lang="en-US" dirty="0" smtClean="0">
              <a:latin typeface="Arial" pitchFamily="34" charset="0"/>
              <a:cs typeface="Arial" pitchFamily="34" charset="0"/>
            </a:endParaRPr>
          </a:p>
        </p:txBody>
      </p:sp>
      <p:sp>
        <p:nvSpPr>
          <p:cNvPr id="28676"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7D4E36D-AE08-4F49-B01F-297A486F69E7}" type="slidenum">
              <a:rPr lang="en-US" smtClean="0"/>
              <a:pPr eaLnBrk="1" hangingPunct="1"/>
              <a:t>12</a:t>
            </a:fld>
            <a:endParaRPr lang="en-US" dirty="0" smtClean="0"/>
          </a:p>
        </p:txBody>
      </p:sp>
    </p:spTree>
    <p:extLst>
      <p:ext uri="{BB962C8B-B14F-4D97-AF65-F5344CB8AC3E}">
        <p14:creationId xmlns:p14="http://schemas.microsoft.com/office/powerpoint/2010/main" val="1656991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r>
              <a:rPr lang="en-GB" dirty="0" smtClean="0"/>
              <a:t>If a department is involved in 5S for the first time, they have to decide which cleaning activities and inspections are necessary. A schema must be made that includes the different people responsible for the tasks and the frequency of each task. It is important to allow the people enough time to perform their tasks and it is important that all of the proper tools required to carry out these tasks are made available. </a:t>
            </a:r>
          </a:p>
          <a:p>
            <a:endParaRPr lang="en-GB" dirty="0" smtClean="0"/>
          </a:p>
          <a:p>
            <a:endParaRPr lang="nl-NL" dirty="0"/>
          </a:p>
        </p:txBody>
      </p:sp>
      <p:sp>
        <p:nvSpPr>
          <p:cNvPr id="4" name="Tijdelijke aanduiding voor dianummer 3"/>
          <p:cNvSpPr>
            <a:spLocks noGrp="1"/>
          </p:cNvSpPr>
          <p:nvPr>
            <p:ph type="sldNum" sz="quarter" idx="10"/>
          </p:nvPr>
        </p:nvSpPr>
        <p:spPr/>
        <p:txBody>
          <a:bodyPr/>
          <a:lstStyle/>
          <a:p>
            <a:pPr>
              <a:defRPr/>
            </a:pPr>
            <a:fld id="{39D97A3B-AFFC-4674-AD62-38A9075E27AB}" type="slidenum">
              <a:rPr lang="en-US" smtClean="0"/>
              <a:pPr>
                <a:defRPr/>
              </a:pPr>
              <a:t>13</a:t>
            </a:fld>
            <a:endParaRPr lang="en-US" dirty="0"/>
          </a:p>
        </p:txBody>
      </p:sp>
    </p:spTree>
    <p:extLst>
      <p:ext uri="{BB962C8B-B14F-4D97-AF65-F5344CB8AC3E}">
        <p14:creationId xmlns:p14="http://schemas.microsoft.com/office/powerpoint/2010/main" val="320427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Some preconditions for cleaning include –keeping space free of waste, clean regularly throughout the day and agree cleaning schedules.</a:t>
            </a:r>
            <a:endParaRPr lang="en-IE"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14</a:t>
            </a:fld>
            <a:endParaRPr lang="nl-NL"/>
          </a:p>
        </p:txBody>
      </p:sp>
    </p:spTree>
    <p:extLst>
      <p:ext uri="{BB962C8B-B14F-4D97-AF65-F5344CB8AC3E}">
        <p14:creationId xmlns:p14="http://schemas.microsoft.com/office/powerpoint/2010/main" val="4253082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jdelijke aanduiding voor dia-afbeelding 1"/>
          <p:cNvSpPr>
            <a:spLocks noGrp="1" noRot="1" noChangeAspect="1" noTextEdit="1"/>
          </p:cNvSpPr>
          <p:nvPr>
            <p:ph type="sldImg"/>
          </p:nvPr>
        </p:nvSpPr>
        <p:spPr>
          <a:xfrm>
            <a:off x="857250" y="685800"/>
            <a:ext cx="5143500" cy="3429000"/>
          </a:xfrm>
          <a:ln/>
        </p:spPr>
      </p:sp>
      <p:sp>
        <p:nvSpPr>
          <p:cNvPr id="29699"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Step four is called </a:t>
            </a:r>
            <a:r>
              <a:rPr lang="en-GB" dirty="0" err="1" smtClean="0">
                <a:latin typeface="Arial" pitchFamily="34" charset="0"/>
                <a:cs typeface="Arial" pitchFamily="34" charset="0"/>
              </a:rPr>
              <a:t>Seiketsu</a:t>
            </a:r>
            <a:r>
              <a:rPr lang="en-GB" dirty="0" smtClean="0">
                <a:latin typeface="Arial" pitchFamily="34" charset="0"/>
                <a:cs typeface="Arial" pitchFamily="34" charset="0"/>
              </a:rPr>
              <a:t> or Standardize. During this step, the guidelines and standards for the department must be made clear. These instructions have to be available on the </a:t>
            </a:r>
            <a:r>
              <a:rPr lang="en-GB" dirty="0" smtClean="0">
                <a:latin typeface="Arial" pitchFamily="34" charset="0"/>
                <a:cs typeface="Arial" pitchFamily="34" charset="0"/>
              </a:rPr>
              <a:t>work area, </a:t>
            </a:r>
            <a:r>
              <a:rPr lang="en-GB" dirty="0" smtClean="0">
                <a:latin typeface="Arial" pitchFamily="34" charset="0"/>
                <a:cs typeface="Arial" pitchFamily="34" charset="0"/>
              </a:rPr>
              <a:t>preferably in a visual manner. We expect everybody on the shop floor to be able to act if confronted with deviations or problems. Of course there must also be clear visual markers illustrating the standards and presence of health and safety articles.</a:t>
            </a:r>
          </a:p>
          <a:p>
            <a:endParaRPr lang="en-US" dirty="0" smtClean="0">
              <a:latin typeface="Arial" pitchFamily="34" charset="0"/>
              <a:cs typeface="Arial" pitchFamily="34" charset="0"/>
            </a:endParaRPr>
          </a:p>
        </p:txBody>
      </p:sp>
      <p:sp>
        <p:nvSpPr>
          <p:cNvPr id="29700"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668A8CF6-EA04-4E96-8338-C0808C99038D}" type="slidenum">
              <a:rPr lang="en-US" smtClean="0"/>
              <a:pPr eaLnBrk="1" hangingPunct="1"/>
              <a:t>15</a:t>
            </a:fld>
            <a:endParaRPr lang="en-US" dirty="0" smtClean="0"/>
          </a:p>
        </p:txBody>
      </p:sp>
    </p:spTree>
    <p:extLst>
      <p:ext uri="{BB962C8B-B14F-4D97-AF65-F5344CB8AC3E}">
        <p14:creationId xmlns:p14="http://schemas.microsoft.com/office/powerpoint/2010/main" val="5126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 last, and possibly most difficult step in 5S is called </a:t>
            </a:r>
            <a:r>
              <a:rPr lang="en-GB" dirty="0" err="1" smtClean="0"/>
              <a:t>Shitsuke</a:t>
            </a:r>
            <a:r>
              <a:rPr lang="en-GB" dirty="0" smtClean="0"/>
              <a:t> or Sustain. In this step we must come to realize how we will sustain all of our improvements. We can think about a variety of things here, such as: the training of new employees within 5S systems; The daily time required for cleaning according to instructions or the regular audits by independent persons. Also, the importance of good support from the management must not be underestimated. Managers need to set a good example or ‘walk-the-talk’. It is also important that they are actively involved in rewarding those involved when improvements are made, and acting appropriately when problems arise.</a:t>
            </a:r>
          </a:p>
          <a:p>
            <a:endParaRPr lang="en-GB"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16</a:t>
            </a:fld>
            <a:endParaRPr lang="nl-NL"/>
          </a:p>
        </p:txBody>
      </p:sp>
    </p:spTree>
    <p:extLst>
      <p:ext uri="{BB962C8B-B14F-4D97-AF65-F5344CB8AC3E}">
        <p14:creationId xmlns:p14="http://schemas.microsoft.com/office/powerpoint/2010/main" val="311428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jdelijke aanduiding voor dia-afbeelding 1"/>
          <p:cNvSpPr>
            <a:spLocks noGrp="1" noRot="1" noChangeAspect="1" noTextEdit="1"/>
          </p:cNvSpPr>
          <p:nvPr>
            <p:ph type="sldImg"/>
          </p:nvPr>
        </p:nvSpPr>
        <p:spPr>
          <a:xfrm>
            <a:off x="857250" y="685800"/>
            <a:ext cx="5143500" cy="3429000"/>
          </a:xfrm>
          <a:ln/>
        </p:spPr>
      </p:sp>
      <p:sp>
        <p:nvSpPr>
          <p:cNvPr id="30723"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smtClean="0">
                <a:latin typeface="Arial" pitchFamily="34" charset="0"/>
                <a:cs typeface="Arial" pitchFamily="34" charset="0"/>
              </a:rPr>
              <a:t>Here we can see an example of a possible control or audit list for 5S. Every department needs to establish a specific list for these inspections, together with the people on the shop floor. By regularly scoring these 5S situations and creating improvements, the awareness in this area increases.</a:t>
            </a:r>
          </a:p>
          <a:p>
            <a:endParaRPr lang="en-US" dirty="0" smtClean="0">
              <a:latin typeface="Arial" pitchFamily="34" charset="0"/>
              <a:cs typeface="Arial" pitchFamily="34" charset="0"/>
            </a:endParaRPr>
          </a:p>
        </p:txBody>
      </p:sp>
      <p:sp>
        <p:nvSpPr>
          <p:cNvPr id="30724" name="Tijdelijke aanduiding voor dia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685817" indent="-263776" eaLnBrk="0" hangingPunct="0">
              <a:defRPr>
                <a:solidFill>
                  <a:schemeClr val="tx1"/>
                </a:solidFill>
                <a:latin typeface="Arial" pitchFamily="34" charset="0"/>
                <a:cs typeface="Arial" pitchFamily="34" charset="0"/>
              </a:defRPr>
            </a:lvl2pPr>
            <a:lvl3pPr marL="1055103" indent="-211021" eaLnBrk="0" hangingPunct="0">
              <a:defRPr>
                <a:solidFill>
                  <a:schemeClr val="tx1"/>
                </a:solidFill>
                <a:latin typeface="Arial" pitchFamily="34" charset="0"/>
                <a:cs typeface="Arial" pitchFamily="34" charset="0"/>
              </a:defRPr>
            </a:lvl3pPr>
            <a:lvl4pPr marL="1477145" indent="-211021" eaLnBrk="0" hangingPunct="0">
              <a:defRPr>
                <a:solidFill>
                  <a:schemeClr val="tx1"/>
                </a:solidFill>
                <a:latin typeface="Arial" pitchFamily="34" charset="0"/>
                <a:cs typeface="Arial" pitchFamily="34" charset="0"/>
              </a:defRPr>
            </a:lvl4pPr>
            <a:lvl5pPr marL="1899186" indent="-211021" eaLnBrk="0" hangingPunct="0">
              <a:defRPr>
                <a:solidFill>
                  <a:schemeClr val="tx1"/>
                </a:solidFill>
                <a:latin typeface="Arial" pitchFamily="34" charset="0"/>
                <a:cs typeface="Arial" pitchFamily="34" charset="0"/>
              </a:defRPr>
            </a:lvl5pPr>
            <a:lvl6pPr marL="2321227" indent="-211021" eaLnBrk="0" fontAlgn="base" hangingPunct="0">
              <a:spcBef>
                <a:spcPct val="0"/>
              </a:spcBef>
              <a:spcAft>
                <a:spcPct val="0"/>
              </a:spcAft>
              <a:defRPr>
                <a:solidFill>
                  <a:schemeClr val="tx1"/>
                </a:solidFill>
                <a:latin typeface="Arial" pitchFamily="34" charset="0"/>
                <a:cs typeface="Arial" pitchFamily="34" charset="0"/>
              </a:defRPr>
            </a:lvl6pPr>
            <a:lvl7pPr marL="2743269" indent="-211021" eaLnBrk="0" fontAlgn="base" hangingPunct="0">
              <a:spcBef>
                <a:spcPct val="0"/>
              </a:spcBef>
              <a:spcAft>
                <a:spcPct val="0"/>
              </a:spcAft>
              <a:defRPr>
                <a:solidFill>
                  <a:schemeClr val="tx1"/>
                </a:solidFill>
                <a:latin typeface="Arial" pitchFamily="34" charset="0"/>
                <a:cs typeface="Arial" pitchFamily="34" charset="0"/>
              </a:defRPr>
            </a:lvl7pPr>
            <a:lvl8pPr marL="3165310" indent="-211021" eaLnBrk="0" fontAlgn="base" hangingPunct="0">
              <a:spcBef>
                <a:spcPct val="0"/>
              </a:spcBef>
              <a:spcAft>
                <a:spcPct val="0"/>
              </a:spcAft>
              <a:defRPr>
                <a:solidFill>
                  <a:schemeClr val="tx1"/>
                </a:solidFill>
                <a:latin typeface="Arial" pitchFamily="34" charset="0"/>
                <a:cs typeface="Arial" pitchFamily="34" charset="0"/>
              </a:defRPr>
            </a:lvl8pPr>
            <a:lvl9pPr marL="3587351" indent="-211021"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5FC5BBA1-3492-4FF9-A73E-31ACE5E12EC7}" type="slidenum">
              <a:rPr lang="en-US" smtClean="0"/>
              <a:pPr eaLnBrk="1" hangingPunct="1"/>
              <a:t>17</a:t>
            </a:fld>
            <a:endParaRPr lang="en-US" dirty="0" smtClean="0"/>
          </a:p>
        </p:txBody>
      </p:sp>
    </p:spTree>
    <p:extLst>
      <p:ext uri="{BB962C8B-B14F-4D97-AF65-F5344CB8AC3E}">
        <p14:creationId xmlns:p14="http://schemas.microsoft.com/office/powerpoint/2010/main" val="337448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Finally, after implementation of 5S, we can see the potential results a 5S project can achieve within a department. We can especially see that the prevention of waste is the first goal, together with improved safety on the shop floor. The direct availability of the right tools, materials and information creates a pleasant work environment. In the end, this will result in a better product quality. </a:t>
            </a:r>
          </a:p>
          <a:p>
            <a:endParaRPr lang="en-GB" dirty="0" smtClean="0"/>
          </a:p>
          <a:p>
            <a:r>
              <a:rPr lang="en-GB" dirty="0" smtClean="0"/>
              <a:t>----</a:t>
            </a:r>
          </a:p>
          <a:p>
            <a:endParaRPr lang="en-GB" dirty="0" smtClean="0"/>
          </a:p>
          <a:p>
            <a:r>
              <a:rPr lang="en-GB" dirty="0" smtClean="0"/>
              <a:t>We have now come to the end of this Yellow Belt training module. In this session, we have explained the 5S model and each of the 5 steps. The necessity to introduce 5S has been made clear and the advantages have been shown. This method is an important part of the Visual Factory, and a step in the direction towards world class manufacturing.</a:t>
            </a:r>
          </a:p>
          <a:p>
            <a:endParaRPr lang="en-GB" dirty="0" smtClean="0"/>
          </a:p>
          <a:p>
            <a:r>
              <a:rPr lang="en-GB" dirty="0" smtClean="0"/>
              <a:t>We thank you for your attention and we hope to see you back soon at the Lean Six Sigma Academy.</a:t>
            </a:r>
          </a:p>
          <a:p>
            <a:endParaRPr lang="en-GB" dirty="0" smtClean="0"/>
          </a:p>
          <a:p>
            <a:endParaRPr lang="en-GB" dirty="0"/>
          </a:p>
        </p:txBody>
      </p:sp>
      <p:sp>
        <p:nvSpPr>
          <p:cNvPr id="4" name="Slide Number Placeholder 3"/>
          <p:cNvSpPr>
            <a:spLocks noGrp="1"/>
          </p:cNvSpPr>
          <p:nvPr>
            <p:ph type="sldNum" sz="quarter" idx="10"/>
          </p:nvPr>
        </p:nvSpPr>
        <p:spPr/>
        <p:txBody>
          <a:bodyPr/>
          <a:lstStyle/>
          <a:p>
            <a:pPr>
              <a:defRPr/>
            </a:pPr>
            <a:fld id="{8F32DABC-3F6B-4988-B4C4-458D2B2D8BD4}" type="slidenum">
              <a:rPr lang="nl-NL" smtClean="0"/>
              <a:pPr>
                <a:defRPr/>
              </a:pPr>
              <a:t>18</a:t>
            </a:fld>
            <a:endParaRPr lang="nl-NL"/>
          </a:p>
        </p:txBody>
      </p:sp>
    </p:spTree>
    <p:extLst>
      <p:ext uri="{BB962C8B-B14F-4D97-AF65-F5344CB8AC3E}">
        <p14:creationId xmlns:p14="http://schemas.microsoft.com/office/powerpoint/2010/main" val="4204351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hyperlink" Target="http://www.wgvoost.nl/" TargetMode="External"/><Relationship Id="rId3" Type="http://schemas.openxmlformats.org/officeDocument/2006/relationships/hyperlink" Target="http://www.iscn.com/" TargetMode="External"/><Relationship Id="rId7" Type="http://schemas.openxmlformats.org/officeDocument/2006/relationships/hyperlink" Target="http://www.utwente.nl/" TargetMode="External"/><Relationship Id="rId2" Type="http://schemas.openxmlformats.org/officeDocument/2006/relationships/hyperlink" Target="http://www.symbolbv.nl/" TargetMode="External"/><Relationship Id="rId1" Type="http://schemas.openxmlformats.org/officeDocument/2006/relationships/slideMaster" Target="../slideMasters/slideMaster1.xml"/><Relationship Id="rId6" Type="http://schemas.openxmlformats.org/officeDocument/2006/relationships/hyperlink" Target="http://www.ul.ie/" TargetMode="External"/><Relationship Id="rId5" Type="http://schemas.openxmlformats.org/officeDocument/2006/relationships/hyperlink" Target="http://www.lssa.eu/" TargetMode="External"/><Relationship Id="rId4" Type="http://schemas.openxmlformats.org/officeDocument/2006/relationships/hyperlink" Target="http://www.rocvantwente.nl/" TargetMode="External"/><Relationship Id="rId9"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
    <p:spTree>
      <p:nvGrpSpPr>
        <p:cNvPr id="1" name=""/>
        <p:cNvGrpSpPr/>
        <p:nvPr/>
      </p:nvGrpSpPr>
      <p:grpSpPr>
        <a:xfrm>
          <a:off x="0" y="0"/>
          <a:ext cx="0" cy="0"/>
          <a:chOff x="0" y="0"/>
          <a:chExt cx="0" cy="0"/>
        </a:xfrm>
      </p:grpSpPr>
      <p:pic>
        <p:nvPicPr>
          <p:cNvPr id="6" name="Afbeelding 9"/>
          <p:cNvPicPr>
            <a:picLocks noChangeAspect="1"/>
          </p:cNvPicPr>
          <p:nvPr/>
        </p:nvPicPr>
        <p:blipFill>
          <a:blip r:embed="rId2" cstate="print"/>
          <a:srcRect/>
          <a:stretch>
            <a:fillRect/>
          </a:stretch>
        </p:blipFill>
        <p:spPr bwMode="auto">
          <a:xfrm>
            <a:off x="0" y="2286001"/>
            <a:ext cx="10287000" cy="3419475"/>
          </a:xfrm>
          <a:prstGeom prst="rect">
            <a:avLst/>
          </a:prstGeom>
          <a:noFill/>
          <a:ln w="9525">
            <a:noFill/>
            <a:miter lim="800000"/>
            <a:headEnd/>
            <a:tailEnd/>
          </a:ln>
        </p:spPr>
      </p:pic>
      <p:pic>
        <p:nvPicPr>
          <p:cNvPr id="7" name="Picture 2" descr="EU_flag_LLP_EN-01"/>
          <p:cNvPicPr>
            <a:picLocks noChangeAspect="1" noChangeArrowheads="1"/>
          </p:cNvPicPr>
          <p:nvPr/>
        </p:nvPicPr>
        <p:blipFill>
          <a:blip r:embed="rId3" cstate="print"/>
          <a:srcRect/>
          <a:stretch>
            <a:fillRect/>
          </a:stretch>
        </p:blipFill>
        <p:spPr bwMode="auto">
          <a:xfrm>
            <a:off x="364332" y="5876926"/>
            <a:ext cx="2348508" cy="815975"/>
          </a:xfrm>
          <a:prstGeom prst="rect">
            <a:avLst/>
          </a:prstGeom>
          <a:noFill/>
          <a:ln w="9525">
            <a:noFill/>
            <a:miter lim="800000"/>
            <a:headEnd/>
            <a:tailEnd/>
          </a:ln>
        </p:spPr>
      </p:pic>
      <p:pic>
        <p:nvPicPr>
          <p:cNvPr id="8" name="Afbeelding 12"/>
          <p:cNvPicPr>
            <a:picLocks noChangeAspect="1"/>
          </p:cNvPicPr>
          <p:nvPr/>
        </p:nvPicPr>
        <p:blipFill>
          <a:blip r:embed="rId4" cstate="print"/>
          <a:srcRect/>
          <a:stretch>
            <a:fillRect/>
          </a:stretch>
        </p:blipFill>
        <p:spPr bwMode="auto">
          <a:xfrm>
            <a:off x="6515101" y="609600"/>
            <a:ext cx="3175397" cy="1079500"/>
          </a:xfrm>
          <a:prstGeom prst="rect">
            <a:avLst/>
          </a:prstGeom>
          <a:noFill/>
          <a:ln w="9525">
            <a:noFill/>
            <a:miter lim="800000"/>
            <a:headEnd/>
            <a:tailEnd/>
          </a:ln>
        </p:spPr>
      </p:pic>
      <p:sp>
        <p:nvSpPr>
          <p:cNvPr id="2" name="Titel 1"/>
          <p:cNvSpPr>
            <a:spLocks noGrp="1"/>
          </p:cNvSpPr>
          <p:nvPr>
            <p:ph type="ctrTitle"/>
          </p:nvPr>
        </p:nvSpPr>
        <p:spPr>
          <a:xfrm>
            <a:off x="688005" y="2422800"/>
            <a:ext cx="9073008" cy="579600"/>
          </a:xfrm>
        </p:spPr>
        <p:txBody>
          <a:bodyPr anchor="t"/>
          <a:lstStyle>
            <a:lvl1pPr algn="l">
              <a:defRPr sz="3200" b="1">
                <a:solidFill>
                  <a:schemeClr val="tx1"/>
                </a:solidFill>
              </a:defRPr>
            </a:lvl1pPr>
          </a:lstStyle>
          <a:p>
            <a:r>
              <a:rPr lang="nl-NL" smtClean="0"/>
              <a:t>Klik om de stijl te bewerken</a:t>
            </a:r>
            <a:endParaRPr lang="nl-NL" dirty="0"/>
          </a:p>
        </p:txBody>
      </p:sp>
      <p:sp>
        <p:nvSpPr>
          <p:cNvPr id="3" name="Ondertitel 2"/>
          <p:cNvSpPr>
            <a:spLocks noGrp="1"/>
          </p:cNvSpPr>
          <p:nvPr>
            <p:ph type="subTitle" idx="1"/>
          </p:nvPr>
        </p:nvSpPr>
        <p:spPr>
          <a:xfrm>
            <a:off x="688005" y="3808800"/>
            <a:ext cx="7695000" cy="1548000"/>
          </a:xfrm>
        </p:spPr>
        <p:txBody>
          <a:bodyPr anchor="ctr" anchorCtr="1">
            <a:normAutofit/>
          </a:bodyPr>
          <a:lstStyle>
            <a:lvl1pPr marL="0" indent="0" algn="ctr">
              <a:buNone/>
              <a:defRPr sz="16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smtClean="0"/>
              <a:t>Klik om de ondertitelstijl van het model te bewerken</a:t>
            </a:r>
            <a:endParaRPr lang="nl-NL"/>
          </a:p>
        </p:txBody>
      </p:sp>
      <p:sp>
        <p:nvSpPr>
          <p:cNvPr id="10" name="Tijdelijke aanduiding voor tekst 9"/>
          <p:cNvSpPr>
            <a:spLocks noGrp="1"/>
          </p:cNvSpPr>
          <p:nvPr>
            <p:ph type="body" sz="quarter" idx="13"/>
          </p:nvPr>
        </p:nvSpPr>
        <p:spPr>
          <a:xfrm>
            <a:off x="4122899" y="6011999"/>
            <a:ext cx="5917050" cy="687600"/>
          </a:xfrm>
        </p:spPr>
        <p:txBody>
          <a:bodyPr/>
          <a:lstStyle>
            <a:lvl1pPr algn="r">
              <a:defRPr sz="3600" b="1">
                <a:solidFill>
                  <a:srgbClr val="C80F00"/>
                </a:solidFill>
                <a:latin typeface="Arial" pitchFamily="34" charset="0"/>
                <a:cs typeface="Arial" pitchFamily="34" charset="0"/>
              </a:defRPr>
            </a:lvl1pPr>
            <a:lvl2pPr algn="r">
              <a:defRPr sz="3600" b="1">
                <a:solidFill>
                  <a:srgbClr val="C80F00"/>
                </a:solidFill>
                <a:latin typeface="Arial Black" pitchFamily="34" charset="0"/>
              </a:defRPr>
            </a:lvl2pPr>
            <a:lvl3pPr algn="r">
              <a:defRPr sz="3600" b="1">
                <a:solidFill>
                  <a:srgbClr val="C80F00"/>
                </a:solidFill>
                <a:latin typeface="Arial Black" pitchFamily="34" charset="0"/>
              </a:defRPr>
            </a:lvl3pPr>
            <a:lvl4pPr algn="r">
              <a:defRPr sz="3600" b="1">
                <a:solidFill>
                  <a:srgbClr val="C80F00"/>
                </a:solidFill>
                <a:latin typeface="Arial Black" pitchFamily="34" charset="0"/>
              </a:defRPr>
            </a:lvl4pPr>
            <a:lvl5pPr algn="r">
              <a:defRPr sz="3600" b="1">
                <a:solidFill>
                  <a:srgbClr val="C80F00"/>
                </a:solidFill>
                <a:latin typeface="Arial Black" pitchFamily="34" charset="0"/>
              </a:defRPr>
            </a:lvl5pPr>
          </a:lstStyle>
          <a:p>
            <a:pPr lvl="0"/>
            <a:r>
              <a:rPr lang="nl-NL" smtClean="0"/>
              <a:t>Klik om de modelstijlen te bewerken</a:t>
            </a:r>
          </a:p>
        </p:txBody>
      </p:sp>
      <p:sp>
        <p:nvSpPr>
          <p:cNvPr id="12" name="Tijdelijke aanduiding voor inhoud 11"/>
          <p:cNvSpPr>
            <a:spLocks noGrp="1"/>
          </p:cNvSpPr>
          <p:nvPr>
            <p:ph sz="quarter" idx="17"/>
          </p:nvPr>
        </p:nvSpPr>
        <p:spPr>
          <a:xfrm>
            <a:off x="1017718" y="2998800"/>
            <a:ext cx="8743295" cy="431800"/>
          </a:xfrm>
        </p:spPr>
        <p:txBody>
          <a:bodyPr/>
          <a:lstStyle>
            <a:lvl1pPr>
              <a:defRPr sz="1600">
                <a:solidFill>
                  <a:schemeClr val="tx1"/>
                </a:solidFill>
              </a:defRPr>
            </a:lvl1pPr>
          </a:lstStyle>
          <a:p>
            <a:pPr lvl="0"/>
            <a:r>
              <a:rPr lang="nl-NL" smtClean="0"/>
              <a:t>Klik om de modelstijlen te bewerken</a:t>
            </a:r>
          </a:p>
        </p:txBody>
      </p:sp>
      <p:sp>
        <p:nvSpPr>
          <p:cNvPr id="9" name="Tijdelijke aanduiding voor voettekst 4"/>
          <p:cNvSpPr>
            <a:spLocks noGrp="1"/>
          </p:cNvSpPr>
          <p:nvPr>
            <p:ph type="ftr" sz="quarter" idx="18"/>
          </p:nvPr>
        </p:nvSpPr>
        <p:spPr/>
        <p:txBody>
          <a:bodyPr/>
          <a:lstStyle>
            <a:lvl1pPr>
              <a:defRPr/>
            </a:lvl1pPr>
          </a:lstStyle>
          <a:p>
            <a:pPr>
              <a:defRPr/>
            </a:pPr>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idx="1"/>
          </p:nvPr>
        </p:nvSpPr>
        <p:spPr/>
        <p:txBody>
          <a:body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12602" y="4406901"/>
            <a:ext cx="8743950" cy="1362075"/>
          </a:xfrm>
        </p:spPr>
        <p:txBody>
          <a:bodyPr anchor="t"/>
          <a:lstStyle>
            <a:lvl1pPr algn="l">
              <a:defRPr sz="3600" b="1" cap="all">
                <a:solidFill>
                  <a:schemeClr val="tx1"/>
                </a:solidFill>
              </a:defRPr>
            </a:lvl1pPr>
          </a:lstStyle>
          <a:p>
            <a:r>
              <a:rPr lang="nl-NL" smtClean="0"/>
              <a:t>Klik om de stijl te bewerken</a:t>
            </a:r>
            <a:endParaRPr lang="nl-NL" dirty="0"/>
          </a:p>
        </p:txBody>
      </p:sp>
      <p:sp>
        <p:nvSpPr>
          <p:cNvPr id="3" name="Tijdelijke aanduiding voor tekst 2"/>
          <p:cNvSpPr>
            <a:spLocks noGrp="1"/>
          </p:cNvSpPr>
          <p:nvPr>
            <p:ph type="body" idx="1"/>
          </p:nvPr>
        </p:nvSpPr>
        <p:spPr>
          <a:xfrm>
            <a:off x="812602" y="2906713"/>
            <a:ext cx="8743950" cy="1500187"/>
          </a:xfrm>
        </p:spPr>
        <p:txBody>
          <a:bodyPr anchor="b"/>
          <a:lstStyle>
            <a:lvl1pPr marL="0" indent="0">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smtClean="0"/>
              <a:t>Klik om de modelstijlen te bewerken</a:t>
            </a:r>
          </a:p>
        </p:txBody>
      </p:sp>
      <p:sp>
        <p:nvSpPr>
          <p:cNvPr id="4"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inhoud 2"/>
          <p:cNvSpPr>
            <a:spLocks noGrp="1"/>
          </p:cNvSpPr>
          <p:nvPr>
            <p:ph sz="half" idx="1"/>
          </p:nvPr>
        </p:nvSpPr>
        <p:spPr>
          <a:xfrm>
            <a:off x="514350"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4" name="Tijdelijke aanduiding voor inhoud 3"/>
          <p:cNvSpPr>
            <a:spLocks noGrp="1"/>
          </p:cNvSpPr>
          <p:nvPr>
            <p:ph sz="half" idx="2"/>
          </p:nvPr>
        </p:nvSpPr>
        <p:spPr>
          <a:xfrm>
            <a:off x="5229225" y="1440000"/>
            <a:ext cx="4543425" cy="5040000"/>
          </a:xfrm>
        </p:spPr>
        <p:txBody>
          <a:bodyPr/>
          <a:lstStyle>
            <a:lvl1pPr>
              <a:defRPr sz="24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smtClean="0"/>
              <a:t>Klik om de stijl te bewerken</a:t>
            </a:r>
            <a:endParaRPr lang="nl-NL"/>
          </a:p>
        </p:txBody>
      </p:sp>
      <p:sp>
        <p:nvSpPr>
          <p:cNvPr id="3" name="Tijdelijke aanduiding voor tekst 2"/>
          <p:cNvSpPr>
            <a:spLocks noGrp="1"/>
          </p:cNvSpPr>
          <p:nvPr>
            <p:ph type="body" idx="1"/>
          </p:nvPr>
        </p:nvSpPr>
        <p:spPr>
          <a:xfrm>
            <a:off x="514350" y="1535113"/>
            <a:ext cx="454521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4" name="Tijdelijke aanduiding voor inhoud 3"/>
          <p:cNvSpPr>
            <a:spLocks noGrp="1"/>
          </p:cNvSpPr>
          <p:nvPr>
            <p:ph sz="half" idx="2"/>
          </p:nvPr>
        </p:nvSpPr>
        <p:spPr>
          <a:xfrm>
            <a:off x="514350" y="2174875"/>
            <a:ext cx="4545212"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5" name="Tijdelijke aanduiding voor tekst 4"/>
          <p:cNvSpPr>
            <a:spLocks noGrp="1"/>
          </p:cNvSpPr>
          <p:nvPr>
            <p:ph type="body" sz="quarter" idx="3"/>
          </p:nvPr>
        </p:nvSpPr>
        <p:spPr>
          <a:xfrm>
            <a:off x="5225654" y="1535113"/>
            <a:ext cx="454699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smtClean="0"/>
              <a:t>Klik om de modelstijlen te bewerken</a:t>
            </a:r>
          </a:p>
        </p:txBody>
      </p:sp>
      <p:sp>
        <p:nvSpPr>
          <p:cNvPr id="6" name="Tijdelijke aanduiding voor inhoud 5"/>
          <p:cNvSpPr>
            <a:spLocks noGrp="1"/>
          </p:cNvSpPr>
          <p:nvPr>
            <p:ph sz="quarter" idx="4"/>
          </p:nvPr>
        </p:nvSpPr>
        <p:spPr>
          <a:xfrm>
            <a:off x="5225654" y="2174875"/>
            <a:ext cx="4546997" cy="3951288"/>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nl-NL" smtClean="0"/>
              <a:t>Klik om de modelstijlen te bewerken</a:t>
            </a:r>
          </a:p>
          <a:p>
            <a:pPr lvl="1"/>
            <a:r>
              <a:rPr lang="nl-NL" smtClean="0"/>
              <a:t>Tweede niveau</a:t>
            </a:r>
          </a:p>
          <a:p>
            <a:pPr lvl="2"/>
            <a:r>
              <a:rPr lang="nl-NL" smtClean="0"/>
              <a:t>Derde niveau</a:t>
            </a:r>
          </a:p>
          <a:p>
            <a:pPr lvl="3"/>
            <a:r>
              <a:rPr lang="nl-NL" smtClean="0"/>
              <a:t>Vierde niveau</a:t>
            </a:r>
          </a:p>
          <a:p>
            <a:pPr lvl="4"/>
            <a:r>
              <a:rPr lang="nl-NL" smtClean="0"/>
              <a:t>Vijfde niveau</a:t>
            </a:r>
            <a:endParaRPr lang="nl-NL" dirty="0"/>
          </a:p>
        </p:txBody>
      </p:sp>
      <p:sp>
        <p:nvSpPr>
          <p:cNvPr id="7"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smtClean="0"/>
              <a:t>Klik om de stijl te bewerken</a:t>
            </a:r>
            <a:endParaRPr lang="nl-NL"/>
          </a:p>
        </p:txBody>
      </p:sp>
      <p:sp>
        <p:nvSpPr>
          <p:cNvPr id="3"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voettekst 4"/>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fsluitdia">
    <p:spTree>
      <p:nvGrpSpPr>
        <p:cNvPr id="1" name=""/>
        <p:cNvGrpSpPr/>
        <p:nvPr/>
      </p:nvGrpSpPr>
      <p:grpSpPr>
        <a:xfrm>
          <a:off x="0" y="0"/>
          <a:ext cx="0" cy="0"/>
          <a:chOff x="0" y="0"/>
          <a:chExt cx="0" cy="0"/>
        </a:xfrm>
      </p:grpSpPr>
      <p:sp>
        <p:nvSpPr>
          <p:cNvPr id="2" name="Tekstvak 9"/>
          <p:cNvSpPr txBox="1">
            <a:spLocks noChangeAspect="1"/>
          </p:cNvSpPr>
          <p:nvPr/>
        </p:nvSpPr>
        <p:spPr bwMode="auto">
          <a:xfrm>
            <a:off x="689372" y="238126"/>
            <a:ext cx="7288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r>
              <a:rPr lang="sl-SI" altLang="nl-NL" sz="2800" b="1" smtClean="0">
                <a:solidFill>
                  <a:srgbClr val="000000"/>
                </a:solidFill>
                <a:latin typeface="Arial" charset="0"/>
              </a:rPr>
              <a:t>Reference to Authors</a:t>
            </a:r>
            <a:endParaRPr lang="en-GB" altLang="nl-NL" smtClean="0"/>
          </a:p>
        </p:txBody>
      </p:sp>
      <p:sp>
        <p:nvSpPr>
          <p:cNvPr id="3" name="Rechthoek 11"/>
          <p:cNvSpPr>
            <a:spLocks noChangeArrowheads="1"/>
          </p:cNvSpPr>
          <p:nvPr/>
        </p:nvSpPr>
        <p:spPr bwMode="auto">
          <a:xfrm>
            <a:off x="810816" y="1439863"/>
            <a:ext cx="891004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Calibri" pitchFamily="34" charset="0"/>
                <a:cs typeface="Arial" charset="0"/>
              </a:defRPr>
            </a:lvl1pPr>
            <a:lvl2pPr marL="447675" indent="-266700" eaLnBrk="0" hangingPunct="0">
              <a:defRPr>
                <a:solidFill>
                  <a:schemeClr val="tx1"/>
                </a:solidFill>
                <a:latin typeface="Calibri" pitchFamily="34" charset="0"/>
                <a:cs typeface="Arial" charset="0"/>
              </a:defRPr>
            </a:lvl2pPr>
            <a:lvl3pPr marL="985838" indent="-2667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This Training Material has been certified according to the rules of the ‘ECQA – European Certification and Qualification Association’</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1" eaLnBrk="1" hangingPunct="1">
              <a:spcBef>
                <a:spcPct val="20000"/>
              </a:spcBef>
              <a:buClr>
                <a:srgbClr val="C80F00"/>
              </a:buClr>
              <a:buSzPct val="120000"/>
              <a:buFont typeface="Arial" charset="0"/>
              <a:buChar char="•"/>
              <a:defRPr/>
            </a:pPr>
            <a:r>
              <a:rPr lang="en-US" altLang="nl-NL" sz="1600" b="1" smtClean="0">
                <a:solidFill>
                  <a:srgbClr val="000000"/>
                </a:solidFill>
                <a:latin typeface="Arial" charset="0"/>
              </a:rPr>
              <a:t>The Training Material was developed within the international consortium ‘LSSH – Lean Six Sigma for Healthcare’</a:t>
            </a: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Symbol BV		Netherlands		</a:t>
            </a:r>
            <a:r>
              <a:rPr lang="en-US" altLang="nl-NL" sz="1200" smtClean="0">
                <a:solidFill>
                  <a:srgbClr val="000000"/>
                </a:solidFill>
                <a:latin typeface="Arial" charset="0"/>
                <a:hlinkClick r:id="rId2"/>
              </a:rPr>
              <a:t>www.symbolbv.nl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ISCN Ltd./Ges.m.b.H, 	Ireland/Austria	</a:t>
            </a:r>
            <a:r>
              <a:rPr lang="en-US" altLang="nl-NL" sz="1200" smtClean="0">
                <a:solidFill>
                  <a:srgbClr val="000000"/>
                </a:solidFill>
                <a:latin typeface="Arial" charset="0"/>
                <a:hlinkClick r:id="rId3"/>
              </a:rPr>
              <a:t>www.iscn.com</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ROC of Twente	Netherlands		</a:t>
            </a:r>
            <a:r>
              <a:rPr lang="en-US" altLang="nl-NL" sz="1200" smtClean="0">
                <a:solidFill>
                  <a:srgbClr val="000000"/>
                </a:solidFill>
                <a:latin typeface="Arial" charset="0"/>
                <a:hlinkClick r:id="rId4"/>
              </a:rPr>
              <a:t>www.rocvantwente.nl</a:t>
            </a:r>
            <a:r>
              <a:rPr lang="en-US" altLang="nl-NL" sz="1200" smtClean="0">
                <a:solidFill>
                  <a:srgbClr val="000000"/>
                </a:solidFill>
                <a:latin typeface="Arial" charset="0"/>
              </a:rPr>
              <a:t> </a:t>
            </a: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LSSA BV		Netherlands		</a:t>
            </a:r>
            <a:r>
              <a:rPr lang="en-US" altLang="nl-NL" sz="1200" smtClean="0">
                <a:solidFill>
                  <a:srgbClr val="000000"/>
                </a:solidFill>
                <a:latin typeface="Arial" charset="0"/>
                <a:hlinkClick r:id="rId5"/>
              </a:rPr>
              <a:t>www.lssa.eu</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Limerick	Ireland		</a:t>
            </a:r>
            <a:r>
              <a:rPr lang="en-US" altLang="nl-NL" sz="1200" smtClean="0">
                <a:solidFill>
                  <a:srgbClr val="000000"/>
                </a:solidFill>
                <a:latin typeface="Arial" charset="0"/>
                <a:hlinkClick r:id="rId6"/>
              </a:rPr>
              <a:t>www.ul.ie</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University of Twente	Netherlands		</a:t>
            </a:r>
            <a:r>
              <a:rPr lang="en-US" altLang="nl-NL" sz="1200" smtClean="0">
                <a:solidFill>
                  <a:srgbClr val="000000"/>
                </a:solidFill>
                <a:latin typeface="Arial" charset="0"/>
                <a:hlinkClick r:id="rId7"/>
              </a:rPr>
              <a:t>www.utwente.nl</a:t>
            </a:r>
            <a:endParaRPr lang="en-US" altLang="nl-NL" sz="1200" smtClean="0">
              <a:solidFill>
                <a:srgbClr val="000000"/>
              </a:solidFill>
              <a:latin typeface="Arial" charset="0"/>
            </a:endParaRPr>
          </a:p>
          <a:p>
            <a:pPr lvl="2" eaLnBrk="1" hangingPunct="1">
              <a:spcBef>
                <a:spcPct val="20000"/>
              </a:spcBef>
              <a:buClr>
                <a:srgbClr val="C80F00"/>
              </a:buClr>
              <a:buSzPct val="120000"/>
              <a:buFont typeface="Arial" charset="0"/>
              <a:buChar char="•"/>
              <a:defRPr/>
            </a:pPr>
            <a:r>
              <a:rPr lang="en-US" altLang="nl-NL" sz="1200" smtClean="0">
                <a:solidFill>
                  <a:srgbClr val="000000"/>
                </a:solidFill>
                <a:latin typeface="Arial" charset="0"/>
              </a:rPr>
              <a:t>WGV Oost		Netherlands		</a:t>
            </a:r>
            <a:r>
              <a:rPr lang="en-US" altLang="nl-NL" sz="1200" smtClean="0">
                <a:solidFill>
                  <a:srgbClr val="000000"/>
                </a:solidFill>
                <a:latin typeface="Arial" charset="0"/>
                <a:hlinkClick r:id="rId8"/>
              </a:rPr>
              <a:t>www.wgvoost.nl</a:t>
            </a:r>
            <a:endParaRPr lang="en-US" altLang="nl-NL" sz="1200" smtClean="0">
              <a:solidFill>
                <a:srgbClr val="000000"/>
              </a:solidFill>
              <a:latin typeface="Arial" charset="0"/>
            </a:endParaRPr>
          </a:p>
          <a:p>
            <a:pPr lvl="1" eaLnBrk="1" hangingPunct="1">
              <a:spcBef>
                <a:spcPct val="20000"/>
              </a:spcBef>
              <a:buClr>
                <a:srgbClr val="C80F00"/>
              </a:buClr>
              <a:buSzPct val="120000"/>
              <a:buFont typeface="Arial" charset="0"/>
              <a:buChar char="•"/>
              <a:defRPr/>
            </a:pPr>
            <a:endParaRPr lang="en-US" altLang="nl-NL" sz="1600" b="1" smtClean="0">
              <a:solidFill>
                <a:srgbClr val="000000"/>
              </a:solidFill>
              <a:latin typeface="Arial" charset="0"/>
            </a:endParaRPr>
          </a:p>
        </p:txBody>
      </p:sp>
      <p:pic>
        <p:nvPicPr>
          <p:cNvPr id="4" name="Picture 2" descr="EU_flag_LLP_EN-01"/>
          <p:cNvPicPr>
            <a:picLocks noChangeAspect="1" noChangeArrowheads="1"/>
          </p:cNvPicPr>
          <p:nvPr/>
        </p:nvPicPr>
        <p:blipFill>
          <a:blip r:embed="rId9" cstate="print"/>
          <a:srcRect/>
          <a:stretch>
            <a:fillRect/>
          </a:stretch>
        </p:blipFill>
        <p:spPr bwMode="auto">
          <a:xfrm>
            <a:off x="1092995" y="5249864"/>
            <a:ext cx="2348508" cy="815975"/>
          </a:xfrm>
          <a:prstGeom prst="rect">
            <a:avLst/>
          </a:prstGeom>
          <a:noFill/>
          <a:ln w="9525">
            <a:noFill/>
            <a:miter lim="800000"/>
            <a:headEnd/>
            <a:tailEnd/>
          </a:ln>
        </p:spPr>
      </p:pic>
      <p:sp>
        <p:nvSpPr>
          <p:cNvPr id="5" name="Tekstvak 13"/>
          <p:cNvSpPr txBox="1">
            <a:spLocks noChangeArrowheads="1"/>
          </p:cNvSpPr>
          <p:nvPr/>
        </p:nvSpPr>
        <p:spPr bwMode="auto">
          <a:xfrm>
            <a:off x="3361135" y="5249864"/>
            <a:ext cx="631864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r>
              <a:rPr lang="en-US" altLang="nl-NL" sz="1200" i="1" smtClean="0"/>
              <a:t>This project has been funded with support from the European Commission under agreement EAC-2012-0635. This publication/communication reflects the views only of the author, and the Commission cannot be held responsible for any use which may be made of the information contained therein.</a:t>
            </a:r>
          </a:p>
          <a:p>
            <a:pPr eaLnBrk="1" hangingPunct="1">
              <a:defRPr/>
            </a:pPr>
            <a:endParaRPr lang="en-US" altLang="nl-NL" sz="1200" i="1" smtClean="0"/>
          </a:p>
          <a:p>
            <a:pPr eaLnBrk="1" hangingPunct="1">
              <a:defRPr/>
            </a:pPr>
            <a:r>
              <a:rPr lang="en-US" altLang="nl-NL" sz="1200" smtClean="0"/>
              <a:t>This publication reflects the views only of the author</a:t>
            </a:r>
            <a:r>
              <a:rPr lang="sl-SI" altLang="nl-NL" sz="1200" smtClean="0"/>
              <a:t>s</a:t>
            </a:r>
            <a:r>
              <a:rPr lang="en-US" altLang="nl-NL" sz="1200" smtClean="0"/>
              <a:t>, and the Commission cannot be held responsible for any use which may be made of the information contained therein.</a:t>
            </a:r>
          </a:p>
        </p:txBody>
      </p:sp>
      <p:sp>
        <p:nvSpPr>
          <p:cNvPr id="6" name="Tijdelijke aanduiding voor voettekst 2"/>
          <p:cNvSpPr>
            <a:spLocks noGrp="1"/>
          </p:cNvSpPr>
          <p:nvPr>
            <p:ph type="ftr" sz="quarter" idx="10"/>
          </p:nvPr>
        </p:nvSpPr>
        <p:spPr/>
        <p:txBody>
          <a:bodyPr/>
          <a:lstStyle>
            <a:lvl1pPr>
              <a:defRPr/>
            </a:lvl1pPr>
          </a:lstStyle>
          <a:p>
            <a:pPr>
              <a:defRPr/>
            </a:pPr>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hoek 1"/>
          <p:cNvSpPr/>
          <p:nvPr/>
        </p:nvSpPr>
        <p:spPr>
          <a:xfrm>
            <a:off x="10716" y="6696076"/>
            <a:ext cx="10287000" cy="180975"/>
          </a:xfrm>
          <a:prstGeom prst="rect">
            <a:avLst/>
          </a:prstGeom>
          <a:solidFill>
            <a:srgbClr val="C8B8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chemeClr val="tx1"/>
              </a:solidFill>
            </a:endParaRPr>
          </a:p>
        </p:txBody>
      </p:sp>
      <p:sp>
        <p:nvSpPr>
          <p:cNvPr id="1027" name="Tijdelijke aanduiding voor titel 1"/>
          <p:cNvSpPr>
            <a:spLocks noGrp="1"/>
          </p:cNvSpPr>
          <p:nvPr>
            <p:ph type="title"/>
          </p:nvPr>
        </p:nvSpPr>
        <p:spPr bwMode="auto">
          <a:xfrm>
            <a:off x="687587" y="238126"/>
            <a:ext cx="7290197" cy="6000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ltLang="nl-NL" smtClean="0"/>
              <a:t>Klik om de stijl te bewerken</a:t>
            </a:r>
          </a:p>
        </p:txBody>
      </p:sp>
      <p:sp>
        <p:nvSpPr>
          <p:cNvPr id="1028" name="Tijdelijke aanduiding voor tekst 2"/>
          <p:cNvSpPr>
            <a:spLocks noGrp="1"/>
          </p:cNvSpPr>
          <p:nvPr>
            <p:ph type="body" idx="1"/>
          </p:nvPr>
        </p:nvSpPr>
        <p:spPr bwMode="auto">
          <a:xfrm>
            <a:off x="810816" y="1439863"/>
            <a:ext cx="8910043"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ltLang="nl-NL" smtClean="0"/>
              <a:t>Klik om de modelstijlen te bewerken</a:t>
            </a:r>
          </a:p>
          <a:p>
            <a:pPr lvl="1"/>
            <a:r>
              <a:rPr lang="nl-NL" altLang="nl-NL" smtClean="0"/>
              <a:t>Tweede niveau</a:t>
            </a:r>
          </a:p>
          <a:p>
            <a:pPr lvl="2"/>
            <a:r>
              <a:rPr lang="nl-NL" altLang="nl-NL" smtClean="0"/>
              <a:t>Derde niveau</a:t>
            </a:r>
          </a:p>
          <a:p>
            <a:pPr lvl="3"/>
            <a:r>
              <a:rPr lang="nl-NL" altLang="nl-NL" smtClean="0"/>
              <a:t>Vierde niveau</a:t>
            </a:r>
          </a:p>
          <a:p>
            <a:pPr lvl="4"/>
            <a:r>
              <a:rPr lang="nl-NL" altLang="nl-NL" smtClean="0"/>
              <a:t>Vijfde niveau</a:t>
            </a:r>
          </a:p>
        </p:txBody>
      </p:sp>
      <p:sp>
        <p:nvSpPr>
          <p:cNvPr id="5" name="Tijdelijke aanduiding voor voettekst 4"/>
          <p:cNvSpPr>
            <a:spLocks noGrp="1"/>
          </p:cNvSpPr>
          <p:nvPr>
            <p:ph type="ftr" sz="quarter" idx="3"/>
          </p:nvPr>
        </p:nvSpPr>
        <p:spPr>
          <a:xfrm>
            <a:off x="1468040" y="6702426"/>
            <a:ext cx="1459112" cy="161925"/>
          </a:xfrm>
          <a:prstGeom prst="rect">
            <a:avLst/>
          </a:prstGeom>
        </p:spPr>
        <p:txBody>
          <a:bodyPr vert="horz" lIns="91440" tIns="45720" rIns="91440" bIns="45720" rtlCol="0" anchor="ctr"/>
          <a:lstStyle>
            <a:lvl1pPr algn="l" fontAlgn="auto">
              <a:spcBef>
                <a:spcPts val="0"/>
              </a:spcBef>
              <a:spcAft>
                <a:spcPts val="0"/>
              </a:spcAft>
              <a:defRPr sz="1000">
                <a:solidFill>
                  <a:schemeClr val="tx1"/>
                </a:solidFill>
                <a:latin typeface="+mn-lt"/>
                <a:cs typeface="+mn-cs"/>
              </a:defRPr>
            </a:lvl1pPr>
          </a:lstStyle>
          <a:p>
            <a:pPr>
              <a:defRPr/>
            </a:pPr>
            <a:endParaRPr lang="nl-NL"/>
          </a:p>
        </p:txBody>
      </p:sp>
      <p:sp>
        <p:nvSpPr>
          <p:cNvPr id="1032" name="Rectangle 9"/>
          <p:cNvSpPr>
            <a:spLocks noChangeArrowheads="1"/>
          </p:cNvSpPr>
          <p:nvPr/>
        </p:nvSpPr>
        <p:spPr bwMode="auto">
          <a:xfrm>
            <a:off x="9636919" y="6702425"/>
            <a:ext cx="66079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defRPr/>
            </a:pPr>
            <a:fld id="{E7614680-C1C4-49E0-B33A-8D97F1DE81D6}" type="slidenum">
              <a:rPr lang="nl-NL" altLang="nl-NL" sz="1000" smtClean="0"/>
              <a:pPr algn="ctr" eaLnBrk="1" hangingPunct="1">
                <a:defRPr/>
              </a:pPr>
              <a:t>‹#›</a:t>
            </a:fld>
            <a:endParaRPr lang="nl-NL" altLang="nl-NL" sz="1000" smtClean="0"/>
          </a:p>
        </p:txBody>
      </p:sp>
      <p:sp>
        <p:nvSpPr>
          <p:cNvPr id="1036" name="Text Box 20"/>
          <p:cNvSpPr txBox="1">
            <a:spLocks noChangeArrowheads="1"/>
          </p:cNvSpPr>
          <p:nvPr/>
        </p:nvSpPr>
        <p:spPr bwMode="auto">
          <a:xfrm>
            <a:off x="10716" y="6677026"/>
            <a:ext cx="1457325" cy="18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0" bIns="0" anchor="b"/>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spcBef>
                <a:spcPct val="20000"/>
              </a:spcBef>
              <a:buClr>
                <a:srgbClr val="0000FF"/>
              </a:buClr>
              <a:buSzPct val="125000"/>
              <a:defRPr/>
            </a:pPr>
            <a:r>
              <a:rPr lang="en-US" sz="1000" dirty="0" smtClean="0"/>
              <a:t>© LSSH 2014</a:t>
            </a:r>
          </a:p>
        </p:txBody>
      </p:sp>
      <p:cxnSp>
        <p:nvCxnSpPr>
          <p:cNvPr id="11" name="Rechte verbindingslijn 10"/>
          <p:cNvCxnSpPr/>
          <p:nvPr/>
        </p:nvCxnSpPr>
        <p:spPr>
          <a:xfrm>
            <a:off x="0" y="1052514"/>
            <a:ext cx="10287000" cy="1587"/>
          </a:xfrm>
          <a:prstGeom prst="line">
            <a:avLst/>
          </a:prstGeom>
          <a:ln>
            <a:solidFill>
              <a:srgbClr val="C41721"/>
            </a:solidFill>
          </a:ln>
        </p:spPr>
        <p:style>
          <a:lnRef idx="1">
            <a:schemeClr val="accent1"/>
          </a:lnRef>
          <a:fillRef idx="0">
            <a:schemeClr val="accent1"/>
          </a:fillRef>
          <a:effectRef idx="0">
            <a:schemeClr val="accent1"/>
          </a:effectRef>
          <a:fontRef idx="minor">
            <a:schemeClr val="tx1"/>
          </a:fontRef>
        </p:style>
      </p:cxnSp>
      <p:pic>
        <p:nvPicPr>
          <p:cNvPr id="1033" name="Afbeelding 6"/>
          <p:cNvPicPr>
            <a:picLocks noChangeAspect="1"/>
          </p:cNvPicPr>
          <p:nvPr/>
        </p:nvPicPr>
        <p:blipFill>
          <a:blip r:embed="rId10" cstate="print"/>
          <a:srcRect/>
          <a:stretch>
            <a:fillRect/>
          </a:stretch>
        </p:blipFill>
        <p:spPr bwMode="auto">
          <a:xfrm>
            <a:off x="8017074" y="220663"/>
            <a:ext cx="1905595" cy="6477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07" r:id="rId1"/>
    <p:sldLayoutId id="2147483701" r:id="rId2"/>
    <p:sldLayoutId id="2147483702" r:id="rId3"/>
    <p:sldLayoutId id="2147483703" r:id="rId4"/>
    <p:sldLayoutId id="2147483704" r:id="rId5"/>
    <p:sldLayoutId id="2147483705" r:id="rId6"/>
    <p:sldLayoutId id="2147483706" r:id="rId7"/>
    <p:sldLayoutId id="2147483708" r:id="rId8"/>
  </p:sldLayoutIdLst>
  <p:timing>
    <p:tnLst>
      <p:par>
        <p:cTn id="1" dur="indefinite" restart="never" nodeType="tmRoot"/>
      </p:par>
    </p:tnLst>
  </p:timing>
  <p:hf sldNum="0" hdr="0" dt="0"/>
  <p:txStyles>
    <p:titleStyle>
      <a:lvl1pPr algn="ctr" rtl="0" eaLnBrk="0" fontAlgn="base" hangingPunct="0">
        <a:spcBef>
          <a:spcPct val="0"/>
        </a:spcBef>
        <a:spcAft>
          <a:spcPct val="0"/>
        </a:spcAft>
        <a:defRPr lang="nl-NL" sz="2800" b="1"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b="1">
          <a:solidFill>
            <a:schemeClr val="tx1"/>
          </a:solidFill>
          <a:latin typeface="Arial" charset="0"/>
          <a:cs typeface="Arial" charset="0"/>
        </a:defRPr>
      </a:lvl2pPr>
      <a:lvl3pPr algn="ctr" rtl="0" eaLnBrk="0" fontAlgn="base" hangingPunct="0">
        <a:spcBef>
          <a:spcPct val="0"/>
        </a:spcBef>
        <a:spcAft>
          <a:spcPct val="0"/>
        </a:spcAft>
        <a:defRPr sz="2800" b="1">
          <a:solidFill>
            <a:schemeClr val="tx1"/>
          </a:solidFill>
          <a:latin typeface="Arial" charset="0"/>
          <a:cs typeface="Arial" charset="0"/>
        </a:defRPr>
      </a:lvl3pPr>
      <a:lvl4pPr algn="ctr" rtl="0" eaLnBrk="0" fontAlgn="base" hangingPunct="0">
        <a:spcBef>
          <a:spcPct val="0"/>
        </a:spcBef>
        <a:spcAft>
          <a:spcPct val="0"/>
        </a:spcAft>
        <a:defRPr sz="2800" b="1">
          <a:solidFill>
            <a:schemeClr val="tx1"/>
          </a:solidFill>
          <a:latin typeface="Arial" charset="0"/>
          <a:cs typeface="Arial" charset="0"/>
        </a:defRPr>
      </a:lvl4pPr>
      <a:lvl5pPr algn="ctr" rtl="0" eaLnBrk="0" fontAlgn="base" hangingPunct="0">
        <a:spcBef>
          <a:spcPct val="0"/>
        </a:spcBef>
        <a:spcAft>
          <a:spcPct val="0"/>
        </a:spcAft>
        <a:defRPr sz="2800" b="1">
          <a:solidFill>
            <a:schemeClr val="tx1"/>
          </a:solidFill>
          <a:latin typeface="Arial" charset="0"/>
          <a:cs typeface="Arial" charset="0"/>
        </a:defRPr>
      </a:lvl5pPr>
      <a:lvl6pPr marL="457200" algn="ctr" rtl="0" eaLnBrk="1" fontAlgn="base" hangingPunct="1">
        <a:spcBef>
          <a:spcPct val="0"/>
        </a:spcBef>
        <a:spcAft>
          <a:spcPct val="0"/>
        </a:spcAft>
        <a:defRPr sz="2800" b="1">
          <a:solidFill>
            <a:srgbClr val="FEF6D6"/>
          </a:solidFill>
          <a:latin typeface="Arial" charset="0"/>
          <a:cs typeface="Arial" charset="0"/>
        </a:defRPr>
      </a:lvl6pPr>
      <a:lvl7pPr marL="914400" algn="ctr" rtl="0" eaLnBrk="1" fontAlgn="base" hangingPunct="1">
        <a:spcBef>
          <a:spcPct val="0"/>
        </a:spcBef>
        <a:spcAft>
          <a:spcPct val="0"/>
        </a:spcAft>
        <a:defRPr sz="2800" b="1">
          <a:solidFill>
            <a:srgbClr val="FEF6D6"/>
          </a:solidFill>
          <a:latin typeface="Arial" charset="0"/>
          <a:cs typeface="Arial" charset="0"/>
        </a:defRPr>
      </a:lvl7pPr>
      <a:lvl8pPr marL="1371600" algn="ctr" rtl="0" eaLnBrk="1" fontAlgn="base" hangingPunct="1">
        <a:spcBef>
          <a:spcPct val="0"/>
        </a:spcBef>
        <a:spcAft>
          <a:spcPct val="0"/>
        </a:spcAft>
        <a:defRPr sz="2800" b="1">
          <a:solidFill>
            <a:srgbClr val="FEF6D6"/>
          </a:solidFill>
          <a:latin typeface="Arial" charset="0"/>
          <a:cs typeface="Arial" charset="0"/>
        </a:defRPr>
      </a:lvl8pPr>
      <a:lvl9pPr marL="1828800" algn="ctr" rtl="0" eaLnBrk="1" fontAlgn="base" hangingPunct="1">
        <a:spcBef>
          <a:spcPct val="0"/>
        </a:spcBef>
        <a:spcAft>
          <a:spcPct val="0"/>
        </a:spcAft>
        <a:defRPr sz="2800" b="1">
          <a:solidFill>
            <a:srgbClr val="FEF6D6"/>
          </a:solidFill>
          <a:latin typeface="Arial" charset="0"/>
          <a:cs typeface="Arial" charset="0"/>
        </a:defRPr>
      </a:lvl9pPr>
    </p:titleStyle>
    <p:bodyStyle>
      <a:lvl1pPr algn="l" rtl="0" eaLnBrk="0" fontAlgn="base" hangingPunct="0">
        <a:spcBef>
          <a:spcPct val="20000"/>
        </a:spcBef>
        <a:spcAft>
          <a:spcPct val="0"/>
        </a:spcAft>
        <a:buClr>
          <a:srgbClr val="C41721"/>
        </a:buClr>
        <a:buSzPct val="100000"/>
        <a:buFont typeface="Arial" charset="0"/>
        <a:defRPr sz="2400" b="1" kern="1200">
          <a:solidFill>
            <a:schemeClr val="tx1"/>
          </a:solidFill>
          <a:latin typeface="Arial" pitchFamily="34" charset="0"/>
          <a:ea typeface="+mn-ea"/>
          <a:cs typeface="Arial" pitchFamily="34" charset="0"/>
        </a:defRPr>
      </a:lvl1pPr>
      <a:lvl2pPr marL="447675" indent="-266700" algn="l" rtl="0" eaLnBrk="0" fontAlgn="base" hangingPunct="0">
        <a:spcBef>
          <a:spcPct val="20000"/>
        </a:spcBef>
        <a:spcAft>
          <a:spcPct val="0"/>
        </a:spcAft>
        <a:buClr>
          <a:srgbClr val="C41721"/>
        </a:buClr>
        <a:buSzPct val="100000"/>
        <a:buFont typeface="Arial" charset="0"/>
        <a:buChar char="•"/>
        <a:defRPr sz="1600" b="1" kern="1200">
          <a:solidFill>
            <a:schemeClr val="tx1"/>
          </a:solidFill>
          <a:latin typeface="Arial" pitchFamily="34" charset="0"/>
          <a:ea typeface="+mn-ea"/>
          <a:cs typeface="Arial" pitchFamily="34" charset="0"/>
        </a:defRPr>
      </a:lvl2pPr>
      <a:lvl3pPr marL="985838" indent="-266700" algn="l" rtl="0" eaLnBrk="0" fontAlgn="base" hangingPunct="0">
        <a:spcBef>
          <a:spcPct val="20000"/>
        </a:spcBef>
        <a:spcAft>
          <a:spcPct val="0"/>
        </a:spcAft>
        <a:buClr>
          <a:srgbClr val="C41721"/>
        </a:buClr>
        <a:buSzPct val="100000"/>
        <a:buFont typeface="Arial" charset="0"/>
        <a:buChar char="•"/>
        <a:defRPr sz="1600" kern="1200">
          <a:solidFill>
            <a:schemeClr val="tx1"/>
          </a:solidFill>
          <a:latin typeface="Arial" pitchFamily="34" charset="0"/>
          <a:ea typeface="+mn-ea"/>
          <a:cs typeface="Arial" pitchFamily="34" charset="0"/>
        </a:defRPr>
      </a:lvl3pPr>
      <a:lvl4pPr marL="1524000"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4pPr>
      <a:lvl5pPr marL="2062163" indent="-266700" algn="l" rtl="0" eaLnBrk="0" fontAlgn="base" hangingPunct="0">
        <a:spcBef>
          <a:spcPct val="20000"/>
        </a:spcBef>
        <a:spcAft>
          <a:spcPct val="0"/>
        </a:spcAft>
        <a:buClr>
          <a:srgbClr val="C41721"/>
        </a:buClr>
        <a:buSzPct val="100000"/>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6"/>
          <p:cNvSpPr>
            <a:spLocks noGrp="1"/>
          </p:cNvSpPr>
          <p:nvPr>
            <p:ph type="ctrTitle"/>
          </p:nvPr>
        </p:nvSpPr>
        <p:spPr/>
        <p:txBody>
          <a:bodyPr/>
          <a:lstStyle/>
          <a:p>
            <a:r>
              <a:rPr lang="en-US" smtClean="0"/>
              <a:t>5S Organized Work environment</a:t>
            </a:r>
            <a:br>
              <a:rPr lang="en-US" smtClean="0"/>
            </a:br>
            <a:r>
              <a:rPr lang="en-US" smtClean="0"/>
              <a:t/>
            </a:r>
            <a:br>
              <a:rPr lang="en-US" smtClean="0"/>
            </a:br>
            <a:endParaRPr lang="nl-NL" dirty="0" smtClean="0"/>
          </a:p>
        </p:txBody>
      </p:sp>
      <p:sp>
        <p:nvSpPr>
          <p:cNvPr id="4" name="Tijdelijke aanduiding voor tekst 3"/>
          <p:cNvSpPr>
            <a:spLocks noGrp="1"/>
          </p:cNvSpPr>
          <p:nvPr>
            <p:ph type="subTitle" idx="1"/>
          </p:nvPr>
        </p:nvSpPr>
        <p:spPr/>
        <p:txBody>
          <a:bodyPr/>
          <a:lstStyle/>
          <a:p>
            <a:r>
              <a:rPr lang="en-US" smtClean="0"/>
              <a:t>The element ‘Process Improvement Methods’ sets out a series of methods and tools that can be used for process improvement, such as 5S, Kaizen, 8D, Theory of Constraints and Total Productive Maintenance.</a:t>
            </a:r>
            <a:endParaRPr lang="en-US" dirty="0"/>
          </a:p>
        </p:txBody>
      </p:sp>
      <p:sp>
        <p:nvSpPr>
          <p:cNvPr id="3" name="Tijdelijke aanduiding voor tekst 2"/>
          <p:cNvSpPr>
            <a:spLocks noGrp="1"/>
          </p:cNvSpPr>
          <p:nvPr>
            <p:ph type="body" sz="quarter" idx="13"/>
          </p:nvPr>
        </p:nvSpPr>
        <p:spPr/>
        <p:txBody>
          <a:bodyPr/>
          <a:lstStyle/>
          <a:p>
            <a:r>
              <a:rPr lang="nl-NL" dirty="0"/>
              <a:t>Train the trainer</a:t>
            </a:r>
          </a:p>
        </p:txBody>
      </p:sp>
      <p:sp>
        <p:nvSpPr>
          <p:cNvPr id="2" name="Tijdelijke aanduiding voor inhoud 1"/>
          <p:cNvSpPr>
            <a:spLocks noGrp="1"/>
          </p:cNvSpPr>
          <p:nvPr>
            <p:ph sz="quarter" idx="17"/>
          </p:nvPr>
        </p:nvSpPr>
        <p:spPr/>
        <p:txBody>
          <a:bodyPr/>
          <a:lstStyle/>
          <a:p>
            <a:r>
              <a:rPr lang="en-US" smtClean="0"/>
              <a:t>U6 – Improve</a:t>
            </a:r>
          </a:p>
          <a:p>
            <a:r>
              <a:rPr lang="en-US" smtClean="0"/>
              <a:t>E1 – Process Improvement Methods</a:t>
            </a:r>
            <a:endParaRPr lang="nl-NL"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Olivia.Mcdermott\AppData\Local\Microsoft\Windows\Temporary Internet Files\Content.IE5\78JAPMP8\22095476_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0404" y="1772816"/>
            <a:ext cx="4629150" cy="3998218"/>
          </a:xfrm>
          <a:prstGeom prst="rect">
            <a:avLst/>
          </a:prstGeom>
          <a:noFill/>
          <a:extLst>
            <a:ext uri="{909E8E84-426E-40DD-AFC4-6F175D3DCCD1}">
              <a14:hiddenFill xmlns:a14="http://schemas.microsoft.com/office/drawing/2010/main">
                <a:solidFill>
                  <a:srgbClr val="FFFFFF"/>
                </a:solidFill>
              </a14:hiddenFill>
            </a:ext>
          </a:extLst>
        </p:spPr>
      </p:pic>
      <p:sp>
        <p:nvSpPr>
          <p:cNvPr id="5123" name="Titel 1"/>
          <p:cNvSpPr>
            <a:spLocks noGrp="1"/>
          </p:cNvSpPr>
          <p:nvPr>
            <p:ph type="title"/>
          </p:nvPr>
        </p:nvSpPr>
        <p:spPr/>
        <p:txBody>
          <a:bodyPr/>
          <a:lstStyle/>
          <a:p>
            <a:r>
              <a:rPr lang="en-GB" noProof="0" smtClean="0"/>
              <a:t>Organized Work Environment</a:t>
            </a:r>
            <a:endParaRPr lang="en-GB" noProof="0" dirty="0" smtClean="0"/>
          </a:p>
        </p:txBody>
      </p:sp>
      <p:sp>
        <p:nvSpPr>
          <p:cNvPr id="3" name="Tijdelijke aanduiding voor inhoud 2"/>
          <p:cNvSpPr>
            <a:spLocks noGrp="1"/>
          </p:cNvSpPr>
          <p:nvPr>
            <p:ph idx="1"/>
          </p:nvPr>
        </p:nvSpPr>
        <p:spPr/>
        <p:txBody>
          <a:bodyPr/>
          <a:lstStyle/>
          <a:p>
            <a:r>
              <a:rPr lang="en-GB" dirty="0" smtClean="0"/>
              <a:t>The five steps (5S)</a:t>
            </a:r>
          </a:p>
          <a:p>
            <a:endParaRPr lang="en-GB" sz="1600" dirty="0" smtClean="0"/>
          </a:p>
          <a:p>
            <a:endParaRPr lang="en-GB" sz="2400" dirty="0">
              <a:solidFill>
                <a:srgbClr val="FF0000"/>
              </a:solidFill>
            </a:endParaRPr>
          </a:p>
          <a:p>
            <a:pPr marL="0" indent="0"/>
            <a:r>
              <a:rPr lang="en-GB" sz="2400" dirty="0" smtClean="0">
                <a:solidFill>
                  <a:srgbClr val="FF0000"/>
                </a:solidFill>
              </a:rPr>
              <a:t>					</a:t>
            </a:r>
            <a:r>
              <a:rPr lang="en-GB" sz="1800" dirty="0" smtClean="0"/>
              <a:t>1. Sort</a:t>
            </a:r>
          </a:p>
          <a:p>
            <a:pPr marL="0" indent="0"/>
            <a:r>
              <a:rPr lang="en-GB" sz="1800" dirty="0" smtClean="0"/>
              <a:t>					2. Straighten</a:t>
            </a:r>
          </a:p>
          <a:p>
            <a:pPr marL="0" indent="0"/>
            <a:r>
              <a:rPr lang="en-GB" sz="1800" dirty="0" smtClean="0"/>
              <a:t>					3. Shine</a:t>
            </a:r>
          </a:p>
          <a:p>
            <a:pPr marL="0" indent="0"/>
            <a:r>
              <a:rPr lang="en-GB" sz="1800" dirty="0" smtClean="0"/>
              <a:t>					4. Standardize</a:t>
            </a:r>
          </a:p>
          <a:p>
            <a:pPr marL="0" indent="0"/>
            <a:r>
              <a:rPr lang="en-GB" sz="1800" dirty="0" smtClean="0"/>
              <a:t>					5. Sustain</a:t>
            </a:r>
          </a:p>
          <a:p>
            <a:pPr lvl="1"/>
            <a:endParaRPr lang="en-GB" dirty="0" smtClean="0"/>
          </a:p>
          <a:p>
            <a:pPr lvl="1"/>
            <a:endParaRPr lang="en-GB" dirty="0" smtClean="0"/>
          </a:p>
          <a:p>
            <a:pPr lvl="1"/>
            <a:endParaRPr lang="en-GB" dirty="0" smtClean="0"/>
          </a:p>
          <a:p>
            <a:pPr lvl="1"/>
            <a:endParaRPr lang="en-GB" dirty="0" smtClean="0"/>
          </a:p>
          <a:p>
            <a:pPr lvl="1"/>
            <a:endParaRPr lang="en-GB" dirty="0" smtClean="0"/>
          </a:p>
          <a:p>
            <a:pPr algn="ctr"/>
            <a:r>
              <a:rPr lang="en-GB" sz="1600" dirty="0" smtClean="0"/>
              <a:t>To become ‘World Class’ it is essential to have a committed,</a:t>
            </a:r>
          </a:p>
          <a:p>
            <a:pPr algn="ctr"/>
            <a:r>
              <a:rPr lang="en-GB" sz="1600" dirty="0" smtClean="0"/>
              <a:t> disciplined approach towards good housekeeping</a:t>
            </a:r>
          </a:p>
          <a:p>
            <a:pPr lvl="1"/>
            <a:endParaRPr lang="en-GB"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el 1"/>
          <p:cNvSpPr>
            <a:spLocks noGrp="1"/>
          </p:cNvSpPr>
          <p:nvPr>
            <p:ph type="title"/>
          </p:nvPr>
        </p:nvSpPr>
        <p:spPr/>
        <p:txBody>
          <a:bodyPr/>
          <a:lstStyle/>
          <a:p>
            <a:r>
              <a:rPr lang="en-GB" noProof="0" smtClean="0"/>
              <a:t>Organized Work Environment</a:t>
            </a:r>
            <a:endParaRPr lang="en-GB" noProof="0" dirty="0" smtClean="0"/>
          </a:p>
        </p:txBody>
      </p:sp>
      <p:sp>
        <p:nvSpPr>
          <p:cNvPr id="6147" name="Tijdelijke aanduiding voor inhoud 2"/>
          <p:cNvSpPr>
            <a:spLocks noGrp="1"/>
          </p:cNvSpPr>
          <p:nvPr>
            <p:ph idx="1"/>
          </p:nvPr>
        </p:nvSpPr>
        <p:spPr/>
        <p:txBody>
          <a:bodyPr/>
          <a:lstStyle/>
          <a:p>
            <a:r>
              <a:rPr lang="en-GB" noProof="0" dirty="0" smtClean="0"/>
              <a:t>The 5S technique</a:t>
            </a:r>
          </a:p>
          <a:p>
            <a:endParaRPr lang="en-GB" noProof="0" dirty="0" smtClean="0"/>
          </a:p>
          <a:p>
            <a:pPr lvl="1">
              <a:buClrTx/>
            </a:pPr>
            <a:r>
              <a:rPr lang="en-GB" noProof="0" dirty="0" smtClean="0"/>
              <a:t>Exposes waste and prevents it from re-occurring in the future</a:t>
            </a:r>
          </a:p>
          <a:p>
            <a:pPr lvl="1">
              <a:buClrTx/>
            </a:pPr>
            <a:endParaRPr lang="en-GB" noProof="0" dirty="0" smtClean="0"/>
          </a:p>
          <a:p>
            <a:pPr lvl="1">
              <a:buClrTx/>
            </a:pPr>
            <a:r>
              <a:rPr lang="en-GB" noProof="0" dirty="0" smtClean="0"/>
              <a:t>Communicates the operation standards of your company to all employees</a:t>
            </a:r>
          </a:p>
          <a:p>
            <a:pPr lvl="1">
              <a:buClrTx/>
            </a:pPr>
            <a:endParaRPr lang="en-GB" noProof="0" dirty="0" smtClean="0"/>
          </a:p>
          <a:p>
            <a:pPr lvl="1">
              <a:buClrTx/>
            </a:pPr>
            <a:r>
              <a:rPr lang="en-GB" noProof="0" dirty="0" smtClean="0"/>
              <a:t>Improves workplace efficiency</a:t>
            </a:r>
          </a:p>
          <a:p>
            <a:pPr lvl="1">
              <a:buClrTx/>
            </a:pPr>
            <a:endParaRPr lang="en-GB" noProof="0" dirty="0" smtClean="0"/>
          </a:p>
          <a:p>
            <a:pPr lvl="1">
              <a:buClrTx/>
            </a:pPr>
            <a:r>
              <a:rPr lang="en-GB" noProof="0" dirty="0" smtClean="0"/>
              <a:t>Contributes to a professional look</a:t>
            </a:r>
          </a:p>
          <a:p>
            <a:pPr lvl="1"/>
            <a:endParaRPr lang="en-GB" dirty="0"/>
          </a:p>
          <a:p>
            <a:pPr lvl="1"/>
            <a:endParaRPr lang="en-GB" noProof="0" dirty="0" smtClean="0"/>
          </a:p>
          <a:p>
            <a:pPr marL="76200" indent="0"/>
            <a:r>
              <a:rPr lang="en-GB" sz="1800" noProof="0" dirty="0" smtClean="0"/>
              <a:t>This technique is part of the set of techniques called: </a:t>
            </a:r>
          </a:p>
        </p:txBody>
      </p:sp>
      <p:sp>
        <p:nvSpPr>
          <p:cNvPr id="6148" name="AutoShape 2"/>
          <p:cNvSpPr>
            <a:spLocks noChangeArrowheads="1"/>
          </p:cNvSpPr>
          <p:nvPr/>
        </p:nvSpPr>
        <p:spPr bwMode="auto">
          <a:xfrm>
            <a:off x="2389194" y="5288112"/>
            <a:ext cx="5670630" cy="1165225"/>
          </a:xfrm>
          <a:prstGeom prst="horizontalScroll">
            <a:avLst>
              <a:gd name="adj" fmla="val 12500"/>
            </a:avLst>
          </a:prstGeom>
          <a:solidFill>
            <a:srgbClr val="88CEC7"/>
          </a:solidFill>
          <a:ln w="9525">
            <a:solidFill>
              <a:schemeClr val="tx1"/>
            </a:solidFill>
            <a:round/>
            <a:headEnd/>
            <a:tailEnd/>
          </a:ln>
          <a:effectLst>
            <a:outerShdw dist="107763" dir="2700000" algn="ctr" rotWithShape="0">
              <a:schemeClr val="bg2">
                <a:alpha val="50000"/>
              </a:schemeClr>
            </a:outerShdw>
          </a:effectLst>
        </p:spPr>
        <p:txBody>
          <a:bodyPr wrap="none" anchor="ctr"/>
          <a:lstStyle/>
          <a:p>
            <a:pPr algn="ctr"/>
            <a:r>
              <a:rPr lang="en-US" sz="2800" b="1" dirty="0" smtClean="0">
                <a:solidFill>
                  <a:srgbClr val="333399"/>
                </a:solidFill>
              </a:rPr>
              <a:t>Organized Work Environment</a:t>
            </a:r>
            <a:endParaRPr lang="nl-NL" sz="2800" b="1" dirty="0">
              <a:solidFill>
                <a:srgbClr val="333399"/>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el 1"/>
          <p:cNvSpPr>
            <a:spLocks noGrp="1"/>
          </p:cNvSpPr>
          <p:nvPr>
            <p:ph type="title"/>
          </p:nvPr>
        </p:nvSpPr>
        <p:spPr/>
        <p:txBody>
          <a:bodyPr/>
          <a:lstStyle/>
          <a:p>
            <a:r>
              <a:rPr lang="en-GB" noProof="0" dirty="0" smtClean="0"/>
              <a:t>Organized Work Environment</a:t>
            </a:r>
          </a:p>
        </p:txBody>
      </p:sp>
      <p:pic>
        <p:nvPicPr>
          <p:cNvPr id="2051" name="Picture 3" descr="C:\Users\Olivia.Mcdermott\AppData\Local\Microsoft\Windows\Temporary Internet Files\Content.IE5\WJ9I3TRL\9474524_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9972" y="1340768"/>
            <a:ext cx="2554677" cy="103331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Olivia.Mcdermott\AppData\Local\Microsoft\Windows\Temporary Internet Files\Content.IE5\78JAPMP8\1718827_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4338" y="4848755"/>
            <a:ext cx="2630311" cy="130441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 descr="C:\Documents and Settings\olivia.mcdermott\My Documents\My Pictures\5s 6.bmp"/>
          <p:cNvPicPr>
            <a:picLocks noChangeAspect="1" noChangeArrowheads="1"/>
          </p:cNvPicPr>
          <p:nvPr/>
        </p:nvPicPr>
        <p:blipFill>
          <a:blip r:embed="rId5" cstate="print"/>
          <a:srcRect/>
          <a:stretch>
            <a:fillRect/>
          </a:stretch>
        </p:blipFill>
        <p:spPr bwMode="auto">
          <a:xfrm>
            <a:off x="4657446" y="3032713"/>
            <a:ext cx="2774688" cy="1111208"/>
          </a:xfrm>
          <a:prstGeom prst="rect">
            <a:avLst/>
          </a:prstGeom>
          <a:noFill/>
        </p:spPr>
      </p:pic>
      <p:sp>
        <p:nvSpPr>
          <p:cNvPr id="11" name="Tijdelijke aanduiding voor inhoud 2"/>
          <p:cNvSpPr>
            <a:spLocks noGrp="1"/>
          </p:cNvSpPr>
          <p:nvPr>
            <p:ph idx="1"/>
          </p:nvPr>
        </p:nvSpPr>
        <p:spPr>
          <a:xfrm>
            <a:off x="810814" y="1439863"/>
            <a:ext cx="9476186" cy="5418137"/>
          </a:xfrm>
        </p:spPr>
        <p:txBody>
          <a:bodyPr/>
          <a:lstStyle/>
          <a:p>
            <a:r>
              <a:rPr lang="en-GB" noProof="0" dirty="0" smtClean="0"/>
              <a:t>5S</a:t>
            </a:r>
          </a:p>
          <a:p>
            <a:pPr lvl="1"/>
            <a:endParaRPr lang="en-GB" dirty="0"/>
          </a:p>
          <a:p>
            <a:pPr marL="180975" lvl="1" indent="0">
              <a:buClrTx/>
              <a:buNone/>
            </a:pPr>
            <a:r>
              <a:rPr lang="en-GB" dirty="0" smtClean="0"/>
              <a:t>Sort</a:t>
            </a:r>
            <a:endParaRPr lang="en-GB" noProof="0" dirty="0" smtClean="0"/>
          </a:p>
          <a:p>
            <a:pPr marL="180975" lvl="1" indent="0">
              <a:buClrTx/>
              <a:buNone/>
            </a:pPr>
            <a:r>
              <a:rPr lang="en-GB" b="0" dirty="0" smtClean="0"/>
              <a:t>Nothing </a:t>
            </a:r>
            <a:r>
              <a:rPr lang="en-GB" b="0" dirty="0"/>
              <a:t>unnecessary at your workplace, remove anything not </a:t>
            </a:r>
            <a:r>
              <a:rPr lang="en-GB" b="0" dirty="0" smtClean="0"/>
              <a:t>needed</a:t>
            </a:r>
          </a:p>
          <a:p>
            <a:pPr marL="180975" lvl="1" indent="0">
              <a:buClrTx/>
              <a:buNone/>
            </a:pPr>
            <a:endParaRPr lang="en-GB" b="0" dirty="0"/>
          </a:p>
          <a:p>
            <a:pPr marL="180975" lvl="1" indent="0">
              <a:buClrTx/>
              <a:buNone/>
            </a:pPr>
            <a:r>
              <a:rPr lang="en-GB" dirty="0" smtClean="0"/>
              <a:t>Straighten</a:t>
            </a:r>
            <a:endParaRPr lang="en-GB" dirty="0"/>
          </a:p>
          <a:p>
            <a:pPr marL="185738" indent="0">
              <a:lnSpc>
                <a:spcPct val="85000"/>
              </a:lnSpc>
              <a:spcBef>
                <a:spcPct val="50000"/>
              </a:spcBef>
            </a:pPr>
            <a:r>
              <a:rPr lang="en-GB" sz="1600" b="0" dirty="0" smtClean="0"/>
              <a:t>Everything </a:t>
            </a:r>
            <a:r>
              <a:rPr lang="en-GB" sz="1600" b="0" dirty="0"/>
              <a:t>has a fixed </a:t>
            </a:r>
            <a:r>
              <a:rPr lang="en-GB" sz="1600" b="0" dirty="0" smtClean="0"/>
              <a:t>location</a:t>
            </a:r>
          </a:p>
          <a:p>
            <a:pPr marL="185738" indent="0">
              <a:lnSpc>
                <a:spcPct val="85000"/>
              </a:lnSpc>
              <a:spcBef>
                <a:spcPct val="50000"/>
              </a:spcBef>
            </a:pPr>
            <a:endParaRPr lang="en-GB" sz="1600" b="0" dirty="0"/>
          </a:p>
          <a:p>
            <a:pPr marL="185738" indent="0">
              <a:lnSpc>
                <a:spcPct val="85000"/>
              </a:lnSpc>
              <a:spcBef>
                <a:spcPct val="50000"/>
              </a:spcBef>
            </a:pPr>
            <a:r>
              <a:rPr lang="en-GB" sz="1600" dirty="0" smtClean="0"/>
              <a:t>Shine</a:t>
            </a:r>
          </a:p>
          <a:p>
            <a:pPr marL="185738" indent="0">
              <a:lnSpc>
                <a:spcPct val="85000"/>
              </a:lnSpc>
              <a:spcBef>
                <a:spcPct val="50000"/>
              </a:spcBef>
            </a:pPr>
            <a:r>
              <a:rPr lang="en-GB" sz="1600" b="0" dirty="0"/>
              <a:t>Keep everything you need continuously clean </a:t>
            </a:r>
          </a:p>
          <a:p>
            <a:pPr marL="185738" indent="0">
              <a:lnSpc>
                <a:spcPct val="85000"/>
              </a:lnSpc>
              <a:spcBef>
                <a:spcPct val="50000"/>
              </a:spcBef>
            </a:pPr>
            <a:endParaRPr lang="en-GB" sz="1600" b="0" dirty="0" smtClean="0"/>
          </a:p>
          <a:p>
            <a:pPr marL="185738" indent="0">
              <a:lnSpc>
                <a:spcPct val="85000"/>
              </a:lnSpc>
              <a:spcBef>
                <a:spcPct val="50000"/>
              </a:spcBef>
            </a:pPr>
            <a:r>
              <a:rPr lang="en-GB" sz="1600" dirty="0" smtClean="0"/>
              <a:t>Standardise</a:t>
            </a:r>
          </a:p>
          <a:p>
            <a:pPr marL="185738" indent="0">
              <a:lnSpc>
                <a:spcPct val="85000"/>
              </a:lnSpc>
              <a:spcBef>
                <a:spcPct val="50000"/>
              </a:spcBef>
            </a:pPr>
            <a:r>
              <a:rPr lang="en-GB" sz="1600" b="0" dirty="0"/>
              <a:t>Make agreements, procedures and standards visible </a:t>
            </a:r>
          </a:p>
          <a:p>
            <a:pPr marL="185738" indent="0">
              <a:lnSpc>
                <a:spcPct val="85000"/>
              </a:lnSpc>
              <a:spcBef>
                <a:spcPct val="50000"/>
              </a:spcBef>
            </a:pPr>
            <a:endParaRPr lang="en-GB" sz="1600" b="0" dirty="0"/>
          </a:p>
          <a:p>
            <a:pPr marL="185738" indent="0">
              <a:lnSpc>
                <a:spcPct val="85000"/>
              </a:lnSpc>
              <a:spcBef>
                <a:spcPct val="50000"/>
              </a:spcBef>
            </a:pPr>
            <a:r>
              <a:rPr lang="en-GB" sz="1600" dirty="0" smtClean="0"/>
              <a:t>Sustain</a:t>
            </a:r>
          </a:p>
          <a:p>
            <a:pPr indent="-157163">
              <a:spcBef>
                <a:spcPts val="900"/>
              </a:spcBef>
            </a:pPr>
            <a:r>
              <a:rPr lang="en-GB" sz="1600" b="0" dirty="0"/>
              <a:t>Be </a:t>
            </a:r>
            <a:r>
              <a:rPr lang="en-GB" sz="1600" b="0" dirty="0" smtClean="0"/>
              <a:t>disciplined, follow-up </a:t>
            </a:r>
            <a:r>
              <a:rPr lang="en-GB" sz="1600" b="0" dirty="0"/>
              <a:t>on </a:t>
            </a:r>
            <a:r>
              <a:rPr lang="en-GB" sz="1600" b="0" dirty="0" smtClean="0"/>
              <a:t>progress,  assign </a:t>
            </a:r>
            <a:r>
              <a:rPr lang="en-GB" sz="1600" b="0" dirty="0"/>
              <a:t>owners to </a:t>
            </a:r>
            <a:r>
              <a:rPr lang="en-GB" sz="1600" b="0" dirty="0" smtClean="0"/>
              <a:t>audit and </a:t>
            </a:r>
            <a:r>
              <a:rPr lang="en-GB" sz="1600" b="0" dirty="0"/>
              <a:t>s</a:t>
            </a:r>
            <a:r>
              <a:rPr lang="en-GB" sz="1600" b="0" dirty="0" smtClean="0"/>
              <a:t>tick </a:t>
            </a:r>
            <a:r>
              <a:rPr lang="en-GB" sz="1600" b="0" dirty="0"/>
              <a:t>to </a:t>
            </a:r>
            <a:r>
              <a:rPr lang="en-GB" sz="1600" b="0" dirty="0" smtClean="0"/>
              <a:t>procedures</a:t>
            </a:r>
            <a:endParaRPr lang="en-GB" sz="1600" b="0" dirty="0"/>
          </a:p>
          <a:p>
            <a:pPr marL="185738" indent="0">
              <a:lnSpc>
                <a:spcPct val="85000"/>
              </a:lnSpc>
              <a:spcBef>
                <a:spcPct val="50000"/>
              </a:spcBef>
            </a:pPr>
            <a:endParaRPr lang="en-GB" sz="1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r>
              <a:rPr lang="en-GB" noProof="0" smtClean="0"/>
              <a:t>Organized Work Environment</a:t>
            </a:r>
            <a:endParaRPr lang="en-GB" noProof="0" dirty="0" smtClean="0"/>
          </a:p>
        </p:txBody>
      </p:sp>
      <p:sp>
        <p:nvSpPr>
          <p:cNvPr id="20483" name="Tijdelijke aanduiding voor inhoud 2"/>
          <p:cNvSpPr>
            <a:spLocks noGrp="1"/>
          </p:cNvSpPr>
          <p:nvPr>
            <p:ph idx="1"/>
          </p:nvPr>
        </p:nvSpPr>
        <p:spPr/>
        <p:txBody>
          <a:bodyPr/>
          <a:lstStyle/>
          <a:p>
            <a:r>
              <a:rPr lang="en-GB" noProof="0" dirty="0" smtClean="0"/>
              <a:t>Determine scope</a:t>
            </a:r>
          </a:p>
          <a:p>
            <a:pPr lvl="1"/>
            <a:endParaRPr lang="en-GB" sz="1800" dirty="0"/>
          </a:p>
          <a:p>
            <a:pPr lvl="1">
              <a:buClrTx/>
            </a:pPr>
            <a:r>
              <a:rPr lang="en-GB" noProof="0" dirty="0" smtClean="0"/>
              <a:t>Select  the area with most opportunities, afterwards spread</a:t>
            </a:r>
          </a:p>
          <a:p>
            <a:pPr lvl="1">
              <a:buClrTx/>
            </a:pPr>
            <a:endParaRPr lang="en-GB" noProof="0" dirty="0" smtClean="0"/>
          </a:p>
          <a:p>
            <a:pPr lvl="1">
              <a:buClrTx/>
            </a:pPr>
            <a:r>
              <a:rPr lang="en-GB" noProof="0" dirty="0" smtClean="0"/>
              <a:t>Define target area</a:t>
            </a:r>
          </a:p>
          <a:p>
            <a:pPr marL="180975" lvl="1" indent="0">
              <a:buClrTx/>
              <a:buNone/>
              <a:tabLst>
                <a:tab pos="442913" algn="l"/>
              </a:tabLst>
            </a:pPr>
            <a:r>
              <a:rPr lang="en-GB" dirty="0"/>
              <a:t>	</a:t>
            </a:r>
            <a:r>
              <a:rPr lang="en-GB" b="0" noProof="0" dirty="0" smtClean="0"/>
              <a:t>Where can we achieve the biggest improvements?</a:t>
            </a:r>
          </a:p>
          <a:p>
            <a:pPr marL="180975" lvl="1" indent="0">
              <a:buClrTx/>
              <a:buNone/>
              <a:tabLst>
                <a:tab pos="442913" algn="l"/>
              </a:tabLst>
            </a:pPr>
            <a:r>
              <a:rPr lang="en-GB" b="0" dirty="0"/>
              <a:t>	</a:t>
            </a:r>
            <a:r>
              <a:rPr lang="en-GB" b="0" noProof="0" dirty="0" smtClean="0"/>
              <a:t>Where is the chance of success high?</a:t>
            </a:r>
          </a:p>
          <a:p>
            <a:pPr lvl="1">
              <a:buClrTx/>
            </a:pPr>
            <a:endParaRPr lang="en-GB" noProof="0" dirty="0" smtClean="0"/>
          </a:p>
          <a:p>
            <a:pPr lvl="1">
              <a:buClrTx/>
            </a:pPr>
            <a:r>
              <a:rPr lang="en-GB" noProof="0" dirty="0" smtClean="0"/>
              <a:t>Fix start moment</a:t>
            </a:r>
          </a:p>
          <a:p>
            <a:pPr marL="442913" lvl="1" indent="-261938">
              <a:buClrTx/>
              <a:buNone/>
            </a:pPr>
            <a:r>
              <a:rPr lang="en-GB" dirty="0"/>
              <a:t>	</a:t>
            </a:r>
            <a:r>
              <a:rPr lang="en-GB" b="0" noProof="0" dirty="0" smtClean="0"/>
              <a:t>Develop an area map showing  all work places, materials, etc.</a:t>
            </a:r>
          </a:p>
          <a:p>
            <a:pPr marL="442913" lvl="1" indent="-261938">
              <a:buClrTx/>
              <a:buNone/>
            </a:pPr>
            <a:r>
              <a:rPr lang="en-GB" b="0" dirty="0"/>
              <a:t>	</a:t>
            </a:r>
            <a:r>
              <a:rPr lang="en-GB" b="0" noProof="0" dirty="0" smtClean="0"/>
              <a:t>Perform an initial audit</a:t>
            </a:r>
          </a:p>
          <a:p>
            <a:pPr marL="442913" lvl="1" indent="-261938">
              <a:buClrTx/>
              <a:buNone/>
            </a:pPr>
            <a:r>
              <a:rPr lang="en-GB" b="0" dirty="0"/>
              <a:t>	</a:t>
            </a:r>
            <a:r>
              <a:rPr lang="en-GB" b="0" noProof="0" dirty="0" smtClean="0"/>
              <a:t>Photograph problem areas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el 1"/>
          <p:cNvSpPr>
            <a:spLocks noGrp="1"/>
          </p:cNvSpPr>
          <p:nvPr>
            <p:ph type="title"/>
          </p:nvPr>
        </p:nvSpPr>
        <p:spPr/>
        <p:txBody>
          <a:bodyPr/>
          <a:lstStyle/>
          <a:p>
            <a:r>
              <a:rPr lang="en-GB" noProof="0" smtClean="0"/>
              <a:t>Organized Work Environment</a:t>
            </a:r>
            <a:endParaRPr lang="en-GB" noProof="0" dirty="0" smtClean="0"/>
          </a:p>
        </p:txBody>
      </p:sp>
      <p:sp>
        <p:nvSpPr>
          <p:cNvPr id="9219" name="Tijdelijke aanduiding voor inhoud 2"/>
          <p:cNvSpPr>
            <a:spLocks noGrp="1"/>
          </p:cNvSpPr>
          <p:nvPr>
            <p:ph idx="1"/>
          </p:nvPr>
        </p:nvSpPr>
        <p:spPr>
          <a:xfrm>
            <a:off x="810815" y="1439863"/>
            <a:ext cx="9193224" cy="5040312"/>
          </a:xfrm>
        </p:spPr>
        <p:txBody>
          <a:bodyPr/>
          <a:lstStyle/>
          <a:p>
            <a:r>
              <a:rPr lang="en-GB" noProof="0" dirty="0" smtClean="0"/>
              <a:t>1 – Sort: Rough cleaning</a:t>
            </a:r>
          </a:p>
          <a:p>
            <a:pPr lvl="1"/>
            <a:endParaRPr lang="en-GB" sz="1800" noProof="0" dirty="0" smtClean="0"/>
          </a:p>
          <a:p>
            <a:pPr indent="-157163"/>
            <a:r>
              <a:rPr lang="en-GB" sz="1600" noProof="0" dirty="0" smtClean="0"/>
              <a:t>Determine scope and team</a:t>
            </a:r>
          </a:p>
          <a:p>
            <a:pPr lvl="1">
              <a:buClrTx/>
            </a:pPr>
            <a:r>
              <a:rPr lang="en-GB" b="0" noProof="0" dirty="0" smtClean="0"/>
              <a:t>Set criterion or conditions before you start</a:t>
            </a:r>
          </a:p>
          <a:p>
            <a:pPr lvl="1">
              <a:buClrTx/>
            </a:pPr>
            <a:r>
              <a:rPr lang="en-GB" b="0" noProof="0" dirty="0" smtClean="0"/>
              <a:t>Clean-out anything that obviously does not belong in the area</a:t>
            </a:r>
          </a:p>
          <a:p>
            <a:pPr lvl="1">
              <a:buClrTx/>
            </a:pPr>
            <a:r>
              <a:rPr lang="en-GB" b="0" noProof="0" dirty="0" smtClean="0"/>
              <a:t>Reduce the number of items at your work location to only the things you need</a:t>
            </a:r>
          </a:p>
          <a:p>
            <a:pPr lvl="1">
              <a:buClrTx/>
            </a:pPr>
            <a:r>
              <a:rPr lang="en-GB" b="0" noProof="0" dirty="0" smtClean="0"/>
              <a:t>Discuss removal of items with all persons involved</a:t>
            </a:r>
          </a:p>
          <a:p>
            <a:endParaRPr lang="en-GB" noProof="0" dirty="0" smtClean="0"/>
          </a:p>
          <a:p>
            <a:pPr indent="-157163"/>
            <a:r>
              <a:rPr lang="en-GB" sz="1600" noProof="0" dirty="0" smtClean="0"/>
              <a:t>‘Red Tag’ procedure</a:t>
            </a:r>
          </a:p>
          <a:p>
            <a:pPr lvl="1">
              <a:buClrTx/>
            </a:pPr>
            <a:r>
              <a:rPr lang="en-GB" b="0" noProof="0" dirty="0" smtClean="0"/>
              <a:t>Attach red tags to unneeded items (never needed / not needed for the time being)</a:t>
            </a:r>
          </a:p>
          <a:p>
            <a:pPr lvl="1">
              <a:buClrTx/>
            </a:pPr>
            <a:r>
              <a:rPr lang="en-GB" b="0" noProof="0" dirty="0" smtClean="0"/>
              <a:t>Clear out tagged items</a:t>
            </a:r>
          </a:p>
        </p:txBody>
      </p:sp>
      <p:pic>
        <p:nvPicPr>
          <p:cNvPr id="4" name="Picture 5"/>
          <p:cNvPicPr>
            <a:picLocks noChangeAspect="1" noChangeArrowheads="1"/>
          </p:cNvPicPr>
          <p:nvPr/>
        </p:nvPicPr>
        <p:blipFill>
          <a:blip r:embed="rId3" cstate="print"/>
          <a:srcRect l="6250" t="41667" r="73438" b="15833"/>
          <a:stretch>
            <a:fillRect/>
          </a:stretch>
        </p:blipFill>
        <p:spPr bwMode="auto">
          <a:xfrm>
            <a:off x="8393731" y="1444452"/>
            <a:ext cx="1344812" cy="1564060"/>
          </a:xfrm>
          <a:prstGeom prst="rect">
            <a:avLst/>
          </a:prstGeom>
          <a:ln>
            <a:noFill/>
          </a:ln>
          <a:effectLst>
            <a:outerShdw blurRad="292100" dist="139700" dir="2700000" algn="tl" rotWithShape="0">
              <a:srgbClr val="333333">
                <a:alpha val="65000"/>
              </a:srgbClr>
            </a:outerShdw>
          </a:effectLst>
        </p:spPr>
      </p:pic>
      <p:pic>
        <p:nvPicPr>
          <p:cNvPr id="2" name="Afbeelding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70202" y="4869161"/>
            <a:ext cx="2468341" cy="175701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Organized Work </a:t>
            </a:r>
            <a:r>
              <a:rPr lang="en-GB" smtClean="0"/>
              <a:t>E</a:t>
            </a:r>
            <a:r>
              <a:rPr lang="en-GB" noProof="0" smtClean="0"/>
              <a:t>environment</a:t>
            </a:r>
            <a:endParaRPr lang="en-GB" noProof="0" dirty="0"/>
          </a:p>
        </p:txBody>
      </p:sp>
      <p:sp>
        <p:nvSpPr>
          <p:cNvPr id="3" name="Tijdelijke aanduiding voor inhoud 2"/>
          <p:cNvSpPr>
            <a:spLocks noGrp="1"/>
          </p:cNvSpPr>
          <p:nvPr>
            <p:ph idx="1"/>
          </p:nvPr>
        </p:nvSpPr>
        <p:spPr/>
        <p:txBody>
          <a:bodyPr/>
          <a:lstStyle/>
          <a:p>
            <a:r>
              <a:rPr lang="en-GB" noProof="0" dirty="0" smtClean="0"/>
              <a:t>1 – </a:t>
            </a:r>
            <a:r>
              <a:rPr lang="en-GB" dirty="0"/>
              <a:t>Sort: Rough cleaning</a:t>
            </a:r>
          </a:p>
          <a:p>
            <a:pPr lvl="1"/>
            <a:endParaRPr lang="en-GB" sz="1800" noProof="0" dirty="0" smtClean="0"/>
          </a:p>
          <a:p>
            <a:pPr indent="-257175"/>
            <a:r>
              <a:rPr lang="en-GB" sz="1800" noProof="0" dirty="0" smtClean="0"/>
              <a:t>Where do you prefer to work?</a:t>
            </a:r>
          </a:p>
          <a:p>
            <a:endParaRPr lang="en-GB" noProof="0" dirty="0"/>
          </a:p>
        </p:txBody>
      </p:sp>
      <p:pic>
        <p:nvPicPr>
          <p:cNvPr id="1028" name="Picture 4" descr="http://totalqualitymanagement.files.wordpress.com/2010/03/figure12.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0689" y="3140968"/>
            <a:ext cx="8090297" cy="2638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6479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descr="C:\Documents and Settings\olivia.mcdermott\My Documents\My Pictures\5s 6.bmp"/>
          <p:cNvPicPr>
            <a:picLocks noChangeAspect="1" noChangeArrowheads="1"/>
          </p:cNvPicPr>
          <p:nvPr/>
        </p:nvPicPr>
        <p:blipFill>
          <a:blip r:embed="rId3" cstate="print"/>
          <a:srcRect/>
          <a:stretch>
            <a:fillRect/>
          </a:stretch>
        </p:blipFill>
        <p:spPr bwMode="auto">
          <a:xfrm>
            <a:off x="7268989" y="1141860"/>
            <a:ext cx="2411016" cy="2143125"/>
          </a:xfrm>
          <a:prstGeom prst="rect">
            <a:avLst/>
          </a:prstGeom>
          <a:noFill/>
        </p:spPr>
      </p:pic>
      <p:sp>
        <p:nvSpPr>
          <p:cNvPr id="11266" name="Rectangle 22"/>
          <p:cNvSpPr>
            <a:spLocks noGrp="1" noChangeArrowheads="1"/>
          </p:cNvSpPr>
          <p:nvPr>
            <p:ph type="title"/>
          </p:nvPr>
        </p:nvSpPr>
        <p:spPr/>
        <p:txBody>
          <a:bodyPr/>
          <a:lstStyle/>
          <a:p>
            <a:r>
              <a:rPr lang="en-GB" noProof="0" dirty="0" smtClean="0"/>
              <a:t>Organized Work Environment</a:t>
            </a:r>
          </a:p>
        </p:txBody>
      </p:sp>
      <p:sp>
        <p:nvSpPr>
          <p:cNvPr id="11267" name="Rectangle 23"/>
          <p:cNvSpPr>
            <a:spLocks noGrp="1" noChangeArrowheads="1"/>
          </p:cNvSpPr>
          <p:nvPr>
            <p:ph idx="1"/>
          </p:nvPr>
        </p:nvSpPr>
        <p:spPr/>
        <p:txBody>
          <a:bodyPr/>
          <a:lstStyle/>
          <a:p>
            <a:r>
              <a:rPr lang="en-GB" noProof="0" dirty="0" smtClean="0"/>
              <a:t>2 – Straighten</a:t>
            </a:r>
          </a:p>
          <a:p>
            <a:pPr lvl="1"/>
            <a:endParaRPr lang="en-GB" sz="1800" noProof="0" dirty="0" smtClean="0"/>
          </a:p>
          <a:p>
            <a:pPr indent="-157163"/>
            <a:r>
              <a:rPr lang="en-GB" sz="1600" noProof="0" dirty="0" smtClean="0"/>
              <a:t>Give each item a fixed location</a:t>
            </a:r>
          </a:p>
          <a:p>
            <a:pPr lvl="1">
              <a:buClrTx/>
            </a:pPr>
            <a:r>
              <a:rPr lang="en-GB" b="0" noProof="0" dirty="0" smtClean="0"/>
              <a:t>Improve the efficiency of your current workflow</a:t>
            </a:r>
          </a:p>
          <a:p>
            <a:pPr lvl="1">
              <a:buClrTx/>
            </a:pPr>
            <a:r>
              <a:rPr lang="en-GB" b="0" noProof="0" dirty="0" smtClean="0"/>
              <a:t>Bring &amp; keep same items together</a:t>
            </a:r>
          </a:p>
          <a:p>
            <a:pPr lvl="2">
              <a:buClrTx/>
            </a:pPr>
            <a:endParaRPr lang="en-GB" noProof="0" dirty="0" smtClean="0"/>
          </a:p>
          <a:p>
            <a:pPr indent="-157163"/>
            <a:r>
              <a:rPr lang="en-GB" sz="1600" noProof="0" dirty="0" smtClean="0"/>
              <a:t>Combine and group identical / similar items</a:t>
            </a:r>
          </a:p>
          <a:p>
            <a:pPr lvl="1">
              <a:buClrTx/>
            </a:pPr>
            <a:r>
              <a:rPr lang="en-GB" b="0" noProof="0" dirty="0" smtClean="0"/>
              <a:t>Writing material, phone, computer</a:t>
            </a:r>
          </a:p>
          <a:p>
            <a:pPr lvl="1">
              <a:buClrTx/>
            </a:pPr>
            <a:r>
              <a:rPr lang="en-GB" b="0" noProof="0" dirty="0" smtClean="0"/>
              <a:t>WIP – Work in progress</a:t>
            </a:r>
          </a:p>
          <a:p>
            <a:pPr lvl="1">
              <a:buClrTx/>
            </a:pPr>
            <a:r>
              <a:rPr lang="en-GB" b="0" noProof="0" dirty="0" smtClean="0"/>
              <a:t>Racks and boxes (incl. shapes and colours)</a:t>
            </a:r>
          </a:p>
          <a:p>
            <a:pPr lvl="1">
              <a:buClrTx/>
            </a:pPr>
            <a:r>
              <a:rPr lang="en-GB" b="0" noProof="0" dirty="0" smtClean="0"/>
              <a:t>Determine how much of each article should be available</a:t>
            </a:r>
          </a:p>
          <a:p>
            <a:pPr lvl="2">
              <a:buClrTx/>
            </a:pPr>
            <a:endParaRPr lang="en-GB" noProof="0" dirty="0" smtClean="0"/>
          </a:p>
          <a:p>
            <a:pPr indent="-157163"/>
            <a:r>
              <a:rPr lang="en-GB" sz="1600" noProof="0" dirty="0" smtClean="0"/>
              <a:t>Make it obvious where things belong</a:t>
            </a:r>
          </a:p>
          <a:p>
            <a:pPr lvl="1">
              <a:buClrTx/>
            </a:pPr>
            <a:r>
              <a:rPr lang="en-GB" b="0" noProof="0" dirty="0" smtClean="0"/>
              <a:t>Lines, labels, signs</a:t>
            </a:r>
          </a:p>
          <a:p>
            <a:pPr lvl="1">
              <a:buClrTx/>
            </a:pPr>
            <a:r>
              <a:rPr lang="en-GB" b="0" noProof="0" dirty="0" smtClean="0"/>
              <a:t>Show location, type, quantity, etc.</a:t>
            </a:r>
          </a:p>
        </p:txBody>
      </p:sp>
      <p:pic>
        <p:nvPicPr>
          <p:cNvPr id="11269" name="Picture 21" descr="Vinyl Tape - Solid Color (1/4&quot; x 10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0360" y="5229200"/>
            <a:ext cx="2299644" cy="135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6" name="Picture 2" descr="C:\Documents and Settings\olivia.mcdermott\My Documents\My Pictures\imagesCAPR1L0G.jpg"/>
          <p:cNvPicPr>
            <a:picLocks noChangeAspect="1" noChangeArrowheads="1"/>
          </p:cNvPicPr>
          <p:nvPr/>
        </p:nvPicPr>
        <p:blipFill>
          <a:blip r:embed="rId5" cstate="print"/>
          <a:srcRect/>
          <a:stretch>
            <a:fillRect/>
          </a:stretch>
        </p:blipFill>
        <p:spPr bwMode="auto">
          <a:xfrm>
            <a:off x="7290810" y="3482624"/>
            <a:ext cx="2470203" cy="1674569"/>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el 1"/>
          <p:cNvSpPr>
            <a:spLocks noGrp="1"/>
          </p:cNvSpPr>
          <p:nvPr>
            <p:ph type="title"/>
          </p:nvPr>
        </p:nvSpPr>
        <p:spPr/>
        <p:txBody>
          <a:bodyPr/>
          <a:lstStyle/>
          <a:p>
            <a:r>
              <a:rPr lang="en-GB" dirty="0"/>
              <a:t>Organized Work Environment</a:t>
            </a:r>
            <a:endParaRPr lang="en-GB" noProof="0" dirty="0" smtClean="0"/>
          </a:p>
        </p:txBody>
      </p:sp>
      <p:sp>
        <p:nvSpPr>
          <p:cNvPr id="12291" name="Tijdelijke aanduiding voor inhoud 2"/>
          <p:cNvSpPr>
            <a:spLocks noGrp="1"/>
          </p:cNvSpPr>
          <p:nvPr>
            <p:ph idx="1"/>
          </p:nvPr>
        </p:nvSpPr>
        <p:spPr/>
        <p:txBody>
          <a:bodyPr/>
          <a:lstStyle/>
          <a:p>
            <a:r>
              <a:rPr lang="en-GB" noProof="0" smtClean="0"/>
              <a:t>2 – Straighten</a:t>
            </a:r>
            <a:endParaRPr lang="en-GB" noProof="0" dirty="0" smtClean="0"/>
          </a:p>
        </p:txBody>
      </p:sp>
      <p:graphicFrame>
        <p:nvGraphicFramePr>
          <p:cNvPr id="5" name="Group 45"/>
          <p:cNvGraphicFramePr>
            <a:graphicFrameLocks/>
          </p:cNvGraphicFramePr>
          <p:nvPr>
            <p:extLst>
              <p:ext uri="{D42A27DB-BD31-4B8C-83A1-F6EECF244321}">
                <p14:modId xmlns:p14="http://schemas.microsoft.com/office/powerpoint/2010/main" val="3572156612"/>
              </p:ext>
            </p:extLst>
          </p:nvPr>
        </p:nvGraphicFramePr>
        <p:xfrm>
          <a:off x="773534" y="2406204"/>
          <a:ext cx="8906471" cy="2967012"/>
        </p:xfrm>
        <a:graphic>
          <a:graphicData uri="http://schemas.openxmlformats.org/drawingml/2006/table">
            <a:tbl>
              <a:tblPr/>
              <a:tblGrid>
                <a:gridCol w="2971899"/>
                <a:gridCol w="2962674"/>
                <a:gridCol w="2971898"/>
              </a:tblGrid>
              <a:tr h="504056">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Frequency of Use</a:t>
                      </a:r>
                    </a:p>
                  </a:txBody>
                  <a:tcPr marL="123960" marR="123960" marT="53323" marB="533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Storage/ location</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Maximum Distance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r>
              <a:tr h="36004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continuous</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on body / on workplace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 50 cm</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every hour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on workplace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 1 meter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every day</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near workplace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 5 meter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every week</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in department</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 10 meter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each month</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in central warehouse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max. 250 meter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each year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in regional warehouse</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nl-NL"/>
                    </a:p>
                  </a:txBody>
                  <a:tcPr/>
                </a:tc>
              </a:tr>
              <a:tr h="350462">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less then 1x per year</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sz="1600" b="1" i="0" u="none" strike="noStrike" cap="none" normalizeH="0" baseline="0" noProof="0" dirty="0" smtClean="0">
                          <a:ln>
                            <a:noFill/>
                          </a:ln>
                          <a:solidFill>
                            <a:schemeClr val="tx1"/>
                          </a:solidFill>
                          <a:effectLst/>
                          <a:latin typeface="Arial" charset="0"/>
                          <a:cs typeface="Times New Roman" pitchFamily="18" charset="0"/>
                        </a:rPr>
                        <a:t>do you really need it?</a:t>
                      </a:r>
                      <a:endParaRPr kumimoji="1" lang="en-US" sz="1600" b="1" i="0" u="none" strike="noStrike" cap="none" normalizeH="0" baseline="0" noProof="0" dirty="0" smtClean="0">
                        <a:ln>
                          <a:noFill/>
                        </a:ln>
                        <a:solidFill>
                          <a:schemeClr val="tx1"/>
                        </a:solidFill>
                        <a:effectLst/>
                        <a:latin typeface="Arial" charset="0"/>
                        <a:cs typeface="Arial" charset="0"/>
                      </a:endParaRPr>
                    </a:p>
                  </a:txBody>
                  <a:tcPr marL="123960" marR="123960" marT="53323" marB="533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nl-NL"/>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Organized Work </a:t>
            </a:r>
            <a:r>
              <a:rPr lang="en-GB" smtClean="0"/>
              <a:t>E</a:t>
            </a:r>
            <a:r>
              <a:rPr lang="en-GB" noProof="0" smtClean="0"/>
              <a:t>nvironment</a:t>
            </a:r>
            <a:endParaRPr lang="en-GB" noProof="0" dirty="0"/>
          </a:p>
        </p:txBody>
      </p:sp>
      <p:sp>
        <p:nvSpPr>
          <p:cNvPr id="3" name="Tijdelijke aanduiding voor inhoud 2"/>
          <p:cNvSpPr>
            <a:spLocks noGrp="1"/>
          </p:cNvSpPr>
          <p:nvPr>
            <p:ph idx="1"/>
          </p:nvPr>
        </p:nvSpPr>
        <p:spPr>
          <a:xfrm>
            <a:off x="810815" y="1439863"/>
            <a:ext cx="9274233" cy="5040312"/>
          </a:xfrm>
        </p:spPr>
        <p:txBody>
          <a:bodyPr/>
          <a:lstStyle/>
          <a:p>
            <a:r>
              <a:rPr lang="en-GB" noProof="0" dirty="0" smtClean="0"/>
              <a:t>2 – Straighten - Example preconditions</a:t>
            </a:r>
          </a:p>
          <a:p>
            <a:pPr lvl="1"/>
            <a:endParaRPr lang="en-GB" noProof="0" dirty="0" smtClean="0"/>
          </a:p>
          <a:p>
            <a:pPr lvl="1">
              <a:buClrTx/>
            </a:pPr>
            <a:r>
              <a:rPr lang="en-GB" noProof="0" dirty="0" smtClean="0"/>
              <a:t>Common used items at fixed location</a:t>
            </a:r>
          </a:p>
          <a:p>
            <a:pPr lvl="1">
              <a:buClrTx/>
            </a:pPr>
            <a:r>
              <a:rPr lang="en-GB" noProof="0" dirty="0" smtClean="0"/>
              <a:t>Binders: in one location labelled</a:t>
            </a:r>
          </a:p>
          <a:p>
            <a:pPr lvl="1">
              <a:buClrTx/>
            </a:pPr>
            <a:r>
              <a:rPr lang="en-GB" noProof="0" dirty="0" smtClean="0"/>
              <a:t>Totes/ storage trays neatly labelled</a:t>
            </a:r>
          </a:p>
          <a:p>
            <a:pPr lvl="1">
              <a:buClrTx/>
            </a:pPr>
            <a:r>
              <a:rPr lang="en-GB" noProof="0" dirty="0" smtClean="0"/>
              <a:t>Label locations with red tape: a place for everything, everything in its place!</a:t>
            </a:r>
            <a:endParaRPr lang="en-GB" noProof="0" dirty="0"/>
          </a:p>
        </p:txBody>
      </p:sp>
      <p:pic>
        <p:nvPicPr>
          <p:cNvPr id="17409" name="Picture 1" descr="C:\Documents and Settings\olivia.mcdermott\My Documents\My Pictures\5s after.jpg"/>
          <p:cNvPicPr>
            <a:picLocks noChangeAspect="1" noChangeArrowheads="1"/>
          </p:cNvPicPr>
          <p:nvPr/>
        </p:nvPicPr>
        <p:blipFill rotWithShape="1">
          <a:blip r:embed="rId3" cstate="print"/>
          <a:srcRect t="14501" r="10125"/>
          <a:stretch/>
        </p:blipFill>
        <p:spPr bwMode="auto">
          <a:xfrm>
            <a:off x="2854179" y="3573422"/>
            <a:ext cx="4881609" cy="3095938"/>
          </a:xfrm>
          <a:prstGeom prst="rect">
            <a:avLst/>
          </a:prstGeom>
          <a:noFill/>
        </p:spPr>
      </p:pic>
    </p:spTree>
    <p:extLst>
      <p:ext uri="{BB962C8B-B14F-4D97-AF65-F5344CB8AC3E}">
        <p14:creationId xmlns:p14="http://schemas.microsoft.com/office/powerpoint/2010/main" val="15785782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en-GB" noProof="0" smtClean="0"/>
              <a:t>Organized Work Environment</a:t>
            </a:r>
            <a:endParaRPr lang="en-GB" noProof="0" dirty="0" smtClean="0"/>
          </a:p>
        </p:txBody>
      </p:sp>
      <p:sp>
        <p:nvSpPr>
          <p:cNvPr id="13315" name="Tijdelijke aanduiding voor inhoud 2"/>
          <p:cNvSpPr>
            <a:spLocks noGrp="1"/>
          </p:cNvSpPr>
          <p:nvPr>
            <p:ph idx="1"/>
          </p:nvPr>
        </p:nvSpPr>
        <p:spPr/>
        <p:txBody>
          <a:bodyPr/>
          <a:lstStyle/>
          <a:p>
            <a:r>
              <a:rPr lang="en-GB" noProof="0" dirty="0" smtClean="0"/>
              <a:t>2 – Straighten</a:t>
            </a:r>
          </a:p>
        </p:txBody>
      </p:sp>
      <p:pic>
        <p:nvPicPr>
          <p:cNvPr id="3075" name="Afbeelding 3" descr="http://us.123rf.com/400wm/400/400/paulvinten/paulvinten1101/paulvinten110100010/8543997-medische-instrumenten-in-een-operatie-kam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200" y="4884423"/>
            <a:ext cx="2758075" cy="159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Afbeelding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33410" y="3960019"/>
            <a:ext cx="2774250" cy="2466000"/>
          </a:xfrm>
          <a:prstGeom prst="rect">
            <a:avLst/>
          </a:prstGeom>
        </p:spPr>
      </p:pic>
      <p:pic>
        <p:nvPicPr>
          <p:cNvPr id="5" name="Afbeelding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59682" y="3960020"/>
            <a:ext cx="2078831" cy="2466975"/>
          </a:xfrm>
          <a:prstGeom prst="rect">
            <a:avLst/>
          </a:prstGeom>
        </p:spPr>
      </p:pic>
      <p:pic>
        <p:nvPicPr>
          <p:cNvPr id="6" name="Afbeelding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5696" y="2223776"/>
            <a:ext cx="3702738" cy="235981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title"/>
          </p:nvPr>
        </p:nvSpPr>
        <p:spPr/>
        <p:txBody>
          <a:bodyPr/>
          <a:lstStyle/>
          <a:p>
            <a:r>
              <a:rPr lang="en-GB" noProof="0" smtClean="0"/>
              <a:t>Organized Work Environment</a:t>
            </a:r>
            <a:endParaRPr lang="en-GB" noProof="0" dirty="0" smtClean="0"/>
          </a:p>
        </p:txBody>
      </p:sp>
      <p:sp>
        <p:nvSpPr>
          <p:cNvPr id="14339" name="Tijdelijke aanduiding voor inhoud 4"/>
          <p:cNvSpPr>
            <a:spLocks noGrp="1"/>
          </p:cNvSpPr>
          <p:nvPr>
            <p:ph idx="1"/>
          </p:nvPr>
        </p:nvSpPr>
        <p:spPr>
          <a:xfrm>
            <a:off x="810000" y="1440000"/>
            <a:ext cx="8910043" cy="5301368"/>
          </a:xfrm>
        </p:spPr>
        <p:txBody>
          <a:bodyPr/>
          <a:lstStyle/>
          <a:p>
            <a:r>
              <a:rPr lang="en-GB" noProof="0" dirty="0" smtClean="0"/>
              <a:t>3 – Shine</a:t>
            </a:r>
          </a:p>
          <a:p>
            <a:endParaRPr lang="en-GB" sz="1800" noProof="0" dirty="0" smtClean="0"/>
          </a:p>
          <a:p>
            <a:pPr marL="180975" lvl="1" indent="0">
              <a:buClrTx/>
              <a:buNone/>
            </a:pPr>
            <a:r>
              <a:rPr lang="en-GB" noProof="0" dirty="0" smtClean="0"/>
              <a:t>Keep your area continuously clean</a:t>
            </a:r>
          </a:p>
          <a:p>
            <a:pPr lvl="1">
              <a:buClrTx/>
            </a:pPr>
            <a:r>
              <a:rPr lang="en-GB" b="0" noProof="0" dirty="0" smtClean="0"/>
              <a:t>A clean workplace is an indicator of process quality</a:t>
            </a:r>
          </a:p>
          <a:p>
            <a:pPr lvl="1">
              <a:buClrTx/>
            </a:pPr>
            <a:r>
              <a:rPr lang="en-GB" b="0" noProof="0" dirty="0" smtClean="0"/>
              <a:t>Dust and dirt can cause contamination &amp; health hazards</a:t>
            </a:r>
          </a:p>
          <a:p>
            <a:pPr lvl="1">
              <a:buClrTx/>
            </a:pPr>
            <a:r>
              <a:rPr lang="en-GB" b="0" noProof="0" dirty="0" smtClean="0"/>
              <a:t>A clean workplace helps to identify abnormal conditions</a:t>
            </a:r>
          </a:p>
          <a:p>
            <a:pPr lvl="2">
              <a:buClrTx/>
            </a:pPr>
            <a:endParaRPr lang="en-GB" noProof="0" dirty="0" smtClean="0"/>
          </a:p>
          <a:p>
            <a:pPr marL="180975" lvl="1" indent="0">
              <a:buClrTx/>
              <a:buNone/>
            </a:pPr>
            <a:r>
              <a:rPr lang="en-GB" noProof="0" dirty="0" smtClean="0"/>
              <a:t>Clean everything, inside and outside</a:t>
            </a:r>
          </a:p>
          <a:p>
            <a:pPr lvl="1">
              <a:buClrTx/>
            </a:pPr>
            <a:r>
              <a:rPr lang="en-GB" b="0" noProof="0" dirty="0" smtClean="0"/>
              <a:t>Don’t forget to also clean inside drawers, top of cabinets, keyboards, etc.</a:t>
            </a:r>
          </a:p>
          <a:p>
            <a:pPr lvl="1">
              <a:buClrTx/>
            </a:pPr>
            <a:r>
              <a:rPr lang="en-GB" b="0" noProof="0" dirty="0" smtClean="0"/>
              <a:t>Pay attention abnormalities (broken things, unsafe situations, etc.).</a:t>
            </a:r>
          </a:p>
          <a:p>
            <a:pPr marL="180975" lvl="1" indent="0">
              <a:buClrTx/>
              <a:buNone/>
            </a:pPr>
            <a:endParaRPr lang="en-GB" noProof="0" dirty="0" smtClean="0"/>
          </a:p>
          <a:p>
            <a:pPr marL="180975" lvl="1" indent="0">
              <a:buClrTx/>
              <a:buNone/>
            </a:pPr>
            <a:r>
              <a:rPr lang="en-GB" noProof="0" dirty="0" smtClean="0"/>
              <a:t>Inspect equipment and repair obvious shortcomings</a:t>
            </a:r>
          </a:p>
          <a:p>
            <a:pPr lvl="1">
              <a:buClrTx/>
            </a:pPr>
            <a:r>
              <a:rPr lang="en-GB" b="0" noProof="0" dirty="0" smtClean="0"/>
              <a:t>Make small reparations e.g. leakages, defective light bulbs</a:t>
            </a:r>
          </a:p>
          <a:p>
            <a:pPr lvl="1">
              <a:buClrTx/>
            </a:pPr>
            <a:r>
              <a:rPr lang="en-GB" b="0" noProof="0" dirty="0" smtClean="0"/>
              <a:t>Pay attention to missing / broken things, tape and noise</a:t>
            </a:r>
          </a:p>
          <a:p>
            <a:pPr lvl="1">
              <a:buClrTx/>
            </a:pPr>
            <a:endParaRPr lang="en-GB" noProof="0" dirty="0" smtClean="0"/>
          </a:p>
          <a:p>
            <a:pPr marL="180975" lvl="1" indent="0">
              <a:buClrTx/>
              <a:buNone/>
            </a:pPr>
            <a:r>
              <a:rPr lang="en-GB" noProof="0" dirty="0" smtClean="0"/>
              <a:t>Eliminate all sources of contamination</a:t>
            </a:r>
          </a:p>
          <a:p>
            <a:pPr lvl="1">
              <a:buClrTx/>
            </a:pPr>
            <a:r>
              <a:rPr lang="en-GB" b="0" noProof="0" dirty="0" smtClean="0"/>
              <a:t>Prevent dirt, and contamination from reoccurring</a:t>
            </a:r>
          </a:p>
        </p:txBody>
      </p:sp>
      <p:pic>
        <p:nvPicPr>
          <p:cNvPr id="7170" name="Picture 2" descr="Waiting room in a hospital or clinic with empty chairs Stock Photo - 17188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0073" y="1484784"/>
            <a:ext cx="2842652" cy="24151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el 1"/>
          <p:cNvSpPr>
            <a:spLocks noGrp="1"/>
          </p:cNvSpPr>
          <p:nvPr>
            <p:ph type="title"/>
          </p:nvPr>
        </p:nvSpPr>
        <p:spPr/>
        <p:txBody>
          <a:bodyPr/>
          <a:lstStyle/>
          <a:p>
            <a:r>
              <a:rPr lang="en-GB" noProof="0" smtClean="0"/>
              <a:t>Organized Work Environment</a:t>
            </a:r>
            <a:endParaRPr lang="en-GB" noProof="0" dirty="0" smtClean="0"/>
          </a:p>
        </p:txBody>
      </p:sp>
      <p:sp>
        <p:nvSpPr>
          <p:cNvPr id="15363" name="Tijdelijke aanduiding voor inhoud 2"/>
          <p:cNvSpPr>
            <a:spLocks noGrp="1"/>
          </p:cNvSpPr>
          <p:nvPr>
            <p:ph idx="1"/>
          </p:nvPr>
        </p:nvSpPr>
        <p:spPr>
          <a:xfrm>
            <a:off x="810001" y="1440001"/>
            <a:ext cx="9437898" cy="5355431"/>
          </a:xfrm>
        </p:spPr>
        <p:txBody>
          <a:bodyPr/>
          <a:lstStyle/>
          <a:p>
            <a:r>
              <a:rPr lang="en-GB" noProof="0" dirty="0" smtClean="0"/>
              <a:t>3 – Shine</a:t>
            </a:r>
          </a:p>
          <a:p>
            <a:pPr lvl="1"/>
            <a:endParaRPr lang="en-GB" noProof="0" dirty="0" smtClean="0"/>
          </a:p>
          <a:p>
            <a:pPr lvl="1">
              <a:buClrTx/>
            </a:pPr>
            <a:r>
              <a:rPr lang="en-GB" noProof="0" dirty="0" smtClean="0"/>
              <a:t>After the first round of cleaning:</a:t>
            </a:r>
          </a:p>
          <a:p>
            <a:pPr lvl="1">
              <a:buClrTx/>
            </a:pPr>
            <a:r>
              <a:rPr lang="en-GB" noProof="0" dirty="0" smtClean="0"/>
              <a:t>Identify cleaning activities that need to be completed regularly</a:t>
            </a:r>
          </a:p>
          <a:p>
            <a:pPr lvl="1">
              <a:buClrTx/>
            </a:pPr>
            <a:r>
              <a:rPr lang="en-GB" noProof="0" dirty="0" smtClean="0"/>
              <a:t>Define roles and responsibilities</a:t>
            </a:r>
          </a:p>
          <a:p>
            <a:pPr lvl="1">
              <a:buClrTx/>
            </a:pPr>
            <a:r>
              <a:rPr lang="en-GB" noProof="0" dirty="0" smtClean="0"/>
              <a:t>Create and implement a cleaning scheme</a:t>
            </a:r>
          </a:p>
          <a:p>
            <a:pPr lvl="1"/>
            <a:endParaRPr lang="en-GB" noProof="0" dirty="0" smtClean="0"/>
          </a:p>
          <a:p>
            <a:pPr lvl="1"/>
            <a:endParaRPr lang="en-GB" noProof="0" dirty="0" smtClean="0"/>
          </a:p>
        </p:txBody>
      </p:sp>
      <p:sp>
        <p:nvSpPr>
          <p:cNvPr id="15365" name="AutoShape 4"/>
          <p:cNvSpPr>
            <a:spLocks noChangeArrowheads="1"/>
          </p:cNvSpPr>
          <p:nvPr/>
        </p:nvSpPr>
        <p:spPr bwMode="auto">
          <a:xfrm>
            <a:off x="81286" y="3461437"/>
            <a:ext cx="4935004" cy="1992313"/>
          </a:xfrm>
          <a:prstGeom prst="irregularSeal1">
            <a:avLst/>
          </a:prstGeom>
          <a:solidFill>
            <a:schemeClr val="bg1">
              <a:lumMod val="75000"/>
            </a:schemeClr>
          </a:solidFill>
          <a:ln>
            <a:noFill/>
          </a:ln>
          <a:effectLst>
            <a:outerShdw dist="107763" dir="2700000" algn="ctr" rotWithShape="0">
              <a:schemeClr val="bg2">
                <a:alpha val="50000"/>
              </a:schemeClr>
            </a:outerShdw>
          </a:effectLst>
          <a:extLst/>
        </p:spPr>
        <p:txBody>
          <a:bodyPr wrap="none" anchor="ctr"/>
          <a:lstStyle/>
          <a:p>
            <a:pPr algn="ctr"/>
            <a:r>
              <a:rPr lang="en-US" sz="1600" b="1" dirty="0">
                <a:latin typeface="Arial" panose="020B0604020202020204" pitchFamily="34" charset="0"/>
                <a:cs typeface="Arial" panose="020B0604020202020204" pitchFamily="34" charset="0"/>
              </a:rPr>
              <a:t>Take 5 minutes at the end </a:t>
            </a:r>
          </a:p>
          <a:p>
            <a:pPr algn="ctr"/>
            <a:r>
              <a:rPr lang="en-US" sz="1600" b="1" dirty="0">
                <a:latin typeface="Arial" panose="020B0604020202020204" pitchFamily="34" charset="0"/>
                <a:cs typeface="Arial" panose="020B0604020202020204" pitchFamily="34" charset="0"/>
              </a:rPr>
              <a:t>of each day</a:t>
            </a:r>
            <a:r>
              <a:rPr lang="en-US" sz="1600" b="1" dirty="0" smtClean="0">
                <a:latin typeface="Arial" panose="020B0604020202020204" pitchFamily="34" charset="0"/>
                <a:cs typeface="Arial" panose="020B0604020202020204" pitchFamily="34" charset="0"/>
              </a:rPr>
              <a:t>/ shift </a:t>
            </a:r>
            <a:r>
              <a:rPr lang="en-US" sz="1600" b="1" dirty="0">
                <a:latin typeface="Arial" panose="020B0604020202020204" pitchFamily="34" charset="0"/>
                <a:cs typeface="Arial" panose="020B0604020202020204" pitchFamily="34" charset="0"/>
              </a:rPr>
              <a:t>for cleaning</a:t>
            </a:r>
          </a:p>
        </p:txBody>
      </p:sp>
      <p:pic>
        <p:nvPicPr>
          <p:cNvPr id="2" name="Afbeelding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88354" y="4457592"/>
            <a:ext cx="4996886" cy="185069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Organized Work </a:t>
            </a:r>
            <a:r>
              <a:rPr lang="en-GB" smtClean="0"/>
              <a:t>E</a:t>
            </a:r>
            <a:r>
              <a:rPr lang="en-GB" noProof="0" smtClean="0"/>
              <a:t>nvironment</a:t>
            </a:r>
            <a:endParaRPr lang="en-GB" noProof="0" dirty="0"/>
          </a:p>
        </p:txBody>
      </p:sp>
      <p:sp>
        <p:nvSpPr>
          <p:cNvPr id="3" name="Tijdelijke aanduiding voor inhoud 2"/>
          <p:cNvSpPr>
            <a:spLocks noGrp="1"/>
          </p:cNvSpPr>
          <p:nvPr>
            <p:ph idx="1"/>
          </p:nvPr>
        </p:nvSpPr>
        <p:spPr>
          <a:xfrm>
            <a:off x="810000" y="1440000"/>
            <a:ext cx="8910000" cy="5040000"/>
          </a:xfrm>
        </p:spPr>
        <p:txBody>
          <a:bodyPr/>
          <a:lstStyle/>
          <a:p>
            <a:r>
              <a:rPr lang="en-GB" noProof="0" dirty="0" smtClean="0"/>
              <a:t>3 - Cleaning - Example preconditions</a:t>
            </a:r>
          </a:p>
          <a:p>
            <a:pPr lvl="1"/>
            <a:endParaRPr lang="en-GB" noProof="0" dirty="0" smtClean="0"/>
          </a:p>
          <a:p>
            <a:pPr lvl="1">
              <a:buClrTx/>
            </a:pPr>
            <a:r>
              <a:rPr lang="en-GB" noProof="0" dirty="0" smtClean="0"/>
              <a:t>Keep at least 40 cm free around everything </a:t>
            </a:r>
            <a:br>
              <a:rPr lang="en-GB" noProof="0" dirty="0" smtClean="0"/>
            </a:br>
            <a:r>
              <a:rPr lang="en-GB" noProof="0" dirty="0" smtClean="0"/>
              <a:t>that needs cleaning</a:t>
            </a:r>
          </a:p>
          <a:p>
            <a:pPr lvl="1">
              <a:buClrTx/>
            </a:pPr>
            <a:endParaRPr lang="en-GB" noProof="0" dirty="0" smtClean="0"/>
          </a:p>
          <a:p>
            <a:pPr lvl="1">
              <a:buClrTx/>
            </a:pPr>
            <a:r>
              <a:rPr lang="en-GB" noProof="0" dirty="0" smtClean="0"/>
              <a:t>Clean desk: empty desks every day</a:t>
            </a:r>
          </a:p>
          <a:p>
            <a:pPr lvl="1">
              <a:buClrTx/>
            </a:pPr>
            <a:endParaRPr lang="en-GB" noProof="0" dirty="0" smtClean="0"/>
          </a:p>
          <a:p>
            <a:pPr lvl="1">
              <a:buClrTx/>
            </a:pPr>
            <a:r>
              <a:rPr lang="en-GB" noProof="0" dirty="0" smtClean="0"/>
              <a:t>At the end of the day no coffee cups at the </a:t>
            </a:r>
            <a:br>
              <a:rPr lang="en-GB" noProof="0" dirty="0" smtClean="0"/>
            </a:br>
            <a:r>
              <a:rPr lang="en-GB" noProof="0" dirty="0" smtClean="0"/>
              <a:t>workplace</a:t>
            </a:r>
          </a:p>
          <a:p>
            <a:pPr lvl="1">
              <a:buClrTx/>
            </a:pPr>
            <a:endParaRPr lang="en-GB" noProof="0" dirty="0" smtClean="0"/>
          </a:p>
          <a:p>
            <a:pPr lvl="1">
              <a:buClrTx/>
            </a:pPr>
            <a:r>
              <a:rPr lang="en-GB" noProof="0" dirty="0" smtClean="0"/>
              <a:t>Take 5 minutes time for cleaning and tidying up their</a:t>
            </a:r>
            <a:r>
              <a:rPr lang="en-GB" dirty="0" smtClean="0"/>
              <a:t> </a:t>
            </a:r>
            <a:r>
              <a:rPr lang="en-GB" noProof="0" dirty="0" smtClean="0"/>
              <a:t>own workplace at the end of the day</a:t>
            </a:r>
          </a:p>
          <a:p>
            <a:pPr lvl="1">
              <a:buClrTx/>
            </a:pPr>
            <a:endParaRPr lang="en-GB" noProof="0" dirty="0" smtClean="0"/>
          </a:p>
          <a:p>
            <a:pPr lvl="1">
              <a:buClrTx/>
            </a:pPr>
            <a:r>
              <a:rPr lang="en-GB" noProof="0" dirty="0" smtClean="0"/>
              <a:t>Clean common areas (cleaning agency) - daily</a:t>
            </a:r>
          </a:p>
          <a:p>
            <a:pPr lvl="1">
              <a:buClrTx/>
            </a:pPr>
            <a:endParaRPr lang="en-GB" noProof="0" dirty="0" smtClean="0"/>
          </a:p>
          <a:p>
            <a:pPr lvl="1">
              <a:buClrTx/>
            </a:pPr>
            <a:r>
              <a:rPr lang="en-GB" noProof="0" dirty="0" smtClean="0"/>
              <a:t>Clean desks agents (cleaning agency) - weekly</a:t>
            </a:r>
          </a:p>
          <a:p>
            <a:endParaRPr lang="en-GB" noProof="0" dirty="0"/>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65411" y="2132857"/>
            <a:ext cx="3077618" cy="2038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1"/>
          <p:cNvSpPr/>
          <p:nvPr/>
        </p:nvSpPr>
        <p:spPr>
          <a:xfrm>
            <a:off x="8889728" y="4180319"/>
            <a:ext cx="1255068" cy="215444"/>
          </a:xfrm>
          <a:prstGeom prst="rect">
            <a:avLst/>
          </a:prstGeom>
        </p:spPr>
        <p:txBody>
          <a:bodyPr wrap="square">
            <a:spAutoFit/>
          </a:bodyPr>
          <a:lstStyle/>
          <a:p>
            <a:r>
              <a:rPr lang="en-IE" sz="800" dirty="0" smtClean="0"/>
              <a:t>123RF </a:t>
            </a:r>
            <a:r>
              <a:rPr lang="en-IE" sz="800" dirty="0"/>
              <a:t>Stock </a:t>
            </a:r>
            <a:r>
              <a:rPr lang="en-IE" sz="800" dirty="0" smtClean="0"/>
              <a:t>Photo</a:t>
            </a:r>
            <a:endParaRPr lang="en-IE" sz="800" dirty="0"/>
          </a:p>
        </p:txBody>
      </p:sp>
    </p:spTree>
    <p:extLst>
      <p:ext uri="{BB962C8B-B14F-4D97-AF65-F5344CB8AC3E}">
        <p14:creationId xmlns:p14="http://schemas.microsoft.com/office/powerpoint/2010/main" val="8159166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9" name="Picture 8" descr="SANAP280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01786" y="4437113"/>
            <a:ext cx="2764272" cy="1944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5"/>
          <p:cNvSpPr>
            <a:spLocks noGrp="1" noChangeArrowheads="1"/>
          </p:cNvSpPr>
          <p:nvPr>
            <p:ph type="title"/>
          </p:nvPr>
        </p:nvSpPr>
        <p:spPr/>
        <p:txBody>
          <a:bodyPr/>
          <a:lstStyle/>
          <a:p>
            <a:r>
              <a:rPr lang="en-GB" noProof="0" smtClean="0"/>
              <a:t>Organized Work Environment</a:t>
            </a:r>
            <a:endParaRPr lang="en-GB" noProof="0" dirty="0" smtClean="0"/>
          </a:p>
        </p:txBody>
      </p:sp>
      <p:sp>
        <p:nvSpPr>
          <p:cNvPr id="16387" name="Rectangle 6"/>
          <p:cNvSpPr>
            <a:spLocks noGrp="1" noChangeArrowheads="1"/>
          </p:cNvSpPr>
          <p:nvPr>
            <p:ph idx="1"/>
          </p:nvPr>
        </p:nvSpPr>
        <p:spPr/>
        <p:txBody>
          <a:bodyPr/>
          <a:lstStyle/>
          <a:p>
            <a:r>
              <a:rPr lang="en-GB" noProof="0" dirty="0" smtClean="0"/>
              <a:t>4 – Standardise</a:t>
            </a:r>
          </a:p>
          <a:p>
            <a:pPr lvl="1"/>
            <a:endParaRPr lang="en-GB" sz="1800" noProof="0" dirty="0" smtClean="0"/>
          </a:p>
          <a:p>
            <a:pPr marL="185738" indent="0"/>
            <a:r>
              <a:rPr lang="en-GB" sz="1600" noProof="0" dirty="0" smtClean="0"/>
              <a:t>Standardise Sort, Straighten and Shine</a:t>
            </a:r>
          </a:p>
          <a:p>
            <a:pPr lvl="1">
              <a:buClrTx/>
            </a:pPr>
            <a:r>
              <a:rPr lang="en-GB" b="0" noProof="0" dirty="0" smtClean="0"/>
              <a:t>Establish guidelines for the team’s 5S activities</a:t>
            </a:r>
          </a:p>
          <a:p>
            <a:pPr lvl="1">
              <a:buClrTx/>
            </a:pPr>
            <a:r>
              <a:rPr lang="en-GB" b="0" noProof="0" dirty="0" smtClean="0"/>
              <a:t>Make standards and 5S guidelines visible to continuously sustain sorting, storage and shining activities</a:t>
            </a:r>
          </a:p>
          <a:p>
            <a:pPr lvl="2">
              <a:buClrTx/>
            </a:pPr>
            <a:endParaRPr lang="en-GB" noProof="0" dirty="0" smtClean="0"/>
          </a:p>
          <a:p>
            <a:pPr marL="185738" indent="0"/>
            <a:r>
              <a:rPr lang="en-GB" sz="1600" noProof="0" dirty="0" smtClean="0"/>
              <a:t>Detect abnormalities </a:t>
            </a:r>
          </a:p>
          <a:p>
            <a:pPr lvl="1">
              <a:buClrTx/>
            </a:pPr>
            <a:r>
              <a:rPr lang="en-GB" b="0" noProof="0" dirty="0" smtClean="0"/>
              <a:t>Develop a system that will enable anyone in the workplace to see problems when they occur</a:t>
            </a:r>
          </a:p>
          <a:p>
            <a:pPr lvl="2">
              <a:buClrTx/>
            </a:pPr>
            <a:endParaRPr lang="en-GB" noProof="0" dirty="0" smtClean="0"/>
          </a:p>
          <a:p>
            <a:pPr marL="185738" indent="0"/>
            <a:r>
              <a:rPr lang="en-GB" sz="1600" noProof="0" dirty="0" smtClean="0"/>
              <a:t>Ensure safety, health, and well-being</a:t>
            </a:r>
          </a:p>
          <a:p>
            <a:pPr lvl="1">
              <a:buClrTx/>
            </a:pPr>
            <a:r>
              <a:rPr lang="en-GB" b="0" noProof="0" dirty="0" smtClean="0"/>
              <a:t>Ensure correct clothing, shoes, etc.</a:t>
            </a:r>
          </a:p>
          <a:p>
            <a:pPr lvl="1">
              <a:buClrTx/>
            </a:pPr>
            <a:r>
              <a:rPr lang="en-GB" b="0" noProof="0" dirty="0" smtClean="0"/>
              <a:t>Standardise safety items e.g. fire extinguisher, first aid kits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Organized Work </a:t>
            </a:r>
            <a:r>
              <a:rPr lang="en-GB" smtClean="0"/>
              <a:t>E</a:t>
            </a:r>
            <a:r>
              <a:rPr lang="en-GB" noProof="0" smtClean="0"/>
              <a:t>nvironment</a:t>
            </a:r>
            <a:endParaRPr lang="en-GB" noProof="0" dirty="0"/>
          </a:p>
        </p:txBody>
      </p:sp>
      <p:sp>
        <p:nvSpPr>
          <p:cNvPr id="3" name="Tijdelijke aanduiding voor inhoud 2"/>
          <p:cNvSpPr>
            <a:spLocks noGrp="1"/>
          </p:cNvSpPr>
          <p:nvPr>
            <p:ph idx="1"/>
          </p:nvPr>
        </p:nvSpPr>
        <p:spPr/>
        <p:txBody>
          <a:bodyPr/>
          <a:lstStyle/>
          <a:p>
            <a:r>
              <a:rPr lang="en-GB" noProof="0" dirty="0" smtClean="0"/>
              <a:t>4 – Standardise</a:t>
            </a:r>
          </a:p>
          <a:p>
            <a:pPr lvl="1"/>
            <a:endParaRPr lang="en-GB" sz="1800" noProof="0" dirty="0" smtClean="0"/>
          </a:p>
          <a:p>
            <a:pPr lvl="1">
              <a:buClrTx/>
            </a:pPr>
            <a:r>
              <a:rPr lang="en-GB" noProof="0" dirty="0" smtClean="0"/>
              <a:t>Do not locate tall cabinets in the centre of the office/ room/ ward</a:t>
            </a:r>
          </a:p>
          <a:p>
            <a:pPr lvl="1">
              <a:buClrTx/>
            </a:pPr>
            <a:r>
              <a:rPr lang="en-GB" noProof="0" dirty="0" smtClean="0"/>
              <a:t>Keep the windows clear</a:t>
            </a:r>
          </a:p>
          <a:p>
            <a:pPr lvl="1">
              <a:buClrTx/>
            </a:pPr>
            <a:r>
              <a:rPr lang="en-GB" noProof="0" dirty="0" smtClean="0"/>
              <a:t>Clean wall: no posters on the wall</a:t>
            </a:r>
          </a:p>
          <a:p>
            <a:pPr lvl="1"/>
            <a:endParaRPr lang="en-GB" noProof="0" dirty="0"/>
          </a:p>
        </p:txBody>
      </p:sp>
      <p:pic>
        <p:nvPicPr>
          <p:cNvPr id="4098" name="Picture 2" descr="C:\Users\Olivia.Mcdermott\AppData\Local\Microsoft\Windows\Temporary Internet Files\Content.IE5\W4XQP305\10301089_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4239" y="3233886"/>
            <a:ext cx="4822031" cy="32194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p:cNvSpPr/>
          <p:nvPr/>
        </p:nvSpPr>
        <p:spPr>
          <a:xfrm>
            <a:off x="6357404" y="6453336"/>
            <a:ext cx="1255068" cy="215444"/>
          </a:xfrm>
          <a:prstGeom prst="rect">
            <a:avLst/>
          </a:prstGeom>
        </p:spPr>
        <p:txBody>
          <a:bodyPr wrap="square">
            <a:spAutoFit/>
          </a:bodyPr>
          <a:lstStyle/>
          <a:p>
            <a:r>
              <a:rPr lang="en-IE" sz="800" dirty="0" smtClean="0"/>
              <a:t>123RF </a:t>
            </a:r>
            <a:r>
              <a:rPr lang="en-IE" sz="800" dirty="0"/>
              <a:t>Stock </a:t>
            </a:r>
            <a:r>
              <a:rPr lang="en-IE" sz="800" dirty="0" smtClean="0"/>
              <a:t>Photo</a:t>
            </a:r>
            <a:endParaRPr lang="en-IE" sz="800" dirty="0"/>
          </a:p>
        </p:txBody>
      </p:sp>
    </p:spTree>
    <p:extLst>
      <p:ext uri="{BB962C8B-B14F-4D97-AF65-F5344CB8AC3E}">
        <p14:creationId xmlns:p14="http://schemas.microsoft.com/office/powerpoint/2010/main" val="28405927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ChangeAspect="1" noChangeArrowheads="1"/>
          </p:cNvPicPr>
          <p:nvPr/>
        </p:nvPicPr>
        <p:blipFill>
          <a:blip r:embed="rId3" cstate="print"/>
          <a:srcRect/>
          <a:stretch>
            <a:fillRect/>
          </a:stretch>
        </p:blipFill>
        <p:spPr bwMode="auto">
          <a:xfrm>
            <a:off x="4252401" y="3284985"/>
            <a:ext cx="5751639" cy="3334473"/>
          </a:xfrm>
          <a:prstGeom prst="rect">
            <a:avLst/>
          </a:prstGeom>
          <a:noFill/>
          <a:ln w="9525">
            <a:noFill/>
            <a:miter lim="800000"/>
            <a:headEnd/>
            <a:tailEnd/>
          </a:ln>
        </p:spPr>
      </p:pic>
      <p:sp>
        <p:nvSpPr>
          <p:cNvPr id="17410" name="Titel 1"/>
          <p:cNvSpPr>
            <a:spLocks noGrp="1"/>
          </p:cNvSpPr>
          <p:nvPr>
            <p:ph type="title"/>
          </p:nvPr>
        </p:nvSpPr>
        <p:spPr/>
        <p:txBody>
          <a:bodyPr/>
          <a:lstStyle/>
          <a:p>
            <a:r>
              <a:rPr lang="en-GB" noProof="0" smtClean="0"/>
              <a:t>Organized Work Environment</a:t>
            </a:r>
            <a:endParaRPr lang="en-GB" noProof="0" dirty="0" smtClean="0"/>
          </a:p>
        </p:txBody>
      </p:sp>
      <p:sp>
        <p:nvSpPr>
          <p:cNvPr id="17411" name="Tijdelijke aanduiding voor inhoud 2"/>
          <p:cNvSpPr>
            <a:spLocks noGrp="1"/>
          </p:cNvSpPr>
          <p:nvPr>
            <p:ph idx="1"/>
          </p:nvPr>
        </p:nvSpPr>
        <p:spPr>
          <a:xfrm>
            <a:off x="810816" y="1439864"/>
            <a:ext cx="8910043" cy="4149377"/>
          </a:xfrm>
        </p:spPr>
        <p:txBody>
          <a:bodyPr/>
          <a:lstStyle/>
          <a:p>
            <a:r>
              <a:rPr lang="en-GB" noProof="0" dirty="0" smtClean="0"/>
              <a:t>5 – Sustain</a:t>
            </a:r>
          </a:p>
          <a:p>
            <a:pPr lvl="1"/>
            <a:endParaRPr lang="en-GB" sz="1800" noProof="0" dirty="0" smtClean="0"/>
          </a:p>
          <a:p>
            <a:pPr indent="-157163"/>
            <a:r>
              <a:rPr lang="en-GB" sz="1600" noProof="0" dirty="0" smtClean="0"/>
              <a:t>Management is responsible for ensuring that guidelines are applied:</a:t>
            </a:r>
          </a:p>
          <a:p>
            <a:pPr lvl="1">
              <a:buClrTx/>
            </a:pPr>
            <a:r>
              <a:rPr lang="en-GB" b="0" noProof="0" dirty="0" smtClean="0"/>
              <a:t>Determine how the audit enforcement will be performed</a:t>
            </a:r>
          </a:p>
          <a:p>
            <a:pPr lvl="1">
              <a:buClrTx/>
            </a:pPr>
            <a:r>
              <a:rPr lang="en-GB" b="0" noProof="0" dirty="0" smtClean="0"/>
              <a:t>Management must give a good example (‘walk the talk’)</a:t>
            </a:r>
          </a:p>
          <a:p>
            <a:pPr lvl="1">
              <a:buClrTx/>
            </a:pPr>
            <a:r>
              <a:rPr lang="en-GB" b="0" noProof="0" dirty="0" smtClean="0"/>
              <a:t>Reward and appreciate improvements, act when it goes wrong</a:t>
            </a:r>
          </a:p>
          <a:p>
            <a:pPr lvl="1">
              <a:buClrTx/>
            </a:pPr>
            <a:r>
              <a:rPr lang="en-GB" b="0" noProof="0" dirty="0" smtClean="0"/>
              <a:t>Prepare an audit check list</a:t>
            </a:r>
          </a:p>
          <a:p>
            <a:pPr lvl="1"/>
            <a:endParaRPr lang="en-GB" noProof="0" dirty="0" smtClean="0"/>
          </a:p>
          <a:p>
            <a:pPr indent="-157163"/>
            <a:r>
              <a:rPr lang="en-GB" sz="1600" noProof="0" dirty="0" smtClean="0"/>
              <a:t>Perform audits</a:t>
            </a:r>
          </a:p>
          <a:p>
            <a:pPr lvl="1"/>
            <a:endParaRPr lang="en-GB" noProof="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noProof="0" smtClean="0"/>
              <a:t>Organized Work </a:t>
            </a:r>
            <a:r>
              <a:rPr lang="en-GB" smtClean="0"/>
              <a:t>E</a:t>
            </a:r>
            <a:r>
              <a:rPr lang="en-GB" noProof="0" smtClean="0"/>
              <a:t>nvironment</a:t>
            </a:r>
            <a:endParaRPr lang="en-GB" noProof="0" dirty="0"/>
          </a:p>
        </p:txBody>
      </p:sp>
      <p:sp>
        <p:nvSpPr>
          <p:cNvPr id="3" name="Tijdelijke aanduiding voor inhoud 2"/>
          <p:cNvSpPr>
            <a:spLocks noGrp="1"/>
          </p:cNvSpPr>
          <p:nvPr>
            <p:ph idx="1"/>
          </p:nvPr>
        </p:nvSpPr>
        <p:spPr/>
        <p:txBody>
          <a:bodyPr/>
          <a:lstStyle/>
          <a:p>
            <a:r>
              <a:rPr lang="en-GB" noProof="0" dirty="0" smtClean="0"/>
              <a:t>Results of 5S</a:t>
            </a:r>
          </a:p>
          <a:p>
            <a:pPr lvl="1"/>
            <a:endParaRPr lang="en-GB" sz="1800" noProof="0" dirty="0" smtClean="0"/>
          </a:p>
          <a:p>
            <a:pPr lvl="1">
              <a:buClrTx/>
            </a:pPr>
            <a:r>
              <a:rPr lang="en-GB" noProof="0" dirty="0" smtClean="0"/>
              <a:t>Less stagnation</a:t>
            </a:r>
          </a:p>
          <a:p>
            <a:pPr lvl="1">
              <a:buClrTx/>
            </a:pPr>
            <a:endParaRPr lang="en-GB" noProof="0" dirty="0" smtClean="0"/>
          </a:p>
          <a:p>
            <a:pPr lvl="1">
              <a:buClrTx/>
            </a:pPr>
            <a:r>
              <a:rPr lang="en-GB" noProof="0" dirty="0" smtClean="0"/>
              <a:t>Increased safety</a:t>
            </a:r>
          </a:p>
          <a:p>
            <a:pPr lvl="1">
              <a:buClrTx/>
            </a:pPr>
            <a:endParaRPr lang="en-GB" noProof="0" dirty="0" smtClean="0"/>
          </a:p>
          <a:p>
            <a:pPr lvl="1">
              <a:buClrTx/>
            </a:pPr>
            <a:r>
              <a:rPr lang="en-GB" noProof="0" dirty="0" smtClean="0"/>
              <a:t>Better quality</a:t>
            </a:r>
          </a:p>
          <a:p>
            <a:pPr lvl="1">
              <a:buClrTx/>
            </a:pPr>
            <a:endParaRPr lang="en-GB" noProof="0" dirty="0" smtClean="0"/>
          </a:p>
          <a:p>
            <a:pPr lvl="1">
              <a:buClrTx/>
            </a:pPr>
            <a:r>
              <a:rPr lang="en-GB" noProof="0" dirty="0" smtClean="0"/>
              <a:t>More usable space</a:t>
            </a:r>
          </a:p>
          <a:p>
            <a:pPr lvl="1">
              <a:buClrTx/>
            </a:pPr>
            <a:endParaRPr lang="en-GB" noProof="0" dirty="0" smtClean="0"/>
          </a:p>
          <a:p>
            <a:pPr lvl="1">
              <a:buClrTx/>
            </a:pPr>
            <a:r>
              <a:rPr lang="en-GB" noProof="0" dirty="0" smtClean="0"/>
              <a:t>More satisfying work environment</a:t>
            </a:r>
          </a:p>
          <a:p>
            <a:pPr lvl="1">
              <a:buClrTx/>
            </a:pPr>
            <a:endParaRPr lang="en-GB" noProof="0" dirty="0" smtClean="0"/>
          </a:p>
          <a:p>
            <a:pPr lvl="1">
              <a:buClrTx/>
            </a:pPr>
            <a:r>
              <a:rPr lang="en-GB" noProof="0" dirty="0" smtClean="0"/>
              <a:t>Easier to visualise the process</a:t>
            </a:r>
          </a:p>
          <a:p>
            <a:pPr lvl="1">
              <a:buClrTx/>
            </a:pPr>
            <a:endParaRPr lang="en-GB" noProof="0" dirty="0" smtClean="0"/>
          </a:p>
          <a:p>
            <a:pPr lvl="1">
              <a:buClrTx/>
            </a:pPr>
            <a:r>
              <a:rPr lang="en-GB" noProof="0" dirty="0" smtClean="0"/>
              <a:t>Find everything you need in 20 seconds</a:t>
            </a:r>
            <a:endParaRPr lang="en-GB" noProof="0" dirty="0"/>
          </a:p>
        </p:txBody>
      </p:sp>
      <p:sp>
        <p:nvSpPr>
          <p:cNvPr id="4" name="Tekstvak 3"/>
          <p:cNvSpPr txBox="1"/>
          <p:nvPr/>
        </p:nvSpPr>
        <p:spPr>
          <a:xfrm>
            <a:off x="6439644" y="2924945"/>
            <a:ext cx="2592288" cy="1200329"/>
          </a:xfrm>
          <a:prstGeom prst="rect">
            <a:avLst/>
          </a:prstGeom>
          <a:noFill/>
        </p:spPr>
        <p:txBody>
          <a:bodyPr wrap="square" rtlCol="0">
            <a:spAutoFit/>
          </a:bodyPr>
          <a:lstStyle/>
          <a:p>
            <a:r>
              <a:rPr lang="nl-NL" sz="3600" b="1" dirty="0" smtClean="0">
                <a:latin typeface="Arial" panose="020B0604020202020204" pitchFamily="34" charset="0"/>
                <a:cs typeface="Arial" panose="020B0604020202020204" pitchFamily="34" charset="0"/>
              </a:rPr>
              <a:t>LESS WASTE!</a:t>
            </a:r>
            <a:endParaRPr lang="nl-NL" sz="3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3341384"/>
      </p:ext>
    </p:extLst>
  </p:cSld>
  <p:clrMapOvr>
    <a:masterClrMapping/>
  </p:clrMapOvr>
  <p:timing>
    <p:tnLst>
      <p:par>
        <p:cTn id="1" dur="indefinite" restart="never" nodeType="tmRoot"/>
      </p:par>
    </p:tnLst>
  </p:timing>
</p:sld>
</file>

<file path=ppt/theme/theme1.xml><?xml version="1.0" encoding="utf-8"?>
<a:theme xmlns:a="http://schemas.openxmlformats.org/drawingml/2006/main" name="LSSH">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C4172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487</TotalTime>
  <Words>2290</Words>
  <Application>Microsoft Office PowerPoint</Application>
  <PresentationFormat>35mm Slides</PresentationFormat>
  <Paragraphs>261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Arial Black</vt:lpstr>
      <vt:lpstr>Calibri</vt:lpstr>
      <vt:lpstr>LSSH</vt:lpstr>
      <vt:lpstr>5S Organized Work environment  </vt:lpstr>
      <vt:lpstr>Organized Work Environment</vt:lpstr>
      <vt:lpstr>Organized Work Environment</vt:lpstr>
      <vt:lpstr>Organized Work Environment</vt:lpstr>
      <vt:lpstr>Organized Work Environment</vt:lpstr>
      <vt:lpstr>Organized Work Environment</vt:lpstr>
      <vt:lpstr>Organized Work Eenvironment</vt:lpstr>
      <vt:lpstr>Organized Work Environment</vt:lpstr>
      <vt:lpstr>Organized Work Environment</vt:lpstr>
      <vt:lpstr>Organized Work Environment</vt:lpstr>
      <vt:lpstr>Organized Work Environment</vt:lpstr>
      <vt:lpstr>Organized Work Environment</vt:lpstr>
      <vt:lpstr>Organized Work Environment</vt:lpstr>
      <vt:lpstr>Organized Work Environment</vt:lpstr>
      <vt:lpstr>Organized Work Environment</vt:lpstr>
      <vt:lpstr>Organized Work Environment</vt:lpstr>
      <vt:lpstr>Organized Work Environment</vt:lpstr>
      <vt:lpstr>Organized Work Environment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44.YB.UH.U6.E1 - 5S Organised Work Environment</dc:title>
  <dc:subject/>
  <dc:creator>Paulien</dc:creator>
  <cp:lastModifiedBy>Olivia.McDermott</cp:lastModifiedBy>
  <cp:revision>21</cp:revision>
  <dcterms:created xsi:type="dcterms:W3CDTF">2014-02-17T10:18:21Z</dcterms:created>
  <dcterms:modified xsi:type="dcterms:W3CDTF">2014-05-13T10:15:37Z</dcterms:modified>
</cp:coreProperties>
</file>