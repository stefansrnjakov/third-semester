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9"/>
  </p:notesMasterIdLst>
  <p:handoutMasterIdLst>
    <p:handoutMasterId r:id="rId20"/>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0287000" cy="6858000" type="35mm"/>
  <p:notesSz cx="6858000" cy="9144000"/>
  <p:embeddedFontLst>
    <p:embeddedFont>
      <p:font typeface="Calibri" pitchFamily="34" charset="0"/>
      <p:regular r:id="rId21"/>
      <p:bold r:id="rId22"/>
      <p:italic r:id="rId23"/>
      <p:boldItalic r:id="rId24"/>
    </p:embeddedFont>
    <p:embeddedFont>
      <p:font typeface="Arial Black" pitchFamily="34" charset="0"/>
      <p:bold r:id="rId25"/>
    </p:embeddedFont>
  </p:embeddedFontLst>
  <p:defaultTextStyle>
    <a:defPPr>
      <a:defRPr lang="nl-NL"/>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1721"/>
    <a:srgbClr val="C00000"/>
    <a:srgbClr val="DD6F11"/>
    <a:srgbClr val="C8B8A4"/>
    <a:srgbClr val="967B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9446" autoAdjust="0"/>
    <p:restoredTop sz="62393" autoAdjust="0"/>
  </p:normalViewPr>
  <p:slideViewPr>
    <p:cSldViewPr>
      <p:cViewPr varScale="1">
        <p:scale>
          <a:sx n="67" d="100"/>
          <a:sy n="67" d="100"/>
        </p:scale>
        <p:origin x="-1614" y="-84"/>
      </p:cViewPr>
      <p:guideLst>
        <p:guide orient="horz" pos="2160"/>
        <p:guide pos="32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nl-NL"/>
          </a:p>
        </p:txBody>
      </p:sp>
      <p:sp>
        <p:nvSpPr>
          <p:cNvPr id="3" name="Tijdelijke aanduiding voor datum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35E8569D-BDA5-447F-962D-211FB8C2EAD8}" type="datetimeFigureOut">
              <a:rPr lang="nl-NL"/>
              <a:pPr>
                <a:defRPr/>
              </a:pPr>
              <a:t>13-5-2014</a:t>
            </a:fld>
            <a:endParaRPr lang="nl-NL"/>
          </a:p>
        </p:txBody>
      </p:sp>
      <p:sp>
        <p:nvSpPr>
          <p:cNvPr id="4" name="Tijdelijke aanduiding voor voettekst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nl-NL"/>
          </a:p>
        </p:txBody>
      </p:sp>
      <p:sp>
        <p:nvSpPr>
          <p:cNvPr id="5" name="Tijdelijke aanduiding voor dianumm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13270056-0DB5-4DBB-BD64-12AFBAF1892F}" type="slidenum">
              <a:rPr lang="nl-NL"/>
              <a:pPr>
                <a:defRPr/>
              </a:pPr>
              <a:t>‹#›</a:t>
            </a:fld>
            <a:endParaRPr lang="nl-NL"/>
          </a:p>
        </p:txBody>
      </p:sp>
    </p:spTree>
    <p:extLst>
      <p:ext uri="{BB962C8B-B14F-4D97-AF65-F5344CB8AC3E}">
        <p14:creationId xmlns:p14="http://schemas.microsoft.com/office/powerpoint/2010/main" val="17671873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nl-NL"/>
          </a:p>
        </p:txBody>
      </p:sp>
      <p:sp>
        <p:nvSpPr>
          <p:cNvPr id="3" name="Tijdelijke aanduiding voo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2E5964F-C0C8-4FF0-BD32-5110C6ED3633}" type="datetimeFigureOut">
              <a:rPr lang="nl-NL"/>
              <a:pPr>
                <a:defRPr/>
              </a:pPr>
              <a:t>13-5-2014</a:t>
            </a:fld>
            <a:endParaRPr lang="nl-NL"/>
          </a:p>
        </p:txBody>
      </p:sp>
      <p:sp>
        <p:nvSpPr>
          <p:cNvPr id="4" name="Tijdelijke aanduiding voor dia-afbeelding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pPr lvl="0"/>
            <a:endParaRPr lang="nl-NL" noProof="0" smtClean="0"/>
          </a:p>
        </p:txBody>
      </p:sp>
      <p:sp>
        <p:nvSpPr>
          <p:cNvPr id="5" name="Tijdelijke aanduiding voor notiti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nl-NL" noProof="0" smtClean="0"/>
              <a:t>Klik om de modelstijlen te bewerken</a:t>
            </a:r>
          </a:p>
          <a:p>
            <a:pPr lvl="1"/>
            <a:r>
              <a:rPr lang="nl-NL" noProof="0" smtClean="0"/>
              <a:t>Tweede niveau</a:t>
            </a:r>
          </a:p>
          <a:p>
            <a:pPr lvl="2"/>
            <a:r>
              <a:rPr lang="nl-NL" noProof="0" smtClean="0"/>
              <a:t>Derde niveau</a:t>
            </a:r>
          </a:p>
          <a:p>
            <a:pPr lvl="3"/>
            <a:r>
              <a:rPr lang="nl-NL" noProof="0" smtClean="0"/>
              <a:t>Vierde niveau</a:t>
            </a:r>
          </a:p>
          <a:p>
            <a:pPr lvl="4"/>
            <a:r>
              <a:rPr lang="nl-NL" noProof="0" smtClean="0"/>
              <a:t>Vijfde niveau</a:t>
            </a:r>
          </a:p>
        </p:txBody>
      </p:sp>
      <p:sp>
        <p:nvSpPr>
          <p:cNvPr id="6" name="Tijdelijke aanduiding voor voetteks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nl-NL"/>
          </a:p>
        </p:txBody>
      </p:sp>
      <p:sp>
        <p:nvSpPr>
          <p:cNvPr id="7" name="Tijdelijke aanduiding voor dia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0982173B-9BD1-4F73-9A96-C03CC4C10977}" type="slidenum">
              <a:rPr lang="nl-NL"/>
              <a:pPr>
                <a:defRPr/>
              </a:pPr>
              <a:t>‹#›</a:t>
            </a:fld>
            <a:endParaRPr lang="nl-NL"/>
          </a:p>
        </p:txBody>
      </p:sp>
    </p:spTree>
    <p:extLst>
      <p:ext uri="{BB962C8B-B14F-4D97-AF65-F5344CB8AC3E}">
        <p14:creationId xmlns:p14="http://schemas.microsoft.com/office/powerpoint/2010/main" val="70622847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Welcome to the root Cause Analysis module of the Lean Six Sigma in Healthcare module.</a:t>
            </a:r>
            <a:endParaRPr lang="en-GB" dirty="0"/>
          </a:p>
        </p:txBody>
      </p:sp>
      <p:sp>
        <p:nvSpPr>
          <p:cNvPr id="4" name="Slide Number Placeholder 3"/>
          <p:cNvSpPr>
            <a:spLocks noGrp="1"/>
          </p:cNvSpPr>
          <p:nvPr>
            <p:ph type="sldNum" sz="quarter" idx="10"/>
          </p:nvPr>
        </p:nvSpPr>
        <p:spPr/>
        <p:txBody>
          <a:bodyPr/>
          <a:lstStyle/>
          <a:p>
            <a:pPr>
              <a:defRPr/>
            </a:pPr>
            <a:fld id="{0982173B-9BD1-4F73-9A96-C03CC4C10977}" type="slidenum">
              <a:rPr lang="nl-NL" smtClean="0"/>
              <a:pPr>
                <a:defRPr/>
              </a:pPr>
              <a:t>1</a:t>
            </a:fld>
            <a:endParaRPr lang="nl-NL"/>
          </a:p>
        </p:txBody>
      </p:sp>
    </p:spTree>
    <p:extLst>
      <p:ext uri="{BB962C8B-B14F-4D97-AF65-F5344CB8AC3E}">
        <p14:creationId xmlns:p14="http://schemas.microsoft.com/office/powerpoint/2010/main" val="3715801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857250" y="685800"/>
            <a:ext cx="5143500" cy="3429000"/>
          </a:xfrm>
        </p:spPr>
      </p:sp>
      <p:sp>
        <p:nvSpPr>
          <p:cNvPr id="3" name="Tijdelijke aanduiding voor notities 2"/>
          <p:cNvSpPr>
            <a:spLocks noGrp="1"/>
          </p:cNvSpPr>
          <p:nvPr>
            <p:ph type="body" idx="1"/>
          </p:nvPr>
        </p:nvSpPr>
        <p:spPr/>
        <p:txBody>
          <a:bodyPr/>
          <a:lstStyle/>
          <a:p>
            <a:r>
              <a:rPr lang="en-GB" dirty="0" smtClean="0"/>
              <a:t>When problem </a:t>
            </a:r>
            <a:r>
              <a:rPr lang="en-GB" dirty="0" smtClean="0"/>
              <a:t>solving </a:t>
            </a:r>
            <a:r>
              <a:rPr lang="en-GB" dirty="0" smtClean="0"/>
              <a:t>it is important not </a:t>
            </a:r>
            <a:r>
              <a:rPr lang="en-GB" dirty="0" smtClean="0"/>
              <a:t>to spend a lot of time fighting symptoms. Instead, it is important to concentrate on solving the root cause of the problem. A ‘problem’ is defined as a deviation from the normal situation, of which the cause might still be unknown. A ‘symptom’ is the characteristic of the underlying problem, in practice this is often a customer complaint.</a:t>
            </a:r>
          </a:p>
          <a:p>
            <a:endParaRPr lang="nl-NL" dirty="0"/>
          </a:p>
        </p:txBody>
      </p:sp>
      <p:sp>
        <p:nvSpPr>
          <p:cNvPr id="4" name="Tijdelijke aanduiding voor dianummer 3"/>
          <p:cNvSpPr>
            <a:spLocks noGrp="1"/>
          </p:cNvSpPr>
          <p:nvPr>
            <p:ph type="sldNum" sz="quarter" idx="10"/>
          </p:nvPr>
        </p:nvSpPr>
        <p:spPr/>
        <p:txBody>
          <a:bodyPr/>
          <a:lstStyle/>
          <a:p>
            <a:pPr>
              <a:defRPr/>
            </a:pPr>
            <a:fld id="{92BAE82C-EC79-4906-ADDC-86581D4D5DD9}" type="slidenum">
              <a:rPr lang="en-US" smtClean="0"/>
              <a:pPr>
                <a:defRPr/>
              </a:pPr>
              <a:t>2</a:t>
            </a:fld>
            <a:endParaRPr lang="en-US" dirty="0"/>
          </a:p>
        </p:txBody>
      </p:sp>
    </p:spTree>
    <p:extLst>
      <p:ext uri="{BB962C8B-B14F-4D97-AF65-F5344CB8AC3E}">
        <p14:creationId xmlns:p14="http://schemas.microsoft.com/office/powerpoint/2010/main" val="1898433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If we try to find the causes of the symptoms on this list, we might find the related problems shown here. We probably would not have found all the root causes for these symptoms. For example, </a:t>
            </a:r>
            <a:r>
              <a:rPr lang="en-GB" dirty="0" smtClean="0"/>
              <a:t>is the nurse gives the wrong dosage it is because the doctors writing is illegible.  </a:t>
            </a:r>
            <a:endParaRPr lang="en-GB" dirty="0" smtClean="0"/>
          </a:p>
          <a:p>
            <a:endParaRPr lang="en-GB" dirty="0" smtClean="0"/>
          </a:p>
          <a:p>
            <a:endParaRPr lang="en-GB" dirty="0"/>
          </a:p>
        </p:txBody>
      </p:sp>
      <p:sp>
        <p:nvSpPr>
          <p:cNvPr id="4" name="Slide Number Placeholder 3"/>
          <p:cNvSpPr>
            <a:spLocks noGrp="1"/>
          </p:cNvSpPr>
          <p:nvPr>
            <p:ph type="sldNum" sz="quarter" idx="10"/>
          </p:nvPr>
        </p:nvSpPr>
        <p:spPr/>
        <p:txBody>
          <a:bodyPr/>
          <a:lstStyle/>
          <a:p>
            <a:pPr>
              <a:defRPr/>
            </a:pPr>
            <a:fld id="{0982173B-9BD1-4F73-9A96-C03CC4C10977}" type="slidenum">
              <a:rPr lang="nl-NL" smtClean="0"/>
              <a:pPr>
                <a:defRPr/>
              </a:pPr>
              <a:t>3</a:t>
            </a:fld>
            <a:endParaRPr lang="nl-NL"/>
          </a:p>
        </p:txBody>
      </p:sp>
    </p:spTree>
    <p:extLst>
      <p:ext uri="{BB962C8B-B14F-4D97-AF65-F5344CB8AC3E}">
        <p14:creationId xmlns:p14="http://schemas.microsoft.com/office/powerpoint/2010/main" val="2048129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p>
            <a:pPr defTabSz="911492"/>
            <a:fld id="{1BC82DA2-3D5E-4631-8362-2736ACD0C2CB}" type="slidenum">
              <a:rPr lang="en-US" smtClean="0"/>
              <a:pPr defTabSz="911492"/>
              <a:t>4</a:t>
            </a:fld>
            <a:endParaRPr lang="en-US" dirty="0" smtClean="0"/>
          </a:p>
        </p:txBody>
      </p:sp>
      <p:sp>
        <p:nvSpPr>
          <p:cNvPr id="8195" name="Rectangle 2"/>
          <p:cNvSpPr>
            <a:spLocks noGrp="1" noRot="1" noChangeAspect="1" noChangeArrowheads="1" noTextEdit="1"/>
          </p:cNvSpPr>
          <p:nvPr>
            <p:ph type="sldImg"/>
          </p:nvPr>
        </p:nvSpPr>
        <p:spPr>
          <a:xfrm>
            <a:off x="857250" y="685800"/>
            <a:ext cx="5143500" cy="3429000"/>
          </a:xfrm>
          <a:ln/>
        </p:spPr>
      </p:sp>
      <p:sp>
        <p:nvSpPr>
          <p:cNvPr id="8196" name="Rectangle 3"/>
          <p:cNvSpPr>
            <a:spLocks noGrp="1" noChangeArrowheads="1"/>
          </p:cNvSpPr>
          <p:nvPr>
            <p:ph type="body" idx="1"/>
          </p:nvPr>
        </p:nvSpPr>
        <p:spPr>
          <a:noFill/>
          <a:ln/>
        </p:spPr>
        <p:txBody>
          <a:bodyPr/>
          <a:lstStyle/>
          <a:p>
            <a:pPr eaLnBrk="1" hangingPunct="1"/>
            <a:r>
              <a:rPr lang="en-GB" dirty="0" smtClean="0"/>
              <a:t>Here we can see an overview of the eight steps within the 8D technique used to solve problems. First, a team is put together that has enough experience and authority to permanently solve the problem. This team then creates an adequate problem description and a short term solution to prevent escalation of the problem. After this, the team needs to find the true root cause of the problem and find a permanent solution. A good control plan assures that this problem doesn’t occur again in the future. The management of the company must also be sure to thank the team for their efforts. </a:t>
            </a:r>
          </a:p>
          <a:p>
            <a:pPr eaLnBrk="1" hangingPunct="1"/>
            <a:endParaRPr lang="en-US" dirty="0" smtClean="0"/>
          </a:p>
        </p:txBody>
      </p:sp>
    </p:spTree>
    <p:extLst>
      <p:ext uri="{BB962C8B-B14F-4D97-AF65-F5344CB8AC3E}">
        <p14:creationId xmlns:p14="http://schemas.microsoft.com/office/powerpoint/2010/main" val="2572569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84463" y="8685878"/>
            <a:ext cx="2972004" cy="456704"/>
          </a:xfrm>
          <a:prstGeom prst="rect">
            <a:avLst/>
          </a:prstGeom>
          <a:noFill/>
          <a:ln w="9525">
            <a:noFill/>
            <a:miter lim="800000"/>
            <a:headEnd/>
            <a:tailEnd/>
          </a:ln>
        </p:spPr>
        <p:txBody>
          <a:bodyPr lIns="91431" tIns="45716" rIns="91431" bIns="45716" anchor="b"/>
          <a:lstStyle/>
          <a:p>
            <a:pPr algn="r" defTabSz="914423"/>
            <a:fld id="{B9401C9E-78BE-4B4E-AEA4-5D962E0AF059}" type="slidenum">
              <a:rPr lang="en-US" sz="1200"/>
              <a:pPr algn="r" defTabSz="914423"/>
              <a:t>5</a:t>
            </a:fld>
            <a:endParaRPr lang="en-US" sz="1200" dirty="0"/>
          </a:p>
        </p:txBody>
      </p:sp>
      <p:sp>
        <p:nvSpPr>
          <p:cNvPr id="23555" name="Rectangle 2"/>
          <p:cNvSpPr>
            <a:spLocks noGrp="1" noRot="1" noChangeAspect="1" noChangeArrowheads="1" noTextEdit="1"/>
          </p:cNvSpPr>
          <p:nvPr>
            <p:ph type="sldImg"/>
          </p:nvPr>
        </p:nvSpPr>
        <p:spPr>
          <a:xfrm>
            <a:off x="857250" y="685800"/>
            <a:ext cx="5143500" cy="3429000"/>
          </a:xfrm>
          <a:ln/>
        </p:spPr>
      </p:sp>
      <p:sp>
        <p:nvSpPr>
          <p:cNvPr id="23556" name="Rectangle 3"/>
          <p:cNvSpPr>
            <a:spLocks noGrp="1" noChangeArrowheads="1"/>
          </p:cNvSpPr>
          <p:nvPr>
            <p:ph type="body" idx="1"/>
          </p:nvPr>
        </p:nvSpPr>
        <p:spPr>
          <a:noFill/>
          <a:ln/>
        </p:spPr>
        <p:txBody>
          <a:bodyPr/>
          <a:lstStyle/>
          <a:p>
            <a:pPr eaLnBrk="1" hangingPunct="1"/>
            <a:r>
              <a:rPr lang="en-GB" dirty="0" smtClean="0"/>
              <a:t>A good way to </a:t>
            </a:r>
            <a:r>
              <a:rPr lang="en-GB" dirty="0" err="1" smtClean="0"/>
              <a:t>analyze</a:t>
            </a:r>
            <a:r>
              <a:rPr lang="en-GB" dirty="0" smtClean="0"/>
              <a:t> problems is with what is called the </a:t>
            </a:r>
            <a:r>
              <a:rPr lang="en-GB" dirty="0" smtClean="0"/>
              <a:t>IS/IS NOT technique</a:t>
            </a:r>
            <a:r>
              <a:rPr lang="en-GB" dirty="0" smtClean="0"/>
              <a:t>. This is a good preparation tool for a team to use when starting to </a:t>
            </a:r>
            <a:r>
              <a:rPr lang="en-GB" dirty="0" err="1" smtClean="0"/>
              <a:t>analyzing</a:t>
            </a:r>
            <a:r>
              <a:rPr lang="en-GB" dirty="0" smtClean="0"/>
              <a:t> the potential causes of a problem. With this technique, we approach the problem </a:t>
            </a:r>
            <a:r>
              <a:rPr lang="en-GB" dirty="0" smtClean="0"/>
              <a:t>by deciding the boundaries of what the problem IS or IS NOT.</a:t>
            </a:r>
            <a:endParaRPr lang="en-GB" dirty="0" smtClean="0"/>
          </a:p>
          <a:p>
            <a:pPr eaLnBrk="1" hangingPunct="1"/>
            <a:endParaRPr lang="en-US" dirty="0" smtClean="0"/>
          </a:p>
        </p:txBody>
      </p:sp>
    </p:spTree>
    <p:extLst>
      <p:ext uri="{BB962C8B-B14F-4D97-AF65-F5344CB8AC3E}">
        <p14:creationId xmlns:p14="http://schemas.microsoft.com/office/powerpoint/2010/main" val="1678588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pPr defTabSz="911492"/>
            <a:fld id="{770CAD78-C839-45BF-B289-C07A73B85C1A}" type="slidenum">
              <a:rPr lang="en-US" smtClean="0"/>
              <a:pPr defTabSz="911492"/>
              <a:t>6</a:t>
            </a:fld>
            <a:endParaRPr lang="en-US" dirty="0" smtClean="0"/>
          </a:p>
        </p:txBody>
      </p:sp>
      <p:sp>
        <p:nvSpPr>
          <p:cNvPr id="25603" name="Rectangle 2"/>
          <p:cNvSpPr>
            <a:spLocks noGrp="1" noRot="1" noChangeAspect="1" noChangeArrowheads="1" noTextEdit="1"/>
          </p:cNvSpPr>
          <p:nvPr>
            <p:ph type="sldImg"/>
          </p:nvPr>
        </p:nvSpPr>
        <p:spPr>
          <a:xfrm>
            <a:off x="857250" y="685800"/>
            <a:ext cx="5143500" cy="3429000"/>
          </a:xfrm>
          <a:ln/>
        </p:spPr>
      </p:sp>
      <p:sp>
        <p:nvSpPr>
          <p:cNvPr id="25604" name="Rectangle 3"/>
          <p:cNvSpPr>
            <a:spLocks noGrp="1" noChangeArrowheads="1"/>
          </p:cNvSpPr>
          <p:nvPr>
            <p:ph type="body" idx="1"/>
          </p:nvPr>
        </p:nvSpPr>
        <p:spPr>
          <a:noFill/>
          <a:ln/>
        </p:spPr>
        <p:txBody>
          <a:bodyPr/>
          <a:lstStyle/>
          <a:p>
            <a:pPr eaLnBrk="1" hangingPunct="1"/>
            <a:r>
              <a:rPr lang="en-US" dirty="0" smtClean="0"/>
              <a:t>Some questions to ask when employing  the IS or IS NOT technique is  “What occurred and what did not?”, “Who is affected and who is not?”</a:t>
            </a:r>
            <a:endParaRPr lang="en-US" dirty="0" smtClean="0"/>
          </a:p>
        </p:txBody>
      </p:sp>
    </p:spTree>
    <p:extLst>
      <p:ext uri="{BB962C8B-B14F-4D97-AF65-F5344CB8AC3E}">
        <p14:creationId xmlns:p14="http://schemas.microsoft.com/office/powerpoint/2010/main" val="12302976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884463" y="8685878"/>
            <a:ext cx="2972004" cy="456704"/>
          </a:xfrm>
          <a:prstGeom prst="rect">
            <a:avLst/>
          </a:prstGeom>
          <a:noFill/>
          <a:ln w="9525">
            <a:noFill/>
            <a:miter lim="800000"/>
            <a:headEnd/>
            <a:tailEnd/>
          </a:ln>
        </p:spPr>
        <p:txBody>
          <a:bodyPr lIns="91431" tIns="45716" rIns="91431" bIns="45716" anchor="b"/>
          <a:lstStyle/>
          <a:p>
            <a:pPr algn="r" defTabSz="914423"/>
            <a:fld id="{87E692B1-C85D-4919-BC68-465B48D8B4E2}" type="slidenum">
              <a:rPr lang="en-US" sz="1200"/>
              <a:pPr algn="r" defTabSz="914423"/>
              <a:t>7</a:t>
            </a:fld>
            <a:endParaRPr lang="en-US" sz="1200" dirty="0"/>
          </a:p>
        </p:txBody>
      </p:sp>
      <p:sp>
        <p:nvSpPr>
          <p:cNvPr id="24579" name="Rectangle 2"/>
          <p:cNvSpPr>
            <a:spLocks noGrp="1" noRot="1" noChangeAspect="1" noChangeArrowheads="1" noTextEdit="1"/>
          </p:cNvSpPr>
          <p:nvPr>
            <p:ph type="sldImg"/>
          </p:nvPr>
        </p:nvSpPr>
        <p:spPr>
          <a:xfrm>
            <a:off x="857250" y="685800"/>
            <a:ext cx="5143500" cy="3429000"/>
          </a:xfrm>
          <a:ln/>
        </p:spPr>
      </p:sp>
      <p:sp>
        <p:nvSpPr>
          <p:cNvPr id="24580" name="Rectangle 3"/>
          <p:cNvSpPr>
            <a:spLocks noGrp="1" noChangeArrowheads="1"/>
          </p:cNvSpPr>
          <p:nvPr>
            <p:ph type="body" idx="1"/>
          </p:nvPr>
        </p:nvSpPr>
        <p:spPr>
          <a:noFill/>
          <a:ln/>
        </p:spPr>
        <p:txBody>
          <a:bodyPr/>
          <a:lstStyle/>
          <a:p>
            <a:pPr eaLnBrk="1" hangingPunct="1"/>
            <a:r>
              <a:rPr lang="en-US" dirty="0" smtClean="0"/>
              <a:t>By looking at comparison analysis –the differences and changes, it is possible in Is-IS NOT analysis to establish possible causes.</a:t>
            </a:r>
          </a:p>
          <a:p>
            <a:pPr eaLnBrk="1" hangingPunct="1"/>
            <a:endParaRPr lang="en-US" dirty="0" smtClean="0"/>
          </a:p>
        </p:txBody>
      </p:sp>
    </p:spTree>
    <p:extLst>
      <p:ext uri="{BB962C8B-B14F-4D97-AF65-F5344CB8AC3E}">
        <p14:creationId xmlns:p14="http://schemas.microsoft.com/office/powerpoint/2010/main" val="3375518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jdelijke aanduiding voor dia-afbeelding 1"/>
          <p:cNvSpPr>
            <a:spLocks noGrp="1" noRot="1" noChangeAspect="1" noTextEdit="1"/>
          </p:cNvSpPr>
          <p:nvPr>
            <p:ph type="sldImg"/>
          </p:nvPr>
        </p:nvSpPr>
        <p:spPr>
          <a:xfrm>
            <a:off x="857250" y="685800"/>
            <a:ext cx="5143500" cy="3429000"/>
          </a:xfrm>
          <a:ln/>
        </p:spPr>
      </p:sp>
      <p:sp>
        <p:nvSpPr>
          <p:cNvPr id="22531" name="Tijdelijke aanduiding voor notities 2"/>
          <p:cNvSpPr>
            <a:spLocks noGrp="1"/>
          </p:cNvSpPr>
          <p:nvPr>
            <p:ph type="body" idx="1"/>
          </p:nvPr>
        </p:nvSpPr>
        <p:spPr>
          <a:noFill/>
          <a:ln/>
        </p:spPr>
        <p:txBody>
          <a:bodyPr/>
          <a:lstStyle/>
          <a:p>
            <a:r>
              <a:rPr lang="en-GB" dirty="0" smtClean="0"/>
              <a:t>Brainstorming is a technique that can be used during 8D problem solving to generate ideas concerning potential causes of a problem. The goal of the team is to come up with as many different ideas as possible. It is important therefore, not to criticize any ideas during brainstorming. Everybody should feel free to propose out-of-the-box ideas. Building on each other’s ideas should also be encouraged. </a:t>
            </a:r>
            <a:endParaRPr lang="en-US" dirty="0" smtClean="0"/>
          </a:p>
        </p:txBody>
      </p:sp>
      <p:sp>
        <p:nvSpPr>
          <p:cNvPr id="22532" name="Tijdelijke aanduiding voor dianummer 3"/>
          <p:cNvSpPr>
            <a:spLocks noGrp="1"/>
          </p:cNvSpPr>
          <p:nvPr>
            <p:ph type="sldNum" sz="quarter" idx="5"/>
          </p:nvPr>
        </p:nvSpPr>
        <p:spPr>
          <a:noFill/>
        </p:spPr>
        <p:txBody>
          <a:bodyPr/>
          <a:lstStyle/>
          <a:p>
            <a:pPr defTabSz="911492"/>
            <a:fld id="{94E59CB9-5192-4631-8F83-E14CDFB88741}" type="slidenum">
              <a:rPr lang="en-US" smtClean="0"/>
              <a:pPr defTabSz="911492"/>
              <a:t>8</a:t>
            </a:fld>
            <a:endParaRPr lang="en-US" dirty="0" smtClean="0"/>
          </a:p>
        </p:txBody>
      </p:sp>
    </p:spTree>
    <p:extLst>
      <p:ext uri="{BB962C8B-B14F-4D97-AF65-F5344CB8AC3E}">
        <p14:creationId xmlns:p14="http://schemas.microsoft.com/office/powerpoint/2010/main" val="20993264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jdelijke aanduiding voor dia-afbeelding 1"/>
          <p:cNvSpPr>
            <a:spLocks noGrp="1" noRot="1" noChangeAspect="1" noTextEdit="1"/>
          </p:cNvSpPr>
          <p:nvPr>
            <p:ph type="sldImg"/>
          </p:nvPr>
        </p:nvSpPr>
        <p:spPr>
          <a:xfrm>
            <a:off x="857250" y="685800"/>
            <a:ext cx="5143500" cy="3429000"/>
          </a:xfrm>
          <a:ln/>
        </p:spPr>
      </p:sp>
      <p:sp>
        <p:nvSpPr>
          <p:cNvPr id="26627" name="Tijdelijke aanduiding voor notities 2"/>
          <p:cNvSpPr>
            <a:spLocks noGrp="1"/>
          </p:cNvSpPr>
          <p:nvPr>
            <p:ph type="body" idx="1"/>
          </p:nvPr>
        </p:nvSpPr>
        <p:spPr>
          <a:noFill/>
          <a:ln/>
        </p:spPr>
        <p:txBody>
          <a:bodyPr/>
          <a:lstStyle/>
          <a:p>
            <a:r>
              <a:rPr lang="en-GB" dirty="0" smtClean="0"/>
              <a:t>One technique that is often used to </a:t>
            </a:r>
            <a:r>
              <a:rPr lang="en-GB" dirty="0" err="1" smtClean="0"/>
              <a:t>analyze</a:t>
            </a:r>
            <a:r>
              <a:rPr lang="en-GB" dirty="0" smtClean="0"/>
              <a:t> problems is called an Ishikawa, fishbone or cause-and-effect diagram. Here, the problem is presented in the head of the fish and the potential causes of the problem are displayed on the 6 different fish bones called Machine, Men, Measurement, Method, Material and Environment. By doing this, all of the potential causes are systematically studied and we can prevent the risk of forgetting causes. The diagram also offers the possibility to elaborate and prioritize certain causes.</a:t>
            </a:r>
          </a:p>
          <a:p>
            <a:endParaRPr lang="en-US" dirty="0" smtClean="0"/>
          </a:p>
        </p:txBody>
      </p:sp>
      <p:sp>
        <p:nvSpPr>
          <p:cNvPr id="26628" name="Tijdelijke aanduiding voor dianummer 3"/>
          <p:cNvSpPr>
            <a:spLocks noGrp="1"/>
          </p:cNvSpPr>
          <p:nvPr>
            <p:ph type="sldNum" sz="quarter" idx="5"/>
          </p:nvPr>
        </p:nvSpPr>
        <p:spPr>
          <a:noFill/>
        </p:spPr>
        <p:txBody>
          <a:bodyPr/>
          <a:lstStyle/>
          <a:p>
            <a:pPr defTabSz="911492"/>
            <a:fld id="{F3F211E3-4BC0-44C9-873A-8D0D5E84E5EF}" type="slidenum">
              <a:rPr lang="en-US" smtClean="0"/>
              <a:pPr defTabSz="911492"/>
              <a:t>9</a:t>
            </a:fld>
            <a:endParaRPr lang="en-US" dirty="0" smtClean="0"/>
          </a:p>
        </p:txBody>
      </p:sp>
    </p:spTree>
    <p:extLst>
      <p:ext uri="{BB962C8B-B14F-4D97-AF65-F5344CB8AC3E}">
        <p14:creationId xmlns:p14="http://schemas.microsoft.com/office/powerpoint/2010/main" val="3559062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jdelijke aanduiding voor dia-afbeelding 1"/>
          <p:cNvSpPr>
            <a:spLocks noGrp="1" noRot="1" noChangeAspect="1" noTextEdit="1"/>
          </p:cNvSpPr>
          <p:nvPr>
            <p:ph type="sldImg"/>
          </p:nvPr>
        </p:nvSpPr>
        <p:spPr>
          <a:xfrm>
            <a:off x="857250" y="685800"/>
            <a:ext cx="5143500" cy="3429000"/>
          </a:xfrm>
          <a:ln/>
        </p:spPr>
      </p:sp>
      <p:sp>
        <p:nvSpPr>
          <p:cNvPr id="27651" name="Tijdelijke aanduiding voor notities 2"/>
          <p:cNvSpPr>
            <a:spLocks noGrp="1"/>
          </p:cNvSpPr>
          <p:nvPr>
            <p:ph type="body" idx="1"/>
          </p:nvPr>
        </p:nvSpPr>
        <p:spPr>
          <a:noFill/>
          <a:ln/>
        </p:spPr>
        <p:txBody>
          <a:bodyPr/>
          <a:lstStyle/>
          <a:p>
            <a:r>
              <a:rPr lang="en-GB" dirty="0" smtClean="0"/>
              <a:t>Here can we see an example of an Ishikawa diagram developed for the </a:t>
            </a:r>
            <a:r>
              <a:rPr lang="en-GB" dirty="0" smtClean="0"/>
              <a:t>delays in an MRI scan. The </a:t>
            </a:r>
            <a:r>
              <a:rPr lang="en-GB" dirty="0" smtClean="0"/>
              <a:t>diagram shows many different causes that might contribute to a </a:t>
            </a:r>
            <a:r>
              <a:rPr lang="en-GB" dirty="0" smtClean="0"/>
              <a:t>delay in the scan. The </a:t>
            </a:r>
            <a:r>
              <a:rPr lang="en-GB" dirty="0" smtClean="0"/>
              <a:t>different causes are presented on the bones of the fish. </a:t>
            </a:r>
          </a:p>
          <a:p>
            <a:endParaRPr lang="en-US" dirty="0" smtClean="0"/>
          </a:p>
        </p:txBody>
      </p:sp>
      <p:sp>
        <p:nvSpPr>
          <p:cNvPr id="27652" name="Tijdelijke aanduiding voor dianummer 3"/>
          <p:cNvSpPr>
            <a:spLocks noGrp="1"/>
          </p:cNvSpPr>
          <p:nvPr>
            <p:ph type="sldNum" sz="quarter" idx="5"/>
          </p:nvPr>
        </p:nvSpPr>
        <p:spPr>
          <a:noFill/>
        </p:spPr>
        <p:txBody>
          <a:bodyPr/>
          <a:lstStyle/>
          <a:p>
            <a:pPr defTabSz="911492"/>
            <a:fld id="{7EF39A8E-7FC0-4C4D-B04C-92B986A44755}" type="slidenum">
              <a:rPr lang="en-US" smtClean="0"/>
              <a:pPr defTabSz="911492"/>
              <a:t>10</a:t>
            </a:fld>
            <a:endParaRPr lang="en-US" dirty="0" smtClean="0"/>
          </a:p>
        </p:txBody>
      </p:sp>
    </p:spTree>
    <p:extLst>
      <p:ext uri="{BB962C8B-B14F-4D97-AF65-F5344CB8AC3E}">
        <p14:creationId xmlns:p14="http://schemas.microsoft.com/office/powerpoint/2010/main" val="24685780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smtClean="0"/>
              <a:t>A second example of a Cause &amp; Effect diagram to brainstorm the reasons for inaccurate barcodes on medical mediations. </a:t>
            </a:r>
          </a:p>
          <a:p>
            <a:r>
              <a:rPr lang="en-IE" dirty="0" smtClean="0"/>
              <a:t>In this diagram, the priority is not yet indicated. Also, no further elaboration has yet taken place. This we can do using a technique that will be explained on the next slide. </a:t>
            </a:r>
            <a:endParaRPr lang="en-IE" dirty="0"/>
          </a:p>
        </p:txBody>
      </p:sp>
      <p:sp>
        <p:nvSpPr>
          <p:cNvPr id="4" name="Slide Number Placeholder 3"/>
          <p:cNvSpPr>
            <a:spLocks noGrp="1"/>
          </p:cNvSpPr>
          <p:nvPr>
            <p:ph type="sldNum" sz="quarter" idx="10"/>
          </p:nvPr>
        </p:nvSpPr>
        <p:spPr/>
        <p:txBody>
          <a:bodyPr/>
          <a:lstStyle/>
          <a:p>
            <a:pPr>
              <a:defRPr/>
            </a:pPr>
            <a:fld id="{0982173B-9BD1-4F73-9A96-C03CC4C10977}" type="slidenum">
              <a:rPr lang="nl-NL" smtClean="0"/>
              <a:pPr>
                <a:defRPr/>
              </a:pPr>
              <a:t>11</a:t>
            </a:fld>
            <a:endParaRPr lang="nl-NL"/>
          </a:p>
        </p:txBody>
      </p:sp>
    </p:spTree>
    <p:extLst>
      <p:ext uri="{BB962C8B-B14F-4D97-AF65-F5344CB8AC3E}">
        <p14:creationId xmlns:p14="http://schemas.microsoft.com/office/powerpoint/2010/main" val="30913552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pPr defTabSz="911492"/>
            <a:fld id="{9EAD5690-DBD5-45F9-8207-84463BFED142}" type="slidenum">
              <a:rPr lang="en-US" smtClean="0"/>
              <a:pPr defTabSz="911492"/>
              <a:t>12</a:t>
            </a:fld>
            <a:endParaRPr lang="en-US" dirty="0" smtClean="0"/>
          </a:p>
        </p:txBody>
      </p:sp>
      <p:sp>
        <p:nvSpPr>
          <p:cNvPr id="28675" name="Rectangle 2"/>
          <p:cNvSpPr>
            <a:spLocks noGrp="1" noRot="1" noChangeAspect="1" noChangeArrowheads="1" noTextEdit="1"/>
          </p:cNvSpPr>
          <p:nvPr>
            <p:ph type="sldImg"/>
          </p:nvPr>
        </p:nvSpPr>
        <p:spPr>
          <a:xfrm>
            <a:off x="857250" y="685800"/>
            <a:ext cx="5143500" cy="3429000"/>
          </a:xfrm>
          <a:ln/>
        </p:spPr>
      </p:sp>
      <p:sp>
        <p:nvSpPr>
          <p:cNvPr id="28676" name="Rectangle 3"/>
          <p:cNvSpPr>
            <a:spLocks noGrp="1" noChangeArrowheads="1"/>
          </p:cNvSpPr>
          <p:nvPr>
            <p:ph type="body" idx="1"/>
          </p:nvPr>
        </p:nvSpPr>
        <p:spPr>
          <a:noFill/>
          <a:ln/>
        </p:spPr>
        <p:txBody>
          <a:bodyPr/>
          <a:lstStyle/>
          <a:p>
            <a:pPr eaLnBrk="1" hangingPunct="1"/>
            <a:r>
              <a:rPr lang="en-GB" dirty="0" smtClean="0"/>
              <a:t>The 5-Why technique is often used when we need to solve problems structurally. The technique involves repeatedly asking for underlying causes, using the ‘why’ question. One needs to continue asking the question ‘why’ until the root cause of the problem is discovered. The three questions one needs to answer are: why did the problem occur, why was the problem only detected at the customer and why did our quality system fail?</a:t>
            </a:r>
          </a:p>
          <a:p>
            <a:pPr eaLnBrk="1" hangingPunct="1"/>
            <a:endParaRPr lang="en-US" dirty="0" smtClean="0"/>
          </a:p>
        </p:txBody>
      </p:sp>
    </p:spTree>
    <p:extLst>
      <p:ext uri="{BB962C8B-B14F-4D97-AF65-F5344CB8AC3E}">
        <p14:creationId xmlns:p14="http://schemas.microsoft.com/office/powerpoint/2010/main" val="24499636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pPr defTabSz="911492"/>
            <a:fld id="{25EE5291-D267-4837-BD79-503620D6F749}" type="slidenum">
              <a:rPr lang="en-US" smtClean="0"/>
              <a:pPr defTabSz="911492"/>
              <a:t>13</a:t>
            </a:fld>
            <a:endParaRPr lang="en-US" dirty="0" smtClean="0"/>
          </a:p>
        </p:txBody>
      </p:sp>
      <p:sp>
        <p:nvSpPr>
          <p:cNvPr id="30723" name="Rectangle 2"/>
          <p:cNvSpPr>
            <a:spLocks noGrp="1" noRot="1" noChangeAspect="1" noChangeArrowheads="1" noTextEdit="1"/>
          </p:cNvSpPr>
          <p:nvPr>
            <p:ph type="sldImg"/>
          </p:nvPr>
        </p:nvSpPr>
        <p:spPr>
          <a:xfrm>
            <a:off x="857250" y="685800"/>
            <a:ext cx="5143500" cy="3429000"/>
          </a:xfrm>
          <a:ln/>
        </p:spPr>
      </p:sp>
      <p:sp>
        <p:nvSpPr>
          <p:cNvPr id="30724" name="Rectangle 3"/>
          <p:cNvSpPr>
            <a:spLocks noGrp="1" noChangeArrowheads="1"/>
          </p:cNvSpPr>
          <p:nvPr>
            <p:ph type="body" idx="1"/>
          </p:nvPr>
        </p:nvSpPr>
        <p:spPr>
          <a:noFill/>
          <a:ln/>
        </p:spPr>
        <p:txBody>
          <a:bodyPr/>
          <a:lstStyle/>
          <a:p>
            <a:pPr eaLnBrk="1" hangingPunct="1"/>
            <a:r>
              <a:rPr lang="en-US" dirty="0" smtClean="0"/>
              <a:t>An example of a 5-Why is shown here to brainstorm why a patient is late for therapy.</a:t>
            </a:r>
            <a:endParaRPr lang="en-US" dirty="0" smtClean="0"/>
          </a:p>
        </p:txBody>
      </p:sp>
    </p:spTree>
    <p:extLst>
      <p:ext uri="{BB962C8B-B14F-4D97-AF65-F5344CB8AC3E}">
        <p14:creationId xmlns:p14="http://schemas.microsoft.com/office/powerpoint/2010/main" val="1546845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pPr defTabSz="911492"/>
            <a:fld id="{25EE5291-D267-4837-BD79-503620D6F749}" type="slidenum">
              <a:rPr lang="en-US" smtClean="0"/>
              <a:pPr defTabSz="911492"/>
              <a:t>14</a:t>
            </a:fld>
            <a:endParaRPr lang="en-US" dirty="0" smtClean="0"/>
          </a:p>
        </p:txBody>
      </p:sp>
      <p:sp>
        <p:nvSpPr>
          <p:cNvPr id="30723" name="Rectangle 2"/>
          <p:cNvSpPr>
            <a:spLocks noGrp="1" noRot="1" noChangeAspect="1" noChangeArrowheads="1" noTextEdit="1"/>
          </p:cNvSpPr>
          <p:nvPr>
            <p:ph type="sldImg"/>
          </p:nvPr>
        </p:nvSpPr>
        <p:spPr>
          <a:xfrm>
            <a:off x="857250" y="685800"/>
            <a:ext cx="5143500" cy="3429000"/>
          </a:xfrm>
          <a:ln/>
        </p:spPr>
      </p:sp>
      <p:sp>
        <p:nvSpPr>
          <p:cNvPr id="30724" name="Rectangle 3"/>
          <p:cNvSpPr>
            <a:spLocks noGrp="1" noChangeArrowheads="1"/>
          </p:cNvSpPr>
          <p:nvPr>
            <p:ph type="body" idx="1"/>
          </p:nvPr>
        </p:nvSpPr>
        <p:spPr>
          <a:noFill/>
          <a:ln/>
        </p:spPr>
        <p:txBody>
          <a:bodyPr/>
          <a:lstStyle/>
          <a:p>
            <a:pPr eaLnBrk="1" hangingPunct="1"/>
            <a:r>
              <a:rPr lang="en-US" dirty="0" smtClean="0"/>
              <a:t>The solution to the patient being late in this case was to address a problem in relation to wheelchair maintenance.</a:t>
            </a:r>
          </a:p>
          <a:p>
            <a:pPr eaLnBrk="1" hangingPunct="1"/>
            <a:endParaRPr lang="en-US" dirty="0" smtClean="0"/>
          </a:p>
        </p:txBody>
      </p:sp>
    </p:spTree>
    <p:extLst>
      <p:ext uri="{BB962C8B-B14F-4D97-AF65-F5344CB8AC3E}">
        <p14:creationId xmlns:p14="http://schemas.microsoft.com/office/powerpoint/2010/main" val="4002685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pPr defTabSz="911492"/>
            <a:fld id="{B2F25A1C-26AE-4890-8CA8-836F50BC4104}" type="slidenum">
              <a:rPr lang="en-US" smtClean="0"/>
              <a:pPr defTabSz="911492"/>
              <a:t>15</a:t>
            </a:fld>
            <a:endParaRPr lang="en-US" dirty="0" smtClean="0"/>
          </a:p>
        </p:txBody>
      </p:sp>
      <p:sp>
        <p:nvSpPr>
          <p:cNvPr id="31747" name="Rectangle 2"/>
          <p:cNvSpPr>
            <a:spLocks noGrp="1" noRot="1" noChangeAspect="1" noChangeArrowheads="1" noTextEdit="1"/>
          </p:cNvSpPr>
          <p:nvPr>
            <p:ph type="sldImg"/>
          </p:nvPr>
        </p:nvSpPr>
        <p:spPr>
          <a:xfrm>
            <a:off x="857250" y="685800"/>
            <a:ext cx="5143500" cy="3429000"/>
          </a:xfrm>
          <a:ln/>
        </p:spPr>
      </p:sp>
      <p:sp>
        <p:nvSpPr>
          <p:cNvPr id="31748" name="Rectangle 3"/>
          <p:cNvSpPr>
            <a:spLocks noGrp="1" noChangeArrowheads="1"/>
          </p:cNvSpPr>
          <p:nvPr>
            <p:ph type="body" idx="1"/>
          </p:nvPr>
        </p:nvSpPr>
        <p:spPr>
          <a:noFill/>
          <a:ln/>
        </p:spPr>
        <p:txBody>
          <a:bodyPr/>
          <a:lstStyle/>
          <a:p>
            <a:pPr eaLnBrk="1" hangingPunct="1"/>
            <a:r>
              <a:rPr lang="en-GB" dirty="0" smtClean="0"/>
              <a:t>With this we have come to the end of this Yellow Belt training module. We have demonstrated several techniques that can be used to solve problems, such as the 8D, the 5-Why and the Ishikawa or fishbone diagram. By using these, a problem can be </a:t>
            </a:r>
            <a:r>
              <a:rPr lang="en-GB" dirty="0" smtClean="0"/>
              <a:t>analysed </a:t>
            </a:r>
            <a:r>
              <a:rPr lang="en-GB" dirty="0" smtClean="0"/>
              <a:t>deeply enough, to be able to find and solve its root cause. In this way, the problem will not occur again in the future.</a:t>
            </a:r>
          </a:p>
        </p:txBody>
      </p:sp>
    </p:spTree>
    <p:extLst>
      <p:ext uri="{BB962C8B-B14F-4D97-AF65-F5344CB8AC3E}">
        <p14:creationId xmlns:p14="http://schemas.microsoft.com/office/powerpoint/2010/main" val="40990315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pPr defTabSz="911492"/>
            <a:fld id="{E20A3A59-9CFF-42F6-A45A-D857CDDF4ED5}" type="slidenum">
              <a:rPr lang="en-US" smtClean="0"/>
              <a:pPr defTabSz="911492"/>
              <a:t>16</a:t>
            </a:fld>
            <a:endParaRPr lang="en-US" dirty="0" smtClean="0"/>
          </a:p>
        </p:txBody>
      </p:sp>
      <p:sp>
        <p:nvSpPr>
          <p:cNvPr id="33795" name="Rectangle 2"/>
          <p:cNvSpPr>
            <a:spLocks noGrp="1" noRot="1" noChangeAspect="1" noChangeArrowheads="1" noTextEdit="1"/>
          </p:cNvSpPr>
          <p:nvPr>
            <p:ph type="sldImg"/>
          </p:nvPr>
        </p:nvSpPr>
        <p:spPr>
          <a:xfrm>
            <a:off x="857250" y="685800"/>
            <a:ext cx="5143500" cy="3429000"/>
          </a:xfrm>
          <a:ln/>
        </p:spPr>
      </p:sp>
      <p:sp>
        <p:nvSpPr>
          <p:cNvPr id="33796" name="Rectangle 3"/>
          <p:cNvSpPr>
            <a:spLocks noGrp="1" noChangeArrowheads="1"/>
          </p:cNvSpPr>
          <p:nvPr>
            <p:ph type="body" idx="1"/>
          </p:nvPr>
        </p:nvSpPr>
        <p:spPr>
          <a:noFill/>
          <a:ln/>
        </p:spPr>
        <p:txBody>
          <a:bodyPr/>
          <a:lstStyle/>
          <a:p>
            <a:pPr eaLnBrk="1" hangingPunct="1"/>
            <a:r>
              <a:rPr lang="en-US" dirty="0" smtClean="0"/>
              <a:t>Another example of a 5 Why is shown above –where a patient is late for a test. It can be seen that there is more than 1 root cause for the issue.</a:t>
            </a:r>
            <a:endParaRPr lang="en-US" dirty="0" smtClean="0"/>
          </a:p>
        </p:txBody>
      </p:sp>
    </p:spTree>
    <p:extLst>
      <p:ext uri="{BB962C8B-B14F-4D97-AF65-F5344CB8AC3E}">
        <p14:creationId xmlns:p14="http://schemas.microsoft.com/office/powerpoint/2010/main" val="1004271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pPr defTabSz="911492"/>
            <a:fld id="{C4B58437-EF0F-4F51-96AA-116E99D82971}" type="slidenum">
              <a:rPr lang="en-US" smtClean="0"/>
              <a:pPr defTabSz="911492"/>
              <a:t>17</a:t>
            </a:fld>
            <a:endParaRPr lang="en-US" dirty="0" smtClean="0"/>
          </a:p>
        </p:txBody>
      </p:sp>
      <p:sp>
        <p:nvSpPr>
          <p:cNvPr id="34819" name="Rectangle 2"/>
          <p:cNvSpPr>
            <a:spLocks noGrp="1" noRot="1" noChangeAspect="1" noChangeArrowheads="1" noTextEdit="1"/>
          </p:cNvSpPr>
          <p:nvPr>
            <p:ph type="sldImg"/>
          </p:nvPr>
        </p:nvSpPr>
        <p:spPr>
          <a:xfrm>
            <a:off x="857250" y="685800"/>
            <a:ext cx="5143500" cy="3429000"/>
          </a:xfrm>
          <a:ln/>
        </p:spPr>
      </p:sp>
      <p:sp>
        <p:nvSpPr>
          <p:cNvPr id="34820" name="Rectangle 3"/>
          <p:cNvSpPr>
            <a:spLocks noGrp="1" noChangeArrowheads="1"/>
          </p:cNvSpPr>
          <p:nvPr>
            <p:ph type="body" idx="1"/>
          </p:nvPr>
        </p:nvSpPr>
        <p:spPr>
          <a:noFill/>
          <a:ln/>
        </p:spPr>
        <p:txBody>
          <a:bodyPr/>
          <a:lstStyle/>
          <a:p>
            <a:pPr eaLnBrk="1" hangingPunct="1"/>
            <a:r>
              <a:rPr lang="en-US" dirty="0" smtClean="0"/>
              <a:t>Proposed solutions and countermeasures can then be put in place once the root cause has </a:t>
            </a:r>
            <a:r>
              <a:rPr lang="en-US" smtClean="0"/>
              <a:t>been discovered </a:t>
            </a:r>
            <a:r>
              <a:rPr lang="en-US" dirty="0" smtClean="0"/>
              <a:t>using 5 Whys.</a:t>
            </a:r>
            <a:endParaRPr lang="en-US" dirty="0" smtClean="0"/>
          </a:p>
        </p:txBody>
      </p:sp>
    </p:spTree>
    <p:extLst>
      <p:ext uri="{BB962C8B-B14F-4D97-AF65-F5344CB8AC3E}">
        <p14:creationId xmlns:p14="http://schemas.microsoft.com/office/powerpoint/2010/main" val="40825606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hyperlink" Target="http://www.wgvoost.nl/" TargetMode="External"/><Relationship Id="rId3" Type="http://schemas.openxmlformats.org/officeDocument/2006/relationships/hyperlink" Target="http://www.iscn.com/" TargetMode="External"/><Relationship Id="rId7" Type="http://schemas.openxmlformats.org/officeDocument/2006/relationships/hyperlink" Target="http://www.utwente.nl/" TargetMode="External"/><Relationship Id="rId2" Type="http://schemas.openxmlformats.org/officeDocument/2006/relationships/hyperlink" Target="http://www.symbolbv.nl/" TargetMode="External"/><Relationship Id="rId1" Type="http://schemas.openxmlformats.org/officeDocument/2006/relationships/slideMaster" Target="../slideMasters/slideMaster1.xml"/><Relationship Id="rId6" Type="http://schemas.openxmlformats.org/officeDocument/2006/relationships/hyperlink" Target="http://www.ul.ie/" TargetMode="External"/><Relationship Id="rId5" Type="http://schemas.openxmlformats.org/officeDocument/2006/relationships/hyperlink" Target="http://www.lssa.eu/" TargetMode="External"/><Relationship Id="rId4" Type="http://schemas.openxmlformats.org/officeDocument/2006/relationships/hyperlink" Target="http://www.rocvantwente.nl/" TargetMode="External"/><Relationship Id="rId9"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p:spTree>
      <p:nvGrpSpPr>
        <p:cNvPr id="1" name=""/>
        <p:cNvGrpSpPr/>
        <p:nvPr/>
      </p:nvGrpSpPr>
      <p:grpSpPr>
        <a:xfrm>
          <a:off x="0" y="0"/>
          <a:ext cx="0" cy="0"/>
          <a:chOff x="0" y="0"/>
          <a:chExt cx="0" cy="0"/>
        </a:xfrm>
      </p:grpSpPr>
      <p:pic>
        <p:nvPicPr>
          <p:cNvPr id="6" name="Afbeelding 9"/>
          <p:cNvPicPr>
            <a:picLocks noChangeAspect="1"/>
          </p:cNvPicPr>
          <p:nvPr/>
        </p:nvPicPr>
        <p:blipFill>
          <a:blip r:embed="rId2" cstate="print"/>
          <a:srcRect/>
          <a:stretch>
            <a:fillRect/>
          </a:stretch>
        </p:blipFill>
        <p:spPr bwMode="auto">
          <a:xfrm>
            <a:off x="0" y="2286001"/>
            <a:ext cx="10287000" cy="3419475"/>
          </a:xfrm>
          <a:prstGeom prst="rect">
            <a:avLst/>
          </a:prstGeom>
          <a:noFill/>
          <a:ln w="9525">
            <a:noFill/>
            <a:miter lim="800000"/>
            <a:headEnd/>
            <a:tailEnd/>
          </a:ln>
        </p:spPr>
      </p:pic>
      <p:pic>
        <p:nvPicPr>
          <p:cNvPr id="7" name="Picture 2" descr="EU_flag_LLP_EN-01"/>
          <p:cNvPicPr>
            <a:picLocks noChangeAspect="1" noChangeArrowheads="1"/>
          </p:cNvPicPr>
          <p:nvPr/>
        </p:nvPicPr>
        <p:blipFill>
          <a:blip r:embed="rId3" cstate="print"/>
          <a:srcRect/>
          <a:stretch>
            <a:fillRect/>
          </a:stretch>
        </p:blipFill>
        <p:spPr bwMode="auto">
          <a:xfrm>
            <a:off x="364332" y="5876926"/>
            <a:ext cx="2348508" cy="815975"/>
          </a:xfrm>
          <a:prstGeom prst="rect">
            <a:avLst/>
          </a:prstGeom>
          <a:noFill/>
          <a:ln w="9525">
            <a:noFill/>
            <a:miter lim="800000"/>
            <a:headEnd/>
            <a:tailEnd/>
          </a:ln>
        </p:spPr>
      </p:pic>
      <p:pic>
        <p:nvPicPr>
          <p:cNvPr id="8" name="Afbeelding 12"/>
          <p:cNvPicPr>
            <a:picLocks noChangeAspect="1"/>
          </p:cNvPicPr>
          <p:nvPr/>
        </p:nvPicPr>
        <p:blipFill>
          <a:blip r:embed="rId4" cstate="print"/>
          <a:srcRect/>
          <a:stretch>
            <a:fillRect/>
          </a:stretch>
        </p:blipFill>
        <p:spPr bwMode="auto">
          <a:xfrm>
            <a:off x="6515101" y="609600"/>
            <a:ext cx="3175397" cy="1079500"/>
          </a:xfrm>
          <a:prstGeom prst="rect">
            <a:avLst/>
          </a:prstGeom>
          <a:noFill/>
          <a:ln w="9525">
            <a:noFill/>
            <a:miter lim="800000"/>
            <a:headEnd/>
            <a:tailEnd/>
          </a:ln>
        </p:spPr>
      </p:pic>
      <p:sp>
        <p:nvSpPr>
          <p:cNvPr id="2" name="Titel 1"/>
          <p:cNvSpPr>
            <a:spLocks noGrp="1"/>
          </p:cNvSpPr>
          <p:nvPr>
            <p:ph type="ctrTitle"/>
          </p:nvPr>
        </p:nvSpPr>
        <p:spPr>
          <a:xfrm>
            <a:off x="688005" y="2422800"/>
            <a:ext cx="9073008" cy="579600"/>
          </a:xfrm>
        </p:spPr>
        <p:txBody>
          <a:bodyPr anchor="t"/>
          <a:lstStyle>
            <a:lvl1pPr algn="l">
              <a:defRPr sz="3200" b="1">
                <a:solidFill>
                  <a:schemeClr val="tx1"/>
                </a:solidFill>
              </a:defRPr>
            </a:lvl1pPr>
          </a:lstStyle>
          <a:p>
            <a:r>
              <a:rPr lang="nl-NL" smtClean="0"/>
              <a:t>Klik om de stijl te bewerken</a:t>
            </a:r>
            <a:endParaRPr lang="nl-NL" dirty="0"/>
          </a:p>
        </p:txBody>
      </p:sp>
      <p:sp>
        <p:nvSpPr>
          <p:cNvPr id="3" name="Ondertitel 2"/>
          <p:cNvSpPr>
            <a:spLocks noGrp="1"/>
          </p:cNvSpPr>
          <p:nvPr>
            <p:ph type="subTitle" idx="1"/>
          </p:nvPr>
        </p:nvSpPr>
        <p:spPr>
          <a:xfrm>
            <a:off x="688005" y="3808800"/>
            <a:ext cx="7695000" cy="1548000"/>
          </a:xfrm>
        </p:spPr>
        <p:txBody>
          <a:bodyPr anchor="ctr" anchorCtr="1">
            <a:normAutofit/>
          </a:bodyPr>
          <a:lstStyle>
            <a:lvl1pPr marL="0" indent="0" algn="ctr">
              <a:buNone/>
              <a:defRPr sz="1600" b="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smtClean="0"/>
              <a:t>Klik om de ondertitelstijl van het model te bewerken</a:t>
            </a:r>
            <a:endParaRPr lang="nl-NL"/>
          </a:p>
        </p:txBody>
      </p:sp>
      <p:sp>
        <p:nvSpPr>
          <p:cNvPr id="10" name="Tijdelijke aanduiding voor tekst 9"/>
          <p:cNvSpPr>
            <a:spLocks noGrp="1"/>
          </p:cNvSpPr>
          <p:nvPr>
            <p:ph type="body" sz="quarter" idx="13"/>
          </p:nvPr>
        </p:nvSpPr>
        <p:spPr>
          <a:xfrm>
            <a:off x="4122899" y="6011999"/>
            <a:ext cx="5917050" cy="687600"/>
          </a:xfrm>
        </p:spPr>
        <p:txBody>
          <a:bodyPr/>
          <a:lstStyle>
            <a:lvl1pPr algn="r">
              <a:defRPr sz="3600" b="1">
                <a:solidFill>
                  <a:srgbClr val="C80F00"/>
                </a:solidFill>
                <a:latin typeface="Arial" pitchFamily="34" charset="0"/>
                <a:cs typeface="Arial" pitchFamily="34" charset="0"/>
              </a:defRPr>
            </a:lvl1pPr>
            <a:lvl2pPr algn="r">
              <a:defRPr sz="3600" b="1">
                <a:solidFill>
                  <a:srgbClr val="C80F00"/>
                </a:solidFill>
                <a:latin typeface="Arial Black" pitchFamily="34" charset="0"/>
              </a:defRPr>
            </a:lvl2pPr>
            <a:lvl3pPr algn="r">
              <a:defRPr sz="3600" b="1">
                <a:solidFill>
                  <a:srgbClr val="C80F00"/>
                </a:solidFill>
                <a:latin typeface="Arial Black" pitchFamily="34" charset="0"/>
              </a:defRPr>
            </a:lvl3pPr>
            <a:lvl4pPr algn="r">
              <a:defRPr sz="3600" b="1">
                <a:solidFill>
                  <a:srgbClr val="C80F00"/>
                </a:solidFill>
                <a:latin typeface="Arial Black" pitchFamily="34" charset="0"/>
              </a:defRPr>
            </a:lvl4pPr>
            <a:lvl5pPr algn="r">
              <a:defRPr sz="3600" b="1">
                <a:solidFill>
                  <a:srgbClr val="C80F00"/>
                </a:solidFill>
                <a:latin typeface="Arial Black" pitchFamily="34" charset="0"/>
              </a:defRPr>
            </a:lvl5pPr>
          </a:lstStyle>
          <a:p>
            <a:pPr lvl="0"/>
            <a:r>
              <a:rPr lang="nl-NL" smtClean="0"/>
              <a:t>Klik om de modelstijlen te bewerken</a:t>
            </a:r>
          </a:p>
        </p:txBody>
      </p:sp>
      <p:sp>
        <p:nvSpPr>
          <p:cNvPr id="12" name="Tijdelijke aanduiding voor inhoud 11"/>
          <p:cNvSpPr>
            <a:spLocks noGrp="1"/>
          </p:cNvSpPr>
          <p:nvPr>
            <p:ph sz="quarter" idx="17"/>
          </p:nvPr>
        </p:nvSpPr>
        <p:spPr>
          <a:xfrm>
            <a:off x="1017718" y="2998800"/>
            <a:ext cx="8743295" cy="431800"/>
          </a:xfrm>
        </p:spPr>
        <p:txBody>
          <a:bodyPr/>
          <a:lstStyle>
            <a:lvl1pPr>
              <a:defRPr sz="1600">
                <a:solidFill>
                  <a:schemeClr val="tx1"/>
                </a:solidFill>
              </a:defRPr>
            </a:lvl1pPr>
          </a:lstStyle>
          <a:p>
            <a:pPr lvl="0"/>
            <a:r>
              <a:rPr lang="nl-NL" smtClean="0"/>
              <a:t>Klik om de modelstijlen te bewerken</a:t>
            </a:r>
          </a:p>
        </p:txBody>
      </p:sp>
      <p:sp>
        <p:nvSpPr>
          <p:cNvPr id="9" name="Tijdelijke aanduiding voor voettekst 4"/>
          <p:cNvSpPr>
            <a:spLocks noGrp="1"/>
          </p:cNvSpPr>
          <p:nvPr>
            <p:ph type="ftr" sz="quarter" idx="18"/>
          </p:nvPr>
        </p:nvSpPr>
        <p:spPr/>
        <p:txBody>
          <a:bodyPr/>
          <a:lstStyle>
            <a:lvl1pPr>
              <a:defRPr/>
            </a:lvl1pPr>
          </a:lstStyle>
          <a:p>
            <a:pPr>
              <a:defRPr/>
            </a:pPr>
            <a:endParaRPr lang="nl-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inhoud 2"/>
          <p:cNvSpPr>
            <a:spLocks noGrp="1"/>
          </p:cNvSpPr>
          <p:nvPr>
            <p:ph idx="1"/>
          </p:nvPr>
        </p:nvSpPr>
        <p:spPr/>
        <p:txBody>
          <a:body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a:p>
        </p:txBody>
      </p:sp>
      <p:sp>
        <p:nvSpPr>
          <p:cNvPr id="4"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12602" y="4406901"/>
            <a:ext cx="8743950" cy="1362075"/>
          </a:xfrm>
        </p:spPr>
        <p:txBody>
          <a:bodyPr anchor="t"/>
          <a:lstStyle>
            <a:lvl1pPr algn="l">
              <a:defRPr sz="3600" b="1" cap="all">
                <a:solidFill>
                  <a:schemeClr val="tx1"/>
                </a:solidFill>
              </a:defRPr>
            </a:lvl1pPr>
          </a:lstStyle>
          <a:p>
            <a:r>
              <a:rPr lang="nl-NL" smtClean="0"/>
              <a:t>Klik om de stijl te bewerken</a:t>
            </a:r>
            <a:endParaRPr lang="nl-NL" dirty="0"/>
          </a:p>
        </p:txBody>
      </p:sp>
      <p:sp>
        <p:nvSpPr>
          <p:cNvPr id="3" name="Tijdelijke aanduiding voor tekst 2"/>
          <p:cNvSpPr>
            <a:spLocks noGrp="1"/>
          </p:cNvSpPr>
          <p:nvPr>
            <p:ph type="body" idx="1"/>
          </p:nvPr>
        </p:nvSpPr>
        <p:spPr>
          <a:xfrm>
            <a:off x="812602" y="2906713"/>
            <a:ext cx="8743950" cy="1500187"/>
          </a:xfrm>
        </p:spPr>
        <p:txBody>
          <a:bodyPr anchor="b"/>
          <a:lstStyle>
            <a:lvl1pPr marL="0" indent="0">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l-NL" smtClean="0"/>
              <a:t>Klik om de modelstijlen te bewerken</a:t>
            </a:r>
          </a:p>
        </p:txBody>
      </p:sp>
      <p:sp>
        <p:nvSpPr>
          <p:cNvPr id="4"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inhoud 2"/>
          <p:cNvSpPr>
            <a:spLocks noGrp="1"/>
          </p:cNvSpPr>
          <p:nvPr>
            <p:ph sz="half" idx="1"/>
          </p:nvPr>
        </p:nvSpPr>
        <p:spPr>
          <a:xfrm>
            <a:off x="514350" y="1440000"/>
            <a:ext cx="4543425" cy="5040000"/>
          </a:xfrm>
        </p:spPr>
        <p:txBody>
          <a:bodyPr/>
          <a:lstStyle>
            <a:lvl1pPr>
              <a:defRPr sz="24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4" name="Tijdelijke aanduiding voor inhoud 3"/>
          <p:cNvSpPr>
            <a:spLocks noGrp="1"/>
          </p:cNvSpPr>
          <p:nvPr>
            <p:ph sz="half" idx="2"/>
          </p:nvPr>
        </p:nvSpPr>
        <p:spPr>
          <a:xfrm>
            <a:off x="5229225" y="1440000"/>
            <a:ext cx="4543425" cy="5040000"/>
          </a:xfrm>
        </p:spPr>
        <p:txBody>
          <a:bodyPr/>
          <a:lstStyle>
            <a:lvl1pPr>
              <a:defRPr sz="24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5"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nl-NL" smtClean="0"/>
              <a:t>Klik om de stijl te bewerken</a:t>
            </a:r>
            <a:endParaRPr lang="nl-NL"/>
          </a:p>
        </p:txBody>
      </p:sp>
      <p:sp>
        <p:nvSpPr>
          <p:cNvPr id="3" name="Tijdelijke aanduiding voor tekst 2"/>
          <p:cNvSpPr>
            <a:spLocks noGrp="1"/>
          </p:cNvSpPr>
          <p:nvPr>
            <p:ph type="body" idx="1"/>
          </p:nvPr>
        </p:nvSpPr>
        <p:spPr>
          <a:xfrm>
            <a:off x="514350" y="1535113"/>
            <a:ext cx="454521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smtClean="0"/>
              <a:t>Klik om de modelstijlen te bewerken</a:t>
            </a:r>
          </a:p>
        </p:txBody>
      </p:sp>
      <p:sp>
        <p:nvSpPr>
          <p:cNvPr id="4" name="Tijdelijke aanduiding voor inhoud 3"/>
          <p:cNvSpPr>
            <a:spLocks noGrp="1"/>
          </p:cNvSpPr>
          <p:nvPr>
            <p:ph sz="half" idx="2"/>
          </p:nvPr>
        </p:nvSpPr>
        <p:spPr>
          <a:xfrm>
            <a:off x="514350" y="2174875"/>
            <a:ext cx="4545212" cy="3951288"/>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5" name="Tijdelijke aanduiding voor tekst 4"/>
          <p:cNvSpPr>
            <a:spLocks noGrp="1"/>
          </p:cNvSpPr>
          <p:nvPr>
            <p:ph type="body" sz="quarter" idx="3"/>
          </p:nvPr>
        </p:nvSpPr>
        <p:spPr>
          <a:xfrm>
            <a:off x="5225654" y="1535113"/>
            <a:ext cx="454699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smtClean="0"/>
              <a:t>Klik om de modelstijlen te bewerken</a:t>
            </a:r>
          </a:p>
        </p:txBody>
      </p:sp>
      <p:sp>
        <p:nvSpPr>
          <p:cNvPr id="6" name="Tijdelijke aanduiding voor inhoud 5"/>
          <p:cNvSpPr>
            <a:spLocks noGrp="1"/>
          </p:cNvSpPr>
          <p:nvPr>
            <p:ph sz="quarter" idx="4"/>
          </p:nvPr>
        </p:nvSpPr>
        <p:spPr>
          <a:xfrm>
            <a:off x="5225654" y="2174875"/>
            <a:ext cx="4546997" cy="3951288"/>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7"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fsluitdia">
    <p:spTree>
      <p:nvGrpSpPr>
        <p:cNvPr id="1" name=""/>
        <p:cNvGrpSpPr/>
        <p:nvPr/>
      </p:nvGrpSpPr>
      <p:grpSpPr>
        <a:xfrm>
          <a:off x="0" y="0"/>
          <a:ext cx="0" cy="0"/>
          <a:chOff x="0" y="0"/>
          <a:chExt cx="0" cy="0"/>
        </a:xfrm>
      </p:grpSpPr>
      <p:sp>
        <p:nvSpPr>
          <p:cNvPr id="2" name="Tekstvak 9"/>
          <p:cNvSpPr txBox="1">
            <a:spLocks noChangeAspect="1"/>
          </p:cNvSpPr>
          <p:nvPr/>
        </p:nvSpPr>
        <p:spPr bwMode="auto">
          <a:xfrm>
            <a:off x="689372" y="238126"/>
            <a:ext cx="728841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defRPr/>
            </a:pPr>
            <a:r>
              <a:rPr lang="sl-SI" altLang="nl-NL" sz="2800" b="1" smtClean="0">
                <a:solidFill>
                  <a:srgbClr val="000000"/>
                </a:solidFill>
                <a:latin typeface="Arial" charset="0"/>
              </a:rPr>
              <a:t>Reference to Authors</a:t>
            </a:r>
            <a:endParaRPr lang="en-GB" altLang="nl-NL" smtClean="0"/>
          </a:p>
        </p:txBody>
      </p:sp>
      <p:sp>
        <p:nvSpPr>
          <p:cNvPr id="3" name="Rechthoek 11"/>
          <p:cNvSpPr>
            <a:spLocks noChangeArrowheads="1"/>
          </p:cNvSpPr>
          <p:nvPr/>
        </p:nvSpPr>
        <p:spPr bwMode="auto">
          <a:xfrm>
            <a:off x="810816" y="1439863"/>
            <a:ext cx="8910043"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Calibri" pitchFamily="34" charset="0"/>
                <a:cs typeface="Arial" charset="0"/>
              </a:defRPr>
            </a:lvl1pPr>
            <a:lvl2pPr marL="447675" indent="-266700" eaLnBrk="0" hangingPunct="0">
              <a:defRPr>
                <a:solidFill>
                  <a:schemeClr val="tx1"/>
                </a:solidFill>
                <a:latin typeface="Calibri" pitchFamily="34" charset="0"/>
                <a:cs typeface="Arial" charset="0"/>
              </a:defRPr>
            </a:lvl2pPr>
            <a:lvl3pPr marL="985838" indent="-2667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lvl="1" eaLnBrk="1" hangingPunct="1">
              <a:spcBef>
                <a:spcPct val="20000"/>
              </a:spcBef>
              <a:buClr>
                <a:srgbClr val="C80F00"/>
              </a:buClr>
              <a:buSzPct val="120000"/>
              <a:buFont typeface="Arial" charset="0"/>
              <a:buChar char="•"/>
              <a:defRPr/>
            </a:pPr>
            <a:r>
              <a:rPr lang="en-US" altLang="nl-NL" sz="1600" b="1" smtClean="0">
                <a:solidFill>
                  <a:srgbClr val="000000"/>
                </a:solidFill>
                <a:latin typeface="Arial" charset="0"/>
              </a:rPr>
              <a:t>This Training Material has been certified according to the rules of the ‘ECQA – European Certification and Qualification Association’</a:t>
            </a:r>
          </a:p>
          <a:p>
            <a:pPr lvl="1" eaLnBrk="1" hangingPunct="1">
              <a:spcBef>
                <a:spcPct val="20000"/>
              </a:spcBef>
              <a:buClr>
                <a:srgbClr val="C80F00"/>
              </a:buClr>
              <a:buSzPct val="120000"/>
              <a:buFont typeface="Arial" charset="0"/>
              <a:buChar char="•"/>
              <a:defRPr/>
            </a:pPr>
            <a:endParaRPr lang="en-US" altLang="nl-NL" sz="1600" b="1" smtClean="0">
              <a:solidFill>
                <a:srgbClr val="000000"/>
              </a:solidFill>
              <a:latin typeface="Arial" charset="0"/>
            </a:endParaRPr>
          </a:p>
          <a:p>
            <a:pPr lvl="1" eaLnBrk="1" hangingPunct="1">
              <a:spcBef>
                <a:spcPct val="20000"/>
              </a:spcBef>
              <a:buClr>
                <a:srgbClr val="C80F00"/>
              </a:buClr>
              <a:buSzPct val="120000"/>
              <a:buFont typeface="Arial" charset="0"/>
              <a:buChar char="•"/>
              <a:defRPr/>
            </a:pPr>
            <a:r>
              <a:rPr lang="en-US" altLang="nl-NL" sz="1600" b="1" smtClean="0">
                <a:solidFill>
                  <a:srgbClr val="000000"/>
                </a:solidFill>
                <a:latin typeface="Arial" charset="0"/>
              </a:rPr>
              <a:t>The Training Material was developed within the international consortium ‘LSSH – Lean Six Sigma for Healthcare’</a:t>
            </a:r>
          </a:p>
          <a:p>
            <a:pPr lvl="1" eaLnBrk="1" hangingPunct="1">
              <a:spcBef>
                <a:spcPct val="20000"/>
              </a:spcBef>
              <a:buClr>
                <a:srgbClr val="C80F00"/>
              </a:buClr>
              <a:buSzPct val="120000"/>
              <a:buFont typeface="Arial" charset="0"/>
              <a:buChar char="•"/>
              <a:defRPr/>
            </a:pPr>
            <a:endParaRPr lang="en-US" altLang="nl-NL" sz="1600" b="1"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Symbol BV		Netherlands		</a:t>
            </a:r>
            <a:r>
              <a:rPr lang="en-US" altLang="nl-NL" sz="1200" smtClean="0">
                <a:solidFill>
                  <a:srgbClr val="000000"/>
                </a:solidFill>
                <a:latin typeface="Arial" charset="0"/>
                <a:hlinkClick r:id="rId2"/>
              </a:rPr>
              <a:t>www.symbolbv.nl</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ISCN Ltd./Ges.m.b.H, 	Ireland/Austria	</a:t>
            </a:r>
            <a:r>
              <a:rPr lang="en-US" altLang="nl-NL" sz="1200" smtClean="0">
                <a:solidFill>
                  <a:srgbClr val="000000"/>
                </a:solidFill>
                <a:latin typeface="Arial" charset="0"/>
                <a:hlinkClick r:id="rId3"/>
              </a:rPr>
              <a:t>www.iscn.com</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ROC of Twente	Netherlands		</a:t>
            </a:r>
            <a:r>
              <a:rPr lang="en-US" altLang="nl-NL" sz="1200" smtClean="0">
                <a:solidFill>
                  <a:srgbClr val="000000"/>
                </a:solidFill>
                <a:latin typeface="Arial" charset="0"/>
                <a:hlinkClick r:id="rId4"/>
              </a:rPr>
              <a:t>www.rocvantwente.nl</a:t>
            </a:r>
            <a:r>
              <a:rPr lang="en-US" altLang="nl-NL" sz="1200" smtClean="0">
                <a:solidFill>
                  <a:srgbClr val="000000"/>
                </a:solidFill>
                <a:latin typeface="Arial" charset="0"/>
              </a:rPr>
              <a:t> </a:t>
            </a: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LSSA BV		Netherlands		</a:t>
            </a:r>
            <a:r>
              <a:rPr lang="en-US" altLang="nl-NL" sz="1200" smtClean="0">
                <a:solidFill>
                  <a:srgbClr val="000000"/>
                </a:solidFill>
                <a:latin typeface="Arial" charset="0"/>
                <a:hlinkClick r:id="rId5"/>
              </a:rPr>
              <a:t>www.lssa.eu</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University of Limerick	Ireland		</a:t>
            </a:r>
            <a:r>
              <a:rPr lang="en-US" altLang="nl-NL" sz="1200" smtClean="0">
                <a:solidFill>
                  <a:srgbClr val="000000"/>
                </a:solidFill>
                <a:latin typeface="Arial" charset="0"/>
                <a:hlinkClick r:id="rId6"/>
              </a:rPr>
              <a:t>www.ul.ie</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University of Twente	Netherlands		</a:t>
            </a:r>
            <a:r>
              <a:rPr lang="en-US" altLang="nl-NL" sz="1200" smtClean="0">
                <a:solidFill>
                  <a:srgbClr val="000000"/>
                </a:solidFill>
                <a:latin typeface="Arial" charset="0"/>
                <a:hlinkClick r:id="rId7"/>
              </a:rPr>
              <a:t>www.utwente.nl</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WGV Oost		Netherlands		</a:t>
            </a:r>
            <a:r>
              <a:rPr lang="en-US" altLang="nl-NL" sz="1200" smtClean="0">
                <a:solidFill>
                  <a:srgbClr val="000000"/>
                </a:solidFill>
                <a:latin typeface="Arial" charset="0"/>
                <a:hlinkClick r:id="rId8"/>
              </a:rPr>
              <a:t>www.wgvoost.nl</a:t>
            </a:r>
            <a:endParaRPr lang="en-US" altLang="nl-NL" sz="1200" smtClean="0">
              <a:solidFill>
                <a:srgbClr val="000000"/>
              </a:solidFill>
              <a:latin typeface="Arial" charset="0"/>
            </a:endParaRPr>
          </a:p>
          <a:p>
            <a:pPr lvl="1" eaLnBrk="1" hangingPunct="1">
              <a:spcBef>
                <a:spcPct val="20000"/>
              </a:spcBef>
              <a:buClr>
                <a:srgbClr val="C80F00"/>
              </a:buClr>
              <a:buSzPct val="120000"/>
              <a:buFont typeface="Arial" charset="0"/>
              <a:buChar char="•"/>
              <a:defRPr/>
            </a:pPr>
            <a:endParaRPr lang="en-US" altLang="nl-NL" sz="1600" b="1" smtClean="0">
              <a:solidFill>
                <a:srgbClr val="000000"/>
              </a:solidFill>
              <a:latin typeface="Arial" charset="0"/>
            </a:endParaRPr>
          </a:p>
        </p:txBody>
      </p:sp>
      <p:pic>
        <p:nvPicPr>
          <p:cNvPr id="4" name="Picture 2" descr="EU_flag_LLP_EN-01"/>
          <p:cNvPicPr>
            <a:picLocks noChangeAspect="1" noChangeArrowheads="1"/>
          </p:cNvPicPr>
          <p:nvPr/>
        </p:nvPicPr>
        <p:blipFill>
          <a:blip r:embed="rId9" cstate="print"/>
          <a:srcRect/>
          <a:stretch>
            <a:fillRect/>
          </a:stretch>
        </p:blipFill>
        <p:spPr bwMode="auto">
          <a:xfrm>
            <a:off x="1092995" y="5249864"/>
            <a:ext cx="2348508" cy="815975"/>
          </a:xfrm>
          <a:prstGeom prst="rect">
            <a:avLst/>
          </a:prstGeom>
          <a:noFill/>
          <a:ln w="9525">
            <a:noFill/>
            <a:miter lim="800000"/>
            <a:headEnd/>
            <a:tailEnd/>
          </a:ln>
        </p:spPr>
      </p:pic>
      <p:sp>
        <p:nvSpPr>
          <p:cNvPr id="5" name="Tekstvak 13"/>
          <p:cNvSpPr txBox="1">
            <a:spLocks noChangeArrowheads="1"/>
          </p:cNvSpPr>
          <p:nvPr/>
        </p:nvSpPr>
        <p:spPr bwMode="auto">
          <a:xfrm>
            <a:off x="3361135" y="5249864"/>
            <a:ext cx="6318647"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en-US" altLang="nl-NL" sz="1200" i="1" smtClean="0"/>
              <a:t>This project has been funded with support from the European Commission under agreement EAC-2012-0635. This publication/communication reflects the views only of the author, and the Commission cannot be held responsible for any use which may be made of the information contained therein.</a:t>
            </a:r>
          </a:p>
          <a:p>
            <a:pPr eaLnBrk="1" hangingPunct="1">
              <a:defRPr/>
            </a:pPr>
            <a:endParaRPr lang="en-US" altLang="nl-NL" sz="1200" i="1" smtClean="0"/>
          </a:p>
          <a:p>
            <a:pPr eaLnBrk="1" hangingPunct="1">
              <a:defRPr/>
            </a:pPr>
            <a:r>
              <a:rPr lang="en-US" altLang="nl-NL" sz="1200" smtClean="0"/>
              <a:t>This publication reflects the views only of the author</a:t>
            </a:r>
            <a:r>
              <a:rPr lang="sl-SI" altLang="nl-NL" sz="1200" smtClean="0"/>
              <a:t>s</a:t>
            </a:r>
            <a:r>
              <a:rPr lang="en-US" altLang="nl-NL" sz="1200" smtClean="0"/>
              <a:t>, and the Commission cannot be held responsible for any use which may be made of the information contained therein.</a:t>
            </a:r>
          </a:p>
        </p:txBody>
      </p:sp>
      <p:sp>
        <p:nvSpPr>
          <p:cNvPr id="6" name="Tijdelijke aanduiding voor voettekst 2"/>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hthoek 1"/>
          <p:cNvSpPr/>
          <p:nvPr/>
        </p:nvSpPr>
        <p:spPr>
          <a:xfrm>
            <a:off x="10716" y="6696076"/>
            <a:ext cx="10287000" cy="180975"/>
          </a:xfrm>
          <a:prstGeom prst="rect">
            <a:avLst/>
          </a:prstGeom>
          <a:solidFill>
            <a:srgbClr val="C8B8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chemeClr val="tx1"/>
              </a:solidFill>
            </a:endParaRPr>
          </a:p>
        </p:txBody>
      </p:sp>
      <p:sp>
        <p:nvSpPr>
          <p:cNvPr id="1027" name="Tijdelijke aanduiding voor titel 1"/>
          <p:cNvSpPr>
            <a:spLocks noGrp="1"/>
          </p:cNvSpPr>
          <p:nvPr>
            <p:ph type="title"/>
          </p:nvPr>
        </p:nvSpPr>
        <p:spPr bwMode="auto">
          <a:xfrm>
            <a:off x="687587" y="238126"/>
            <a:ext cx="7290197" cy="6000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nl-NL" altLang="nl-NL" smtClean="0"/>
              <a:t>Klik om de stijl te bewerken</a:t>
            </a:r>
          </a:p>
        </p:txBody>
      </p:sp>
      <p:sp>
        <p:nvSpPr>
          <p:cNvPr id="1028" name="Tijdelijke aanduiding voor tekst 2"/>
          <p:cNvSpPr>
            <a:spLocks noGrp="1"/>
          </p:cNvSpPr>
          <p:nvPr>
            <p:ph type="body" idx="1"/>
          </p:nvPr>
        </p:nvSpPr>
        <p:spPr bwMode="auto">
          <a:xfrm>
            <a:off x="810816" y="1439863"/>
            <a:ext cx="8910043" cy="5040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nl-NL" altLang="nl-NL" smtClean="0"/>
              <a:t>Klik om de modelstijlen te bewerken</a:t>
            </a:r>
          </a:p>
          <a:p>
            <a:pPr lvl="1"/>
            <a:r>
              <a:rPr lang="nl-NL" altLang="nl-NL" smtClean="0"/>
              <a:t>Tweede niveau</a:t>
            </a:r>
          </a:p>
          <a:p>
            <a:pPr lvl="2"/>
            <a:r>
              <a:rPr lang="nl-NL" altLang="nl-NL" smtClean="0"/>
              <a:t>Derde niveau</a:t>
            </a:r>
          </a:p>
          <a:p>
            <a:pPr lvl="3"/>
            <a:r>
              <a:rPr lang="nl-NL" altLang="nl-NL" smtClean="0"/>
              <a:t>Vierde niveau</a:t>
            </a:r>
          </a:p>
          <a:p>
            <a:pPr lvl="4"/>
            <a:r>
              <a:rPr lang="nl-NL" altLang="nl-NL" smtClean="0"/>
              <a:t>Vijfde niveau</a:t>
            </a:r>
          </a:p>
        </p:txBody>
      </p:sp>
      <p:sp>
        <p:nvSpPr>
          <p:cNvPr id="5" name="Tijdelijke aanduiding voor voettekst 4"/>
          <p:cNvSpPr>
            <a:spLocks noGrp="1"/>
          </p:cNvSpPr>
          <p:nvPr>
            <p:ph type="ftr" sz="quarter" idx="3"/>
          </p:nvPr>
        </p:nvSpPr>
        <p:spPr>
          <a:xfrm>
            <a:off x="1468040" y="6702426"/>
            <a:ext cx="1459112" cy="161925"/>
          </a:xfrm>
          <a:prstGeom prst="rect">
            <a:avLst/>
          </a:prstGeom>
        </p:spPr>
        <p:txBody>
          <a:bodyPr vert="horz" lIns="91440" tIns="45720" rIns="91440" bIns="45720" rtlCol="0" anchor="ctr"/>
          <a:lstStyle>
            <a:lvl1pPr algn="l" fontAlgn="auto">
              <a:spcBef>
                <a:spcPts val="0"/>
              </a:spcBef>
              <a:spcAft>
                <a:spcPts val="0"/>
              </a:spcAft>
              <a:defRPr sz="1000">
                <a:solidFill>
                  <a:schemeClr val="tx1"/>
                </a:solidFill>
                <a:latin typeface="+mn-lt"/>
                <a:cs typeface="+mn-cs"/>
              </a:defRPr>
            </a:lvl1pPr>
          </a:lstStyle>
          <a:p>
            <a:pPr>
              <a:defRPr/>
            </a:pPr>
            <a:endParaRPr lang="nl-NL"/>
          </a:p>
        </p:txBody>
      </p:sp>
      <p:sp>
        <p:nvSpPr>
          <p:cNvPr id="1032" name="Rectangle 9"/>
          <p:cNvSpPr>
            <a:spLocks noChangeArrowheads="1"/>
          </p:cNvSpPr>
          <p:nvPr/>
        </p:nvSpPr>
        <p:spPr bwMode="auto">
          <a:xfrm>
            <a:off x="9636919" y="6702425"/>
            <a:ext cx="66079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defRPr/>
            </a:pPr>
            <a:fld id="{F54DCEA5-4EED-44DB-ABD1-6419BA1F110A}" type="slidenum">
              <a:rPr lang="nl-NL" altLang="nl-NL" sz="1000" smtClean="0"/>
              <a:pPr algn="ctr" eaLnBrk="1" hangingPunct="1">
                <a:defRPr/>
              </a:pPr>
              <a:t>‹#›</a:t>
            </a:fld>
            <a:endParaRPr lang="nl-NL" altLang="nl-NL" sz="1000" smtClean="0"/>
          </a:p>
        </p:txBody>
      </p:sp>
      <p:sp>
        <p:nvSpPr>
          <p:cNvPr id="1036" name="Text Box 20"/>
          <p:cNvSpPr txBox="1">
            <a:spLocks noChangeArrowheads="1"/>
          </p:cNvSpPr>
          <p:nvPr/>
        </p:nvSpPr>
        <p:spPr bwMode="auto">
          <a:xfrm>
            <a:off x="10716" y="6677026"/>
            <a:ext cx="14573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tIns="0" bIns="0" anchor="b"/>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spcBef>
                <a:spcPct val="20000"/>
              </a:spcBef>
              <a:buClr>
                <a:srgbClr val="0000FF"/>
              </a:buClr>
              <a:buSzPct val="125000"/>
              <a:defRPr/>
            </a:pPr>
            <a:r>
              <a:rPr lang="en-US" sz="1000" dirty="0" smtClean="0"/>
              <a:t>© LSSH 2014</a:t>
            </a:r>
          </a:p>
        </p:txBody>
      </p:sp>
      <p:cxnSp>
        <p:nvCxnSpPr>
          <p:cNvPr id="11" name="Rechte verbindingslijn 10"/>
          <p:cNvCxnSpPr/>
          <p:nvPr/>
        </p:nvCxnSpPr>
        <p:spPr>
          <a:xfrm>
            <a:off x="0" y="1052514"/>
            <a:ext cx="10287000" cy="1587"/>
          </a:xfrm>
          <a:prstGeom prst="line">
            <a:avLst/>
          </a:prstGeom>
          <a:ln>
            <a:solidFill>
              <a:srgbClr val="C41721"/>
            </a:solidFill>
          </a:ln>
        </p:spPr>
        <p:style>
          <a:lnRef idx="1">
            <a:schemeClr val="accent1"/>
          </a:lnRef>
          <a:fillRef idx="0">
            <a:schemeClr val="accent1"/>
          </a:fillRef>
          <a:effectRef idx="0">
            <a:schemeClr val="accent1"/>
          </a:effectRef>
          <a:fontRef idx="minor">
            <a:schemeClr val="tx1"/>
          </a:fontRef>
        </p:style>
      </p:cxnSp>
      <p:pic>
        <p:nvPicPr>
          <p:cNvPr id="1033" name="Afbeelding 6"/>
          <p:cNvPicPr>
            <a:picLocks noChangeAspect="1"/>
          </p:cNvPicPr>
          <p:nvPr/>
        </p:nvPicPr>
        <p:blipFill>
          <a:blip r:embed="rId10" cstate="print"/>
          <a:srcRect/>
          <a:stretch>
            <a:fillRect/>
          </a:stretch>
        </p:blipFill>
        <p:spPr bwMode="auto">
          <a:xfrm>
            <a:off x="8017074" y="220663"/>
            <a:ext cx="1905595" cy="6477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07" r:id="rId1"/>
    <p:sldLayoutId id="2147483701" r:id="rId2"/>
    <p:sldLayoutId id="2147483702" r:id="rId3"/>
    <p:sldLayoutId id="2147483703" r:id="rId4"/>
    <p:sldLayoutId id="2147483704" r:id="rId5"/>
    <p:sldLayoutId id="2147483705" r:id="rId6"/>
    <p:sldLayoutId id="2147483706" r:id="rId7"/>
    <p:sldLayoutId id="2147483708" r:id="rId8"/>
  </p:sldLayoutIdLst>
  <p:timing>
    <p:tnLst>
      <p:par>
        <p:cTn id="1" dur="indefinite" restart="never" nodeType="tmRoot"/>
      </p:par>
    </p:tnLst>
  </p:timing>
  <p:hf sldNum="0" hdr="0" dt="0"/>
  <p:txStyles>
    <p:titleStyle>
      <a:lvl1pPr algn="ctr" rtl="0" eaLnBrk="0" fontAlgn="base" hangingPunct="0">
        <a:spcBef>
          <a:spcPct val="0"/>
        </a:spcBef>
        <a:spcAft>
          <a:spcPct val="0"/>
        </a:spcAft>
        <a:defRPr lang="nl-NL" sz="28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2800" b="1">
          <a:solidFill>
            <a:schemeClr val="tx1"/>
          </a:solidFill>
          <a:latin typeface="Arial" charset="0"/>
          <a:cs typeface="Arial" charset="0"/>
        </a:defRPr>
      </a:lvl2pPr>
      <a:lvl3pPr algn="ctr" rtl="0" eaLnBrk="0" fontAlgn="base" hangingPunct="0">
        <a:spcBef>
          <a:spcPct val="0"/>
        </a:spcBef>
        <a:spcAft>
          <a:spcPct val="0"/>
        </a:spcAft>
        <a:defRPr sz="2800" b="1">
          <a:solidFill>
            <a:schemeClr val="tx1"/>
          </a:solidFill>
          <a:latin typeface="Arial" charset="0"/>
          <a:cs typeface="Arial" charset="0"/>
        </a:defRPr>
      </a:lvl3pPr>
      <a:lvl4pPr algn="ctr" rtl="0" eaLnBrk="0" fontAlgn="base" hangingPunct="0">
        <a:spcBef>
          <a:spcPct val="0"/>
        </a:spcBef>
        <a:spcAft>
          <a:spcPct val="0"/>
        </a:spcAft>
        <a:defRPr sz="2800" b="1">
          <a:solidFill>
            <a:schemeClr val="tx1"/>
          </a:solidFill>
          <a:latin typeface="Arial" charset="0"/>
          <a:cs typeface="Arial" charset="0"/>
        </a:defRPr>
      </a:lvl4pPr>
      <a:lvl5pPr algn="ctr" rtl="0" eaLnBrk="0" fontAlgn="base" hangingPunct="0">
        <a:spcBef>
          <a:spcPct val="0"/>
        </a:spcBef>
        <a:spcAft>
          <a:spcPct val="0"/>
        </a:spcAft>
        <a:defRPr sz="2800" b="1">
          <a:solidFill>
            <a:schemeClr val="tx1"/>
          </a:solidFill>
          <a:latin typeface="Arial" charset="0"/>
          <a:cs typeface="Arial" charset="0"/>
        </a:defRPr>
      </a:lvl5pPr>
      <a:lvl6pPr marL="457200" algn="ctr" rtl="0" eaLnBrk="1" fontAlgn="base" hangingPunct="1">
        <a:spcBef>
          <a:spcPct val="0"/>
        </a:spcBef>
        <a:spcAft>
          <a:spcPct val="0"/>
        </a:spcAft>
        <a:defRPr sz="2800" b="1">
          <a:solidFill>
            <a:srgbClr val="FEF6D6"/>
          </a:solidFill>
          <a:latin typeface="Arial" charset="0"/>
          <a:cs typeface="Arial" charset="0"/>
        </a:defRPr>
      </a:lvl6pPr>
      <a:lvl7pPr marL="914400" algn="ctr" rtl="0" eaLnBrk="1" fontAlgn="base" hangingPunct="1">
        <a:spcBef>
          <a:spcPct val="0"/>
        </a:spcBef>
        <a:spcAft>
          <a:spcPct val="0"/>
        </a:spcAft>
        <a:defRPr sz="2800" b="1">
          <a:solidFill>
            <a:srgbClr val="FEF6D6"/>
          </a:solidFill>
          <a:latin typeface="Arial" charset="0"/>
          <a:cs typeface="Arial" charset="0"/>
        </a:defRPr>
      </a:lvl7pPr>
      <a:lvl8pPr marL="1371600" algn="ctr" rtl="0" eaLnBrk="1" fontAlgn="base" hangingPunct="1">
        <a:spcBef>
          <a:spcPct val="0"/>
        </a:spcBef>
        <a:spcAft>
          <a:spcPct val="0"/>
        </a:spcAft>
        <a:defRPr sz="2800" b="1">
          <a:solidFill>
            <a:srgbClr val="FEF6D6"/>
          </a:solidFill>
          <a:latin typeface="Arial" charset="0"/>
          <a:cs typeface="Arial" charset="0"/>
        </a:defRPr>
      </a:lvl8pPr>
      <a:lvl9pPr marL="1828800" algn="ctr" rtl="0" eaLnBrk="1" fontAlgn="base" hangingPunct="1">
        <a:spcBef>
          <a:spcPct val="0"/>
        </a:spcBef>
        <a:spcAft>
          <a:spcPct val="0"/>
        </a:spcAft>
        <a:defRPr sz="2800" b="1">
          <a:solidFill>
            <a:srgbClr val="FEF6D6"/>
          </a:solidFill>
          <a:latin typeface="Arial" charset="0"/>
          <a:cs typeface="Arial" charset="0"/>
        </a:defRPr>
      </a:lvl9pPr>
    </p:titleStyle>
    <p:bodyStyle>
      <a:lvl1pPr algn="l" rtl="0" eaLnBrk="0" fontAlgn="base" hangingPunct="0">
        <a:spcBef>
          <a:spcPct val="20000"/>
        </a:spcBef>
        <a:spcAft>
          <a:spcPct val="0"/>
        </a:spcAft>
        <a:buClr>
          <a:srgbClr val="C41721"/>
        </a:buClr>
        <a:buSzPct val="100000"/>
        <a:buFont typeface="Arial" charset="0"/>
        <a:defRPr sz="2400" b="1" kern="1200">
          <a:solidFill>
            <a:schemeClr val="tx1"/>
          </a:solidFill>
          <a:latin typeface="Arial" pitchFamily="34" charset="0"/>
          <a:ea typeface="+mn-ea"/>
          <a:cs typeface="Arial" pitchFamily="34" charset="0"/>
        </a:defRPr>
      </a:lvl1pPr>
      <a:lvl2pPr marL="447675" indent="-266700" algn="l" rtl="0" eaLnBrk="0" fontAlgn="base" hangingPunct="0">
        <a:spcBef>
          <a:spcPct val="20000"/>
        </a:spcBef>
        <a:spcAft>
          <a:spcPct val="0"/>
        </a:spcAft>
        <a:buClr>
          <a:srgbClr val="C41721"/>
        </a:buClr>
        <a:buSzPct val="100000"/>
        <a:buFont typeface="Arial" charset="0"/>
        <a:buChar char="•"/>
        <a:defRPr sz="1600" b="1" kern="1200">
          <a:solidFill>
            <a:schemeClr val="tx1"/>
          </a:solidFill>
          <a:latin typeface="Arial" pitchFamily="34" charset="0"/>
          <a:ea typeface="+mn-ea"/>
          <a:cs typeface="Arial" pitchFamily="34" charset="0"/>
        </a:defRPr>
      </a:lvl2pPr>
      <a:lvl3pPr marL="985838" indent="-266700" algn="l" rtl="0" eaLnBrk="0" fontAlgn="base" hangingPunct="0">
        <a:spcBef>
          <a:spcPct val="20000"/>
        </a:spcBef>
        <a:spcAft>
          <a:spcPct val="0"/>
        </a:spcAft>
        <a:buClr>
          <a:srgbClr val="C41721"/>
        </a:buClr>
        <a:buSzPct val="100000"/>
        <a:buFont typeface="Arial" charset="0"/>
        <a:buChar char="•"/>
        <a:defRPr sz="1600" kern="1200">
          <a:solidFill>
            <a:schemeClr val="tx1"/>
          </a:solidFill>
          <a:latin typeface="Arial" pitchFamily="34" charset="0"/>
          <a:ea typeface="+mn-ea"/>
          <a:cs typeface="Arial" pitchFamily="34" charset="0"/>
        </a:defRPr>
      </a:lvl3pPr>
      <a:lvl4pPr marL="1524000" indent="-266700" algn="l" rtl="0" eaLnBrk="0" fontAlgn="base" hangingPunct="0">
        <a:spcBef>
          <a:spcPct val="20000"/>
        </a:spcBef>
        <a:spcAft>
          <a:spcPct val="0"/>
        </a:spcAft>
        <a:buClr>
          <a:srgbClr val="C41721"/>
        </a:buClr>
        <a:buSzPct val="100000"/>
        <a:buFont typeface="Arial" charset="0"/>
        <a:buChar char="•"/>
        <a:defRPr sz="1400" kern="1200">
          <a:solidFill>
            <a:schemeClr val="tx1"/>
          </a:solidFill>
          <a:latin typeface="Arial" pitchFamily="34" charset="0"/>
          <a:ea typeface="+mn-ea"/>
          <a:cs typeface="Arial" pitchFamily="34" charset="0"/>
        </a:defRPr>
      </a:lvl4pPr>
      <a:lvl5pPr marL="2062163" indent="-266700" algn="l" rtl="0" eaLnBrk="0" fontAlgn="base" hangingPunct="0">
        <a:spcBef>
          <a:spcPct val="20000"/>
        </a:spcBef>
        <a:spcAft>
          <a:spcPct val="0"/>
        </a:spcAft>
        <a:buClr>
          <a:srgbClr val="C41721"/>
        </a:buClr>
        <a:buSzPct val="100000"/>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6"/>
          <p:cNvSpPr>
            <a:spLocks noGrp="1"/>
          </p:cNvSpPr>
          <p:nvPr>
            <p:ph type="ctrTitle"/>
          </p:nvPr>
        </p:nvSpPr>
        <p:spPr/>
        <p:txBody>
          <a:bodyPr/>
          <a:lstStyle/>
          <a:p>
            <a:r>
              <a:rPr lang="en-US" smtClean="0"/>
              <a:t>Root Cause Analysis</a:t>
            </a:r>
            <a:br>
              <a:rPr lang="en-US" smtClean="0"/>
            </a:br>
            <a:r>
              <a:rPr lang="en-US" smtClean="0"/>
              <a:t/>
            </a:r>
            <a:br>
              <a:rPr lang="en-US" smtClean="0"/>
            </a:br>
            <a:endParaRPr lang="nl-NL" dirty="0" smtClean="0"/>
          </a:p>
        </p:txBody>
      </p:sp>
      <p:sp>
        <p:nvSpPr>
          <p:cNvPr id="4" name="Tijdelijke aanduiding voor tekst 3"/>
          <p:cNvSpPr>
            <a:spLocks noGrp="1"/>
          </p:cNvSpPr>
          <p:nvPr>
            <p:ph type="subTitle" idx="1"/>
          </p:nvPr>
        </p:nvSpPr>
        <p:spPr/>
        <p:txBody>
          <a:bodyPr/>
          <a:lstStyle/>
          <a:p>
            <a:r>
              <a:rPr lang="en-US" smtClean="0"/>
              <a:t>The element ‘Analytical Methods’ describes the tools that can be used for risk analysis, root cause analysis and waste identification.</a:t>
            </a:r>
            <a:endParaRPr lang="en-US" dirty="0"/>
          </a:p>
        </p:txBody>
      </p:sp>
      <p:sp>
        <p:nvSpPr>
          <p:cNvPr id="3" name="Tijdelijke aanduiding voor tekst 2"/>
          <p:cNvSpPr>
            <a:spLocks noGrp="1"/>
          </p:cNvSpPr>
          <p:nvPr>
            <p:ph type="body" sz="quarter" idx="13"/>
          </p:nvPr>
        </p:nvSpPr>
        <p:spPr/>
        <p:txBody>
          <a:bodyPr/>
          <a:lstStyle/>
          <a:p>
            <a:r>
              <a:rPr lang="nl-NL" smtClean="0"/>
              <a:t>Yellow Belt</a:t>
            </a:r>
            <a:endParaRPr lang="nl-NL" dirty="0"/>
          </a:p>
        </p:txBody>
      </p:sp>
      <p:sp>
        <p:nvSpPr>
          <p:cNvPr id="2" name="Tijdelijke aanduiding voor inhoud 1"/>
          <p:cNvSpPr>
            <a:spLocks noGrp="1"/>
          </p:cNvSpPr>
          <p:nvPr>
            <p:ph sz="quarter" idx="17"/>
          </p:nvPr>
        </p:nvSpPr>
        <p:spPr/>
        <p:txBody>
          <a:bodyPr/>
          <a:lstStyle/>
          <a:p>
            <a:r>
              <a:rPr lang="nl-NL" smtClean="0"/>
              <a:t>U5 – Analyse</a:t>
            </a:r>
          </a:p>
          <a:p>
            <a:r>
              <a:rPr lang="nl-NL" smtClean="0"/>
              <a:t>E3 – Analytical Methods</a:t>
            </a:r>
            <a:endParaRPr lang="nl-NL"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noProof="0" smtClean="0"/>
              <a:t>Root Cause Analysis</a:t>
            </a:r>
            <a:endParaRPr lang="en-GB" noProof="0" dirty="0"/>
          </a:p>
        </p:txBody>
      </p:sp>
      <p:sp>
        <p:nvSpPr>
          <p:cNvPr id="3" name="Tijdelijke aanduiding voor inhoud 2"/>
          <p:cNvSpPr>
            <a:spLocks noGrp="1"/>
          </p:cNvSpPr>
          <p:nvPr>
            <p:ph idx="1"/>
          </p:nvPr>
        </p:nvSpPr>
        <p:spPr/>
        <p:txBody>
          <a:bodyPr/>
          <a:lstStyle/>
          <a:p>
            <a:r>
              <a:rPr lang="en-GB" noProof="0" dirty="0" smtClean="0"/>
              <a:t>Problem Solving</a:t>
            </a:r>
          </a:p>
          <a:p>
            <a:pPr lvl="1"/>
            <a:endParaRPr lang="en-GB" noProof="0" dirty="0" smtClean="0"/>
          </a:p>
          <a:p>
            <a:pPr lvl="1"/>
            <a:endParaRPr lang="en-GB" noProof="0" dirty="0" smtClean="0"/>
          </a:p>
          <a:p>
            <a:pPr lvl="1"/>
            <a:endParaRPr lang="en-GB" noProof="0" dirty="0" smtClean="0"/>
          </a:p>
          <a:p>
            <a:pPr lvl="1"/>
            <a:endParaRPr lang="en-GB" noProof="0" dirty="0" smtClean="0"/>
          </a:p>
          <a:p>
            <a:pPr lvl="1"/>
            <a:endParaRPr lang="en-GB" noProof="0" dirty="0" smtClean="0"/>
          </a:p>
          <a:p>
            <a:pPr marL="180975" lvl="1" indent="0">
              <a:buNone/>
            </a:pPr>
            <a:r>
              <a:rPr lang="en-GB" noProof="0" dirty="0" smtClean="0"/>
              <a:t>	Symptom   </a:t>
            </a:r>
            <a:r>
              <a:rPr lang="en-GB" noProof="0" dirty="0" smtClean="0">
                <a:sym typeface="Wingdings"/>
              </a:rPr>
              <a:t> </a:t>
            </a:r>
            <a:r>
              <a:rPr lang="en-GB" noProof="0" dirty="0" smtClean="0">
                <a:sym typeface="Wingdings" pitchFamily="2" charset="2"/>
              </a:rPr>
              <a:t>  Problem  </a:t>
            </a:r>
            <a:r>
              <a:rPr lang="en-GB" noProof="0" dirty="0" smtClean="0"/>
              <a:t> </a:t>
            </a:r>
            <a:r>
              <a:rPr lang="en-GB" noProof="0" dirty="0" smtClean="0">
                <a:sym typeface="Wingdings"/>
              </a:rPr>
              <a:t>   </a:t>
            </a:r>
            <a:r>
              <a:rPr lang="en-GB" noProof="0" dirty="0" smtClean="0"/>
              <a:t>Root Cause   </a:t>
            </a:r>
            <a:r>
              <a:rPr lang="en-GB" noProof="0" dirty="0" smtClean="0">
                <a:sym typeface="Wingdings"/>
              </a:rPr>
              <a:t> </a:t>
            </a:r>
            <a:r>
              <a:rPr lang="en-GB" noProof="0" dirty="0" smtClean="0">
                <a:sym typeface="Wingdings" pitchFamily="2" charset="2"/>
              </a:rPr>
              <a:t>  Solution</a:t>
            </a:r>
          </a:p>
          <a:p>
            <a:pPr lvl="1"/>
            <a:endParaRPr lang="en-GB" noProof="0" dirty="0" smtClean="0"/>
          </a:p>
          <a:p>
            <a:pPr lvl="1"/>
            <a:endParaRPr lang="en-GB" noProof="0" dirty="0" smtClean="0"/>
          </a:p>
          <a:p>
            <a:pPr indent="-255588"/>
            <a:r>
              <a:rPr lang="en-GB" sz="1800" noProof="0" dirty="0" smtClean="0"/>
              <a:t>Symptom</a:t>
            </a:r>
          </a:p>
          <a:p>
            <a:pPr lvl="1">
              <a:buClrTx/>
            </a:pPr>
            <a:r>
              <a:rPr lang="en-GB" noProof="0" dirty="0" smtClean="0"/>
              <a:t>A symptom is a characteristic or complaint belonging to a specific problem</a:t>
            </a:r>
          </a:p>
          <a:p>
            <a:pPr lvl="1">
              <a:buClrTx/>
            </a:pPr>
            <a:endParaRPr lang="en-GB" noProof="0" dirty="0" smtClean="0"/>
          </a:p>
          <a:p>
            <a:pPr indent="-255588"/>
            <a:r>
              <a:rPr lang="en-GB" sz="1800" noProof="0" dirty="0" smtClean="0"/>
              <a:t>Problem</a:t>
            </a:r>
          </a:p>
          <a:p>
            <a:pPr lvl="1">
              <a:buClrTx/>
            </a:pPr>
            <a:r>
              <a:rPr lang="en-GB" noProof="0" dirty="0" smtClean="0"/>
              <a:t>A deviation of expectation; an unexpected effect with unknown causes</a:t>
            </a:r>
          </a:p>
          <a:p>
            <a:endParaRPr lang="en-GB" noProof="0" dirty="0"/>
          </a:p>
        </p:txBody>
      </p:sp>
      <p:sp>
        <p:nvSpPr>
          <p:cNvPr id="4" name="AutoShape 4"/>
          <p:cNvSpPr>
            <a:spLocks noChangeArrowheads="1"/>
          </p:cNvSpPr>
          <p:nvPr/>
        </p:nvSpPr>
        <p:spPr bwMode="auto">
          <a:xfrm>
            <a:off x="3295055" y="2324100"/>
            <a:ext cx="3777257" cy="762000"/>
          </a:xfrm>
          <a:prstGeom prst="leftRightArrow">
            <a:avLst>
              <a:gd name="adj1" fmla="val 50000"/>
              <a:gd name="adj2" fmla="val 72010"/>
            </a:avLst>
          </a:prstGeom>
          <a:solidFill>
            <a:schemeClr val="accent3"/>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en-GB" dirty="0"/>
          </a:p>
        </p:txBody>
      </p:sp>
      <p:sp>
        <p:nvSpPr>
          <p:cNvPr id="5" name="Text Box 5"/>
          <p:cNvSpPr txBox="1">
            <a:spLocks noChangeArrowheads="1"/>
          </p:cNvSpPr>
          <p:nvPr/>
        </p:nvSpPr>
        <p:spPr bwMode="auto">
          <a:xfrm>
            <a:off x="1797363" y="2287589"/>
            <a:ext cx="123623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b="1" dirty="0" smtClean="0"/>
              <a:t>Symptom</a:t>
            </a:r>
          </a:p>
          <a:p>
            <a:pPr algn="ctr" eaLnBrk="1" hangingPunct="1"/>
            <a:r>
              <a:rPr lang="en-GB" b="1" dirty="0" smtClean="0"/>
              <a:t>fighting</a:t>
            </a:r>
            <a:endParaRPr lang="en-GB" b="1" dirty="0"/>
          </a:p>
        </p:txBody>
      </p:sp>
      <p:sp>
        <p:nvSpPr>
          <p:cNvPr id="6" name="Text Box 6"/>
          <p:cNvSpPr txBox="1">
            <a:spLocks noChangeArrowheads="1"/>
          </p:cNvSpPr>
          <p:nvPr/>
        </p:nvSpPr>
        <p:spPr bwMode="auto">
          <a:xfrm>
            <a:off x="7366634" y="2276476"/>
            <a:ext cx="110799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b="1" dirty="0" smtClean="0"/>
              <a:t>Problem</a:t>
            </a:r>
          </a:p>
          <a:p>
            <a:pPr algn="ctr" eaLnBrk="1" hangingPunct="1"/>
            <a:r>
              <a:rPr lang="en-GB" b="1" dirty="0"/>
              <a:t>s</a:t>
            </a:r>
            <a:r>
              <a:rPr lang="en-GB" b="1" dirty="0" smtClean="0"/>
              <a:t>olving</a:t>
            </a:r>
            <a:endParaRPr lang="en-GB" b="1" dirty="0"/>
          </a:p>
        </p:txBody>
      </p:sp>
      <p:sp>
        <p:nvSpPr>
          <p:cNvPr id="7" name="Text Box 7"/>
          <p:cNvSpPr txBox="1">
            <a:spLocks noChangeArrowheads="1"/>
          </p:cNvSpPr>
          <p:nvPr/>
        </p:nvSpPr>
        <p:spPr bwMode="auto">
          <a:xfrm>
            <a:off x="3231016" y="2526030"/>
            <a:ext cx="393799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dirty="0" smtClean="0">
                <a:solidFill>
                  <a:schemeClr val="bg1"/>
                </a:solidFill>
              </a:rPr>
              <a:t>What are we going to do?</a:t>
            </a:r>
            <a:endParaRPr lang="en-GB" dirty="0">
              <a:solidFill>
                <a:schemeClr val="bg1"/>
              </a:solidFill>
            </a:endParaRPr>
          </a:p>
        </p:txBody>
      </p:sp>
    </p:spTree>
    <p:extLst>
      <p:ext uri="{BB962C8B-B14F-4D97-AF65-F5344CB8AC3E}">
        <p14:creationId xmlns:p14="http://schemas.microsoft.com/office/powerpoint/2010/main" val="23822088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en-GB" dirty="0"/>
              <a:t>Root Cause Analysis</a:t>
            </a:r>
            <a:endParaRPr lang="nl-NL" dirty="0"/>
          </a:p>
        </p:txBody>
      </p:sp>
      <p:sp>
        <p:nvSpPr>
          <p:cNvPr id="7" name="Tijdelijke aanduiding voor inhoud 6"/>
          <p:cNvSpPr>
            <a:spLocks noGrp="1"/>
          </p:cNvSpPr>
          <p:nvPr>
            <p:ph sz="half" idx="2"/>
          </p:nvPr>
        </p:nvSpPr>
        <p:spPr/>
        <p:txBody>
          <a:bodyPr/>
          <a:lstStyle/>
          <a:p>
            <a:pPr marL="180975" lvl="1" indent="0">
              <a:buNone/>
            </a:pPr>
            <a:r>
              <a:rPr lang="en-GB" dirty="0"/>
              <a:t>Nurse gives wrong dosage	</a:t>
            </a:r>
          </a:p>
          <a:p>
            <a:pPr lvl="1"/>
            <a:endParaRPr lang="en-GB" dirty="0"/>
          </a:p>
          <a:p>
            <a:pPr marL="180975" lvl="1" indent="0">
              <a:buNone/>
            </a:pPr>
            <a:endParaRPr lang="en-GB" dirty="0"/>
          </a:p>
          <a:p>
            <a:pPr marL="180975" lvl="1" indent="0">
              <a:buNone/>
            </a:pPr>
            <a:endParaRPr lang="en-GB" dirty="0"/>
          </a:p>
          <a:p>
            <a:pPr marL="180975" lvl="1" indent="0">
              <a:buNone/>
            </a:pPr>
            <a:endParaRPr lang="en-GB" dirty="0"/>
          </a:p>
          <a:p>
            <a:pPr marL="180975" lvl="1" indent="0">
              <a:buNone/>
            </a:pPr>
            <a:r>
              <a:rPr lang="en-GB" dirty="0" smtClean="0"/>
              <a:t>Bloods </a:t>
            </a:r>
            <a:r>
              <a:rPr lang="en-GB" dirty="0"/>
              <a:t>tests lost		</a:t>
            </a:r>
          </a:p>
          <a:p>
            <a:pPr marL="180975" lvl="1" indent="0">
              <a:buNone/>
            </a:pPr>
            <a:endParaRPr lang="en-GB" dirty="0"/>
          </a:p>
          <a:p>
            <a:pPr lvl="1"/>
            <a:endParaRPr lang="en-GB" dirty="0"/>
          </a:p>
          <a:p>
            <a:pPr marL="180975" lvl="1" indent="0">
              <a:buNone/>
            </a:pPr>
            <a:endParaRPr lang="en-GB" dirty="0" smtClean="0"/>
          </a:p>
          <a:p>
            <a:pPr marL="180975" lvl="1" indent="0">
              <a:buNone/>
            </a:pPr>
            <a:endParaRPr lang="en-GB" dirty="0"/>
          </a:p>
          <a:p>
            <a:pPr marL="180975" lvl="1" indent="0">
              <a:buNone/>
            </a:pPr>
            <a:r>
              <a:rPr lang="en-GB" dirty="0"/>
              <a:t>Patient late for scan</a:t>
            </a:r>
            <a:endParaRPr lang="nl-NL" dirty="0"/>
          </a:p>
        </p:txBody>
      </p:sp>
      <p:sp>
        <p:nvSpPr>
          <p:cNvPr id="9" name="Tijdelijke aanduiding voor inhoud 8"/>
          <p:cNvSpPr>
            <a:spLocks noGrp="1"/>
          </p:cNvSpPr>
          <p:nvPr>
            <p:ph sz="quarter" idx="4"/>
          </p:nvPr>
        </p:nvSpPr>
        <p:spPr/>
        <p:txBody>
          <a:bodyPr/>
          <a:lstStyle/>
          <a:p>
            <a:pPr marL="180975" lvl="1" indent="0">
              <a:buNone/>
            </a:pPr>
            <a:r>
              <a:rPr lang="en-GB" dirty="0"/>
              <a:t>Doctors writing is illegible </a:t>
            </a:r>
          </a:p>
          <a:p>
            <a:pPr lvl="1"/>
            <a:endParaRPr lang="en-GB" dirty="0"/>
          </a:p>
          <a:p>
            <a:pPr marL="180975" lvl="1" indent="0">
              <a:buNone/>
            </a:pPr>
            <a:endParaRPr lang="en-GB" dirty="0"/>
          </a:p>
          <a:p>
            <a:pPr marL="180975" lvl="1" indent="0">
              <a:buNone/>
            </a:pPr>
            <a:endParaRPr lang="en-GB" dirty="0"/>
          </a:p>
          <a:p>
            <a:pPr marL="180975" lvl="1" indent="0">
              <a:buNone/>
            </a:pPr>
            <a:endParaRPr lang="en-GB" dirty="0"/>
          </a:p>
          <a:p>
            <a:pPr marL="180975" lvl="1" indent="0">
              <a:buNone/>
            </a:pPr>
            <a:r>
              <a:rPr lang="en-GB" dirty="0" smtClean="0"/>
              <a:t>Laboratory </a:t>
            </a:r>
            <a:r>
              <a:rPr lang="en-GB" dirty="0"/>
              <a:t>has no storage system</a:t>
            </a:r>
          </a:p>
          <a:p>
            <a:pPr lvl="1"/>
            <a:endParaRPr lang="en-GB" dirty="0"/>
          </a:p>
          <a:p>
            <a:pPr marL="180975" lvl="1" indent="0">
              <a:buNone/>
            </a:pPr>
            <a:endParaRPr lang="en-GB" dirty="0"/>
          </a:p>
          <a:p>
            <a:pPr lvl="1"/>
            <a:endParaRPr lang="en-GB" dirty="0" smtClean="0"/>
          </a:p>
          <a:p>
            <a:pPr lvl="1"/>
            <a:endParaRPr lang="en-GB" dirty="0"/>
          </a:p>
          <a:p>
            <a:pPr marL="180975" lvl="1" indent="0">
              <a:buNone/>
            </a:pPr>
            <a:r>
              <a:rPr lang="en-GB" dirty="0" smtClean="0"/>
              <a:t>Wheel </a:t>
            </a:r>
            <a:r>
              <a:rPr lang="en-GB" dirty="0"/>
              <a:t>chair not in its </a:t>
            </a:r>
            <a:r>
              <a:rPr lang="en-GB" dirty="0" smtClean="0"/>
              <a:t>location</a:t>
            </a:r>
            <a:endParaRPr lang="en-GB" dirty="0"/>
          </a:p>
        </p:txBody>
      </p:sp>
      <p:sp>
        <p:nvSpPr>
          <p:cNvPr id="4" name="Tijdelijke aanduiding voor voettekst 3"/>
          <p:cNvSpPr>
            <a:spLocks noGrp="1"/>
          </p:cNvSpPr>
          <p:nvPr>
            <p:ph type="ftr" sz="quarter" idx="10"/>
          </p:nvPr>
        </p:nvSpPr>
        <p:spPr/>
        <p:txBody>
          <a:bodyPr/>
          <a:lstStyle/>
          <a:p>
            <a:pPr>
              <a:defRPr/>
            </a:pPr>
            <a:endParaRPr lang="nl-NL"/>
          </a:p>
        </p:txBody>
      </p:sp>
      <p:pic>
        <p:nvPicPr>
          <p:cNvPr id="11" name="Picture 2" descr="C:\Users\Olivia.Mcdermott\AppData\Local\Microsoft\Windows\Temporary Internet Files\Content.IE5\W4XQP305\11436667_m.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0023" y="2511491"/>
            <a:ext cx="1296144" cy="109344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3" descr="C:\Users\Olivia.Mcdermott\AppData\Local\Microsoft\Windows\Temporary Internet Files\Content.IE5\WJ9I3TRL\20859748_s.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48545" y="2521674"/>
            <a:ext cx="1607344" cy="105134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C:\Users\Olivia.Mcdermott\AppData\Local\Microsoft\Windows\Temporary Internet Files\Content.IE5\78JAPMP8\18095476_s.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50023" y="4017920"/>
            <a:ext cx="1863207" cy="99525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48545" y="4005064"/>
            <a:ext cx="1701189" cy="956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5" descr="C:\Users\Olivia.Mcdermott\AppData\Local\Microsoft\Windows\Temporary Internet Files\Content.IE5\Q9682OXX\17828389_s.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50024" y="5445348"/>
            <a:ext cx="1863207" cy="110412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C:\Users\Olivia.Mcdermott\AppData\Local\Microsoft\Windows\Temporary Internet Files\Content.IE5\W4XQP305\14403231_s.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548545" y="5445225"/>
            <a:ext cx="1766795" cy="1224013"/>
          </a:xfrm>
          <a:prstGeom prst="rect">
            <a:avLst/>
          </a:prstGeom>
          <a:noFill/>
          <a:extLst>
            <a:ext uri="{909E8E84-426E-40DD-AFC4-6F175D3DCCD1}">
              <a14:hiddenFill xmlns:a14="http://schemas.microsoft.com/office/drawing/2010/main">
                <a:solidFill>
                  <a:srgbClr val="FFFFFF"/>
                </a:solidFill>
              </a14:hiddenFill>
            </a:ext>
          </a:extLst>
        </p:spPr>
      </p:pic>
      <p:sp>
        <p:nvSpPr>
          <p:cNvPr id="17" name="Right Arrow 4"/>
          <p:cNvSpPr/>
          <p:nvPr/>
        </p:nvSpPr>
        <p:spPr>
          <a:xfrm>
            <a:off x="3566257" y="4267296"/>
            <a:ext cx="1654283"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8" name="Right Arrow 4"/>
          <p:cNvSpPr/>
          <p:nvPr/>
        </p:nvSpPr>
        <p:spPr>
          <a:xfrm>
            <a:off x="3566257" y="2842186"/>
            <a:ext cx="1654283"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9" name="Right Arrow 4"/>
          <p:cNvSpPr/>
          <p:nvPr/>
        </p:nvSpPr>
        <p:spPr>
          <a:xfrm>
            <a:off x="3566257" y="5781384"/>
            <a:ext cx="1654283"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3" name="Rectangle 3"/>
          <p:cNvSpPr txBox="1">
            <a:spLocks noChangeArrowheads="1"/>
          </p:cNvSpPr>
          <p:nvPr/>
        </p:nvSpPr>
        <p:spPr bwMode="auto">
          <a:xfrm>
            <a:off x="810816" y="1439864"/>
            <a:ext cx="8910043" cy="79436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Font typeface="Arial" charset="0"/>
              <a:buNone/>
              <a:defRPr sz="2400" b="1" kern="1200">
                <a:solidFill>
                  <a:schemeClr val="tx1"/>
                </a:solidFill>
                <a:latin typeface="Arial" pitchFamily="34" charset="0"/>
                <a:ea typeface="+mn-ea"/>
                <a:cs typeface="Arial" pitchFamily="34" charset="0"/>
              </a:defRPr>
            </a:lvl1pPr>
            <a:lvl2pPr marL="457200" indent="0" algn="l" rtl="0" eaLnBrk="0" fontAlgn="base" hangingPunct="0">
              <a:spcBef>
                <a:spcPct val="20000"/>
              </a:spcBef>
              <a:spcAft>
                <a:spcPct val="0"/>
              </a:spcAft>
              <a:buClr>
                <a:srgbClr val="C80F00"/>
              </a:buClr>
              <a:buSzPct val="120000"/>
              <a:buFont typeface="Arial" charset="0"/>
              <a:buNone/>
              <a:defRPr sz="2000" b="1" kern="1200">
                <a:solidFill>
                  <a:schemeClr val="tx1"/>
                </a:solidFill>
                <a:latin typeface="Arial" pitchFamily="34" charset="0"/>
                <a:ea typeface="+mn-ea"/>
                <a:cs typeface="Arial" pitchFamily="34" charset="0"/>
              </a:defRPr>
            </a:lvl2pPr>
            <a:lvl3pPr marL="914400" indent="0" algn="l" rtl="0" eaLnBrk="0" fontAlgn="base" hangingPunct="0">
              <a:spcBef>
                <a:spcPct val="20000"/>
              </a:spcBef>
              <a:spcAft>
                <a:spcPct val="0"/>
              </a:spcAft>
              <a:buClr>
                <a:srgbClr val="C80F00"/>
              </a:buClr>
              <a:buSzPct val="120000"/>
              <a:buFont typeface="Arial" charset="0"/>
              <a:buNone/>
              <a:defRPr sz="1800" b="1" kern="1200">
                <a:solidFill>
                  <a:schemeClr val="tx1"/>
                </a:solidFill>
                <a:latin typeface="Arial" pitchFamily="34" charset="0"/>
                <a:ea typeface="+mn-ea"/>
                <a:cs typeface="Arial" pitchFamily="34" charset="0"/>
              </a:defRPr>
            </a:lvl3pPr>
            <a:lvl4pPr marL="1371600" indent="0" algn="l" rtl="0" eaLnBrk="0" fontAlgn="base" hangingPunct="0">
              <a:spcBef>
                <a:spcPct val="20000"/>
              </a:spcBef>
              <a:spcAft>
                <a:spcPct val="0"/>
              </a:spcAft>
              <a:buClr>
                <a:srgbClr val="C80F00"/>
              </a:buClr>
              <a:buSzPct val="120000"/>
              <a:buFont typeface="Arial" charset="0"/>
              <a:buNone/>
              <a:defRPr sz="1600" b="1" kern="1200">
                <a:solidFill>
                  <a:schemeClr val="tx1"/>
                </a:solidFill>
                <a:latin typeface="Arial" pitchFamily="34" charset="0"/>
                <a:ea typeface="+mn-ea"/>
                <a:cs typeface="Arial" pitchFamily="34" charset="0"/>
              </a:defRPr>
            </a:lvl4pPr>
            <a:lvl5pPr marL="1828800" indent="0" algn="l" rtl="0" eaLnBrk="0" fontAlgn="base" hangingPunct="0">
              <a:spcBef>
                <a:spcPct val="20000"/>
              </a:spcBef>
              <a:spcAft>
                <a:spcPct val="0"/>
              </a:spcAft>
              <a:buClr>
                <a:srgbClr val="C80F00"/>
              </a:buClr>
              <a:buSzPct val="120000"/>
              <a:buFont typeface="Arial" charset="0"/>
              <a:buNone/>
              <a:defRPr sz="1600" b="1" kern="1200">
                <a:solidFill>
                  <a:schemeClr val="tx1"/>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9pPr>
          </a:lstStyle>
          <a:p>
            <a:r>
              <a:rPr lang="en-GB" dirty="0" err="1" smtClean="0"/>
              <a:t>Symptons</a:t>
            </a:r>
            <a:r>
              <a:rPr lang="en-GB" dirty="0" smtClean="0"/>
              <a:t> and causes</a:t>
            </a:r>
          </a:p>
        </p:txBody>
      </p:sp>
    </p:spTree>
    <p:extLst>
      <p:ext uri="{BB962C8B-B14F-4D97-AF65-F5344CB8AC3E}">
        <p14:creationId xmlns:p14="http://schemas.microsoft.com/office/powerpoint/2010/main" val="24765554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GB" dirty="0" smtClean="0"/>
              <a:t>Root Cause Analysis</a:t>
            </a:r>
          </a:p>
        </p:txBody>
      </p:sp>
      <p:sp>
        <p:nvSpPr>
          <p:cNvPr id="5123" name="Rectangle 3"/>
          <p:cNvSpPr>
            <a:spLocks noGrp="1" noChangeArrowheads="1"/>
          </p:cNvSpPr>
          <p:nvPr>
            <p:ph idx="1"/>
          </p:nvPr>
        </p:nvSpPr>
        <p:spPr>
          <a:xfrm>
            <a:off x="810816" y="1439864"/>
            <a:ext cx="8910043" cy="794361"/>
          </a:xfrm>
        </p:spPr>
        <p:txBody>
          <a:bodyPr/>
          <a:lstStyle/>
          <a:p>
            <a:r>
              <a:rPr lang="en-GB" dirty="0" smtClean="0"/>
              <a:t>8D Problem solving</a:t>
            </a:r>
          </a:p>
        </p:txBody>
      </p:sp>
      <p:grpSp>
        <p:nvGrpSpPr>
          <p:cNvPr id="2" name="Groep 3"/>
          <p:cNvGrpSpPr/>
          <p:nvPr/>
        </p:nvGrpSpPr>
        <p:grpSpPr>
          <a:xfrm>
            <a:off x="1093050" y="2204864"/>
            <a:ext cx="6156684" cy="4043536"/>
            <a:chOff x="107504" y="2204864"/>
            <a:chExt cx="5472608" cy="4043536"/>
          </a:xfrm>
        </p:grpSpPr>
        <p:sp>
          <p:nvSpPr>
            <p:cNvPr id="44" name="Text Box 24"/>
            <p:cNvSpPr txBox="1">
              <a:spLocks noChangeArrowheads="1"/>
            </p:cNvSpPr>
            <p:nvPr/>
          </p:nvSpPr>
          <p:spPr bwMode="auto">
            <a:xfrm>
              <a:off x="323528" y="2234224"/>
              <a:ext cx="649352" cy="369332"/>
            </a:xfrm>
            <a:prstGeom prst="rect">
              <a:avLst/>
            </a:prstGeom>
            <a:noFill/>
            <a:ln w="9525">
              <a:noFill/>
              <a:miter lim="800000"/>
              <a:headEnd/>
              <a:tailEnd/>
            </a:ln>
          </p:spPr>
          <p:txBody>
            <a:bodyPr wrap="none">
              <a:spAutoFit/>
            </a:bodyPr>
            <a:lstStyle/>
            <a:p>
              <a:r>
                <a:rPr lang="en-GB" dirty="0"/>
                <a:t>Today</a:t>
              </a:r>
            </a:p>
          </p:txBody>
        </p:sp>
        <p:sp>
          <p:nvSpPr>
            <p:cNvPr id="45" name="Text Box 25"/>
            <p:cNvSpPr txBox="1">
              <a:spLocks noChangeArrowheads="1"/>
            </p:cNvSpPr>
            <p:nvPr/>
          </p:nvSpPr>
          <p:spPr bwMode="auto">
            <a:xfrm>
              <a:off x="376298" y="3049587"/>
              <a:ext cx="636527" cy="646331"/>
            </a:xfrm>
            <a:prstGeom prst="rect">
              <a:avLst/>
            </a:prstGeom>
            <a:noFill/>
            <a:ln w="9525">
              <a:noFill/>
              <a:miter lim="800000"/>
              <a:headEnd/>
              <a:tailEnd/>
            </a:ln>
          </p:spPr>
          <p:txBody>
            <a:bodyPr wrap="none">
              <a:spAutoFit/>
            </a:bodyPr>
            <a:lstStyle/>
            <a:p>
              <a:r>
                <a:rPr lang="en-GB" dirty="0" smtClean="0"/>
                <a:t>48 </a:t>
              </a:r>
            </a:p>
            <a:p>
              <a:r>
                <a:rPr lang="en-GB" dirty="0" smtClean="0"/>
                <a:t>hours</a:t>
              </a:r>
              <a:endParaRPr lang="en-GB" dirty="0"/>
            </a:p>
          </p:txBody>
        </p:sp>
        <p:sp>
          <p:nvSpPr>
            <p:cNvPr id="46" name="Text Box 27"/>
            <p:cNvSpPr txBox="1">
              <a:spLocks noChangeArrowheads="1"/>
            </p:cNvSpPr>
            <p:nvPr/>
          </p:nvSpPr>
          <p:spPr bwMode="auto">
            <a:xfrm>
              <a:off x="323528" y="4679046"/>
              <a:ext cx="755478" cy="646331"/>
            </a:xfrm>
            <a:prstGeom prst="rect">
              <a:avLst/>
            </a:prstGeom>
            <a:noFill/>
            <a:ln w="9525">
              <a:noFill/>
              <a:miter lim="800000"/>
              <a:headEnd/>
              <a:tailEnd/>
            </a:ln>
          </p:spPr>
          <p:txBody>
            <a:bodyPr wrap="none">
              <a:spAutoFit/>
            </a:bodyPr>
            <a:lstStyle/>
            <a:p>
              <a:r>
                <a:rPr lang="en-GB" dirty="0" smtClean="0"/>
                <a:t>Couple</a:t>
              </a:r>
            </a:p>
            <a:p>
              <a:r>
                <a:rPr lang="en-GB" dirty="0" smtClean="0"/>
                <a:t>of </a:t>
              </a:r>
              <a:r>
                <a:rPr lang="en-GB" dirty="0"/>
                <a:t>days</a:t>
              </a:r>
            </a:p>
          </p:txBody>
        </p:sp>
        <p:sp>
          <p:nvSpPr>
            <p:cNvPr id="47" name="AutoShape 29"/>
            <p:cNvSpPr>
              <a:spLocks/>
            </p:cNvSpPr>
            <p:nvPr/>
          </p:nvSpPr>
          <p:spPr bwMode="auto">
            <a:xfrm>
              <a:off x="1047428" y="2815431"/>
              <a:ext cx="76200" cy="838200"/>
            </a:xfrm>
            <a:prstGeom prst="rightBrace">
              <a:avLst>
                <a:gd name="adj1" fmla="val 91667"/>
                <a:gd name="adj2" fmla="val 50000"/>
              </a:avLst>
            </a:prstGeom>
            <a:noFill/>
            <a:ln w="9525">
              <a:solidFill>
                <a:schemeClr val="tx1"/>
              </a:solidFill>
              <a:round/>
              <a:headEnd/>
              <a:tailEnd/>
            </a:ln>
          </p:spPr>
          <p:txBody>
            <a:bodyPr wrap="none" anchor="ctr"/>
            <a:lstStyle/>
            <a:p>
              <a:endParaRPr lang="en-GB" dirty="0"/>
            </a:p>
          </p:txBody>
        </p:sp>
        <p:sp>
          <p:nvSpPr>
            <p:cNvPr id="48" name="AutoShape 30"/>
            <p:cNvSpPr>
              <a:spLocks/>
            </p:cNvSpPr>
            <p:nvPr/>
          </p:nvSpPr>
          <p:spPr bwMode="auto">
            <a:xfrm>
              <a:off x="1085528" y="3836010"/>
              <a:ext cx="45719" cy="2412389"/>
            </a:xfrm>
            <a:prstGeom prst="rightBrace">
              <a:avLst>
                <a:gd name="adj1" fmla="val 91667"/>
                <a:gd name="adj2" fmla="val 50000"/>
              </a:avLst>
            </a:prstGeom>
            <a:noFill/>
            <a:ln w="9525">
              <a:solidFill>
                <a:schemeClr val="tx1"/>
              </a:solidFill>
              <a:round/>
              <a:headEnd/>
              <a:tailEnd/>
            </a:ln>
          </p:spPr>
          <p:txBody>
            <a:bodyPr wrap="none" anchor="ctr"/>
            <a:lstStyle/>
            <a:p>
              <a:endParaRPr lang="en-GB" dirty="0"/>
            </a:p>
          </p:txBody>
        </p:sp>
        <p:sp>
          <p:nvSpPr>
            <p:cNvPr id="26" name="Text Box 15"/>
            <p:cNvSpPr txBox="1">
              <a:spLocks noChangeArrowheads="1"/>
            </p:cNvSpPr>
            <p:nvPr/>
          </p:nvSpPr>
          <p:spPr bwMode="auto">
            <a:xfrm>
              <a:off x="1231900" y="2211388"/>
              <a:ext cx="4348212" cy="379412"/>
            </a:xfrm>
            <a:prstGeom prst="rect">
              <a:avLst/>
            </a:prstGeom>
            <a:gradFill rotWithShape="1">
              <a:gsLst>
                <a:gs pos="0">
                  <a:srgbClr val="003366"/>
                </a:gs>
                <a:gs pos="50000">
                  <a:srgbClr val="7272D0"/>
                </a:gs>
                <a:gs pos="100000">
                  <a:srgbClr val="003366"/>
                </a:gs>
              </a:gsLst>
              <a:lin ang="5400000" scaled="1"/>
            </a:gradFill>
            <a:ln w="38100" algn="ctr">
              <a:solidFill>
                <a:srgbClr val="C0C0C0"/>
              </a:solidFill>
              <a:miter lim="800000"/>
              <a:headEnd/>
              <a:tailEnd/>
            </a:ln>
          </p:spPr>
          <p:txBody>
            <a:bodyPr anchor="ctr"/>
            <a:lstStyle/>
            <a:p>
              <a:pPr defTabSz="762000"/>
              <a:r>
                <a:rPr lang="en-GB" sz="1600" dirty="0">
                  <a:solidFill>
                    <a:schemeClr val="bg1"/>
                  </a:solidFill>
                </a:rPr>
                <a:t>D1 – Establish </a:t>
              </a:r>
              <a:r>
                <a:rPr lang="en-GB" sz="1600" dirty="0" smtClean="0">
                  <a:solidFill>
                    <a:schemeClr val="bg1"/>
                  </a:solidFill>
                </a:rPr>
                <a:t>team</a:t>
              </a:r>
              <a:endParaRPr lang="en-GB" sz="1600" dirty="0">
                <a:solidFill>
                  <a:schemeClr val="bg1"/>
                </a:solidFill>
              </a:endParaRPr>
            </a:p>
          </p:txBody>
        </p:sp>
        <p:sp>
          <p:nvSpPr>
            <p:cNvPr id="27" name="Text Box 16"/>
            <p:cNvSpPr txBox="1">
              <a:spLocks noChangeArrowheads="1"/>
            </p:cNvSpPr>
            <p:nvPr/>
          </p:nvSpPr>
          <p:spPr bwMode="auto">
            <a:xfrm>
              <a:off x="1231900" y="2771775"/>
              <a:ext cx="4348212" cy="352425"/>
            </a:xfrm>
            <a:prstGeom prst="rect">
              <a:avLst/>
            </a:prstGeom>
            <a:gradFill rotWithShape="1">
              <a:gsLst>
                <a:gs pos="0">
                  <a:srgbClr val="003366"/>
                </a:gs>
                <a:gs pos="50000">
                  <a:srgbClr val="7272D0"/>
                </a:gs>
                <a:gs pos="100000">
                  <a:srgbClr val="003366"/>
                </a:gs>
              </a:gsLst>
              <a:lin ang="5400000" scaled="1"/>
            </a:gradFill>
            <a:ln w="38100" algn="ctr">
              <a:solidFill>
                <a:srgbClr val="C0C0C0"/>
              </a:solidFill>
              <a:miter lim="800000"/>
              <a:headEnd/>
              <a:tailEnd/>
            </a:ln>
          </p:spPr>
          <p:txBody>
            <a:bodyPr anchor="ctr"/>
            <a:lstStyle/>
            <a:p>
              <a:pPr defTabSz="762000"/>
              <a:r>
                <a:rPr lang="en-GB" sz="1600" dirty="0">
                  <a:solidFill>
                    <a:schemeClr val="bg1"/>
                  </a:solidFill>
                </a:rPr>
                <a:t>D2 –Describe </a:t>
              </a:r>
              <a:r>
                <a:rPr lang="en-GB" sz="1600" dirty="0" smtClean="0">
                  <a:solidFill>
                    <a:schemeClr val="bg1"/>
                  </a:solidFill>
                </a:rPr>
                <a:t>problem  </a:t>
              </a:r>
              <a:endParaRPr lang="en-GB" sz="1600" dirty="0">
                <a:solidFill>
                  <a:schemeClr val="bg1"/>
                </a:solidFill>
              </a:endParaRPr>
            </a:p>
          </p:txBody>
        </p:sp>
        <p:sp>
          <p:nvSpPr>
            <p:cNvPr id="28" name="Text Box 17"/>
            <p:cNvSpPr txBox="1">
              <a:spLocks noChangeArrowheads="1"/>
            </p:cNvSpPr>
            <p:nvPr/>
          </p:nvSpPr>
          <p:spPr bwMode="auto">
            <a:xfrm>
              <a:off x="1231900" y="3292475"/>
              <a:ext cx="4348212" cy="352425"/>
            </a:xfrm>
            <a:prstGeom prst="rect">
              <a:avLst/>
            </a:prstGeom>
            <a:gradFill rotWithShape="1">
              <a:gsLst>
                <a:gs pos="0">
                  <a:srgbClr val="003366"/>
                </a:gs>
                <a:gs pos="50000">
                  <a:srgbClr val="7272D0"/>
                </a:gs>
                <a:gs pos="100000">
                  <a:srgbClr val="003366"/>
                </a:gs>
              </a:gsLst>
              <a:lin ang="5400000" scaled="1"/>
            </a:gradFill>
            <a:ln w="38100" algn="ctr">
              <a:solidFill>
                <a:srgbClr val="C0C0C0"/>
              </a:solidFill>
              <a:miter lim="800000"/>
              <a:headEnd/>
              <a:tailEnd/>
            </a:ln>
          </p:spPr>
          <p:txBody>
            <a:bodyPr anchor="ctr"/>
            <a:lstStyle/>
            <a:p>
              <a:pPr defTabSz="762000"/>
              <a:r>
                <a:rPr lang="en-GB" sz="1600" dirty="0">
                  <a:solidFill>
                    <a:schemeClr val="bg1"/>
                  </a:solidFill>
                </a:rPr>
                <a:t>D3 – Develop </a:t>
              </a:r>
              <a:r>
                <a:rPr lang="en-GB" sz="1600" dirty="0" smtClean="0">
                  <a:solidFill>
                    <a:schemeClr val="bg1"/>
                  </a:solidFill>
                </a:rPr>
                <a:t>interim </a:t>
              </a:r>
              <a:r>
                <a:rPr lang="en-GB" sz="1600" dirty="0">
                  <a:solidFill>
                    <a:schemeClr val="bg1"/>
                  </a:solidFill>
                </a:rPr>
                <a:t>c</a:t>
              </a:r>
              <a:r>
                <a:rPr lang="en-GB" sz="1600" dirty="0" smtClean="0">
                  <a:solidFill>
                    <a:schemeClr val="bg1"/>
                  </a:solidFill>
                </a:rPr>
                <a:t>ontainment actions </a:t>
              </a:r>
              <a:r>
                <a:rPr lang="en-GB" sz="1600" dirty="0">
                  <a:solidFill>
                    <a:schemeClr val="bg1"/>
                  </a:solidFill>
                </a:rPr>
                <a:t>(ICA)</a:t>
              </a:r>
            </a:p>
          </p:txBody>
        </p:sp>
        <p:sp>
          <p:nvSpPr>
            <p:cNvPr id="29" name="Text Box 18"/>
            <p:cNvSpPr txBox="1">
              <a:spLocks noChangeArrowheads="1"/>
            </p:cNvSpPr>
            <p:nvPr/>
          </p:nvSpPr>
          <p:spPr bwMode="auto">
            <a:xfrm>
              <a:off x="1231900" y="3798888"/>
              <a:ext cx="4348212" cy="379412"/>
            </a:xfrm>
            <a:prstGeom prst="rect">
              <a:avLst/>
            </a:prstGeom>
            <a:gradFill rotWithShape="1">
              <a:gsLst>
                <a:gs pos="0">
                  <a:srgbClr val="003366"/>
                </a:gs>
                <a:gs pos="50000">
                  <a:srgbClr val="7272D0"/>
                </a:gs>
                <a:gs pos="100000">
                  <a:srgbClr val="003366"/>
                </a:gs>
              </a:gsLst>
              <a:lin ang="5400000" scaled="1"/>
            </a:gradFill>
            <a:ln w="38100" algn="ctr">
              <a:solidFill>
                <a:srgbClr val="C0C0C0"/>
              </a:solidFill>
              <a:miter lim="800000"/>
              <a:headEnd/>
              <a:tailEnd/>
            </a:ln>
          </p:spPr>
          <p:txBody>
            <a:bodyPr anchor="ctr"/>
            <a:lstStyle/>
            <a:p>
              <a:pPr defTabSz="762000"/>
              <a:r>
                <a:rPr lang="en-GB" sz="1600" dirty="0">
                  <a:solidFill>
                    <a:schemeClr val="bg1"/>
                  </a:solidFill>
                </a:rPr>
                <a:t>D4 – Identify &amp; </a:t>
              </a:r>
              <a:r>
                <a:rPr lang="en-GB" sz="1600" dirty="0" smtClean="0">
                  <a:solidFill>
                    <a:schemeClr val="bg1"/>
                  </a:solidFill>
                </a:rPr>
                <a:t>verify root cause</a:t>
              </a:r>
              <a:endParaRPr lang="en-GB" sz="1600" dirty="0">
                <a:solidFill>
                  <a:schemeClr val="bg1"/>
                </a:solidFill>
              </a:endParaRPr>
            </a:p>
          </p:txBody>
        </p:sp>
        <p:sp>
          <p:nvSpPr>
            <p:cNvPr id="30" name="Text Box 19"/>
            <p:cNvSpPr txBox="1">
              <a:spLocks noChangeArrowheads="1"/>
            </p:cNvSpPr>
            <p:nvPr/>
          </p:nvSpPr>
          <p:spPr bwMode="auto">
            <a:xfrm>
              <a:off x="1231900" y="4330152"/>
              <a:ext cx="4348212" cy="352425"/>
            </a:xfrm>
            <a:prstGeom prst="rect">
              <a:avLst/>
            </a:prstGeom>
            <a:gradFill rotWithShape="1">
              <a:gsLst>
                <a:gs pos="0">
                  <a:srgbClr val="003366"/>
                </a:gs>
                <a:gs pos="50000">
                  <a:srgbClr val="7272D0"/>
                </a:gs>
                <a:gs pos="100000">
                  <a:srgbClr val="003366"/>
                </a:gs>
              </a:gsLst>
              <a:lin ang="5400000" scaled="1"/>
            </a:gradFill>
            <a:ln w="38100" algn="ctr">
              <a:solidFill>
                <a:srgbClr val="C0C0C0"/>
              </a:solidFill>
              <a:miter lim="800000"/>
              <a:headEnd/>
              <a:tailEnd/>
            </a:ln>
          </p:spPr>
          <p:txBody>
            <a:bodyPr anchor="ctr"/>
            <a:lstStyle/>
            <a:p>
              <a:pPr defTabSz="762000"/>
              <a:r>
                <a:rPr lang="en-GB" sz="1600" dirty="0">
                  <a:solidFill>
                    <a:schemeClr val="bg1"/>
                  </a:solidFill>
                </a:rPr>
                <a:t>D5 – Identify </a:t>
              </a:r>
              <a:r>
                <a:rPr lang="en-GB" sz="1600" dirty="0" smtClean="0">
                  <a:solidFill>
                    <a:schemeClr val="bg1"/>
                  </a:solidFill>
                </a:rPr>
                <a:t>permanent corrective actions </a:t>
              </a:r>
              <a:r>
                <a:rPr lang="en-GB" sz="1600" dirty="0">
                  <a:solidFill>
                    <a:schemeClr val="bg1"/>
                  </a:solidFill>
                </a:rPr>
                <a:t>(PCA)</a:t>
              </a:r>
            </a:p>
          </p:txBody>
        </p:sp>
        <p:sp>
          <p:nvSpPr>
            <p:cNvPr id="31" name="Text Box 20"/>
            <p:cNvSpPr txBox="1">
              <a:spLocks noChangeArrowheads="1"/>
            </p:cNvSpPr>
            <p:nvPr/>
          </p:nvSpPr>
          <p:spPr bwMode="auto">
            <a:xfrm>
              <a:off x="1230313" y="4826000"/>
              <a:ext cx="4349799" cy="352425"/>
            </a:xfrm>
            <a:prstGeom prst="rect">
              <a:avLst/>
            </a:prstGeom>
            <a:gradFill rotWithShape="1">
              <a:gsLst>
                <a:gs pos="0">
                  <a:srgbClr val="003366"/>
                </a:gs>
                <a:gs pos="50000">
                  <a:srgbClr val="7272D0"/>
                </a:gs>
                <a:gs pos="100000">
                  <a:srgbClr val="003366"/>
                </a:gs>
              </a:gsLst>
              <a:lin ang="5400000" scaled="1"/>
            </a:gradFill>
            <a:ln w="38100" algn="ctr">
              <a:solidFill>
                <a:srgbClr val="C0C0C0"/>
              </a:solidFill>
              <a:miter lim="800000"/>
              <a:headEnd/>
              <a:tailEnd/>
            </a:ln>
          </p:spPr>
          <p:txBody>
            <a:bodyPr anchor="ctr"/>
            <a:lstStyle/>
            <a:p>
              <a:pPr defTabSz="762000"/>
              <a:r>
                <a:rPr lang="en-GB" sz="1600" dirty="0">
                  <a:solidFill>
                    <a:schemeClr val="bg1"/>
                  </a:solidFill>
                </a:rPr>
                <a:t>D6 – </a:t>
              </a:r>
              <a:r>
                <a:rPr lang="en-GB" sz="1600" dirty="0" smtClean="0">
                  <a:solidFill>
                    <a:schemeClr val="bg1"/>
                  </a:solidFill>
                </a:rPr>
                <a:t>Implement &amp; validate </a:t>
              </a:r>
              <a:r>
                <a:rPr lang="en-GB" sz="1600" dirty="0">
                  <a:solidFill>
                    <a:schemeClr val="bg1"/>
                  </a:solidFill>
                </a:rPr>
                <a:t>the PCA</a:t>
              </a:r>
            </a:p>
          </p:txBody>
        </p:sp>
        <p:sp>
          <p:nvSpPr>
            <p:cNvPr id="32" name="Text Box 21"/>
            <p:cNvSpPr txBox="1">
              <a:spLocks noChangeArrowheads="1"/>
            </p:cNvSpPr>
            <p:nvPr/>
          </p:nvSpPr>
          <p:spPr bwMode="auto">
            <a:xfrm>
              <a:off x="1231900" y="5868988"/>
              <a:ext cx="4348212" cy="379412"/>
            </a:xfrm>
            <a:prstGeom prst="rect">
              <a:avLst/>
            </a:prstGeom>
            <a:gradFill rotWithShape="1">
              <a:gsLst>
                <a:gs pos="0">
                  <a:srgbClr val="003366"/>
                </a:gs>
                <a:gs pos="50000">
                  <a:srgbClr val="7272D0"/>
                </a:gs>
                <a:gs pos="100000">
                  <a:srgbClr val="003366"/>
                </a:gs>
              </a:gsLst>
              <a:lin ang="5400000" scaled="1"/>
            </a:gradFill>
            <a:ln w="38100" algn="ctr">
              <a:solidFill>
                <a:srgbClr val="C0C0C0"/>
              </a:solidFill>
              <a:miter lim="800000"/>
              <a:headEnd/>
              <a:tailEnd/>
            </a:ln>
          </p:spPr>
          <p:txBody>
            <a:bodyPr anchor="ctr"/>
            <a:lstStyle/>
            <a:p>
              <a:pPr defTabSz="762000"/>
              <a:r>
                <a:rPr lang="en-GB" sz="1600" dirty="0">
                  <a:solidFill>
                    <a:schemeClr val="bg1"/>
                  </a:solidFill>
                </a:rPr>
                <a:t>D8 – Congratulate the </a:t>
              </a:r>
              <a:r>
                <a:rPr lang="en-GB" sz="1600" dirty="0" smtClean="0">
                  <a:solidFill>
                    <a:schemeClr val="bg1"/>
                  </a:solidFill>
                </a:rPr>
                <a:t>team</a:t>
              </a:r>
              <a:endParaRPr lang="en-GB" sz="1600" dirty="0">
                <a:solidFill>
                  <a:schemeClr val="bg1"/>
                </a:solidFill>
              </a:endParaRPr>
            </a:p>
          </p:txBody>
        </p:sp>
        <p:sp>
          <p:nvSpPr>
            <p:cNvPr id="33" name="Text Box 22"/>
            <p:cNvSpPr txBox="1">
              <a:spLocks noChangeArrowheads="1"/>
            </p:cNvSpPr>
            <p:nvPr/>
          </p:nvSpPr>
          <p:spPr bwMode="auto">
            <a:xfrm>
              <a:off x="1231900" y="5334000"/>
              <a:ext cx="4348212" cy="379413"/>
            </a:xfrm>
            <a:prstGeom prst="rect">
              <a:avLst/>
            </a:prstGeom>
            <a:gradFill rotWithShape="1">
              <a:gsLst>
                <a:gs pos="0">
                  <a:srgbClr val="003366"/>
                </a:gs>
                <a:gs pos="50000">
                  <a:srgbClr val="7272D0"/>
                </a:gs>
                <a:gs pos="100000">
                  <a:srgbClr val="003366"/>
                </a:gs>
              </a:gsLst>
              <a:lin ang="5400000" scaled="1"/>
            </a:gradFill>
            <a:ln w="38100" algn="ctr">
              <a:solidFill>
                <a:srgbClr val="C0C0C0"/>
              </a:solidFill>
              <a:miter lim="800000"/>
              <a:headEnd/>
              <a:tailEnd/>
            </a:ln>
          </p:spPr>
          <p:txBody>
            <a:bodyPr anchor="ctr"/>
            <a:lstStyle/>
            <a:p>
              <a:pPr defTabSz="762000"/>
              <a:r>
                <a:rPr lang="en-GB" sz="1600" dirty="0">
                  <a:solidFill>
                    <a:schemeClr val="bg1"/>
                  </a:solidFill>
                </a:rPr>
                <a:t>D7 – Prevent </a:t>
              </a:r>
              <a:r>
                <a:rPr lang="en-GB" sz="1600" dirty="0" smtClean="0">
                  <a:solidFill>
                    <a:schemeClr val="bg1"/>
                  </a:solidFill>
                </a:rPr>
                <a:t>recurrence</a:t>
              </a:r>
              <a:endParaRPr lang="en-GB" sz="1600" dirty="0">
                <a:solidFill>
                  <a:schemeClr val="bg1"/>
                </a:solidFill>
              </a:endParaRPr>
            </a:p>
          </p:txBody>
        </p:sp>
        <p:sp>
          <p:nvSpPr>
            <p:cNvPr id="3" name="PIJL-OMLAAG 2"/>
            <p:cNvSpPr/>
            <p:nvPr/>
          </p:nvSpPr>
          <p:spPr>
            <a:xfrm>
              <a:off x="107504" y="2204864"/>
              <a:ext cx="324296" cy="39544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GB" noProof="0" dirty="0" smtClean="0">
                <a:latin typeface="Arial" charset="0"/>
                <a:cs typeface="Arial" charset="0"/>
              </a:rPr>
              <a:t>Root Cause Analysis</a:t>
            </a:r>
            <a:endParaRPr lang="en-GB" sz="2400" noProof="0" dirty="0" smtClean="0">
              <a:latin typeface="Arial" charset="0"/>
              <a:cs typeface="Arial" charset="0"/>
            </a:endParaRPr>
          </a:p>
        </p:txBody>
      </p:sp>
      <p:sp>
        <p:nvSpPr>
          <p:cNvPr id="5123" name="Rectangle 3"/>
          <p:cNvSpPr>
            <a:spLocks noGrp="1" noChangeArrowheads="1"/>
          </p:cNvSpPr>
          <p:nvPr>
            <p:ph idx="1"/>
          </p:nvPr>
        </p:nvSpPr>
        <p:spPr/>
        <p:txBody>
          <a:bodyPr/>
          <a:lstStyle/>
          <a:p>
            <a:pPr marL="0" indent="0" eaLnBrk="1" hangingPunct="1"/>
            <a:r>
              <a:rPr lang="en-GB" noProof="0" dirty="0" smtClean="0">
                <a:latin typeface="Arial" charset="0"/>
                <a:cs typeface="Arial" charset="0"/>
              </a:rPr>
              <a:t>Describe the problem</a:t>
            </a:r>
          </a:p>
          <a:p>
            <a:pPr lvl="1" eaLnBrk="1" hangingPunct="1"/>
            <a:endParaRPr lang="en-GB" noProof="0" dirty="0" smtClean="0">
              <a:latin typeface="Arial" charset="0"/>
              <a:cs typeface="Arial" charset="0"/>
            </a:endParaRPr>
          </a:p>
          <a:p>
            <a:pPr marL="180975" lvl="1" indent="-93663" eaLnBrk="1" hangingPunct="1">
              <a:buClrTx/>
              <a:buNone/>
            </a:pPr>
            <a:r>
              <a:rPr lang="en-GB" sz="1800" noProof="0" dirty="0" smtClean="0">
                <a:latin typeface="Arial" charset="0"/>
                <a:cs typeface="Arial" charset="0"/>
              </a:rPr>
              <a:t>Describe the problem as objectively and clearly as possible:</a:t>
            </a:r>
          </a:p>
          <a:p>
            <a:pPr marL="449263" lvl="2" indent="-274638" eaLnBrk="1" hangingPunct="1">
              <a:buClrTx/>
            </a:pPr>
            <a:r>
              <a:rPr lang="en-GB" b="1" noProof="0" dirty="0" smtClean="0">
                <a:latin typeface="Arial" charset="0"/>
                <a:cs typeface="Arial" charset="0"/>
              </a:rPr>
              <a:t>What IS</a:t>
            </a:r>
          </a:p>
          <a:p>
            <a:pPr marL="449263" lvl="2" indent="-274638" eaLnBrk="1" hangingPunct="1">
              <a:buClrTx/>
            </a:pPr>
            <a:r>
              <a:rPr lang="en-GB" b="1" noProof="0" dirty="0" smtClean="0">
                <a:latin typeface="Arial" charset="0"/>
                <a:cs typeface="Arial" charset="0"/>
              </a:rPr>
              <a:t>What IS NOT </a:t>
            </a:r>
          </a:p>
          <a:p>
            <a:pPr lvl="2" eaLnBrk="1" hangingPunct="1">
              <a:buClrTx/>
            </a:pPr>
            <a:endParaRPr lang="en-GB" b="1" noProof="0" dirty="0" smtClean="0">
              <a:latin typeface="Arial" charset="0"/>
              <a:cs typeface="Arial" charset="0"/>
            </a:endParaRPr>
          </a:p>
          <a:p>
            <a:pPr marL="87313" lvl="1" indent="0" eaLnBrk="1" hangingPunct="1">
              <a:buClrTx/>
              <a:buFont typeface="Arial" charset="0"/>
              <a:buNone/>
            </a:pPr>
            <a:r>
              <a:rPr lang="en-GB" sz="1800" noProof="0" dirty="0" smtClean="0">
                <a:latin typeface="Arial" charset="0"/>
                <a:cs typeface="Arial" charset="0"/>
              </a:rPr>
              <a:t>IS - IS NOT you consciously think about the problem, specifically, the boundaries of what the problem IS or IS NOT</a:t>
            </a:r>
          </a:p>
        </p:txBody>
      </p:sp>
      <p:grpSp>
        <p:nvGrpSpPr>
          <p:cNvPr id="2" name="Group 16"/>
          <p:cNvGrpSpPr>
            <a:grpSpLocks/>
          </p:cNvGrpSpPr>
          <p:nvPr/>
        </p:nvGrpSpPr>
        <p:grpSpPr bwMode="auto">
          <a:xfrm>
            <a:off x="1173361" y="4005263"/>
            <a:ext cx="6643688" cy="2493962"/>
            <a:chOff x="657" y="2523"/>
            <a:chExt cx="3720" cy="1571"/>
          </a:xfrm>
        </p:grpSpPr>
        <p:sp>
          <p:nvSpPr>
            <p:cNvPr id="6" name="Ovaal 5"/>
            <p:cNvSpPr/>
            <p:nvPr/>
          </p:nvSpPr>
          <p:spPr>
            <a:xfrm>
              <a:off x="2783" y="2523"/>
              <a:ext cx="1594" cy="157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en-GB" b="1" dirty="0">
                  <a:solidFill>
                    <a:schemeClr val="tx1"/>
                  </a:solidFill>
                </a:rPr>
                <a:t>IS NOT</a:t>
              </a:r>
            </a:p>
          </p:txBody>
        </p:sp>
        <p:sp>
          <p:nvSpPr>
            <p:cNvPr id="7" name="Ovaal 6"/>
            <p:cNvSpPr/>
            <p:nvPr/>
          </p:nvSpPr>
          <p:spPr>
            <a:xfrm>
              <a:off x="2484" y="2796"/>
              <a:ext cx="1029" cy="105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b="1" dirty="0">
                  <a:solidFill>
                    <a:schemeClr val="tx1"/>
                  </a:solidFill>
                </a:rPr>
                <a:t>IS</a:t>
              </a:r>
            </a:p>
          </p:txBody>
        </p:sp>
        <p:cxnSp>
          <p:nvCxnSpPr>
            <p:cNvPr id="12" name="Rechte verbindingslijn met pijl 11"/>
            <p:cNvCxnSpPr/>
            <p:nvPr/>
          </p:nvCxnSpPr>
          <p:spPr>
            <a:xfrm>
              <a:off x="1589" y="2898"/>
              <a:ext cx="830" cy="307"/>
            </a:xfrm>
            <a:prstGeom prst="straightConnector1">
              <a:avLst/>
            </a:prstGeom>
            <a:ln w="25400">
              <a:solidFill>
                <a:schemeClr val="tx1">
                  <a:lumMod val="95000"/>
                  <a:lumOff val="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Rechte verbindingslijn met pijl 12"/>
            <p:cNvCxnSpPr/>
            <p:nvPr/>
          </p:nvCxnSpPr>
          <p:spPr>
            <a:xfrm flipV="1">
              <a:off x="1753" y="3548"/>
              <a:ext cx="698" cy="342"/>
            </a:xfrm>
            <a:prstGeom prst="straightConnector1">
              <a:avLst/>
            </a:prstGeom>
            <a:ln w="25400">
              <a:solidFill>
                <a:schemeClr val="tx1">
                  <a:lumMod val="95000"/>
                  <a:lumOff val="5000"/>
                </a:schemeClr>
              </a:solidFill>
              <a:tailEnd type="arrow"/>
            </a:ln>
          </p:spPr>
          <p:style>
            <a:lnRef idx="1">
              <a:schemeClr val="accent1"/>
            </a:lnRef>
            <a:fillRef idx="0">
              <a:schemeClr val="accent1"/>
            </a:fillRef>
            <a:effectRef idx="0">
              <a:schemeClr val="accent1"/>
            </a:effectRef>
            <a:fontRef idx="minor">
              <a:schemeClr val="tx1"/>
            </a:fontRef>
          </p:style>
        </p:cxnSp>
        <p:sp>
          <p:nvSpPr>
            <p:cNvPr id="16" name="PIJL-RECHTS 15"/>
            <p:cNvSpPr/>
            <p:nvPr/>
          </p:nvSpPr>
          <p:spPr>
            <a:xfrm>
              <a:off x="1919" y="3309"/>
              <a:ext cx="532" cy="170"/>
            </a:xfrm>
            <a:prstGeom prst="rightArrow">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
          <p:nvSpPr>
            <p:cNvPr id="5130" name="Text Box 13"/>
            <p:cNvSpPr txBox="1">
              <a:spLocks noChangeArrowheads="1"/>
            </p:cNvSpPr>
            <p:nvPr/>
          </p:nvSpPr>
          <p:spPr bwMode="auto">
            <a:xfrm>
              <a:off x="657" y="2750"/>
              <a:ext cx="709" cy="233"/>
            </a:xfrm>
            <a:prstGeom prst="rect">
              <a:avLst/>
            </a:prstGeom>
            <a:noFill/>
            <a:ln w="9525">
              <a:noFill/>
              <a:miter lim="800000"/>
              <a:headEnd/>
              <a:tailEnd/>
            </a:ln>
          </p:spPr>
          <p:txBody>
            <a:bodyPr wrap="none">
              <a:spAutoFit/>
            </a:bodyPr>
            <a:lstStyle/>
            <a:p>
              <a:r>
                <a:rPr lang="en-GB" b="1" dirty="0"/>
                <a:t>Differences</a:t>
              </a:r>
            </a:p>
          </p:txBody>
        </p:sp>
        <p:sp>
          <p:nvSpPr>
            <p:cNvPr id="5131" name="Text Box 14"/>
            <p:cNvSpPr txBox="1">
              <a:spLocks noChangeArrowheads="1"/>
            </p:cNvSpPr>
            <p:nvPr/>
          </p:nvSpPr>
          <p:spPr bwMode="auto">
            <a:xfrm>
              <a:off x="675" y="3285"/>
              <a:ext cx="688" cy="233"/>
            </a:xfrm>
            <a:prstGeom prst="rect">
              <a:avLst/>
            </a:prstGeom>
            <a:noFill/>
            <a:ln w="9525">
              <a:noFill/>
              <a:miter lim="800000"/>
              <a:headEnd/>
              <a:tailEnd/>
            </a:ln>
          </p:spPr>
          <p:txBody>
            <a:bodyPr wrap="none">
              <a:spAutoFit/>
            </a:bodyPr>
            <a:lstStyle/>
            <a:p>
              <a:r>
                <a:rPr lang="en-GB" b="1" dirty="0"/>
                <a:t>Root </a:t>
              </a:r>
              <a:r>
                <a:rPr lang="en-GB" b="1" dirty="0" smtClean="0"/>
                <a:t>cause</a:t>
              </a:r>
              <a:endParaRPr lang="en-GB" b="1" dirty="0"/>
            </a:p>
          </p:txBody>
        </p:sp>
        <p:sp>
          <p:nvSpPr>
            <p:cNvPr id="5132" name="Text Box 15"/>
            <p:cNvSpPr txBox="1">
              <a:spLocks noChangeArrowheads="1"/>
            </p:cNvSpPr>
            <p:nvPr/>
          </p:nvSpPr>
          <p:spPr bwMode="auto">
            <a:xfrm>
              <a:off x="675" y="3780"/>
              <a:ext cx="549" cy="233"/>
            </a:xfrm>
            <a:prstGeom prst="rect">
              <a:avLst/>
            </a:prstGeom>
            <a:noFill/>
            <a:ln w="9525">
              <a:noFill/>
              <a:miter lim="800000"/>
              <a:headEnd/>
              <a:tailEnd/>
            </a:ln>
          </p:spPr>
          <p:txBody>
            <a:bodyPr wrap="none">
              <a:spAutoFit/>
            </a:bodyPr>
            <a:lstStyle/>
            <a:p>
              <a:r>
                <a:rPr lang="en-GB" b="1" dirty="0"/>
                <a:t>Changes</a:t>
              </a: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GB" noProof="0" dirty="0" smtClean="0">
                <a:latin typeface="Arial" charset="0"/>
                <a:cs typeface="Arial" charset="0"/>
              </a:rPr>
              <a:t>Root Cause Analysis</a:t>
            </a:r>
            <a:endParaRPr lang="en-GB" sz="2400" noProof="0" dirty="0" smtClean="0">
              <a:latin typeface="Arial" charset="0"/>
              <a:cs typeface="Arial" charset="0"/>
            </a:endParaRPr>
          </a:p>
        </p:txBody>
      </p:sp>
      <p:sp>
        <p:nvSpPr>
          <p:cNvPr id="7171" name="Tijdelijke aanduiding voor inhoud 16"/>
          <p:cNvSpPr>
            <a:spLocks noGrp="1"/>
          </p:cNvSpPr>
          <p:nvPr>
            <p:ph idx="1"/>
          </p:nvPr>
        </p:nvSpPr>
        <p:spPr/>
        <p:txBody>
          <a:bodyPr/>
          <a:lstStyle/>
          <a:p>
            <a:pPr eaLnBrk="1" hangingPunct="1"/>
            <a:r>
              <a:rPr lang="en-GB" noProof="0" dirty="0" smtClean="0">
                <a:latin typeface="Arial" charset="0"/>
                <a:cs typeface="Arial" charset="0"/>
              </a:rPr>
              <a:t>Is – Is not</a:t>
            </a:r>
          </a:p>
        </p:txBody>
      </p:sp>
      <p:grpSp>
        <p:nvGrpSpPr>
          <p:cNvPr id="2" name="Groep 5"/>
          <p:cNvGrpSpPr/>
          <p:nvPr/>
        </p:nvGrpSpPr>
        <p:grpSpPr>
          <a:xfrm>
            <a:off x="1270694" y="1925948"/>
            <a:ext cx="8166283" cy="4583112"/>
            <a:chOff x="1129506" y="1925948"/>
            <a:chExt cx="7258918" cy="4583112"/>
          </a:xfrm>
        </p:grpSpPr>
        <p:grpSp>
          <p:nvGrpSpPr>
            <p:cNvPr id="6" name="Groep 15"/>
            <p:cNvGrpSpPr>
              <a:grpSpLocks/>
            </p:cNvGrpSpPr>
            <p:nvPr/>
          </p:nvGrpSpPr>
          <p:grpSpPr bwMode="auto">
            <a:xfrm>
              <a:off x="1129506" y="1925948"/>
              <a:ext cx="7102475" cy="4583112"/>
              <a:chOff x="539750" y="1392238"/>
              <a:chExt cx="7613650" cy="5191125"/>
            </a:xfrm>
          </p:grpSpPr>
          <p:pic>
            <p:nvPicPr>
              <p:cNvPr id="7173" name="Picture 3" descr="?image_id=16335316"/>
              <p:cNvPicPr>
                <a:picLocks noChangeAspect="1" noChangeArrowheads="1"/>
              </p:cNvPicPr>
              <p:nvPr/>
            </p:nvPicPr>
            <p:blipFill>
              <a:blip r:embed="rId3" cstate="print"/>
              <a:srcRect l="3183" t="4503" r="3448" b="5441"/>
              <a:stretch>
                <a:fillRect/>
              </a:stretch>
            </p:blipFill>
            <p:spPr bwMode="auto">
              <a:xfrm>
                <a:off x="539750" y="1392238"/>
                <a:ext cx="7613650" cy="5191125"/>
              </a:xfrm>
              <a:prstGeom prst="rect">
                <a:avLst/>
              </a:prstGeom>
              <a:noFill/>
              <a:ln w="9525">
                <a:noFill/>
                <a:miter lim="800000"/>
                <a:headEnd/>
                <a:tailEnd/>
              </a:ln>
            </p:spPr>
          </p:pic>
          <p:sp>
            <p:nvSpPr>
              <p:cNvPr id="7174" name="Text Box 4"/>
              <p:cNvSpPr txBox="1">
                <a:spLocks noChangeArrowheads="1"/>
              </p:cNvSpPr>
              <p:nvPr/>
            </p:nvSpPr>
            <p:spPr bwMode="auto">
              <a:xfrm>
                <a:off x="900113" y="3648075"/>
                <a:ext cx="1504950" cy="1080680"/>
              </a:xfrm>
              <a:prstGeom prst="rect">
                <a:avLst/>
              </a:prstGeom>
              <a:solidFill>
                <a:schemeClr val="bg1"/>
              </a:solidFill>
              <a:ln w="9525">
                <a:noFill/>
                <a:miter lim="800000"/>
                <a:headEnd/>
                <a:tailEnd/>
              </a:ln>
            </p:spPr>
            <p:txBody>
              <a:bodyPr>
                <a:spAutoFit/>
              </a:bodyPr>
              <a:lstStyle/>
              <a:p>
                <a:pPr algn="ctr"/>
                <a:endParaRPr lang="en-GB" sz="1400" dirty="0"/>
              </a:p>
              <a:p>
                <a:pPr algn="ctr"/>
                <a:r>
                  <a:rPr lang="en-GB" sz="1400" b="1" dirty="0">
                    <a:solidFill>
                      <a:schemeClr val="tx2"/>
                    </a:solidFill>
                  </a:rPr>
                  <a:t>W</a:t>
                </a:r>
                <a:r>
                  <a:rPr lang="en-GB" sz="1400" dirty="0"/>
                  <a:t>ho is affected and who is not</a:t>
                </a:r>
              </a:p>
              <a:p>
                <a:pPr algn="ctr"/>
                <a:endParaRPr lang="en-GB" sz="1400" dirty="0"/>
              </a:p>
            </p:txBody>
          </p:sp>
          <p:sp>
            <p:nvSpPr>
              <p:cNvPr id="7177" name="Text Box 8"/>
              <p:cNvSpPr txBox="1">
                <a:spLocks noChangeArrowheads="1"/>
              </p:cNvSpPr>
              <p:nvPr/>
            </p:nvSpPr>
            <p:spPr bwMode="auto">
              <a:xfrm>
                <a:off x="5073502" y="1698625"/>
                <a:ext cx="1439863" cy="685800"/>
              </a:xfrm>
              <a:prstGeom prst="rect">
                <a:avLst/>
              </a:prstGeom>
              <a:solidFill>
                <a:schemeClr val="bg1"/>
              </a:solidFill>
              <a:ln w="9525">
                <a:noFill/>
                <a:miter lim="800000"/>
                <a:headEnd/>
                <a:tailEnd/>
              </a:ln>
            </p:spPr>
            <p:txBody>
              <a:bodyPr/>
              <a:lstStyle/>
              <a:p>
                <a:pPr algn="ctr"/>
                <a:r>
                  <a:rPr lang="en-GB" sz="1400" b="1" dirty="0">
                    <a:solidFill>
                      <a:schemeClr val="tx2"/>
                    </a:solidFill>
                  </a:rPr>
                  <a:t>W</a:t>
                </a:r>
                <a:r>
                  <a:rPr lang="en-GB" sz="1400" dirty="0"/>
                  <a:t>here is the problem and where  not?</a:t>
                </a:r>
              </a:p>
            </p:txBody>
          </p:sp>
          <p:sp>
            <p:nvSpPr>
              <p:cNvPr id="7180" name="Text Box 13"/>
              <p:cNvSpPr txBox="1">
                <a:spLocks noChangeArrowheads="1"/>
              </p:cNvSpPr>
              <p:nvPr/>
            </p:nvSpPr>
            <p:spPr bwMode="auto">
              <a:xfrm>
                <a:off x="6084888" y="3866573"/>
                <a:ext cx="1535112" cy="909638"/>
              </a:xfrm>
              <a:prstGeom prst="rect">
                <a:avLst/>
              </a:prstGeom>
              <a:solidFill>
                <a:schemeClr val="bg1"/>
              </a:solidFill>
              <a:ln w="9525">
                <a:noFill/>
                <a:miter lim="800000"/>
                <a:headEnd/>
                <a:tailEnd/>
              </a:ln>
            </p:spPr>
            <p:txBody>
              <a:bodyPr/>
              <a:lstStyle/>
              <a:p>
                <a:pPr algn="ctr"/>
                <a:r>
                  <a:rPr lang="en-GB" sz="1400" b="1" dirty="0">
                    <a:solidFill>
                      <a:schemeClr val="tx2"/>
                    </a:solidFill>
                  </a:rPr>
                  <a:t>H</a:t>
                </a:r>
                <a:r>
                  <a:rPr lang="en-GB" sz="1400" dirty="0"/>
                  <a:t>ow often did the problem occur and to what extent? </a:t>
                </a:r>
              </a:p>
            </p:txBody>
          </p:sp>
          <p:sp>
            <p:nvSpPr>
              <p:cNvPr id="7185" name="Tekstvak 14"/>
              <p:cNvSpPr txBox="1">
                <a:spLocks noChangeArrowheads="1"/>
              </p:cNvSpPr>
              <p:nvPr/>
            </p:nvSpPr>
            <p:spPr bwMode="auto">
              <a:xfrm>
                <a:off x="6372225" y="5661025"/>
                <a:ext cx="1174909" cy="662353"/>
              </a:xfrm>
              <a:prstGeom prst="rect">
                <a:avLst/>
              </a:prstGeom>
              <a:noFill/>
              <a:ln w="9525">
                <a:noFill/>
                <a:miter lim="800000"/>
                <a:headEnd/>
                <a:tailEnd/>
              </a:ln>
            </p:spPr>
            <p:txBody>
              <a:bodyPr wrap="none">
                <a:spAutoFit/>
              </a:bodyPr>
              <a:lstStyle/>
              <a:p>
                <a:r>
                  <a:rPr lang="en-GB" sz="3200" b="1" dirty="0"/>
                  <a:t>5W2H</a:t>
                </a:r>
              </a:p>
            </p:txBody>
          </p:sp>
        </p:grpSp>
        <p:sp>
          <p:nvSpPr>
            <p:cNvPr id="3" name="Vrije vorm 2"/>
            <p:cNvSpPr/>
            <p:nvPr/>
          </p:nvSpPr>
          <p:spPr>
            <a:xfrm>
              <a:off x="6206938" y="2708895"/>
              <a:ext cx="1864426" cy="1056904"/>
            </a:xfrm>
            <a:custGeom>
              <a:avLst/>
              <a:gdLst>
                <a:gd name="connsiteX0" fmla="*/ 1211284 w 1864426"/>
                <a:gd name="connsiteY0" fmla="*/ 95002 h 1056904"/>
                <a:gd name="connsiteX1" fmla="*/ 1330037 w 1864426"/>
                <a:gd name="connsiteY1" fmla="*/ 11875 h 1056904"/>
                <a:gd name="connsiteX2" fmla="*/ 1436915 w 1864426"/>
                <a:gd name="connsiteY2" fmla="*/ 0 h 1056904"/>
                <a:gd name="connsiteX3" fmla="*/ 1448790 w 1864426"/>
                <a:gd name="connsiteY3" fmla="*/ 154379 h 1056904"/>
                <a:gd name="connsiteX4" fmla="*/ 1543793 w 1864426"/>
                <a:gd name="connsiteY4" fmla="*/ 201880 h 1056904"/>
                <a:gd name="connsiteX5" fmla="*/ 1603169 w 1864426"/>
                <a:gd name="connsiteY5" fmla="*/ 166254 h 1056904"/>
                <a:gd name="connsiteX6" fmla="*/ 1710047 w 1864426"/>
                <a:gd name="connsiteY6" fmla="*/ 166254 h 1056904"/>
                <a:gd name="connsiteX7" fmla="*/ 1710047 w 1864426"/>
                <a:gd name="connsiteY7" fmla="*/ 308758 h 1056904"/>
                <a:gd name="connsiteX8" fmla="*/ 1698172 w 1864426"/>
                <a:gd name="connsiteY8" fmla="*/ 391885 h 1056904"/>
                <a:gd name="connsiteX9" fmla="*/ 1840676 w 1864426"/>
                <a:gd name="connsiteY9" fmla="*/ 451262 h 1056904"/>
                <a:gd name="connsiteX10" fmla="*/ 1793174 w 1864426"/>
                <a:gd name="connsiteY10" fmla="*/ 617517 h 1056904"/>
                <a:gd name="connsiteX11" fmla="*/ 1769424 w 1864426"/>
                <a:gd name="connsiteY11" fmla="*/ 676893 h 1056904"/>
                <a:gd name="connsiteX12" fmla="*/ 1852551 w 1864426"/>
                <a:gd name="connsiteY12" fmla="*/ 736270 h 1056904"/>
                <a:gd name="connsiteX13" fmla="*/ 1864426 w 1864426"/>
                <a:gd name="connsiteY13" fmla="*/ 866898 h 1056904"/>
                <a:gd name="connsiteX14" fmla="*/ 1698172 w 1864426"/>
                <a:gd name="connsiteY14" fmla="*/ 902524 h 1056904"/>
                <a:gd name="connsiteX15" fmla="*/ 1603169 w 1864426"/>
                <a:gd name="connsiteY15" fmla="*/ 973776 h 1056904"/>
                <a:gd name="connsiteX16" fmla="*/ 1531917 w 1864426"/>
                <a:gd name="connsiteY16" fmla="*/ 1009402 h 1056904"/>
                <a:gd name="connsiteX17" fmla="*/ 1413164 w 1864426"/>
                <a:gd name="connsiteY17" fmla="*/ 961901 h 1056904"/>
                <a:gd name="connsiteX18" fmla="*/ 1353787 w 1864426"/>
                <a:gd name="connsiteY18" fmla="*/ 961901 h 1056904"/>
                <a:gd name="connsiteX19" fmla="*/ 1330037 w 1864426"/>
                <a:gd name="connsiteY19" fmla="*/ 1021278 h 1056904"/>
                <a:gd name="connsiteX20" fmla="*/ 1235034 w 1864426"/>
                <a:gd name="connsiteY20" fmla="*/ 1021278 h 1056904"/>
                <a:gd name="connsiteX21" fmla="*/ 1080655 w 1864426"/>
                <a:gd name="connsiteY21" fmla="*/ 973776 h 1056904"/>
                <a:gd name="connsiteX22" fmla="*/ 973777 w 1864426"/>
                <a:gd name="connsiteY22" fmla="*/ 1021278 h 1056904"/>
                <a:gd name="connsiteX23" fmla="*/ 926276 w 1864426"/>
                <a:gd name="connsiteY23" fmla="*/ 1056904 h 1056904"/>
                <a:gd name="connsiteX24" fmla="*/ 771897 w 1864426"/>
                <a:gd name="connsiteY24" fmla="*/ 985652 h 1056904"/>
                <a:gd name="connsiteX25" fmla="*/ 700645 w 1864426"/>
                <a:gd name="connsiteY25" fmla="*/ 1033153 h 1056904"/>
                <a:gd name="connsiteX26" fmla="*/ 641268 w 1864426"/>
                <a:gd name="connsiteY26" fmla="*/ 1056904 h 1056904"/>
                <a:gd name="connsiteX27" fmla="*/ 510639 w 1864426"/>
                <a:gd name="connsiteY27" fmla="*/ 938150 h 1056904"/>
                <a:gd name="connsiteX28" fmla="*/ 285008 w 1864426"/>
                <a:gd name="connsiteY28" fmla="*/ 1009402 h 1056904"/>
                <a:gd name="connsiteX29" fmla="*/ 190006 w 1864426"/>
                <a:gd name="connsiteY29" fmla="*/ 973776 h 1056904"/>
                <a:gd name="connsiteX30" fmla="*/ 190006 w 1864426"/>
                <a:gd name="connsiteY30" fmla="*/ 878774 h 1056904"/>
                <a:gd name="connsiteX31" fmla="*/ 59377 w 1864426"/>
                <a:gd name="connsiteY31" fmla="*/ 831272 h 1056904"/>
                <a:gd name="connsiteX32" fmla="*/ 0 w 1864426"/>
                <a:gd name="connsiteY32" fmla="*/ 783771 h 1056904"/>
                <a:gd name="connsiteX33" fmla="*/ 71252 w 1864426"/>
                <a:gd name="connsiteY33" fmla="*/ 605641 h 1056904"/>
                <a:gd name="connsiteX34" fmla="*/ 201881 w 1864426"/>
                <a:gd name="connsiteY34" fmla="*/ 629392 h 1056904"/>
                <a:gd name="connsiteX35" fmla="*/ 249382 w 1864426"/>
                <a:gd name="connsiteY35" fmla="*/ 558140 h 1056904"/>
                <a:gd name="connsiteX36" fmla="*/ 261258 w 1864426"/>
                <a:gd name="connsiteY36" fmla="*/ 486888 h 1056904"/>
                <a:gd name="connsiteX37" fmla="*/ 344385 w 1864426"/>
                <a:gd name="connsiteY37" fmla="*/ 475013 h 1056904"/>
                <a:gd name="connsiteX38" fmla="*/ 451263 w 1864426"/>
                <a:gd name="connsiteY38" fmla="*/ 522514 h 1056904"/>
                <a:gd name="connsiteX39" fmla="*/ 498764 w 1864426"/>
                <a:gd name="connsiteY39" fmla="*/ 427511 h 1056904"/>
                <a:gd name="connsiteX40" fmla="*/ 558141 w 1864426"/>
                <a:gd name="connsiteY40" fmla="*/ 356259 h 1056904"/>
                <a:gd name="connsiteX41" fmla="*/ 724395 w 1864426"/>
                <a:gd name="connsiteY41" fmla="*/ 415636 h 1056904"/>
                <a:gd name="connsiteX42" fmla="*/ 748146 w 1864426"/>
                <a:gd name="connsiteY42" fmla="*/ 320633 h 1056904"/>
                <a:gd name="connsiteX43" fmla="*/ 771897 w 1864426"/>
                <a:gd name="connsiteY43" fmla="*/ 237506 h 1056904"/>
                <a:gd name="connsiteX44" fmla="*/ 902525 w 1864426"/>
                <a:gd name="connsiteY44" fmla="*/ 261257 h 1056904"/>
                <a:gd name="connsiteX45" fmla="*/ 950026 w 1864426"/>
                <a:gd name="connsiteY45" fmla="*/ 296883 h 1056904"/>
                <a:gd name="connsiteX46" fmla="*/ 997528 w 1864426"/>
                <a:gd name="connsiteY46" fmla="*/ 190005 h 1056904"/>
                <a:gd name="connsiteX47" fmla="*/ 997528 w 1864426"/>
                <a:gd name="connsiteY47" fmla="*/ 95002 h 1056904"/>
                <a:gd name="connsiteX48" fmla="*/ 1116281 w 1864426"/>
                <a:gd name="connsiteY48" fmla="*/ 71252 h 1056904"/>
                <a:gd name="connsiteX49" fmla="*/ 1211284 w 1864426"/>
                <a:gd name="connsiteY49" fmla="*/ 95002 h 105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864426" h="1056904">
                  <a:moveTo>
                    <a:pt x="1211284" y="95002"/>
                  </a:moveTo>
                  <a:lnTo>
                    <a:pt x="1330037" y="11875"/>
                  </a:lnTo>
                  <a:lnTo>
                    <a:pt x="1436915" y="0"/>
                  </a:lnTo>
                  <a:lnTo>
                    <a:pt x="1448790" y="154379"/>
                  </a:lnTo>
                  <a:lnTo>
                    <a:pt x="1543793" y="201880"/>
                  </a:lnTo>
                  <a:lnTo>
                    <a:pt x="1603169" y="166254"/>
                  </a:lnTo>
                  <a:lnTo>
                    <a:pt x="1710047" y="166254"/>
                  </a:lnTo>
                  <a:lnTo>
                    <a:pt x="1710047" y="308758"/>
                  </a:lnTo>
                  <a:lnTo>
                    <a:pt x="1698172" y="391885"/>
                  </a:lnTo>
                  <a:lnTo>
                    <a:pt x="1840676" y="451262"/>
                  </a:lnTo>
                  <a:lnTo>
                    <a:pt x="1793174" y="617517"/>
                  </a:lnTo>
                  <a:lnTo>
                    <a:pt x="1769424" y="676893"/>
                  </a:lnTo>
                  <a:lnTo>
                    <a:pt x="1852551" y="736270"/>
                  </a:lnTo>
                  <a:lnTo>
                    <a:pt x="1864426" y="866898"/>
                  </a:lnTo>
                  <a:lnTo>
                    <a:pt x="1698172" y="902524"/>
                  </a:lnTo>
                  <a:lnTo>
                    <a:pt x="1603169" y="973776"/>
                  </a:lnTo>
                  <a:lnTo>
                    <a:pt x="1531917" y="1009402"/>
                  </a:lnTo>
                  <a:lnTo>
                    <a:pt x="1413164" y="961901"/>
                  </a:lnTo>
                  <a:lnTo>
                    <a:pt x="1353787" y="961901"/>
                  </a:lnTo>
                  <a:lnTo>
                    <a:pt x="1330037" y="1021278"/>
                  </a:lnTo>
                  <a:lnTo>
                    <a:pt x="1235034" y="1021278"/>
                  </a:lnTo>
                  <a:lnTo>
                    <a:pt x="1080655" y="973776"/>
                  </a:lnTo>
                  <a:lnTo>
                    <a:pt x="973777" y="1021278"/>
                  </a:lnTo>
                  <a:lnTo>
                    <a:pt x="926276" y="1056904"/>
                  </a:lnTo>
                  <a:lnTo>
                    <a:pt x="771897" y="985652"/>
                  </a:lnTo>
                  <a:lnTo>
                    <a:pt x="700645" y="1033153"/>
                  </a:lnTo>
                  <a:lnTo>
                    <a:pt x="641268" y="1056904"/>
                  </a:lnTo>
                  <a:lnTo>
                    <a:pt x="510639" y="938150"/>
                  </a:lnTo>
                  <a:lnTo>
                    <a:pt x="285008" y="1009402"/>
                  </a:lnTo>
                  <a:lnTo>
                    <a:pt x="190006" y="973776"/>
                  </a:lnTo>
                  <a:lnTo>
                    <a:pt x="190006" y="878774"/>
                  </a:lnTo>
                  <a:lnTo>
                    <a:pt x="59377" y="831272"/>
                  </a:lnTo>
                  <a:lnTo>
                    <a:pt x="0" y="783771"/>
                  </a:lnTo>
                  <a:lnTo>
                    <a:pt x="71252" y="605641"/>
                  </a:lnTo>
                  <a:lnTo>
                    <a:pt x="201881" y="629392"/>
                  </a:lnTo>
                  <a:lnTo>
                    <a:pt x="249382" y="558140"/>
                  </a:lnTo>
                  <a:lnTo>
                    <a:pt x="261258" y="486888"/>
                  </a:lnTo>
                  <a:lnTo>
                    <a:pt x="344385" y="475013"/>
                  </a:lnTo>
                  <a:lnTo>
                    <a:pt x="451263" y="522514"/>
                  </a:lnTo>
                  <a:lnTo>
                    <a:pt x="498764" y="427511"/>
                  </a:lnTo>
                  <a:lnTo>
                    <a:pt x="558141" y="356259"/>
                  </a:lnTo>
                  <a:lnTo>
                    <a:pt x="724395" y="415636"/>
                  </a:lnTo>
                  <a:lnTo>
                    <a:pt x="748146" y="320633"/>
                  </a:lnTo>
                  <a:lnTo>
                    <a:pt x="771897" y="237506"/>
                  </a:lnTo>
                  <a:lnTo>
                    <a:pt x="902525" y="261257"/>
                  </a:lnTo>
                  <a:lnTo>
                    <a:pt x="950026" y="296883"/>
                  </a:lnTo>
                  <a:lnTo>
                    <a:pt x="997528" y="190005"/>
                  </a:lnTo>
                  <a:lnTo>
                    <a:pt x="997528" y="95002"/>
                  </a:lnTo>
                  <a:lnTo>
                    <a:pt x="1116281" y="71252"/>
                  </a:lnTo>
                  <a:lnTo>
                    <a:pt x="1211284" y="95002"/>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18" name="Text Box 10"/>
            <p:cNvSpPr txBox="1">
              <a:spLocks noChangeArrowheads="1"/>
            </p:cNvSpPr>
            <p:nvPr/>
          </p:nvSpPr>
          <p:spPr bwMode="auto">
            <a:xfrm>
              <a:off x="7013314" y="2934618"/>
              <a:ext cx="1015070" cy="422374"/>
            </a:xfrm>
            <a:prstGeom prst="rect">
              <a:avLst/>
            </a:prstGeom>
            <a:noFill/>
            <a:ln w="9525">
              <a:noFill/>
              <a:miter lim="800000"/>
              <a:headEnd/>
              <a:tailEnd/>
            </a:ln>
          </p:spPr>
          <p:txBody>
            <a:bodyPr/>
            <a:lstStyle/>
            <a:p>
              <a:r>
                <a:rPr lang="en-GB" sz="1400" b="1" dirty="0">
                  <a:solidFill>
                    <a:schemeClr val="tx2"/>
                  </a:solidFill>
                </a:rPr>
                <a:t>W</a:t>
              </a:r>
              <a:r>
                <a:rPr lang="en-GB" sz="1400" dirty="0"/>
                <a:t>hen did</a:t>
              </a:r>
            </a:p>
          </p:txBody>
        </p:sp>
        <p:sp>
          <p:nvSpPr>
            <p:cNvPr id="19" name="Text Box 10"/>
            <p:cNvSpPr txBox="1">
              <a:spLocks noChangeArrowheads="1"/>
            </p:cNvSpPr>
            <p:nvPr/>
          </p:nvSpPr>
          <p:spPr bwMode="auto">
            <a:xfrm>
              <a:off x="6458790" y="3113982"/>
              <a:ext cx="1929634" cy="243010"/>
            </a:xfrm>
            <a:prstGeom prst="rect">
              <a:avLst/>
            </a:prstGeom>
            <a:noFill/>
            <a:ln w="9525">
              <a:noFill/>
              <a:miter lim="800000"/>
              <a:headEnd/>
              <a:tailEnd/>
            </a:ln>
          </p:spPr>
          <p:txBody>
            <a:bodyPr/>
            <a:lstStyle/>
            <a:p>
              <a:r>
                <a:rPr lang="en-GB" sz="1400" dirty="0"/>
                <a:t>the </a:t>
              </a:r>
              <a:r>
                <a:rPr lang="en-GB" sz="1400" dirty="0" smtClean="0"/>
                <a:t>problem </a:t>
              </a:r>
              <a:r>
                <a:rPr lang="en-GB" sz="1400" dirty="0"/>
                <a:t>occur</a:t>
              </a:r>
            </a:p>
          </p:txBody>
        </p:sp>
        <p:sp>
          <p:nvSpPr>
            <p:cNvPr id="20" name="Text Box 10"/>
            <p:cNvSpPr txBox="1">
              <a:spLocks noChangeArrowheads="1"/>
            </p:cNvSpPr>
            <p:nvPr/>
          </p:nvSpPr>
          <p:spPr bwMode="auto">
            <a:xfrm>
              <a:off x="6269459" y="3331922"/>
              <a:ext cx="1983826" cy="360040"/>
            </a:xfrm>
            <a:prstGeom prst="rect">
              <a:avLst/>
            </a:prstGeom>
            <a:noFill/>
            <a:ln w="9525">
              <a:noFill/>
              <a:miter lim="800000"/>
              <a:headEnd/>
              <a:tailEnd/>
            </a:ln>
          </p:spPr>
          <p:txBody>
            <a:bodyPr/>
            <a:lstStyle/>
            <a:p>
              <a:r>
                <a:rPr lang="en-GB" sz="1400" dirty="0" smtClean="0"/>
                <a:t>occur and </a:t>
              </a:r>
              <a:r>
                <a:rPr lang="en-GB" sz="1400" dirty="0"/>
                <a:t>when not?</a:t>
              </a:r>
            </a:p>
          </p:txBody>
        </p:sp>
        <p:sp>
          <p:nvSpPr>
            <p:cNvPr id="4" name="Vrije vorm 3"/>
            <p:cNvSpPr/>
            <p:nvPr/>
          </p:nvSpPr>
          <p:spPr>
            <a:xfrm>
              <a:off x="1385411" y="2204864"/>
              <a:ext cx="1674421" cy="1211283"/>
            </a:xfrm>
            <a:custGeom>
              <a:avLst/>
              <a:gdLst>
                <a:gd name="connsiteX0" fmla="*/ 700644 w 1674421"/>
                <a:gd name="connsiteY0" fmla="*/ 0 h 1211283"/>
                <a:gd name="connsiteX1" fmla="*/ 902525 w 1674421"/>
                <a:gd name="connsiteY1" fmla="*/ 130628 h 1211283"/>
                <a:gd name="connsiteX2" fmla="*/ 1080654 w 1674421"/>
                <a:gd name="connsiteY2" fmla="*/ 71252 h 1211283"/>
                <a:gd name="connsiteX3" fmla="*/ 1258784 w 1674421"/>
                <a:gd name="connsiteY3" fmla="*/ 201880 h 1211283"/>
                <a:gd name="connsiteX4" fmla="*/ 1413164 w 1674421"/>
                <a:gd name="connsiteY4" fmla="*/ 201880 h 1211283"/>
                <a:gd name="connsiteX5" fmla="*/ 1496291 w 1674421"/>
                <a:gd name="connsiteY5" fmla="*/ 380010 h 1211283"/>
                <a:gd name="connsiteX6" fmla="*/ 1674421 w 1674421"/>
                <a:gd name="connsiteY6" fmla="*/ 475013 h 1211283"/>
                <a:gd name="connsiteX7" fmla="*/ 1567543 w 1674421"/>
                <a:gd name="connsiteY7" fmla="*/ 771896 h 1211283"/>
                <a:gd name="connsiteX8" fmla="*/ 1626919 w 1674421"/>
                <a:gd name="connsiteY8" fmla="*/ 890649 h 1211283"/>
                <a:gd name="connsiteX9" fmla="*/ 1579418 w 1674421"/>
                <a:gd name="connsiteY9" fmla="*/ 985652 h 1211283"/>
                <a:gd name="connsiteX10" fmla="*/ 1460665 w 1674421"/>
                <a:gd name="connsiteY10" fmla="*/ 1021278 h 1211283"/>
                <a:gd name="connsiteX11" fmla="*/ 1389413 w 1674421"/>
                <a:gd name="connsiteY11" fmla="*/ 1128156 h 1211283"/>
                <a:gd name="connsiteX12" fmla="*/ 1318161 w 1674421"/>
                <a:gd name="connsiteY12" fmla="*/ 1211283 h 1211283"/>
                <a:gd name="connsiteX13" fmla="*/ 1092530 w 1674421"/>
                <a:gd name="connsiteY13" fmla="*/ 1128156 h 1211283"/>
                <a:gd name="connsiteX14" fmla="*/ 973777 w 1674421"/>
                <a:gd name="connsiteY14" fmla="*/ 1163781 h 1211283"/>
                <a:gd name="connsiteX15" fmla="*/ 795647 w 1674421"/>
                <a:gd name="connsiteY15" fmla="*/ 1175657 h 1211283"/>
                <a:gd name="connsiteX16" fmla="*/ 676893 w 1674421"/>
                <a:gd name="connsiteY16" fmla="*/ 1104405 h 1211283"/>
                <a:gd name="connsiteX17" fmla="*/ 558140 w 1674421"/>
                <a:gd name="connsiteY17" fmla="*/ 1104405 h 1211283"/>
                <a:gd name="connsiteX18" fmla="*/ 380010 w 1674421"/>
                <a:gd name="connsiteY18" fmla="*/ 1033153 h 1211283"/>
                <a:gd name="connsiteX19" fmla="*/ 332509 w 1674421"/>
                <a:gd name="connsiteY19" fmla="*/ 902524 h 1211283"/>
                <a:gd name="connsiteX20" fmla="*/ 225631 w 1674421"/>
                <a:gd name="connsiteY20" fmla="*/ 878774 h 1211283"/>
                <a:gd name="connsiteX21" fmla="*/ 83127 w 1674421"/>
                <a:gd name="connsiteY21" fmla="*/ 783771 h 1211283"/>
                <a:gd name="connsiteX22" fmla="*/ 118753 w 1674421"/>
                <a:gd name="connsiteY22" fmla="*/ 534389 h 1211283"/>
                <a:gd name="connsiteX23" fmla="*/ 0 w 1674421"/>
                <a:gd name="connsiteY23" fmla="*/ 439387 h 1211283"/>
                <a:gd name="connsiteX24" fmla="*/ 35626 w 1674421"/>
                <a:gd name="connsiteY24" fmla="*/ 273132 h 1211283"/>
                <a:gd name="connsiteX25" fmla="*/ 154379 w 1674421"/>
                <a:gd name="connsiteY25" fmla="*/ 237506 h 1211283"/>
                <a:gd name="connsiteX26" fmla="*/ 130628 w 1674421"/>
                <a:gd name="connsiteY26" fmla="*/ 106878 h 1211283"/>
                <a:gd name="connsiteX27" fmla="*/ 213756 w 1674421"/>
                <a:gd name="connsiteY27" fmla="*/ 47501 h 1211283"/>
                <a:gd name="connsiteX28" fmla="*/ 308758 w 1674421"/>
                <a:gd name="connsiteY28" fmla="*/ 35626 h 1211283"/>
                <a:gd name="connsiteX29" fmla="*/ 451262 w 1674421"/>
                <a:gd name="connsiteY29" fmla="*/ 118753 h 1211283"/>
                <a:gd name="connsiteX30" fmla="*/ 534390 w 1674421"/>
                <a:gd name="connsiteY30" fmla="*/ 95002 h 1211283"/>
                <a:gd name="connsiteX31" fmla="*/ 605641 w 1674421"/>
                <a:gd name="connsiteY31" fmla="*/ 35626 h 1211283"/>
                <a:gd name="connsiteX32" fmla="*/ 700644 w 1674421"/>
                <a:gd name="connsiteY32" fmla="*/ 0 h 1211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674421" h="1211283">
                  <a:moveTo>
                    <a:pt x="700644" y="0"/>
                  </a:moveTo>
                  <a:lnTo>
                    <a:pt x="902525" y="130628"/>
                  </a:lnTo>
                  <a:lnTo>
                    <a:pt x="1080654" y="71252"/>
                  </a:lnTo>
                  <a:lnTo>
                    <a:pt x="1258784" y="201880"/>
                  </a:lnTo>
                  <a:lnTo>
                    <a:pt x="1413164" y="201880"/>
                  </a:lnTo>
                  <a:lnTo>
                    <a:pt x="1496291" y="380010"/>
                  </a:lnTo>
                  <a:lnTo>
                    <a:pt x="1674421" y="475013"/>
                  </a:lnTo>
                  <a:lnTo>
                    <a:pt x="1567543" y="771896"/>
                  </a:lnTo>
                  <a:lnTo>
                    <a:pt x="1626919" y="890649"/>
                  </a:lnTo>
                  <a:lnTo>
                    <a:pt x="1579418" y="985652"/>
                  </a:lnTo>
                  <a:lnTo>
                    <a:pt x="1460665" y="1021278"/>
                  </a:lnTo>
                  <a:lnTo>
                    <a:pt x="1389413" y="1128156"/>
                  </a:lnTo>
                  <a:lnTo>
                    <a:pt x="1318161" y="1211283"/>
                  </a:lnTo>
                  <a:lnTo>
                    <a:pt x="1092530" y="1128156"/>
                  </a:lnTo>
                  <a:lnTo>
                    <a:pt x="973777" y="1163781"/>
                  </a:lnTo>
                  <a:lnTo>
                    <a:pt x="795647" y="1175657"/>
                  </a:lnTo>
                  <a:lnTo>
                    <a:pt x="676893" y="1104405"/>
                  </a:lnTo>
                  <a:lnTo>
                    <a:pt x="558140" y="1104405"/>
                  </a:lnTo>
                  <a:lnTo>
                    <a:pt x="380010" y="1033153"/>
                  </a:lnTo>
                  <a:lnTo>
                    <a:pt x="332509" y="902524"/>
                  </a:lnTo>
                  <a:lnTo>
                    <a:pt x="225631" y="878774"/>
                  </a:lnTo>
                  <a:lnTo>
                    <a:pt x="83127" y="783771"/>
                  </a:lnTo>
                  <a:lnTo>
                    <a:pt x="118753" y="534389"/>
                  </a:lnTo>
                  <a:lnTo>
                    <a:pt x="0" y="439387"/>
                  </a:lnTo>
                  <a:lnTo>
                    <a:pt x="35626" y="273132"/>
                  </a:lnTo>
                  <a:lnTo>
                    <a:pt x="154379" y="237506"/>
                  </a:lnTo>
                  <a:lnTo>
                    <a:pt x="130628" y="106878"/>
                  </a:lnTo>
                  <a:lnTo>
                    <a:pt x="213756" y="47501"/>
                  </a:lnTo>
                  <a:lnTo>
                    <a:pt x="308758" y="35626"/>
                  </a:lnTo>
                  <a:lnTo>
                    <a:pt x="451262" y="118753"/>
                  </a:lnTo>
                  <a:lnTo>
                    <a:pt x="534390" y="95002"/>
                  </a:lnTo>
                  <a:lnTo>
                    <a:pt x="605641" y="35626"/>
                  </a:lnTo>
                  <a:lnTo>
                    <a:pt x="700644" y="0"/>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1" name="Text Box 5"/>
            <p:cNvSpPr txBox="1">
              <a:spLocks noChangeArrowheads="1"/>
            </p:cNvSpPr>
            <p:nvPr/>
          </p:nvSpPr>
          <p:spPr bwMode="auto">
            <a:xfrm>
              <a:off x="1619672" y="2420888"/>
              <a:ext cx="1208428" cy="936104"/>
            </a:xfrm>
            <a:prstGeom prst="rect">
              <a:avLst/>
            </a:prstGeom>
            <a:noFill/>
            <a:ln w="9525">
              <a:noFill/>
              <a:miter lim="800000"/>
              <a:headEnd/>
              <a:tailEnd/>
            </a:ln>
          </p:spPr>
          <p:txBody>
            <a:bodyPr/>
            <a:lstStyle/>
            <a:p>
              <a:pPr algn="ctr"/>
              <a:r>
                <a:rPr lang="en-GB" sz="1400" b="1" dirty="0">
                  <a:solidFill>
                    <a:schemeClr val="tx2"/>
                  </a:solidFill>
                </a:rPr>
                <a:t>W</a:t>
              </a:r>
              <a:r>
                <a:rPr lang="en-GB" sz="1400" dirty="0"/>
                <a:t>hat occurred and what did not?</a:t>
              </a:r>
            </a:p>
          </p:txBody>
        </p:sp>
        <p:sp>
          <p:nvSpPr>
            <p:cNvPr id="5" name="Vrije vorm 4"/>
            <p:cNvSpPr/>
            <p:nvPr/>
          </p:nvSpPr>
          <p:spPr>
            <a:xfrm>
              <a:off x="3412755" y="2103828"/>
              <a:ext cx="1591293" cy="973776"/>
            </a:xfrm>
            <a:custGeom>
              <a:avLst/>
              <a:gdLst>
                <a:gd name="connsiteX0" fmla="*/ 688769 w 1591293"/>
                <a:gd name="connsiteY0" fmla="*/ 11875 h 973776"/>
                <a:gd name="connsiteX1" fmla="*/ 843148 w 1591293"/>
                <a:gd name="connsiteY1" fmla="*/ 83127 h 973776"/>
                <a:gd name="connsiteX2" fmla="*/ 985652 w 1591293"/>
                <a:gd name="connsiteY2" fmla="*/ 0 h 973776"/>
                <a:gd name="connsiteX3" fmla="*/ 1080654 w 1591293"/>
                <a:gd name="connsiteY3" fmla="*/ 83127 h 973776"/>
                <a:gd name="connsiteX4" fmla="*/ 1175657 w 1591293"/>
                <a:gd name="connsiteY4" fmla="*/ 106878 h 973776"/>
                <a:gd name="connsiteX5" fmla="*/ 1282535 w 1591293"/>
                <a:gd name="connsiteY5" fmla="*/ 59376 h 973776"/>
                <a:gd name="connsiteX6" fmla="*/ 1389413 w 1591293"/>
                <a:gd name="connsiteY6" fmla="*/ 201880 h 973776"/>
                <a:gd name="connsiteX7" fmla="*/ 1484415 w 1591293"/>
                <a:gd name="connsiteY7" fmla="*/ 201880 h 973776"/>
                <a:gd name="connsiteX8" fmla="*/ 1567543 w 1591293"/>
                <a:gd name="connsiteY8" fmla="*/ 261257 h 973776"/>
                <a:gd name="connsiteX9" fmla="*/ 1543792 w 1591293"/>
                <a:gd name="connsiteY9" fmla="*/ 415636 h 973776"/>
                <a:gd name="connsiteX10" fmla="*/ 1591293 w 1591293"/>
                <a:gd name="connsiteY10" fmla="*/ 498763 h 973776"/>
                <a:gd name="connsiteX11" fmla="*/ 1591293 w 1591293"/>
                <a:gd name="connsiteY11" fmla="*/ 581891 h 973776"/>
                <a:gd name="connsiteX12" fmla="*/ 1472540 w 1591293"/>
                <a:gd name="connsiteY12" fmla="*/ 665018 h 973776"/>
                <a:gd name="connsiteX13" fmla="*/ 1448789 w 1591293"/>
                <a:gd name="connsiteY13" fmla="*/ 724395 h 973776"/>
                <a:gd name="connsiteX14" fmla="*/ 1448789 w 1591293"/>
                <a:gd name="connsiteY14" fmla="*/ 724395 h 973776"/>
                <a:gd name="connsiteX15" fmla="*/ 1389413 w 1591293"/>
                <a:gd name="connsiteY15" fmla="*/ 843148 h 973776"/>
                <a:gd name="connsiteX16" fmla="*/ 1282535 w 1591293"/>
                <a:gd name="connsiteY16" fmla="*/ 866898 h 973776"/>
                <a:gd name="connsiteX17" fmla="*/ 1211283 w 1591293"/>
                <a:gd name="connsiteY17" fmla="*/ 855023 h 973776"/>
                <a:gd name="connsiteX18" fmla="*/ 1116280 w 1591293"/>
                <a:gd name="connsiteY18" fmla="*/ 902524 h 973776"/>
                <a:gd name="connsiteX19" fmla="*/ 1056904 w 1591293"/>
                <a:gd name="connsiteY19" fmla="*/ 938150 h 973776"/>
                <a:gd name="connsiteX20" fmla="*/ 950026 w 1591293"/>
                <a:gd name="connsiteY20" fmla="*/ 938150 h 973776"/>
                <a:gd name="connsiteX21" fmla="*/ 819397 w 1591293"/>
                <a:gd name="connsiteY21" fmla="*/ 914400 h 973776"/>
                <a:gd name="connsiteX22" fmla="*/ 736270 w 1591293"/>
                <a:gd name="connsiteY22" fmla="*/ 961901 h 973776"/>
                <a:gd name="connsiteX23" fmla="*/ 641267 w 1591293"/>
                <a:gd name="connsiteY23" fmla="*/ 973776 h 973776"/>
                <a:gd name="connsiteX24" fmla="*/ 475013 w 1591293"/>
                <a:gd name="connsiteY24" fmla="*/ 878774 h 973776"/>
                <a:gd name="connsiteX25" fmla="*/ 380010 w 1591293"/>
                <a:gd name="connsiteY25" fmla="*/ 890649 h 973776"/>
                <a:gd name="connsiteX26" fmla="*/ 190005 w 1591293"/>
                <a:gd name="connsiteY26" fmla="*/ 855023 h 973776"/>
                <a:gd name="connsiteX27" fmla="*/ 178130 w 1591293"/>
                <a:gd name="connsiteY27" fmla="*/ 771896 h 973776"/>
                <a:gd name="connsiteX28" fmla="*/ 225631 w 1591293"/>
                <a:gd name="connsiteY28" fmla="*/ 688769 h 973776"/>
                <a:gd name="connsiteX29" fmla="*/ 95002 w 1591293"/>
                <a:gd name="connsiteY29" fmla="*/ 665018 h 973776"/>
                <a:gd name="connsiteX30" fmla="*/ 95002 w 1591293"/>
                <a:gd name="connsiteY30" fmla="*/ 665018 h 973776"/>
                <a:gd name="connsiteX31" fmla="*/ 0 w 1591293"/>
                <a:gd name="connsiteY31" fmla="*/ 546265 h 973776"/>
                <a:gd name="connsiteX32" fmla="*/ 47501 w 1591293"/>
                <a:gd name="connsiteY32" fmla="*/ 427511 h 973776"/>
                <a:gd name="connsiteX33" fmla="*/ 35626 w 1591293"/>
                <a:gd name="connsiteY33" fmla="*/ 332509 h 973776"/>
                <a:gd name="connsiteX34" fmla="*/ 106878 w 1591293"/>
                <a:gd name="connsiteY34" fmla="*/ 237506 h 973776"/>
                <a:gd name="connsiteX35" fmla="*/ 225631 w 1591293"/>
                <a:gd name="connsiteY35" fmla="*/ 273132 h 973776"/>
                <a:gd name="connsiteX36" fmla="*/ 261257 w 1591293"/>
                <a:gd name="connsiteY36" fmla="*/ 190005 h 973776"/>
                <a:gd name="connsiteX37" fmla="*/ 261257 w 1591293"/>
                <a:gd name="connsiteY37" fmla="*/ 106878 h 973776"/>
                <a:gd name="connsiteX38" fmla="*/ 320634 w 1591293"/>
                <a:gd name="connsiteY38" fmla="*/ 71252 h 973776"/>
                <a:gd name="connsiteX39" fmla="*/ 403761 w 1591293"/>
                <a:gd name="connsiteY39" fmla="*/ 83127 h 973776"/>
                <a:gd name="connsiteX40" fmla="*/ 558140 w 1591293"/>
                <a:gd name="connsiteY40" fmla="*/ 118753 h 973776"/>
                <a:gd name="connsiteX41" fmla="*/ 617517 w 1591293"/>
                <a:gd name="connsiteY41" fmla="*/ 59376 h 973776"/>
                <a:gd name="connsiteX42" fmla="*/ 688769 w 1591293"/>
                <a:gd name="connsiteY42" fmla="*/ 11875 h 97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591293" h="973776">
                  <a:moveTo>
                    <a:pt x="688769" y="11875"/>
                  </a:moveTo>
                  <a:lnTo>
                    <a:pt x="843148" y="83127"/>
                  </a:lnTo>
                  <a:lnTo>
                    <a:pt x="985652" y="0"/>
                  </a:lnTo>
                  <a:lnTo>
                    <a:pt x="1080654" y="83127"/>
                  </a:lnTo>
                  <a:lnTo>
                    <a:pt x="1175657" y="106878"/>
                  </a:lnTo>
                  <a:lnTo>
                    <a:pt x="1282535" y="59376"/>
                  </a:lnTo>
                  <a:lnTo>
                    <a:pt x="1389413" y="201880"/>
                  </a:lnTo>
                  <a:lnTo>
                    <a:pt x="1484415" y="201880"/>
                  </a:lnTo>
                  <a:lnTo>
                    <a:pt x="1567543" y="261257"/>
                  </a:lnTo>
                  <a:lnTo>
                    <a:pt x="1543792" y="415636"/>
                  </a:lnTo>
                  <a:lnTo>
                    <a:pt x="1591293" y="498763"/>
                  </a:lnTo>
                  <a:lnTo>
                    <a:pt x="1591293" y="581891"/>
                  </a:lnTo>
                  <a:lnTo>
                    <a:pt x="1472540" y="665018"/>
                  </a:lnTo>
                  <a:lnTo>
                    <a:pt x="1448789" y="724395"/>
                  </a:lnTo>
                  <a:lnTo>
                    <a:pt x="1448789" y="724395"/>
                  </a:lnTo>
                  <a:lnTo>
                    <a:pt x="1389413" y="843148"/>
                  </a:lnTo>
                  <a:lnTo>
                    <a:pt x="1282535" y="866898"/>
                  </a:lnTo>
                  <a:lnTo>
                    <a:pt x="1211283" y="855023"/>
                  </a:lnTo>
                  <a:lnTo>
                    <a:pt x="1116280" y="902524"/>
                  </a:lnTo>
                  <a:lnTo>
                    <a:pt x="1056904" y="938150"/>
                  </a:lnTo>
                  <a:lnTo>
                    <a:pt x="950026" y="938150"/>
                  </a:lnTo>
                  <a:lnTo>
                    <a:pt x="819397" y="914400"/>
                  </a:lnTo>
                  <a:lnTo>
                    <a:pt x="736270" y="961901"/>
                  </a:lnTo>
                  <a:lnTo>
                    <a:pt x="641267" y="973776"/>
                  </a:lnTo>
                  <a:lnTo>
                    <a:pt x="475013" y="878774"/>
                  </a:lnTo>
                  <a:lnTo>
                    <a:pt x="380010" y="890649"/>
                  </a:lnTo>
                  <a:lnTo>
                    <a:pt x="190005" y="855023"/>
                  </a:lnTo>
                  <a:lnTo>
                    <a:pt x="178130" y="771896"/>
                  </a:lnTo>
                  <a:lnTo>
                    <a:pt x="225631" y="688769"/>
                  </a:lnTo>
                  <a:lnTo>
                    <a:pt x="95002" y="665018"/>
                  </a:lnTo>
                  <a:lnTo>
                    <a:pt x="95002" y="665018"/>
                  </a:lnTo>
                  <a:lnTo>
                    <a:pt x="0" y="546265"/>
                  </a:lnTo>
                  <a:lnTo>
                    <a:pt x="47501" y="427511"/>
                  </a:lnTo>
                  <a:lnTo>
                    <a:pt x="35626" y="332509"/>
                  </a:lnTo>
                  <a:lnTo>
                    <a:pt x="106878" y="237506"/>
                  </a:lnTo>
                  <a:lnTo>
                    <a:pt x="225631" y="273132"/>
                  </a:lnTo>
                  <a:lnTo>
                    <a:pt x="261257" y="190005"/>
                  </a:lnTo>
                  <a:lnTo>
                    <a:pt x="261257" y="106878"/>
                  </a:lnTo>
                  <a:lnTo>
                    <a:pt x="320634" y="71252"/>
                  </a:lnTo>
                  <a:lnTo>
                    <a:pt x="403761" y="83127"/>
                  </a:lnTo>
                  <a:lnTo>
                    <a:pt x="558140" y="118753"/>
                  </a:lnTo>
                  <a:lnTo>
                    <a:pt x="617517" y="59376"/>
                  </a:lnTo>
                  <a:lnTo>
                    <a:pt x="688769" y="11875"/>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3" name="Text Box 7"/>
            <p:cNvSpPr txBox="1">
              <a:spLocks noChangeArrowheads="1"/>
            </p:cNvSpPr>
            <p:nvPr/>
          </p:nvSpPr>
          <p:spPr bwMode="auto">
            <a:xfrm>
              <a:off x="3563888" y="2259639"/>
              <a:ext cx="1368152" cy="648072"/>
            </a:xfrm>
            <a:prstGeom prst="rect">
              <a:avLst/>
            </a:prstGeom>
            <a:noFill/>
            <a:ln w="9525">
              <a:noFill/>
              <a:miter lim="800000"/>
              <a:headEnd/>
              <a:tailEnd/>
            </a:ln>
          </p:spPr>
          <p:txBody>
            <a:bodyPr/>
            <a:lstStyle/>
            <a:p>
              <a:pPr algn="ctr"/>
              <a:r>
                <a:rPr lang="en-GB" sz="1400" b="1" dirty="0">
                  <a:solidFill>
                    <a:schemeClr val="tx2"/>
                  </a:solidFill>
                </a:rPr>
                <a:t>W</a:t>
              </a:r>
              <a:r>
                <a:rPr lang="en-GB" sz="1400" dirty="0"/>
                <a:t>hy is there a problem and why not?</a:t>
              </a: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GB" noProof="0" smtClean="0"/>
              <a:t>Root Cause Analysis</a:t>
            </a:r>
            <a:endParaRPr lang="en-GB" noProof="0" dirty="0" smtClean="0"/>
          </a:p>
        </p:txBody>
      </p:sp>
      <p:sp>
        <p:nvSpPr>
          <p:cNvPr id="6147" name="Rectangle 3"/>
          <p:cNvSpPr>
            <a:spLocks noGrp="1" noChangeArrowheads="1"/>
          </p:cNvSpPr>
          <p:nvPr>
            <p:ph idx="1"/>
          </p:nvPr>
        </p:nvSpPr>
        <p:spPr/>
        <p:txBody>
          <a:bodyPr/>
          <a:lstStyle/>
          <a:p>
            <a:r>
              <a:rPr lang="en-GB" noProof="0" dirty="0" smtClean="0"/>
              <a:t>Is – Is not</a:t>
            </a:r>
          </a:p>
          <a:p>
            <a:pPr lvl="1"/>
            <a:endParaRPr lang="en-GB" noProof="0" dirty="0" smtClean="0"/>
          </a:p>
          <a:p>
            <a:pPr marL="180975" lvl="1" indent="0">
              <a:buNone/>
            </a:pPr>
            <a:r>
              <a:rPr lang="en-GB" sz="1800" noProof="0" dirty="0" smtClean="0"/>
              <a:t>Comparison Analysis</a:t>
            </a:r>
          </a:p>
          <a:p>
            <a:pPr lvl="1">
              <a:buClrTx/>
            </a:pPr>
            <a:r>
              <a:rPr lang="en-GB" noProof="0" dirty="0" smtClean="0"/>
              <a:t>Differences: What is special, unique or different  in terms of what IS vs. what IS NOT?</a:t>
            </a:r>
          </a:p>
          <a:p>
            <a:pPr lvl="1">
              <a:buClrTx/>
            </a:pPr>
            <a:r>
              <a:rPr lang="en-GB" noProof="0" dirty="0" smtClean="0"/>
              <a:t>Changes: In relation to the differences, what has changed?</a:t>
            </a:r>
          </a:p>
          <a:p>
            <a:pPr lvl="1">
              <a:buClrTx/>
            </a:pPr>
            <a:endParaRPr lang="en-GB" noProof="0" dirty="0" smtClean="0"/>
          </a:p>
          <a:p>
            <a:pPr lvl="1">
              <a:buClrTx/>
            </a:pPr>
            <a:endParaRPr lang="en-GB" noProof="0" dirty="0" smtClean="0"/>
          </a:p>
          <a:p>
            <a:pPr marL="180975" lvl="1" indent="0">
              <a:buClrTx/>
              <a:buNone/>
            </a:pPr>
            <a:r>
              <a:rPr lang="en-GB" sz="1800" noProof="0" dirty="0" smtClean="0"/>
              <a:t>Possible Causes</a:t>
            </a:r>
            <a:endParaRPr lang="en-GB" noProof="0" dirty="0" smtClean="0"/>
          </a:p>
          <a:p>
            <a:pPr lvl="1">
              <a:buClrTx/>
            </a:pPr>
            <a:r>
              <a:rPr lang="en-GB" noProof="0" dirty="0" smtClean="0"/>
              <a:t>Events that explain how the problem is caused</a:t>
            </a:r>
          </a:p>
          <a:p>
            <a:pPr lvl="1">
              <a:buClrTx/>
            </a:pPr>
            <a:r>
              <a:rPr lang="en-GB" noProof="0" dirty="0" smtClean="0"/>
              <a:t>Which changes could have caused the problem?</a:t>
            </a:r>
          </a:p>
          <a:p>
            <a:pPr lvl="1">
              <a:buClrTx/>
            </a:pPr>
            <a:r>
              <a:rPr lang="en-GB" noProof="0" dirty="0" smtClean="0"/>
              <a:t>Be creative and use if necessary “brainstorming”</a:t>
            </a:r>
          </a:p>
          <a:p>
            <a:pPr lvl="1"/>
            <a:endParaRPr lang="en-GB" b="0" noProof="0" dirty="0" smtClean="0"/>
          </a:p>
        </p:txBody>
      </p:sp>
    </p:spTree>
    <p:extLst>
      <p:ext uri="{BB962C8B-B14F-4D97-AF65-F5344CB8AC3E}">
        <p14:creationId xmlns:p14="http://schemas.microsoft.com/office/powerpoint/2010/main" val="15302555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GB" noProof="0" dirty="0" smtClean="0">
                <a:latin typeface="Arial" charset="0"/>
                <a:cs typeface="Arial" charset="0"/>
              </a:rPr>
              <a:t>Root Cause Analysis</a:t>
            </a:r>
          </a:p>
        </p:txBody>
      </p:sp>
      <p:sp>
        <p:nvSpPr>
          <p:cNvPr id="4099" name="Rectangle 3"/>
          <p:cNvSpPr>
            <a:spLocks noGrp="1" noChangeArrowheads="1"/>
          </p:cNvSpPr>
          <p:nvPr>
            <p:ph idx="1"/>
          </p:nvPr>
        </p:nvSpPr>
        <p:spPr/>
        <p:txBody>
          <a:bodyPr/>
          <a:lstStyle/>
          <a:p>
            <a:pPr eaLnBrk="1" hangingPunct="1"/>
            <a:r>
              <a:rPr lang="en-GB" noProof="0" dirty="0" smtClean="0">
                <a:latin typeface="Arial" charset="0"/>
                <a:cs typeface="Arial" charset="0"/>
              </a:rPr>
              <a:t>Brainstorming</a:t>
            </a:r>
          </a:p>
          <a:p>
            <a:pPr marL="180975" lvl="1" indent="0" eaLnBrk="1" hangingPunct="1">
              <a:buNone/>
            </a:pPr>
            <a:endParaRPr lang="en-GB" noProof="0" dirty="0" smtClean="0">
              <a:latin typeface="Arial" charset="0"/>
              <a:cs typeface="Arial" charset="0"/>
            </a:endParaRPr>
          </a:p>
          <a:p>
            <a:pPr marL="87313" lvl="1" indent="0" eaLnBrk="1" hangingPunct="1">
              <a:buFont typeface="Arial" charset="0"/>
              <a:buNone/>
            </a:pPr>
            <a:r>
              <a:rPr lang="en-GB" sz="1800" noProof="0" dirty="0" smtClean="0">
                <a:latin typeface="Arial" charset="0"/>
                <a:cs typeface="Arial" charset="0"/>
              </a:rPr>
              <a:t>Brainstorming is a group creativity technique designed to quickly generate a large number of ideas for the solution of a problem</a:t>
            </a:r>
          </a:p>
          <a:p>
            <a:pPr lvl="1" eaLnBrk="1" hangingPunct="1"/>
            <a:endParaRPr lang="en-GB" noProof="0" dirty="0" smtClean="0">
              <a:latin typeface="Arial" charset="0"/>
              <a:cs typeface="Arial" charset="0"/>
            </a:endParaRPr>
          </a:p>
          <a:p>
            <a:pPr lvl="1" eaLnBrk="1" hangingPunct="1"/>
            <a:endParaRPr lang="en-GB" noProof="0" dirty="0" smtClean="0">
              <a:latin typeface="Arial" charset="0"/>
              <a:cs typeface="Arial" charset="0"/>
            </a:endParaRPr>
          </a:p>
          <a:p>
            <a:pPr lvl="1" eaLnBrk="1" hangingPunct="1"/>
            <a:endParaRPr lang="en-GB" noProof="0" dirty="0" smtClean="0">
              <a:latin typeface="Arial" charset="0"/>
              <a:cs typeface="Arial" charset="0"/>
            </a:endParaRPr>
          </a:p>
          <a:p>
            <a:pPr lvl="1" eaLnBrk="1" hangingPunct="1"/>
            <a:endParaRPr lang="en-GB" noProof="0" dirty="0" smtClean="0">
              <a:latin typeface="Arial" charset="0"/>
              <a:cs typeface="Arial" charset="0"/>
            </a:endParaRPr>
          </a:p>
          <a:p>
            <a:pPr lvl="1" indent="-360363" eaLnBrk="1" hangingPunct="1">
              <a:buFont typeface="Arial" charset="0"/>
              <a:buNone/>
            </a:pPr>
            <a:r>
              <a:rPr lang="en-GB" sz="1800" noProof="0" dirty="0" smtClean="0">
                <a:latin typeface="Arial" charset="0"/>
                <a:cs typeface="Arial" charset="0"/>
              </a:rPr>
              <a:t>Ground rules:</a:t>
            </a:r>
          </a:p>
          <a:p>
            <a:pPr lvl="1" eaLnBrk="1" hangingPunct="1">
              <a:buClrTx/>
            </a:pPr>
            <a:r>
              <a:rPr lang="en-GB" noProof="0" dirty="0" smtClean="0">
                <a:latin typeface="Arial" charset="0"/>
                <a:cs typeface="Arial" charset="0"/>
              </a:rPr>
              <a:t>Withhold criticism</a:t>
            </a:r>
          </a:p>
          <a:p>
            <a:pPr lvl="1" eaLnBrk="1" hangingPunct="1">
              <a:buClrTx/>
            </a:pPr>
            <a:r>
              <a:rPr lang="en-GB" noProof="0" dirty="0" smtClean="0">
                <a:latin typeface="Arial" charset="0"/>
                <a:cs typeface="Arial" charset="0"/>
              </a:rPr>
              <a:t>Focus on quantity</a:t>
            </a:r>
          </a:p>
          <a:p>
            <a:pPr lvl="1" eaLnBrk="1" hangingPunct="1">
              <a:buClrTx/>
            </a:pPr>
            <a:r>
              <a:rPr lang="en-GB" noProof="0" dirty="0" smtClean="0">
                <a:latin typeface="Arial" charset="0"/>
                <a:cs typeface="Arial" charset="0"/>
              </a:rPr>
              <a:t>Think ‘outside-the-box’ </a:t>
            </a:r>
          </a:p>
          <a:p>
            <a:pPr lvl="1" eaLnBrk="1" hangingPunct="1"/>
            <a:endParaRPr lang="en-GB" noProof="0" dirty="0" smtClean="0">
              <a:latin typeface="Arial" charset="0"/>
              <a:cs typeface="Arial" charset="0"/>
            </a:endParaRPr>
          </a:p>
          <a:p>
            <a:pPr lvl="1" eaLnBrk="1" hangingPunct="1"/>
            <a:endParaRPr lang="en-GB" noProof="0" dirty="0" smtClean="0">
              <a:latin typeface="Arial" charset="0"/>
              <a:cs typeface="Arial" charset="0"/>
            </a:endParaRPr>
          </a:p>
        </p:txBody>
      </p:sp>
      <p:pic>
        <p:nvPicPr>
          <p:cNvPr id="2" name="Afbeelding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05663" y="2913474"/>
            <a:ext cx="4285715" cy="3555555"/>
          </a:xfrm>
          <a:prstGeom prst="rect">
            <a:avLst/>
          </a:prstGeom>
        </p:spPr>
      </p:pic>
    </p:spTree>
    <p:extLst>
      <p:ext uri="{BB962C8B-B14F-4D97-AF65-F5344CB8AC3E}">
        <p14:creationId xmlns:p14="http://schemas.microsoft.com/office/powerpoint/2010/main" val="38477234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8"/>
          <p:cNvSpPr>
            <a:spLocks noGrp="1" noChangeArrowheads="1"/>
          </p:cNvSpPr>
          <p:nvPr>
            <p:ph type="title"/>
          </p:nvPr>
        </p:nvSpPr>
        <p:spPr/>
        <p:txBody>
          <a:bodyPr/>
          <a:lstStyle/>
          <a:p>
            <a:pPr eaLnBrk="1" hangingPunct="1"/>
            <a:r>
              <a:rPr lang="en-GB" noProof="0" dirty="0" smtClean="0">
                <a:latin typeface="Arial" charset="0"/>
                <a:cs typeface="Arial" charset="0"/>
              </a:rPr>
              <a:t>Root Cause Analysis</a:t>
            </a:r>
          </a:p>
        </p:txBody>
      </p:sp>
      <p:sp>
        <p:nvSpPr>
          <p:cNvPr id="8195" name="Rectangle 9"/>
          <p:cNvSpPr>
            <a:spLocks noGrp="1" noChangeArrowheads="1"/>
          </p:cNvSpPr>
          <p:nvPr>
            <p:ph idx="1"/>
          </p:nvPr>
        </p:nvSpPr>
        <p:spPr/>
        <p:txBody>
          <a:bodyPr/>
          <a:lstStyle/>
          <a:p>
            <a:pPr eaLnBrk="1" hangingPunct="1"/>
            <a:r>
              <a:rPr lang="en-GB" noProof="0" dirty="0" smtClean="0">
                <a:latin typeface="Arial" charset="0"/>
                <a:cs typeface="Arial" charset="0"/>
              </a:rPr>
              <a:t>Cause &amp; effect diagram</a:t>
            </a:r>
          </a:p>
          <a:p>
            <a:pPr lvl="1" eaLnBrk="1" hangingPunct="1"/>
            <a:endParaRPr lang="en-GB" noProof="0" dirty="0" smtClean="0">
              <a:latin typeface="Arial" charset="0"/>
              <a:cs typeface="Arial" charset="0"/>
            </a:endParaRPr>
          </a:p>
          <a:p>
            <a:pPr lvl="1" eaLnBrk="1" hangingPunct="1"/>
            <a:endParaRPr lang="en-GB" noProof="0" dirty="0" smtClean="0">
              <a:latin typeface="Arial" charset="0"/>
              <a:cs typeface="Arial" charset="0"/>
            </a:endParaRPr>
          </a:p>
          <a:p>
            <a:pPr lvl="1" indent="-360363" eaLnBrk="1" hangingPunct="1">
              <a:buFont typeface="Arial" charset="0"/>
              <a:buNone/>
            </a:pPr>
            <a:r>
              <a:rPr lang="en-GB" sz="1800" noProof="0" dirty="0" smtClean="0">
                <a:latin typeface="Arial" charset="0"/>
                <a:cs typeface="Arial" charset="0"/>
              </a:rPr>
              <a:t>Also called:</a:t>
            </a:r>
          </a:p>
          <a:p>
            <a:pPr lvl="1" eaLnBrk="1" hangingPunct="1">
              <a:buClrTx/>
            </a:pPr>
            <a:r>
              <a:rPr lang="en-GB" noProof="0" dirty="0" smtClean="0">
                <a:latin typeface="Arial" charset="0"/>
                <a:cs typeface="Arial" charset="0"/>
              </a:rPr>
              <a:t>Fishbone diagram </a:t>
            </a:r>
          </a:p>
          <a:p>
            <a:pPr lvl="1" eaLnBrk="1" hangingPunct="1">
              <a:buClrTx/>
            </a:pPr>
            <a:r>
              <a:rPr lang="en-GB" noProof="0" dirty="0" smtClean="0">
                <a:latin typeface="Arial" charset="0"/>
                <a:cs typeface="Arial" charset="0"/>
              </a:rPr>
              <a:t>Ishikawa diagram </a:t>
            </a:r>
          </a:p>
          <a:p>
            <a:pPr lvl="1" eaLnBrk="1" hangingPunct="1">
              <a:buClrTx/>
            </a:pPr>
            <a:endParaRPr lang="en-GB" noProof="0" dirty="0" smtClean="0">
              <a:latin typeface="Arial" charset="0"/>
              <a:cs typeface="Arial" charset="0"/>
            </a:endParaRPr>
          </a:p>
          <a:p>
            <a:pPr lvl="1" eaLnBrk="1" hangingPunct="1">
              <a:buClrTx/>
            </a:pPr>
            <a:endParaRPr lang="en-GB" noProof="0" dirty="0" smtClean="0">
              <a:latin typeface="Arial" charset="0"/>
              <a:cs typeface="Arial" charset="0"/>
            </a:endParaRPr>
          </a:p>
          <a:p>
            <a:pPr lvl="1" eaLnBrk="1" hangingPunct="1">
              <a:buClrTx/>
            </a:pPr>
            <a:endParaRPr lang="en-GB" noProof="0" dirty="0" smtClean="0">
              <a:latin typeface="Arial" charset="0"/>
              <a:cs typeface="Arial" charset="0"/>
            </a:endParaRPr>
          </a:p>
          <a:p>
            <a:pPr lvl="1" eaLnBrk="1" hangingPunct="1">
              <a:buClrTx/>
            </a:pPr>
            <a:endParaRPr lang="en-GB" noProof="0" dirty="0" smtClean="0">
              <a:latin typeface="Arial" charset="0"/>
              <a:cs typeface="Arial" charset="0"/>
            </a:endParaRPr>
          </a:p>
          <a:p>
            <a:pPr lvl="1" eaLnBrk="1" hangingPunct="1">
              <a:buClrTx/>
            </a:pPr>
            <a:endParaRPr lang="en-GB" noProof="0" dirty="0" smtClean="0">
              <a:latin typeface="Arial" charset="0"/>
              <a:cs typeface="Arial" charset="0"/>
            </a:endParaRPr>
          </a:p>
          <a:p>
            <a:pPr lvl="1" eaLnBrk="1" hangingPunct="1">
              <a:buClrTx/>
            </a:pPr>
            <a:r>
              <a:rPr lang="en-GB" noProof="0" dirty="0" smtClean="0">
                <a:latin typeface="Arial" charset="0"/>
                <a:cs typeface="Arial" charset="0"/>
              </a:rPr>
              <a:t>This diagram clearly displays all factors that contribute to a problem</a:t>
            </a:r>
          </a:p>
          <a:p>
            <a:pPr lvl="1" eaLnBrk="1" hangingPunct="1">
              <a:buClrTx/>
            </a:pPr>
            <a:endParaRPr lang="en-GB" noProof="0" dirty="0" smtClean="0">
              <a:latin typeface="Arial" charset="0"/>
              <a:cs typeface="Arial" charset="0"/>
            </a:endParaRPr>
          </a:p>
          <a:p>
            <a:pPr lvl="1" eaLnBrk="1" hangingPunct="1">
              <a:buClrTx/>
            </a:pPr>
            <a:r>
              <a:rPr lang="en-GB" noProof="0" dirty="0" smtClean="0">
                <a:latin typeface="Arial" charset="0"/>
                <a:cs typeface="Arial" charset="0"/>
              </a:rPr>
              <a:t>It helps to identify relationships between possible causes and problems and to identify data that needs to be collected and analyzed</a:t>
            </a:r>
          </a:p>
        </p:txBody>
      </p:sp>
      <p:pic>
        <p:nvPicPr>
          <p:cNvPr id="8196" name="Afbeelding 49" descr="visgraat afbeelding.jpg"/>
          <p:cNvPicPr>
            <a:picLocks noChangeAspect="1"/>
          </p:cNvPicPr>
          <p:nvPr/>
        </p:nvPicPr>
        <p:blipFill>
          <a:blip r:embed="rId3" cstate="print"/>
          <a:srcRect/>
          <a:stretch>
            <a:fillRect/>
          </a:stretch>
        </p:blipFill>
        <p:spPr bwMode="auto">
          <a:xfrm>
            <a:off x="4855405" y="1357313"/>
            <a:ext cx="4986617" cy="332396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8"/>
          <p:cNvSpPr>
            <a:spLocks noGrp="1" noChangeArrowheads="1"/>
          </p:cNvSpPr>
          <p:nvPr>
            <p:ph type="title"/>
          </p:nvPr>
        </p:nvSpPr>
        <p:spPr/>
        <p:txBody>
          <a:bodyPr/>
          <a:lstStyle/>
          <a:p>
            <a:r>
              <a:rPr lang="en-GB" noProof="0" smtClean="0"/>
              <a:t>Root Cause Analysis</a:t>
            </a:r>
            <a:endParaRPr lang="en-GB" noProof="0" dirty="0" smtClean="0"/>
          </a:p>
        </p:txBody>
      </p:sp>
      <p:sp>
        <p:nvSpPr>
          <p:cNvPr id="9219" name="Rectangle 69"/>
          <p:cNvSpPr>
            <a:spLocks noGrp="1" noChangeArrowheads="1"/>
          </p:cNvSpPr>
          <p:nvPr>
            <p:ph idx="1"/>
          </p:nvPr>
        </p:nvSpPr>
        <p:spPr>
          <a:xfrm>
            <a:off x="810815" y="1439863"/>
            <a:ext cx="9193224" cy="5040312"/>
          </a:xfrm>
        </p:spPr>
        <p:txBody>
          <a:bodyPr/>
          <a:lstStyle/>
          <a:p>
            <a:r>
              <a:rPr lang="en-GB" noProof="0" dirty="0" smtClean="0"/>
              <a:t>Example Cause &amp; effect diagram </a:t>
            </a:r>
          </a:p>
          <a:p>
            <a:r>
              <a:rPr lang="en-IE" sz="1600" dirty="0" smtClean="0"/>
              <a:t>A C&amp;E diagram used to </a:t>
            </a:r>
            <a:r>
              <a:rPr lang="en-IE" sz="1600" dirty="0"/>
              <a:t>brainstorm reasons for delays in MRI scan starting times</a:t>
            </a:r>
          </a:p>
          <a:p>
            <a:endParaRPr lang="en-IE" sz="1600" dirty="0"/>
          </a:p>
          <a:p>
            <a:r>
              <a:rPr lang="en-GB" noProof="0" dirty="0" smtClean="0"/>
              <a:t> </a:t>
            </a:r>
          </a:p>
          <a:p>
            <a:endParaRPr lang="en-GB" noProof="0" dirty="0" smtClean="0"/>
          </a:p>
        </p:txBody>
      </p:sp>
      <p:pic>
        <p:nvPicPr>
          <p:cNvPr id="22530" name="Picture 2" descr="http://www.asianjns.org/articles/2013/8/1/images/AsianJNeurosurg_2013_8_1_2_110270_u3.jpg"/>
          <p:cNvPicPr>
            <a:picLocks noChangeAspect="1" noChangeArrowheads="1"/>
          </p:cNvPicPr>
          <p:nvPr/>
        </p:nvPicPr>
        <p:blipFill rotWithShape="1">
          <a:blip r:embed="rId3" cstate="print"/>
          <a:srcRect l="2272" t="1100" r="3410" b="2409"/>
          <a:stretch/>
        </p:blipFill>
        <p:spPr bwMode="auto">
          <a:xfrm>
            <a:off x="89000" y="2487402"/>
            <a:ext cx="6723747" cy="3960440"/>
          </a:xfrm>
          <a:prstGeom prst="rect">
            <a:avLst/>
          </a:prstGeom>
          <a:noFill/>
        </p:spPr>
      </p:pic>
      <p:sp>
        <p:nvSpPr>
          <p:cNvPr id="22535" name="AutoShape 7" descr="data:image/jpeg;base64,/9j/4AAQSkZJRgABAQAAAQABAAD/2wCEAAkGBhQSEBUUExQWFBUWFRQVFRQUFBcVFhQVFRQVFBQVFBQXHSYeFxkkGRQUHy8gIycpLCwsFR4xNTAqNSYrLCkBCQoKDgwOGg8PGiwkHRwsKSwpKSwsLCksLCwsKSkpLCkpKSwsKSwsLCkpKSwsLCwpKSwpLCwsLCwsLSksKSksKf/AABEIALcBEwMBIgACEQEDEQH/xAAbAAACAwEBAQAAAAAAAAAAAAADBAIFBgABB//EAEkQAAEDAQUFBAYGBwUIAwAAAAEAAhEDBAUSITFBUWFxkSKBobEGEzJSwdEjQoKS4fAUM2Jyc7LCU6Kz4vEHFRY0Q5Oj0iREY//EABkBAAMBAQEAAAAAAAAAAAAAAAECAwAEBf/EACMRAQEAAgICAgMAAwAAAAAAAAABAhEDMRIhQVEEE2EUInH/2gAMAwEAAhEDEQA/AMyympimiNpojaaZzBCmispIraSKyisARpw0ncCeglXH6ZUp1H4XmMb+ye032jsOncq61Ufoqn8Op/IVZ1qcvcd5J6lHXsN6h+zelhb+sZPFkfyu+au7J6SUXgEF33TPksbWpJ26KfY7z5pcsZD4Z23VbOnfdP8Aa+6Uwy92bndPxVBZ2Kwo01NbY183v9A4NBBcMIJjbrt3T1WLqM81ob5dmG7hPefwVNVZpz+BU8u1ceiTmIZamnNQasDUgc/kk0fZZzVEhTdWbsDnf3R45qPrTsY0cySjMK3lHNCYpYdpQW1X7m9Cpiu/3WlHxoeUPNfT3+B+SLTez3h35ear22obWdIKPSfTdw6hb23pb0aIOhB5EFQtt1Nc0y0TBzAg6b0kLvBMg/Hd8kxTbVb7LpG6Z8CtsdMRRr4yGsxST2XQBHEjWI4LQWazBjQ0aBG/QcJ0jgRCIxiFaPGMRhSyz045qTGJinSlYVU25m+rY4EiWtkccIORRGXW3eV7abVlTaDk2myeZa0+UeKWLjjDs5ALZnPCTJbMaSAe5N6KsG3YwDQ9SvaVmYQC2CDmCDIIO0EHMJX9KO7qXKDB/oiy8s1KmzDiAl7i1owk6Ak5xAyB1R6lFgeR2R0VExqapBENr+xVGTkcgYnKCYByjnGzMFX9ntdNoknTPIE/BY+z5ac+9Oscd6aXRK2VmrSxpdha4tBLQ6YJEkAkAnmQOQXLIQvU3kV82axFaxetaitaqOZzKaZp0lFjUzTCIBWynFGp/DqfyFGuguqUGOfm4t7RAiSCWnLuUL1/5er/AA3eStXua0kCBB0EACc9EfkPghaKKYuhnZ+0fgvSMbg1sEkgDmTCv7DcIpjN2IzOQgbOMnRLnZo3Hjdo2ainmua3UqNWGjWBwyVLedswsEZYiY5DKesjuKjt1eIV6W4YiRtPhsVU+o45k4Rs3nkBr5IlKyVJLnNLtMIgADi46RwP4JO1vOIyQTwII6jJaY7NvSL6/u5cSZce/Z3IMf67VykAm0XbgEQBe0wJEiRIkaSJzE8k8H0f7N59rV0E+zh+sYzDp5o6YkAvYT7a9Kf1Rjs/WOw9oa5ggnkQNRIKcIaFGF6GAqQCkGraZ7SxN9k92xWNmtux2R8Ei0IrQhcZWlsXbACM4I6rx92Ndpl4j8FX2auW8RuVxZ6wIkJLjo8y2rHWBzRMSPLmishgLzoBPyHeYVzQqQ7PR2Xfs6oPpBYwKLnGS0Av7IJIwidBmQBJgbNBMBCRrWHs+bWzuHkihqas1nERuJjaCJJaQdoLSDKaZQG5bTbVgaptaVc06A3JqlS4LaDahbSduPRMU7O/3T0K0FNiZYE2g2p7LZXfWBaN5Hh+dydaGjaT9kf+y8tdoDqrWD6oLzzILWjo4noucjI2kjVb+14LkFci2mFaEVoUGhFaFdwpsCYYhMCM1EAL2/5epxaR1y+K8Dia9UkyCWYeWAH4od91IoO5sHWqwLyk7tDiyj/g0z8UmXavGvbipzXafdl3QZeJC077QqP0ZoyXu4Nb1JJ8gmr5tQY2Bq7wG35dVLL3XTj6hS87ynIaDx4pAW5zWgnWIaIEgZmSdYzMBLziOeg1+SFXqymmIWk61dxd2iTOmIk+a8gqVRsqLCmKkApALwBcXgarMM0IjSoU7PUOjCOLzh8D2vBN07mrHd3Me7xgIbhtUGVyYdctYfjTePKUB1lqD6od+44E/ddB8FtxtV4vQhiqJjMEagggjmDmiArAIFMFDBUsSLDNcnbJXz3Hz4FVwKIxyzNHTeCIPIhP2K0yCx2ojP8Ald+eKoLJa+o8R+Csm1M2uHI8j8jHipZTxUl2DY7uph1SgQQ0O9ZTOXYD2txMb+y12zc5o2JKpZixxadQY/EK1P64nbgY4ccLqgcO8PA6Kd50MTQ8aiAeLToe74rAq2NTDAhNCM1BhmKVWuGNLjoBKg0qtvi0zDBzPwWYC6nl1V7jqRPUq0KrLlb2nch5qzcjDIELl6vEWYcIrUIIjSrvPGaigoLSiAogr/SN/wBCBvqUh/5Gn4IlI5t/h0f8CikvSV/ZYP8A9KZ/8jQm6Jzb/Do/4FFTyW42v9H3YaROkuJ7gAPmqS3281Hk7zA5DT88VZ2m0CnYW73jCPtEk/3Z6qhseZnckk3V76hl3ZEdeaWeUWq5AcqkeFeQuRrDYjWfhGm3jwnZlmTsCF9DPaNlsj6phukxMTnuaNp8AtPdvo21mbtecu73bOTYCsrBd7aTYAziCdO4DYE1ChllarMdB0bM1vsgDkM+uqYFMILilbVazTaXF5AGZhsnoBmp3KTs+trH1CDVog5OAPMT5pOx3j6wSKjiNxbhPeCJTjaiGOcym4Nxs7V1tuNjxEDgHSQP3T7TTxBWetl1PpHKXD3Tm4De0j9YOWfAraKFagHCCPwO8HYVSZWEs2wzKgIkbVIFPXzdBY4vbnqSAPbG1wGx42jbrrrXMfIkK8u0rNCgqYchSpSiBqhVgq0staZbvBhUjXJqlVIzGozQs3NDLr2vGVvpGHfTqfzUT80s30postgsL8QqPYXtMdgtIcQMU6w1w02KNnry6lzqt7on+lZxl3mtVqOr2ivibUqNYyjU9S2mKdVwpns+08QHZ5Axko712p21lSlBI3LgkrmtVR9L6Yg1GPdTLgMOMNPYqFv1S5sGBltGRgPLA8qVcIlUdV2Iknan7fV2JFAYaujV3IeZVg5V91uzcNsA9wOfmOqeJTQXLxRlerMw4KI0oDSiArpeeO0ogKC0qWJAFN6QvnDwfS/xGJyzOONo2eponv8AV0x5BV18ukfbp/4jUa4muAfinN7i3FPsGMET9WNEmS3G0V/V/wBVT92m0nm6B/T4odkZDOefyS991cVqf+yQwfYaG+YKK6tnAkZbc25ZREyDyQxWqTyhFe+vO1p5t7Q6a+C5j2u0IPDb3jUJyoEEkAakwPz4raXFdopUxvI7416nUrPXDYvWV89G/wCp+A71tAo8l+FcJ8vUKrWhTqOgKttFVRtUj2taUq+0pe0V4VdWtJKladaOtw3otK38VniZU2FCWs19ntcpxpWWsVV0mASAJJGwcVfWO0Ygq40tM16IcIPcdoOwhYu87H6qppDXE5DRr9SBwI7Q79y3CqPSGw46eWug/eGbD1kcnKuN1SZTcZkKQQm12hoc4hoI+sQPNeC2AiWNc/i1sN++6G+KuiYAR6ZhVzqzz7rB993wA8UNzc2/XzzLzMZZYWgYdeCAybXVltY9ZTaDPbcRGcg0qm7iFW32DTtDyOyKjqZAJE4ntwuMA5/qySNdVJlc+tondUAPJwLfNwTfpJYWvfRqmfo8Rgbcog9zypck9qYUf0cNUNqCqBrTc1zZiHMgsk6lpbqAB2lbPfASt3yKbQ4gmMyBAzJIyPAhe2iokg0vUMlCLUUryEWSu6n2idwjqQT/AChOEpaxjXu+KOU0F0rl5K5ZmEa5Fa5LNKKxy6XmmGuUnOyQmleuOSAqe8zkwb6jf7oL/wClW1iEuYN9Oh/LHwVPeX1DuqDxY9vm4K4u4/S0/wCHZvIqeS3GhUfNZ531H/zFWNCk0tz1mNYygceKq7LnVP7zj4lWzS0DtUSeLXDPqV1fh8mPHlvKS/8AS8+NympdB12wTh4AAZ5mBlnOu6UQEVAcYDiNZAM5j2eEOHRdV9WG5sqsJGUsdByzOhkSvBVpYQQ7DnEEFoA2dogcVTk8bbZr2GG5JPpovRKzgMc4CASQNdJO/kFoAFT+iw/+M387ArpoXl3t2zoraSqq0vVta2qntgU8jx5Ybn9fnjwgEg5ScgCDrvMdUxU9DgAT63qz/Mi2ezVKVIQ8UnGS4EY3HdI2ZbEZjKzx+vbUAzwerDHGMwJnfCEk+g9sXUMEjcSOinSKfve4zTl7M2TmNrOc6jj13qtpOU9aM0vo+7J/DD1InyIR2NwVIGhzHDePzwQLlj1cjVxzHIQPCEzX1bz8x+Ct8E+VkwqFqp4mOHAxzGY8QFKkMgppmYEUGNqPAa1pxu7WETD4qDPXR8dyJjJaQ0k6Ys3GdsiMog7VC8i1tZ+JzW9mme04D32beDAg1LdQb2RUa7Q4hBI3gATv8Bxnt4tWIZdmbKxoqdotIwn2oicQG3bkVY06dLC4kUzk6PY1gwqcWmz7BUdlsY/WODdJ8F620U8ooVDvnKdY1IjZ0K7sObHDHx9OXPiuWXlug03wWnc5p6EFX18/quo6j8FRV2nCTgLeZb8CVdW44qI4lviF5HJ278BrFWljf3RsjTLQqTygWYYWADd+dUUqUNXi5eL1EBLMde5FJQLOdUUlNBcuUV6tsWAbUCK16jXuJ9MS+s85AxSZBzOGAOa9r3NRY0l0vMGBUq4ZMZCcok7Vb9kcf6aIy0tIkOb94fNemu2PaB5EKFBtlIcKYpue0bPpGtOwnaROyeisH3lTFEsawtdhgvaGtM7xrmlvJfiG/VjO6UrejFWoG5029tru1UboDOjZV1YPRtrajHvqgwym3C0gAljYmZzC0Dmy3IxpmNij+juJHbI17435qVztXnHIHWsdP1bmUvVsxZ5RmZmXGZPehWa6g0scajHZ9pnZjQxmXZ7NisWWcyDjdG7PPvJXtGm9pEkuERBjPcZlaZWTQ+MStlVrmj2HlubQXNyOyJOSHe7hUouY1wkgDUkAgg7J3Jxju5Atdct0gmYzMDal2Oi9yfQUgxwc469im8jQDUt4K5s7sQkAjgRn3qjq2uoGk9gZe6T/AFKwueu59npuccyCTGQJxO2I72GtGrTSySNOlDi8icALgImT9XLn5J/P8lSNnkGdsDxQ0O1LWqbTMnN3DmotrhpycARoZV8bCIhDNz09cP570vjR2WdUDsLg0EVBDozGUh08NVkq12OaXFolgc6DiGgdh0meGi1drbhbSazIFxGW4nOB3rP39YahtAp0+y0tBiYG2ZO05eKGXTRC7LQGO7RAadp2K2ZVD3ACSAdcJAOWwkZ6oXo1dYYHPJDzJaDEgYTDi0nXPKR7pV7P5gIzemqWCAoqba+wjvGqHaqjWsc4HQHXLPQDrCcGHtTWutL8UZUSQTlmG1XtE8yMksKnwQqzpqPdsJgcQ0BgI4S0rwq2k6fvGG16jWiAHmBuGoHihNqJYFTaVmSt1XsdfJWdoP0Le7yWevmthpnfhcfDJX9tPYA/OxSzvSmCQfDJ1gab1EW4n/pu6hVN9Xg6nTBYRiJAEiREEnLoqZvpLaBtp/8Ab/zJPZ/TasNQ6UnnouFQ4i1zHNIiZjKdAY2rM3f6YWl1RrCaYBJBLaZDtDoS4ictyvLA7J3EiejvxRKcs7jiPu4fGfkjkoNmOqKmGPZXKK8WbT43ar4r1PbrVD9ojwEJWxNJqtOshwJ4gGP5l9/PoHdR/wDqtHKpWHk9Qb/s2uuQRQc2JiK1baIOr000jZXxW6qrmWohpw4xEwHDMaQcjorqqyrB+kbt/wCk35r6cf8AZhduMPDarXN0is7yMo1p/wBnFie1wx1m4gQYqN2iDEsTSwlxulZSPZHIeSNOY5H4LTMuCiAAHvgAAezsEblNlxUh9dx1jQRPJR8K6PKM61TlXNouxjI+lzcSGgt1IBcdDuBOiiLuA1eOQDh4uAQ8W3FUCoVbC9/siO1qchGa0NOwtGxGFIbk3h9h5KClcEjtuceDez4qzst3hjAxohrRAEk8dTzT8LoTTGQuy4s69wI+FQcO7miwTnQg1MRHZyO86DjG1Sr2unTEuIG6dvIanuCqbd6SgCQA0e884R3DUnvCW0ZDdewyGy+C2cwM84zieCrbyo06jwXn1mHTDibEaSWvjX/RJvtdWroDhP1qnYZ3U/ad3gc1NthafbJqcDkwcqY1+1KQ+jd3Xg1zsDMOFoAGEyBsAEZAADQcFY4lWsqDEAIEA5DYMtiea+RKGx0mqX0nt+ClA1OnM5M8c/sq2q1g1pcdAsJeVuNesT9VpMbi7QxwAy+8mxm6W+oE5sBvKOiiSp1/ZHNDCvtFIKbShhTxQJSmI3gMbsP7o+89rP6loLxqeQHeSqOxUsT2H3qzY/dpzUPi3wVpa6oL43S7+hvm/oufPLdXxnpn/SK0zVDPdaD3u/ABVJKvLzuV9SqXtLYIaIJM5Dklf+Gq37B+38wnlhbCt2H6ZnM/ylbO73ZO5t8nrP2H0WtDajXlgLWkk4XAnQ6DUq9u/R3Nvk9C32MnpY2U6opKXsjtUclFo5coyvVhXd1XhTtFJtWk7E13UHa1w2OG5OgFVNw+izbLVe6m9wY8/qhZ8MNzhrnNnERPtHPLiVoezud9x/yT6iOy0lSDimOxx+4//wBV0M39QR5hDTbBDlIPRIZ7zeo+akKY2Ob1HzR021deV2U65petYHinUbVbJIAe2Q0mNRDnZFP1a4fTY/CRLm5OycMyMwpOsYdtjioWtgbSyMgQc+HLiUOtt8rDANy89WEgy39gOJaOZMyOCnWvAUx2yG89TyaMym8o2qaLFAuA+P47lQ2z0k2NH2n5D7jcz3lUFuvzF7bi7c0adzRl5qWXLJ0pOK1qrZf1NvsnEduHPq45DxVHbvSF+klp2CmC9579nMADiqGvWqVJAOAHd7Xdu8EzcNgNKm1hMmTJLi85vJEuIBJgjYo3ltVnHIY/RqrjLoog59r6Sse72W95KnRszGGWjE7+0qHG/unJvIJi11BiO/dtSziTw5a9fkq7JpN9fPMyepU2PJ4cB80jWtLW5ancPika9qJ9p2EbpAHfOqTLOQ0xtXVlcDUcQQQBAjZOue3MJ9loDQS4wNZKyL77ptpuaCXTlIOAD7Yz6Kttd8VaxzdA4DDG/CNnM5rY7rZai3v2/jVd6umYA1O7/N5c1X0mACBoEOiwAZCAitXTJpz27TqjsHqgMKbAkHkkqOiYBQEG2vMBo1cYRiYElDu+nicah5N5bSpZ5ah8cd03ZWYajQNKdNx+08hjfAVOqhQgh7iRJ9kSJIGQMbjmftKDXEh0e1VfhadzGAtJ7gHu5kb0WtYgM88tBlAAyA5Lhz5PHKR2YYblMBo96DukIjJGhnuB8ikq1iDt+/QJd13/AJgfNC/kWXXiM4JZvbQ2W9X0zkGnm13wcg2i0hznOwhpcQSGyASJzgk55qi/QTv8PxUXUXj656uC0/L+8W/x/wCtBYXa9yZlZ+5K+Bz/AFlQQYjE6NNYxK4FrYdHtPJw+a6cOSZTaVwuN0MuUBUG8dVyfZdNHTttXw95GZba24jmcu47UvSMgHeAeolMUq5boYWm/tOjttNTeOvzCl+l1Bu7i1RFtO0NP2fkuNrO4DkE+/6Vwvd2kHoF6b1M5t6s3IW2UG2WoUwHGSJ2cil8rOzalN/7wG1g+4kbberTLcgARk0RnnqT3pYX/TDTm6RJAcMzJ0EKhq259Rxwgkk/ngpZcl16PjhN+1nXvPdDRwzP3jkO5V1W8syGySdTqTzJz8lOhczjm93d8z/ovKtNtOQYbHRSvl8qzXwVdTc72jHAfE6eanTs4Ggjz6qQqt94dV7StNMn22Zftt+aTVN6Ho0ozTtjb2wkK9402CXPaORknkBmqa3elhwuFEFp0DzExtIGcH57FTHGkyyi6vO8qVAE1HATmGjNzuTdTz0WPvP0wqvJFMCmzmcZ5uGnIdSqis8ucS4kuJzJMk8yUMhX0jsf/edTf/ed81H1zzqY5D4mUNrUQBCYwfKm7JSyk5necynWpegMgmGq0Tpqg5MNCTpOgpxpTlHpBIUsieaeY7vJyAGZJ3AKstlB4rGmRh0cTqIO46SlysnYybSd9I7CPZHtH4BP1OyyG5EwG8Cch015AryzUA0QPzxVbettGLDOWYPk7ThLfv7wuTLLd3XTjjr0t7rotIx7IDaY3UxHa5uIB5NanrRSGHrt3NJ+CprNexdsBA3ZJk22dnDquTu7dPUONoyGnPPL894XGycSh2erlG4/1SmBUWzn+1bHoL9C4+Cg6wnf4JoFcXJTKG8riNSMxlO8axw4Krf6M1NgaftfMLYkqLktg7Yz/h6r7o+8Fy2EfnNch4ttGharTDHEuDMTWzkJBgCRMxxheX3ftalUwteRlkA0OJ6goNW8ppsaJDm4c+LdCFW228HOqAOIL3DV7g0Zd2Zz0A6LruXrUrnmP20/ozeNorMeXn2SAMmgkETmAIVqa9QEidD7oWRu28q1GcLm4TBIwTpxLkaj6XF7nBr6ZcCQ5oGYI1kTKfHkmvklwuzlu9ILY21CnTbRNKO054OOe1IaA7PRuzenal5VHgNe0RkSWtI6SSsnWvkG04nudixtaGsa/CQWt1DQRq52Z+C0tCuN+wBNLb2WyToL9DbMmTwP4aphmWmSO2rx8UVrk8hbS4fxVPfAJcY1gRK0YVTezw13cEa0UNWk+IJ+H4qsq3U9uJwGJpMmJLhAEyNSOIVtUtInfyTFjqy0/vHyCGOWq2U3GYaRsUlobXdlOpmRhd7zcieY0PeFVV7lqN9mHjh2XdDl4q0ylS8bFPWHaKiAiW1pae0C394EeJyKHTcgKeFSavJXrDmtplizREaUs2sNJk7hmegTlCw1X6MIG9/YHQ9rwTdFc0p2w03VDDBManRreZ+AzRrNcYGdR2P9kdlvftPhyVxZiGwAABoABAHIIXP6N4/adiu9tPOcTtrvg0bB4qsvP9d3fAK6lUN91Iqdw8lHO+lcJ7CtNqDGF24ZDedg6rI1qmJ2s6Dnx701e9uLnADZOW6Y8clC7LJJxHZpzXLyZaml8JurWx08LQOvNN0xml2I9JhkKMq1h6kIPAie8HPzRSUNrTAO4k92fwRT1VMy4vApBcFLGkM8DivfWFe415jRBEvXq8L1yzKpoUgwHI5jcc/NcuQvQR46xU/7NnCWNOW7RHFNsQBA3ABeLkfK9NqK682ermqzMholrsg6CcMQMjJiePR+7L1a9oz7cDE2Dk6MxMRqvVyvxXaPJNLJlRHa9eLlaIjNqneVQ31WJqdwXLkcmiht99U6JAcSXHRrRJPeYHUoljvqqAfoBBMgGsA7QagNI2b16uUeXK4a18q8ePlbv4Mj0hcNbO/7NSmfMheH0qYPap1W91M+T1y5RnPlbrUPlxSQvaPTCzGJc5vAsPwlDp3tZKm1hPGk7zwrly7scZZtzW+9G2WSg7MMaeQITVlu2liH0bO9oPmuXJKbUW1OBkABwAjyRA5eLlmTDlIOXLlmM03yFQekriCSBJgQNJJyC5chnfQ49sxSu9xOZznM8fz5K5o2EtADTI4/MLly4MrbXbjJIZp084jNPWZkZxC5chBFpVBJE6Z9xzhSBgwdDpw4cly5dE7n9RvV/gmAcF5hG5cuUzuLFEgb1y5ZgiuXLkQf/9k="/>
          <p:cNvSpPr>
            <a:spLocks noChangeAspect="1" noChangeArrowheads="1"/>
          </p:cNvSpPr>
          <p:nvPr/>
        </p:nvSpPr>
        <p:spPr bwMode="auto">
          <a:xfrm>
            <a:off x="175022" y="-144463"/>
            <a:ext cx="342900" cy="304801"/>
          </a:xfrm>
          <a:prstGeom prst="rect">
            <a:avLst/>
          </a:prstGeom>
          <a:noFill/>
        </p:spPr>
        <p:txBody>
          <a:bodyPr vert="horz" wrap="square" lIns="91440" tIns="45720" rIns="91440" bIns="45720" numCol="1" anchor="t" anchorCtr="0" compatLnSpc="1">
            <a:prstTxWarp prst="textNoShape">
              <a:avLst/>
            </a:prstTxWarp>
          </a:bodyPr>
          <a:lstStyle/>
          <a:p>
            <a:endParaRPr lang="en-IE" dirty="0"/>
          </a:p>
        </p:txBody>
      </p:sp>
      <p:sp>
        <p:nvSpPr>
          <p:cNvPr id="2" name="Rectangle 1"/>
          <p:cNvSpPr/>
          <p:nvPr/>
        </p:nvSpPr>
        <p:spPr>
          <a:xfrm>
            <a:off x="9047848" y="5301208"/>
            <a:ext cx="1239152" cy="215444"/>
          </a:xfrm>
          <a:prstGeom prst="rect">
            <a:avLst/>
          </a:prstGeom>
        </p:spPr>
        <p:txBody>
          <a:bodyPr wrap="square">
            <a:spAutoFit/>
          </a:bodyPr>
          <a:lstStyle/>
          <a:p>
            <a:r>
              <a:rPr lang="en-IE" sz="800" dirty="0" smtClean="0"/>
              <a:t>123RF </a:t>
            </a:r>
            <a:r>
              <a:rPr lang="en-IE" sz="800" dirty="0"/>
              <a:t>Stock </a:t>
            </a:r>
            <a:r>
              <a:rPr lang="en-IE" sz="800" dirty="0" smtClean="0"/>
              <a:t>Photo</a:t>
            </a:r>
            <a:endParaRPr lang="en-IE" sz="800" dirty="0"/>
          </a:p>
        </p:txBody>
      </p:sp>
      <p:pic>
        <p:nvPicPr>
          <p:cNvPr id="3074" name="Picture 2" descr="C:\Users\Olivia.Mcdermott\AppData\Local\Microsoft\Windows\Temporary Internet Files\Content.IE5\Q9682OXX\13909498_s.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53873" y="3212976"/>
            <a:ext cx="2476864" cy="2088232"/>
          </a:xfrm>
          <a:prstGeom prst="rect">
            <a:avLst/>
          </a:prstGeom>
          <a:noFill/>
          <a:extLst>
            <a:ext uri="{909E8E84-426E-40DD-AFC4-6F175D3DCCD1}">
              <a14:hiddenFill xmlns:a14="http://schemas.microsoft.com/office/drawing/2010/main">
                <a:solidFill>
                  <a:srgbClr val="FFFFFF"/>
                </a:solidFill>
              </a14:hiddenFill>
            </a:ext>
          </a:extLst>
        </p:spPr>
      </p:pic>
      <p:sp>
        <p:nvSpPr>
          <p:cNvPr id="3" name="Right Arrow 2"/>
          <p:cNvSpPr/>
          <p:nvPr/>
        </p:nvSpPr>
        <p:spPr>
          <a:xfrm>
            <a:off x="6925698" y="3717032"/>
            <a:ext cx="729081" cy="5400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1" name="Right Arrow 10"/>
          <p:cNvSpPr/>
          <p:nvPr/>
        </p:nvSpPr>
        <p:spPr>
          <a:xfrm rot="10800000">
            <a:off x="6844687" y="4308058"/>
            <a:ext cx="810091" cy="5400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3632"/>
          <a:stretch/>
        </p:blipFill>
        <p:spPr bwMode="auto">
          <a:xfrm>
            <a:off x="358545" y="2417570"/>
            <a:ext cx="9726503" cy="4249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68"/>
          <p:cNvSpPr>
            <a:spLocks noGrp="1" noChangeArrowheads="1"/>
          </p:cNvSpPr>
          <p:nvPr>
            <p:ph type="title"/>
          </p:nvPr>
        </p:nvSpPr>
        <p:spPr/>
        <p:txBody>
          <a:bodyPr/>
          <a:lstStyle/>
          <a:p>
            <a:r>
              <a:rPr lang="en-GB" noProof="0" smtClean="0"/>
              <a:t>Root Cause Analysis</a:t>
            </a:r>
            <a:endParaRPr lang="en-GB" noProof="0" dirty="0" smtClean="0"/>
          </a:p>
        </p:txBody>
      </p:sp>
      <p:sp>
        <p:nvSpPr>
          <p:cNvPr id="8" name="Tijdelijke aanduiding voor inhoud 7"/>
          <p:cNvSpPr>
            <a:spLocks noGrp="1"/>
          </p:cNvSpPr>
          <p:nvPr>
            <p:ph idx="1"/>
          </p:nvPr>
        </p:nvSpPr>
        <p:spPr>
          <a:xfrm>
            <a:off x="810815" y="1439863"/>
            <a:ext cx="9274233" cy="5040312"/>
          </a:xfrm>
        </p:spPr>
        <p:txBody>
          <a:bodyPr/>
          <a:lstStyle/>
          <a:p>
            <a:r>
              <a:rPr lang="en-GB" dirty="0" smtClean="0"/>
              <a:t>Example Cause &amp; effect diagram</a:t>
            </a:r>
          </a:p>
          <a:p>
            <a:r>
              <a:rPr lang="en-GB" sz="1800" dirty="0" smtClean="0"/>
              <a:t>Failure to produce accurate, </a:t>
            </a:r>
            <a:r>
              <a:rPr lang="en-GB" sz="1800" dirty="0" err="1" smtClean="0"/>
              <a:t>scannable</a:t>
            </a:r>
            <a:r>
              <a:rPr lang="en-GB" sz="1800" dirty="0" smtClean="0"/>
              <a:t> bar codes on medical medications</a:t>
            </a:r>
            <a:endParaRPr lang="nl-NL" sz="1800" dirty="0"/>
          </a:p>
        </p:txBody>
      </p:sp>
      <p:sp>
        <p:nvSpPr>
          <p:cNvPr id="4" name="Footer Placeholder 3"/>
          <p:cNvSpPr>
            <a:spLocks noGrp="1"/>
          </p:cNvSpPr>
          <p:nvPr>
            <p:ph type="ftr" sz="quarter" idx="10"/>
          </p:nvPr>
        </p:nvSpPr>
        <p:spPr/>
        <p:txBody>
          <a:bodyPr/>
          <a:lstStyle/>
          <a:p>
            <a:endParaRPr lang="nl-NL"/>
          </a:p>
        </p:txBody>
      </p:sp>
    </p:spTree>
    <p:extLst>
      <p:ext uri="{BB962C8B-B14F-4D97-AF65-F5344CB8AC3E}">
        <p14:creationId xmlns:p14="http://schemas.microsoft.com/office/powerpoint/2010/main" val="34804026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GB" noProof="0" smtClean="0"/>
              <a:t>Root Cause Analysis</a:t>
            </a:r>
            <a:endParaRPr lang="en-GB" noProof="0" dirty="0" smtClean="0"/>
          </a:p>
        </p:txBody>
      </p:sp>
      <p:sp>
        <p:nvSpPr>
          <p:cNvPr id="10243" name="Rectangle 3"/>
          <p:cNvSpPr>
            <a:spLocks noGrp="1" noChangeArrowheads="1"/>
          </p:cNvSpPr>
          <p:nvPr>
            <p:ph idx="1"/>
          </p:nvPr>
        </p:nvSpPr>
        <p:spPr>
          <a:xfrm>
            <a:off x="810816" y="1439864"/>
            <a:ext cx="8910043" cy="4797449"/>
          </a:xfrm>
        </p:spPr>
        <p:txBody>
          <a:bodyPr/>
          <a:lstStyle/>
          <a:p>
            <a:r>
              <a:rPr lang="en-GB" noProof="0" dirty="0" smtClean="0"/>
              <a:t>The 5-Why</a:t>
            </a:r>
          </a:p>
          <a:p>
            <a:pPr lvl="1"/>
            <a:endParaRPr lang="en-GB" noProof="0" dirty="0" smtClean="0"/>
          </a:p>
          <a:p>
            <a:pPr lvl="1">
              <a:buClrTx/>
            </a:pPr>
            <a:r>
              <a:rPr lang="en-GB" noProof="0" dirty="0" smtClean="0"/>
              <a:t>The 5-Why method is not an individual tool, it is part of the whole problem solving toolbox</a:t>
            </a:r>
          </a:p>
          <a:p>
            <a:pPr lvl="1">
              <a:buClrTx/>
            </a:pPr>
            <a:endParaRPr lang="en-GB" noProof="0" dirty="0" smtClean="0"/>
          </a:p>
          <a:p>
            <a:pPr lvl="1">
              <a:buClrTx/>
            </a:pPr>
            <a:r>
              <a:rPr lang="en-GB" noProof="0" dirty="0" smtClean="0"/>
              <a:t>It is similar to the Fishbone brainstorming tool</a:t>
            </a:r>
          </a:p>
          <a:p>
            <a:pPr lvl="1">
              <a:buClrTx/>
            </a:pPr>
            <a:endParaRPr lang="en-GB" noProof="0" dirty="0" smtClean="0"/>
          </a:p>
          <a:p>
            <a:pPr lvl="1">
              <a:buClrTx/>
            </a:pPr>
            <a:endParaRPr lang="en-GB" noProof="0" dirty="0" smtClean="0"/>
          </a:p>
          <a:p>
            <a:pPr indent="-168275"/>
            <a:r>
              <a:rPr lang="en-GB" sz="1600" noProof="0" dirty="0" smtClean="0"/>
              <a:t>The 5-Why has to answer three questions:</a:t>
            </a:r>
          </a:p>
          <a:p>
            <a:pPr lvl="1">
              <a:buClrTx/>
            </a:pPr>
            <a:r>
              <a:rPr lang="en-GB" b="0" noProof="0" dirty="0" smtClean="0"/>
              <a:t>Why did the problem occur?</a:t>
            </a:r>
          </a:p>
          <a:p>
            <a:pPr lvl="1">
              <a:buClrTx/>
            </a:pPr>
            <a:r>
              <a:rPr lang="en-GB" b="0" noProof="0" dirty="0" smtClean="0"/>
              <a:t>Why was it only detected at the customer?</a:t>
            </a:r>
          </a:p>
          <a:p>
            <a:pPr lvl="1">
              <a:buClrTx/>
            </a:pPr>
            <a:r>
              <a:rPr lang="en-GB" b="0" noProof="0" dirty="0" smtClean="0"/>
              <a:t>Why did “the system” not function?</a:t>
            </a:r>
          </a:p>
        </p:txBody>
      </p:sp>
      <p:pic>
        <p:nvPicPr>
          <p:cNvPr id="3" name="Afbeelding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4740" y="4149080"/>
            <a:ext cx="3972260" cy="2451348"/>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Afbeelding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71787" y="2204864"/>
            <a:ext cx="2866821" cy="2204864"/>
          </a:xfrm>
          <a:prstGeom prst="rect">
            <a:avLst/>
          </a:prstGeom>
        </p:spPr>
      </p:pic>
      <p:sp>
        <p:nvSpPr>
          <p:cNvPr id="12290" name="Rectangle 2"/>
          <p:cNvSpPr>
            <a:spLocks noGrp="1" noChangeArrowheads="1"/>
          </p:cNvSpPr>
          <p:nvPr>
            <p:ph type="title"/>
          </p:nvPr>
        </p:nvSpPr>
        <p:spPr/>
        <p:txBody>
          <a:bodyPr/>
          <a:lstStyle/>
          <a:p>
            <a:r>
              <a:rPr lang="en-GB" noProof="0" dirty="0" smtClean="0"/>
              <a:t>Root Cause Analysis</a:t>
            </a:r>
          </a:p>
        </p:txBody>
      </p:sp>
      <p:sp>
        <p:nvSpPr>
          <p:cNvPr id="427011" name="Rectangle 3"/>
          <p:cNvSpPr>
            <a:spLocks noGrp="1" noChangeArrowheads="1"/>
          </p:cNvSpPr>
          <p:nvPr>
            <p:ph idx="1"/>
          </p:nvPr>
        </p:nvSpPr>
        <p:spPr>
          <a:xfrm>
            <a:off x="810816" y="1439863"/>
            <a:ext cx="8545152" cy="5040312"/>
          </a:xfrm>
        </p:spPr>
        <p:txBody>
          <a:bodyPr/>
          <a:lstStyle/>
          <a:p>
            <a:pPr marL="0" lvl="1" indent="0">
              <a:buNone/>
            </a:pPr>
            <a:r>
              <a:rPr lang="en-GB" sz="2400" dirty="0" smtClean="0"/>
              <a:t>Example 5-Why: Patient late for therapy</a:t>
            </a:r>
          </a:p>
          <a:p>
            <a:pPr marL="180975" lvl="1" indent="0">
              <a:buNone/>
            </a:pPr>
            <a:endParaRPr lang="en-GB" sz="1800" b="0" noProof="0" dirty="0"/>
          </a:p>
          <a:p>
            <a:pPr marL="180975" lvl="1" indent="0">
              <a:buClrTx/>
              <a:buNone/>
            </a:pPr>
            <a:r>
              <a:rPr lang="en-GB" dirty="0"/>
              <a:t>Why was t</a:t>
            </a:r>
            <a:r>
              <a:rPr lang="en-IE" dirty="0"/>
              <a:t>he patient late at the </a:t>
            </a:r>
            <a:r>
              <a:rPr lang="en-IE" dirty="0" err="1"/>
              <a:t>therapysession</a:t>
            </a:r>
            <a:r>
              <a:rPr lang="en-IE" dirty="0"/>
              <a:t> in the rehabilitation centre, causing delays?</a:t>
            </a:r>
          </a:p>
          <a:p>
            <a:pPr lvl="1">
              <a:buClrTx/>
            </a:pPr>
            <a:r>
              <a:rPr lang="en-IE" b="0" dirty="0"/>
              <a:t>There was a long wait for a </a:t>
            </a:r>
            <a:r>
              <a:rPr lang="nl-NL" b="0" dirty="0" err="1"/>
              <a:t>wheelchair</a:t>
            </a:r>
            <a:endParaRPr lang="en-GB" b="0" dirty="0"/>
          </a:p>
          <a:p>
            <a:pPr lvl="1">
              <a:buClrTx/>
            </a:pPr>
            <a:endParaRPr lang="en-GB" dirty="0"/>
          </a:p>
          <a:p>
            <a:pPr marL="180975" lvl="1" indent="0">
              <a:buClrTx/>
              <a:buNone/>
            </a:pPr>
            <a:r>
              <a:rPr lang="en-GB" dirty="0"/>
              <a:t>Why was t</a:t>
            </a:r>
            <a:r>
              <a:rPr lang="en-IE" dirty="0"/>
              <a:t>here was a long wait for a trolley?</a:t>
            </a:r>
          </a:p>
          <a:p>
            <a:pPr lvl="1">
              <a:buClrTx/>
            </a:pPr>
            <a:r>
              <a:rPr lang="en-GB" b="0" dirty="0"/>
              <a:t>Because a </a:t>
            </a:r>
            <a:r>
              <a:rPr lang="en-IE" b="0" dirty="0"/>
              <a:t>replacement wheelchair had to be found</a:t>
            </a:r>
            <a:endParaRPr lang="en-GB" b="0" dirty="0"/>
          </a:p>
          <a:p>
            <a:pPr lvl="1">
              <a:buClrTx/>
            </a:pPr>
            <a:endParaRPr lang="en-GB" dirty="0"/>
          </a:p>
          <a:p>
            <a:pPr marL="180975" lvl="1" indent="0">
              <a:buClrTx/>
              <a:buNone/>
            </a:pPr>
            <a:r>
              <a:rPr lang="en-GB" dirty="0"/>
              <a:t>Why did a replacement trolley have to be found?</a:t>
            </a:r>
          </a:p>
          <a:p>
            <a:pPr lvl="1">
              <a:buClrTx/>
            </a:pPr>
            <a:r>
              <a:rPr lang="en-GB" b="0" dirty="0"/>
              <a:t>Because t</a:t>
            </a:r>
            <a:r>
              <a:rPr lang="en-IE" b="0" dirty="0"/>
              <a:t>he original wheelchair was worn and had eventually broken</a:t>
            </a:r>
            <a:endParaRPr lang="en-GB" b="0" dirty="0"/>
          </a:p>
          <a:p>
            <a:pPr lvl="1">
              <a:buClrTx/>
            </a:pPr>
            <a:endParaRPr lang="en-GB" dirty="0"/>
          </a:p>
          <a:p>
            <a:pPr marL="180975" lvl="1" indent="0">
              <a:buClrTx/>
              <a:buNone/>
            </a:pPr>
            <a:r>
              <a:rPr lang="en-GB" dirty="0"/>
              <a:t>Why was the </a:t>
            </a:r>
            <a:r>
              <a:rPr lang="en-IE" dirty="0"/>
              <a:t>original trolley's safety rail worn and broken?</a:t>
            </a:r>
          </a:p>
          <a:p>
            <a:pPr lvl="1">
              <a:buClrTx/>
            </a:pPr>
            <a:r>
              <a:rPr lang="en-GB" b="0" dirty="0"/>
              <a:t>Because it</a:t>
            </a:r>
            <a:r>
              <a:rPr lang="en-IE" b="0" dirty="0"/>
              <a:t> had not been regularly checked for wear</a:t>
            </a:r>
          </a:p>
          <a:p>
            <a:pPr lvl="1">
              <a:buClrTx/>
            </a:pPr>
            <a:endParaRPr lang="en-IE" dirty="0"/>
          </a:p>
          <a:p>
            <a:pPr marL="180975" lvl="1" indent="0">
              <a:buClrTx/>
              <a:buNone/>
            </a:pPr>
            <a:r>
              <a:rPr lang="en-GB" dirty="0"/>
              <a:t>Why had it not been checked regularly for wear?</a:t>
            </a:r>
          </a:p>
          <a:p>
            <a:pPr lvl="1">
              <a:buClrTx/>
            </a:pPr>
            <a:r>
              <a:rPr lang="en-GB" b="0" dirty="0"/>
              <a:t>Because there is no equipment maintenance schedule</a:t>
            </a:r>
          </a:p>
          <a:p>
            <a:pPr marL="180975" lvl="1" indent="0">
              <a:buNone/>
            </a:pPr>
            <a:endParaRPr lang="en-GB" sz="1000" noProof="0" dirty="0" smtClean="0"/>
          </a:p>
        </p:txBody>
      </p:sp>
    </p:spTree>
    <p:extLst>
      <p:ext uri="{BB962C8B-B14F-4D97-AF65-F5344CB8AC3E}">
        <p14:creationId xmlns:p14="http://schemas.microsoft.com/office/powerpoint/2010/main" val="130948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7011">
                                            <p:txEl>
                                              <p:pRg st="0" end="0"/>
                                            </p:txEl>
                                          </p:spTgt>
                                        </p:tgtEl>
                                        <p:attrNameLst>
                                          <p:attrName>style.visibility</p:attrName>
                                        </p:attrNameLst>
                                      </p:cBhvr>
                                      <p:to>
                                        <p:strVal val="visible"/>
                                      </p:to>
                                    </p:set>
                                    <p:anim calcmode="lin" valueType="num">
                                      <p:cBhvr additive="base">
                                        <p:cTn id="7" dur="500" fill="hold"/>
                                        <p:tgtEl>
                                          <p:spTgt spid="4270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270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27011">
                                            <p:txEl>
                                              <p:pRg st="2" end="2"/>
                                            </p:txEl>
                                          </p:spTgt>
                                        </p:tgtEl>
                                        <p:attrNameLst>
                                          <p:attrName>style.visibility</p:attrName>
                                        </p:attrNameLst>
                                      </p:cBhvr>
                                      <p:to>
                                        <p:strVal val="visible"/>
                                      </p:to>
                                    </p:set>
                                    <p:anim calcmode="lin" valueType="num">
                                      <p:cBhvr additive="base">
                                        <p:cTn id="13" dur="500" fill="hold"/>
                                        <p:tgtEl>
                                          <p:spTgt spid="42701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270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27011">
                                            <p:txEl>
                                              <p:pRg st="3" end="3"/>
                                            </p:txEl>
                                          </p:spTgt>
                                        </p:tgtEl>
                                        <p:attrNameLst>
                                          <p:attrName>style.visibility</p:attrName>
                                        </p:attrNameLst>
                                      </p:cBhvr>
                                      <p:to>
                                        <p:strVal val="visible"/>
                                      </p:to>
                                    </p:set>
                                    <p:anim calcmode="lin" valueType="num">
                                      <p:cBhvr additive="base">
                                        <p:cTn id="19" dur="500" fill="hold"/>
                                        <p:tgtEl>
                                          <p:spTgt spid="42701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270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27011">
                                            <p:txEl>
                                              <p:pRg st="5" end="5"/>
                                            </p:txEl>
                                          </p:spTgt>
                                        </p:tgtEl>
                                        <p:attrNameLst>
                                          <p:attrName>style.visibility</p:attrName>
                                        </p:attrNameLst>
                                      </p:cBhvr>
                                      <p:to>
                                        <p:strVal val="visible"/>
                                      </p:to>
                                    </p:set>
                                    <p:anim calcmode="lin" valueType="num">
                                      <p:cBhvr additive="base">
                                        <p:cTn id="25" dur="500" fill="hold"/>
                                        <p:tgtEl>
                                          <p:spTgt spid="427011">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2701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27011">
                                            <p:txEl>
                                              <p:pRg st="6" end="6"/>
                                            </p:txEl>
                                          </p:spTgt>
                                        </p:tgtEl>
                                        <p:attrNameLst>
                                          <p:attrName>style.visibility</p:attrName>
                                        </p:attrNameLst>
                                      </p:cBhvr>
                                      <p:to>
                                        <p:strVal val="visible"/>
                                      </p:to>
                                    </p:set>
                                    <p:anim calcmode="lin" valueType="num">
                                      <p:cBhvr additive="base">
                                        <p:cTn id="31" dur="500" fill="hold"/>
                                        <p:tgtEl>
                                          <p:spTgt spid="427011">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2701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27011">
                                            <p:txEl>
                                              <p:pRg st="8" end="8"/>
                                            </p:txEl>
                                          </p:spTgt>
                                        </p:tgtEl>
                                        <p:attrNameLst>
                                          <p:attrName>style.visibility</p:attrName>
                                        </p:attrNameLst>
                                      </p:cBhvr>
                                      <p:to>
                                        <p:strVal val="visible"/>
                                      </p:to>
                                    </p:set>
                                    <p:anim calcmode="lin" valueType="num">
                                      <p:cBhvr additive="base">
                                        <p:cTn id="37" dur="500" fill="hold"/>
                                        <p:tgtEl>
                                          <p:spTgt spid="427011">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2701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27011">
                                            <p:txEl>
                                              <p:pRg st="9" end="9"/>
                                            </p:txEl>
                                          </p:spTgt>
                                        </p:tgtEl>
                                        <p:attrNameLst>
                                          <p:attrName>style.visibility</p:attrName>
                                        </p:attrNameLst>
                                      </p:cBhvr>
                                      <p:to>
                                        <p:strVal val="visible"/>
                                      </p:to>
                                    </p:set>
                                    <p:anim calcmode="lin" valueType="num">
                                      <p:cBhvr additive="base">
                                        <p:cTn id="43" dur="500" fill="hold"/>
                                        <p:tgtEl>
                                          <p:spTgt spid="427011">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27011">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27011">
                                            <p:txEl>
                                              <p:pRg st="11" end="11"/>
                                            </p:txEl>
                                          </p:spTgt>
                                        </p:tgtEl>
                                        <p:attrNameLst>
                                          <p:attrName>style.visibility</p:attrName>
                                        </p:attrNameLst>
                                      </p:cBhvr>
                                      <p:to>
                                        <p:strVal val="visible"/>
                                      </p:to>
                                    </p:set>
                                    <p:anim calcmode="lin" valueType="num">
                                      <p:cBhvr additive="base">
                                        <p:cTn id="49" dur="500" fill="hold"/>
                                        <p:tgtEl>
                                          <p:spTgt spid="427011">
                                            <p:txEl>
                                              <p:pRg st="11" end="1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27011">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27011">
                                            <p:txEl>
                                              <p:pRg st="12" end="12"/>
                                            </p:txEl>
                                          </p:spTgt>
                                        </p:tgtEl>
                                        <p:attrNameLst>
                                          <p:attrName>style.visibility</p:attrName>
                                        </p:attrNameLst>
                                      </p:cBhvr>
                                      <p:to>
                                        <p:strVal val="visible"/>
                                      </p:to>
                                    </p:set>
                                    <p:anim calcmode="lin" valueType="num">
                                      <p:cBhvr additive="base">
                                        <p:cTn id="55" dur="500" fill="hold"/>
                                        <p:tgtEl>
                                          <p:spTgt spid="427011">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27011">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27011">
                                            <p:txEl>
                                              <p:pRg st="14" end="14"/>
                                            </p:txEl>
                                          </p:spTgt>
                                        </p:tgtEl>
                                        <p:attrNameLst>
                                          <p:attrName>style.visibility</p:attrName>
                                        </p:attrNameLst>
                                      </p:cBhvr>
                                      <p:to>
                                        <p:strVal val="visible"/>
                                      </p:to>
                                    </p:set>
                                    <p:anim calcmode="lin" valueType="num">
                                      <p:cBhvr additive="base">
                                        <p:cTn id="61" dur="500" fill="hold"/>
                                        <p:tgtEl>
                                          <p:spTgt spid="427011">
                                            <p:txEl>
                                              <p:pRg st="14" end="1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27011">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427011">
                                            <p:txEl>
                                              <p:pRg st="15" end="15"/>
                                            </p:txEl>
                                          </p:spTgt>
                                        </p:tgtEl>
                                        <p:attrNameLst>
                                          <p:attrName>style.visibility</p:attrName>
                                        </p:attrNameLst>
                                      </p:cBhvr>
                                      <p:to>
                                        <p:strVal val="visible"/>
                                      </p:to>
                                    </p:set>
                                    <p:anim calcmode="lin" valueType="num">
                                      <p:cBhvr additive="base">
                                        <p:cTn id="67" dur="500" fill="hold"/>
                                        <p:tgtEl>
                                          <p:spTgt spid="427011">
                                            <p:txEl>
                                              <p:pRg st="15" end="15"/>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27011">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GB" noProof="0" dirty="0" smtClean="0"/>
              <a:t>Root Cause Analysis</a:t>
            </a:r>
          </a:p>
        </p:txBody>
      </p:sp>
      <p:sp>
        <p:nvSpPr>
          <p:cNvPr id="427011" name="Rectangle 3"/>
          <p:cNvSpPr>
            <a:spLocks noGrp="1" noChangeArrowheads="1"/>
          </p:cNvSpPr>
          <p:nvPr>
            <p:ph idx="1"/>
          </p:nvPr>
        </p:nvSpPr>
        <p:spPr>
          <a:xfrm>
            <a:off x="810816" y="1439863"/>
            <a:ext cx="7005981" cy="5040312"/>
          </a:xfrm>
        </p:spPr>
        <p:txBody>
          <a:bodyPr/>
          <a:lstStyle/>
          <a:p>
            <a:pPr marL="0" lvl="1" indent="0">
              <a:buNone/>
            </a:pPr>
            <a:r>
              <a:rPr lang="en-GB" sz="2400" dirty="0" smtClean="0"/>
              <a:t>Example </a:t>
            </a:r>
            <a:r>
              <a:rPr lang="en-GB" sz="2400" dirty="0"/>
              <a:t>5-Why: Patient late for therapy</a:t>
            </a:r>
          </a:p>
          <a:p>
            <a:pPr marL="180975" lvl="1" indent="0">
              <a:buNone/>
            </a:pPr>
            <a:endParaRPr lang="en-GB" sz="1800" noProof="0" dirty="0" smtClean="0"/>
          </a:p>
          <a:p>
            <a:pPr marL="180975" lvl="1" indent="0">
              <a:buNone/>
            </a:pPr>
            <a:r>
              <a:rPr lang="en-GB" noProof="0" dirty="0" smtClean="0"/>
              <a:t>Solution</a:t>
            </a:r>
          </a:p>
          <a:p>
            <a:pPr marL="180975" lvl="1" indent="0">
              <a:buNone/>
            </a:pPr>
            <a:r>
              <a:rPr lang="en-IE" b="0" dirty="0" smtClean="0"/>
              <a:t>Setting up a proper maintenance schedule helps ensure that patients should never again be late due to faulty equipment. </a:t>
            </a:r>
          </a:p>
          <a:p>
            <a:pPr marL="180975" lvl="1" indent="0">
              <a:buNone/>
            </a:pPr>
            <a:endParaRPr lang="en-IE" b="0" dirty="0"/>
          </a:p>
          <a:p>
            <a:pPr marL="180975" lvl="1" indent="0">
              <a:buNone/>
            </a:pPr>
            <a:r>
              <a:rPr lang="en-IE" b="0" dirty="0" smtClean="0"/>
              <a:t>This reduces delays and improves flow. If you simply repair the wheelchair, the problem may happen again sometime in the future.</a:t>
            </a:r>
            <a:endParaRPr lang="en-GB" b="0" noProof="0" dirty="0" smtClean="0"/>
          </a:p>
        </p:txBody>
      </p:sp>
      <p:pic>
        <p:nvPicPr>
          <p:cNvPr id="5" name="Afbeelding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71787" y="2204864"/>
            <a:ext cx="2866821" cy="2204864"/>
          </a:xfrm>
          <a:prstGeom prst="rect">
            <a:avLst/>
          </a:prstGeom>
        </p:spPr>
      </p:pic>
    </p:spTree>
    <p:extLst>
      <p:ext uri="{BB962C8B-B14F-4D97-AF65-F5344CB8AC3E}">
        <p14:creationId xmlns:p14="http://schemas.microsoft.com/office/powerpoint/2010/main" val="3953361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7011">
                                            <p:txEl>
                                              <p:pRg st="2" end="2"/>
                                            </p:txEl>
                                          </p:spTgt>
                                        </p:tgtEl>
                                        <p:attrNameLst>
                                          <p:attrName>style.visibility</p:attrName>
                                        </p:attrNameLst>
                                      </p:cBhvr>
                                      <p:to>
                                        <p:strVal val="visible"/>
                                      </p:to>
                                    </p:set>
                                    <p:anim calcmode="lin" valueType="num">
                                      <p:cBhvr additive="base">
                                        <p:cTn id="7" dur="500" fill="hold"/>
                                        <p:tgtEl>
                                          <p:spTgt spid="42701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270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27011">
                                            <p:txEl>
                                              <p:pRg st="3" end="3"/>
                                            </p:txEl>
                                          </p:spTgt>
                                        </p:tgtEl>
                                        <p:attrNameLst>
                                          <p:attrName>style.visibility</p:attrName>
                                        </p:attrNameLst>
                                      </p:cBhvr>
                                      <p:to>
                                        <p:strVal val="visible"/>
                                      </p:to>
                                    </p:set>
                                    <p:anim calcmode="lin" valueType="num">
                                      <p:cBhvr additive="base">
                                        <p:cTn id="13" dur="500" fill="hold"/>
                                        <p:tgtEl>
                                          <p:spTgt spid="427011">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270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27011">
                                            <p:txEl>
                                              <p:pRg st="5" end="5"/>
                                            </p:txEl>
                                          </p:spTgt>
                                        </p:tgtEl>
                                        <p:attrNameLst>
                                          <p:attrName>style.visibility</p:attrName>
                                        </p:attrNameLst>
                                      </p:cBhvr>
                                      <p:to>
                                        <p:strVal val="visible"/>
                                      </p:to>
                                    </p:set>
                                    <p:anim calcmode="lin" valueType="num">
                                      <p:cBhvr additive="base">
                                        <p:cTn id="19" dur="500" fill="hold"/>
                                        <p:tgtEl>
                                          <p:spTgt spid="427011">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2701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27011">
                                            <p:txEl>
                                              <p:pRg st="0" end="0"/>
                                            </p:txEl>
                                          </p:spTgt>
                                        </p:tgtEl>
                                        <p:attrNameLst>
                                          <p:attrName>style.visibility</p:attrName>
                                        </p:attrNameLst>
                                      </p:cBhvr>
                                      <p:to>
                                        <p:strVal val="visible"/>
                                      </p:to>
                                    </p:set>
                                    <p:anim calcmode="lin" valueType="num">
                                      <p:cBhvr additive="base">
                                        <p:cTn id="25" dur="500" fill="hold"/>
                                        <p:tgtEl>
                                          <p:spTgt spid="427011">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2701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GB" noProof="0" dirty="0" smtClean="0">
                <a:latin typeface="Arial" charset="0"/>
                <a:cs typeface="Arial" charset="0"/>
              </a:rPr>
              <a:t>Root Cause Analysis</a:t>
            </a:r>
            <a:endParaRPr lang="en-GB" sz="2400" noProof="0" dirty="0" smtClean="0">
              <a:latin typeface="Arial" charset="0"/>
              <a:cs typeface="Arial" charset="0"/>
            </a:endParaRPr>
          </a:p>
        </p:txBody>
      </p:sp>
      <p:sp>
        <p:nvSpPr>
          <p:cNvPr id="13315" name="Rectangle 22"/>
          <p:cNvSpPr>
            <a:spLocks noGrp="1" noChangeArrowheads="1"/>
          </p:cNvSpPr>
          <p:nvPr>
            <p:ph idx="1"/>
          </p:nvPr>
        </p:nvSpPr>
        <p:spPr/>
        <p:txBody>
          <a:bodyPr/>
          <a:lstStyle/>
          <a:p>
            <a:pPr marL="0" indent="0" eaLnBrk="1" hangingPunct="1"/>
            <a:r>
              <a:rPr lang="en-GB" noProof="0" dirty="0" smtClean="0">
                <a:latin typeface="Arial" charset="0"/>
                <a:cs typeface="Arial" charset="0"/>
              </a:rPr>
              <a:t>The 5-Why</a:t>
            </a:r>
          </a:p>
          <a:p>
            <a:pPr lvl="1" eaLnBrk="1" hangingPunct="1"/>
            <a:endParaRPr lang="en-GB" sz="1800" noProof="0" dirty="0" smtClean="0">
              <a:latin typeface="Arial" charset="0"/>
              <a:cs typeface="Arial" charset="0"/>
            </a:endParaRPr>
          </a:p>
          <a:p>
            <a:pPr lvl="1" eaLnBrk="1" hangingPunct="1">
              <a:buClrTx/>
            </a:pPr>
            <a:r>
              <a:rPr lang="en-GB" noProof="0" dirty="0" smtClean="0">
                <a:latin typeface="Arial" charset="0"/>
                <a:cs typeface="Arial" charset="0"/>
              </a:rPr>
              <a:t>Use 5-Why technique (ask 5 X WHY)</a:t>
            </a:r>
          </a:p>
          <a:p>
            <a:pPr lvl="1" eaLnBrk="1" hangingPunct="1"/>
            <a:endParaRPr lang="en-GB" noProof="0" dirty="0" smtClean="0">
              <a:latin typeface="Arial" charset="0"/>
              <a:cs typeface="Arial" charset="0"/>
            </a:endParaRPr>
          </a:p>
        </p:txBody>
      </p:sp>
      <p:sp>
        <p:nvSpPr>
          <p:cNvPr id="13316" name="AutoShape 3"/>
          <p:cNvSpPr>
            <a:spLocks noChangeArrowheads="1"/>
          </p:cNvSpPr>
          <p:nvPr/>
        </p:nvSpPr>
        <p:spPr bwMode="auto">
          <a:xfrm>
            <a:off x="3325415" y="5356226"/>
            <a:ext cx="1700213" cy="835025"/>
          </a:xfrm>
          <a:prstGeom prst="flowChartProcess">
            <a:avLst/>
          </a:prstGeom>
          <a:solidFill>
            <a:schemeClr val="bg1">
              <a:lumMod val="75000"/>
            </a:schemeClr>
          </a:solidFill>
          <a:ln w="9525" algn="ctr">
            <a:solidFill>
              <a:schemeClr val="tx1"/>
            </a:solidFill>
            <a:miter lim="800000"/>
            <a:headEnd/>
            <a:tailEnd/>
          </a:ln>
        </p:spPr>
        <p:txBody>
          <a:bodyPr anchor="ctr"/>
          <a:lstStyle/>
          <a:p>
            <a:pPr algn="ctr"/>
            <a:r>
              <a:rPr lang="en-GB" sz="1600" b="1" dirty="0"/>
              <a:t>Why quality system failure?</a:t>
            </a:r>
          </a:p>
        </p:txBody>
      </p:sp>
      <p:sp>
        <p:nvSpPr>
          <p:cNvPr id="13317" name="AutoShape 4"/>
          <p:cNvSpPr>
            <a:spLocks noChangeArrowheads="1"/>
          </p:cNvSpPr>
          <p:nvPr/>
        </p:nvSpPr>
        <p:spPr bwMode="auto">
          <a:xfrm>
            <a:off x="3364707" y="4132264"/>
            <a:ext cx="1639491" cy="835025"/>
          </a:xfrm>
          <a:prstGeom prst="flowChartProcess">
            <a:avLst/>
          </a:prstGeom>
          <a:solidFill>
            <a:schemeClr val="bg1">
              <a:lumMod val="75000"/>
            </a:schemeClr>
          </a:solidFill>
          <a:ln w="9525" algn="ctr">
            <a:solidFill>
              <a:schemeClr val="tx1"/>
            </a:solidFill>
            <a:miter lim="800000"/>
            <a:headEnd/>
            <a:tailEnd/>
          </a:ln>
        </p:spPr>
        <p:txBody>
          <a:bodyPr anchor="ctr"/>
          <a:lstStyle/>
          <a:p>
            <a:pPr algn="ctr"/>
            <a:r>
              <a:rPr lang="en-GB" sz="1600" b="1" dirty="0"/>
              <a:t>Why not detected?</a:t>
            </a:r>
          </a:p>
        </p:txBody>
      </p:sp>
      <p:sp>
        <p:nvSpPr>
          <p:cNvPr id="13318" name="AutoShape 5"/>
          <p:cNvSpPr>
            <a:spLocks noChangeArrowheads="1"/>
          </p:cNvSpPr>
          <p:nvPr/>
        </p:nvSpPr>
        <p:spPr bwMode="auto">
          <a:xfrm>
            <a:off x="3325415" y="2878139"/>
            <a:ext cx="1700213" cy="835025"/>
          </a:xfrm>
          <a:prstGeom prst="flowChartProcess">
            <a:avLst/>
          </a:prstGeom>
          <a:solidFill>
            <a:schemeClr val="bg1">
              <a:lumMod val="75000"/>
            </a:schemeClr>
          </a:solidFill>
          <a:ln w="9525" algn="ctr">
            <a:solidFill>
              <a:schemeClr val="tx1"/>
            </a:solidFill>
            <a:miter lim="800000"/>
            <a:headEnd/>
            <a:tailEnd/>
          </a:ln>
        </p:spPr>
        <p:txBody>
          <a:bodyPr anchor="ctr"/>
          <a:lstStyle/>
          <a:p>
            <a:pPr algn="ctr"/>
            <a:r>
              <a:rPr lang="en-GB" sz="1600" b="1" dirty="0"/>
              <a:t>Why did it occur?</a:t>
            </a:r>
          </a:p>
        </p:txBody>
      </p:sp>
      <p:sp>
        <p:nvSpPr>
          <p:cNvPr id="13319" name="AutoShape 6"/>
          <p:cNvSpPr>
            <a:spLocks noChangeArrowheads="1"/>
          </p:cNvSpPr>
          <p:nvPr/>
        </p:nvSpPr>
        <p:spPr bwMode="auto">
          <a:xfrm>
            <a:off x="5509618" y="5327651"/>
            <a:ext cx="1219795" cy="835025"/>
          </a:xfrm>
          <a:prstGeom prst="flowChartProcess">
            <a:avLst/>
          </a:prstGeom>
          <a:solidFill>
            <a:schemeClr val="bg1">
              <a:lumMod val="75000"/>
            </a:schemeClr>
          </a:solidFill>
          <a:ln w="9525" algn="ctr">
            <a:solidFill>
              <a:schemeClr val="tx1"/>
            </a:solidFill>
            <a:miter lim="800000"/>
            <a:headEnd/>
            <a:tailEnd/>
          </a:ln>
        </p:spPr>
        <p:txBody>
          <a:bodyPr anchor="ctr"/>
          <a:lstStyle/>
          <a:p>
            <a:pPr algn="ctr"/>
            <a:endParaRPr lang="en-GB" sz="1600" b="1" dirty="0"/>
          </a:p>
          <a:p>
            <a:pPr algn="ctr"/>
            <a:r>
              <a:rPr lang="en-GB" sz="1600" b="1" dirty="0" smtClean="0"/>
              <a:t>Causes</a:t>
            </a:r>
            <a:endParaRPr lang="en-GB" sz="1600" b="1" dirty="0"/>
          </a:p>
          <a:p>
            <a:pPr algn="ctr"/>
            <a:endParaRPr lang="en-GB" sz="1600" b="1" dirty="0"/>
          </a:p>
        </p:txBody>
      </p:sp>
      <p:sp>
        <p:nvSpPr>
          <p:cNvPr id="13320" name="AutoShape 7"/>
          <p:cNvSpPr>
            <a:spLocks noChangeArrowheads="1"/>
          </p:cNvSpPr>
          <p:nvPr/>
        </p:nvSpPr>
        <p:spPr bwMode="auto">
          <a:xfrm>
            <a:off x="5539979" y="4132264"/>
            <a:ext cx="1219796" cy="835025"/>
          </a:xfrm>
          <a:prstGeom prst="flowChartProcess">
            <a:avLst/>
          </a:prstGeom>
          <a:solidFill>
            <a:schemeClr val="bg1">
              <a:lumMod val="75000"/>
            </a:schemeClr>
          </a:solidFill>
          <a:ln w="9525" algn="ctr">
            <a:solidFill>
              <a:schemeClr val="tx1"/>
            </a:solidFill>
            <a:miter lim="800000"/>
            <a:headEnd/>
            <a:tailEnd/>
          </a:ln>
        </p:spPr>
        <p:txBody>
          <a:bodyPr anchor="ctr"/>
          <a:lstStyle/>
          <a:p>
            <a:pPr algn="ctr"/>
            <a:endParaRPr lang="en-GB" sz="1600" b="1" dirty="0"/>
          </a:p>
          <a:p>
            <a:pPr algn="ctr"/>
            <a:r>
              <a:rPr lang="en-GB" sz="1600" b="1" dirty="0" smtClean="0"/>
              <a:t>Causes</a:t>
            </a:r>
            <a:endParaRPr lang="en-GB" sz="1600" b="1" dirty="0"/>
          </a:p>
          <a:p>
            <a:pPr algn="ctr"/>
            <a:endParaRPr lang="en-GB" sz="1600" b="1" dirty="0"/>
          </a:p>
        </p:txBody>
      </p:sp>
      <p:sp>
        <p:nvSpPr>
          <p:cNvPr id="13321" name="AutoShape 8"/>
          <p:cNvSpPr>
            <a:spLocks noChangeArrowheads="1"/>
          </p:cNvSpPr>
          <p:nvPr/>
        </p:nvSpPr>
        <p:spPr bwMode="auto">
          <a:xfrm>
            <a:off x="5509618" y="2878139"/>
            <a:ext cx="1219795" cy="835025"/>
          </a:xfrm>
          <a:prstGeom prst="flowChartProcess">
            <a:avLst/>
          </a:prstGeom>
          <a:solidFill>
            <a:schemeClr val="bg1">
              <a:lumMod val="75000"/>
            </a:schemeClr>
          </a:solidFill>
          <a:ln w="9525" algn="ctr">
            <a:solidFill>
              <a:schemeClr val="tx1"/>
            </a:solidFill>
            <a:miter lim="800000"/>
            <a:headEnd/>
            <a:tailEnd/>
          </a:ln>
        </p:spPr>
        <p:txBody>
          <a:bodyPr anchor="ctr"/>
          <a:lstStyle/>
          <a:p>
            <a:pPr algn="ctr"/>
            <a:endParaRPr lang="en-GB" sz="1600" b="1" dirty="0"/>
          </a:p>
          <a:p>
            <a:pPr algn="ctr"/>
            <a:r>
              <a:rPr lang="en-GB" sz="1600" b="1" dirty="0" smtClean="0"/>
              <a:t>Causes</a:t>
            </a:r>
            <a:endParaRPr lang="en-GB" sz="1600" b="1" dirty="0"/>
          </a:p>
          <a:p>
            <a:pPr algn="ctr"/>
            <a:endParaRPr lang="en-GB" sz="1600" b="1" dirty="0"/>
          </a:p>
        </p:txBody>
      </p:sp>
      <p:sp>
        <p:nvSpPr>
          <p:cNvPr id="13322" name="AutoShape 9"/>
          <p:cNvSpPr>
            <a:spLocks noChangeArrowheads="1"/>
          </p:cNvSpPr>
          <p:nvPr/>
        </p:nvSpPr>
        <p:spPr bwMode="auto">
          <a:xfrm>
            <a:off x="7206258" y="5327651"/>
            <a:ext cx="1714500" cy="835025"/>
          </a:xfrm>
          <a:prstGeom prst="flowChartProcess">
            <a:avLst/>
          </a:prstGeom>
          <a:solidFill>
            <a:schemeClr val="bg1">
              <a:lumMod val="75000"/>
            </a:schemeClr>
          </a:solidFill>
          <a:ln w="9525" algn="ctr">
            <a:solidFill>
              <a:schemeClr val="tx1"/>
            </a:solidFill>
            <a:miter lim="800000"/>
            <a:headEnd/>
            <a:tailEnd/>
          </a:ln>
        </p:spPr>
        <p:txBody>
          <a:bodyPr anchor="ctr"/>
          <a:lstStyle/>
          <a:p>
            <a:pPr algn="ctr"/>
            <a:endParaRPr lang="en-GB" sz="1600" b="1" dirty="0"/>
          </a:p>
          <a:p>
            <a:pPr algn="ctr"/>
            <a:r>
              <a:rPr lang="en-GB" sz="1600" b="1" dirty="0"/>
              <a:t>Root cause</a:t>
            </a:r>
          </a:p>
          <a:p>
            <a:pPr algn="ctr"/>
            <a:endParaRPr lang="en-GB" sz="1600" b="1" dirty="0"/>
          </a:p>
        </p:txBody>
      </p:sp>
      <p:sp>
        <p:nvSpPr>
          <p:cNvPr id="13323" name="AutoShape 10"/>
          <p:cNvSpPr>
            <a:spLocks noChangeArrowheads="1"/>
          </p:cNvSpPr>
          <p:nvPr/>
        </p:nvSpPr>
        <p:spPr bwMode="auto">
          <a:xfrm>
            <a:off x="7206258" y="2878139"/>
            <a:ext cx="1714500" cy="835025"/>
          </a:xfrm>
          <a:prstGeom prst="flowChartProcess">
            <a:avLst/>
          </a:prstGeom>
          <a:solidFill>
            <a:schemeClr val="bg1">
              <a:lumMod val="75000"/>
            </a:schemeClr>
          </a:solidFill>
          <a:ln w="9525" algn="ctr">
            <a:solidFill>
              <a:schemeClr val="tx1"/>
            </a:solidFill>
            <a:miter lim="800000"/>
            <a:headEnd/>
            <a:tailEnd/>
          </a:ln>
        </p:spPr>
        <p:txBody>
          <a:bodyPr anchor="ctr"/>
          <a:lstStyle/>
          <a:p>
            <a:pPr algn="ctr"/>
            <a:endParaRPr lang="en-GB" sz="1600" b="1" dirty="0"/>
          </a:p>
          <a:p>
            <a:pPr algn="ctr"/>
            <a:r>
              <a:rPr lang="en-GB" sz="1600" b="1" dirty="0"/>
              <a:t>R</a:t>
            </a:r>
            <a:r>
              <a:rPr lang="en-GB" sz="1600" b="1" dirty="0" smtClean="0"/>
              <a:t>oot </a:t>
            </a:r>
            <a:r>
              <a:rPr lang="en-GB" sz="1600" b="1" dirty="0"/>
              <a:t>cause</a:t>
            </a:r>
          </a:p>
          <a:p>
            <a:pPr algn="ctr"/>
            <a:endParaRPr lang="en-GB" sz="1600" b="1" dirty="0"/>
          </a:p>
        </p:txBody>
      </p:sp>
      <p:sp>
        <p:nvSpPr>
          <p:cNvPr id="13324" name="AutoShape 11"/>
          <p:cNvSpPr>
            <a:spLocks noChangeArrowheads="1"/>
          </p:cNvSpPr>
          <p:nvPr/>
        </p:nvSpPr>
        <p:spPr bwMode="auto">
          <a:xfrm>
            <a:off x="7206258" y="4102101"/>
            <a:ext cx="1714500" cy="835025"/>
          </a:xfrm>
          <a:prstGeom prst="flowChartProcess">
            <a:avLst/>
          </a:prstGeom>
          <a:solidFill>
            <a:schemeClr val="bg1">
              <a:lumMod val="75000"/>
            </a:schemeClr>
          </a:solidFill>
          <a:ln w="9525" algn="ctr">
            <a:solidFill>
              <a:schemeClr val="tx1"/>
            </a:solidFill>
            <a:miter lim="800000"/>
            <a:headEnd/>
            <a:tailEnd/>
          </a:ln>
        </p:spPr>
        <p:txBody>
          <a:bodyPr anchor="ctr"/>
          <a:lstStyle/>
          <a:p>
            <a:pPr algn="ctr"/>
            <a:endParaRPr lang="en-GB" sz="1600" b="1" dirty="0"/>
          </a:p>
          <a:p>
            <a:pPr algn="ctr"/>
            <a:r>
              <a:rPr lang="en-GB" sz="1600" b="1" dirty="0"/>
              <a:t>Root cause</a:t>
            </a:r>
          </a:p>
          <a:p>
            <a:pPr algn="ctr"/>
            <a:endParaRPr lang="en-GB" sz="1600" b="1" dirty="0"/>
          </a:p>
        </p:txBody>
      </p:sp>
      <p:sp>
        <p:nvSpPr>
          <p:cNvPr id="13325" name="AutoShape 12"/>
          <p:cNvSpPr>
            <a:spLocks noChangeArrowheads="1"/>
          </p:cNvSpPr>
          <p:nvPr/>
        </p:nvSpPr>
        <p:spPr bwMode="auto">
          <a:xfrm>
            <a:off x="1239441" y="4075114"/>
            <a:ext cx="1246584" cy="835025"/>
          </a:xfrm>
          <a:prstGeom prst="flowChartProcess">
            <a:avLst/>
          </a:prstGeom>
          <a:solidFill>
            <a:schemeClr val="bg1">
              <a:lumMod val="50000"/>
            </a:schemeClr>
          </a:solidFill>
          <a:ln w="9525" algn="ctr">
            <a:solidFill>
              <a:schemeClr val="tx1"/>
            </a:solidFill>
            <a:miter lim="800000"/>
            <a:headEnd/>
            <a:tailEnd/>
          </a:ln>
        </p:spPr>
        <p:txBody>
          <a:bodyPr anchor="ctr"/>
          <a:lstStyle/>
          <a:p>
            <a:pPr algn="ctr"/>
            <a:endParaRPr lang="en-GB" sz="1600" b="1" dirty="0">
              <a:solidFill>
                <a:schemeClr val="bg1"/>
              </a:solidFill>
            </a:endParaRPr>
          </a:p>
          <a:p>
            <a:pPr algn="ctr"/>
            <a:r>
              <a:rPr lang="en-GB" sz="1600" b="1" dirty="0">
                <a:solidFill>
                  <a:schemeClr val="bg1"/>
                </a:solidFill>
              </a:rPr>
              <a:t>Effect</a:t>
            </a:r>
          </a:p>
          <a:p>
            <a:pPr algn="ctr"/>
            <a:endParaRPr lang="en-GB" sz="1600" b="1" dirty="0">
              <a:solidFill>
                <a:schemeClr val="bg1"/>
              </a:solidFill>
            </a:endParaRPr>
          </a:p>
        </p:txBody>
      </p:sp>
      <p:sp>
        <p:nvSpPr>
          <p:cNvPr id="13326" name="Line 13"/>
          <p:cNvSpPr>
            <a:spLocks noChangeShapeType="1"/>
          </p:cNvSpPr>
          <p:nvPr/>
        </p:nvSpPr>
        <p:spPr bwMode="auto">
          <a:xfrm flipV="1">
            <a:off x="2594968" y="3295651"/>
            <a:ext cx="648295" cy="1152525"/>
          </a:xfrm>
          <a:prstGeom prst="line">
            <a:avLst/>
          </a:prstGeom>
          <a:noFill/>
          <a:ln w="9525">
            <a:solidFill>
              <a:schemeClr val="tx1"/>
            </a:solidFill>
            <a:round/>
            <a:headEnd/>
            <a:tailEnd type="triangle" w="med" len="med"/>
          </a:ln>
        </p:spPr>
        <p:txBody>
          <a:bodyPr anchor="ctr"/>
          <a:lstStyle/>
          <a:p>
            <a:endParaRPr lang="en-GB" dirty="0"/>
          </a:p>
        </p:txBody>
      </p:sp>
      <p:sp>
        <p:nvSpPr>
          <p:cNvPr id="13327" name="Line 14"/>
          <p:cNvSpPr>
            <a:spLocks noChangeShapeType="1"/>
          </p:cNvSpPr>
          <p:nvPr/>
        </p:nvSpPr>
        <p:spPr bwMode="auto">
          <a:xfrm>
            <a:off x="2594968" y="4448175"/>
            <a:ext cx="648295" cy="0"/>
          </a:xfrm>
          <a:prstGeom prst="line">
            <a:avLst/>
          </a:prstGeom>
          <a:noFill/>
          <a:ln w="9525">
            <a:solidFill>
              <a:schemeClr val="tx1"/>
            </a:solidFill>
            <a:round/>
            <a:headEnd/>
            <a:tailEnd type="triangle" w="med" len="med"/>
          </a:ln>
        </p:spPr>
        <p:txBody>
          <a:bodyPr anchor="ctr"/>
          <a:lstStyle/>
          <a:p>
            <a:endParaRPr lang="en-GB" dirty="0"/>
          </a:p>
        </p:txBody>
      </p:sp>
      <p:sp>
        <p:nvSpPr>
          <p:cNvPr id="13328" name="Line 15"/>
          <p:cNvSpPr>
            <a:spLocks noChangeShapeType="1"/>
          </p:cNvSpPr>
          <p:nvPr/>
        </p:nvSpPr>
        <p:spPr bwMode="auto">
          <a:xfrm>
            <a:off x="2594968" y="4448175"/>
            <a:ext cx="648295" cy="1295400"/>
          </a:xfrm>
          <a:prstGeom prst="line">
            <a:avLst/>
          </a:prstGeom>
          <a:noFill/>
          <a:ln w="9525">
            <a:solidFill>
              <a:schemeClr val="tx1"/>
            </a:solidFill>
            <a:round/>
            <a:headEnd/>
            <a:tailEnd type="triangle" w="med" len="med"/>
          </a:ln>
        </p:spPr>
        <p:txBody>
          <a:bodyPr anchor="ctr"/>
          <a:lstStyle/>
          <a:p>
            <a:endParaRPr lang="en-GB" dirty="0"/>
          </a:p>
        </p:txBody>
      </p:sp>
      <p:sp>
        <p:nvSpPr>
          <p:cNvPr id="13329" name="Line 16"/>
          <p:cNvSpPr>
            <a:spLocks noChangeShapeType="1"/>
          </p:cNvSpPr>
          <p:nvPr/>
        </p:nvSpPr>
        <p:spPr bwMode="auto">
          <a:xfrm>
            <a:off x="5105996" y="3295650"/>
            <a:ext cx="325041" cy="0"/>
          </a:xfrm>
          <a:prstGeom prst="line">
            <a:avLst/>
          </a:prstGeom>
          <a:noFill/>
          <a:ln w="9525">
            <a:solidFill>
              <a:schemeClr val="tx1"/>
            </a:solidFill>
            <a:round/>
            <a:headEnd/>
            <a:tailEnd type="triangle" w="med" len="med"/>
          </a:ln>
        </p:spPr>
        <p:txBody>
          <a:bodyPr anchor="ctr"/>
          <a:lstStyle/>
          <a:p>
            <a:endParaRPr lang="en-GB" dirty="0"/>
          </a:p>
        </p:txBody>
      </p:sp>
      <p:sp>
        <p:nvSpPr>
          <p:cNvPr id="13330" name="Line 17"/>
          <p:cNvSpPr>
            <a:spLocks noChangeShapeType="1"/>
          </p:cNvSpPr>
          <p:nvPr/>
        </p:nvSpPr>
        <p:spPr bwMode="auto">
          <a:xfrm>
            <a:off x="5105996" y="4519613"/>
            <a:ext cx="325041" cy="0"/>
          </a:xfrm>
          <a:prstGeom prst="line">
            <a:avLst/>
          </a:prstGeom>
          <a:noFill/>
          <a:ln w="9525">
            <a:solidFill>
              <a:schemeClr val="tx1"/>
            </a:solidFill>
            <a:round/>
            <a:headEnd/>
            <a:tailEnd type="triangle" w="med" len="med"/>
          </a:ln>
        </p:spPr>
        <p:txBody>
          <a:bodyPr anchor="ctr"/>
          <a:lstStyle/>
          <a:p>
            <a:endParaRPr lang="en-GB" dirty="0"/>
          </a:p>
        </p:txBody>
      </p:sp>
      <p:sp>
        <p:nvSpPr>
          <p:cNvPr id="13331" name="Line 18"/>
          <p:cNvSpPr>
            <a:spLocks noChangeShapeType="1"/>
          </p:cNvSpPr>
          <p:nvPr/>
        </p:nvSpPr>
        <p:spPr bwMode="auto">
          <a:xfrm>
            <a:off x="5105996" y="5743575"/>
            <a:ext cx="325041" cy="0"/>
          </a:xfrm>
          <a:prstGeom prst="line">
            <a:avLst/>
          </a:prstGeom>
          <a:noFill/>
          <a:ln w="9525">
            <a:solidFill>
              <a:schemeClr val="tx1"/>
            </a:solidFill>
            <a:round/>
            <a:headEnd/>
            <a:tailEnd type="triangle" w="med" len="med"/>
          </a:ln>
        </p:spPr>
        <p:txBody>
          <a:bodyPr anchor="ctr"/>
          <a:lstStyle/>
          <a:p>
            <a:endParaRPr lang="en-GB" dirty="0"/>
          </a:p>
        </p:txBody>
      </p:sp>
      <p:sp>
        <p:nvSpPr>
          <p:cNvPr id="13332" name="Line 19"/>
          <p:cNvSpPr>
            <a:spLocks noChangeShapeType="1"/>
          </p:cNvSpPr>
          <p:nvPr/>
        </p:nvSpPr>
        <p:spPr bwMode="auto">
          <a:xfrm>
            <a:off x="6807994" y="3295650"/>
            <a:ext cx="323255" cy="0"/>
          </a:xfrm>
          <a:prstGeom prst="line">
            <a:avLst/>
          </a:prstGeom>
          <a:noFill/>
          <a:ln w="9525">
            <a:solidFill>
              <a:schemeClr val="tx1"/>
            </a:solidFill>
            <a:round/>
            <a:headEnd/>
            <a:tailEnd type="triangle" w="med" len="med"/>
          </a:ln>
        </p:spPr>
        <p:txBody>
          <a:bodyPr anchor="ctr"/>
          <a:lstStyle/>
          <a:p>
            <a:endParaRPr lang="en-GB" dirty="0"/>
          </a:p>
        </p:txBody>
      </p:sp>
      <p:sp>
        <p:nvSpPr>
          <p:cNvPr id="13333" name="Line 20"/>
          <p:cNvSpPr>
            <a:spLocks noChangeShapeType="1"/>
          </p:cNvSpPr>
          <p:nvPr/>
        </p:nvSpPr>
        <p:spPr bwMode="auto">
          <a:xfrm>
            <a:off x="6807994" y="4519613"/>
            <a:ext cx="323255" cy="0"/>
          </a:xfrm>
          <a:prstGeom prst="line">
            <a:avLst/>
          </a:prstGeom>
          <a:noFill/>
          <a:ln w="9525">
            <a:solidFill>
              <a:schemeClr val="tx1"/>
            </a:solidFill>
            <a:round/>
            <a:headEnd/>
            <a:tailEnd type="triangle" w="med" len="med"/>
          </a:ln>
        </p:spPr>
        <p:txBody>
          <a:bodyPr anchor="ctr"/>
          <a:lstStyle/>
          <a:p>
            <a:endParaRPr lang="en-GB" dirty="0"/>
          </a:p>
        </p:txBody>
      </p:sp>
      <p:sp>
        <p:nvSpPr>
          <p:cNvPr id="13334" name="Line 21"/>
          <p:cNvSpPr>
            <a:spLocks noChangeShapeType="1"/>
          </p:cNvSpPr>
          <p:nvPr/>
        </p:nvSpPr>
        <p:spPr bwMode="auto">
          <a:xfrm>
            <a:off x="6807994" y="5743575"/>
            <a:ext cx="323255" cy="0"/>
          </a:xfrm>
          <a:prstGeom prst="line">
            <a:avLst/>
          </a:prstGeom>
          <a:noFill/>
          <a:ln w="9525">
            <a:solidFill>
              <a:schemeClr val="tx1"/>
            </a:solidFill>
            <a:round/>
            <a:headEnd/>
            <a:tailEnd type="triangle" w="med" len="med"/>
          </a:ln>
        </p:spPr>
        <p:txBody>
          <a:bodyPr anchor="ctr"/>
          <a:lstStyle/>
          <a:p>
            <a:endParaRPr lang="en-GB" dirty="0"/>
          </a:p>
        </p:txBody>
      </p:sp>
      <p:sp>
        <p:nvSpPr>
          <p:cNvPr id="13335" name="Text Box 23"/>
          <p:cNvSpPr txBox="1">
            <a:spLocks noChangeArrowheads="1"/>
          </p:cNvSpPr>
          <p:nvPr/>
        </p:nvSpPr>
        <p:spPr bwMode="auto">
          <a:xfrm>
            <a:off x="9172575" y="3084513"/>
            <a:ext cx="388248" cy="369332"/>
          </a:xfrm>
          <a:prstGeom prst="rect">
            <a:avLst/>
          </a:prstGeom>
          <a:noFill/>
          <a:ln w="9525">
            <a:noFill/>
            <a:miter lim="800000"/>
            <a:headEnd/>
            <a:tailEnd/>
          </a:ln>
        </p:spPr>
        <p:txBody>
          <a:bodyPr wrap="none">
            <a:spAutoFit/>
          </a:bodyPr>
          <a:lstStyle/>
          <a:p>
            <a:r>
              <a:rPr lang="en-GB" dirty="0"/>
              <a:t>A)</a:t>
            </a:r>
          </a:p>
        </p:txBody>
      </p:sp>
      <p:sp>
        <p:nvSpPr>
          <p:cNvPr id="13336" name="Text Box 24"/>
          <p:cNvSpPr txBox="1">
            <a:spLocks noChangeArrowheads="1"/>
          </p:cNvSpPr>
          <p:nvPr/>
        </p:nvSpPr>
        <p:spPr bwMode="auto">
          <a:xfrm>
            <a:off x="9190434" y="4343401"/>
            <a:ext cx="380232" cy="369332"/>
          </a:xfrm>
          <a:prstGeom prst="rect">
            <a:avLst/>
          </a:prstGeom>
          <a:noFill/>
          <a:ln w="9525">
            <a:noFill/>
            <a:miter lim="800000"/>
            <a:headEnd/>
            <a:tailEnd/>
          </a:ln>
        </p:spPr>
        <p:txBody>
          <a:bodyPr wrap="none">
            <a:spAutoFit/>
          </a:bodyPr>
          <a:lstStyle/>
          <a:p>
            <a:r>
              <a:rPr lang="en-GB" dirty="0"/>
              <a:t>B)</a:t>
            </a:r>
          </a:p>
        </p:txBody>
      </p:sp>
      <p:sp>
        <p:nvSpPr>
          <p:cNvPr id="13337" name="Text Box 25"/>
          <p:cNvSpPr txBox="1">
            <a:spLocks noChangeArrowheads="1"/>
          </p:cNvSpPr>
          <p:nvPr/>
        </p:nvSpPr>
        <p:spPr bwMode="auto">
          <a:xfrm>
            <a:off x="9190435" y="5538788"/>
            <a:ext cx="378630" cy="369332"/>
          </a:xfrm>
          <a:prstGeom prst="rect">
            <a:avLst/>
          </a:prstGeom>
          <a:noFill/>
          <a:ln w="9525">
            <a:noFill/>
            <a:miter lim="800000"/>
            <a:headEnd/>
            <a:tailEnd/>
          </a:ln>
        </p:spPr>
        <p:txBody>
          <a:bodyPr wrap="none">
            <a:spAutoFit/>
          </a:bodyPr>
          <a:lstStyle/>
          <a:p>
            <a:r>
              <a:rPr lang="en-GB" dirty="0"/>
              <a:t>C)</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GB" dirty="0"/>
              <a:t>Root Cause </a:t>
            </a:r>
            <a:r>
              <a:rPr lang="en-GB" dirty="0" smtClean="0"/>
              <a:t>Analysis </a:t>
            </a:r>
            <a:endParaRPr lang="en-GB" noProof="0" dirty="0" smtClean="0"/>
          </a:p>
        </p:txBody>
      </p:sp>
      <p:sp>
        <p:nvSpPr>
          <p:cNvPr id="15363" name="Rectangle 3"/>
          <p:cNvSpPr>
            <a:spLocks noGrp="1" noChangeArrowheads="1"/>
          </p:cNvSpPr>
          <p:nvPr>
            <p:ph idx="1"/>
          </p:nvPr>
        </p:nvSpPr>
        <p:spPr>
          <a:xfrm>
            <a:off x="810815" y="1439863"/>
            <a:ext cx="9274233" cy="5157489"/>
          </a:xfrm>
        </p:spPr>
        <p:txBody>
          <a:bodyPr/>
          <a:lstStyle/>
          <a:p>
            <a:r>
              <a:rPr lang="en-GB" noProof="0" dirty="0" smtClean="0"/>
              <a:t>Example 5-Why: Patient late for diagnostic test</a:t>
            </a:r>
          </a:p>
          <a:p>
            <a:pPr marL="0" lvl="1" indent="0">
              <a:buNone/>
            </a:pPr>
            <a:endParaRPr lang="en-GB" dirty="0"/>
          </a:p>
          <a:p>
            <a:pPr marL="0" indent="174625"/>
            <a:r>
              <a:rPr lang="en-IE" sz="1600" dirty="0" smtClean="0"/>
              <a:t>Why </a:t>
            </a:r>
            <a:r>
              <a:rPr lang="en-IE" sz="1600" dirty="0"/>
              <a:t>are </a:t>
            </a:r>
            <a:r>
              <a:rPr lang="en-IE" sz="1600" dirty="0" smtClean="0"/>
              <a:t>patients </a:t>
            </a:r>
            <a:r>
              <a:rPr lang="en-IE" sz="1600" dirty="0"/>
              <a:t>arriving </a:t>
            </a:r>
            <a:r>
              <a:rPr lang="en-IE" sz="1600" dirty="0" smtClean="0"/>
              <a:t>late? </a:t>
            </a:r>
            <a:r>
              <a:rPr lang="en-IE" sz="1600" dirty="0">
                <a:solidFill>
                  <a:srgbClr val="FF0000"/>
                </a:solidFill>
              </a:rPr>
              <a:t>The porters</a:t>
            </a:r>
            <a:r>
              <a:rPr lang="en-IE" sz="1600" dirty="0" smtClean="0">
                <a:solidFill>
                  <a:srgbClr val="FF0000"/>
                </a:solidFill>
              </a:rPr>
              <a:t>/ transporters </a:t>
            </a:r>
            <a:r>
              <a:rPr lang="en-IE" sz="1600" dirty="0">
                <a:solidFill>
                  <a:srgbClr val="FF0000"/>
                </a:solidFill>
              </a:rPr>
              <a:t>are not called on time*</a:t>
            </a:r>
          </a:p>
          <a:p>
            <a:pPr marL="0" indent="174625"/>
            <a:r>
              <a:rPr lang="en-IE" sz="1600" dirty="0" smtClean="0"/>
              <a:t>Why</a:t>
            </a:r>
            <a:r>
              <a:rPr lang="en-IE" sz="1600" dirty="0"/>
              <a:t>? </a:t>
            </a:r>
            <a:endParaRPr lang="en-IE" sz="1600" dirty="0" smtClean="0"/>
          </a:p>
          <a:p>
            <a:pPr lvl="1">
              <a:buClrTx/>
            </a:pPr>
            <a:r>
              <a:rPr lang="en-IE" b="0" dirty="0"/>
              <a:t>Nurses are busy and often </a:t>
            </a:r>
            <a:r>
              <a:rPr lang="en-IE" b="0" dirty="0" smtClean="0"/>
              <a:t>forget</a:t>
            </a:r>
            <a:endParaRPr lang="en-IE" sz="1600" dirty="0"/>
          </a:p>
          <a:p>
            <a:pPr lvl="1">
              <a:buClrTx/>
            </a:pPr>
            <a:r>
              <a:rPr lang="en-IE" b="0" dirty="0" smtClean="0"/>
              <a:t>There </a:t>
            </a:r>
            <a:r>
              <a:rPr lang="en-IE" b="0" dirty="0"/>
              <a:t>is no written request</a:t>
            </a:r>
          </a:p>
          <a:p>
            <a:pPr lvl="1">
              <a:buClrTx/>
            </a:pPr>
            <a:r>
              <a:rPr lang="en-IE" b="0" dirty="0"/>
              <a:t>No protocol for contacting  </a:t>
            </a:r>
            <a:r>
              <a:rPr lang="en-IE" b="0" dirty="0" smtClean="0"/>
              <a:t>porters/transport</a:t>
            </a:r>
          </a:p>
          <a:p>
            <a:pPr lvl="1">
              <a:buClrTx/>
            </a:pPr>
            <a:endParaRPr lang="en-IE" b="0" dirty="0"/>
          </a:p>
          <a:p>
            <a:pPr indent="-168275"/>
            <a:r>
              <a:rPr lang="en-IE" sz="1600" dirty="0"/>
              <a:t>Why are </a:t>
            </a:r>
            <a:r>
              <a:rPr lang="en-IE" sz="1600" dirty="0" smtClean="0"/>
              <a:t>patients </a:t>
            </a:r>
            <a:r>
              <a:rPr lang="en-IE" sz="1600" dirty="0"/>
              <a:t>arriving late? </a:t>
            </a:r>
            <a:r>
              <a:rPr lang="en-IE" sz="1600" dirty="0" smtClean="0">
                <a:solidFill>
                  <a:srgbClr val="FF0000"/>
                </a:solidFill>
              </a:rPr>
              <a:t>Porter </a:t>
            </a:r>
            <a:r>
              <a:rPr lang="en-IE" sz="1600" dirty="0">
                <a:solidFill>
                  <a:srgbClr val="FF0000"/>
                </a:solidFill>
              </a:rPr>
              <a:t>is unable to locate </a:t>
            </a:r>
            <a:r>
              <a:rPr lang="en-IE" sz="1600" dirty="0" smtClean="0">
                <a:solidFill>
                  <a:srgbClr val="FF0000"/>
                </a:solidFill>
              </a:rPr>
              <a:t>patients*</a:t>
            </a:r>
            <a:endParaRPr lang="en-IE" sz="1600" dirty="0">
              <a:solidFill>
                <a:srgbClr val="FF0000"/>
              </a:solidFill>
            </a:endParaRPr>
          </a:p>
          <a:p>
            <a:pPr indent="-168275"/>
            <a:r>
              <a:rPr lang="en-IE" sz="1600" dirty="0" smtClean="0"/>
              <a:t>Why</a:t>
            </a:r>
            <a:r>
              <a:rPr lang="en-IE" sz="1600" dirty="0"/>
              <a:t>? </a:t>
            </a:r>
            <a:endParaRPr lang="en-IE" sz="1600" dirty="0" smtClean="0"/>
          </a:p>
          <a:p>
            <a:pPr lvl="1">
              <a:buClrTx/>
            </a:pPr>
            <a:r>
              <a:rPr lang="en-IE" b="0" dirty="0"/>
              <a:t>The contact request does not include patient location (name only)</a:t>
            </a:r>
          </a:p>
          <a:p>
            <a:pPr lvl="1">
              <a:buClrTx/>
            </a:pPr>
            <a:r>
              <a:rPr lang="en-IE" b="0" dirty="0" smtClean="0"/>
              <a:t>No </a:t>
            </a:r>
            <a:r>
              <a:rPr lang="en-IE" b="0" dirty="0"/>
              <a:t>standard protocol for porter </a:t>
            </a:r>
            <a:r>
              <a:rPr lang="en-IE" b="0" dirty="0" smtClean="0"/>
              <a:t>paging</a:t>
            </a:r>
          </a:p>
          <a:p>
            <a:pPr lvl="1">
              <a:buClrTx/>
            </a:pPr>
            <a:endParaRPr lang="en-IE" b="0" dirty="0"/>
          </a:p>
          <a:p>
            <a:pPr indent="-168275"/>
            <a:r>
              <a:rPr lang="en-IE" sz="1600" dirty="0"/>
              <a:t>Why are </a:t>
            </a:r>
            <a:r>
              <a:rPr lang="en-IE" sz="1600" dirty="0" smtClean="0"/>
              <a:t>patients </a:t>
            </a:r>
            <a:r>
              <a:rPr lang="en-IE" sz="1600" dirty="0"/>
              <a:t>arriving late? </a:t>
            </a:r>
            <a:r>
              <a:rPr lang="en-IE" sz="1600" dirty="0" smtClean="0">
                <a:solidFill>
                  <a:srgbClr val="FF0000"/>
                </a:solidFill>
              </a:rPr>
              <a:t>Patient </a:t>
            </a:r>
            <a:r>
              <a:rPr lang="en-IE" sz="1600" dirty="0">
                <a:solidFill>
                  <a:srgbClr val="FF0000"/>
                </a:solidFill>
              </a:rPr>
              <a:t>not ready for </a:t>
            </a:r>
            <a:r>
              <a:rPr lang="en-IE" sz="1600" dirty="0" smtClean="0">
                <a:solidFill>
                  <a:srgbClr val="FF0000"/>
                </a:solidFill>
              </a:rPr>
              <a:t>transport*</a:t>
            </a:r>
            <a:endParaRPr lang="en-IE" sz="1600" dirty="0">
              <a:solidFill>
                <a:srgbClr val="FF0000"/>
              </a:solidFill>
            </a:endParaRPr>
          </a:p>
          <a:p>
            <a:pPr indent="-168275"/>
            <a:r>
              <a:rPr lang="en-IE" sz="1600" dirty="0" smtClean="0"/>
              <a:t>Why</a:t>
            </a:r>
            <a:r>
              <a:rPr lang="en-IE" sz="1600" dirty="0"/>
              <a:t>? </a:t>
            </a:r>
            <a:endParaRPr lang="en-IE" sz="1600" dirty="0" smtClean="0"/>
          </a:p>
          <a:p>
            <a:pPr lvl="1">
              <a:buClrTx/>
            </a:pPr>
            <a:r>
              <a:rPr lang="en-IE" b="0" dirty="0"/>
              <a:t>Nurses unaware of prescribed test</a:t>
            </a:r>
          </a:p>
          <a:p>
            <a:pPr lvl="1">
              <a:buClrTx/>
            </a:pPr>
            <a:r>
              <a:rPr lang="en-IE" b="0" dirty="0" smtClean="0"/>
              <a:t>No </a:t>
            </a:r>
            <a:r>
              <a:rPr lang="en-IE" b="0" dirty="0"/>
              <a:t>mechanism to inform RN of scheduled procedure</a:t>
            </a:r>
          </a:p>
          <a:p>
            <a:pPr marL="0" lvl="1" indent="0">
              <a:buNone/>
            </a:pPr>
            <a:endParaRPr lang="en-GB" noProof="0" dirty="0" smtClean="0"/>
          </a:p>
          <a:p>
            <a:pPr lvl="1"/>
            <a:endParaRPr lang="en-GB" noProof="0" dirty="0" smtClean="0"/>
          </a:p>
          <a:p>
            <a:pPr lvl="1"/>
            <a:endParaRPr lang="en-GB" noProof="0" dirty="0" smtClean="0"/>
          </a:p>
          <a:p>
            <a:pPr lvl="1"/>
            <a:endParaRPr lang="en-GB" noProof="0" dirty="0" smtClean="0"/>
          </a:p>
        </p:txBody>
      </p:sp>
      <p:sp>
        <p:nvSpPr>
          <p:cNvPr id="6" name="TextBox 5"/>
          <p:cNvSpPr txBox="1"/>
          <p:nvPr/>
        </p:nvSpPr>
        <p:spPr>
          <a:xfrm>
            <a:off x="8509128" y="5427801"/>
            <a:ext cx="1777872" cy="954107"/>
          </a:xfrm>
          <a:prstGeom prst="rect">
            <a:avLst/>
          </a:prstGeom>
          <a:noFill/>
        </p:spPr>
        <p:txBody>
          <a:bodyPr wrap="square" rtlCol="0">
            <a:spAutoFit/>
          </a:bodyPr>
          <a:lstStyle/>
          <a:p>
            <a:r>
              <a:rPr lang="en-IE" sz="1400" b="1" dirty="0" smtClean="0">
                <a:solidFill>
                  <a:srgbClr val="FF0000"/>
                </a:solidFill>
                <a:latin typeface="Arial" panose="020B0604020202020204" pitchFamily="34" charset="0"/>
                <a:cs typeface="Arial" panose="020B0604020202020204" pitchFamily="34" charset="0"/>
              </a:rPr>
              <a:t>* Indicates there may be more than one root causes of the problem!</a:t>
            </a:r>
            <a:endParaRPr lang="en-IE" sz="1400" b="1" dirty="0">
              <a:solidFill>
                <a:srgbClr val="FF0000"/>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GB" noProof="0" dirty="0" smtClean="0"/>
              <a:t>Root Cause Analysis</a:t>
            </a:r>
          </a:p>
        </p:txBody>
      </p:sp>
      <p:sp>
        <p:nvSpPr>
          <p:cNvPr id="3" name="Tijdelijke aanduiding voor inhoud 2"/>
          <p:cNvSpPr>
            <a:spLocks noGrp="1"/>
          </p:cNvSpPr>
          <p:nvPr>
            <p:ph idx="1"/>
          </p:nvPr>
        </p:nvSpPr>
        <p:spPr/>
        <p:txBody>
          <a:bodyPr/>
          <a:lstStyle/>
          <a:p>
            <a:r>
              <a:rPr lang="en-IE" dirty="0" smtClean="0"/>
              <a:t>Proposed solution</a:t>
            </a:r>
          </a:p>
          <a:p>
            <a:endParaRPr lang="en-IE" sz="1800" dirty="0" smtClean="0"/>
          </a:p>
          <a:p>
            <a:pPr marL="87313" indent="0"/>
            <a:r>
              <a:rPr lang="en-IE" sz="1800" dirty="0" smtClean="0"/>
              <a:t>The team investigating delayed transport of patients to diagnostic departments discovered that the root cause was: </a:t>
            </a:r>
          </a:p>
          <a:p>
            <a:endParaRPr lang="en-IE" sz="1600" dirty="0" smtClean="0">
              <a:solidFill>
                <a:srgbClr val="FF0000"/>
              </a:solidFill>
            </a:endParaRPr>
          </a:p>
          <a:p>
            <a:pPr lvl="1">
              <a:buClrTx/>
            </a:pPr>
            <a:r>
              <a:rPr lang="en-IE" dirty="0"/>
              <a:t>A lack of clear protocol for communicating between the diagnostic department, RN of the clinical department and the transporter</a:t>
            </a:r>
            <a:r>
              <a:rPr lang="en-IE" dirty="0" smtClean="0"/>
              <a:t>/ porter </a:t>
            </a:r>
            <a:endParaRPr lang="en-IE" dirty="0"/>
          </a:p>
          <a:p>
            <a:pPr lvl="1"/>
            <a:endParaRPr lang="en-IE" dirty="0" smtClean="0"/>
          </a:p>
          <a:p>
            <a:pPr indent="-255588"/>
            <a:r>
              <a:rPr lang="en-IE" sz="1800" dirty="0" smtClean="0"/>
              <a:t>Proposed countermeasures:</a:t>
            </a:r>
          </a:p>
          <a:p>
            <a:pPr lvl="1">
              <a:buClrTx/>
            </a:pPr>
            <a:r>
              <a:rPr lang="en-IE" dirty="0"/>
              <a:t>A new protocol where the diagnostic department pages the charge RN and the transporter at the same time </a:t>
            </a:r>
            <a:r>
              <a:rPr lang="en-IE" dirty="0" smtClean="0"/>
              <a:t>(</a:t>
            </a:r>
            <a:r>
              <a:rPr lang="en-IE" dirty="0"/>
              <a:t>thus eliminating the nurse as the intermediary)</a:t>
            </a:r>
          </a:p>
          <a:p>
            <a:pPr lvl="1">
              <a:buClrTx/>
            </a:pPr>
            <a:endParaRPr lang="en-IE" dirty="0"/>
          </a:p>
          <a:p>
            <a:pPr lvl="1">
              <a:buClrTx/>
            </a:pPr>
            <a:r>
              <a:rPr lang="en-IE" dirty="0"/>
              <a:t>Specified information content of pages</a:t>
            </a:r>
          </a:p>
          <a:p>
            <a:pPr lvl="1">
              <a:buClrTx/>
            </a:pPr>
            <a:endParaRPr lang="en-IE" dirty="0"/>
          </a:p>
          <a:p>
            <a:pPr lvl="1">
              <a:buClrTx/>
            </a:pPr>
            <a:r>
              <a:rPr lang="en-IE" dirty="0"/>
              <a:t>New patient prep procedures involving both the RN and the </a:t>
            </a:r>
            <a:r>
              <a:rPr lang="en-IE" dirty="0" smtClean="0"/>
              <a:t>transporter/ porter</a:t>
            </a:r>
            <a:endParaRPr lang="en-IE" dirty="0"/>
          </a:p>
          <a:p>
            <a:endParaRPr lang="nl-NL" sz="16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LSSH">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rgbClr val="C4172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524</TotalTime>
  <Words>1844</Words>
  <Application>Microsoft Office PowerPoint</Application>
  <PresentationFormat>35mm Slides</PresentationFormat>
  <Paragraphs>266</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Wingdings</vt:lpstr>
      <vt:lpstr>Calibri</vt:lpstr>
      <vt:lpstr>Arial Black</vt:lpstr>
      <vt:lpstr>LSSH</vt:lpstr>
      <vt:lpstr>Root Cause Analysis  </vt:lpstr>
      <vt:lpstr>Root Cause Analysis</vt:lpstr>
      <vt:lpstr>Root Cause Analysis</vt:lpstr>
      <vt:lpstr>Root Cause Analysis</vt:lpstr>
      <vt:lpstr>Root Cause Analysis</vt:lpstr>
      <vt:lpstr>Root Cause Analysis</vt:lpstr>
      <vt:lpstr>Root Cause Analysis</vt:lpstr>
      <vt:lpstr>Root Cause Analysis</vt:lpstr>
      <vt:lpstr>Root Cause Analysis</vt:lpstr>
      <vt:lpstr>Root Cause Analysis</vt:lpstr>
      <vt:lpstr>Root Cause Analysis</vt:lpstr>
      <vt:lpstr>Root Cause Analysis</vt:lpstr>
      <vt:lpstr>Root Cause Analysis</vt:lpstr>
      <vt:lpstr>Root Cause Analysis</vt:lpstr>
      <vt:lpstr>Root Cause Analysis</vt:lpstr>
      <vt:lpstr>Root Cause Analysis </vt:lpstr>
      <vt:lpstr>Root Cause Analysis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42.UH.U5.E3.PC2 - Root Cause Analysis</dc:title>
  <dc:subject/>
  <dc:creator>Paulien</dc:creator>
  <cp:lastModifiedBy>Olivia.McDermott</cp:lastModifiedBy>
  <cp:revision>23</cp:revision>
  <dcterms:created xsi:type="dcterms:W3CDTF">2014-02-17T10:18:21Z</dcterms:created>
  <dcterms:modified xsi:type="dcterms:W3CDTF">2014-05-13T11:19:03Z</dcterms:modified>
</cp:coreProperties>
</file>