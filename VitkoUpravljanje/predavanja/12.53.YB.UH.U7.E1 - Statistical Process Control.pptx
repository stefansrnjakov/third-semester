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0"/>
  </p:notesMasterIdLst>
  <p:handoutMasterIdLst>
    <p:handoutMasterId r:id="rId11"/>
  </p:handoutMasterIdLst>
  <p:sldIdLst>
    <p:sldId id="256" r:id="rId2"/>
    <p:sldId id="257" r:id="rId3"/>
    <p:sldId id="258" r:id="rId4"/>
    <p:sldId id="259" r:id="rId5"/>
    <p:sldId id="260" r:id="rId6"/>
    <p:sldId id="261" r:id="rId7"/>
    <p:sldId id="262" r:id="rId8"/>
    <p:sldId id="263" r:id="rId9"/>
  </p:sldIdLst>
  <p:sldSz cx="10287000" cy="6858000" type="35mm"/>
  <p:notesSz cx="6858000" cy="9144000"/>
  <p:embeddedFontLst>
    <p:embeddedFont>
      <p:font typeface="Calibri" pitchFamily="34" charset="0"/>
      <p:regular r:id="rId12"/>
      <p:bold r:id="rId13"/>
      <p:italic r:id="rId14"/>
      <p:boldItalic r:id="rId15"/>
    </p:embeddedFont>
    <p:embeddedFont>
      <p:font typeface="Arial Black" pitchFamily="34" charset="0"/>
      <p:bold r:id="rId16"/>
    </p:embeddedFont>
  </p:embeddedFontLst>
  <p:defaultTextStyle>
    <a:defPPr>
      <a:defRPr lang="nl-NL"/>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1721"/>
    <a:srgbClr val="C00000"/>
    <a:srgbClr val="DD6F11"/>
    <a:srgbClr val="C8B8A4"/>
    <a:srgbClr val="967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34567" autoAdjust="0"/>
    <p:restoredTop sz="77900" autoAdjust="0"/>
  </p:normalViewPr>
  <p:slideViewPr>
    <p:cSldViewPr>
      <p:cViewPr>
        <p:scale>
          <a:sx n="66" d="100"/>
          <a:sy n="66" d="100"/>
        </p:scale>
        <p:origin x="-1650" y="-498"/>
      </p:cViewPr>
      <p:guideLst>
        <p:guide orient="horz" pos="2160"/>
        <p:guide pos="3240"/>
      </p:guideLst>
    </p:cSldViewPr>
  </p:slideViewPr>
  <p:outlineViewPr>
    <p:cViewPr>
      <p:scale>
        <a:sx n="33" d="100"/>
        <a:sy n="33" d="100"/>
      </p:scale>
      <p:origin x="0" y="-4104"/>
    </p:cViewPr>
  </p:outlineViewPr>
  <p:notesTextViewPr>
    <p:cViewPr>
      <p:scale>
        <a:sx n="1" d="1"/>
        <a:sy n="1" d="1"/>
      </p:scale>
      <p:origin x="0" y="0"/>
    </p:cViewPr>
  </p:notesTextViewPr>
  <p:notesViewPr>
    <p:cSldViewPr>
      <p:cViewPr varScale="1">
        <p:scale>
          <a:sx n="70" d="100"/>
          <a:sy n="70" d="100"/>
        </p:scale>
        <p:origin x="324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BD232A0B-029A-4F19-8016-03BF6E531A54}" type="datetimeFigureOut">
              <a:rPr lang="nl-NL"/>
              <a:pPr>
                <a:defRPr/>
              </a:pPr>
              <a:t>13-5-2014</a:t>
            </a:fld>
            <a:endParaRPr lang="nl-NL"/>
          </a:p>
        </p:txBody>
      </p:sp>
      <p:sp>
        <p:nvSpPr>
          <p:cNvPr id="4" name="Tijdelijke aanduiding voor voettekst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5" name="Tijdelijke aanduiding voor dianumm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B887F4BD-6D4C-40CA-A635-DE19C8FCC34F}" type="slidenum">
              <a:rPr lang="nl-NL"/>
              <a:pPr>
                <a:defRPr/>
              </a:pPr>
              <a:t>‹#›</a:t>
            </a:fld>
            <a:endParaRPr lang="nl-NL"/>
          </a:p>
        </p:txBody>
      </p:sp>
    </p:spTree>
    <p:extLst>
      <p:ext uri="{BB962C8B-B14F-4D97-AF65-F5344CB8AC3E}">
        <p14:creationId xmlns:p14="http://schemas.microsoft.com/office/powerpoint/2010/main" val="32325971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9A221-C2DF-466A-9C2F-71DF892E966C}" type="datetimeFigureOut">
              <a:rPr lang="nl-NL"/>
              <a:pPr>
                <a:defRPr/>
              </a:pPr>
              <a:t>13-5-2014</a:t>
            </a:fld>
            <a:endParaRPr lang="nl-NL"/>
          </a:p>
        </p:txBody>
      </p:sp>
      <p:sp>
        <p:nvSpPr>
          <p:cNvPr id="4" name="Tijdelijke aanduiding voor dia-afbeelding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pPr lvl="0"/>
            <a:endParaRPr lang="nl-NL" noProof="0" smtClean="0"/>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noProof="0" smtClean="0"/>
              <a:t>Klik om de modelstijlen te bewerken</a:t>
            </a:r>
          </a:p>
          <a:p>
            <a:pPr lvl="1"/>
            <a:r>
              <a:rPr lang="nl-NL" noProof="0" smtClean="0"/>
              <a:t>Tweede niveau</a:t>
            </a:r>
          </a:p>
          <a:p>
            <a:pPr lvl="2"/>
            <a:r>
              <a:rPr lang="nl-NL" noProof="0" smtClean="0"/>
              <a:t>Derde niveau</a:t>
            </a:r>
          </a:p>
          <a:p>
            <a:pPr lvl="3"/>
            <a:r>
              <a:rPr lang="nl-NL" noProof="0" smtClean="0"/>
              <a:t>Vierde niveau</a:t>
            </a:r>
          </a:p>
          <a:p>
            <a:pPr lvl="4"/>
            <a:r>
              <a:rPr lang="nl-NL" noProof="0" smtClean="0"/>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DCAAE3A-7362-467C-A80F-B3EA0DBC24C0}" type="slidenum">
              <a:rPr lang="nl-NL"/>
              <a:pPr>
                <a:defRPr/>
              </a:pPr>
              <a:t>‹#›</a:t>
            </a:fld>
            <a:endParaRPr lang="nl-NL"/>
          </a:p>
        </p:txBody>
      </p:sp>
    </p:spTree>
    <p:extLst>
      <p:ext uri="{BB962C8B-B14F-4D97-AF65-F5344CB8AC3E}">
        <p14:creationId xmlns:p14="http://schemas.microsoft.com/office/powerpoint/2010/main" val="20744004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Welcome to this Lean Six Sigma Academy Yellow Belt </a:t>
            </a:r>
            <a:r>
              <a:rPr lang="en-GB" dirty="0" smtClean="0"/>
              <a:t>in Healthcare training </a:t>
            </a:r>
            <a:r>
              <a:rPr lang="en-GB" dirty="0" smtClean="0"/>
              <a:t>module.</a:t>
            </a:r>
          </a:p>
          <a:p>
            <a:endParaRPr lang="en-GB" dirty="0"/>
          </a:p>
        </p:txBody>
      </p:sp>
      <p:sp>
        <p:nvSpPr>
          <p:cNvPr id="4" name="Slide Number Placeholder 3"/>
          <p:cNvSpPr>
            <a:spLocks noGrp="1"/>
          </p:cNvSpPr>
          <p:nvPr>
            <p:ph type="sldNum" sz="quarter" idx="10"/>
          </p:nvPr>
        </p:nvSpPr>
        <p:spPr/>
        <p:txBody>
          <a:bodyPr/>
          <a:lstStyle/>
          <a:p>
            <a:pPr>
              <a:defRPr/>
            </a:pPr>
            <a:fld id="{3DCAAE3A-7362-467C-A80F-B3EA0DBC24C0}" type="slidenum">
              <a:rPr lang="nl-NL" smtClean="0"/>
              <a:pPr>
                <a:defRPr/>
              </a:pPr>
              <a:t>1</a:t>
            </a:fld>
            <a:endParaRPr lang="nl-NL"/>
          </a:p>
        </p:txBody>
      </p:sp>
    </p:spTree>
    <p:extLst>
      <p:ext uri="{BB962C8B-B14F-4D97-AF65-F5344CB8AC3E}">
        <p14:creationId xmlns:p14="http://schemas.microsoft.com/office/powerpoint/2010/main" val="4242247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As we explained in a previous module, customers today are demanding more and more that products are </a:t>
            </a:r>
            <a:r>
              <a:rPr lang="en-GB" dirty="0" err="1" smtClean="0"/>
              <a:t>centered</a:t>
            </a:r>
            <a:r>
              <a:rPr lang="en-GB" dirty="0" smtClean="0"/>
              <a:t> on “target”; it is not sufficient anymore to produce only between the upper and lower specification limits. In addition, the spread of the process must be clearly less than the range of the specification limits. In this way, the customer receives an optimal product with acceptable production costs. By using statistical process control or SPC, we can see if a process is stable or not, however SPC will not show us whether or not we are producing within customer specifications. The control limits in the graph are the three sigma borders of the process and will tell us if we have points with an improbable spread. In the X-bar R control chart shown, we can see two red points that fall outside the three sigma borders of this control chart, this indicates that this process is not stable. </a:t>
            </a:r>
          </a:p>
          <a:p>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3DCAAE3A-7362-467C-A80F-B3EA0DBC24C0}" type="slidenum">
              <a:rPr lang="nl-NL" smtClean="0"/>
              <a:pPr>
                <a:defRPr/>
              </a:pPr>
              <a:t>2</a:t>
            </a:fld>
            <a:endParaRPr lang="nl-NL"/>
          </a:p>
        </p:txBody>
      </p:sp>
    </p:spTree>
    <p:extLst>
      <p:ext uri="{BB962C8B-B14F-4D97-AF65-F5344CB8AC3E}">
        <p14:creationId xmlns:p14="http://schemas.microsoft.com/office/powerpoint/2010/main" val="150514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To be able to draw accurate conclusions from the graphs, we must understand that variations in a process can be caused by two different components. The ‘noise’ or ‘common cause variation’ is a part of the process so improvement can only be reached if the process itself is changed. The ‘special cause variation’ is cause by influences or situations outside the process. We must separate the noise from the signal to draw a correct conclusion. </a:t>
            </a:r>
          </a:p>
          <a:p>
            <a:endParaRPr lang="en-GB" dirty="0"/>
          </a:p>
        </p:txBody>
      </p:sp>
      <p:sp>
        <p:nvSpPr>
          <p:cNvPr id="4" name="Slide Number Placeholder 3"/>
          <p:cNvSpPr>
            <a:spLocks noGrp="1"/>
          </p:cNvSpPr>
          <p:nvPr>
            <p:ph type="sldNum" sz="quarter" idx="10"/>
          </p:nvPr>
        </p:nvSpPr>
        <p:spPr/>
        <p:txBody>
          <a:bodyPr/>
          <a:lstStyle/>
          <a:p>
            <a:pPr>
              <a:defRPr/>
            </a:pPr>
            <a:fld id="{3DCAAE3A-7362-467C-A80F-B3EA0DBC24C0}" type="slidenum">
              <a:rPr lang="nl-NL" smtClean="0"/>
              <a:pPr>
                <a:defRPr/>
              </a:pPr>
              <a:t>3</a:t>
            </a:fld>
            <a:endParaRPr lang="nl-NL"/>
          </a:p>
        </p:txBody>
      </p:sp>
    </p:spTree>
    <p:extLst>
      <p:ext uri="{BB962C8B-B14F-4D97-AF65-F5344CB8AC3E}">
        <p14:creationId xmlns:p14="http://schemas.microsoft.com/office/powerpoint/2010/main" val="248119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When we talk about ‘noise’ or ‘common cause variation’ as a part of the process, it is dependent on how we have arranged the work process and the environment in which the process takes place. Only a fundamental change in the process can reduce the noise. We call a process stable, predictable and in-control if the process shows only common cause variation. </a:t>
            </a:r>
          </a:p>
          <a:p>
            <a:endParaRPr lang="en-GB" dirty="0"/>
          </a:p>
        </p:txBody>
      </p:sp>
      <p:sp>
        <p:nvSpPr>
          <p:cNvPr id="4" name="Slide Number Placeholder 3"/>
          <p:cNvSpPr>
            <a:spLocks noGrp="1"/>
          </p:cNvSpPr>
          <p:nvPr>
            <p:ph type="sldNum" sz="quarter" idx="10"/>
          </p:nvPr>
        </p:nvSpPr>
        <p:spPr/>
        <p:txBody>
          <a:bodyPr/>
          <a:lstStyle/>
          <a:p>
            <a:pPr>
              <a:defRPr/>
            </a:pPr>
            <a:fld id="{3DCAAE3A-7362-467C-A80F-B3EA0DBC24C0}" type="slidenum">
              <a:rPr lang="nl-NL" smtClean="0"/>
              <a:pPr>
                <a:defRPr/>
              </a:pPr>
              <a:t>4</a:t>
            </a:fld>
            <a:endParaRPr lang="nl-NL"/>
          </a:p>
        </p:txBody>
      </p:sp>
    </p:spTree>
    <p:extLst>
      <p:ext uri="{BB962C8B-B14F-4D97-AF65-F5344CB8AC3E}">
        <p14:creationId xmlns:p14="http://schemas.microsoft.com/office/powerpoint/2010/main" val="2511362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When we talk about ‘noise’ or ‘common cause variation’ as a part of the process, it is dependent on how we have arranged the work process and the environment in which the process takes place. Only a fundamental change in the process can reduce the noise. We call a process stable, predictable and in-control if the process shows only common cause variation. </a:t>
            </a:r>
          </a:p>
          <a:p>
            <a:endParaRPr lang="en-GB" dirty="0"/>
          </a:p>
        </p:txBody>
      </p:sp>
      <p:sp>
        <p:nvSpPr>
          <p:cNvPr id="4" name="Slide Number Placeholder 3"/>
          <p:cNvSpPr>
            <a:spLocks noGrp="1"/>
          </p:cNvSpPr>
          <p:nvPr>
            <p:ph type="sldNum" sz="quarter" idx="10"/>
          </p:nvPr>
        </p:nvSpPr>
        <p:spPr/>
        <p:txBody>
          <a:bodyPr/>
          <a:lstStyle/>
          <a:p>
            <a:pPr>
              <a:defRPr/>
            </a:pPr>
            <a:fld id="{3DCAAE3A-7362-467C-A80F-B3EA0DBC24C0}" type="slidenum">
              <a:rPr lang="nl-NL" smtClean="0"/>
              <a:pPr>
                <a:defRPr/>
              </a:pPr>
              <a:t>5</a:t>
            </a:fld>
            <a:endParaRPr lang="nl-NL"/>
          </a:p>
        </p:txBody>
      </p:sp>
    </p:spTree>
    <p:extLst>
      <p:ext uri="{BB962C8B-B14F-4D97-AF65-F5344CB8AC3E}">
        <p14:creationId xmlns:p14="http://schemas.microsoft.com/office/powerpoint/2010/main" val="2229051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Special cause variation is often large as compared to common cause variation. SPC is the tool to use to make the distinction between common and special cause variation. If we detect special cause variation in our process, we can try to find the root cause of the variation and remove it. If special causes occur in practice, we call the process instable or ‘out-of-control’.</a:t>
            </a:r>
          </a:p>
          <a:p>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3DCAAE3A-7362-467C-A80F-B3EA0DBC24C0}" type="slidenum">
              <a:rPr lang="nl-NL" smtClean="0"/>
              <a:pPr>
                <a:defRPr/>
              </a:pPr>
              <a:t>6</a:t>
            </a:fld>
            <a:endParaRPr lang="nl-NL"/>
          </a:p>
        </p:txBody>
      </p:sp>
    </p:spTree>
    <p:extLst>
      <p:ext uri="{BB962C8B-B14F-4D97-AF65-F5344CB8AC3E}">
        <p14:creationId xmlns:p14="http://schemas.microsoft.com/office/powerpoint/2010/main" val="1578540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An example of special cause variation in the hot meals example is that the stove is not working or some of the rooms are closer to the kitchen.</a:t>
            </a:r>
            <a:endParaRPr lang="en-GB" dirty="0"/>
          </a:p>
        </p:txBody>
      </p:sp>
      <p:sp>
        <p:nvSpPr>
          <p:cNvPr id="4" name="Slide Number Placeholder 3"/>
          <p:cNvSpPr>
            <a:spLocks noGrp="1"/>
          </p:cNvSpPr>
          <p:nvPr>
            <p:ph type="sldNum" sz="quarter" idx="10"/>
          </p:nvPr>
        </p:nvSpPr>
        <p:spPr/>
        <p:txBody>
          <a:bodyPr/>
          <a:lstStyle/>
          <a:p>
            <a:pPr>
              <a:defRPr/>
            </a:pPr>
            <a:fld id="{3DCAAE3A-7362-467C-A80F-B3EA0DBC24C0}" type="slidenum">
              <a:rPr lang="nl-NL" smtClean="0"/>
              <a:pPr>
                <a:defRPr/>
              </a:pPr>
              <a:t>7</a:t>
            </a:fld>
            <a:endParaRPr lang="nl-NL"/>
          </a:p>
        </p:txBody>
      </p:sp>
    </p:spTree>
    <p:extLst>
      <p:ext uri="{BB962C8B-B14F-4D97-AF65-F5344CB8AC3E}">
        <p14:creationId xmlns:p14="http://schemas.microsoft.com/office/powerpoint/2010/main" val="1950144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30CC515E-2C60-4C3E-A83E-CC25644D1CFF}" type="slidenum">
              <a:rPr lang="en-US" smtClean="0"/>
              <a:pPr/>
              <a:t>8</a:t>
            </a:fld>
            <a:endParaRPr lang="en-US" smtClean="0"/>
          </a:p>
        </p:txBody>
      </p:sp>
      <p:sp>
        <p:nvSpPr>
          <p:cNvPr id="61443" name="Rectangle 2"/>
          <p:cNvSpPr>
            <a:spLocks noGrp="1" noRot="1" noChangeAspect="1" noChangeArrowheads="1" noTextEdit="1"/>
          </p:cNvSpPr>
          <p:nvPr>
            <p:ph type="sldImg"/>
          </p:nvPr>
        </p:nvSpPr>
        <p:spPr>
          <a:xfrm>
            <a:off x="857250" y="685800"/>
            <a:ext cx="5143500" cy="3429000"/>
          </a:xfrm>
          <a:ln/>
        </p:spPr>
      </p:sp>
      <p:sp>
        <p:nvSpPr>
          <p:cNvPr id="61444" name="Rectangle 3"/>
          <p:cNvSpPr>
            <a:spLocks noGrp="1" noChangeArrowheads="1"/>
          </p:cNvSpPr>
          <p:nvPr>
            <p:ph type="body" idx="1"/>
          </p:nvPr>
        </p:nvSpPr>
        <p:spPr>
          <a:noFill/>
          <a:ln/>
        </p:spPr>
        <p:txBody>
          <a:bodyPr/>
          <a:lstStyle/>
          <a:p>
            <a:pPr eaLnBrk="1" hangingPunct="1"/>
            <a:r>
              <a:rPr lang="en-GB" dirty="0" smtClean="0"/>
              <a:t>Here we will discuss the control chart used for continuous data which is called X-bar R chart. X-bar stands for the averages or ‘means’ of the samples which are collected over time. In this way, we can see if ‘special cause’ arises outside the process control limits in the chart. Also, we are able to detect trends in time. Depending on the sample size within each X-bar chart, either a range or ‘R chart’ or a standard deviation or ‘S chart’ is chosen. </a:t>
            </a:r>
            <a:r>
              <a:rPr lang="en-GB" smtClean="0"/>
              <a:t>Both the X-bar and the R chart must be in control. </a:t>
            </a:r>
          </a:p>
          <a:p>
            <a:pPr eaLnBrk="1" hangingPunct="1"/>
            <a:endParaRPr lang="en-GB" dirty="0" smtClean="0"/>
          </a:p>
        </p:txBody>
      </p:sp>
    </p:spTree>
    <p:extLst>
      <p:ext uri="{BB962C8B-B14F-4D97-AF65-F5344CB8AC3E}">
        <p14:creationId xmlns:p14="http://schemas.microsoft.com/office/powerpoint/2010/main" val="20199450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hyperlink" Target="http://www.wgvoost.nl/" TargetMode="External"/><Relationship Id="rId3" Type="http://schemas.openxmlformats.org/officeDocument/2006/relationships/hyperlink" Target="http://www.iscn.com/" TargetMode="External"/><Relationship Id="rId7" Type="http://schemas.openxmlformats.org/officeDocument/2006/relationships/hyperlink" Target="http://www.utwente.nl/" TargetMode="External"/><Relationship Id="rId2" Type="http://schemas.openxmlformats.org/officeDocument/2006/relationships/hyperlink" Target="http://www.symbolbv.nl/" TargetMode="External"/><Relationship Id="rId1" Type="http://schemas.openxmlformats.org/officeDocument/2006/relationships/slideMaster" Target="../slideMasters/slideMaster1.xml"/><Relationship Id="rId6" Type="http://schemas.openxmlformats.org/officeDocument/2006/relationships/hyperlink" Target="http://www.ul.ie/" TargetMode="External"/><Relationship Id="rId5" Type="http://schemas.openxmlformats.org/officeDocument/2006/relationships/hyperlink" Target="http://www.lssa.eu/" TargetMode="External"/><Relationship Id="rId4" Type="http://schemas.openxmlformats.org/officeDocument/2006/relationships/hyperlink" Target="http://www.rocvantwente.nl/" TargetMode="External"/><Relationship Id="rId9"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spTree>
      <p:nvGrpSpPr>
        <p:cNvPr id="1" name=""/>
        <p:cNvGrpSpPr/>
        <p:nvPr/>
      </p:nvGrpSpPr>
      <p:grpSpPr>
        <a:xfrm>
          <a:off x="0" y="0"/>
          <a:ext cx="0" cy="0"/>
          <a:chOff x="0" y="0"/>
          <a:chExt cx="0" cy="0"/>
        </a:xfrm>
      </p:grpSpPr>
      <p:pic>
        <p:nvPicPr>
          <p:cNvPr id="6" name="Afbeelding 9"/>
          <p:cNvPicPr>
            <a:picLocks noChangeAspect="1"/>
          </p:cNvPicPr>
          <p:nvPr/>
        </p:nvPicPr>
        <p:blipFill>
          <a:blip r:embed="rId2" cstate="print"/>
          <a:srcRect/>
          <a:stretch>
            <a:fillRect/>
          </a:stretch>
        </p:blipFill>
        <p:spPr bwMode="auto">
          <a:xfrm>
            <a:off x="0" y="2286001"/>
            <a:ext cx="10287000" cy="3419475"/>
          </a:xfrm>
          <a:prstGeom prst="rect">
            <a:avLst/>
          </a:prstGeom>
          <a:noFill/>
          <a:ln w="9525">
            <a:noFill/>
            <a:miter lim="800000"/>
            <a:headEnd/>
            <a:tailEnd/>
          </a:ln>
        </p:spPr>
      </p:pic>
      <p:pic>
        <p:nvPicPr>
          <p:cNvPr id="7" name="Picture 2" descr="EU_flag_LLP_EN-01"/>
          <p:cNvPicPr>
            <a:picLocks noChangeAspect="1" noChangeArrowheads="1"/>
          </p:cNvPicPr>
          <p:nvPr/>
        </p:nvPicPr>
        <p:blipFill>
          <a:blip r:embed="rId3" cstate="print"/>
          <a:srcRect/>
          <a:stretch>
            <a:fillRect/>
          </a:stretch>
        </p:blipFill>
        <p:spPr bwMode="auto">
          <a:xfrm>
            <a:off x="364332" y="5876926"/>
            <a:ext cx="2348508" cy="815975"/>
          </a:xfrm>
          <a:prstGeom prst="rect">
            <a:avLst/>
          </a:prstGeom>
          <a:noFill/>
          <a:ln w="9525">
            <a:noFill/>
            <a:miter lim="800000"/>
            <a:headEnd/>
            <a:tailEnd/>
          </a:ln>
        </p:spPr>
      </p:pic>
      <p:pic>
        <p:nvPicPr>
          <p:cNvPr id="8" name="Afbeelding 12"/>
          <p:cNvPicPr>
            <a:picLocks noChangeAspect="1"/>
          </p:cNvPicPr>
          <p:nvPr/>
        </p:nvPicPr>
        <p:blipFill>
          <a:blip r:embed="rId4" cstate="print"/>
          <a:srcRect/>
          <a:stretch>
            <a:fillRect/>
          </a:stretch>
        </p:blipFill>
        <p:spPr bwMode="auto">
          <a:xfrm>
            <a:off x="6515101" y="609600"/>
            <a:ext cx="3175397" cy="1079500"/>
          </a:xfrm>
          <a:prstGeom prst="rect">
            <a:avLst/>
          </a:prstGeom>
          <a:noFill/>
          <a:ln w="9525">
            <a:noFill/>
            <a:miter lim="800000"/>
            <a:headEnd/>
            <a:tailEnd/>
          </a:ln>
        </p:spPr>
      </p:pic>
      <p:sp>
        <p:nvSpPr>
          <p:cNvPr id="2" name="Titel 1"/>
          <p:cNvSpPr>
            <a:spLocks noGrp="1"/>
          </p:cNvSpPr>
          <p:nvPr>
            <p:ph type="ctrTitle"/>
          </p:nvPr>
        </p:nvSpPr>
        <p:spPr>
          <a:xfrm>
            <a:off x="688005" y="2422800"/>
            <a:ext cx="9073008" cy="579600"/>
          </a:xfrm>
        </p:spPr>
        <p:txBody>
          <a:bodyPr anchor="t"/>
          <a:lstStyle>
            <a:lvl1pPr algn="l">
              <a:defRPr sz="3200" b="1">
                <a:solidFill>
                  <a:schemeClr val="tx1"/>
                </a:solidFill>
              </a:defRPr>
            </a:lvl1pPr>
          </a:lstStyle>
          <a:p>
            <a:r>
              <a:rPr lang="nl-NL" smtClean="0"/>
              <a:t>Klik om de stijl te bewerken</a:t>
            </a:r>
            <a:endParaRPr lang="nl-NL" dirty="0"/>
          </a:p>
        </p:txBody>
      </p:sp>
      <p:sp>
        <p:nvSpPr>
          <p:cNvPr id="3" name="Ondertitel 2"/>
          <p:cNvSpPr>
            <a:spLocks noGrp="1"/>
          </p:cNvSpPr>
          <p:nvPr>
            <p:ph type="subTitle" idx="1"/>
          </p:nvPr>
        </p:nvSpPr>
        <p:spPr>
          <a:xfrm>
            <a:off x="688005" y="3808800"/>
            <a:ext cx="7695000" cy="1548000"/>
          </a:xfrm>
        </p:spPr>
        <p:txBody>
          <a:bodyPr anchor="ctr" anchorCtr="1">
            <a:normAutofit/>
          </a:bodyPr>
          <a:lstStyle>
            <a:lvl1pPr marL="0" indent="0" algn="ctr">
              <a:buNone/>
              <a:defRPr sz="16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smtClean="0"/>
              <a:t>Klik om de ondertitelstijl van het model te bewerken</a:t>
            </a:r>
            <a:endParaRPr lang="nl-NL"/>
          </a:p>
        </p:txBody>
      </p:sp>
      <p:sp>
        <p:nvSpPr>
          <p:cNvPr id="10" name="Tijdelijke aanduiding voor tekst 9"/>
          <p:cNvSpPr>
            <a:spLocks noGrp="1"/>
          </p:cNvSpPr>
          <p:nvPr>
            <p:ph type="body" sz="quarter" idx="13"/>
          </p:nvPr>
        </p:nvSpPr>
        <p:spPr>
          <a:xfrm>
            <a:off x="4122899" y="6011999"/>
            <a:ext cx="5917050" cy="687600"/>
          </a:xfrm>
        </p:spPr>
        <p:txBody>
          <a:bodyPr/>
          <a:lstStyle>
            <a:lvl1pPr algn="r">
              <a:defRPr sz="3600" b="1">
                <a:solidFill>
                  <a:srgbClr val="C80F00"/>
                </a:solidFill>
                <a:latin typeface="Arial" pitchFamily="34" charset="0"/>
                <a:cs typeface="Arial" pitchFamily="34" charset="0"/>
              </a:defRPr>
            </a:lvl1pPr>
            <a:lvl2pPr algn="r">
              <a:defRPr sz="3600" b="1">
                <a:solidFill>
                  <a:srgbClr val="C80F00"/>
                </a:solidFill>
                <a:latin typeface="Arial Black" pitchFamily="34" charset="0"/>
              </a:defRPr>
            </a:lvl2pPr>
            <a:lvl3pPr algn="r">
              <a:defRPr sz="3600" b="1">
                <a:solidFill>
                  <a:srgbClr val="C80F00"/>
                </a:solidFill>
                <a:latin typeface="Arial Black" pitchFamily="34" charset="0"/>
              </a:defRPr>
            </a:lvl3pPr>
            <a:lvl4pPr algn="r">
              <a:defRPr sz="3600" b="1">
                <a:solidFill>
                  <a:srgbClr val="C80F00"/>
                </a:solidFill>
                <a:latin typeface="Arial Black" pitchFamily="34" charset="0"/>
              </a:defRPr>
            </a:lvl4pPr>
            <a:lvl5pPr algn="r">
              <a:defRPr sz="3600" b="1">
                <a:solidFill>
                  <a:srgbClr val="C80F00"/>
                </a:solidFill>
                <a:latin typeface="Arial Black" pitchFamily="34" charset="0"/>
              </a:defRPr>
            </a:lvl5pPr>
          </a:lstStyle>
          <a:p>
            <a:pPr lvl="0"/>
            <a:r>
              <a:rPr lang="nl-NL" smtClean="0"/>
              <a:t>Klik om de modelstijlen te bewerken</a:t>
            </a:r>
          </a:p>
        </p:txBody>
      </p:sp>
      <p:sp>
        <p:nvSpPr>
          <p:cNvPr id="12" name="Tijdelijke aanduiding voor inhoud 11"/>
          <p:cNvSpPr>
            <a:spLocks noGrp="1"/>
          </p:cNvSpPr>
          <p:nvPr>
            <p:ph sz="quarter" idx="17"/>
          </p:nvPr>
        </p:nvSpPr>
        <p:spPr>
          <a:xfrm>
            <a:off x="1017718" y="2998800"/>
            <a:ext cx="8743295" cy="431800"/>
          </a:xfrm>
        </p:spPr>
        <p:txBody>
          <a:bodyPr/>
          <a:lstStyle>
            <a:lvl1pPr>
              <a:defRPr sz="1600">
                <a:solidFill>
                  <a:schemeClr val="tx1"/>
                </a:solidFill>
              </a:defRPr>
            </a:lvl1pPr>
          </a:lstStyle>
          <a:p>
            <a:pPr lvl="0"/>
            <a:r>
              <a:rPr lang="nl-NL" smtClean="0"/>
              <a:t>Klik om de modelstijlen te bewerken</a:t>
            </a:r>
          </a:p>
        </p:txBody>
      </p:sp>
      <p:sp>
        <p:nvSpPr>
          <p:cNvPr id="9" name="Tijdelijke aanduiding voor voettekst 4"/>
          <p:cNvSpPr>
            <a:spLocks noGrp="1"/>
          </p:cNvSpPr>
          <p:nvPr>
            <p:ph type="ftr" sz="quarter" idx="18"/>
          </p:nvPr>
        </p:nvSpPr>
        <p:spPr/>
        <p:txBody>
          <a:bodyPr/>
          <a:lstStyle>
            <a:lvl1pPr>
              <a:defRPr/>
            </a:lvl1pPr>
          </a:lstStyle>
          <a:p>
            <a:pPr>
              <a:defRPr/>
            </a:pPr>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idx="1"/>
          </p:nvPr>
        </p:nvSpPr>
        <p:spPr/>
        <p:txBody>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12602" y="4406901"/>
            <a:ext cx="8743950" cy="1362075"/>
          </a:xfrm>
        </p:spPr>
        <p:txBody>
          <a:bodyPr anchor="t"/>
          <a:lstStyle>
            <a:lvl1pPr algn="l">
              <a:defRPr sz="3600" b="1" cap="all">
                <a:solidFill>
                  <a:schemeClr val="tx1"/>
                </a:solidFill>
              </a:defRPr>
            </a:lvl1pPr>
          </a:lstStyle>
          <a:p>
            <a:r>
              <a:rPr lang="nl-NL" smtClean="0"/>
              <a:t>Klik om de stijl te bewerken</a:t>
            </a:r>
            <a:endParaRPr lang="nl-NL" dirty="0"/>
          </a:p>
        </p:txBody>
      </p:sp>
      <p:sp>
        <p:nvSpPr>
          <p:cNvPr id="3" name="Tijdelijke aanduiding voor tekst 2"/>
          <p:cNvSpPr>
            <a:spLocks noGrp="1"/>
          </p:cNvSpPr>
          <p:nvPr>
            <p:ph type="body" idx="1"/>
          </p:nvPr>
        </p:nvSpPr>
        <p:spPr>
          <a:xfrm>
            <a:off x="812602" y="2906713"/>
            <a:ext cx="8743950" cy="1500187"/>
          </a:xfrm>
        </p:spPr>
        <p:txBody>
          <a:bodyPr anchor="b"/>
          <a:lstStyle>
            <a:lvl1pPr marL="0" indent="0">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smtClean="0"/>
              <a:t>Klik om de modelstijlen te bewerken</a:t>
            </a:r>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sz="half" idx="1"/>
          </p:nvPr>
        </p:nvSpPr>
        <p:spPr>
          <a:xfrm>
            <a:off x="514350"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4" name="Tijdelijke aanduiding voor inhoud 3"/>
          <p:cNvSpPr>
            <a:spLocks noGrp="1"/>
          </p:cNvSpPr>
          <p:nvPr>
            <p:ph sz="half" idx="2"/>
          </p:nvPr>
        </p:nvSpPr>
        <p:spPr>
          <a:xfrm>
            <a:off x="5229225"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5"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smtClean="0"/>
              <a:t>Klik om de stijl te bewerken</a:t>
            </a:r>
            <a:endParaRPr lang="nl-NL"/>
          </a:p>
        </p:txBody>
      </p:sp>
      <p:sp>
        <p:nvSpPr>
          <p:cNvPr id="3" name="Tijdelijke aanduiding voor tekst 2"/>
          <p:cNvSpPr>
            <a:spLocks noGrp="1"/>
          </p:cNvSpPr>
          <p:nvPr>
            <p:ph type="body" idx="1"/>
          </p:nvPr>
        </p:nvSpPr>
        <p:spPr>
          <a:xfrm>
            <a:off x="514350" y="1535113"/>
            <a:ext cx="454521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4" name="Tijdelijke aanduiding voor inhoud 3"/>
          <p:cNvSpPr>
            <a:spLocks noGrp="1"/>
          </p:cNvSpPr>
          <p:nvPr>
            <p:ph sz="half" idx="2"/>
          </p:nvPr>
        </p:nvSpPr>
        <p:spPr>
          <a:xfrm>
            <a:off x="514350" y="2174875"/>
            <a:ext cx="4545212"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5" name="Tijdelijke aanduiding voor tekst 4"/>
          <p:cNvSpPr>
            <a:spLocks noGrp="1"/>
          </p:cNvSpPr>
          <p:nvPr>
            <p:ph type="body" sz="quarter" idx="3"/>
          </p:nvPr>
        </p:nvSpPr>
        <p:spPr>
          <a:xfrm>
            <a:off x="5225654" y="1535113"/>
            <a:ext cx="454699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6" name="Tijdelijke aanduiding voor inhoud 5"/>
          <p:cNvSpPr>
            <a:spLocks noGrp="1"/>
          </p:cNvSpPr>
          <p:nvPr>
            <p:ph sz="quarter" idx="4"/>
          </p:nvPr>
        </p:nvSpPr>
        <p:spPr>
          <a:xfrm>
            <a:off x="5225654" y="2174875"/>
            <a:ext cx="4546997"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7"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fsluitdia">
    <p:spTree>
      <p:nvGrpSpPr>
        <p:cNvPr id="1" name=""/>
        <p:cNvGrpSpPr/>
        <p:nvPr/>
      </p:nvGrpSpPr>
      <p:grpSpPr>
        <a:xfrm>
          <a:off x="0" y="0"/>
          <a:ext cx="0" cy="0"/>
          <a:chOff x="0" y="0"/>
          <a:chExt cx="0" cy="0"/>
        </a:xfrm>
      </p:grpSpPr>
      <p:sp>
        <p:nvSpPr>
          <p:cNvPr id="2" name="Tekstvak 9"/>
          <p:cNvSpPr txBox="1">
            <a:spLocks noChangeAspect="1"/>
          </p:cNvSpPr>
          <p:nvPr/>
        </p:nvSpPr>
        <p:spPr bwMode="auto">
          <a:xfrm>
            <a:off x="689372" y="238126"/>
            <a:ext cx="7288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r>
              <a:rPr lang="sl-SI" altLang="nl-NL" sz="2800" b="1" smtClean="0">
                <a:solidFill>
                  <a:srgbClr val="000000"/>
                </a:solidFill>
                <a:latin typeface="Arial" charset="0"/>
              </a:rPr>
              <a:t>Reference to Authors</a:t>
            </a:r>
            <a:endParaRPr lang="en-GB" altLang="nl-NL" smtClean="0"/>
          </a:p>
        </p:txBody>
      </p:sp>
      <p:sp>
        <p:nvSpPr>
          <p:cNvPr id="3" name="Rechthoek 11"/>
          <p:cNvSpPr>
            <a:spLocks noChangeArrowheads="1"/>
          </p:cNvSpPr>
          <p:nvPr/>
        </p:nvSpPr>
        <p:spPr bwMode="auto">
          <a:xfrm>
            <a:off x="810816" y="1439863"/>
            <a:ext cx="891004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itchFamily="34" charset="0"/>
                <a:cs typeface="Arial" charset="0"/>
              </a:defRPr>
            </a:lvl1pPr>
            <a:lvl2pPr marL="447675" indent="-266700" eaLnBrk="0" hangingPunct="0">
              <a:defRPr>
                <a:solidFill>
                  <a:schemeClr val="tx1"/>
                </a:solidFill>
                <a:latin typeface="Calibri" pitchFamily="34" charset="0"/>
                <a:cs typeface="Arial" charset="0"/>
              </a:defRPr>
            </a:lvl2pPr>
            <a:lvl3pPr marL="985838" indent="-2667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lvl="1" eaLnBrk="1" hangingPunct="1">
              <a:spcBef>
                <a:spcPct val="20000"/>
              </a:spcBef>
              <a:buClr>
                <a:srgbClr val="C80F00"/>
              </a:buClr>
              <a:buSzPct val="120000"/>
              <a:buFont typeface="Arial" charset="0"/>
              <a:buChar char="•"/>
              <a:defRPr/>
            </a:pPr>
            <a:r>
              <a:rPr lang="en-US" altLang="nl-NL" sz="1600" b="1" smtClean="0">
                <a:solidFill>
                  <a:srgbClr val="000000"/>
                </a:solidFill>
                <a:latin typeface="Arial" charset="0"/>
              </a:rPr>
              <a:t>This Training Material has been certified according to the rules of the ‘ECQA – European Certification and Qualification Association’</a:t>
            </a: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a:p>
            <a:pPr lvl="1" eaLnBrk="1" hangingPunct="1">
              <a:spcBef>
                <a:spcPct val="20000"/>
              </a:spcBef>
              <a:buClr>
                <a:srgbClr val="C80F00"/>
              </a:buClr>
              <a:buSzPct val="120000"/>
              <a:buFont typeface="Arial" charset="0"/>
              <a:buChar char="•"/>
              <a:defRPr/>
            </a:pPr>
            <a:r>
              <a:rPr lang="en-US" altLang="nl-NL" sz="1600" b="1" smtClean="0">
                <a:solidFill>
                  <a:srgbClr val="000000"/>
                </a:solidFill>
                <a:latin typeface="Arial" charset="0"/>
              </a:rPr>
              <a:t>The Training Material was developed within the international consortium ‘LSSH – Lean Six Sigma for Healthcare’</a:t>
            </a: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Symbol BV		Netherlands		</a:t>
            </a:r>
            <a:r>
              <a:rPr lang="en-US" altLang="nl-NL" sz="1200" smtClean="0">
                <a:solidFill>
                  <a:srgbClr val="000000"/>
                </a:solidFill>
                <a:latin typeface="Arial" charset="0"/>
                <a:hlinkClick r:id="rId2"/>
              </a:rPr>
              <a:t>www.symbolbv.nl</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ISCN Ltd./Ges.m.b.H, 	Ireland/Austria	</a:t>
            </a:r>
            <a:r>
              <a:rPr lang="en-US" altLang="nl-NL" sz="1200" smtClean="0">
                <a:solidFill>
                  <a:srgbClr val="000000"/>
                </a:solidFill>
                <a:latin typeface="Arial" charset="0"/>
                <a:hlinkClick r:id="rId3"/>
              </a:rPr>
              <a:t>www.iscn.com</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ROC of Twente	Netherlands		</a:t>
            </a:r>
            <a:r>
              <a:rPr lang="en-US" altLang="nl-NL" sz="1200" smtClean="0">
                <a:solidFill>
                  <a:srgbClr val="000000"/>
                </a:solidFill>
                <a:latin typeface="Arial" charset="0"/>
                <a:hlinkClick r:id="rId4"/>
              </a:rPr>
              <a:t>www.rocvantwente.nl</a:t>
            </a:r>
            <a:r>
              <a:rPr lang="en-US" altLang="nl-NL" sz="1200" smtClean="0">
                <a:solidFill>
                  <a:srgbClr val="000000"/>
                </a:solidFill>
                <a:latin typeface="Arial" charset="0"/>
              </a:rPr>
              <a:t> </a:t>
            </a: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LSSA BV		Netherlands		</a:t>
            </a:r>
            <a:r>
              <a:rPr lang="en-US" altLang="nl-NL" sz="1200" smtClean="0">
                <a:solidFill>
                  <a:srgbClr val="000000"/>
                </a:solidFill>
                <a:latin typeface="Arial" charset="0"/>
                <a:hlinkClick r:id="rId5"/>
              </a:rPr>
              <a:t>www.lssa.eu</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University of Limerick	Ireland		</a:t>
            </a:r>
            <a:r>
              <a:rPr lang="en-US" altLang="nl-NL" sz="1200" smtClean="0">
                <a:solidFill>
                  <a:srgbClr val="000000"/>
                </a:solidFill>
                <a:latin typeface="Arial" charset="0"/>
                <a:hlinkClick r:id="rId6"/>
              </a:rPr>
              <a:t>www.ul.ie</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University of Twente	Netherlands		</a:t>
            </a:r>
            <a:r>
              <a:rPr lang="en-US" altLang="nl-NL" sz="1200" smtClean="0">
                <a:solidFill>
                  <a:srgbClr val="000000"/>
                </a:solidFill>
                <a:latin typeface="Arial" charset="0"/>
                <a:hlinkClick r:id="rId7"/>
              </a:rPr>
              <a:t>www.utwente.nl</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WGV Oost		Netherlands		</a:t>
            </a:r>
            <a:r>
              <a:rPr lang="en-US" altLang="nl-NL" sz="1200" smtClean="0">
                <a:solidFill>
                  <a:srgbClr val="000000"/>
                </a:solidFill>
                <a:latin typeface="Arial" charset="0"/>
                <a:hlinkClick r:id="rId8"/>
              </a:rPr>
              <a:t>www.wgvoost.nl</a:t>
            </a:r>
            <a:endParaRPr lang="en-US" altLang="nl-NL" sz="1200" smtClean="0">
              <a:solidFill>
                <a:srgbClr val="000000"/>
              </a:solidFill>
              <a:latin typeface="Arial" charset="0"/>
            </a:endParaRP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p:txBody>
      </p:sp>
      <p:pic>
        <p:nvPicPr>
          <p:cNvPr id="4" name="Picture 2" descr="EU_flag_LLP_EN-01"/>
          <p:cNvPicPr>
            <a:picLocks noChangeAspect="1" noChangeArrowheads="1"/>
          </p:cNvPicPr>
          <p:nvPr/>
        </p:nvPicPr>
        <p:blipFill>
          <a:blip r:embed="rId9" cstate="print"/>
          <a:srcRect/>
          <a:stretch>
            <a:fillRect/>
          </a:stretch>
        </p:blipFill>
        <p:spPr bwMode="auto">
          <a:xfrm>
            <a:off x="1092995" y="5249864"/>
            <a:ext cx="2348508" cy="815975"/>
          </a:xfrm>
          <a:prstGeom prst="rect">
            <a:avLst/>
          </a:prstGeom>
          <a:noFill/>
          <a:ln w="9525">
            <a:noFill/>
            <a:miter lim="800000"/>
            <a:headEnd/>
            <a:tailEnd/>
          </a:ln>
        </p:spPr>
      </p:pic>
      <p:sp>
        <p:nvSpPr>
          <p:cNvPr id="5" name="Tekstvak 13"/>
          <p:cNvSpPr txBox="1">
            <a:spLocks noChangeArrowheads="1"/>
          </p:cNvSpPr>
          <p:nvPr/>
        </p:nvSpPr>
        <p:spPr bwMode="auto">
          <a:xfrm>
            <a:off x="3361135" y="5249864"/>
            <a:ext cx="631864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nl-NL" sz="1200" i="1" smtClean="0"/>
              <a:t>This project has been funded with support from the European Commission under agreement EAC-2012-0635. This publication/communication reflects the views only of the author, and the Commission cannot be held responsible for any use which may be made of the information contained therein.</a:t>
            </a:r>
          </a:p>
          <a:p>
            <a:pPr eaLnBrk="1" hangingPunct="1">
              <a:defRPr/>
            </a:pPr>
            <a:endParaRPr lang="en-US" altLang="nl-NL" sz="1200" i="1" smtClean="0"/>
          </a:p>
          <a:p>
            <a:pPr eaLnBrk="1" hangingPunct="1">
              <a:defRPr/>
            </a:pPr>
            <a:r>
              <a:rPr lang="en-US" altLang="nl-NL" sz="1200" smtClean="0"/>
              <a:t>This publication reflects the views only of the author</a:t>
            </a:r>
            <a:r>
              <a:rPr lang="sl-SI" altLang="nl-NL" sz="1200" smtClean="0"/>
              <a:t>s</a:t>
            </a:r>
            <a:r>
              <a:rPr lang="en-US" altLang="nl-NL" sz="1200" smtClean="0"/>
              <a:t>, and the Commission cannot be held responsible for any use which may be made of the information contained therein.</a:t>
            </a:r>
          </a:p>
        </p:txBody>
      </p:sp>
      <p:sp>
        <p:nvSpPr>
          <p:cNvPr id="6" name="Tijdelijke aanduiding voor voettekst 2"/>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hthoek 1"/>
          <p:cNvSpPr/>
          <p:nvPr/>
        </p:nvSpPr>
        <p:spPr>
          <a:xfrm>
            <a:off x="10716" y="6696076"/>
            <a:ext cx="10287000" cy="180975"/>
          </a:xfrm>
          <a:prstGeom prst="rect">
            <a:avLst/>
          </a:prstGeom>
          <a:solidFill>
            <a:srgbClr val="C8B8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chemeClr val="tx1"/>
              </a:solidFill>
            </a:endParaRPr>
          </a:p>
        </p:txBody>
      </p:sp>
      <p:sp>
        <p:nvSpPr>
          <p:cNvPr id="1027" name="Tijdelijke aanduiding voor titel 1"/>
          <p:cNvSpPr>
            <a:spLocks noGrp="1"/>
          </p:cNvSpPr>
          <p:nvPr>
            <p:ph type="title"/>
          </p:nvPr>
        </p:nvSpPr>
        <p:spPr bwMode="auto">
          <a:xfrm>
            <a:off x="687587" y="238126"/>
            <a:ext cx="7290197" cy="6000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nl-NL" altLang="nl-NL" smtClean="0"/>
              <a:t>Klik om de stijl te bewerken</a:t>
            </a:r>
          </a:p>
        </p:txBody>
      </p:sp>
      <p:sp>
        <p:nvSpPr>
          <p:cNvPr id="1028" name="Tijdelijke aanduiding voor tekst 2"/>
          <p:cNvSpPr>
            <a:spLocks noGrp="1"/>
          </p:cNvSpPr>
          <p:nvPr>
            <p:ph type="body" idx="1"/>
          </p:nvPr>
        </p:nvSpPr>
        <p:spPr bwMode="auto">
          <a:xfrm>
            <a:off x="810816" y="1439863"/>
            <a:ext cx="8910043"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ltLang="nl-NL" smtClean="0"/>
              <a:t>Klik om de modelstijlen te bewerken</a:t>
            </a:r>
          </a:p>
          <a:p>
            <a:pPr lvl="1"/>
            <a:r>
              <a:rPr lang="nl-NL" altLang="nl-NL" smtClean="0"/>
              <a:t>Tweede niveau</a:t>
            </a:r>
          </a:p>
          <a:p>
            <a:pPr lvl="2"/>
            <a:r>
              <a:rPr lang="nl-NL" altLang="nl-NL" smtClean="0"/>
              <a:t>Derde niveau</a:t>
            </a:r>
          </a:p>
          <a:p>
            <a:pPr lvl="3"/>
            <a:r>
              <a:rPr lang="nl-NL" altLang="nl-NL" smtClean="0"/>
              <a:t>Vierde niveau</a:t>
            </a:r>
          </a:p>
          <a:p>
            <a:pPr lvl="4"/>
            <a:r>
              <a:rPr lang="nl-NL" altLang="nl-NL" smtClean="0"/>
              <a:t>Vijfde niveau</a:t>
            </a:r>
          </a:p>
        </p:txBody>
      </p:sp>
      <p:sp>
        <p:nvSpPr>
          <p:cNvPr id="5" name="Tijdelijke aanduiding voor voettekst 4"/>
          <p:cNvSpPr>
            <a:spLocks noGrp="1"/>
          </p:cNvSpPr>
          <p:nvPr>
            <p:ph type="ftr" sz="quarter" idx="3"/>
          </p:nvPr>
        </p:nvSpPr>
        <p:spPr>
          <a:xfrm>
            <a:off x="1468040" y="6702426"/>
            <a:ext cx="1459112" cy="161925"/>
          </a:xfrm>
          <a:prstGeom prst="rect">
            <a:avLst/>
          </a:prstGeom>
        </p:spPr>
        <p:txBody>
          <a:bodyPr vert="horz" lIns="91440" tIns="45720" rIns="91440" bIns="45720" rtlCol="0" anchor="ctr"/>
          <a:lstStyle>
            <a:lvl1pPr algn="l" fontAlgn="auto">
              <a:spcBef>
                <a:spcPts val="0"/>
              </a:spcBef>
              <a:spcAft>
                <a:spcPts val="0"/>
              </a:spcAft>
              <a:defRPr sz="1000">
                <a:solidFill>
                  <a:schemeClr val="tx1"/>
                </a:solidFill>
                <a:latin typeface="+mn-lt"/>
                <a:cs typeface="+mn-cs"/>
              </a:defRPr>
            </a:lvl1pPr>
          </a:lstStyle>
          <a:p>
            <a:pPr>
              <a:defRPr/>
            </a:pPr>
            <a:endParaRPr lang="nl-NL"/>
          </a:p>
        </p:txBody>
      </p:sp>
      <p:sp>
        <p:nvSpPr>
          <p:cNvPr id="1032" name="Rectangle 9"/>
          <p:cNvSpPr>
            <a:spLocks noChangeArrowheads="1"/>
          </p:cNvSpPr>
          <p:nvPr/>
        </p:nvSpPr>
        <p:spPr bwMode="auto">
          <a:xfrm>
            <a:off x="9636919" y="6702425"/>
            <a:ext cx="66079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fld id="{963B3561-C7A5-449B-81A7-F8B4012315F0}" type="slidenum">
              <a:rPr lang="nl-NL" altLang="nl-NL" sz="1000" smtClean="0"/>
              <a:pPr algn="ctr" eaLnBrk="1" hangingPunct="1">
                <a:defRPr/>
              </a:pPr>
              <a:t>‹#›</a:t>
            </a:fld>
            <a:endParaRPr lang="nl-NL" altLang="nl-NL" sz="1000" smtClean="0"/>
          </a:p>
        </p:txBody>
      </p:sp>
      <p:sp>
        <p:nvSpPr>
          <p:cNvPr id="1036" name="Text Box 20"/>
          <p:cNvSpPr txBox="1">
            <a:spLocks noChangeArrowheads="1"/>
          </p:cNvSpPr>
          <p:nvPr/>
        </p:nvSpPr>
        <p:spPr bwMode="auto">
          <a:xfrm>
            <a:off x="10716" y="6677026"/>
            <a:ext cx="1457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0" bIns="0" anchor="b"/>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spcBef>
                <a:spcPct val="20000"/>
              </a:spcBef>
              <a:buClr>
                <a:srgbClr val="0000FF"/>
              </a:buClr>
              <a:buSzPct val="125000"/>
              <a:defRPr/>
            </a:pPr>
            <a:r>
              <a:rPr lang="en-US" sz="1000" dirty="0" smtClean="0"/>
              <a:t>© LSSH 2014</a:t>
            </a:r>
          </a:p>
        </p:txBody>
      </p:sp>
      <p:cxnSp>
        <p:nvCxnSpPr>
          <p:cNvPr id="11" name="Rechte verbindingslijn 10"/>
          <p:cNvCxnSpPr/>
          <p:nvPr/>
        </p:nvCxnSpPr>
        <p:spPr>
          <a:xfrm>
            <a:off x="0" y="1052514"/>
            <a:ext cx="10287000" cy="1587"/>
          </a:xfrm>
          <a:prstGeom prst="line">
            <a:avLst/>
          </a:prstGeom>
          <a:ln>
            <a:solidFill>
              <a:srgbClr val="C41721"/>
            </a:solidFill>
          </a:ln>
        </p:spPr>
        <p:style>
          <a:lnRef idx="1">
            <a:schemeClr val="accent1"/>
          </a:lnRef>
          <a:fillRef idx="0">
            <a:schemeClr val="accent1"/>
          </a:fillRef>
          <a:effectRef idx="0">
            <a:schemeClr val="accent1"/>
          </a:effectRef>
          <a:fontRef idx="minor">
            <a:schemeClr val="tx1"/>
          </a:fontRef>
        </p:style>
      </p:cxnSp>
      <p:pic>
        <p:nvPicPr>
          <p:cNvPr id="1033" name="Afbeelding 6"/>
          <p:cNvPicPr>
            <a:picLocks noChangeAspect="1"/>
          </p:cNvPicPr>
          <p:nvPr/>
        </p:nvPicPr>
        <p:blipFill>
          <a:blip r:embed="rId10" cstate="print"/>
          <a:srcRect/>
          <a:stretch>
            <a:fillRect/>
          </a:stretch>
        </p:blipFill>
        <p:spPr bwMode="auto">
          <a:xfrm>
            <a:off x="8017074" y="220663"/>
            <a:ext cx="1905595" cy="6477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07" r:id="rId1"/>
    <p:sldLayoutId id="2147483701" r:id="rId2"/>
    <p:sldLayoutId id="2147483702" r:id="rId3"/>
    <p:sldLayoutId id="2147483703" r:id="rId4"/>
    <p:sldLayoutId id="2147483704" r:id="rId5"/>
    <p:sldLayoutId id="2147483705" r:id="rId6"/>
    <p:sldLayoutId id="2147483706" r:id="rId7"/>
    <p:sldLayoutId id="2147483708" r:id="rId8"/>
  </p:sldLayoutIdLst>
  <p:timing>
    <p:tnLst>
      <p:par>
        <p:cTn id="1" dur="indefinite" restart="never" nodeType="tmRoot"/>
      </p:par>
    </p:tnLst>
  </p:timing>
  <p:hf sldNum="0" hdr="0" dt="0"/>
  <p:txStyles>
    <p:titleStyle>
      <a:lvl1pPr algn="ctr" rtl="0" eaLnBrk="0" fontAlgn="base" hangingPunct="0">
        <a:spcBef>
          <a:spcPct val="0"/>
        </a:spcBef>
        <a:spcAft>
          <a:spcPct val="0"/>
        </a:spcAft>
        <a:defRPr lang="nl-NL" sz="28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b="1">
          <a:solidFill>
            <a:schemeClr val="tx1"/>
          </a:solidFill>
          <a:latin typeface="Arial" charset="0"/>
          <a:cs typeface="Arial" charset="0"/>
        </a:defRPr>
      </a:lvl2pPr>
      <a:lvl3pPr algn="ctr" rtl="0" eaLnBrk="0" fontAlgn="base" hangingPunct="0">
        <a:spcBef>
          <a:spcPct val="0"/>
        </a:spcBef>
        <a:spcAft>
          <a:spcPct val="0"/>
        </a:spcAft>
        <a:defRPr sz="2800" b="1">
          <a:solidFill>
            <a:schemeClr val="tx1"/>
          </a:solidFill>
          <a:latin typeface="Arial" charset="0"/>
          <a:cs typeface="Arial" charset="0"/>
        </a:defRPr>
      </a:lvl3pPr>
      <a:lvl4pPr algn="ctr" rtl="0" eaLnBrk="0" fontAlgn="base" hangingPunct="0">
        <a:spcBef>
          <a:spcPct val="0"/>
        </a:spcBef>
        <a:spcAft>
          <a:spcPct val="0"/>
        </a:spcAft>
        <a:defRPr sz="2800" b="1">
          <a:solidFill>
            <a:schemeClr val="tx1"/>
          </a:solidFill>
          <a:latin typeface="Arial" charset="0"/>
          <a:cs typeface="Arial" charset="0"/>
        </a:defRPr>
      </a:lvl4pPr>
      <a:lvl5pPr algn="ctr" rtl="0" eaLnBrk="0" fontAlgn="base" hangingPunct="0">
        <a:spcBef>
          <a:spcPct val="0"/>
        </a:spcBef>
        <a:spcAft>
          <a:spcPct val="0"/>
        </a:spcAft>
        <a:defRPr sz="2800" b="1">
          <a:solidFill>
            <a:schemeClr val="tx1"/>
          </a:solidFill>
          <a:latin typeface="Arial" charset="0"/>
          <a:cs typeface="Arial" charset="0"/>
        </a:defRPr>
      </a:lvl5pPr>
      <a:lvl6pPr marL="457200" algn="ctr" rtl="0" eaLnBrk="1" fontAlgn="base" hangingPunct="1">
        <a:spcBef>
          <a:spcPct val="0"/>
        </a:spcBef>
        <a:spcAft>
          <a:spcPct val="0"/>
        </a:spcAft>
        <a:defRPr sz="2800" b="1">
          <a:solidFill>
            <a:srgbClr val="FEF6D6"/>
          </a:solidFill>
          <a:latin typeface="Arial" charset="0"/>
          <a:cs typeface="Arial" charset="0"/>
        </a:defRPr>
      </a:lvl6pPr>
      <a:lvl7pPr marL="914400" algn="ctr" rtl="0" eaLnBrk="1" fontAlgn="base" hangingPunct="1">
        <a:spcBef>
          <a:spcPct val="0"/>
        </a:spcBef>
        <a:spcAft>
          <a:spcPct val="0"/>
        </a:spcAft>
        <a:defRPr sz="2800" b="1">
          <a:solidFill>
            <a:srgbClr val="FEF6D6"/>
          </a:solidFill>
          <a:latin typeface="Arial" charset="0"/>
          <a:cs typeface="Arial" charset="0"/>
        </a:defRPr>
      </a:lvl7pPr>
      <a:lvl8pPr marL="1371600" algn="ctr" rtl="0" eaLnBrk="1" fontAlgn="base" hangingPunct="1">
        <a:spcBef>
          <a:spcPct val="0"/>
        </a:spcBef>
        <a:spcAft>
          <a:spcPct val="0"/>
        </a:spcAft>
        <a:defRPr sz="2800" b="1">
          <a:solidFill>
            <a:srgbClr val="FEF6D6"/>
          </a:solidFill>
          <a:latin typeface="Arial" charset="0"/>
          <a:cs typeface="Arial" charset="0"/>
        </a:defRPr>
      </a:lvl8pPr>
      <a:lvl9pPr marL="1828800" algn="ctr" rtl="0" eaLnBrk="1" fontAlgn="base" hangingPunct="1">
        <a:spcBef>
          <a:spcPct val="0"/>
        </a:spcBef>
        <a:spcAft>
          <a:spcPct val="0"/>
        </a:spcAft>
        <a:defRPr sz="2800" b="1">
          <a:solidFill>
            <a:srgbClr val="FEF6D6"/>
          </a:solidFill>
          <a:latin typeface="Arial" charset="0"/>
          <a:cs typeface="Arial" charset="0"/>
        </a:defRPr>
      </a:lvl9pPr>
    </p:titleStyle>
    <p:bodyStyle>
      <a:lvl1pPr algn="l" rtl="0" eaLnBrk="0" fontAlgn="base" hangingPunct="0">
        <a:spcBef>
          <a:spcPct val="20000"/>
        </a:spcBef>
        <a:spcAft>
          <a:spcPct val="0"/>
        </a:spcAft>
        <a:buClr>
          <a:srgbClr val="C41721"/>
        </a:buClr>
        <a:buSzPct val="100000"/>
        <a:buFont typeface="Arial" charset="0"/>
        <a:defRPr sz="2400" b="1" kern="1200">
          <a:solidFill>
            <a:schemeClr val="tx1"/>
          </a:solidFill>
          <a:latin typeface="Arial" pitchFamily="34" charset="0"/>
          <a:ea typeface="+mn-ea"/>
          <a:cs typeface="Arial" pitchFamily="34" charset="0"/>
        </a:defRPr>
      </a:lvl1pPr>
      <a:lvl2pPr marL="447675" indent="-266700" algn="l" rtl="0" eaLnBrk="0" fontAlgn="base" hangingPunct="0">
        <a:spcBef>
          <a:spcPct val="20000"/>
        </a:spcBef>
        <a:spcAft>
          <a:spcPct val="0"/>
        </a:spcAft>
        <a:buClr>
          <a:srgbClr val="C41721"/>
        </a:buClr>
        <a:buSzPct val="100000"/>
        <a:buFont typeface="Arial" charset="0"/>
        <a:buChar char="•"/>
        <a:defRPr sz="1600" b="1" kern="1200">
          <a:solidFill>
            <a:schemeClr val="tx1"/>
          </a:solidFill>
          <a:latin typeface="Arial" pitchFamily="34" charset="0"/>
          <a:ea typeface="+mn-ea"/>
          <a:cs typeface="Arial" pitchFamily="34" charset="0"/>
        </a:defRPr>
      </a:lvl2pPr>
      <a:lvl3pPr marL="985838" indent="-266700" algn="l" rtl="0" eaLnBrk="0" fontAlgn="base" hangingPunct="0">
        <a:spcBef>
          <a:spcPct val="20000"/>
        </a:spcBef>
        <a:spcAft>
          <a:spcPct val="0"/>
        </a:spcAft>
        <a:buClr>
          <a:srgbClr val="C41721"/>
        </a:buClr>
        <a:buSzPct val="100000"/>
        <a:buFont typeface="Arial" charset="0"/>
        <a:buChar char="•"/>
        <a:defRPr sz="1600" kern="1200">
          <a:solidFill>
            <a:schemeClr val="tx1"/>
          </a:solidFill>
          <a:latin typeface="Arial" pitchFamily="34" charset="0"/>
          <a:ea typeface="+mn-ea"/>
          <a:cs typeface="Arial" pitchFamily="34" charset="0"/>
        </a:defRPr>
      </a:lvl3pPr>
      <a:lvl4pPr marL="1524000"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4pPr>
      <a:lvl5pPr marL="2062163"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6"/>
          <p:cNvSpPr>
            <a:spLocks noGrp="1"/>
          </p:cNvSpPr>
          <p:nvPr>
            <p:ph type="ctrTitle"/>
          </p:nvPr>
        </p:nvSpPr>
        <p:spPr/>
        <p:txBody>
          <a:bodyPr/>
          <a:lstStyle/>
          <a:p>
            <a:r>
              <a:rPr lang="en-US" dirty="0" smtClean="0"/>
              <a:t>SPC – Statistical Process Control</a:t>
            </a:r>
            <a:br>
              <a:rPr lang="en-US" dirty="0" smtClean="0"/>
            </a:br>
            <a:r>
              <a:rPr lang="en-US" dirty="0" smtClean="0"/>
              <a:t/>
            </a:r>
            <a:br>
              <a:rPr lang="en-US" dirty="0" smtClean="0"/>
            </a:br>
            <a:endParaRPr lang="nl-NL" dirty="0" smtClean="0"/>
          </a:p>
        </p:txBody>
      </p:sp>
      <p:sp>
        <p:nvSpPr>
          <p:cNvPr id="4" name="Tijdelijke aanduiding voor tekst 3"/>
          <p:cNvSpPr>
            <a:spLocks noGrp="1"/>
          </p:cNvSpPr>
          <p:nvPr>
            <p:ph type="subTitle" idx="1"/>
          </p:nvPr>
        </p:nvSpPr>
        <p:spPr/>
        <p:txBody>
          <a:bodyPr/>
          <a:lstStyle/>
          <a:p>
            <a:r>
              <a:rPr lang="en-US" smtClean="0"/>
              <a:t>The element ‘Statistical Process Control’ explains the controls methods used to identify out-of-control situations and deviations over time. Different types of SPC charts are reviewed.</a:t>
            </a:r>
            <a:endParaRPr lang="en-US" dirty="0"/>
          </a:p>
        </p:txBody>
      </p:sp>
      <p:sp>
        <p:nvSpPr>
          <p:cNvPr id="3" name="Tijdelijke aanduiding voor tekst 2"/>
          <p:cNvSpPr>
            <a:spLocks noGrp="1"/>
          </p:cNvSpPr>
          <p:nvPr>
            <p:ph type="body" sz="quarter" idx="13"/>
          </p:nvPr>
        </p:nvSpPr>
        <p:spPr/>
        <p:txBody>
          <a:bodyPr/>
          <a:lstStyle/>
          <a:p>
            <a:r>
              <a:rPr lang="nl-NL" smtClean="0"/>
              <a:t>Yellow Belt</a:t>
            </a:r>
            <a:endParaRPr lang="nl-NL" dirty="0"/>
          </a:p>
        </p:txBody>
      </p:sp>
      <p:sp>
        <p:nvSpPr>
          <p:cNvPr id="2" name="Tijdelijke aanduiding voor inhoud 1"/>
          <p:cNvSpPr>
            <a:spLocks noGrp="1"/>
          </p:cNvSpPr>
          <p:nvPr>
            <p:ph sz="quarter" idx="17"/>
          </p:nvPr>
        </p:nvSpPr>
        <p:spPr/>
        <p:txBody>
          <a:bodyPr/>
          <a:lstStyle/>
          <a:p>
            <a:r>
              <a:rPr lang="nl-NL" smtClean="0"/>
              <a:t>U7 – Control</a:t>
            </a:r>
          </a:p>
          <a:p>
            <a:r>
              <a:rPr lang="nl-NL" smtClean="0"/>
              <a:t>E1 – Statistical Process Control (SPC)</a:t>
            </a:r>
            <a:endParaRPr lang="nl-NL"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el 1"/>
          <p:cNvSpPr>
            <a:spLocks noGrp="1"/>
          </p:cNvSpPr>
          <p:nvPr>
            <p:ph type="title"/>
          </p:nvPr>
        </p:nvSpPr>
        <p:spPr/>
        <p:txBody>
          <a:bodyPr/>
          <a:lstStyle/>
          <a:p>
            <a:r>
              <a:rPr lang="en-GB" dirty="0" smtClean="0">
                <a:latin typeface="Arial" charset="0"/>
                <a:cs typeface="Arial" charset="0"/>
              </a:rPr>
              <a:t>Statistical Process Control</a:t>
            </a:r>
          </a:p>
        </p:txBody>
      </p:sp>
      <p:sp>
        <p:nvSpPr>
          <p:cNvPr id="6147" name="Tijdelijke aanduiding voor inhoud 2"/>
          <p:cNvSpPr>
            <a:spLocks noGrp="1"/>
          </p:cNvSpPr>
          <p:nvPr>
            <p:ph idx="1"/>
          </p:nvPr>
        </p:nvSpPr>
        <p:spPr/>
        <p:txBody>
          <a:bodyPr/>
          <a:lstStyle/>
          <a:p>
            <a:r>
              <a:rPr lang="en-GB" dirty="0" smtClean="0">
                <a:latin typeface="Arial" charset="0"/>
                <a:cs typeface="Arial" charset="0"/>
              </a:rPr>
              <a:t>Objectives and benefits</a:t>
            </a:r>
          </a:p>
          <a:p>
            <a:pPr lvl="1"/>
            <a:endParaRPr lang="en-GB" sz="1800" dirty="0" smtClean="0">
              <a:latin typeface="Arial" charset="0"/>
              <a:cs typeface="Arial" charset="0"/>
            </a:endParaRPr>
          </a:p>
          <a:p>
            <a:pPr lvl="1">
              <a:buClrTx/>
            </a:pPr>
            <a:r>
              <a:rPr lang="en-GB" dirty="0" smtClean="0">
                <a:latin typeface="Arial" charset="0"/>
                <a:cs typeface="Arial" charset="0"/>
              </a:rPr>
              <a:t>Tells you if the process is stable or unstable </a:t>
            </a:r>
          </a:p>
          <a:p>
            <a:pPr lvl="1">
              <a:buClrTx/>
            </a:pPr>
            <a:endParaRPr lang="en-GB" dirty="0" smtClean="0">
              <a:latin typeface="Arial" charset="0"/>
              <a:cs typeface="Arial" charset="0"/>
            </a:endParaRPr>
          </a:p>
          <a:p>
            <a:pPr lvl="1" indent="-261938">
              <a:buClrTx/>
            </a:pPr>
            <a:r>
              <a:rPr lang="en-GB" dirty="0" smtClean="0">
                <a:latin typeface="Arial" charset="0"/>
                <a:cs typeface="Arial" charset="0"/>
              </a:rPr>
              <a:t>Does NOT tell you if you’re process is producing products or services within customer specifications</a:t>
            </a:r>
          </a:p>
        </p:txBody>
      </p:sp>
      <p:pic>
        <p:nvPicPr>
          <p:cNvPr id="6148" name="Picture 4"/>
          <p:cNvPicPr>
            <a:picLocks noChangeAspect="1" noChangeArrowheads="1"/>
          </p:cNvPicPr>
          <p:nvPr/>
        </p:nvPicPr>
        <p:blipFill>
          <a:blip r:embed="rId3" cstate="print"/>
          <a:srcRect/>
          <a:stretch>
            <a:fillRect/>
          </a:stretch>
        </p:blipFill>
        <p:spPr bwMode="auto">
          <a:xfrm>
            <a:off x="2311004" y="3470548"/>
            <a:ext cx="5398890" cy="3198812"/>
          </a:xfrm>
          <a:prstGeom prst="rect">
            <a:avLst/>
          </a:prstGeom>
          <a:noFill/>
          <a:ln w="9525">
            <a:noFill/>
            <a:miter lim="800000"/>
            <a:headEnd/>
            <a:tailEnd/>
          </a:ln>
        </p:spPr>
      </p:pic>
    </p:spTree>
    <p:extLst>
      <p:ext uri="{BB962C8B-B14F-4D97-AF65-F5344CB8AC3E}">
        <p14:creationId xmlns:p14="http://schemas.microsoft.com/office/powerpoint/2010/main" val="6995122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el 1"/>
          <p:cNvSpPr>
            <a:spLocks noGrp="1"/>
          </p:cNvSpPr>
          <p:nvPr>
            <p:ph type="title"/>
          </p:nvPr>
        </p:nvSpPr>
        <p:spPr/>
        <p:txBody>
          <a:bodyPr/>
          <a:lstStyle/>
          <a:p>
            <a:r>
              <a:rPr lang="en-GB" dirty="0"/>
              <a:t>Statistical Process Control</a:t>
            </a:r>
            <a:endParaRPr lang="en-GB" dirty="0" smtClean="0">
              <a:latin typeface="Arial" charset="0"/>
              <a:cs typeface="Arial" charset="0"/>
            </a:endParaRPr>
          </a:p>
        </p:txBody>
      </p:sp>
      <p:sp>
        <p:nvSpPr>
          <p:cNvPr id="8195" name="Tijdelijke aanduiding voor inhoud 2"/>
          <p:cNvSpPr>
            <a:spLocks noGrp="1"/>
          </p:cNvSpPr>
          <p:nvPr>
            <p:ph idx="1"/>
          </p:nvPr>
        </p:nvSpPr>
        <p:spPr/>
        <p:txBody>
          <a:bodyPr/>
          <a:lstStyle/>
          <a:p>
            <a:r>
              <a:rPr lang="en-GB" dirty="0" smtClean="0">
                <a:latin typeface="Arial" charset="0"/>
                <a:cs typeface="Arial" charset="0"/>
              </a:rPr>
              <a:t>Variation</a:t>
            </a:r>
          </a:p>
          <a:p>
            <a:pPr lvl="1"/>
            <a:endParaRPr lang="en-GB" dirty="0" smtClean="0">
              <a:latin typeface="Arial" charset="0"/>
              <a:cs typeface="Arial" charset="0"/>
            </a:endParaRPr>
          </a:p>
          <a:p>
            <a:pPr lvl="1">
              <a:buClrTx/>
            </a:pPr>
            <a:r>
              <a:rPr lang="en-GB" dirty="0" smtClean="0">
                <a:latin typeface="Arial" charset="0"/>
                <a:cs typeface="Arial" charset="0"/>
              </a:rPr>
              <a:t>‘Common cause’ variation: Inherent to the process itself (noise)</a:t>
            </a:r>
          </a:p>
          <a:p>
            <a:pPr lvl="1">
              <a:buClrTx/>
              <a:buFont typeface="Arial" charset="0"/>
              <a:buNone/>
            </a:pPr>
            <a:r>
              <a:rPr lang="en-GB" b="0" dirty="0" smtClean="0">
                <a:latin typeface="Arial" charset="0"/>
                <a:cs typeface="Arial" charset="0"/>
              </a:rPr>
              <a:t>	Can only be reduced by changing or improving the process itself  </a:t>
            </a:r>
          </a:p>
          <a:p>
            <a:pPr lvl="1">
              <a:buClrTx/>
            </a:pPr>
            <a:endParaRPr lang="en-GB" dirty="0" smtClean="0">
              <a:latin typeface="Arial" charset="0"/>
              <a:cs typeface="Arial" charset="0"/>
            </a:endParaRPr>
          </a:p>
          <a:p>
            <a:pPr lvl="1">
              <a:buClrTx/>
            </a:pPr>
            <a:r>
              <a:rPr lang="en-GB" dirty="0" smtClean="0">
                <a:latin typeface="Arial" charset="0"/>
                <a:cs typeface="Arial" charset="0"/>
              </a:rPr>
              <a:t>‘Special cause’ </a:t>
            </a:r>
            <a:r>
              <a:rPr lang="en-GB" dirty="0">
                <a:latin typeface="Arial" charset="0"/>
                <a:cs typeface="Arial" charset="0"/>
              </a:rPr>
              <a:t>v</a:t>
            </a:r>
            <a:r>
              <a:rPr lang="en-GB" dirty="0" smtClean="0">
                <a:latin typeface="Arial" charset="0"/>
                <a:cs typeface="Arial" charset="0"/>
              </a:rPr>
              <a:t>ariation: caused by special causes and situations (signal)</a:t>
            </a:r>
          </a:p>
        </p:txBody>
      </p:sp>
      <p:sp>
        <p:nvSpPr>
          <p:cNvPr id="8196" name="Rectangle 2"/>
          <p:cNvSpPr>
            <a:spLocks noChangeArrowheads="1"/>
          </p:cNvSpPr>
          <p:nvPr/>
        </p:nvSpPr>
        <p:spPr bwMode="auto">
          <a:xfrm>
            <a:off x="1173361" y="4149725"/>
            <a:ext cx="8344625" cy="2051050"/>
          </a:xfrm>
          <a:prstGeom prst="rect">
            <a:avLst/>
          </a:prstGeom>
          <a:solidFill>
            <a:schemeClr val="bg1">
              <a:lumMod val="85000"/>
            </a:schemeClr>
          </a:solidFill>
          <a:ln w="9525" algn="ctr">
            <a:solidFill>
              <a:schemeClr val="tx1"/>
            </a:solidFill>
            <a:miter lim="800000"/>
            <a:headEnd/>
            <a:tailEnd/>
          </a:ln>
          <a:effectLst>
            <a:outerShdw dist="107763" dir="2700000" algn="ctr" rotWithShape="0">
              <a:schemeClr val="bg2">
                <a:alpha val="50000"/>
              </a:schemeClr>
            </a:outerShdw>
          </a:effectLst>
        </p:spPr>
        <p:txBody>
          <a:bodyPr anchor="ctr"/>
          <a:lstStyle/>
          <a:p>
            <a:pPr lvl="1" algn="ctr">
              <a:lnSpc>
                <a:spcPct val="115000"/>
              </a:lnSpc>
              <a:buClr>
                <a:srgbClr val="3333FF"/>
              </a:buClr>
              <a:buSzPct val="60000"/>
            </a:pPr>
            <a:endParaRPr lang="en-US" dirty="0"/>
          </a:p>
          <a:p>
            <a:pPr marL="342900" indent="-342900" algn="ctr"/>
            <a:r>
              <a:rPr lang="en-US" sz="1600" i="1" dirty="0" smtClean="0">
                <a:latin typeface="Arial" panose="020B0604020202020204" pitchFamily="34" charset="0"/>
                <a:cs typeface="Arial" panose="020B0604020202020204" pitchFamily="34" charset="0"/>
              </a:rPr>
              <a:t>‘Data </a:t>
            </a:r>
            <a:r>
              <a:rPr lang="en-US" sz="1600" i="1" dirty="0">
                <a:latin typeface="Arial" panose="020B0604020202020204" pitchFamily="34" charset="0"/>
                <a:cs typeface="Arial" panose="020B0604020202020204" pitchFamily="34" charset="0"/>
              </a:rPr>
              <a:t>contain both signal and noise. To be able to extract information, one must separate the signal from the noise within the data</a:t>
            </a:r>
            <a:r>
              <a:rPr lang="en-US" sz="1600" i="1" dirty="0" smtClean="0">
                <a:latin typeface="Arial" panose="020B0604020202020204" pitchFamily="34" charset="0"/>
                <a:cs typeface="Arial" panose="020B0604020202020204" pitchFamily="34" charset="0"/>
              </a:rPr>
              <a:t>.’</a:t>
            </a:r>
            <a:endParaRPr lang="en-US" sz="1600" i="1" dirty="0">
              <a:latin typeface="Arial" panose="020B0604020202020204" pitchFamily="34" charset="0"/>
              <a:cs typeface="Arial" panose="020B0604020202020204" pitchFamily="34" charset="0"/>
            </a:endParaRPr>
          </a:p>
          <a:p>
            <a:pPr marL="342900" indent="-342900" algn="ctr"/>
            <a:endParaRPr lang="en-US" sz="1600" i="1" dirty="0">
              <a:latin typeface="Arial" panose="020B0604020202020204" pitchFamily="34" charset="0"/>
              <a:cs typeface="Arial" panose="020B0604020202020204" pitchFamily="34" charset="0"/>
            </a:endParaRPr>
          </a:p>
          <a:p>
            <a:pPr marL="342900" indent="-342900" algn="ctr"/>
            <a:r>
              <a:rPr lang="en-US" sz="1600" dirty="0">
                <a:latin typeface="Arial" panose="020B0604020202020204" pitchFamily="34" charset="0"/>
                <a:cs typeface="Arial" panose="020B0604020202020204" pitchFamily="34" charset="0"/>
              </a:rPr>
              <a:t>			- Walter E. </a:t>
            </a:r>
            <a:r>
              <a:rPr lang="en-US" sz="1600" dirty="0" err="1">
                <a:latin typeface="Arial" panose="020B0604020202020204" pitchFamily="34" charset="0"/>
                <a:cs typeface="Arial" panose="020B0604020202020204" pitchFamily="34" charset="0"/>
              </a:rPr>
              <a:t>Shewhart</a:t>
            </a:r>
            <a:r>
              <a:rPr lang="en-US" sz="1600" dirty="0">
                <a:latin typeface="Arial" panose="020B0604020202020204" pitchFamily="34" charset="0"/>
                <a:cs typeface="Arial" panose="020B0604020202020204" pitchFamily="34" charset="0"/>
              </a:rPr>
              <a:t> -</a:t>
            </a:r>
          </a:p>
          <a:p>
            <a:pPr marL="342900" indent="-342900" algn="ctr" eaLnBrk="0" hangingPunct="0"/>
            <a:endParaRPr lang="en-US" dirty="0"/>
          </a:p>
        </p:txBody>
      </p:sp>
      <p:pic>
        <p:nvPicPr>
          <p:cNvPr id="5" name="Picture 7"/>
          <p:cNvPicPr>
            <a:picLocks noChangeAspect="1" noChangeArrowheads="1"/>
          </p:cNvPicPr>
          <p:nvPr/>
        </p:nvPicPr>
        <p:blipFill>
          <a:blip r:embed="rId3" cstate="print"/>
          <a:srcRect/>
          <a:stretch>
            <a:fillRect/>
          </a:stretch>
        </p:blipFill>
        <p:spPr bwMode="auto">
          <a:xfrm>
            <a:off x="1328092" y="5081458"/>
            <a:ext cx="878657" cy="1039581"/>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el 1"/>
          <p:cNvSpPr>
            <a:spLocks noGrp="1"/>
          </p:cNvSpPr>
          <p:nvPr>
            <p:ph type="title"/>
          </p:nvPr>
        </p:nvSpPr>
        <p:spPr/>
        <p:txBody>
          <a:bodyPr/>
          <a:lstStyle/>
          <a:p>
            <a:r>
              <a:rPr lang="en-GB" dirty="0"/>
              <a:t>Statistical Process Control</a:t>
            </a:r>
            <a:endParaRPr lang="en-GB" dirty="0" smtClean="0">
              <a:latin typeface="Arial" charset="0"/>
              <a:cs typeface="Arial" charset="0"/>
            </a:endParaRPr>
          </a:p>
        </p:txBody>
      </p:sp>
      <p:sp>
        <p:nvSpPr>
          <p:cNvPr id="9219" name="Tijdelijke aanduiding voor inhoud 2"/>
          <p:cNvSpPr>
            <a:spLocks noGrp="1"/>
          </p:cNvSpPr>
          <p:nvPr>
            <p:ph idx="1"/>
          </p:nvPr>
        </p:nvSpPr>
        <p:spPr/>
        <p:txBody>
          <a:bodyPr/>
          <a:lstStyle/>
          <a:p>
            <a:r>
              <a:rPr lang="en-US" dirty="0" smtClean="0">
                <a:latin typeface="Arial" charset="0"/>
                <a:cs typeface="Arial" charset="0"/>
              </a:rPr>
              <a:t>Common cause variation (noise): </a:t>
            </a:r>
          </a:p>
          <a:p>
            <a:pPr lvl="1"/>
            <a:endParaRPr lang="nl-NL" dirty="0" smtClean="0">
              <a:latin typeface="Arial" charset="0"/>
              <a:cs typeface="Arial" charset="0"/>
            </a:endParaRPr>
          </a:p>
          <a:p>
            <a:pPr lvl="1">
              <a:buClrTx/>
            </a:pPr>
            <a:r>
              <a:rPr lang="en-US" dirty="0" smtClean="0">
                <a:latin typeface="Arial" charset="0"/>
                <a:cs typeface="Arial" charset="0"/>
              </a:rPr>
              <a:t>Is inherent to the process </a:t>
            </a:r>
          </a:p>
          <a:p>
            <a:pPr lvl="1">
              <a:buClrTx/>
            </a:pPr>
            <a:endParaRPr lang="nl-NL" dirty="0" smtClean="0">
              <a:latin typeface="Arial" charset="0"/>
              <a:cs typeface="Arial" charset="0"/>
            </a:endParaRPr>
          </a:p>
          <a:p>
            <a:pPr lvl="1">
              <a:buClrTx/>
            </a:pPr>
            <a:r>
              <a:rPr lang="en-US" dirty="0" smtClean="0">
                <a:latin typeface="Arial" charset="0"/>
                <a:cs typeface="Arial" charset="0"/>
              </a:rPr>
              <a:t>Every process shows common cause variation</a:t>
            </a:r>
          </a:p>
          <a:p>
            <a:pPr lvl="1">
              <a:buClrTx/>
            </a:pPr>
            <a:endParaRPr lang="en-US" dirty="0" smtClean="0">
              <a:latin typeface="Arial" charset="0"/>
              <a:cs typeface="Arial" charset="0"/>
            </a:endParaRPr>
          </a:p>
          <a:p>
            <a:pPr lvl="1">
              <a:buClrTx/>
            </a:pPr>
            <a:r>
              <a:rPr lang="en-US" dirty="0" smtClean="0">
                <a:latin typeface="Arial" charset="0"/>
                <a:cs typeface="Arial" charset="0"/>
              </a:rPr>
              <a:t>It is produced by the process itself (the way we do business)</a:t>
            </a:r>
          </a:p>
          <a:p>
            <a:pPr lvl="1">
              <a:buClrTx/>
            </a:pPr>
            <a:endParaRPr lang="en-US" dirty="0" smtClean="0">
              <a:latin typeface="Arial" charset="0"/>
              <a:cs typeface="Arial" charset="0"/>
            </a:endParaRPr>
          </a:p>
          <a:p>
            <a:pPr lvl="1">
              <a:buClrTx/>
            </a:pPr>
            <a:r>
              <a:rPr lang="en-US" dirty="0" smtClean="0">
                <a:latin typeface="Arial" charset="0"/>
                <a:cs typeface="Arial" charset="0"/>
              </a:rPr>
              <a:t>It can be reduced or eliminated, but only by a fundamental change in the process</a:t>
            </a:r>
          </a:p>
        </p:txBody>
      </p:sp>
      <p:sp>
        <p:nvSpPr>
          <p:cNvPr id="9220" name="Rectangle 2"/>
          <p:cNvSpPr>
            <a:spLocks noChangeArrowheads="1"/>
          </p:cNvSpPr>
          <p:nvPr/>
        </p:nvSpPr>
        <p:spPr bwMode="auto">
          <a:xfrm>
            <a:off x="1335882" y="4868864"/>
            <a:ext cx="8020646" cy="1309687"/>
          </a:xfrm>
          <a:prstGeom prst="rect">
            <a:avLst/>
          </a:prstGeom>
          <a:solidFill>
            <a:schemeClr val="bg1">
              <a:lumMod val="85000"/>
            </a:schemeClr>
          </a:solidFill>
          <a:ln w="9525" algn="ctr">
            <a:solidFill>
              <a:schemeClr val="tx1"/>
            </a:solidFill>
            <a:miter lim="800000"/>
            <a:headEnd/>
            <a:tailEnd/>
          </a:ln>
          <a:effectLst>
            <a:outerShdw dist="107763" dir="2700000" algn="ctr" rotWithShape="0">
              <a:schemeClr val="bg2">
                <a:alpha val="50000"/>
              </a:schemeClr>
            </a:outerShdw>
          </a:effectLst>
        </p:spPr>
        <p:txBody>
          <a:bodyPr anchor="ctr"/>
          <a:lstStyle/>
          <a:p>
            <a:pPr lvl="1" algn="ctr"/>
            <a:r>
              <a:rPr lang="en-US" sz="1600" i="1" dirty="0">
                <a:latin typeface="Arial" panose="020B0604020202020204" pitchFamily="34" charset="0"/>
                <a:cs typeface="Arial" panose="020B0604020202020204" pitchFamily="34" charset="0"/>
              </a:rPr>
              <a:t>A process showing only </a:t>
            </a:r>
            <a:r>
              <a:rPr lang="en-US" sz="1600" i="1" dirty="0" smtClean="0">
                <a:latin typeface="Arial" panose="020B0604020202020204" pitchFamily="34" charset="0"/>
                <a:cs typeface="Arial" panose="020B0604020202020204" pitchFamily="34" charset="0"/>
              </a:rPr>
              <a:t>common cause variation </a:t>
            </a:r>
            <a:r>
              <a:rPr lang="en-US" sz="1600" i="1" dirty="0">
                <a:latin typeface="Arial" panose="020B0604020202020204" pitchFamily="34" charset="0"/>
                <a:cs typeface="Arial" panose="020B0604020202020204" pitchFamily="34" charset="0"/>
              </a:rPr>
              <a:t>is </a:t>
            </a:r>
            <a:r>
              <a:rPr lang="en-US" sz="1600" i="1" dirty="0" smtClean="0">
                <a:latin typeface="Arial" panose="020B0604020202020204" pitchFamily="34" charset="0"/>
                <a:cs typeface="Arial" panose="020B0604020202020204" pitchFamily="34" charset="0"/>
              </a:rPr>
              <a:t>‘stable</a:t>
            </a:r>
            <a:r>
              <a:rPr lang="en-US" sz="1600" i="1" dirty="0">
                <a:latin typeface="Arial" panose="020B0604020202020204" pitchFamily="34" charset="0"/>
                <a:cs typeface="Arial" panose="020B0604020202020204" pitchFamily="34" charset="0"/>
              </a:rPr>
              <a:t>’, </a:t>
            </a:r>
            <a:r>
              <a:rPr lang="en-US" sz="1600" i="1" dirty="0" smtClean="0">
                <a:latin typeface="Arial" panose="020B0604020202020204" pitchFamily="34" charset="0"/>
                <a:cs typeface="Arial" panose="020B0604020202020204" pitchFamily="34" charset="0"/>
              </a:rPr>
              <a:t>‘predictable</a:t>
            </a:r>
            <a:r>
              <a:rPr lang="en-US" sz="1600" i="1" dirty="0">
                <a:latin typeface="Arial" panose="020B0604020202020204" pitchFamily="34" charset="0"/>
                <a:cs typeface="Arial" panose="020B0604020202020204" pitchFamily="34" charset="0"/>
              </a:rPr>
              <a:t>’ and </a:t>
            </a:r>
            <a:r>
              <a:rPr lang="en-US" sz="1600" i="1" dirty="0" smtClean="0">
                <a:latin typeface="Arial" panose="020B0604020202020204" pitchFamily="34" charset="0"/>
                <a:cs typeface="Arial" panose="020B0604020202020204" pitchFamily="34" charset="0"/>
              </a:rPr>
              <a:t>‘in-control’</a:t>
            </a:r>
            <a:endParaRPr lang="en-US" sz="1600" i="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el 1"/>
          <p:cNvSpPr>
            <a:spLocks noGrp="1"/>
          </p:cNvSpPr>
          <p:nvPr>
            <p:ph type="title"/>
          </p:nvPr>
        </p:nvSpPr>
        <p:spPr/>
        <p:txBody>
          <a:bodyPr/>
          <a:lstStyle/>
          <a:p>
            <a:r>
              <a:rPr lang="en-GB" dirty="0"/>
              <a:t>Statistical Process Control</a:t>
            </a:r>
            <a:endParaRPr lang="en-GB" dirty="0" smtClean="0">
              <a:latin typeface="Arial" charset="0"/>
              <a:cs typeface="Arial" charset="0"/>
            </a:endParaRPr>
          </a:p>
        </p:txBody>
      </p:sp>
      <p:sp>
        <p:nvSpPr>
          <p:cNvPr id="9219" name="Tijdelijke aanduiding voor inhoud 2"/>
          <p:cNvSpPr>
            <a:spLocks noGrp="1"/>
          </p:cNvSpPr>
          <p:nvPr>
            <p:ph idx="1"/>
          </p:nvPr>
        </p:nvSpPr>
        <p:spPr/>
        <p:txBody>
          <a:bodyPr/>
          <a:lstStyle/>
          <a:p>
            <a:r>
              <a:rPr lang="en-US" dirty="0" smtClean="0">
                <a:latin typeface="Arial" charset="0"/>
                <a:cs typeface="Arial" charset="0"/>
              </a:rPr>
              <a:t>Common cause variation</a:t>
            </a:r>
          </a:p>
          <a:p>
            <a:endParaRPr lang="en-US" sz="1800" dirty="0" smtClean="0">
              <a:latin typeface="Arial" charset="0"/>
              <a:cs typeface="Arial" charset="0"/>
            </a:endParaRPr>
          </a:p>
          <a:p>
            <a:pPr indent="-257175"/>
            <a:r>
              <a:rPr lang="en-US" sz="1800" dirty="0" smtClean="0">
                <a:latin typeface="Arial" charset="0"/>
                <a:cs typeface="Arial" charset="0"/>
              </a:rPr>
              <a:t>In the example of hot meals in Elderly home </a:t>
            </a:r>
            <a:r>
              <a:rPr lang="en-US" sz="1800" dirty="0" err="1" smtClean="0">
                <a:latin typeface="Arial" charset="0"/>
                <a:cs typeface="Arial" charset="0"/>
              </a:rPr>
              <a:t>centre</a:t>
            </a:r>
            <a:r>
              <a:rPr lang="en-US" sz="1800" dirty="0" smtClean="0">
                <a:latin typeface="Arial" charset="0"/>
                <a:cs typeface="Arial" charset="0"/>
              </a:rPr>
              <a:t>: </a:t>
            </a:r>
          </a:p>
          <a:p>
            <a:pPr lvl="1">
              <a:buClrTx/>
            </a:pPr>
            <a:endParaRPr lang="nl-NL" dirty="0" smtClean="0">
              <a:latin typeface="Arial" charset="0"/>
              <a:cs typeface="Arial" charset="0"/>
            </a:endParaRPr>
          </a:p>
          <a:p>
            <a:pPr lvl="1">
              <a:buClrTx/>
            </a:pPr>
            <a:r>
              <a:rPr lang="nl-NL" dirty="0" err="1" smtClean="0">
                <a:latin typeface="Arial" charset="0"/>
                <a:cs typeface="Arial" charset="0"/>
              </a:rPr>
              <a:t>There</a:t>
            </a:r>
            <a:r>
              <a:rPr lang="nl-NL" dirty="0" smtClean="0">
                <a:latin typeface="Arial" charset="0"/>
                <a:cs typeface="Arial" charset="0"/>
              </a:rPr>
              <a:t> is a </a:t>
            </a:r>
            <a:r>
              <a:rPr lang="nl-NL" dirty="0" err="1" smtClean="0">
                <a:latin typeface="Arial" charset="0"/>
                <a:cs typeface="Arial" charset="0"/>
              </a:rPr>
              <a:t>difference</a:t>
            </a:r>
            <a:r>
              <a:rPr lang="nl-NL" dirty="0" smtClean="0">
                <a:latin typeface="Arial" charset="0"/>
                <a:cs typeface="Arial" charset="0"/>
              </a:rPr>
              <a:t> in </a:t>
            </a:r>
            <a:r>
              <a:rPr lang="nl-NL" dirty="0" err="1" smtClean="0">
                <a:latin typeface="Arial" charset="0"/>
                <a:cs typeface="Arial" charset="0"/>
              </a:rPr>
              <a:t>walking</a:t>
            </a:r>
            <a:r>
              <a:rPr lang="nl-NL" dirty="0" smtClean="0">
                <a:latin typeface="Arial" charset="0"/>
                <a:cs typeface="Arial" charset="0"/>
              </a:rPr>
              <a:t> </a:t>
            </a:r>
            <a:r>
              <a:rPr lang="nl-NL" dirty="0" err="1" smtClean="0">
                <a:latin typeface="Arial" charset="0"/>
                <a:cs typeface="Arial" charset="0"/>
              </a:rPr>
              <a:t>distance</a:t>
            </a:r>
            <a:r>
              <a:rPr lang="nl-NL" dirty="0" smtClean="0">
                <a:latin typeface="Arial" charset="0"/>
                <a:cs typeface="Arial" charset="0"/>
              </a:rPr>
              <a:t> </a:t>
            </a:r>
            <a:r>
              <a:rPr lang="nl-NL" dirty="0" err="1" smtClean="0">
                <a:latin typeface="Arial" charset="0"/>
                <a:cs typeface="Arial" charset="0"/>
              </a:rPr>
              <a:t>to</a:t>
            </a:r>
            <a:r>
              <a:rPr lang="nl-NL" dirty="0" smtClean="0">
                <a:latin typeface="Arial" charset="0"/>
                <a:cs typeface="Arial" charset="0"/>
              </a:rPr>
              <a:t> </a:t>
            </a:r>
            <a:r>
              <a:rPr lang="nl-NL" dirty="0" err="1" smtClean="0">
                <a:latin typeface="Arial" charset="0"/>
                <a:cs typeface="Arial" charset="0"/>
              </a:rPr>
              <a:t>every</a:t>
            </a:r>
            <a:r>
              <a:rPr lang="nl-NL" dirty="0" smtClean="0">
                <a:latin typeface="Arial" charset="0"/>
                <a:cs typeface="Arial" charset="0"/>
              </a:rPr>
              <a:t> customer </a:t>
            </a:r>
          </a:p>
          <a:p>
            <a:pPr lvl="1">
              <a:buClrTx/>
            </a:pPr>
            <a:endParaRPr lang="nl-NL" dirty="0">
              <a:latin typeface="Arial" charset="0"/>
              <a:cs typeface="Arial" charset="0"/>
            </a:endParaRPr>
          </a:p>
          <a:p>
            <a:pPr lvl="1">
              <a:buClrTx/>
            </a:pPr>
            <a:r>
              <a:rPr lang="nl-NL" dirty="0" err="1" smtClean="0">
                <a:latin typeface="Arial" charset="0"/>
                <a:cs typeface="Arial" charset="0"/>
              </a:rPr>
              <a:t>Not</a:t>
            </a:r>
            <a:r>
              <a:rPr lang="nl-NL" dirty="0" smtClean="0">
                <a:latin typeface="Arial" charset="0"/>
                <a:cs typeface="Arial" charset="0"/>
              </a:rPr>
              <a:t> </a:t>
            </a:r>
            <a:r>
              <a:rPr lang="nl-NL" dirty="0" err="1" smtClean="0">
                <a:latin typeface="Arial" charset="0"/>
                <a:cs typeface="Arial" charset="0"/>
              </a:rPr>
              <a:t>every</a:t>
            </a:r>
            <a:r>
              <a:rPr lang="nl-NL" dirty="0" smtClean="0">
                <a:latin typeface="Arial" charset="0"/>
                <a:cs typeface="Arial" charset="0"/>
              </a:rPr>
              <a:t> </a:t>
            </a:r>
            <a:r>
              <a:rPr lang="nl-NL" dirty="0" err="1" smtClean="0">
                <a:latin typeface="Arial" charset="0"/>
                <a:cs typeface="Arial" charset="0"/>
              </a:rPr>
              <a:t>plate</a:t>
            </a:r>
            <a:r>
              <a:rPr lang="nl-NL" dirty="0" smtClean="0">
                <a:latin typeface="Arial" charset="0"/>
                <a:cs typeface="Arial" charset="0"/>
              </a:rPr>
              <a:t> </a:t>
            </a:r>
            <a:r>
              <a:rPr lang="nl-NL" dirty="0" err="1" smtClean="0">
                <a:latin typeface="Arial" charset="0"/>
                <a:cs typeface="Arial" charset="0"/>
              </a:rPr>
              <a:t>leaves</a:t>
            </a:r>
            <a:r>
              <a:rPr lang="nl-NL" dirty="0" smtClean="0">
                <a:latin typeface="Arial" charset="0"/>
                <a:cs typeface="Arial" charset="0"/>
              </a:rPr>
              <a:t> the </a:t>
            </a:r>
            <a:r>
              <a:rPr lang="nl-NL" dirty="0" err="1" smtClean="0">
                <a:latin typeface="Arial" charset="0"/>
                <a:cs typeface="Arial" charset="0"/>
              </a:rPr>
              <a:t>kitchen</a:t>
            </a:r>
            <a:r>
              <a:rPr lang="nl-NL" dirty="0" smtClean="0">
                <a:latin typeface="Arial" charset="0"/>
                <a:cs typeface="Arial" charset="0"/>
              </a:rPr>
              <a:t> at the </a:t>
            </a:r>
            <a:r>
              <a:rPr lang="nl-NL" dirty="0" err="1" smtClean="0">
                <a:latin typeface="Arial" charset="0"/>
                <a:cs typeface="Arial" charset="0"/>
              </a:rPr>
              <a:t>same</a:t>
            </a:r>
            <a:r>
              <a:rPr lang="nl-NL" dirty="0" smtClean="0">
                <a:latin typeface="Arial" charset="0"/>
                <a:cs typeface="Arial" charset="0"/>
              </a:rPr>
              <a:t> time (</a:t>
            </a:r>
            <a:r>
              <a:rPr lang="nl-NL" dirty="0" err="1" smtClean="0">
                <a:latin typeface="Arial" charset="0"/>
                <a:cs typeface="Arial" charset="0"/>
              </a:rPr>
              <a:t>some</a:t>
            </a:r>
            <a:r>
              <a:rPr lang="nl-NL" dirty="0" smtClean="0">
                <a:latin typeface="Arial" charset="0"/>
                <a:cs typeface="Arial" charset="0"/>
              </a:rPr>
              <a:t>                                                                          </a:t>
            </a:r>
            <a:r>
              <a:rPr lang="nl-NL" dirty="0" err="1" smtClean="0">
                <a:latin typeface="Arial" charset="0"/>
                <a:cs typeface="Arial" charset="0"/>
              </a:rPr>
              <a:t>plates</a:t>
            </a:r>
            <a:r>
              <a:rPr lang="nl-NL" dirty="0" smtClean="0">
                <a:latin typeface="Arial" charset="0"/>
                <a:cs typeface="Arial" charset="0"/>
              </a:rPr>
              <a:t> </a:t>
            </a:r>
            <a:r>
              <a:rPr lang="nl-NL" dirty="0" err="1" smtClean="0">
                <a:latin typeface="Arial" charset="0"/>
                <a:cs typeface="Arial" charset="0"/>
              </a:rPr>
              <a:t>wait</a:t>
            </a:r>
            <a:r>
              <a:rPr lang="nl-NL" dirty="0" smtClean="0">
                <a:latin typeface="Arial" charset="0"/>
                <a:cs typeface="Arial" charset="0"/>
              </a:rPr>
              <a:t> </a:t>
            </a:r>
            <a:r>
              <a:rPr lang="nl-NL" dirty="0" err="1" smtClean="0">
                <a:latin typeface="Arial" charset="0"/>
                <a:cs typeface="Arial" charset="0"/>
              </a:rPr>
              <a:t>longer</a:t>
            </a:r>
            <a:r>
              <a:rPr lang="nl-NL" dirty="0" smtClean="0">
                <a:latin typeface="Arial" charset="0"/>
                <a:cs typeface="Arial" charset="0"/>
              </a:rPr>
              <a:t> </a:t>
            </a:r>
            <a:r>
              <a:rPr lang="nl-NL" dirty="0" err="1" smtClean="0">
                <a:latin typeface="Arial" charset="0"/>
                <a:cs typeface="Arial" charset="0"/>
              </a:rPr>
              <a:t>to</a:t>
            </a:r>
            <a:r>
              <a:rPr lang="nl-NL" dirty="0" smtClean="0">
                <a:latin typeface="Arial" charset="0"/>
                <a:cs typeface="Arial" charset="0"/>
              </a:rPr>
              <a:t> </a:t>
            </a:r>
            <a:r>
              <a:rPr lang="nl-NL" dirty="0" err="1" smtClean="0">
                <a:latin typeface="Arial" charset="0"/>
                <a:cs typeface="Arial" charset="0"/>
              </a:rPr>
              <a:t>be</a:t>
            </a:r>
            <a:r>
              <a:rPr lang="nl-NL" dirty="0" smtClean="0">
                <a:latin typeface="Arial" charset="0"/>
                <a:cs typeface="Arial" charset="0"/>
              </a:rPr>
              <a:t> taken </a:t>
            </a:r>
            <a:r>
              <a:rPr lang="nl-NL" dirty="0" err="1" smtClean="0">
                <a:latin typeface="Arial" charset="0"/>
                <a:cs typeface="Arial" charset="0"/>
              </a:rPr>
              <a:t>to</a:t>
            </a:r>
            <a:r>
              <a:rPr lang="nl-NL" dirty="0" smtClean="0">
                <a:latin typeface="Arial" charset="0"/>
                <a:cs typeface="Arial" charset="0"/>
              </a:rPr>
              <a:t> the </a:t>
            </a:r>
            <a:r>
              <a:rPr lang="nl-NL" dirty="0" err="1" smtClean="0">
                <a:latin typeface="Arial" charset="0"/>
                <a:cs typeface="Arial" charset="0"/>
              </a:rPr>
              <a:t>customers</a:t>
            </a:r>
            <a:r>
              <a:rPr lang="nl-NL" dirty="0" smtClean="0">
                <a:latin typeface="Arial" charset="0"/>
                <a:cs typeface="Arial" charset="0"/>
              </a:rPr>
              <a:t>)</a:t>
            </a:r>
          </a:p>
          <a:p>
            <a:pPr lvl="1">
              <a:buClrTx/>
            </a:pPr>
            <a:endParaRPr lang="nl-NL" dirty="0">
              <a:latin typeface="Arial" charset="0"/>
              <a:cs typeface="Arial" charset="0"/>
            </a:endParaRPr>
          </a:p>
          <a:p>
            <a:pPr lvl="1">
              <a:buClrTx/>
            </a:pPr>
            <a:r>
              <a:rPr lang="nl-NL" dirty="0" smtClean="0">
                <a:latin typeface="Arial" charset="0"/>
                <a:cs typeface="Arial" charset="0"/>
              </a:rPr>
              <a:t>Different </a:t>
            </a:r>
            <a:r>
              <a:rPr lang="nl-NL" dirty="0" err="1" smtClean="0">
                <a:latin typeface="Arial" charset="0"/>
                <a:cs typeface="Arial" charset="0"/>
              </a:rPr>
              <a:t>cooks</a:t>
            </a:r>
            <a:r>
              <a:rPr lang="nl-NL" dirty="0" smtClean="0">
                <a:latin typeface="Arial" charset="0"/>
                <a:cs typeface="Arial" charset="0"/>
              </a:rPr>
              <a:t> </a:t>
            </a:r>
            <a:r>
              <a:rPr lang="nl-NL" dirty="0" err="1" smtClean="0">
                <a:latin typeface="Arial" charset="0"/>
                <a:cs typeface="Arial" charset="0"/>
              </a:rPr>
              <a:t>prepare</a:t>
            </a:r>
            <a:r>
              <a:rPr lang="nl-NL" dirty="0" smtClean="0">
                <a:latin typeface="Arial" charset="0"/>
                <a:cs typeface="Arial" charset="0"/>
              </a:rPr>
              <a:t> at different </a:t>
            </a:r>
            <a:r>
              <a:rPr lang="nl-NL" dirty="0" err="1" smtClean="0">
                <a:latin typeface="Arial" charset="0"/>
                <a:cs typeface="Arial" charset="0"/>
              </a:rPr>
              <a:t>temperatures</a:t>
            </a:r>
            <a:endParaRPr lang="nl-NL" dirty="0" smtClean="0">
              <a:latin typeface="Arial" charset="0"/>
              <a:cs typeface="Arial" charset="0"/>
            </a:endParaRPr>
          </a:p>
          <a:p>
            <a:pPr lvl="1">
              <a:buClrTx/>
            </a:pPr>
            <a:endParaRPr lang="nl-NL" dirty="0">
              <a:latin typeface="Arial" charset="0"/>
              <a:cs typeface="Arial" charset="0"/>
            </a:endParaRPr>
          </a:p>
          <a:p>
            <a:pPr lvl="1">
              <a:buClrTx/>
            </a:pPr>
            <a:r>
              <a:rPr lang="nl-NL" dirty="0" smtClean="0">
                <a:latin typeface="Arial" charset="0"/>
                <a:cs typeface="Arial" charset="0"/>
              </a:rPr>
              <a:t>The cover of the </a:t>
            </a:r>
            <a:r>
              <a:rPr lang="nl-NL" dirty="0" err="1" smtClean="0">
                <a:latin typeface="Arial" charset="0"/>
                <a:cs typeface="Arial" charset="0"/>
              </a:rPr>
              <a:t>plate</a:t>
            </a:r>
            <a:r>
              <a:rPr lang="nl-NL" dirty="0" smtClean="0">
                <a:latin typeface="Arial" charset="0"/>
                <a:cs typeface="Arial" charset="0"/>
              </a:rPr>
              <a:t> was </a:t>
            </a:r>
            <a:r>
              <a:rPr lang="nl-NL" dirty="0" err="1" smtClean="0">
                <a:latin typeface="Arial" charset="0"/>
                <a:cs typeface="Arial" charset="0"/>
              </a:rPr>
              <a:t>not</a:t>
            </a:r>
            <a:r>
              <a:rPr lang="nl-NL" dirty="0" smtClean="0">
                <a:latin typeface="Arial" charset="0"/>
                <a:cs typeface="Arial" charset="0"/>
              </a:rPr>
              <a:t> </a:t>
            </a:r>
            <a:r>
              <a:rPr lang="nl-NL" dirty="0" err="1" smtClean="0">
                <a:latin typeface="Arial" charset="0"/>
                <a:cs typeface="Arial" charset="0"/>
              </a:rPr>
              <a:t>closed</a:t>
            </a:r>
            <a:r>
              <a:rPr lang="nl-NL" dirty="0" smtClean="0">
                <a:latin typeface="Arial" charset="0"/>
                <a:cs typeface="Arial" charset="0"/>
              </a:rPr>
              <a:t> </a:t>
            </a:r>
            <a:r>
              <a:rPr lang="nl-NL" dirty="0" err="1" smtClean="0">
                <a:latin typeface="Arial" charset="0"/>
                <a:cs typeface="Arial" charset="0"/>
              </a:rPr>
              <a:t>properly</a:t>
            </a:r>
            <a:r>
              <a:rPr lang="nl-NL" dirty="0" smtClean="0">
                <a:latin typeface="Arial" charset="0"/>
                <a:cs typeface="Arial" charset="0"/>
              </a:rPr>
              <a:t>                                                                                                                           </a:t>
            </a:r>
            <a:endParaRPr lang="en-US" dirty="0" smtClean="0">
              <a:latin typeface="Arial" charset="0"/>
              <a:cs typeface="Arial" charset="0"/>
            </a:endParaRPr>
          </a:p>
        </p:txBody>
      </p:sp>
      <p:pic>
        <p:nvPicPr>
          <p:cNvPr id="2" name="Afbeelding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3136" y="2316068"/>
            <a:ext cx="1701189" cy="2314543"/>
          </a:xfrm>
          <a:prstGeom prst="rect">
            <a:avLst/>
          </a:prstGeom>
        </p:spPr>
      </p:pic>
      <p:pic>
        <p:nvPicPr>
          <p:cNvPr id="3" name="Afbeelding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16797" y="4931442"/>
            <a:ext cx="2267528" cy="1614070"/>
          </a:xfrm>
          <a:prstGeom prst="rect">
            <a:avLst/>
          </a:prstGeom>
        </p:spPr>
      </p:pic>
    </p:spTree>
    <p:extLst>
      <p:ext uri="{BB962C8B-B14F-4D97-AF65-F5344CB8AC3E}">
        <p14:creationId xmlns:p14="http://schemas.microsoft.com/office/powerpoint/2010/main" val="17217288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p:txBody>
          <a:bodyPr/>
          <a:lstStyle/>
          <a:p>
            <a:r>
              <a:rPr lang="en-GB" dirty="0"/>
              <a:t>Statistical Process Control</a:t>
            </a:r>
            <a:endParaRPr lang="en-GB" dirty="0" smtClean="0">
              <a:latin typeface="Arial" charset="0"/>
              <a:cs typeface="Arial" charset="0"/>
            </a:endParaRPr>
          </a:p>
        </p:txBody>
      </p:sp>
      <p:sp>
        <p:nvSpPr>
          <p:cNvPr id="10243" name="Tijdelijke aanduiding voor inhoud 2"/>
          <p:cNvSpPr>
            <a:spLocks noGrp="1"/>
          </p:cNvSpPr>
          <p:nvPr>
            <p:ph idx="1"/>
          </p:nvPr>
        </p:nvSpPr>
        <p:spPr/>
        <p:txBody>
          <a:bodyPr/>
          <a:lstStyle/>
          <a:p>
            <a:r>
              <a:rPr lang="en-GB" dirty="0" smtClean="0">
                <a:latin typeface="Arial" charset="0"/>
                <a:cs typeface="Arial" charset="0"/>
              </a:rPr>
              <a:t>Special cause variation</a:t>
            </a:r>
          </a:p>
          <a:p>
            <a:pPr lvl="1"/>
            <a:endParaRPr lang="en-GB" sz="1800" dirty="0" smtClean="0">
              <a:latin typeface="Arial" charset="0"/>
              <a:cs typeface="Arial" charset="0"/>
            </a:endParaRPr>
          </a:p>
          <a:p>
            <a:pPr lvl="1">
              <a:buClrTx/>
            </a:pPr>
            <a:r>
              <a:rPr lang="en-GB" dirty="0" smtClean="0">
                <a:latin typeface="Arial" charset="0"/>
                <a:cs typeface="Arial" charset="0"/>
              </a:rPr>
              <a:t>This is variation that cannot be explained by common causes alone</a:t>
            </a:r>
          </a:p>
          <a:p>
            <a:pPr lvl="1">
              <a:buClrTx/>
            </a:pPr>
            <a:endParaRPr lang="en-GB" dirty="0" smtClean="0">
              <a:latin typeface="Arial" charset="0"/>
              <a:cs typeface="Arial" charset="0"/>
            </a:endParaRPr>
          </a:p>
          <a:p>
            <a:pPr lvl="1">
              <a:buClrTx/>
            </a:pPr>
            <a:r>
              <a:rPr lang="en-GB" dirty="0" smtClean="0">
                <a:latin typeface="Arial" charset="0"/>
                <a:cs typeface="Arial" charset="0"/>
              </a:rPr>
              <a:t>It is often very large as compared to common cause variation</a:t>
            </a:r>
          </a:p>
          <a:p>
            <a:pPr lvl="1">
              <a:buClrTx/>
            </a:pPr>
            <a:endParaRPr lang="en-GB" dirty="0" smtClean="0">
              <a:latin typeface="Arial" charset="0"/>
              <a:cs typeface="Arial" charset="0"/>
            </a:endParaRPr>
          </a:p>
          <a:p>
            <a:pPr lvl="1">
              <a:buClrTx/>
            </a:pPr>
            <a:r>
              <a:rPr lang="en-GB" dirty="0" smtClean="0">
                <a:latin typeface="Arial" charset="0"/>
                <a:cs typeface="Arial" charset="0"/>
              </a:rPr>
              <a:t>It is caused by problems that can be identified and often eliminated</a:t>
            </a:r>
          </a:p>
          <a:p>
            <a:pPr lvl="1">
              <a:buClrTx/>
            </a:pPr>
            <a:endParaRPr lang="en-GB" dirty="0" smtClean="0">
              <a:latin typeface="Arial" charset="0"/>
              <a:cs typeface="Arial" charset="0"/>
            </a:endParaRPr>
          </a:p>
          <a:p>
            <a:pPr lvl="1">
              <a:buClrTx/>
            </a:pPr>
            <a:r>
              <a:rPr lang="en-GB" dirty="0" smtClean="0">
                <a:latin typeface="Arial" charset="0"/>
                <a:cs typeface="Arial" charset="0"/>
              </a:rPr>
              <a:t>SPC helps to detect special cause variation</a:t>
            </a:r>
          </a:p>
        </p:txBody>
      </p:sp>
      <p:sp>
        <p:nvSpPr>
          <p:cNvPr id="10244" name="Rectangle 2"/>
          <p:cNvSpPr>
            <a:spLocks noChangeArrowheads="1"/>
          </p:cNvSpPr>
          <p:nvPr/>
        </p:nvSpPr>
        <p:spPr bwMode="auto">
          <a:xfrm>
            <a:off x="1255515" y="4868864"/>
            <a:ext cx="8020645" cy="1309687"/>
          </a:xfrm>
          <a:prstGeom prst="rect">
            <a:avLst/>
          </a:prstGeom>
          <a:solidFill>
            <a:schemeClr val="bg1">
              <a:lumMod val="85000"/>
            </a:schemeClr>
          </a:solidFill>
          <a:ln w="9525" algn="ctr">
            <a:solidFill>
              <a:schemeClr val="tx1"/>
            </a:solidFill>
            <a:miter lim="800000"/>
            <a:headEnd/>
            <a:tailEnd/>
          </a:ln>
          <a:effectLst>
            <a:outerShdw dist="107763" dir="2700000" algn="ctr" rotWithShape="0">
              <a:schemeClr val="bg2">
                <a:alpha val="50000"/>
              </a:schemeClr>
            </a:outerShdw>
          </a:effectLst>
        </p:spPr>
        <p:txBody>
          <a:bodyPr anchor="ctr"/>
          <a:lstStyle/>
          <a:p>
            <a:pPr lvl="1" algn="ctr"/>
            <a:r>
              <a:rPr lang="en-US" sz="1600" i="1" dirty="0">
                <a:latin typeface="Arial" panose="020B0604020202020204" pitchFamily="34" charset="0"/>
                <a:cs typeface="Arial" panose="020B0604020202020204" pitchFamily="34" charset="0"/>
              </a:rPr>
              <a:t>A process showing </a:t>
            </a:r>
            <a:r>
              <a:rPr lang="en-US" sz="1600" i="1" dirty="0" smtClean="0">
                <a:latin typeface="Arial" panose="020B0604020202020204" pitchFamily="34" charset="0"/>
                <a:cs typeface="Arial" panose="020B0604020202020204" pitchFamily="34" charset="0"/>
              </a:rPr>
              <a:t>special </a:t>
            </a:r>
            <a:r>
              <a:rPr lang="en-US" sz="1600" i="1" dirty="0">
                <a:latin typeface="Arial" panose="020B0604020202020204" pitchFamily="34" charset="0"/>
                <a:cs typeface="Arial" panose="020B0604020202020204" pitchFamily="34" charset="0"/>
              </a:rPr>
              <a:t>c</a:t>
            </a:r>
            <a:r>
              <a:rPr lang="en-US" sz="1600" i="1" dirty="0" smtClean="0">
                <a:latin typeface="Arial" panose="020B0604020202020204" pitchFamily="34" charset="0"/>
                <a:cs typeface="Arial" panose="020B0604020202020204" pitchFamily="34" charset="0"/>
              </a:rPr>
              <a:t>ause </a:t>
            </a:r>
            <a:r>
              <a:rPr lang="en-US" sz="1600" i="1" dirty="0">
                <a:latin typeface="Arial" panose="020B0604020202020204" pitchFamily="34" charset="0"/>
                <a:cs typeface="Arial" panose="020B0604020202020204" pitchFamily="34" charset="0"/>
              </a:rPr>
              <a:t>variation </a:t>
            </a:r>
          </a:p>
          <a:p>
            <a:pPr lvl="1" algn="ctr"/>
            <a:r>
              <a:rPr lang="en-US" sz="1600" i="1" dirty="0">
                <a:latin typeface="Arial" panose="020B0604020202020204" pitchFamily="34" charset="0"/>
                <a:cs typeface="Arial" panose="020B0604020202020204" pitchFamily="34" charset="0"/>
              </a:rPr>
              <a:t>is called </a:t>
            </a:r>
            <a:r>
              <a:rPr lang="en-US" sz="1600" i="1" dirty="0" smtClean="0">
                <a:latin typeface="Arial" panose="020B0604020202020204" pitchFamily="34" charset="0"/>
                <a:cs typeface="Arial" panose="020B0604020202020204" pitchFamily="34" charset="0"/>
              </a:rPr>
              <a:t>‘out-of-control</a:t>
            </a:r>
            <a:r>
              <a:rPr lang="en-US" sz="1600" i="1" dirty="0">
                <a:latin typeface="Arial" panose="020B0604020202020204" pitchFamily="34" charset="0"/>
                <a:cs typeface="Arial" panose="020B0604020202020204" pitchFamily="34" charset="0"/>
              </a:rPr>
              <a:t>’ and </a:t>
            </a:r>
            <a:r>
              <a:rPr lang="en-US" sz="1600" i="1" dirty="0" smtClean="0">
                <a:latin typeface="Arial" panose="020B0604020202020204" pitchFamily="34" charset="0"/>
                <a:cs typeface="Arial" panose="020B0604020202020204" pitchFamily="34" charset="0"/>
              </a:rPr>
              <a:t>‘instable</a:t>
            </a:r>
            <a:r>
              <a:rPr lang="en-US" sz="1600" i="1" dirty="0">
                <a:latin typeface="Arial" panose="020B0604020202020204" pitchFamily="34" charset="0"/>
                <a:cs typeface="Arial" panose="020B0604020202020204" pitchFamily="34" charset="0"/>
              </a:rPr>
              <a:t>’</a:t>
            </a:r>
            <a:endParaRPr lang="nl-NL" sz="1600" i="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p:txBody>
          <a:bodyPr/>
          <a:lstStyle/>
          <a:p>
            <a:r>
              <a:rPr lang="en-GB" dirty="0"/>
              <a:t>Statistical Process Control</a:t>
            </a:r>
            <a:endParaRPr lang="en-GB" dirty="0" smtClean="0">
              <a:latin typeface="Arial" charset="0"/>
              <a:cs typeface="Arial" charset="0"/>
            </a:endParaRPr>
          </a:p>
        </p:txBody>
      </p:sp>
      <p:sp>
        <p:nvSpPr>
          <p:cNvPr id="10243" name="Tijdelijke aanduiding voor inhoud 2"/>
          <p:cNvSpPr>
            <a:spLocks noGrp="1"/>
          </p:cNvSpPr>
          <p:nvPr>
            <p:ph idx="1"/>
          </p:nvPr>
        </p:nvSpPr>
        <p:spPr/>
        <p:txBody>
          <a:bodyPr/>
          <a:lstStyle/>
          <a:p>
            <a:r>
              <a:rPr lang="en-GB" dirty="0" smtClean="0">
                <a:latin typeface="Arial" charset="0"/>
                <a:cs typeface="Arial" charset="0"/>
              </a:rPr>
              <a:t>Special cause variation</a:t>
            </a:r>
          </a:p>
          <a:p>
            <a:endParaRPr lang="en-GB" sz="1800" dirty="0">
              <a:latin typeface="Arial" charset="0"/>
              <a:cs typeface="Arial" charset="0"/>
            </a:endParaRPr>
          </a:p>
          <a:p>
            <a:r>
              <a:rPr lang="en-US" sz="1800" dirty="0">
                <a:latin typeface="Arial" charset="0"/>
                <a:cs typeface="Arial" charset="0"/>
              </a:rPr>
              <a:t>In the example of hot meals in Elderly home </a:t>
            </a:r>
            <a:r>
              <a:rPr lang="en-US" sz="1800" dirty="0" err="1">
                <a:latin typeface="Arial" charset="0"/>
                <a:cs typeface="Arial" charset="0"/>
              </a:rPr>
              <a:t>centre</a:t>
            </a:r>
            <a:r>
              <a:rPr lang="en-US" sz="1800" dirty="0">
                <a:latin typeface="Arial" charset="0"/>
                <a:cs typeface="Arial" charset="0"/>
              </a:rPr>
              <a:t>: </a:t>
            </a:r>
          </a:p>
          <a:p>
            <a:endParaRPr lang="en-GB" sz="1600" dirty="0" smtClean="0">
              <a:latin typeface="Arial" charset="0"/>
              <a:cs typeface="Arial" charset="0"/>
            </a:endParaRPr>
          </a:p>
          <a:p>
            <a:pPr lvl="1">
              <a:buClrTx/>
            </a:pPr>
            <a:r>
              <a:rPr lang="en-GB" dirty="0" smtClean="0">
                <a:latin typeface="Arial" charset="0"/>
                <a:cs typeface="Arial" charset="0"/>
              </a:rPr>
              <a:t>The stove is not working properly any more</a:t>
            </a:r>
          </a:p>
          <a:p>
            <a:pPr lvl="1">
              <a:buClrTx/>
            </a:pPr>
            <a:endParaRPr lang="en-GB" dirty="0">
              <a:latin typeface="Arial" charset="0"/>
              <a:cs typeface="Arial" charset="0"/>
            </a:endParaRPr>
          </a:p>
          <a:p>
            <a:pPr lvl="1">
              <a:buClrTx/>
            </a:pPr>
            <a:r>
              <a:rPr lang="en-GB" dirty="0" smtClean="0">
                <a:latin typeface="Arial" charset="0"/>
                <a:cs typeface="Arial" charset="0"/>
              </a:rPr>
              <a:t>The Elderly home centre has opened a new department which is closer to the kitchen</a:t>
            </a:r>
          </a:p>
          <a:p>
            <a:pPr lvl="1"/>
            <a:endParaRPr lang="en-GB" dirty="0">
              <a:latin typeface="Arial" charset="0"/>
              <a:cs typeface="Arial" charset="0"/>
            </a:endParaRPr>
          </a:p>
          <a:p>
            <a:pPr lvl="1"/>
            <a:endParaRPr lang="en-GB" dirty="0" smtClean="0">
              <a:latin typeface="Arial" charset="0"/>
              <a:cs typeface="Arial" charset="0"/>
            </a:endParaRPr>
          </a:p>
          <a:p>
            <a:pPr lvl="1"/>
            <a:endParaRPr lang="en-GB" dirty="0">
              <a:latin typeface="Arial" charset="0"/>
              <a:cs typeface="Arial" charset="0"/>
            </a:endParaRPr>
          </a:p>
          <a:p>
            <a:pPr marL="180975" lvl="1" indent="0">
              <a:buNone/>
            </a:pPr>
            <a:endParaRPr lang="en-GB" dirty="0" smtClean="0">
              <a:latin typeface="Arial" charset="0"/>
              <a:cs typeface="Arial" charset="0"/>
            </a:endParaRPr>
          </a:p>
        </p:txBody>
      </p:sp>
      <p:sp>
        <p:nvSpPr>
          <p:cNvPr id="2" name="AutoShape 2" descr="data:image/jpeg;base64,/9j/4AAQSkZJRgABAQAAAQABAAD/2wCEAAkGBxQSEhUUEhQUFRQXFBQVFxQVFxQUGBQUFBUWFhQYFRQYHCggGBolHBQUITEhJSkrLi4uFx8zODMsNygtLisBCgoKDg0OFA8QFywcFBwsLCwsLCwsLCwsLCssLCwsLCwrNywsLCw3LCwsLCwsLCssLCw3KzcsLCsrLCsrKysrK//AABEIAJIA3AMBIgACEQEDEQH/xAAcAAABBQEBAQAAAAAAAAAAAAADAQIEBQYABwj/xAA7EAABAwIEBAMGBAUDBQAAAAABAAIRAyEEBRIxQVFhcQYigRNSkaGxwTJC0fAUI2Jy4QcV8TNTkqLC/8QAGAEBAQEBAQAAAAAAAAAAAAAAAQACBAP/xAAiEQEBAAICAgIDAQEAAAAAAAAAAQIREiEDMUFREyJhMgT/2gAMAwEAAhEDEQA/AIWIJaJCy1WjpcRwmR2K2ZpyFmsypQe30KggaE7QnwuhSC0EbFOFaoNnO+KVcontzKqPzH1AKI3O6g3DT6QoxTXNRqLaezxDzp/A/qEdmfs4hw+apTTCaaHJXE7aNmc0j+aO8ozMYw7PafULIvw/7KE6ieSOKlbfWDxCQlYbU4bEjtKIzMag2efVHGnbZOTIWXZnVUbwf33Uml4h95nwP6rOqZpflCeq5ue0jvqHcfojNzGm7Z49bIJmIUJymVb7EH1UV7SmKhlOATZT2rQPaErlwC4pAbghuCMmkJZqK9qFpUpzUzSthv2oGMwQqDqjsRGoTGVaekkHgYUbE19AmJ7K9z/DwQ/gbH7KlrskEIRlKpqbqGxTg5DyiW2cLAyORHFaOtQpubqIBuQDsLi2yNs5ZaUBTZRcRT0khBCWnImFdDx8PiI+6EUkpS5zZktDoIsDx5jae6pipLqzvZjzgySC3iONx1URVqjiUx1MHcJy5BCdhgdpvsBzQn4Lr6EQp+GN+ul8d/ZuVlpEN8z4c1pDXAPBGvQZdNiYeRHu+gdDbMuwbkB9EjcK5e257pCjUa2o5I2MdrJ7cY8bOP1Vo+mDuAgvwbTwhGltFbmj+MFFZnHNqY/L+RUepgnDqrS2tKWbMO9lIbjWHis2+kRuEMhGltrmvB4hKSsk2s4bFSaeZvCRV+8JNKq6ec+8FIGc01raejsRAmMT0BGzDD62EdLd1kXCN+y26z+bZS+S+mAZ3HGeiKlSHxabck4PII3B3tf5KtqMvD9QgxB3PxSNrOaYmbRfglWLHFEu8xMnmoxKDTrjY2unuI5z1UjpUvFYcBjXtmDveQFCbuJ2kK6w2UNdfWdPAc+6kpC5IHSrnF+GtYmm46vdPHos61rqdTRUBbBgzaFTtJbQDxSPEGOXK49CpOODCNTNMOFgDOmDv/jqVCbZHe/49P14bl/YZjyDPJS21CGtJa8M1S2C7QXC5gEG6ggqQ3EO0Bmo6AS7Tw1HjCYzoxxkk87pCiNakcxIBJTSU5yGVJxKaSlKaSpOQ30WncJ6VSRKmBbwQH5ceBWhyvBMqA6nXmIkCAeJngotbDOBMAlswDBv2TobZ+phXDgg+zPJabE4J7AC4QPS3dRIRpbemtT0wJZQnOSMrFu4kc+S4oOKrBrSTsgiYrL6VdvmAPUbhY7NskdTLvZyW7ybH4qXSzdzHEj8Mq6wuaU6oh0fvosphSZOmA2IM3k8091O9jZa/MMnZUBIuYt0WdxGUupwGye/6p5LQmXZXVrk+zaSBueA7lWbsS7DMGthcPeaQQPVO8P5g5lCpSFi78XUSCupUGV9TXvgN4czwTO1r5WGXYttRgLTbruO6H4nwLcRR1gfzqY3FtbeR6ws5/uwo1ABEAwe3FXwzAcP2Ci9GdsZhA5xDW8dv36FFq03NMPaWnkfqOiSu7RWcQAYcbHaDv8AUp1fENcGwzTAIiS4XM2m8LfwCtRKZUKviQxpJ4KHRzuD5m25g/ZBaWknVAFFpV2vaC0gg/VSsLhy8GDtz487/BIQ6iFpR6gQdcKBjgmSleUwqR0pE2UsqS8y7OadPDupOpBzjMOtx5pMHmHtIYfLYDVO2naGmwKgZVhRVqNYXhgP5jsEma4MUqhYHB8fmC18DUTc8qOgNsAfMRxnqqVK53NNVVI9NC5NaUpWCWUHE0Q9sFElIUFlcfl5pm1womHfpcCthVYHWKyuPw+h5EdlJaUcaWqbTxTKkgkSNws5XqvDQGtJcbWuiYDwxiXu1z7I8yb/APiPusZaaxlvpcYjCtY2W7TfrNlj8bSrCs4MY92oyNIJmey9JwWSHQG1HajxIGmfS6uMLgGUxAEdgsfkk9PfHwW++nlGE8I4qqdT2imOOs3jfYK6oZdpOn8ZFiYMC2wA3K3eZuApmNzA23HH7rMUq2lttzcnrM8P3dawty7rHmxmF4xXvydj92t7gFpPqCqjM8jfSu0FzdtpN+g3HVainiveDhFr7c7fFDxOMLrbDkvV4sdjMpOiKh0l3AXIi9/0VKKH8PVY9zdbA7aPkRzWzzISJ3ieljZQ81wlNzdFNxdTNNrr7sqAAHUYuZafinWxtQf7jT9uPYt0MdALT717jlwVux9+apKGUFrgXOYQDMNMkqzEk2meiIaPVJ4gjva3Pso7nJ+JruIAd+UWsRIgc+gCBKQUlcjV8PpY14e12oXDTJYeThwUcqR4KUBNa0nYE9gUjpG4I7qQoYkc1MZiUU1AUoApqe9DJUnpbCnShtKdKwSyulImkqRULH5drEsufunlpNhurbAYOBfdeeeWnr4/HcqBlGUtpid3cTy7cldU6EdE+nTjdIG678NgPuua213YyT0aXe7tz/RS8PT+CZTpKTQqaBB9DyWsPfZy9dBZ5g/5Dnci0x0m6w5pQ1wZ+IHd1xMf8rbY+tqY7UbQQTwG6x+FzJr2k04c0y0lt/MwkB3yhdGNji82N3uqquwtib2UDEYgBSsbrkgQdoBMG/CD+7qJluFfVqEPp2bvcfi5TPdejnQK2JJB8pIAMkbCL3Kr6OM9s7QwCTxNtl6FjsKfYFgDWgFthEfLpKypyOmTqaC0/wBJRctGTaka0zpjzDgj0KOs6Zh3I223vwUjFZW9p1DzReRvI4kKLi6znkF0SBEi0349UxH4nFP0+zcG+UgAxcaTz4qKCkdJMm5K4FKaTGZZS/h9NM6qrKjA50QHe2Ew08QBBnoVYZbkVOm0F3ndxJ2HZZrLcQdVybCw67fRanC4oRcwFjLL4MnS2oMA2A+ClV2UgwmoxrgOEXM7AKno5tRmPaD5lWjAK2jS4FocHOHEx+H5okSJmvgzD1RqpTSdE6TEE/vssBmuV1MO/TUEciNivWK1RVWaMZWaWvE9VuUPMdSaj5hgzSeWnbgeajSlPSWlECAxyICsoSVzWzsmSpmGYsZ5aj08fjuV/iThKAHfmrOk1RKKM5xIiY+wXLba7pJJ0fi8TA0jc79uKk4J8tCqGtvdGZW0pMq+eIFlX4nEAblQMRmkC/3WNz/xE5xLKZjgXcuyTLofxn4hJaaVMxNnEcuSx2S484Z53LD+Ju4RXS57WNGo8d9z1VlmfhtzGzxiYHzW5dPPyY8lvhsUysJBDhxBiR6KdQe1hhv4eWy87pUXtdbUI4iQrqhi65EB7vlPxhen5Y5r/wA+Xwv/ABBmeii4j4TzIb/9fJU2W49pEB09Nj/lUviGsQA0klxu6TeOEqpw+Icwgi8c1r/UYv63T0PDnUJKTEYFj9xfmLH4rO5d4hizrfvgVo8HjW1B5SJ93Y/5WdWDqqjFZK4fh8w6Wd8Nj6Ksq4Ujn1HEdwtq0IdfCtf+Js9dj6HdbmX2zYw9E6ancQpGIxTneQbfVWGdZSWtL2+YDhYOHbmqnCug33lP9TQ+HMmdWMwTAkwp+LAoE6HGR6Qe/FXHhLP2Yai6A0ucyLjms5m9UOGqbu8x6TsE49s1ZYHPPaiHHzD5rq2KWLwlciqO/wAlcuxaKYH4iGpoPELPq1zGtLYVWUxN+xyO0qGxyl0hKxllprDC5Uek1TaTkCi2yI1c2V27MMeM0m0Xojq0T1P0UMOTSC61x1Cy3s+tVkmOc/FI4mLLmYUtjzSpPsgbzH0WoyzuY0HOm/y+6x7x5yOMr0DGx5ugiTz6Lz8ViapDBL3vhvG02+S1IOXH20PhvCtZL3fiLrDdbChh9ZBcBA2Co8sy0UA0OOp5uSfoFa1seGtmdLevFa01vrs1uEpl7pa0+Y7gKH4mxVPDUXua1tgOAu4mAFRHxSxtR25G8xYniqTxNjKmIDSL0hcgb6uZCccds+TySY9M5WquqOL3XLjJSaUrESF7Rw+wCEbD4tzNj6H7HgmlqaWqTU5Z4n2D7jkbH0d+q02DxDKv/TdJ902d/n0Xlpaj4bGvpmxkDhy7HdFi29GzBhiNu4WPxODLK39JuD9QpdLxQ57Q1x1Rtq3HQO49ikrYoVCOEC/dY7lbdiq5awkf8BV/+5EjnH7upmd0RTbS1h01AXQDHkmAtD4SynD4l49jh3gWBfVfrOrkxoAaO8L0jFUmFySrp9s4QHXaLbc0Go0hekVf9KatMudh6jpNzSq6XNPHyuAsszm+SVKB04ik6keDjdjuzxZOhtlat0AhWmKwZHD4KvLUlr8K0kqzpBQaBCmUnLky7duMkmk+kLIzWoFJykNKzps4NR2BCBRQ4BWhsVobxQK4pjj6XSVcZAVDnOahrTfh6BakG1b4qznQwhtiQQI4dYWJyvMDRrMqG+k/UEH6pczxRqPLneiryvfGajl8me8ttrmnjUO0+zBMcxG+/qqTHeIKlU3s33efcqpaEsK4q+XK9LKm8O2gHkdvirWjiiQ0Wa5ojYCR14FZkFTcNjos+458Qqz6EyWeNyhtS7YY/wD9XH7KkxFB9N2l7SD9ex4rSYTGi15b8/VTXtbUbpcA9vLiOrTuEcvtXH6YqVxVtmWROZLqRLm8R+YDqOPdU2rmt7YKQmOCfKQlKCIUvDY4stuPuozk1Gk1eU4nDVqjP4gOqQNIpve5lh7jx9F694Tdhg5v8M5rHDajUAaeXlds74r5ycrfKfEVWjAJ1s913D+124TOle311hpgF+6TG0mPYRUa1zYuHCR8F4v4S/1NIhuvULfyqxgj+yp+q9Ew/iqjimaGO9nV/wC3U8pP9rjYpgYrxD4Sw5JOHJoOv5bupnu07eiw2M8O12uI9kH/ANTHtDT6OuF6PnFRzSQ4EGdipuWeHKdam15q6Sdx1VbIsXnVFSmLly5Hcm0VKakXIaHYkcVy5aZQscfKVifEpszq6/VcuWp7Zz9M7V2UYbrly9nIInFcuUCJBuFy5Ridlh86v8GfMuXLzybnpaVFlvFFMCrYAS0EwNyuXLWLNUgXJFy2yV/BNcuXKQRSLlykRq3fhyq52HJcSYFpJMdpXLlJ6FlNQvwUvJcQBBcdUdpU3JHn2W53PFIuTkI//9k="/>
          <p:cNvSpPr>
            <a:spLocks noChangeAspect="1" noChangeArrowheads="1"/>
          </p:cNvSpPr>
          <p:nvPr/>
        </p:nvSpPr>
        <p:spPr bwMode="auto">
          <a:xfrm>
            <a:off x="-35719" y="-136525"/>
            <a:ext cx="3429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p>
        </p:txBody>
      </p:sp>
      <p:pic>
        <p:nvPicPr>
          <p:cNvPr id="5" name="Afbeelding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01662" y="4480471"/>
            <a:ext cx="3446223" cy="2031107"/>
          </a:xfrm>
          <a:prstGeom prst="rect">
            <a:avLst/>
          </a:prstGeom>
        </p:spPr>
      </p:pic>
    </p:spTree>
    <p:extLst>
      <p:ext uri="{BB962C8B-B14F-4D97-AF65-F5344CB8AC3E}">
        <p14:creationId xmlns:p14="http://schemas.microsoft.com/office/powerpoint/2010/main" val="40530138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GB" dirty="0"/>
              <a:t>Statistical Process Control</a:t>
            </a:r>
            <a:endParaRPr lang="en-GB" sz="2400" dirty="0" smtClean="0">
              <a:latin typeface="Arial" charset="0"/>
              <a:cs typeface="Arial" charset="0"/>
            </a:endParaRPr>
          </a:p>
        </p:txBody>
      </p:sp>
      <p:sp>
        <p:nvSpPr>
          <p:cNvPr id="16387" name="Tijdelijke aanduiding voor inhoud 4"/>
          <p:cNvSpPr>
            <a:spLocks noGrp="1"/>
          </p:cNvSpPr>
          <p:nvPr>
            <p:ph idx="1"/>
          </p:nvPr>
        </p:nvSpPr>
        <p:spPr>
          <a:xfrm>
            <a:off x="809031" y="1438276"/>
            <a:ext cx="9276159" cy="5038725"/>
          </a:xfrm>
        </p:spPr>
        <p:txBody>
          <a:bodyPr/>
          <a:lstStyle/>
          <a:p>
            <a:pPr marL="0" indent="0" eaLnBrk="1" hangingPunct="1"/>
            <a:r>
              <a:rPr lang="en-GB" dirty="0" smtClean="0">
                <a:latin typeface="Arial" charset="0"/>
                <a:cs typeface="Arial" charset="0"/>
              </a:rPr>
              <a:t>Charts</a:t>
            </a:r>
          </a:p>
          <a:p>
            <a:pPr marL="0" indent="0" eaLnBrk="1" hangingPunct="1"/>
            <a:endParaRPr lang="en-GB" sz="1800" dirty="0" smtClean="0">
              <a:latin typeface="Arial" charset="0"/>
              <a:cs typeface="Arial" charset="0"/>
            </a:endParaRPr>
          </a:p>
          <a:p>
            <a:pPr lvl="1" eaLnBrk="1" hangingPunct="1">
              <a:buClrTx/>
            </a:pPr>
            <a:r>
              <a:rPr lang="en-GB" dirty="0" smtClean="0">
                <a:latin typeface="Arial" charset="0"/>
                <a:cs typeface="Arial" charset="0"/>
              </a:rPr>
              <a:t>Example Xbar-R chart:</a:t>
            </a: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7086" y="2636912"/>
            <a:ext cx="6642738" cy="3936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LSSH">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C4172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480</TotalTime>
  <Words>996</Words>
  <Application>Microsoft Office PowerPoint</Application>
  <PresentationFormat>35mm Slides</PresentationFormat>
  <Paragraphs>87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Arial Black</vt:lpstr>
      <vt:lpstr>LSSH</vt:lpstr>
      <vt:lpstr>SPC – Statistical Process Control  </vt:lpstr>
      <vt:lpstr>Statistical Process Control</vt:lpstr>
      <vt:lpstr>Statistical Process Control</vt:lpstr>
      <vt:lpstr>Statistical Process Control</vt:lpstr>
      <vt:lpstr>Statistical Process Control</vt:lpstr>
      <vt:lpstr>Statistical Process Control</vt:lpstr>
      <vt:lpstr>Statistical Process Control</vt:lpstr>
      <vt:lpstr>Statistical Process Control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53.YB.UH.U7.E1 Statistical Process Control</dc:title>
  <dc:subject/>
  <dc:creator>Paulien</dc:creator>
  <cp:lastModifiedBy>Olivia.McDermott</cp:lastModifiedBy>
  <cp:revision>20</cp:revision>
  <dcterms:created xsi:type="dcterms:W3CDTF">2014-02-17T10:18:21Z</dcterms:created>
  <dcterms:modified xsi:type="dcterms:W3CDTF">2014-05-13T10:04:57Z</dcterms:modified>
</cp:coreProperties>
</file>