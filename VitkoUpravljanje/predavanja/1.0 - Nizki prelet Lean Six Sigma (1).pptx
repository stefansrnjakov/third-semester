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4"/>
  </p:notesMasterIdLst>
  <p:sldIdLst>
    <p:sldId id="256" r:id="rId2"/>
    <p:sldId id="282" r:id="rId3"/>
    <p:sldId id="277" r:id="rId4"/>
    <p:sldId id="285" r:id="rId5"/>
    <p:sldId id="286" r:id="rId6"/>
    <p:sldId id="280" r:id="rId7"/>
    <p:sldId id="281" r:id="rId8"/>
    <p:sldId id="278" r:id="rId9"/>
    <p:sldId id="287" r:id="rId10"/>
    <p:sldId id="283" r:id="rId11"/>
    <p:sldId id="284" r:id="rId12"/>
    <p:sldId id="289" r:id="rId13"/>
  </p:sldIdLst>
  <p:sldSz cx="9144000" cy="6858000" type="screen4x3"/>
  <p:notesSz cx="6858000" cy="9144000"/>
  <p:defaultTextStyle>
    <a:defPPr>
      <a:defRPr lang="nl-N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00"/>
    <a:srgbClr val="3366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Stijl, thema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Stijl, thema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5AB1C69-6EDB-4FF4-983F-18BD219EF322}" styleName="Stijl, gemiddeld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Stijl, gemiddeld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46" autoAdjust="0"/>
    <p:restoredTop sz="81429" autoAdjust="0"/>
  </p:normalViewPr>
  <p:slideViewPr>
    <p:cSldViewPr>
      <p:cViewPr varScale="1">
        <p:scale>
          <a:sx n="72" d="100"/>
          <a:sy n="72" d="100"/>
        </p:scale>
        <p:origin x="2045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1DFCE8-D01E-4FCC-AAC2-8E59C80D9824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NL"/>
        </a:p>
      </dgm:t>
    </dgm:pt>
    <dgm:pt modelId="{BDF9F3D2-BA43-4C45-87D7-1099C7928F67}">
      <dgm:prSet phldrT="[Tekst]" custT="1"/>
      <dgm:spPr/>
      <dgm:t>
        <a:bodyPr/>
        <a:lstStyle/>
        <a:p>
          <a:r>
            <a:rPr lang="nl-NL" sz="1400" b="1" dirty="0" smtClean="0"/>
            <a:t>2.</a:t>
          </a:r>
        </a:p>
        <a:p>
          <a:r>
            <a:rPr lang="nl-NL" sz="1400" b="1" dirty="0" smtClean="0"/>
            <a:t>Map the </a:t>
          </a:r>
          <a:r>
            <a:rPr lang="nl-NL" sz="1400" b="1" dirty="0" err="1" smtClean="0"/>
            <a:t>Value</a:t>
          </a:r>
          <a:r>
            <a:rPr lang="nl-NL" sz="1400" b="1" dirty="0" smtClean="0"/>
            <a:t> </a:t>
          </a:r>
          <a:r>
            <a:rPr lang="nl-NL" sz="1400" b="1" dirty="0" err="1" smtClean="0"/>
            <a:t>Stream</a:t>
          </a:r>
          <a:endParaRPr lang="nl-NL" sz="1400" b="1" dirty="0"/>
        </a:p>
      </dgm:t>
    </dgm:pt>
    <dgm:pt modelId="{24C4CC19-9CBD-437D-A75F-3D2D1EABD68C}" type="parTrans" cxnId="{7D94F4EB-1D90-497B-8ABC-6031133F92A7}">
      <dgm:prSet/>
      <dgm:spPr/>
      <dgm:t>
        <a:bodyPr/>
        <a:lstStyle/>
        <a:p>
          <a:endParaRPr lang="nl-NL"/>
        </a:p>
      </dgm:t>
    </dgm:pt>
    <dgm:pt modelId="{7D6A7EC0-6E76-4AB2-BD23-893A98A7AA02}" type="sibTrans" cxnId="{7D94F4EB-1D90-497B-8ABC-6031133F92A7}">
      <dgm:prSet/>
      <dgm:spPr/>
      <dgm:t>
        <a:bodyPr/>
        <a:lstStyle/>
        <a:p>
          <a:endParaRPr lang="nl-NL"/>
        </a:p>
      </dgm:t>
    </dgm:pt>
    <dgm:pt modelId="{9826071A-A862-4E91-B757-B8061A0D737E}">
      <dgm:prSet phldrT="[Tekst]" custT="1"/>
      <dgm:spPr/>
      <dgm:t>
        <a:bodyPr/>
        <a:lstStyle/>
        <a:p>
          <a:r>
            <a:rPr lang="nl-NL" sz="1400" b="1" dirty="0" smtClean="0"/>
            <a:t>3.</a:t>
          </a:r>
        </a:p>
        <a:p>
          <a:r>
            <a:rPr lang="nl-NL" sz="1400" b="1" dirty="0" err="1" smtClean="0"/>
            <a:t>Create</a:t>
          </a:r>
          <a:r>
            <a:rPr lang="nl-NL" sz="1400" b="1" dirty="0" smtClean="0"/>
            <a:t> </a:t>
          </a:r>
          <a:r>
            <a:rPr lang="nl-NL" sz="1400" b="1" dirty="0" err="1" smtClean="0"/>
            <a:t>FLow</a:t>
          </a:r>
          <a:endParaRPr lang="nl-NL" sz="1400" b="1" dirty="0"/>
        </a:p>
      </dgm:t>
    </dgm:pt>
    <dgm:pt modelId="{9AD1F9E2-9767-4E67-805B-AF435E0EAC83}" type="parTrans" cxnId="{6AEF4338-6E57-4DC9-AB45-720EB716D695}">
      <dgm:prSet/>
      <dgm:spPr/>
      <dgm:t>
        <a:bodyPr/>
        <a:lstStyle/>
        <a:p>
          <a:endParaRPr lang="nl-NL"/>
        </a:p>
      </dgm:t>
    </dgm:pt>
    <dgm:pt modelId="{805E939A-4507-4290-AA57-AF61FB966F03}" type="sibTrans" cxnId="{6AEF4338-6E57-4DC9-AB45-720EB716D695}">
      <dgm:prSet/>
      <dgm:spPr/>
      <dgm:t>
        <a:bodyPr/>
        <a:lstStyle/>
        <a:p>
          <a:endParaRPr lang="nl-NL"/>
        </a:p>
      </dgm:t>
    </dgm:pt>
    <dgm:pt modelId="{F44CC299-DCB8-465F-9B62-FFC0A74ECBBF}">
      <dgm:prSet phldrT="[Tekst]" custT="1"/>
      <dgm:spPr/>
      <dgm:t>
        <a:bodyPr/>
        <a:lstStyle/>
        <a:p>
          <a:r>
            <a:rPr lang="nl-NL" sz="1400" b="1" dirty="0" smtClean="0"/>
            <a:t>4.</a:t>
          </a:r>
        </a:p>
        <a:p>
          <a:r>
            <a:rPr lang="nl-NL" sz="1400" b="1" dirty="0" err="1" smtClean="0"/>
            <a:t>Establish</a:t>
          </a:r>
          <a:r>
            <a:rPr lang="nl-NL" sz="1400" b="1" dirty="0" smtClean="0"/>
            <a:t> Pull</a:t>
          </a:r>
          <a:endParaRPr lang="nl-NL" sz="1400" b="1" dirty="0"/>
        </a:p>
      </dgm:t>
    </dgm:pt>
    <dgm:pt modelId="{F5BA9E8F-DE77-4461-B060-FE43B711B24E}" type="parTrans" cxnId="{CBC6F179-CFFA-456E-83C7-D778B742743D}">
      <dgm:prSet/>
      <dgm:spPr/>
      <dgm:t>
        <a:bodyPr/>
        <a:lstStyle/>
        <a:p>
          <a:endParaRPr lang="nl-NL"/>
        </a:p>
      </dgm:t>
    </dgm:pt>
    <dgm:pt modelId="{A8A0C2FE-669C-40D4-9BB1-892962724726}" type="sibTrans" cxnId="{CBC6F179-CFFA-456E-83C7-D778B742743D}">
      <dgm:prSet/>
      <dgm:spPr/>
      <dgm:t>
        <a:bodyPr/>
        <a:lstStyle/>
        <a:p>
          <a:endParaRPr lang="nl-NL"/>
        </a:p>
      </dgm:t>
    </dgm:pt>
    <dgm:pt modelId="{F36932F8-2A4D-42A1-8874-8646B41B5A97}">
      <dgm:prSet phldrT="[Tekst]" custT="1"/>
      <dgm:spPr/>
      <dgm:t>
        <a:bodyPr/>
        <a:lstStyle/>
        <a:p>
          <a:r>
            <a:rPr lang="nl-NL" sz="1400" b="1" dirty="0" smtClean="0"/>
            <a:t>5.</a:t>
          </a:r>
        </a:p>
        <a:p>
          <a:r>
            <a:rPr lang="nl-NL" sz="1400" b="1" dirty="0" err="1" smtClean="0"/>
            <a:t>Seek</a:t>
          </a:r>
          <a:r>
            <a:rPr lang="nl-NL" sz="1400" b="1" dirty="0" smtClean="0"/>
            <a:t> </a:t>
          </a:r>
          <a:r>
            <a:rPr lang="nl-NL" sz="1400" b="1" dirty="0" err="1" smtClean="0"/>
            <a:t>Perfection</a:t>
          </a:r>
          <a:endParaRPr lang="nl-NL" sz="1400" b="1" dirty="0"/>
        </a:p>
      </dgm:t>
    </dgm:pt>
    <dgm:pt modelId="{49BAAC3D-AF21-4103-87DC-CE9C8749199B}" type="parTrans" cxnId="{0F747B76-6C19-4A38-9DD1-7ABE7F6D7EC7}">
      <dgm:prSet/>
      <dgm:spPr/>
      <dgm:t>
        <a:bodyPr/>
        <a:lstStyle/>
        <a:p>
          <a:endParaRPr lang="nl-NL"/>
        </a:p>
      </dgm:t>
    </dgm:pt>
    <dgm:pt modelId="{1F9EE8E3-A292-4859-BE0B-D93833B7D93A}" type="sibTrans" cxnId="{0F747B76-6C19-4A38-9DD1-7ABE7F6D7EC7}">
      <dgm:prSet/>
      <dgm:spPr/>
      <dgm:t>
        <a:bodyPr/>
        <a:lstStyle/>
        <a:p>
          <a:endParaRPr lang="nl-NL"/>
        </a:p>
      </dgm:t>
    </dgm:pt>
    <dgm:pt modelId="{0D2B50EF-1022-4655-B27A-FB82388D2C19}">
      <dgm:prSet phldrT="[Tekst]" custT="1"/>
      <dgm:spPr/>
      <dgm:t>
        <a:bodyPr/>
        <a:lstStyle/>
        <a:p>
          <a:r>
            <a:rPr lang="nl-NL" sz="1400" b="1" dirty="0" smtClean="0"/>
            <a:t>1.</a:t>
          </a:r>
        </a:p>
        <a:p>
          <a:r>
            <a:rPr lang="nl-NL" sz="1400" b="1" dirty="0" err="1" smtClean="0"/>
            <a:t>Identify</a:t>
          </a:r>
          <a:r>
            <a:rPr lang="nl-NL" sz="1400" b="1" dirty="0" smtClean="0"/>
            <a:t> </a:t>
          </a:r>
          <a:r>
            <a:rPr lang="nl-NL" sz="1400" b="1" dirty="0" err="1" smtClean="0"/>
            <a:t>Value</a:t>
          </a:r>
          <a:endParaRPr lang="nl-NL" sz="1400" b="1" dirty="0"/>
        </a:p>
      </dgm:t>
    </dgm:pt>
    <dgm:pt modelId="{1BB24E56-3A8D-4D5B-86ED-71C106AAFDEE}" type="parTrans" cxnId="{5E26BB4F-03FE-4DF8-A40B-CDF7C2E11E73}">
      <dgm:prSet/>
      <dgm:spPr/>
      <dgm:t>
        <a:bodyPr/>
        <a:lstStyle/>
        <a:p>
          <a:endParaRPr lang="nl-NL"/>
        </a:p>
      </dgm:t>
    </dgm:pt>
    <dgm:pt modelId="{C9A88330-3CCD-4DAC-934E-E9DCF7E9237F}" type="sibTrans" cxnId="{5E26BB4F-03FE-4DF8-A40B-CDF7C2E11E73}">
      <dgm:prSet/>
      <dgm:spPr/>
      <dgm:t>
        <a:bodyPr/>
        <a:lstStyle/>
        <a:p>
          <a:endParaRPr lang="nl-NL"/>
        </a:p>
      </dgm:t>
    </dgm:pt>
    <dgm:pt modelId="{A5085213-04F9-4726-BABB-014943BF3661}" type="pres">
      <dgm:prSet presAssocID="{F81DFCE8-D01E-4FCC-AAC2-8E59C80D9824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nl-NL"/>
        </a:p>
      </dgm:t>
    </dgm:pt>
    <dgm:pt modelId="{547BB33E-AF13-478E-85EA-2DF2D69EC41D}" type="pres">
      <dgm:prSet presAssocID="{BDF9F3D2-BA43-4C45-87D7-1099C7928F67}" presName="dummy" presStyleCnt="0"/>
      <dgm:spPr/>
    </dgm:pt>
    <dgm:pt modelId="{98F2A347-622C-46F9-8F32-5CED63D8CF07}" type="pres">
      <dgm:prSet presAssocID="{BDF9F3D2-BA43-4C45-87D7-1099C7928F67}" presName="node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F1BA3722-3192-4F67-8AF5-D3A4D94F38BC}" type="pres">
      <dgm:prSet presAssocID="{7D6A7EC0-6E76-4AB2-BD23-893A98A7AA02}" presName="sibTrans" presStyleLbl="node1" presStyleIdx="0" presStyleCnt="5"/>
      <dgm:spPr/>
      <dgm:t>
        <a:bodyPr/>
        <a:lstStyle/>
        <a:p>
          <a:endParaRPr lang="nl-NL"/>
        </a:p>
      </dgm:t>
    </dgm:pt>
    <dgm:pt modelId="{7E0914F9-EE4A-41D9-998A-DA6989C46CBF}" type="pres">
      <dgm:prSet presAssocID="{9826071A-A862-4E91-B757-B8061A0D737E}" presName="dummy" presStyleCnt="0"/>
      <dgm:spPr/>
    </dgm:pt>
    <dgm:pt modelId="{8FB0B3CE-489A-4628-B306-E06CD767CF85}" type="pres">
      <dgm:prSet presAssocID="{9826071A-A862-4E91-B757-B8061A0D737E}" presName="node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3684F8C8-66D8-4B9C-BBDF-4750FA30D290}" type="pres">
      <dgm:prSet presAssocID="{805E939A-4507-4290-AA57-AF61FB966F03}" presName="sibTrans" presStyleLbl="node1" presStyleIdx="1" presStyleCnt="5"/>
      <dgm:spPr/>
      <dgm:t>
        <a:bodyPr/>
        <a:lstStyle/>
        <a:p>
          <a:endParaRPr lang="nl-NL"/>
        </a:p>
      </dgm:t>
    </dgm:pt>
    <dgm:pt modelId="{CBFAA158-156D-4A60-88CD-ABC3FF055034}" type="pres">
      <dgm:prSet presAssocID="{F44CC299-DCB8-465F-9B62-FFC0A74ECBBF}" presName="dummy" presStyleCnt="0"/>
      <dgm:spPr/>
    </dgm:pt>
    <dgm:pt modelId="{703EE295-385B-4781-A497-C60DE69957C7}" type="pres">
      <dgm:prSet presAssocID="{F44CC299-DCB8-465F-9B62-FFC0A74ECBBF}" presName="node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163462E4-DB94-4BA5-B18E-3BF7923769DD}" type="pres">
      <dgm:prSet presAssocID="{A8A0C2FE-669C-40D4-9BB1-892962724726}" presName="sibTrans" presStyleLbl="node1" presStyleIdx="2" presStyleCnt="5"/>
      <dgm:spPr/>
      <dgm:t>
        <a:bodyPr/>
        <a:lstStyle/>
        <a:p>
          <a:endParaRPr lang="nl-NL"/>
        </a:p>
      </dgm:t>
    </dgm:pt>
    <dgm:pt modelId="{CCCCC90A-92C6-4CF6-B412-D8D399EE349C}" type="pres">
      <dgm:prSet presAssocID="{F36932F8-2A4D-42A1-8874-8646B41B5A97}" presName="dummy" presStyleCnt="0"/>
      <dgm:spPr/>
    </dgm:pt>
    <dgm:pt modelId="{E6EB4221-ED87-4246-BA34-AC142C715DE1}" type="pres">
      <dgm:prSet presAssocID="{F36932F8-2A4D-42A1-8874-8646B41B5A97}" presName="node" presStyleLbl="revTx" presStyleIdx="3" presStyleCnt="5" custScaleX="151039">
        <dgm:presLayoutVars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37D8FA6B-F264-4527-9382-52D6353D7AFF}" type="pres">
      <dgm:prSet presAssocID="{1F9EE8E3-A292-4859-BE0B-D93833B7D93A}" presName="sibTrans" presStyleLbl="node1" presStyleIdx="3" presStyleCnt="5"/>
      <dgm:spPr/>
      <dgm:t>
        <a:bodyPr/>
        <a:lstStyle/>
        <a:p>
          <a:endParaRPr lang="nl-NL"/>
        </a:p>
      </dgm:t>
    </dgm:pt>
    <dgm:pt modelId="{1025EB38-0072-4FFE-BF70-93FF8985DE7F}" type="pres">
      <dgm:prSet presAssocID="{0D2B50EF-1022-4655-B27A-FB82388D2C19}" presName="dummy" presStyleCnt="0"/>
      <dgm:spPr/>
    </dgm:pt>
    <dgm:pt modelId="{479D8F02-A987-4122-A6F6-99408FF69141}" type="pres">
      <dgm:prSet presAssocID="{0D2B50EF-1022-4655-B27A-FB82388D2C19}" presName="node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5C0FF5CF-152C-4144-B114-9744847AFC0C}" type="pres">
      <dgm:prSet presAssocID="{C9A88330-3CCD-4DAC-934E-E9DCF7E9237F}" presName="sibTrans" presStyleLbl="node1" presStyleIdx="4" presStyleCnt="5"/>
      <dgm:spPr/>
      <dgm:t>
        <a:bodyPr/>
        <a:lstStyle/>
        <a:p>
          <a:endParaRPr lang="nl-NL"/>
        </a:p>
      </dgm:t>
    </dgm:pt>
  </dgm:ptLst>
  <dgm:cxnLst>
    <dgm:cxn modelId="{530570D5-7316-45E9-A82B-0A3FDA3338F6}" type="presOf" srcId="{7D6A7EC0-6E76-4AB2-BD23-893A98A7AA02}" destId="{F1BA3722-3192-4F67-8AF5-D3A4D94F38BC}" srcOrd="0" destOrd="0" presId="urn:microsoft.com/office/officeart/2005/8/layout/cycle1"/>
    <dgm:cxn modelId="{FA130836-81EA-4984-83A9-B1AFB28E6C11}" type="presOf" srcId="{F81DFCE8-D01E-4FCC-AAC2-8E59C80D9824}" destId="{A5085213-04F9-4726-BABB-014943BF3661}" srcOrd="0" destOrd="0" presId="urn:microsoft.com/office/officeart/2005/8/layout/cycle1"/>
    <dgm:cxn modelId="{D668422D-42D9-4EFA-9385-E610BE69B892}" type="presOf" srcId="{1F9EE8E3-A292-4859-BE0B-D93833B7D93A}" destId="{37D8FA6B-F264-4527-9382-52D6353D7AFF}" srcOrd="0" destOrd="0" presId="urn:microsoft.com/office/officeart/2005/8/layout/cycle1"/>
    <dgm:cxn modelId="{E4696608-3E24-4C54-AA13-8EA0C46B15D5}" type="presOf" srcId="{805E939A-4507-4290-AA57-AF61FB966F03}" destId="{3684F8C8-66D8-4B9C-BBDF-4750FA30D290}" srcOrd="0" destOrd="0" presId="urn:microsoft.com/office/officeart/2005/8/layout/cycle1"/>
    <dgm:cxn modelId="{0F747B76-6C19-4A38-9DD1-7ABE7F6D7EC7}" srcId="{F81DFCE8-D01E-4FCC-AAC2-8E59C80D9824}" destId="{F36932F8-2A4D-42A1-8874-8646B41B5A97}" srcOrd="3" destOrd="0" parTransId="{49BAAC3D-AF21-4103-87DC-CE9C8749199B}" sibTransId="{1F9EE8E3-A292-4859-BE0B-D93833B7D93A}"/>
    <dgm:cxn modelId="{12BE9BCE-B04A-4BD5-AA60-E8F3C9D28BC3}" type="presOf" srcId="{A8A0C2FE-669C-40D4-9BB1-892962724726}" destId="{163462E4-DB94-4BA5-B18E-3BF7923769DD}" srcOrd="0" destOrd="0" presId="urn:microsoft.com/office/officeart/2005/8/layout/cycle1"/>
    <dgm:cxn modelId="{CFB3CEA0-3E41-4936-A620-2D4B9304C132}" type="presOf" srcId="{F44CC299-DCB8-465F-9B62-FFC0A74ECBBF}" destId="{703EE295-385B-4781-A497-C60DE69957C7}" srcOrd="0" destOrd="0" presId="urn:microsoft.com/office/officeart/2005/8/layout/cycle1"/>
    <dgm:cxn modelId="{0BB2412B-6D2A-4DFE-9535-B358191048BF}" type="presOf" srcId="{BDF9F3D2-BA43-4C45-87D7-1099C7928F67}" destId="{98F2A347-622C-46F9-8F32-5CED63D8CF07}" srcOrd="0" destOrd="0" presId="urn:microsoft.com/office/officeart/2005/8/layout/cycle1"/>
    <dgm:cxn modelId="{2E9C38EC-5677-4EF1-96B0-CA0E38F86A1D}" type="presOf" srcId="{F36932F8-2A4D-42A1-8874-8646B41B5A97}" destId="{E6EB4221-ED87-4246-BA34-AC142C715DE1}" srcOrd="0" destOrd="0" presId="urn:microsoft.com/office/officeart/2005/8/layout/cycle1"/>
    <dgm:cxn modelId="{4EA82430-1242-4568-9F2A-644DD37BF973}" type="presOf" srcId="{C9A88330-3CCD-4DAC-934E-E9DCF7E9237F}" destId="{5C0FF5CF-152C-4144-B114-9744847AFC0C}" srcOrd="0" destOrd="0" presId="urn:microsoft.com/office/officeart/2005/8/layout/cycle1"/>
    <dgm:cxn modelId="{CBC6F179-CFFA-456E-83C7-D778B742743D}" srcId="{F81DFCE8-D01E-4FCC-AAC2-8E59C80D9824}" destId="{F44CC299-DCB8-465F-9B62-FFC0A74ECBBF}" srcOrd="2" destOrd="0" parTransId="{F5BA9E8F-DE77-4461-B060-FE43B711B24E}" sibTransId="{A8A0C2FE-669C-40D4-9BB1-892962724726}"/>
    <dgm:cxn modelId="{968A33FE-EC1A-4F6B-90BD-19364CCF51F6}" type="presOf" srcId="{0D2B50EF-1022-4655-B27A-FB82388D2C19}" destId="{479D8F02-A987-4122-A6F6-99408FF69141}" srcOrd="0" destOrd="0" presId="urn:microsoft.com/office/officeart/2005/8/layout/cycle1"/>
    <dgm:cxn modelId="{7D94F4EB-1D90-497B-8ABC-6031133F92A7}" srcId="{F81DFCE8-D01E-4FCC-AAC2-8E59C80D9824}" destId="{BDF9F3D2-BA43-4C45-87D7-1099C7928F67}" srcOrd="0" destOrd="0" parTransId="{24C4CC19-9CBD-437D-A75F-3D2D1EABD68C}" sibTransId="{7D6A7EC0-6E76-4AB2-BD23-893A98A7AA02}"/>
    <dgm:cxn modelId="{5E26BB4F-03FE-4DF8-A40B-CDF7C2E11E73}" srcId="{F81DFCE8-D01E-4FCC-AAC2-8E59C80D9824}" destId="{0D2B50EF-1022-4655-B27A-FB82388D2C19}" srcOrd="4" destOrd="0" parTransId="{1BB24E56-3A8D-4D5B-86ED-71C106AAFDEE}" sibTransId="{C9A88330-3CCD-4DAC-934E-E9DCF7E9237F}"/>
    <dgm:cxn modelId="{9CD71C2A-5700-494B-8B0B-0DE47F9C036F}" type="presOf" srcId="{9826071A-A862-4E91-B757-B8061A0D737E}" destId="{8FB0B3CE-489A-4628-B306-E06CD767CF85}" srcOrd="0" destOrd="0" presId="urn:microsoft.com/office/officeart/2005/8/layout/cycle1"/>
    <dgm:cxn modelId="{6AEF4338-6E57-4DC9-AB45-720EB716D695}" srcId="{F81DFCE8-D01E-4FCC-AAC2-8E59C80D9824}" destId="{9826071A-A862-4E91-B757-B8061A0D737E}" srcOrd="1" destOrd="0" parTransId="{9AD1F9E2-9767-4E67-805B-AF435E0EAC83}" sibTransId="{805E939A-4507-4290-AA57-AF61FB966F03}"/>
    <dgm:cxn modelId="{9A3148F1-F415-4A58-89C1-73561DE200CA}" type="presParOf" srcId="{A5085213-04F9-4726-BABB-014943BF3661}" destId="{547BB33E-AF13-478E-85EA-2DF2D69EC41D}" srcOrd="0" destOrd="0" presId="urn:microsoft.com/office/officeart/2005/8/layout/cycle1"/>
    <dgm:cxn modelId="{756FBA6A-A6C7-4FCF-89E2-F9C3E07E415A}" type="presParOf" srcId="{A5085213-04F9-4726-BABB-014943BF3661}" destId="{98F2A347-622C-46F9-8F32-5CED63D8CF07}" srcOrd="1" destOrd="0" presId="urn:microsoft.com/office/officeart/2005/8/layout/cycle1"/>
    <dgm:cxn modelId="{02E65A1A-FEDB-4651-B56D-B74AFF365730}" type="presParOf" srcId="{A5085213-04F9-4726-BABB-014943BF3661}" destId="{F1BA3722-3192-4F67-8AF5-D3A4D94F38BC}" srcOrd="2" destOrd="0" presId="urn:microsoft.com/office/officeart/2005/8/layout/cycle1"/>
    <dgm:cxn modelId="{9DCAF3EA-CCF3-41E7-8067-3F48466E819E}" type="presParOf" srcId="{A5085213-04F9-4726-BABB-014943BF3661}" destId="{7E0914F9-EE4A-41D9-998A-DA6989C46CBF}" srcOrd="3" destOrd="0" presId="urn:microsoft.com/office/officeart/2005/8/layout/cycle1"/>
    <dgm:cxn modelId="{CCB93ADA-096D-4DE2-B701-997C17041270}" type="presParOf" srcId="{A5085213-04F9-4726-BABB-014943BF3661}" destId="{8FB0B3CE-489A-4628-B306-E06CD767CF85}" srcOrd="4" destOrd="0" presId="urn:microsoft.com/office/officeart/2005/8/layout/cycle1"/>
    <dgm:cxn modelId="{7D8B0F55-A81A-47E0-9F9D-56E1E74806E3}" type="presParOf" srcId="{A5085213-04F9-4726-BABB-014943BF3661}" destId="{3684F8C8-66D8-4B9C-BBDF-4750FA30D290}" srcOrd="5" destOrd="0" presId="urn:microsoft.com/office/officeart/2005/8/layout/cycle1"/>
    <dgm:cxn modelId="{87CCFE9D-27AB-43F2-81D8-75CC04518E08}" type="presParOf" srcId="{A5085213-04F9-4726-BABB-014943BF3661}" destId="{CBFAA158-156D-4A60-88CD-ABC3FF055034}" srcOrd="6" destOrd="0" presId="urn:microsoft.com/office/officeart/2005/8/layout/cycle1"/>
    <dgm:cxn modelId="{6D34E3AC-AA45-48B8-BBED-5EB8E53E00B3}" type="presParOf" srcId="{A5085213-04F9-4726-BABB-014943BF3661}" destId="{703EE295-385B-4781-A497-C60DE69957C7}" srcOrd="7" destOrd="0" presId="urn:microsoft.com/office/officeart/2005/8/layout/cycle1"/>
    <dgm:cxn modelId="{9A74FFB0-7305-42DF-8CEF-0A5C91FB01E2}" type="presParOf" srcId="{A5085213-04F9-4726-BABB-014943BF3661}" destId="{163462E4-DB94-4BA5-B18E-3BF7923769DD}" srcOrd="8" destOrd="0" presId="urn:microsoft.com/office/officeart/2005/8/layout/cycle1"/>
    <dgm:cxn modelId="{4938AD45-9304-4EC1-B55B-6D4EF89550EC}" type="presParOf" srcId="{A5085213-04F9-4726-BABB-014943BF3661}" destId="{CCCCC90A-92C6-4CF6-B412-D8D399EE349C}" srcOrd="9" destOrd="0" presId="urn:microsoft.com/office/officeart/2005/8/layout/cycle1"/>
    <dgm:cxn modelId="{6AA59C34-A25E-4603-9DA6-886EC77BA2C9}" type="presParOf" srcId="{A5085213-04F9-4726-BABB-014943BF3661}" destId="{E6EB4221-ED87-4246-BA34-AC142C715DE1}" srcOrd="10" destOrd="0" presId="urn:microsoft.com/office/officeart/2005/8/layout/cycle1"/>
    <dgm:cxn modelId="{689DA9FA-DB38-4A32-9634-F7C67101CA23}" type="presParOf" srcId="{A5085213-04F9-4726-BABB-014943BF3661}" destId="{37D8FA6B-F264-4527-9382-52D6353D7AFF}" srcOrd="11" destOrd="0" presId="urn:microsoft.com/office/officeart/2005/8/layout/cycle1"/>
    <dgm:cxn modelId="{62EBF596-BC86-4A40-949C-3D198D86CAF8}" type="presParOf" srcId="{A5085213-04F9-4726-BABB-014943BF3661}" destId="{1025EB38-0072-4FFE-BF70-93FF8985DE7F}" srcOrd="12" destOrd="0" presId="urn:microsoft.com/office/officeart/2005/8/layout/cycle1"/>
    <dgm:cxn modelId="{25AFECB5-7039-409E-AEA0-C8AE52B6B9E0}" type="presParOf" srcId="{A5085213-04F9-4726-BABB-014943BF3661}" destId="{479D8F02-A987-4122-A6F6-99408FF69141}" srcOrd="13" destOrd="0" presId="urn:microsoft.com/office/officeart/2005/8/layout/cycle1"/>
    <dgm:cxn modelId="{5B9E8511-4DEE-4BC9-8262-DFF8268178F3}" type="presParOf" srcId="{A5085213-04F9-4726-BABB-014943BF3661}" destId="{5C0FF5CF-152C-4144-B114-9744847AFC0C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F2A347-622C-46F9-8F32-5CED63D8CF07}">
      <dsp:nvSpPr>
        <dsp:cNvPr id="0" name=""/>
        <dsp:cNvSpPr/>
      </dsp:nvSpPr>
      <dsp:spPr>
        <a:xfrm>
          <a:off x="2418334" y="21134"/>
          <a:ext cx="724211" cy="724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l-NL" sz="1400" b="1" kern="1200" dirty="0" smtClean="0"/>
            <a:t>2.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l-NL" sz="1400" b="1" kern="1200" dirty="0" smtClean="0"/>
            <a:t>Map the </a:t>
          </a:r>
          <a:r>
            <a:rPr lang="nl-NL" sz="1400" b="1" kern="1200" dirty="0" err="1" smtClean="0"/>
            <a:t>Value</a:t>
          </a:r>
          <a:r>
            <a:rPr lang="nl-NL" sz="1400" b="1" kern="1200" dirty="0" smtClean="0"/>
            <a:t> </a:t>
          </a:r>
          <a:r>
            <a:rPr lang="nl-NL" sz="1400" b="1" kern="1200" dirty="0" err="1" smtClean="0"/>
            <a:t>Stream</a:t>
          </a:r>
          <a:endParaRPr lang="nl-NL" sz="1400" b="1" kern="1200" dirty="0"/>
        </a:p>
      </dsp:txBody>
      <dsp:txXfrm>
        <a:off x="2418334" y="21134"/>
        <a:ext cx="724211" cy="724211"/>
      </dsp:txXfrm>
    </dsp:sp>
    <dsp:sp modelId="{F1BA3722-3192-4F67-8AF5-D3A4D94F38BC}">
      <dsp:nvSpPr>
        <dsp:cNvPr id="0" name=""/>
        <dsp:cNvSpPr/>
      </dsp:nvSpPr>
      <dsp:spPr>
        <a:xfrm>
          <a:off x="715434" y="268"/>
          <a:ext cx="2714386" cy="2714386"/>
        </a:xfrm>
        <a:prstGeom prst="circularArrow">
          <a:avLst>
            <a:gd name="adj1" fmla="val 5203"/>
            <a:gd name="adj2" fmla="val 336098"/>
            <a:gd name="adj3" fmla="val 21292489"/>
            <a:gd name="adj4" fmla="val 19766898"/>
            <a:gd name="adj5" fmla="val 60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B0B3CE-489A-4628-B306-E06CD767CF85}">
      <dsp:nvSpPr>
        <dsp:cNvPr id="0" name=""/>
        <dsp:cNvSpPr/>
      </dsp:nvSpPr>
      <dsp:spPr>
        <a:xfrm>
          <a:off x="2855787" y="1367475"/>
          <a:ext cx="724211" cy="724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l-NL" sz="1400" b="1" kern="1200" dirty="0" smtClean="0"/>
            <a:t>3.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l-NL" sz="1400" b="1" kern="1200" dirty="0" err="1" smtClean="0"/>
            <a:t>Create</a:t>
          </a:r>
          <a:r>
            <a:rPr lang="nl-NL" sz="1400" b="1" kern="1200" dirty="0" smtClean="0"/>
            <a:t> </a:t>
          </a:r>
          <a:r>
            <a:rPr lang="nl-NL" sz="1400" b="1" kern="1200" dirty="0" err="1" smtClean="0"/>
            <a:t>FLow</a:t>
          </a:r>
          <a:endParaRPr lang="nl-NL" sz="1400" b="1" kern="1200" dirty="0"/>
        </a:p>
      </dsp:txBody>
      <dsp:txXfrm>
        <a:off x="2855787" y="1367475"/>
        <a:ext cx="724211" cy="724211"/>
      </dsp:txXfrm>
    </dsp:sp>
    <dsp:sp modelId="{3684F8C8-66D8-4B9C-BBDF-4750FA30D290}">
      <dsp:nvSpPr>
        <dsp:cNvPr id="0" name=""/>
        <dsp:cNvSpPr/>
      </dsp:nvSpPr>
      <dsp:spPr>
        <a:xfrm>
          <a:off x="715434" y="268"/>
          <a:ext cx="2714386" cy="2714386"/>
        </a:xfrm>
        <a:prstGeom prst="circularArrow">
          <a:avLst>
            <a:gd name="adj1" fmla="val 5203"/>
            <a:gd name="adj2" fmla="val 336098"/>
            <a:gd name="adj3" fmla="val 4013918"/>
            <a:gd name="adj4" fmla="val 2254149"/>
            <a:gd name="adj5" fmla="val 60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3EE295-385B-4781-A497-C60DE69957C7}">
      <dsp:nvSpPr>
        <dsp:cNvPr id="0" name=""/>
        <dsp:cNvSpPr/>
      </dsp:nvSpPr>
      <dsp:spPr>
        <a:xfrm>
          <a:off x="1710521" y="2199559"/>
          <a:ext cx="724211" cy="724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l-NL" sz="1400" b="1" kern="1200" dirty="0" smtClean="0"/>
            <a:t>4.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l-NL" sz="1400" b="1" kern="1200" dirty="0" err="1" smtClean="0"/>
            <a:t>Establish</a:t>
          </a:r>
          <a:r>
            <a:rPr lang="nl-NL" sz="1400" b="1" kern="1200" dirty="0" smtClean="0"/>
            <a:t> Pull</a:t>
          </a:r>
          <a:endParaRPr lang="nl-NL" sz="1400" b="1" kern="1200" dirty="0"/>
        </a:p>
      </dsp:txBody>
      <dsp:txXfrm>
        <a:off x="1710521" y="2199559"/>
        <a:ext cx="724211" cy="724211"/>
      </dsp:txXfrm>
    </dsp:sp>
    <dsp:sp modelId="{163462E4-DB94-4BA5-B18E-3BF7923769DD}">
      <dsp:nvSpPr>
        <dsp:cNvPr id="0" name=""/>
        <dsp:cNvSpPr/>
      </dsp:nvSpPr>
      <dsp:spPr>
        <a:xfrm>
          <a:off x="715434" y="268"/>
          <a:ext cx="2714386" cy="2714386"/>
        </a:xfrm>
        <a:prstGeom prst="circularArrow">
          <a:avLst>
            <a:gd name="adj1" fmla="val 5203"/>
            <a:gd name="adj2" fmla="val 336098"/>
            <a:gd name="adj3" fmla="val 8209753"/>
            <a:gd name="adj4" fmla="val 6449984"/>
            <a:gd name="adj5" fmla="val 60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EB4221-ED87-4246-BA34-AC142C715DE1}">
      <dsp:nvSpPr>
        <dsp:cNvPr id="0" name=""/>
        <dsp:cNvSpPr/>
      </dsp:nvSpPr>
      <dsp:spPr>
        <a:xfrm>
          <a:off x="380441" y="1367475"/>
          <a:ext cx="1093841" cy="724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l-NL" sz="1400" b="1" kern="1200" dirty="0" smtClean="0"/>
            <a:t>5.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l-NL" sz="1400" b="1" kern="1200" dirty="0" err="1" smtClean="0"/>
            <a:t>Seek</a:t>
          </a:r>
          <a:r>
            <a:rPr lang="nl-NL" sz="1400" b="1" kern="1200" dirty="0" smtClean="0"/>
            <a:t> </a:t>
          </a:r>
          <a:r>
            <a:rPr lang="nl-NL" sz="1400" b="1" kern="1200" dirty="0" err="1" smtClean="0"/>
            <a:t>Perfection</a:t>
          </a:r>
          <a:endParaRPr lang="nl-NL" sz="1400" b="1" kern="1200" dirty="0"/>
        </a:p>
      </dsp:txBody>
      <dsp:txXfrm>
        <a:off x="380441" y="1367475"/>
        <a:ext cx="1093841" cy="724211"/>
      </dsp:txXfrm>
    </dsp:sp>
    <dsp:sp modelId="{37D8FA6B-F264-4527-9382-52D6353D7AFF}">
      <dsp:nvSpPr>
        <dsp:cNvPr id="0" name=""/>
        <dsp:cNvSpPr/>
      </dsp:nvSpPr>
      <dsp:spPr>
        <a:xfrm>
          <a:off x="715434" y="268"/>
          <a:ext cx="2714386" cy="2714386"/>
        </a:xfrm>
        <a:prstGeom prst="circularArrow">
          <a:avLst>
            <a:gd name="adj1" fmla="val 5203"/>
            <a:gd name="adj2" fmla="val 336098"/>
            <a:gd name="adj3" fmla="val 12297004"/>
            <a:gd name="adj4" fmla="val 10771413"/>
            <a:gd name="adj5" fmla="val 60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9D8F02-A987-4122-A6F6-99408FF69141}">
      <dsp:nvSpPr>
        <dsp:cNvPr id="0" name=""/>
        <dsp:cNvSpPr/>
      </dsp:nvSpPr>
      <dsp:spPr>
        <a:xfrm>
          <a:off x="1002708" y="21134"/>
          <a:ext cx="724211" cy="724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l-NL" sz="1400" b="1" kern="1200" dirty="0" smtClean="0"/>
            <a:t>1.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l-NL" sz="1400" b="1" kern="1200" dirty="0" err="1" smtClean="0"/>
            <a:t>Identify</a:t>
          </a:r>
          <a:r>
            <a:rPr lang="nl-NL" sz="1400" b="1" kern="1200" dirty="0" smtClean="0"/>
            <a:t> </a:t>
          </a:r>
          <a:r>
            <a:rPr lang="nl-NL" sz="1400" b="1" kern="1200" dirty="0" err="1" smtClean="0"/>
            <a:t>Value</a:t>
          </a:r>
          <a:endParaRPr lang="nl-NL" sz="1400" b="1" kern="1200" dirty="0"/>
        </a:p>
      </dsp:txBody>
      <dsp:txXfrm>
        <a:off x="1002708" y="21134"/>
        <a:ext cx="724211" cy="724211"/>
      </dsp:txXfrm>
    </dsp:sp>
    <dsp:sp modelId="{5C0FF5CF-152C-4144-B114-9744847AFC0C}">
      <dsp:nvSpPr>
        <dsp:cNvPr id="0" name=""/>
        <dsp:cNvSpPr/>
      </dsp:nvSpPr>
      <dsp:spPr>
        <a:xfrm>
          <a:off x="715434" y="268"/>
          <a:ext cx="2714386" cy="2714386"/>
        </a:xfrm>
        <a:prstGeom prst="circularArrow">
          <a:avLst>
            <a:gd name="adj1" fmla="val 5203"/>
            <a:gd name="adj2" fmla="val 336098"/>
            <a:gd name="adj3" fmla="val 16864909"/>
            <a:gd name="adj4" fmla="val 15198993"/>
            <a:gd name="adj5" fmla="val 60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79A77-9DA1-474E-B252-3012F5E4FCC9}" type="datetimeFigureOut">
              <a:rPr lang="nl-NL" smtClean="0"/>
              <a:pPr/>
              <a:t>1-10-2014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0016DE-9A50-49F8-9B1D-C3E41855691F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841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0016DE-9A50-49F8-9B1D-C3E41855691F}" type="slidenum">
              <a:rPr lang="nl-NL" smtClean="0"/>
              <a:pPr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33118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nl-NL" dirty="0" smtClean="0"/>
          </a:p>
        </p:txBody>
      </p:sp>
      <p:sp>
        <p:nvSpPr>
          <p:cNvPr id="1638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685750" indent="-263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55000" indent="-2110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77000" indent="-2110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898999" indent="-2110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20999" indent="-211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743000" indent="-211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165000" indent="-211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587000" indent="-211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A046C1B-E56F-4EAB-A67F-36EB6351F31C}" type="slidenum">
              <a:rPr lang="en-US" smtClean="0"/>
              <a:pPr eaLnBrk="1" hangingPunct="1"/>
              <a:t>3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14398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v-SE" smtClean="0"/>
          </a:p>
        </p:txBody>
      </p:sp>
      <p:sp>
        <p:nvSpPr>
          <p:cNvPr id="2458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1492"/>
            <a:fld id="{173B4F56-1BA2-4A56-9B5D-7A6BECFD7E46}" type="slidenum">
              <a:rPr lang="en-US" smtClean="0"/>
              <a:pPr defTabSz="911492"/>
              <a:t>4</a:t>
            </a:fld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19810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v-SE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484" name="Tijdelijke aanduiding voor dianummer 3"/>
          <p:cNvSpPr txBox="1">
            <a:spLocks noGrp="1"/>
          </p:cNvSpPr>
          <p:nvPr/>
        </p:nvSpPr>
        <p:spPr bwMode="auto">
          <a:xfrm>
            <a:off x="3884463" y="8685878"/>
            <a:ext cx="2972004" cy="456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 anchor="b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9F61F127-D6E6-4B56-9DB6-07B59E08D876}" type="slidenum">
              <a:rPr lang="en-US" sz="1200"/>
              <a:pPr algn="r" eaLnBrk="1" hangingPunct="1"/>
              <a:t>7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36052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nl-NL" smtClean="0"/>
          </a:p>
        </p:txBody>
      </p:sp>
      <p:sp>
        <p:nvSpPr>
          <p:cNvPr id="2048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685750" indent="-263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55000" indent="-2110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77000" indent="-2110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898999" indent="-2110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20999" indent="-211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743000" indent="-211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165000" indent="-211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587000" indent="-211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461A54F-AB9F-42A2-9BEB-32DC2C80594F}" type="slidenum">
              <a:rPr lang="en-US" smtClean="0"/>
              <a:pPr eaLnBrk="1" hangingPunct="1"/>
              <a:t>8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2538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 smtClean="0"/>
          </a:p>
        </p:txBody>
      </p:sp>
      <p:sp>
        <p:nvSpPr>
          <p:cNvPr id="2048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282DAC-2019-460F-A5E8-98215333D935}" type="slidenum">
              <a:rPr lang="en-US" smtClean="0"/>
              <a:pPr/>
              <a:t>9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263184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38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35B192-FFB2-46E2-8B8F-B5D173B05DA6}" type="slidenum">
              <a:rPr lang="en-US" smtClean="0">
                <a:latin typeface="Arial" pitchFamily="34" charset="0"/>
                <a:cs typeface="Arial" pitchFamily="34" charset="0"/>
              </a:rPr>
              <a:pPr/>
              <a:t>11</a:t>
            </a:fld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757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38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35B192-FFB2-46E2-8B8F-B5D173B05DA6}" type="slidenum">
              <a:rPr lang="en-US" smtClean="0">
                <a:latin typeface="Arial" pitchFamily="34" charset="0"/>
                <a:cs typeface="Arial" pitchFamily="34" charset="0"/>
              </a:rPr>
              <a:pPr/>
              <a:t>12</a:t>
            </a:fld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314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>
            <a:lum bright="-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27"/>
          <a:stretch>
            <a:fillRect/>
          </a:stretch>
        </p:blipFill>
        <p:spPr bwMode="auto">
          <a:xfrm>
            <a:off x="0" y="2362200"/>
            <a:ext cx="9144000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Afbeelding 15" descr="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4738" y="609600"/>
            <a:ext cx="4038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" descr="image00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964238"/>
            <a:ext cx="18288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90000" y="2422800"/>
            <a:ext cx="6840000" cy="579600"/>
          </a:xfrm>
        </p:spPr>
        <p:txBody>
          <a:bodyPr anchor="t"/>
          <a:lstStyle>
            <a:lvl1pPr algn="l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990000" y="3808800"/>
            <a:ext cx="6840000" cy="1548000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smtClean="0"/>
              <a:t>Klik om de ondertitelstijl van het model te bewerken</a:t>
            </a:r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3"/>
          </p:nvPr>
        </p:nvSpPr>
        <p:spPr>
          <a:xfrm>
            <a:off x="3664799" y="6011999"/>
            <a:ext cx="5259600" cy="687600"/>
          </a:xfrm>
        </p:spPr>
        <p:txBody>
          <a:bodyPr/>
          <a:lstStyle>
            <a:lvl1pPr algn="r">
              <a:defRPr sz="3600" b="1">
                <a:solidFill>
                  <a:srgbClr val="C80F00"/>
                </a:solidFill>
                <a:latin typeface="Arial" pitchFamily="34" charset="0"/>
                <a:cs typeface="Arial" pitchFamily="34" charset="0"/>
              </a:defRPr>
            </a:lvl1pPr>
            <a:lvl2pPr algn="r">
              <a:defRPr sz="3600" b="1">
                <a:solidFill>
                  <a:srgbClr val="C80F00"/>
                </a:solidFill>
                <a:latin typeface="Arial Black" pitchFamily="34" charset="0"/>
              </a:defRPr>
            </a:lvl2pPr>
            <a:lvl3pPr algn="r">
              <a:defRPr sz="3600" b="1">
                <a:solidFill>
                  <a:srgbClr val="C80F00"/>
                </a:solidFill>
                <a:latin typeface="Arial Black" pitchFamily="34" charset="0"/>
              </a:defRPr>
            </a:lvl3pPr>
            <a:lvl4pPr algn="r">
              <a:defRPr sz="3600" b="1">
                <a:solidFill>
                  <a:srgbClr val="C80F00"/>
                </a:solidFill>
                <a:latin typeface="Arial Black" pitchFamily="34" charset="0"/>
              </a:defRPr>
            </a:lvl4pPr>
            <a:lvl5pPr algn="r">
              <a:defRPr sz="3600" b="1">
                <a:solidFill>
                  <a:srgbClr val="C80F00"/>
                </a:solidFill>
                <a:latin typeface="Arial Black" pitchFamily="34" charset="0"/>
              </a:defRPr>
            </a:lvl5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12" name="Tijdelijke aanduiding voor inhoud 11"/>
          <p:cNvSpPr>
            <a:spLocks noGrp="1"/>
          </p:cNvSpPr>
          <p:nvPr>
            <p:ph sz="quarter" idx="17"/>
          </p:nvPr>
        </p:nvSpPr>
        <p:spPr>
          <a:xfrm>
            <a:off x="1283078" y="2998800"/>
            <a:ext cx="6552728" cy="431800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9" name="Tijdelijke aanduiding voor datum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7CFD49F-7F6C-4F87-942D-467EA54C13CC}" type="datetimeFigureOut">
              <a:rPr lang="nl-NL" smtClean="0"/>
              <a:pPr>
                <a:defRPr/>
              </a:pPr>
              <a:t>1-10-2014</a:t>
            </a:fld>
            <a:endParaRPr lang="nl-NL"/>
          </a:p>
        </p:txBody>
      </p:sp>
      <p:sp>
        <p:nvSpPr>
          <p:cNvPr id="11" name="Tijdelijke aanduiding voor voettekst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3" name="Tijdelijke aanduiding voor dianumm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2B49D8-A634-4C94-9AE9-E2F640EB5D22}" type="slidenum">
              <a:rPr lang="nl-NL" smtClean="0"/>
              <a:pPr>
                <a:defRPr/>
              </a:pPr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61922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4AB5E6-73AD-499B-9D0E-EDE441CF760F}" type="datetimeFigureOut">
              <a:rPr lang="nl-NL" smtClean="0"/>
              <a:pPr>
                <a:defRPr/>
              </a:pPr>
              <a:t>1-10-2014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54882D-14F3-4551-83E0-7F17C5E058AA}" type="slidenum">
              <a:rPr lang="nl-NL" smtClean="0"/>
              <a:pPr>
                <a:defRPr/>
              </a:pPr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11702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E69641-7D28-4240-ACFF-F0DBBCFABB7A}" type="datetimeFigureOut">
              <a:rPr lang="nl-NL" smtClean="0"/>
              <a:pPr>
                <a:defRPr/>
              </a:pPr>
              <a:t>1-10-2014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E9905B-2F64-40F1-B7CC-1DE9A4BF9A21}" type="slidenum">
              <a:rPr lang="nl-NL" smtClean="0"/>
              <a:pPr>
                <a:defRPr/>
              </a:pPr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93966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440000"/>
            <a:ext cx="4038600" cy="504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440000"/>
            <a:ext cx="4038600" cy="504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5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63657-5376-40A3-9DCB-8C5BE5F89A38}" type="datetimeFigureOut">
              <a:rPr lang="nl-NL" smtClean="0"/>
              <a:pPr>
                <a:defRPr/>
              </a:pPr>
              <a:t>1-10-2014</a:t>
            </a:fld>
            <a:endParaRPr lang="nl-NL"/>
          </a:p>
        </p:txBody>
      </p:sp>
      <p:sp>
        <p:nvSpPr>
          <p:cNvPr id="6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86346C-DAAC-43EA-B48B-C46874303A33}" type="slidenum">
              <a:rPr lang="nl-NL" smtClean="0"/>
              <a:pPr>
                <a:defRPr/>
              </a:pPr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37190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7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75AE96-8B99-41FB-B865-9295408E382D}" type="datetimeFigureOut">
              <a:rPr lang="nl-NL" smtClean="0"/>
              <a:pPr>
                <a:defRPr/>
              </a:pPr>
              <a:t>1-10-2014</a:t>
            </a:fld>
            <a:endParaRPr lang="nl-NL"/>
          </a:p>
        </p:txBody>
      </p:sp>
      <p:sp>
        <p:nvSpPr>
          <p:cNvPr id="8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020F1B-EC87-4E93-B554-E8AED60C1DD5}" type="slidenum">
              <a:rPr lang="nl-NL" smtClean="0"/>
              <a:pPr>
                <a:defRPr/>
              </a:pPr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88412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405672-31AA-4F04-98FA-527845DF2CEB}" type="datetimeFigureOut">
              <a:rPr lang="nl-NL" smtClean="0"/>
              <a:pPr>
                <a:defRPr/>
              </a:pPr>
              <a:t>1-10-2014</a:t>
            </a:fld>
            <a:endParaRPr lang="nl-NL"/>
          </a:p>
        </p:txBody>
      </p:sp>
      <p:sp>
        <p:nvSpPr>
          <p:cNvPr id="4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1ED248-8386-4477-816C-42D12A257F25}" type="slidenum">
              <a:rPr lang="nl-NL" smtClean="0"/>
              <a:pPr>
                <a:defRPr/>
              </a:pPr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17433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9B20F-7AC9-41B9-A0BC-EBC466804BAB}" type="datetimeFigureOut">
              <a:rPr lang="nl-NL" smtClean="0"/>
              <a:pPr>
                <a:defRPr/>
              </a:pPr>
              <a:t>1-10-2014</a:t>
            </a:fld>
            <a:endParaRPr lang="nl-NL"/>
          </a:p>
        </p:txBody>
      </p:sp>
      <p:sp>
        <p:nvSpPr>
          <p:cNvPr id="3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4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098E00-A3D8-4699-BC2D-7F68F4C94F17}" type="slidenum">
              <a:rPr lang="nl-NL" smtClean="0"/>
              <a:pPr>
                <a:defRPr/>
              </a:pPr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132782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8" name="Tijdelijke aanduiding voor tekst 7"/>
          <p:cNvSpPr>
            <a:spLocks noGrp="1"/>
          </p:cNvSpPr>
          <p:nvPr>
            <p:ph type="body" sz="quarter" idx="13"/>
          </p:nvPr>
        </p:nvSpPr>
        <p:spPr>
          <a:xfrm>
            <a:off x="1296000" y="6669360"/>
            <a:ext cx="1331784" cy="203040"/>
          </a:xfrm>
        </p:spPr>
        <p:txBody>
          <a:bodyPr tIns="36000" bIns="36000"/>
          <a:lstStyle>
            <a:lvl1pPr algn="l">
              <a:defRPr sz="1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5" name="Tijdelijke aanduiding voor datum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19380E-37FF-4E58-974B-66286528FDA6}" type="datetimeFigureOut">
              <a:rPr lang="nl-NL" smtClean="0"/>
              <a:pPr>
                <a:defRPr/>
              </a:pPr>
              <a:t>1-10-2014</a:t>
            </a:fld>
            <a:endParaRPr lang="nl-NL"/>
          </a:p>
        </p:txBody>
      </p:sp>
      <p:sp>
        <p:nvSpPr>
          <p:cNvPr id="6" name="Tijdelijke aanduiding voor voettekst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86878-8994-414B-ADB7-CC0FA1E00C8C}" type="slidenum">
              <a:rPr lang="nl-NL" smtClean="0"/>
              <a:pPr>
                <a:defRPr/>
              </a:pPr>
              <a:t>‹#›</a:t>
            </a:fld>
            <a:endParaRPr lang="nl-N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7" name="Tijdelijke aanduiding voor tekst 7"/>
          <p:cNvSpPr>
            <a:spLocks noGrp="1"/>
          </p:cNvSpPr>
          <p:nvPr>
            <p:ph type="body" sz="quarter" idx="13"/>
          </p:nvPr>
        </p:nvSpPr>
        <p:spPr>
          <a:xfrm>
            <a:off x="1296000" y="6669360"/>
            <a:ext cx="1331784" cy="203040"/>
          </a:xfrm>
        </p:spPr>
        <p:txBody>
          <a:bodyPr tIns="36000" bIns="36000"/>
          <a:lstStyle>
            <a:lvl1pPr algn="l">
              <a:defRPr sz="1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5" name="Tijdelijke aanduiding voor datum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19380E-37FF-4E58-974B-66286528FDA6}" type="datetimeFigureOut">
              <a:rPr lang="nl-NL" smtClean="0"/>
              <a:pPr>
                <a:defRPr/>
              </a:pPr>
              <a:t>1-10-2014</a:t>
            </a:fld>
            <a:endParaRPr lang="nl-NL"/>
          </a:p>
        </p:txBody>
      </p:sp>
      <p:sp>
        <p:nvSpPr>
          <p:cNvPr id="6" name="Tijdelijke aanduiding voor voettekst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86878-8994-414B-ADB7-CC0FA1E00C8C}" type="slidenum">
              <a:rPr lang="nl-NL" smtClean="0"/>
              <a:pPr>
                <a:defRPr/>
              </a:pPr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440000"/>
            <a:ext cx="4038600" cy="504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440000"/>
            <a:ext cx="4038600" cy="504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8" name="Tijdelijke aanduiding voor tekst 7"/>
          <p:cNvSpPr>
            <a:spLocks noGrp="1"/>
          </p:cNvSpPr>
          <p:nvPr>
            <p:ph type="body" sz="quarter" idx="13"/>
          </p:nvPr>
        </p:nvSpPr>
        <p:spPr>
          <a:xfrm>
            <a:off x="1296000" y="6669360"/>
            <a:ext cx="1331784" cy="203040"/>
          </a:xfrm>
        </p:spPr>
        <p:txBody>
          <a:bodyPr tIns="36000" bIns="36000"/>
          <a:lstStyle>
            <a:lvl1pPr algn="l">
              <a:defRPr sz="1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6" name="Tijdelijke aanduiding voor datum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19380E-37FF-4E58-974B-66286528FDA6}" type="datetimeFigureOut">
              <a:rPr lang="nl-NL" smtClean="0"/>
              <a:pPr>
                <a:defRPr/>
              </a:pPr>
              <a:t>1-10-2014</a:t>
            </a:fld>
            <a:endParaRPr lang="nl-NL"/>
          </a:p>
        </p:txBody>
      </p:sp>
      <p:sp>
        <p:nvSpPr>
          <p:cNvPr id="7" name="Tijdelijke aanduiding voor voettekst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86878-8994-414B-ADB7-CC0FA1E00C8C}" type="slidenum">
              <a:rPr lang="nl-NL" smtClean="0"/>
              <a:pPr>
                <a:defRPr/>
              </a:pPr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10" name="Tijdelijke aanduiding voor tekst 7"/>
          <p:cNvSpPr>
            <a:spLocks noGrp="1"/>
          </p:cNvSpPr>
          <p:nvPr>
            <p:ph type="body" sz="quarter" idx="13"/>
          </p:nvPr>
        </p:nvSpPr>
        <p:spPr>
          <a:xfrm>
            <a:off x="1296000" y="6669360"/>
            <a:ext cx="1331784" cy="203040"/>
          </a:xfrm>
        </p:spPr>
        <p:txBody>
          <a:bodyPr tIns="36000" bIns="36000"/>
          <a:lstStyle>
            <a:lvl1pPr algn="l">
              <a:defRPr sz="1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8" name="Tijdelijke aanduiding voor datum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19380E-37FF-4E58-974B-66286528FDA6}" type="datetimeFigureOut">
              <a:rPr lang="nl-NL" smtClean="0"/>
              <a:pPr>
                <a:defRPr/>
              </a:pPr>
              <a:t>1-10-2014</a:t>
            </a:fld>
            <a:endParaRPr lang="nl-NL"/>
          </a:p>
        </p:txBody>
      </p:sp>
      <p:sp>
        <p:nvSpPr>
          <p:cNvPr id="9" name="Tijdelijke aanduiding voor voettekst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1" name="Tijdelijke aanduiding voor dianumm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86878-8994-414B-ADB7-CC0FA1E00C8C}" type="slidenum">
              <a:rPr lang="nl-NL" smtClean="0"/>
              <a:pPr>
                <a:defRPr/>
              </a:pPr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6" name="Tijdelijke aanduiding voor tekst 7"/>
          <p:cNvSpPr>
            <a:spLocks noGrp="1"/>
          </p:cNvSpPr>
          <p:nvPr>
            <p:ph type="body" sz="quarter" idx="13"/>
          </p:nvPr>
        </p:nvSpPr>
        <p:spPr>
          <a:xfrm>
            <a:off x="1296000" y="6669360"/>
            <a:ext cx="1331784" cy="203040"/>
          </a:xfrm>
        </p:spPr>
        <p:txBody>
          <a:bodyPr tIns="36000" bIns="36000"/>
          <a:lstStyle>
            <a:lvl1pPr algn="l">
              <a:defRPr sz="1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19380E-37FF-4E58-974B-66286528FDA6}" type="datetimeFigureOut">
              <a:rPr lang="nl-NL" smtClean="0"/>
              <a:pPr>
                <a:defRPr/>
              </a:pPr>
              <a:t>1-10-2014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86878-8994-414B-ADB7-CC0FA1E00C8C}" type="slidenum">
              <a:rPr lang="nl-NL" smtClean="0"/>
              <a:pPr>
                <a:defRPr/>
              </a:pPr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7"/>
          <p:cNvSpPr>
            <a:spLocks noGrp="1"/>
          </p:cNvSpPr>
          <p:nvPr>
            <p:ph type="body" sz="quarter" idx="13"/>
          </p:nvPr>
        </p:nvSpPr>
        <p:spPr>
          <a:xfrm>
            <a:off x="1296000" y="6669360"/>
            <a:ext cx="1331784" cy="203040"/>
          </a:xfrm>
        </p:spPr>
        <p:txBody>
          <a:bodyPr tIns="36000" bIns="36000"/>
          <a:lstStyle>
            <a:lvl1pPr algn="l">
              <a:defRPr sz="1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3" name="Tijdelijke aanduiding voor datum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19380E-37FF-4E58-974B-66286528FDA6}" type="datetimeFigureOut">
              <a:rPr lang="nl-NL" smtClean="0"/>
              <a:pPr>
                <a:defRPr/>
              </a:pPr>
              <a:t>1-10-2014</a:t>
            </a:fld>
            <a:endParaRPr lang="nl-NL"/>
          </a:p>
        </p:txBody>
      </p:sp>
      <p:sp>
        <p:nvSpPr>
          <p:cNvPr id="4" name="Tijdelijke aanduiding voor voettekst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86878-8994-414B-ADB7-CC0FA1E00C8C}" type="slidenum">
              <a:rPr lang="nl-NL" smtClean="0"/>
              <a:pPr>
                <a:defRPr/>
              </a:pPr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intr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611188" y="1079500"/>
            <a:ext cx="575786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0000FF"/>
              </a:buClr>
              <a:buSzPct val="125000"/>
            </a:pPr>
            <a:r>
              <a:rPr lang="nl-NL" sz="3200">
                <a:solidFill>
                  <a:schemeClr val="bg1"/>
                </a:solidFill>
                <a:latin typeface="Arial Black" pitchFamily="34" charset="0"/>
              </a:rPr>
              <a:t>Lean Six Sigma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12000" y="2422800"/>
            <a:ext cx="6840000" cy="579600"/>
          </a:xfrm>
        </p:spPr>
        <p:txBody>
          <a:bodyPr anchor="t"/>
          <a:lstStyle>
            <a:lvl1pPr marL="0" indent="0" algn="l">
              <a:buFont typeface="Arial" pitchFamily="34" charset="0"/>
              <a:buNone/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12000" y="3808800"/>
            <a:ext cx="6840000" cy="1548000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smtClean="0"/>
              <a:t>Klik om de ondertitelstijl van het model te bewerken</a:t>
            </a:r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3"/>
          </p:nvPr>
        </p:nvSpPr>
        <p:spPr>
          <a:xfrm>
            <a:off x="612000" y="5734800"/>
            <a:ext cx="6840000" cy="687600"/>
          </a:xfrm>
        </p:spPr>
        <p:txBody>
          <a:bodyPr/>
          <a:lstStyle>
            <a:lvl1pPr algn="l">
              <a:defRPr sz="3600" b="1">
                <a:solidFill>
                  <a:schemeClr val="bg1"/>
                </a:solidFill>
                <a:latin typeface="Arial Black" pitchFamily="34" charset="0"/>
              </a:defRPr>
            </a:lvl1pPr>
            <a:lvl2pPr algn="r">
              <a:defRPr sz="3600" b="1">
                <a:solidFill>
                  <a:srgbClr val="C80F00"/>
                </a:solidFill>
                <a:latin typeface="Arial Black" pitchFamily="34" charset="0"/>
              </a:defRPr>
            </a:lvl2pPr>
            <a:lvl3pPr algn="r">
              <a:defRPr sz="3600" b="1">
                <a:solidFill>
                  <a:srgbClr val="C80F00"/>
                </a:solidFill>
                <a:latin typeface="Arial Black" pitchFamily="34" charset="0"/>
              </a:defRPr>
            </a:lvl3pPr>
            <a:lvl4pPr algn="r">
              <a:defRPr sz="3600" b="1">
                <a:solidFill>
                  <a:srgbClr val="C80F00"/>
                </a:solidFill>
                <a:latin typeface="Arial Black" pitchFamily="34" charset="0"/>
              </a:defRPr>
            </a:lvl4pPr>
            <a:lvl5pPr algn="r">
              <a:defRPr sz="3600" b="1">
                <a:solidFill>
                  <a:srgbClr val="C80F00"/>
                </a:solidFill>
                <a:latin typeface="Arial Black" pitchFamily="34" charset="0"/>
              </a:defRPr>
            </a:lvl5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12" name="Tijdelijke aanduiding voor inhoud 11"/>
          <p:cNvSpPr>
            <a:spLocks noGrp="1"/>
          </p:cNvSpPr>
          <p:nvPr>
            <p:ph sz="quarter" idx="17"/>
          </p:nvPr>
        </p:nvSpPr>
        <p:spPr>
          <a:xfrm>
            <a:off x="899592" y="2996952"/>
            <a:ext cx="6552133" cy="431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8" name="Tijdelijke aanduiding voor datum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CFD49F-7F6C-4F87-942D-467EA54C13CC}" type="datetimeFigureOut">
              <a:rPr lang="nl-NL"/>
              <a:pPr>
                <a:defRPr/>
              </a:pPr>
              <a:t>1-10-2014</a:t>
            </a:fld>
            <a:endParaRPr lang="nl-NL"/>
          </a:p>
        </p:txBody>
      </p:sp>
      <p:sp>
        <p:nvSpPr>
          <p:cNvPr id="9" name="Tijdelijke aanduiding voor voettekst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1" name="Tijdelijke aanduiding voor dianumm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2B49D8-A634-4C94-9AE9-E2F640EB5D22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77273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4"/>
          <p:cNvPicPr>
            <a:picLocks noChangeAspect="1" noChangeArrowheads="1"/>
          </p:cNvPicPr>
          <p:nvPr/>
        </p:nvPicPr>
        <p:blipFill>
          <a:blip r:embed="rId16">
            <a:lum bright="-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hthoek 7"/>
          <p:cNvSpPr/>
          <p:nvPr/>
        </p:nvSpPr>
        <p:spPr>
          <a:xfrm>
            <a:off x="0" y="0"/>
            <a:ext cx="2667000" cy="114300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nl-NL"/>
          </a:p>
        </p:txBody>
      </p:sp>
      <p:sp>
        <p:nvSpPr>
          <p:cNvPr id="1028" name="Tijdelijke aanduiding voor titel 1"/>
          <p:cNvSpPr>
            <a:spLocks noGrp="1"/>
          </p:cNvSpPr>
          <p:nvPr>
            <p:ph type="title"/>
          </p:nvPr>
        </p:nvSpPr>
        <p:spPr bwMode="auto">
          <a:xfrm>
            <a:off x="1979613" y="238125"/>
            <a:ext cx="64801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de stijl te bewerken</a:t>
            </a:r>
          </a:p>
        </p:txBody>
      </p:sp>
      <p:sp>
        <p:nvSpPr>
          <p:cNvPr id="1029" name="Tijdelijke aanduiding voor tekst 2"/>
          <p:cNvSpPr>
            <a:spLocks noGrp="1"/>
          </p:cNvSpPr>
          <p:nvPr>
            <p:ph type="body" idx="1"/>
          </p:nvPr>
        </p:nvSpPr>
        <p:spPr bwMode="auto">
          <a:xfrm>
            <a:off x="720725" y="1439863"/>
            <a:ext cx="7920038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F19380E-37FF-4E58-974B-66286528FDA6}" type="datetimeFigureOut">
              <a:rPr lang="nl-NL" smtClean="0"/>
              <a:pPr>
                <a:defRPr/>
              </a:pPr>
              <a:t>1-10-2014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1295400" y="6667500"/>
            <a:ext cx="1296988" cy="161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E786878-8994-414B-ADB7-CC0FA1E00C8C}" type="slidenum">
              <a:rPr lang="nl-NL" smtClean="0"/>
              <a:pPr>
                <a:defRPr/>
              </a:pPr>
              <a:t>‹#›</a:t>
            </a:fld>
            <a:endParaRPr lang="nl-NL"/>
          </a:p>
        </p:txBody>
      </p:sp>
      <p:pic>
        <p:nvPicPr>
          <p:cNvPr id="1033" name="Picture 24"/>
          <p:cNvPicPr>
            <a:picLocks noChangeAspect="1" noChangeArrowheads="1"/>
          </p:cNvPicPr>
          <p:nvPr/>
        </p:nvPicPr>
        <p:blipFill>
          <a:blip r:embed="rId17">
            <a:lum bright="-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54800"/>
            <a:ext cx="91440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9"/>
          <p:cNvSpPr>
            <a:spLocks noChangeArrowheads="1"/>
          </p:cNvSpPr>
          <p:nvPr/>
        </p:nvSpPr>
        <p:spPr bwMode="auto">
          <a:xfrm>
            <a:off x="8556625" y="6667500"/>
            <a:ext cx="587375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/>
          <a:lstStyle/>
          <a:p>
            <a:pPr algn="ctr"/>
            <a:fld id="{BEADAE9D-80F5-479B-BF1C-B8DDDF9E4C86}" type="slidenum">
              <a:rPr lang="nl-NL" sz="1000">
                <a:solidFill>
                  <a:srgbClr val="FEF6D6"/>
                </a:solidFill>
              </a:rPr>
              <a:pPr algn="ctr"/>
              <a:t>‹#›</a:t>
            </a:fld>
            <a:endParaRPr lang="nl-NL" sz="1000">
              <a:solidFill>
                <a:srgbClr val="FEF6D6"/>
              </a:solidFill>
            </a:endParaRPr>
          </a:p>
        </p:txBody>
      </p:sp>
      <p:sp>
        <p:nvSpPr>
          <p:cNvPr id="1036" name="Text Box 20"/>
          <p:cNvSpPr txBox="1">
            <a:spLocks noChangeArrowheads="1"/>
          </p:cNvSpPr>
          <p:nvPr/>
        </p:nvSpPr>
        <p:spPr bwMode="auto">
          <a:xfrm>
            <a:off x="0" y="6642100"/>
            <a:ext cx="1295400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b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0000FF"/>
              </a:buClr>
              <a:buSzPct val="125000"/>
              <a:defRPr/>
            </a:pPr>
            <a:r>
              <a:rPr lang="en-US" sz="1000" smtClean="0">
                <a:solidFill>
                  <a:srgbClr val="FEF6D6"/>
                </a:solidFill>
              </a:rPr>
              <a:t>© LSSA 2010</a:t>
            </a:r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3" y="457200"/>
            <a:ext cx="1679575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703" r:id="rId1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lang="nl-NL" sz="2800" b="1" kern="1200">
          <a:solidFill>
            <a:srgbClr val="FEF6D6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EF6D6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EF6D6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EF6D6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EF6D6"/>
          </a:solidFill>
          <a:latin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EF6D6"/>
          </a:solidFill>
          <a:latin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EF6D6"/>
          </a:solidFill>
          <a:latin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EF6D6"/>
          </a:solidFill>
          <a:latin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EF6D6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defRPr sz="2400" b="1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447675" indent="-266700" algn="l" rtl="0" eaLnBrk="1" fontAlgn="base" hangingPunct="1">
        <a:spcBef>
          <a:spcPct val="20000"/>
        </a:spcBef>
        <a:spcAft>
          <a:spcPct val="0"/>
        </a:spcAft>
        <a:buClr>
          <a:srgbClr val="C80F00"/>
        </a:buClr>
        <a:buSzPct val="120000"/>
        <a:buFont typeface="Arial" charset="0"/>
        <a:buChar char="•"/>
        <a:defRPr sz="1600" b="1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985838" indent="-266700" algn="l" rtl="0" eaLnBrk="1" fontAlgn="base" hangingPunct="1">
        <a:spcBef>
          <a:spcPct val="20000"/>
        </a:spcBef>
        <a:spcAft>
          <a:spcPct val="0"/>
        </a:spcAft>
        <a:buClr>
          <a:srgbClr val="C80F00"/>
        </a:buClr>
        <a:buSzPct val="120000"/>
        <a:buFont typeface="Arial" charset="0"/>
        <a:buChar char="•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24000" indent="-266700" algn="l" rtl="0" eaLnBrk="1" fontAlgn="base" hangingPunct="1">
        <a:spcBef>
          <a:spcPct val="20000"/>
        </a:spcBef>
        <a:spcAft>
          <a:spcPct val="0"/>
        </a:spcAft>
        <a:buClr>
          <a:srgbClr val="C80F00"/>
        </a:buClr>
        <a:buSzPct val="120000"/>
        <a:buFont typeface="Arial" charset="0"/>
        <a:buChar char="•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163" indent="-266700" algn="l" rtl="0" eaLnBrk="1" fontAlgn="base" hangingPunct="1">
        <a:spcBef>
          <a:spcPct val="20000"/>
        </a:spcBef>
        <a:spcAft>
          <a:spcPct val="0"/>
        </a:spcAft>
        <a:buClr>
          <a:srgbClr val="C80F00"/>
        </a:buClr>
        <a:buSzPct val="120000"/>
        <a:buFont typeface="Arial" charset="0"/>
        <a:buChar char="•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el 1"/>
          <p:cNvSpPr>
            <a:spLocks noGrp="1"/>
          </p:cNvSpPr>
          <p:nvPr>
            <p:ph type="ctrTitle"/>
          </p:nvPr>
        </p:nvSpPr>
        <p:spPr>
          <a:xfrm>
            <a:off x="990000" y="2422800"/>
            <a:ext cx="7614448" cy="579600"/>
          </a:xfrm>
        </p:spPr>
        <p:txBody>
          <a:bodyPr/>
          <a:lstStyle/>
          <a:p>
            <a:pPr>
              <a:buFontTx/>
              <a:buNone/>
            </a:pPr>
            <a:r>
              <a:rPr lang="sl-SI" dirty="0" smtClean="0"/>
              <a:t>Kaj je </a:t>
            </a:r>
            <a:r>
              <a:rPr lang="en-US" dirty="0" smtClean="0"/>
              <a:t>Lean Six Sigma</a:t>
            </a:r>
            <a:r>
              <a:rPr lang="sl-SI" dirty="0" smtClean="0"/>
              <a:t> ?</a:t>
            </a:r>
            <a:endParaRPr dirty="0" smtClean="0">
              <a:latin typeface="Arial" charset="0"/>
              <a:cs typeface="Arial" charset="0"/>
            </a:endParaRP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l-SI" dirty="0" err="1" smtClean="0"/>
              <a:t>red.prof.dr</a:t>
            </a:r>
            <a:r>
              <a:rPr lang="sl-SI" dirty="0" smtClean="0"/>
              <a:t>. Milan </a:t>
            </a:r>
            <a:r>
              <a:rPr lang="sl-SI" dirty="0" smtClean="0"/>
              <a:t>Zorman</a:t>
            </a:r>
          </a:p>
          <a:p>
            <a:r>
              <a:rPr lang="sl-SI" i="1" dirty="0" smtClean="0"/>
              <a:t>milan.zorman@um.si</a:t>
            </a:r>
            <a:endParaRPr lang="nl-NL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l-SI" dirty="0" smtClean="0">
                <a:latin typeface="Arial" charset="0"/>
                <a:cs typeface="Arial" charset="0"/>
              </a:rPr>
              <a:t>Zgodovina nenehnih izboljšav </a:t>
            </a:r>
            <a:endParaRPr lang="en-GB" dirty="0" smtClean="0">
              <a:latin typeface="Arial" charset="0"/>
              <a:cs typeface="Arial" charset="0"/>
            </a:endParaRPr>
          </a:p>
        </p:txBody>
      </p:sp>
      <p:sp>
        <p:nvSpPr>
          <p:cNvPr id="4099" name="Tijdelijke aanduiding voor inhoud 2"/>
          <p:cNvSpPr>
            <a:spLocks noGrp="1"/>
          </p:cNvSpPr>
          <p:nvPr>
            <p:ph idx="1"/>
          </p:nvPr>
        </p:nvSpPr>
        <p:spPr>
          <a:xfrm>
            <a:off x="720725" y="2564903"/>
            <a:ext cx="7920038" cy="3915271"/>
          </a:xfrm>
        </p:spPr>
        <p:txBody>
          <a:bodyPr/>
          <a:lstStyle/>
          <a:p>
            <a:pPr eaLnBrk="1" hangingPunct="1"/>
            <a:r>
              <a:rPr lang="sl-SI" dirty="0" smtClean="0">
                <a:latin typeface="Arial" charset="0"/>
                <a:cs typeface="Arial" charset="0"/>
              </a:rPr>
              <a:t>Stremimo k operativni odličnosti:</a:t>
            </a:r>
            <a:endParaRPr lang="en-GB" dirty="0" smtClean="0">
              <a:latin typeface="Arial" charset="0"/>
              <a:cs typeface="Arial" charset="0"/>
            </a:endParaRPr>
          </a:p>
          <a:p>
            <a:pPr lvl="1" eaLnBrk="1" hangingPunct="1"/>
            <a:endParaRPr lang="en-GB" dirty="0" smtClean="0">
              <a:latin typeface="Arial" charset="0"/>
              <a:cs typeface="Arial" charset="0"/>
            </a:endParaRPr>
          </a:p>
          <a:p>
            <a:pPr lvl="1" eaLnBrk="1" hangingPunct="1"/>
            <a:r>
              <a:rPr lang="sl-SI" dirty="0" smtClean="0">
                <a:latin typeface="Arial" charset="0"/>
                <a:cs typeface="Arial" charset="0"/>
              </a:rPr>
              <a:t>Ponuditi izdelke in storitve:</a:t>
            </a:r>
          </a:p>
          <a:p>
            <a:pPr marL="180975" lvl="1" indent="0">
              <a:buNone/>
            </a:pPr>
            <a:r>
              <a:rPr lang="en-GB" dirty="0" smtClean="0">
                <a:latin typeface="Arial" charset="0"/>
                <a:cs typeface="Arial" charset="0"/>
              </a:rPr>
              <a:t/>
            </a:r>
            <a:br>
              <a:rPr lang="en-GB" dirty="0" smtClean="0">
                <a:latin typeface="Arial" charset="0"/>
                <a:cs typeface="Arial" charset="0"/>
              </a:rPr>
            </a:br>
            <a:r>
              <a:rPr lang="en-GB" dirty="0" smtClean="0">
                <a:latin typeface="Arial" charset="0"/>
                <a:cs typeface="Arial" charset="0"/>
              </a:rPr>
              <a:t>	</a:t>
            </a:r>
            <a:r>
              <a:rPr lang="sl-SI" dirty="0" smtClean="0">
                <a:solidFill>
                  <a:srgbClr val="C00000"/>
                </a:solidFill>
                <a:latin typeface="Arial" charset="0"/>
                <a:cs typeface="Arial" charset="0"/>
              </a:rPr>
              <a:t>najvišje kvalitete</a:t>
            </a:r>
            <a:r>
              <a:rPr lang="en-GB" dirty="0" smtClean="0">
                <a:solidFill>
                  <a:srgbClr val="CB0F01"/>
                </a:solidFill>
                <a:latin typeface="Arial" charset="0"/>
                <a:cs typeface="Arial" charset="0"/>
              </a:rPr>
              <a:t/>
            </a:r>
            <a:br>
              <a:rPr lang="en-GB" dirty="0" smtClean="0">
                <a:solidFill>
                  <a:srgbClr val="CB0F01"/>
                </a:solidFill>
                <a:latin typeface="Arial" charset="0"/>
                <a:cs typeface="Arial" charset="0"/>
              </a:rPr>
            </a:br>
            <a:r>
              <a:rPr lang="en-GB" dirty="0" smtClean="0">
                <a:solidFill>
                  <a:srgbClr val="CB0F01"/>
                </a:solidFill>
                <a:latin typeface="Arial" charset="0"/>
                <a:cs typeface="Arial" charset="0"/>
              </a:rPr>
              <a:t>	</a:t>
            </a:r>
            <a:r>
              <a:rPr lang="sl-SI" dirty="0" smtClean="0">
                <a:latin typeface="Arial" charset="0"/>
                <a:cs typeface="Arial" charset="0"/>
              </a:rPr>
              <a:t>z </a:t>
            </a:r>
            <a:r>
              <a:rPr lang="sl-SI" dirty="0" smtClean="0">
                <a:solidFill>
                  <a:srgbClr val="C00000"/>
                </a:solidFill>
                <a:latin typeface="Arial" charset="0"/>
                <a:cs typeface="Arial" charset="0"/>
              </a:rPr>
              <a:t>najnižjo ceno</a:t>
            </a:r>
            <a:r>
              <a:rPr lang="en-GB" dirty="0" smtClean="0">
                <a:solidFill>
                  <a:srgbClr val="CB0F01"/>
                </a:solidFill>
                <a:latin typeface="Arial" charset="0"/>
                <a:cs typeface="Arial" charset="0"/>
              </a:rPr>
              <a:t/>
            </a:r>
            <a:br>
              <a:rPr lang="en-GB" dirty="0" smtClean="0">
                <a:solidFill>
                  <a:srgbClr val="CB0F01"/>
                </a:solidFill>
                <a:latin typeface="Arial" charset="0"/>
                <a:cs typeface="Arial" charset="0"/>
              </a:rPr>
            </a:br>
            <a:r>
              <a:rPr lang="en-GB" dirty="0" smtClean="0">
                <a:solidFill>
                  <a:srgbClr val="CB0F01"/>
                </a:solidFill>
                <a:latin typeface="Arial" charset="0"/>
                <a:cs typeface="Arial" charset="0"/>
              </a:rPr>
              <a:t>	</a:t>
            </a:r>
            <a:r>
              <a:rPr lang="sl-SI" dirty="0" smtClean="0">
                <a:latin typeface="Arial" charset="0"/>
                <a:cs typeface="Arial" charset="0"/>
              </a:rPr>
              <a:t>in v </a:t>
            </a:r>
            <a:r>
              <a:rPr lang="sl-SI" dirty="0" smtClean="0">
                <a:solidFill>
                  <a:srgbClr val="C00000"/>
                </a:solidFill>
                <a:latin typeface="Arial" charset="0"/>
                <a:cs typeface="Arial" charset="0"/>
              </a:rPr>
              <a:t>ravno pravem trenutku</a:t>
            </a:r>
            <a:r>
              <a:rPr lang="sl-SI" dirty="0" smtClean="0">
                <a:solidFill>
                  <a:srgbClr val="CB0F01"/>
                </a:solidFill>
                <a:latin typeface="Arial" charset="0"/>
                <a:cs typeface="Arial" charset="0"/>
              </a:rPr>
              <a:t>.</a:t>
            </a:r>
            <a:endParaRPr lang="en-GB" dirty="0" smtClean="0">
              <a:latin typeface="Arial" charset="0"/>
              <a:cs typeface="Arial" charset="0"/>
            </a:endParaRPr>
          </a:p>
          <a:p>
            <a:pPr lvl="1" eaLnBrk="1" hangingPunct="1">
              <a:buFont typeface="Arial" charset="0"/>
              <a:buNone/>
            </a:pPr>
            <a:endParaRPr lang="en-GB" dirty="0" smtClean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386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el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l-SI" dirty="0" smtClean="0">
                <a:latin typeface="Arial" charset="0"/>
                <a:cs typeface="Arial" charset="0"/>
              </a:rPr>
              <a:t>Osnove </a:t>
            </a:r>
            <a:r>
              <a:rPr lang="en-GB" dirty="0" smtClean="0">
                <a:latin typeface="Arial" charset="0"/>
                <a:cs typeface="Arial" charset="0"/>
              </a:rPr>
              <a:t>LSS</a:t>
            </a:r>
          </a:p>
        </p:txBody>
      </p:sp>
      <p:sp>
        <p:nvSpPr>
          <p:cNvPr id="3075" name="Tijdelijke aanduiding voor inhoud 2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l-SI" dirty="0" smtClean="0">
                <a:latin typeface="Arial" charset="0"/>
                <a:cs typeface="Arial" charset="0"/>
              </a:rPr>
              <a:t>Kje začeti?</a:t>
            </a:r>
            <a:endParaRPr lang="en-GB" dirty="0" smtClean="0">
              <a:latin typeface="Arial" charset="0"/>
              <a:cs typeface="Arial" charset="0"/>
            </a:endParaRPr>
          </a:p>
        </p:txBody>
      </p:sp>
      <p:sp>
        <p:nvSpPr>
          <p:cNvPr id="19" name="AutoShape 4"/>
          <p:cNvSpPr>
            <a:spLocks noChangeArrowheads="1"/>
          </p:cNvSpPr>
          <p:nvPr/>
        </p:nvSpPr>
        <p:spPr bwMode="auto">
          <a:xfrm rot="19751914">
            <a:off x="-347663" y="3338513"/>
            <a:ext cx="9836151" cy="808037"/>
          </a:xfrm>
          <a:prstGeom prst="rightArrow">
            <a:avLst>
              <a:gd name="adj1" fmla="val 40981"/>
              <a:gd name="adj2" fmla="val 102206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lang="en-GB"/>
          </a:p>
        </p:txBody>
      </p:sp>
      <p:grpSp>
        <p:nvGrpSpPr>
          <p:cNvPr id="2" name="Groep 8"/>
          <p:cNvGrpSpPr>
            <a:grpSpLocks/>
          </p:cNvGrpSpPr>
          <p:nvPr/>
        </p:nvGrpSpPr>
        <p:grpSpPr bwMode="auto">
          <a:xfrm>
            <a:off x="5562600" y="4191000"/>
            <a:ext cx="3224213" cy="2454275"/>
            <a:chOff x="966788" y="2471738"/>
            <a:chExt cx="6199187" cy="4173537"/>
          </a:xfrm>
        </p:grpSpPr>
        <p:pic>
          <p:nvPicPr>
            <p:cNvPr id="3088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425" y="2471738"/>
              <a:ext cx="4097338" cy="4173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89" name="Line 5"/>
            <p:cNvSpPr>
              <a:spLocks noChangeShapeType="1"/>
            </p:cNvSpPr>
            <p:nvPr/>
          </p:nvSpPr>
          <p:spPr bwMode="auto">
            <a:xfrm>
              <a:off x="1612900" y="5903913"/>
              <a:ext cx="5549900" cy="11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090" name="Line 6"/>
            <p:cNvSpPr>
              <a:spLocks noChangeShapeType="1"/>
            </p:cNvSpPr>
            <p:nvPr/>
          </p:nvSpPr>
          <p:spPr bwMode="auto">
            <a:xfrm>
              <a:off x="1600200" y="5091113"/>
              <a:ext cx="5549900" cy="11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091" name="Line 7"/>
            <p:cNvSpPr>
              <a:spLocks noChangeShapeType="1"/>
            </p:cNvSpPr>
            <p:nvPr/>
          </p:nvSpPr>
          <p:spPr bwMode="auto">
            <a:xfrm>
              <a:off x="1603375" y="4340225"/>
              <a:ext cx="5549900" cy="11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092" name="Line 8"/>
            <p:cNvSpPr>
              <a:spLocks noChangeShapeType="1"/>
            </p:cNvSpPr>
            <p:nvPr/>
          </p:nvSpPr>
          <p:spPr bwMode="auto">
            <a:xfrm>
              <a:off x="1616075" y="3527425"/>
              <a:ext cx="5549900" cy="11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093" name="Text Box 9"/>
            <p:cNvSpPr txBox="1">
              <a:spLocks noChangeArrowheads="1"/>
            </p:cNvSpPr>
            <p:nvPr/>
          </p:nvSpPr>
          <p:spPr bwMode="auto">
            <a:xfrm>
              <a:off x="985838" y="5286375"/>
              <a:ext cx="1187222" cy="444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GB" sz="1100"/>
                <a:t>Kaizen</a:t>
              </a:r>
            </a:p>
          </p:txBody>
        </p:sp>
        <p:sp>
          <p:nvSpPr>
            <p:cNvPr id="3094" name="Text Box 10"/>
            <p:cNvSpPr txBox="1">
              <a:spLocks noChangeArrowheads="1"/>
            </p:cNvSpPr>
            <p:nvPr/>
          </p:nvSpPr>
          <p:spPr bwMode="auto">
            <a:xfrm>
              <a:off x="966788" y="4511675"/>
              <a:ext cx="959147" cy="444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GB" sz="1100"/>
                <a:t>Lean</a:t>
              </a:r>
            </a:p>
          </p:txBody>
        </p:sp>
        <p:sp>
          <p:nvSpPr>
            <p:cNvPr id="3095" name="Text Box 11"/>
            <p:cNvSpPr txBox="1">
              <a:spLocks noChangeArrowheads="1"/>
            </p:cNvSpPr>
            <p:nvPr/>
          </p:nvSpPr>
          <p:spPr bwMode="auto">
            <a:xfrm>
              <a:off x="966788" y="3724274"/>
              <a:ext cx="1578648" cy="444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GB" sz="1100"/>
                <a:t>Six Sigma</a:t>
              </a:r>
            </a:p>
          </p:txBody>
        </p:sp>
        <p:sp>
          <p:nvSpPr>
            <p:cNvPr id="3096" name="Text Box 12"/>
            <p:cNvSpPr txBox="1">
              <a:spLocks noChangeArrowheads="1"/>
            </p:cNvSpPr>
            <p:nvPr/>
          </p:nvSpPr>
          <p:spPr bwMode="auto">
            <a:xfrm>
              <a:off x="979489" y="2987675"/>
              <a:ext cx="989968" cy="444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GB" sz="1100"/>
                <a:t>DfSS</a:t>
              </a:r>
            </a:p>
          </p:txBody>
        </p:sp>
      </p:grpSp>
      <p:sp>
        <p:nvSpPr>
          <p:cNvPr id="30" name="Text Box 6"/>
          <p:cNvSpPr txBox="1">
            <a:spLocks noChangeArrowheads="1"/>
          </p:cNvSpPr>
          <p:nvPr/>
        </p:nvSpPr>
        <p:spPr bwMode="auto">
          <a:xfrm>
            <a:off x="1619250" y="4340225"/>
            <a:ext cx="415925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65138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FF"/>
              </a:buClr>
              <a:buSzPct val="120000"/>
            </a:pPr>
            <a:r>
              <a:rPr lang="en-GB" b="1" dirty="0">
                <a:solidFill>
                  <a:srgbClr val="FF0000"/>
                </a:solidFill>
              </a:rPr>
              <a:t>2</a:t>
            </a:r>
            <a:r>
              <a:rPr lang="en-GB" b="1" dirty="0"/>
              <a:t> – </a:t>
            </a:r>
            <a:r>
              <a:rPr lang="sl-SI" b="1" dirty="0" smtClean="0"/>
              <a:t>Pregled</a:t>
            </a:r>
            <a:endParaRPr lang="en-GB" b="1" dirty="0"/>
          </a:p>
          <a:p>
            <a:pPr lvl="1" eaLnBrk="1" hangingPunct="1">
              <a:spcBef>
                <a:spcPct val="20000"/>
              </a:spcBef>
              <a:buClr>
                <a:srgbClr val="0000FF"/>
              </a:buClr>
              <a:buSzPct val="120000"/>
              <a:buFontTx/>
              <a:buChar char="•"/>
            </a:pPr>
            <a:r>
              <a:rPr lang="en-GB" sz="1400" dirty="0" smtClean="0"/>
              <a:t>Vi</a:t>
            </a:r>
            <a:r>
              <a:rPr lang="sl-SI" sz="1400" dirty="0" err="1" smtClean="0"/>
              <a:t>zualno</a:t>
            </a:r>
            <a:r>
              <a:rPr lang="en-GB" sz="1400" dirty="0" smtClean="0"/>
              <a:t> </a:t>
            </a:r>
            <a:r>
              <a:rPr lang="sl-SI" sz="1400" dirty="0" smtClean="0"/>
              <a:t>upravljanje ključnih indikatorjev učinkovitosti (</a:t>
            </a:r>
            <a:r>
              <a:rPr lang="en-GB" sz="1400" dirty="0" smtClean="0"/>
              <a:t>KPI</a:t>
            </a:r>
            <a:r>
              <a:rPr lang="sl-SI" sz="1400" dirty="0" smtClean="0"/>
              <a:t>)</a:t>
            </a:r>
            <a:endParaRPr lang="en-GB" sz="1400" dirty="0" smtClean="0"/>
          </a:p>
          <a:p>
            <a:pPr lvl="1" eaLnBrk="1" hangingPunct="1">
              <a:spcBef>
                <a:spcPct val="20000"/>
              </a:spcBef>
              <a:buClr>
                <a:srgbClr val="0000FF"/>
              </a:buClr>
              <a:buSzPct val="120000"/>
              <a:buFontTx/>
              <a:buChar char="•"/>
            </a:pPr>
            <a:r>
              <a:rPr lang="sl-SI" sz="1400" dirty="0" smtClean="0"/>
              <a:t>Nadzor dela v teku (WIP)</a:t>
            </a:r>
            <a:endParaRPr lang="en-GB" sz="1400" dirty="0"/>
          </a:p>
          <a:p>
            <a:pPr lvl="1" eaLnBrk="1" hangingPunct="1">
              <a:spcBef>
                <a:spcPct val="20000"/>
              </a:spcBef>
              <a:buClr>
                <a:srgbClr val="0000FF"/>
              </a:buClr>
              <a:buSzPct val="120000"/>
              <a:buFontTx/>
              <a:buChar char="•"/>
            </a:pPr>
            <a:r>
              <a:rPr lang="sl-SI" sz="1400" dirty="0" smtClean="0"/>
              <a:t>Model stalnih izboljšav</a:t>
            </a:r>
            <a:endParaRPr lang="en-GB" sz="1400" dirty="0"/>
          </a:p>
        </p:txBody>
      </p:sp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107950" y="5394325"/>
            <a:ext cx="3886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65138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FF"/>
              </a:buClr>
              <a:buSzPct val="120000"/>
            </a:pPr>
            <a:r>
              <a:rPr lang="en-GB" b="1" dirty="0">
                <a:solidFill>
                  <a:srgbClr val="FF0000"/>
                </a:solidFill>
              </a:rPr>
              <a:t>1</a:t>
            </a:r>
            <a:r>
              <a:rPr lang="en-GB" b="1" dirty="0"/>
              <a:t> – </a:t>
            </a:r>
            <a:r>
              <a:rPr lang="en-GB" b="1" dirty="0" err="1" smtClean="0"/>
              <a:t>Stru</a:t>
            </a:r>
            <a:r>
              <a:rPr lang="sl-SI" b="1" dirty="0" smtClean="0"/>
              <a:t>k</a:t>
            </a:r>
            <a:r>
              <a:rPr lang="en-GB" b="1" dirty="0" err="1" smtClean="0"/>
              <a:t>tur</a:t>
            </a:r>
            <a:r>
              <a:rPr lang="sl-SI" b="1" dirty="0" smtClean="0"/>
              <a:t>a</a:t>
            </a:r>
            <a:endParaRPr lang="en-GB" b="1" dirty="0"/>
          </a:p>
          <a:p>
            <a:pPr lvl="1" eaLnBrk="1" hangingPunct="1">
              <a:spcBef>
                <a:spcPct val="20000"/>
              </a:spcBef>
              <a:buClr>
                <a:srgbClr val="0000FF"/>
              </a:buClr>
              <a:buSzPct val="120000"/>
              <a:buFontTx/>
              <a:buChar char="•"/>
            </a:pPr>
            <a:r>
              <a:rPr lang="sl-SI" sz="1400" dirty="0" smtClean="0"/>
              <a:t>Delovno okolje</a:t>
            </a:r>
            <a:endParaRPr lang="en-GB" sz="1400" dirty="0"/>
          </a:p>
          <a:p>
            <a:pPr lvl="1" eaLnBrk="1" hangingPunct="1">
              <a:spcBef>
                <a:spcPct val="20000"/>
              </a:spcBef>
              <a:buClr>
                <a:srgbClr val="0000FF"/>
              </a:buClr>
              <a:buSzPct val="120000"/>
              <a:buFontTx/>
              <a:buChar char="•"/>
            </a:pPr>
            <a:r>
              <a:rPr lang="sl-SI" sz="1400" dirty="0" smtClean="0"/>
              <a:t>Postopki </a:t>
            </a:r>
            <a:r>
              <a:rPr lang="en-GB" sz="1400" dirty="0" smtClean="0"/>
              <a:t>&amp; </a:t>
            </a:r>
            <a:r>
              <a:rPr lang="sl-SI" sz="1400" dirty="0" smtClean="0"/>
              <a:t>navodila</a:t>
            </a:r>
            <a:endParaRPr lang="en-GB" sz="1400" dirty="0"/>
          </a:p>
          <a:p>
            <a:pPr lvl="1" eaLnBrk="1" hangingPunct="1">
              <a:spcBef>
                <a:spcPct val="20000"/>
              </a:spcBef>
              <a:buClr>
                <a:srgbClr val="0000FF"/>
              </a:buClr>
              <a:buSzPct val="120000"/>
              <a:buFontTx/>
              <a:buChar char="•"/>
            </a:pPr>
            <a:r>
              <a:rPr lang="sl-SI" sz="1400" dirty="0" smtClean="0"/>
              <a:t>Vidne nepravilnosti</a:t>
            </a:r>
            <a:endParaRPr lang="en-GB" sz="1400" dirty="0"/>
          </a:p>
        </p:txBody>
      </p:sp>
      <p:sp>
        <p:nvSpPr>
          <p:cNvPr id="32" name="Text Box 7"/>
          <p:cNvSpPr txBox="1">
            <a:spLocks noChangeArrowheads="1"/>
          </p:cNvSpPr>
          <p:nvPr/>
        </p:nvSpPr>
        <p:spPr bwMode="auto">
          <a:xfrm>
            <a:off x="3419475" y="3306763"/>
            <a:ext cx="3886200" cy="1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65138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FF"/>
              </a:buClr>
              <a:buSzPct val="120000"/>
            </a:pPr>
            <a:r>
              <a:rPr lang="en-GB" b="1" dirty="0">
                <a:solidFill>
                  <a:srgbClr val="FF0000"/>
                </a:solidFill>
              </a:rPr>
              <a:t>3</a:t>
            </a:r>
            <a:r>
              <a:rPr lang="en-GB" b="1" dirty="0"/>
              <a:t> – </a:t>
            </a:r>
            <a:r>
              <a:rPr lang="en-GB" b="1" dirty="0" err="1" smtClean="0"/>
              <a:t>Stabil</a:t>
            </a:r>
            <a:r>
              <a:rPr lang="sl-SI" b="1" dirty="0" err="1" smtClean="0"/>
              <a:t>nost</a:t>
            </a:r>
            <a:endParaRPr lang="en-GB" b="1" dirty="0"/>
          </a:p>
          <a:p>
            <a:pPr lvl="1" eaLnBrk="1" hangingPunct="1">
              <a:spcBef>
                <a:spcPct val="20000"/>
              </a:spcBef>
              <a:buClr>
                <a:srgbClr val="0000FF"/>
              </a:buClr>
              <a:buSzPct val="120000"/>
              <a:buFontTx/>
              <a:buChar char="•"/>
            </a:pPr>
            <a:r>
              <a:rPr lang="en-GB" sz="1400" dirty="0" smtClean="0"/>
              <a:t>Stab</a:t>
            </a:r>
            <a:r>
              <a:rPr lang="sl-SI" sz="1400" dirty="0" smtClean="0"/>
              <a:t>i</a:t>
            </a:r>
            <a:r>
              <a:rPr lang="en-GB" sz="1400" dirty="0" smtClean="0"/>
              <a:t>l</a:t>
            </a:r>
            <a:r>
              <a:rPr lang="sl-SI" sz="1400" dirty="0" smtClean="0"/>
              <a:t>ost</a:t>
            </a:r>
            <a:r>
              <a:rPr lang="en-GB" sz="1400" dirty="0" smtClean="0"/>
              <a:t> </a:t>
            </a:r>
            <a:r>
              <a:rPr lang="en-GB" sz="1400" dirty="0" err="1" smtClean="0"/>
              <a:t>proces</a:t>
            </a:r>
            <a:r>
              <a:rPr lang="sl-SI" sz="1400" dirty="0" smtClean="0"/>
              <a:t>ov</a:t>
            </a:r>
            <a:endParaRPr lang="en-GB" sz="1400" dirty="0"/>
          </a:p>
          <a:p>
            <a:pPr lvl="1" eaLnBrk="1" hangingPunct="1">
              <a:spcBef>
                <a:spcPct val="20000"/>
              </a:spcBef>
              <a:buClr>
                <a:srgbClr val="0000FF"/>
              </a:buClr>
              <a:buSzPct val="120000"/>
              <a:buFontTx/>
              <a:buChar char="•"/>
            </a:pPr>
            <a:r>
              <a:rPr lang="sl-SI" sz="1400" dirty="0" smtClean="0"/>
              <a:t>Odstranjevanje potrat (</a:t>
            </a:r>
            <a:r>
              <a:rPr lang="sl-SI" sz="1400" dirty="0" err="1" smtClean="0"/>
              <a:t>waste</a:t>
            </a:r>
            <a:r>
              <a:rPr lang="sl-SI" sz="1400" dirty="0" smtClean="0"/>
              <a:t>) </a:t>
            </a:r>
            <a:endParaRPr lang="en-GB" sz="1400" dirty="0"/>
          </a:p>
          <a:p>
            <a:pPr lvl="1" eaLnBrk="1" hangingPunct="1">
              <a:spcBef>
                <a:spcPct val="20000"/>
              </a:spcBef>
              <a:buClr>
                <a:srgbClr val="0000FF"/>
              </a:buClr>
              <a:buSzPct val="120000"/>
              <a:buFontTx/>
              <a:buChar char="•"/>
            </a:pPr>
            <a:r>
              <a:rPr lang="en-GB" sz="1400" dirty="0"/>
              <a:t>Flow &amp; </a:t>
            </a:r>
            <a:r>
              <a:rPr lang="en-GB" sz="1400" dirty="0" smtClean="0"/>
              <a:t>Pull</a:t>
            </a:r>
            <a:r>
              <a:rPr lang="sl-SI" sz="1400" dirty="0" smtClean="0"/>
              <a:t> pristop</a:t>
            </a:r>
            <a:endParaRPr lang="en-GB" sz="1400" dirty="0"/>
          </a:p>
        </p:txBody>
      </p:sp>
      <p:sp>
        <p:nvSpPr>
          <p:cNvPr id="33" name="Text Box 8"/>
          <p:cNvSpPr txBox="1">
            <a:spLocks noChangeArrowheads="1"/>
          </p:cNvSpPr>
          <p:nvPr/>
        </p:nvSpPr>
        <p:spPr bwMode="auto">
          <a:xfrm>
            <a:off x="4716463" y="2362200"/>
            <a:ext cx="291147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65138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FF"/>
              </a:buClr>
              <a:buSzPct val="120000"/>
            </a:pPr>
            <a:r>
              <a:rPr lang="en-GB" b="1" dirty="0">
                <a:solidFill>
                  <a:srgbClr val="FF0000"/>
                </a:solidFill>
              </a:rPr>
              <a:t>4</a:t>
            </a:r>
            <a:r>
              <a:rPr lang="en-GB" b="1" dirty="0"/>
              <a:t> – </a:t>
            </a:r>
            <a:r>
              <a:rPr lang="sl-SI" b="1" dirty="0" smtClean="0"/>
              <a:t>Zmogljivosti</a:t>
            </a:r>
          </a:p>
          <a:p>
            <a:pPr lvl="1" eaLnBrk="1" hangingPunct="1">
              <a:spcBef>
                <a:spcPct val="20000"/>
              </a:spcBef>
              <a:buClr>
                <a:srgbClr val="0000FF"/>
              </a:buClr>
              <a:buSzPct val="120000"/>
              <a:buFontTx/>
              <a:buChar char="•"/>
            </a:pPr>
            <a:r>
              <a:rPr lang="sl-SI" sz="1400" dirty="0"/>
              <a:t>Zmanjšanje variance</a:t>
            </a:r>
            <a:endParaRPr lang="en-GB" sz="1400" dirty="0"/>
          </a:p>
          <a:p>
            <a:pPr lvl="1" eaLnBrk="1" hangingPunct="1">
              <a:spcBef>
                <a:spcPct val="20000"/>
              </a:spcBef>
              <a:buClr>
                <a:srgbClr val="0000FF"/>
              </a:buClr>
              <a:buSzPct val="120000"/>
              <a:buFontTx/>
              <a:buChar char="•"/>
            </a:pPr>
            <a:r>
              <a:rPr lang="sl-SI" sz="1400" dirty="0" smtClean="0"/>
              <a:t>Nadzor v procesu samem</a:t>
            </a:r>
            <a:endParaRPr lang="en-GB" sz="1400" dirty="0"/>
          </a:p>
          <a:p>
            <a:pPr lvl="1" eaLnBrk="1" hangingPunct="1">
              <a:spcBef>
                <a:spcPct val="20000"/>
              </a:spcBef>
              <a:buClr>
                <a:srgbClr val="0000FF"/>
              </a:buClr>
              <a:buSzPct val="120000"/>
              <a:buFontTx/>
              <a:buChar char="•"/>
            </a:pPr>
            <a:r>
              <a:rPr lang="en-GB" sz="1400" dirty="0" err="1" smtClean="0"/>
              <a:t>Statisti</a:t>
            </a:r>
            <a:r>
              <a:rPr lang="sl-SI" sz="1400" dirty="0" err="1" smtClean="0"/>
              <a:t>čna</a:t>
            </a:r>
            <a:r>
              <a:rPr lang="sl-SI" sz="1400" dirty="0" smtClean="0"/>
              <a:t> orodja</a:t>
            </a:r>
            <a:endParaRPr lang="en-GB" sz="1400" dirty="0"/>
          </a:p>
        </p:txBody>
      </p:sp>
      <p:sp>
        <p:nvSpPr>
          <p:cNvPr id="34" name="Text Box 8"/>
          <p:cNvSpPr txBox="1">
            <a:spLocks noChangeArrowheads="1"/>
          </p:cNvSpPr>
          <p:nvPr/>
        </p:nvSpPr>
        <p:spPr bwMode="auto">
          <a:xfrm>
            <a:off x="6227762" y="1484313"/>
            <a:ext cx="35288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65138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FF"/>
              </a:buClr>
              <a:buSzPct val="120000"/>
            </a:pPr>
            <a:r>
              <a:rPr lang="en-GB" b="1" dirty="0">
                <a:solidFill>
                  <a:srgbClr val="FF0000"/>
                </a:solidFill>
              </a:rPr>
              <a:t>5</a:t>
            </a:r>
            <a:r>
              <a:rPr lang="en-GB" b="1" dirty="0"/>
              <a:t> – </a:t>
            </a:r>
            <a:r>
              <a:rPr lang="en-GB" b="1" dirty="0" err="1" smtClean="0"/>
              <a:t>Robustn</a:t>
            </a:r>
            <a:r>
              <a:rPr lang="sl-SI" b="1" dirty="0" smtClean="0"/>
              <a:t>ost</a:t>
            </a:r>
            <a:endParaRPr lang="en-GB" b="1" dirty="0"/>
          </a:p>
          <a:p>
            <a:pPr lvl="1" eaLnBrk="1" hangingPunct="1">
              <a:spcBef>
                <a:spcPct val="20000"/>
              </a:spcBef>
              <a:buClr>
                <a:srgbClr val="0000FF"/>
              </a:buClr>
              <a:buSzPct val="120000"/>
              <a:buFontTx/>
              <a:buChar char="•"/>
            </a:pPr>
            <a:r>
              <a:rPr lang="en-GB" sz="1400" dirty="0" err="1" smtClean="0"/>
              <a:t>Robus</a:t>
            </a:r>
            <a:r>
              <a:rPr lang="sl-SI" sz="1400" dirty="0" err="1" smtClean="0"/>
              <a:t>tnos</a:t>
            </a:r>
            <a:r>
              <a:rPr lang="en-GB" sz="1400" dirty="0" smtClean="0"/>
              <a:t>t </a:t>
            </a:r>
            <a:r>
              <a:rPr lang="en-GB" sz="1400" dirty="0" err="1" smtClean="0"/>
              <a:t>proces</a:t>
            </a:r>
            <a:r>
              <a:rPr lang="sl-SI" sz="1400" dirty="0" smtClean="0"/>
              <a:t>ov</a:t>
            </a:r>
            <a:endParaRPr lang="en-GB" sz="1400" dirty="0"/>
          </a:p>
          <a:p>
            <a:pPr lvl="1" eaLnBrk="1" hangingPunct="1">
              <a:spcBef>
                <a:spcPct val="20000"/>
              </a:spcBef>
              <a:buClr>
                <a:srgbClr val="0000FF"/>
              </a:buClr>
              <a:buSzPct val="120000"/>
              <a:buFontTx/>
              <a:buChar char="•"/>
            </a:pPr>
            <a:r>
              <a:rPr lang="sl-SI" sz="1400" dirty="0" smtClean="0"/>
              <a:t>Oblikovanje za </a:t>
            </a:r>
            <a:r>
              <a:rPr lang="en-GB" sz="1400" dirty="0" smtClean="0"/>
              <a:t>Six Sigma</a:t>
            </a:r>
            <a:r>
              <a:rPr lang="sl-SI" sz="1400" dirty="0" smtClean="0"/>
              <a:t> (</a:t>
            </a:r>
            <a:r>
              <a:rPr lang="sl-SI" sz="1400" dirty="0" err="1" smtClean="0"/>
              <a:t>DfSS</a:t>
            </a:r>
            <a:r>
              <a:rPr lang="sl-SI" sz="1400" dirty="0" smtClean="0"/>
              <a:t>)</a:t>
            </a:r>
            <a:endParaRPr lang="en-GB" sz="1400" dirty="0"/>
          </a:p>
          <a:p>
            <a:pPr lvl="1" eaLnBrk="1" hangingPunct="1">
              <a:spcBef>
                <a:spcPct val="20000"/>
              </a:spcBef>
              <a:buClr>
                <a:srgbClr val="0000FF"/>
              </a:buClr>
              <a:buSzPct val="120000"/>
              <a:buFontTx/>
              <a:buChar char="•"/>
            </a:pPr>
            <a:r>
              <a:rPr lang="en-GB" sz="1400" dirty="0" err="1"/>
              <a:t>Razvoj</a:t>
            </a:r>
            <a:r>
              <a:rPr lang="en-GB" sz="1400" dirty="0"/>
              <a:t> </a:t>
            </a:r>
            <a:r>
              <a:rPr lang="en-GB" sz="1400" dirty="0" err="1"/>
              <a:t>funkcij</a:t>
            </a:r>
            <a:r>
              <a:rPr lang="en-GB" sz="1400" dirty="0"/>
              <a:t> </a:t>
            </a:r>
            <a:r>
              <a:rPr lang="en-GB" sz="1400" dirty="0" err="1" smtClean="0"/>
              <a:t>kakovosti</a:t>
            </a:r>
            <a:r>
              <a:rPr lang="sl-SI" sz="1400" dirty="0" smtClean="0"/>
              <a:t> (</a:t>
            </a:r>
            <a:r>
              <a:rPr lang="en-GB" sz="1400" dirty="0" smtClean="0"/>
              <a:t>QFD</a:t>
            </a:r>
            <a:r>
              <a:rPr lang="sl-SI" sz="1400" dirty="0" smtClean="0"/>
              <a:t>)</a:t>
            </a:r>
            <a:endParaRPr lang="en-GB" sz="1400" dirty="0"/>
          </a:p>
        </p:txBody>
      </p:sp>
      <p:sp>
        <p:nvSpPr>
          <p:cNvPr id="35" name="Tekstvak 34"/>
          <p:cNvSpPr txBox="1">
            <a:spLocks noChangeArrowheads="1"/>
          </p:cNvSpPr>
          <p:nvPr/>
        </p:nvSpPr>
        <p:spPr bwMode="auto">
          <a:xfrm>
            <a:off x="107950" y="4868863"/>
            <a:ext cx="6238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2800" b="1">
                <a:solidFill>
                  <a:srgbClr val="002060"/>
                </a:solidFill>
              </a:rPr>
              <a:t>5S</a:t>
            </a:r>
          </a:p>
        </p:txBody>
      </p:sp>
      <p:sp>
        <p:nvSpPr>
          <p:cNvPr id="36" name="Tekstvak 35"/>
          <p:cNvSpPr txBox="1">
            <a:spLocks noChangeArrowheads="1"/>
          </p:cNvSpPr>
          <p:nvPr/>
        </p:nvSpPr>
        <p:spPr bwMode="auto">
          <a:xfrm>
            <a:off x="3419475" y="2833688"/>
            <a:ext cx="1023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2800" b="1">
                <a:solidFill>
                  <a:srgbClr val="002060"/>
                </a:solidFill>
              </a:rPr>
              <a:t>Lean</a:t>
            </a:r>
          </a:p>
        </p:txBody>
      </p:sp>
      <p:sp>
        <p:nvSpPr>
          <p:cNvPr id="37" name="Tekstvak 36"/>
          <p:cNvSpPr txBox="1">
            <a:spLocks noChangeArrowheads="1"/>
          </p:cNvSpPr>
          <p:nvPr/>
        </p:nvSpPr>
        <p:spPr bwMode="auto">
          <a:xfrm>
            <a:off x="4716463" y="1825625"/>
            <a:ext cx="1562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2800" b="1">
                <a:solidFill>
                  <a:srgbClr val="002060"/>
                </a:solidFill>
              </a:rPr>
              <a:t>6 Sigma</a:t>
            </a:r>
          </a:p>
        </p:txBody>
      </p:sp>
      <p:sp>
        <p:nvSpPr>
          <p:cNvPr id="38" name="Tekstvak 37"/>
          <p:cNvSpPr txBox="1">
            <a:spLocks noChangeArrowheads="1"/>
          </p:cNvSpPr>
          <p:nvPr/>
        </p:nvSpPr>
        <p:spPr bwMode="auto">
          <a:xfrm>
            <a:off x="6300788" y="1052513"/>
            <a:ext cx="1042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2800" b="1">
                <a:solidFill>
                  <a:srgbClr val="002060"/>
                </a:solidFill>
              </a:rPr>
              <a:t>DfSS</a:t>
            </a:r>
          </a:p>
        </p:txBody>
      </p:sp>
      <p:sp>
        <p:nvSpPr>
          <p:cNvPr id="39" name="Tekstvak 38"/>
          <p:cNvSpPr txBox="1">
            <a:spLocks noChangeArrowheads="1"/>
          </p:cNvSpPr>
          <p:nvPr/>
        </p:nvSpPr>
        <p:spPr bwMode="auto">
          <a:xfrm>
            <a:off x="1619250" y="3789363"/>
            <a:ext cx="1343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2800" b="1">
                <a:solidFill>
                  <a:srgbClr val="002060"/>
                </a:solidFill>
              </a:rPr>
              <a:t>Kaizen</a:t>
            </a:r>
          </a:p>
        </p:txBody>
      </p:sp>
    </p:spTree>
    <p:extLst>
      <p:ext uri="{BB962C8B-B14F-4D97-AF65-F5344CB8AC3E}">
        <p14:creationId xmlns:p14="http://schemas.microsoft.com/office/powerpoint/2010/main" val="1365670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l-SI" dirty="0" smtClean="0">
                <a:latin typeface="Arial" charset="0"/>
                <a:cs typeface="Arial" charset="0"/>
              </a:rPr>
              <a:t>Nivo </a:t>
            </a:r>
            <a:r>
              <a:rPr lang="en-GB" dirty="0" smtClean="0">
                <a:latin typeface="Arial" charset="0"/>
                <a:cs typeface="Arial" charset="0"/>
              </a:rPr>
              <a:t>1 – 5S </a:t>
            </a:r>
            <a:r>
              <a:rPr lang="sl-SI" dirty="0" smtClean="0">
                <a:latin typeface="Arial" charset="0"/>
                <a:cs typeface="Arial" charset="0"/>
              </a:rPr>
              <a:t>delovno okolje</a:t>
            </a:r>
            <a:endParaRPr lang="en-GB" dirty="0" smtClean="0">
              <a:latin typeface="Arial" charset="0"/>
              <a:cs typeface="Arial" charset="0"/>
            </a:endParaRPr>
          </a:p>
        </p:txBody>
      </p:sp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 smtClean="0"/>
              <a:t>Poudarek na strukturi</a:t>
            </a:r>
            <a:endParaRPr lang="en-GB" dirty="0"/>
          </a:p>
        </p:txBody>
      </p:sp>
      <p:grpSp>
        <p:nvGrpSpPr>
          <p:cNvPr id="3" name="Groep 2"/>
          <p:cNvGrpSpPr/>
          <p:nvPr/>
        </p:nvGrpSpPr>
        <p:grpSpPr>
          <a:xfrm>
            <a:off x="203312" y="2199108"/>
            <a:ext cx="9084012" cy="3429041"/>
            <a:chOff x="203312" y="2199108"/>
            <a:chExt cx="9084012" cy="3429041"/>
          </a:xfrm>
        </p:grpSpPr>
        <p:pic>
          <p:nvPicPr>
            <p:cNvPr id="5" name="Afbeelding 4" descr="P3050387.JPG"/>
            <p:cNvPicPr>
              <a:picLocks noChangeAspect="1"/>
            </p:cNvPicPr>
            <p:nvPr/>
          </p:nvPicPr>
          <p:blipFill rotWithShape="1">
            <a:blip r:embed="rId3" cstate="print"/>
            <a:srcRect t="5423" r="10460" b="17429"/>
            <a:stretch/>
          </p:blipFill>
          <p:spPr>
            <a:xfrm>
              <a:off x="323527" y="2206992"/>
              <a:ext cx="3120713" cy="216599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5362" name="Picture 2" descr="http://www.visualfactory.net/images/ManfInstruction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1920" y="2206992"/>
              <a:ext cx="2727960" cy="216599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Afbeelding 5" descr="IMAGE_344.jpg"/>
            <p:cNvPicPr>
              <a:picLocks noChangeAspect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020272" y="2199108"/>
              <a:ext cx="1236863" cy="217388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3" name="Tekstvak 12"/>
            <p:cNvSpPr txBox="1"/>
            <p:nvPr/>
          </p:nvSpPr>
          <p:spPr>
            <a:xfrm>
              <a:off x="203312" y="4797152"/>
              <a:ext cx="35902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sl-SI" sz="1600" dirty="0" smtClean="0"/>
                <a:t>Urejeno in profesionalno delovno okolje</a:t>
              </a:r>
              <a:endParaRPr lang="en-GB" sz="1600" dirty="0" smtClean="0"/>
            </a:p>
          </p:txBody>
        </p:sp>
        <p:sp>
          <p:nvSpPr>
            <p:cNvPr id="14" name="Tekstvak 13"/>
            <p:cNvSpPr txBox="1"/>
            <p:nvPr/>
          </p:nvSpPr>
          <p:spPr>
            <a:xfrm>
              <a:off x="3930518" y="4797152"/>
              <a:ext cx="247003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sl-SI" sz="1600" dirty="0" smtClean="0"/>
                <a:t>Jasna navodila za delo</a:t>
              </a:r>
              <a:endParaRPr lang="en-GB" sz="1600" dirty="0" smtClean="0"/>
            </a:p>
            <a:p>
              <a:pPr algn="ctr"/>
              <a:r>
                <a:rPr lang="sl-SI" sz="1600" dirty="0" smtClean="0"/>
                <a:t>Poznavanje procesa dela in </a:t>
              </a:r>
            </a:p>
            <a:p>
              <a:pPr algn="ctr"/>
              <a:r>
                <a:rPr lang="sl-SI" sz="1600" dirty="0" smtClean="0"/>
                <a:t>posedovanje veščin</a:t>
              </a:r>
              <a:endParaRPr lang="en-GB" sz="1600" dirty="0" smtClean="0"/>
            </a:p>
          </p:txBody>
        </p:sp>
        <p:sp>
          <p:nvSpPr>
            <p:cNvPr id="15" name="Tekstvak 14"/>
            <p:cNvSpPr txBox="1"/>
            <p:nvPr/>
          </p:nvSpPr>
          <p:spPr>
            <a:xfrm>
              <a:off x="6291697" y="4797152"/>
              <a:ext cx="299562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dirty="0" err="1" smtClean="0"/>
                <a:t>Stru</a:t>
              </a:r>
              <a:r>
                <a:rPr lang="sl-SI" sz="1600" dirty="0" smtClean="0"/>
                <a:t>k</a:t>
              </a:r>
              <a:r>
                <a:rPr lang="en-GB" sz="1600" dirty="0" err="1" smtClean="0"/>
                <a:t>tur</a:t>
              </a:r>
              <a:r>
                <a:rPr lang="sl-SI" sz="1600" dirty="0" err="1" smtClean="0"/>
                <a:t>irano</a:t>
              </a:r>
              <a:r>
                <a:rPr lang="sl-SI" sz="1600" dirty="0" smtClean="0"/>
                <a:t> okolje</a:t>
              </a:r>
              <a:endParaRPr lang="en-GB" sz="1600" dirty="0" smtClean="0"/>
            </a:p>
            <a:p>
              <a:pPr algn="ctr"/>
              <a:r>
                <a:rPr lang="en-GB" sz="1600" dirty="0" err="1"/>
                <a:t>Celovito</a:t>
              </a:r>
              <a:r>
                <a:rPr lang="en-GB" sz="1600" dirty="0"/>
                <a:t> </a:t>
              </a:r>
              <a:r>
                <a:rPr lang="en-GB" sz="1600" dirty="0" err="1"/>
                <a:t>produktivno</a:t>
              </a:r>
              <a:r>
                <a:rPr lang="en-GB" sz="1600" dirty="0"/>
                <a:t> </a:t>
              </a:r>
              <a:r>
                <a:rPr lang="en-GB" sz="1600" dirty="0" err="1" smtClean="0"/>
                <a:t>vzdrževanje</a:t>
              </a:r>
              <a:r>
                <a:rPr lang="sl-SI" sz="1600" dirty="0" smtClean="0"/>
                <a:t> </a:t>
              </a:r>
            </a:p>
            <a:p>
              <a:pPr algn="ctr"/>
              <a:r>
                <a:rPr lang="en-GB" sz="1600" dirty="0" smtClean="0"/>
                <a:t>(</a:t>
              </a:r>
              <a:r>
                <a:rPr lang="en-GB" sz="1600" dirty="0"/>
                <a:t>TPM</a:t>
              </a:r>
              <a:r>
                <a:rPr lang="en-GB" sz="1600" dirty="0" smtClean="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9211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smtClean="0">
                <a:latin typeface="Arial" charset="0"/>
                <a:cs typeface="Arial" charset="0"/>
              </a:rPr>
              <a:t>Nivo </a:t>
            </a:r>
            <a:r>
              <a:rPr lang="en-GB" dirty="0" smtClean="0">
                <a:latin typeface="Arial" charset="0"/>
                <a:cs typeface="Arial" charset="0"/>
              </a:rPr>
              <a:t>2 </a:t>
            </a:r>
            <a:r>
              <a:rPr lang="en-GB" dirty="0">
                <a:latin typeface="Arial" charset="0"/>
                <a:cs typeface="Arial" charset="0"/>
              </a:rPr>
              <a:t>– </a:t>
            </a:r>
            <a:r>
              <a:rPr lang="en-GB" dirty="0" smtClean="0">
                <a:latin typeface="Arial" charset="0"/>
                <a:cs typeface="Arial" charset="0"/>
              </a:rPr>
              <a:t>Kaizen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Poudarek </a:t>
            </a:r>
            <a:r>
              <a:rPr lang="sl-SI" dirty="0" smtClean="0"/>
              <a:t>na preglednosti in vpogledu</a:t>
            </a:r>
            <a:endParaRPr lang="en-GB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grpSp>
        <p:nvGrpSpPr>
          <p:cNvPr id="8" name="Groep 7"/>
          <p:cNvGrpSpPr/>
          <p:nvPr/>
        </p:nvGrpSpPr>
        <p:grpSpPr>
          <a:xfrm>
            <a:off x="151698" y="2163419"/>
            <a:ext cx="8380742" cy="3209797"/>
            <a:chOff x="151698" y="2163419"/>
            <a:chExt cx="8380742" cy="3209797"/>
          </a:xfrm>
        </p:grpSpPr>
        <p:pic>
          <p:nvPicPr>
            <p:cNvPr id="11" name="Afbeelding 10" descr="P3050386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2291" y="2251019"/>
              <a:ext cx="2711474" cy="203336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2" name="Afbeelding 11" descr="P3050376.JPG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683568" y="2251020"/>
              <a:ext cx="2088232" cy="203336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4" name="Picture 2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76" t="1709" r="22104"/>
            <a:stretch/>
          </p:blipFill>
          <p:spPr bwMode="auto">
            <a:xfrm>
              <a:off x="6290037" y="2163419"/>
              <a:ext cx="2242403" cy="2192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7" name="Tekstvak 16"/>
            <p:cNvSpPr txBox="1"/>
            <p:nvPr/>
          </p:nvSpPr>
          <p:spPr>
            <a:xfrm>
              <a:off x="151698" y="4788441"/>
              <a:ext cx="326134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dirty="0" smtClean="0"/>
                <a:t>Vi</a:t>
              </a:r>
              <a:r>
                <a:rPr lang="sl-SI" sz="1600" dirty="0" smtClean="0"/>
                <a:t>z</a:t>
              </a:r>
              <a:r>
                <a:rPr lang="en-GB" sz="1600" dirty="0" err="1" smtClean="0"/>
                <a:t>ual</a:t>
              </a:r>
              <a:r>
                <a:rPr lang="sl-SI" sz="1600" dirty="0" smtClean="0"/>
                <a:t>no upravljanje</a:t>
              </a:r>
              <a:endParaRPr lang="en-GB" sz="1600" dirty="0" smtClean="0"/>
            </a:p>
            <a:p>
              <a:pPr algn="ctr"/>
              <a:r>
                <a:rPr lang="sl-SI" sz="1600" dirty="0" smtClean="0"/>
                <a:t>Vsakodnevno  vitko (l</a:t>
              </a:r>
              <a:r>
                <a:rPr lang="en-GB" sz="1600" dirty="0" err="1" smtClean="0"/>
                <a:t>ean</a:t>
              </a:r>
              <a:r>
                <a:rPr lang="sl-SI" sz="1600" dirty="0" smtClean="0"/>
                <a:t>)</a:t>
              </a:r>
              <a:r>
                <a:rPr lang="en-GB" sz="1600" dirty="0" smtClean="0"/>
                <a:t> </a:t>
              </a:r>
              <a:r>
                <a:rPr lang="sl-SI" sz="1600" dirty="0" smtClean="0"/>
                <a:t>upravljanje</a:t>
              </a:r>
              <a:endParaRPr lang="en-GB" sz="1600" dirty="0" smtClean="0"/>
            </a:p>
          </p:txBody>
        </p:sp>
        <p:sp>
          <p:nvSpPr>
            <p:cNvPr id="18" name="Tekstvak 17"/>
            <p:cNvSpPr txBox="1"/>
            <p:nvPr/>
          </p:nvSpPr>
          <p:spPr>
            <a:xfrm>
              <a:off x="3297019" y="4561458"/>
              <a:ext cx="263155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sl-SI" sz="1600" dirty="0" smtClean="0"/>
                <a:t>Nadzor nad delom v procesu</a:t>
              </a:r>
              <a:endParaRPr lang="en-GB" sz="1600" dirty="0" smtClean="0"/>
            </a:p>
            <a:p>
              <a:pPr algn="ctr"/>
              <a:r>
                <a:rPr lang="sl-SI" sz="1600" dirty="0" smtClean="0"/>
                <a:t>Poudarek na ozkih grlih</a:t>
              </a:r>
              <a:r>
                <a:rPr lang="en-GB" sz="1600" dirty="0" smtClean="0"/>
                <a:t> (TOC)</a:t>
              </a:r>
            </a:p>
          </p:txBody>
        </p:sp>
        <p:sp>
          <p:nvSpPr>
            <p:cNvPr id="19" name="Tekstvak 18"/>
            <p:cNvSpPr txBox="1"/>
            <p:nvPr/>
          </p:nvSpPr>
          <p:spPr>
            <a:xfrm>
              <a:off x="6430456" y="4788441"/>
              <a:ext cx="205703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dirty="0" smtClean="0"/>
                <a:t>PDCA / </a:t>
              </a:r>
              <a:r>
                <a:rPr lang="sl-SI" sz="1600" dirty="0" smtClean="0"/>
                <a:t>Skupinsko delo</a:t>
              </a:r>
              <a:endParaRPr lang="en-GB" sz="1600" dirty="0" smtClean="0"/>
            </a:p>
            <a:p>
              <a:pPr algn="ctr"/>
              <a:r>
                <a:rPr lang="sl-SI" sz="1600" dirty="0" smtClean="0"/>
                <a:t>Model stalnih </a:t>
              </a:r>
              <a:r>
                <a:rPr lang="en-GB" sz="1600" dirty="0" err="1" smtClean="0"/>
                <a:t>izboljšav</a:t>
              </a:r>
              <a:endParaRPr lang="en-GB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22574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smtClean="0"/>
              <a:t>Nivo </a:t>
            </a:r>
            <a:r>
              <a:rPr lang="en-GB" dirty="0" smtClean="0"/>
              <a:t>3 –</a:t>
            </a:r>
            <a:r>
              <a:rPr lang="sl-SI" dirty="0" smtClean="0"/>
              <a:t> Vitko upravljanje </a:t>
            </a:r>
            <a:r>
              <a:rPr lang="sl-SI" sz="1400" dirty="0" smtClean="0"/>
              <a:t>(</a:t>
            </a:r>
            <a:r>
              <a:rPr lang="en-GB" sz="1400" dirty="0" smtClean="0"/>
              <a:t>Lean Management</a:t>
            </a:r>
            <a:r>
              <a:rPr lang="sl-SI" sz="1400" dirty="0" smtClean="0"/>
              <a:t>)</a:t>
            </a:r>
            <a:endParaRPr lang="en-GB" dirty="0" smtClean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 smtClean="0"/>
              <a:t>Poudarek na s</a:t>
            </a:r>
            <a:r>
              <a:rPr lang="en-GB" dirty="0" err="1" smtClean="0"/>
              <a:t>tabil</a:t>
            </a:r>
            <a:r>
              <a:rPr lang="sl-SI" dirty="0" err="1" smtClean="0"/>
              <a:t>nosti</a:t>
            </a:r>
            <a:endParaRPr lang="en-GB" dirty="0"/>
          </a:p>
          <a:p>
            <a:pPr lvl="1"/>
            <a:endParaRPr lang="en-GB" dirty="0" smtClean="0"/>
          </a:p>
          <a:p>
            <a:pPr lvl="1">
              <a:buFont typeface="Calibri" pitchFamily="34" charset="0"/>
              <a:buAutoNum type="arabicPeriod"/>
            </a:pPr>
            <a:r>
              <a:rPr lang="sl-SI" dirty="0" smtClean="0">
                <a:solidFill>
                  <a:srgbClr val="C00000"/>
                </a:solidFill>
              </a:rPr>
              <a:t>Vrednost</a:t>
            </a:r>
            <a:r>
              <a:rPr lang="en-GB" dirty="0" smtClean="0"/>
              <a:t>: </a:t>
            </a:r>
            <a:r>
              <a:rPr lang="sl-SI" dirty="0" smtClean="0"/>
              <a:t>Definiramo kaj uporabnik ceni </a:t>
            </a:r>
            <a:endParaRPr lang="en-GB" dirty="0" smtClean="0"/>
          </a:p>
          <a:p>
            <a:pPr lvl="1">
              <a:buFont typeface="Calibri" pitchFamily="34" charset="0"/>
              <a:buAutoNum type="arabicPeriod"/>
            </a:pPr>
            <a:endParaRPr lang="en-GB" dirty="0" smtClean="0"/>
          </a:p>
          <a:p>
            <a:pPr lvl="1">
              <a:buFont typeface="Calibri" pitchFamily="34" charset="0"/>
              <a:buAutoNum type="arabicPeriod"/>
            </a:pPr>
            <a:endParaRPr lang="en-GB" dirty="0" smtClean="0"/>
          </a:p>
          <a:p>
            <a:pPr lvl="1">
              <a:buFont typeface="Calibri" pitchFamily="34" charset="0"/>
              <a:buAutoNum type="arabicPeriod"/>
            </a:pPr>
            <a:r>
              <a:rPr lang="sl-SI" dirty="0" smtClean="0">
                <a:solidFill>
                  <a:srgbClr val="C00000"/>
                </a:solidFill>
              </a:rPr>
              <a:t>Vrednostni tok</a:t>
            </a:r>
            <a:r>
              <a:rPr lang="en-GB" dirty="0" smtClean="0"/>
              <a:t>: </a:t>
            </a:r>
            <a:r>
              <a:rPr lang="en-GB" dirty="0" err="1" smtClean="0"/>
              <a:t>Identif</a:t>
            </a:r>
            <a:r>
              <a:rPr lang="sl-SI" dirty="0" err="1" smtClean="0"/>
              <a:t>iciramo</a:t>
            </a:r>
            <a:r>
              <a:rPr lang="sl-SI" dirty="0" smtClean="0"/>
              <a:t> vrednostni tok </a:t>
            </a:r>
            <a:r>
              <a:rPr lang="en-GB" dirty="0" smtClean="0"/>
              <a:t>/ </a:t>
            </a:r>
            <a:r>
              <a:rPr lang="sl-SI" dirty="0" smtClean="0"/>
              <a:t>odstranimo potrate (</a:t>
            </a:r>
            <a:r>
              <a:rPr lang="sl-SI" dirty="0" err="1" smtClean="0"/>
              <a:t>waste</a:t>
            </a:r>
            <a:r>
              <a:rPr lang="sl-SI" dirty="0" smtClean="0"/>
              <a:t>)</a:t>
            </a:r>
            <a:endParaRPr lang="en-GB" dirty="0" smtClean="0"/>
          </a:p>
          <a:p>
            <a:pPr lvl="1">
              <a:buFont typeface="Calibri" pitchFamily="34" charset="0"/>
              <a:buAutoNum type="arabicPeriod"/>
            </a:pPr>
            <a:endParaRPr lang="en-GB" dirty="0" smtClean="0"/>
          </a:p>
          <a:p>
            <a:pPr lvl="1">
              <a:buFont typeface="Calibri" pitchFamily="34" charset="0"/>
              <a:buAutoNum type="arabicPeriod"/>
            </a:pPr>
            <a:endParaRPr lang="en-GB" dirty="0" smtClean="0"/>
          </a:p>
          <a:p>
            <a:pPr lvl="1">
              <a:buFont typeface="Calibri" pitchFamily="34" charset="0"/>
              <a:buAutoNum type="arabicPeriod"/>
            </a:pPr>
            <a:r>
              <a:rPr lang="sl-SI" dirty="0" smtClean="0">
                <a:solidFill>
                  <a:srgbClr val="C00000"/>
                </a:solidFill>
              </a:rPr>
              <a:t>Pretok</a:t>
            </a:r>
            <a:r>
              <a:rPr lang="en-GB" dirty="0" smtClean="0"/>
              <a:t>: </a:t>
            </a:r>
            <a:r>
              <a:rPr lang="sl-SI" dirty="0" smtClean="0"/>
              <a:t>Implementiramo konstantni pretok</a:t>
            </a:r>
            <a:endParaRPr lang="en-GB" dirty="0" smtClean="0"/>
          </a:p>
          <a:p>
            <a:pPr lvl="1">
              <a:buFont typeface="Calibri" pitchFamily="34" charset="0"/>
              <a:buAutoNum type="arabicPeriod"/>
            </a:pPr>
            <a:endParaRPr lang="en-GB" dirty="0" smtClean="0"/>
          </a:p>
          <a:p>
            <a:pPr lvl="1">
              <a:buFont typeface="Calibri" pitchFamily="34" charset="0"/>
              <a:buAutoNum type="arabicPeriod"/>
            </a:pPr>
            <a:endParaRPr lang="en-GB" dirty="0" smtClean="0"/>
          </a:p>
          <a:p>
            <a:pPr lvl="1">
              <a:buFont typeface="Calibri" pitchFamily="34" charset="0"/>
              <a:buAutoNum type="arabicPeriod"/>
            </a:pPr>
            <a:r>
              <a:rPr lang="en-GB" dirty="0" smtClean="0">
                <a:solidFill>
                  <a:srgbClr val="C00000"/>
                </a:solidFill>
              </a:rPr>
              <a:t>Pull</a:t>
            </a:r>
            <a:r>
              <a:rPr lang="sl-SI" dirty="0" smtClean="0">
                <a:solidFill>
                  <a:srgbClr val="C00000"/>
                </a:solidFill>
              </a:rPr>
              <a:t> načelo</a:t>
            </a:r>
            <a:r>
              <a:rPr lang="en-GB" dirty="0" smtClean="0"/>
              <a:t>: Pro</a:t>
            </a:r>
            <a:r>
              <a:rPr lang="sl-SI" dirty="0" err="1" smtClean="0"/>
              <a:t>izvodnja</a:t>
            </a:r>
            <a:r>
              <a:rPr lang="sl-SI" dirty="0" smtClean="0"/>
              <a:t> glede na povpraševanje</a:t>
            </a:r>
            <a:endParaRPr lang="en-GB" dirty="0" smtClean="0"/>
          </a:p>
          <a:p>
            <a:pPr lvl="1">
              <a:buFont typeface="Calibri" pitchFamily="34" charset="0"/>
              <a:buAutoNum type="arabicPeriod"/>
            </a:pPr>
            <a:endParaRPr lang="en-GB" dirty="0" smtClean="0"/>
          </a:p>
          <a:p>
            <a:pPr lvl="1">
              <a:buFont typeface="Calibri" pitchFamily="34" charset="0"/>
              <a:buAutoNum type="arabicPeriod"/>
            </a:pPr>
            <a:endParaRPr lang="en-GB" dirty="0" smtClean="0"/>
          </a:p>
          <a:p>
            <a:pPr lvl="1">
              <a:buFont typeface="Calibri" pitchFamily="34" charset="0"/>
              <a:buAutoNum type="arabicPeriod"/>
            </a:pPr>
            <a:r>
              <a:rPr lang="sl-SI" dirty="0" smtClean="0">
                <a:solidFill>
                  <a:srgbClr val="C00000"/>
                </a:solidFill>
              </a:rPr>
              <a:t>Popolnost</a:t>
            </a:r>
            <a:r>
              <a:rPr lang="en-GB" dirty="0" smtClean="0"/>
              <a:t>: </a:t>
            </a:r>
            <a:r>
              <a:rPr lang="sl-SI" dirty="0" smtClean="0"/>
              <a:t>Stalne izboljšave</a:t>
            </a:r>
            <a:endParaRPr lang="en-GB" dirty="0" smtClean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469925286"/>
              </p:ext>
            </p:extLst>
          </p:nvPr>
        </p:nvGraphicFramePr>
        <p:xfrm>
          <a:off x="5436096" y="3717032"/>
          <a:ext cx="3960440" cy="2924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576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el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Nivo </a:t>
            </a:r>
            <a:r>
              <a:rPr lang="en-GB" dirty="0"/>
              <a:t>3 –</a:t>
            </a:r>
            <a:r>
              <a:rPr lang="sl-SI" dirty="0"/>
              <a:t> Vitko upravljanje </a:t>
            </a:r>
            <a:r>
              <a:rPr lang="sl-SI" sz="1400" dirty="0"/>
              <a:t>(</a:t>
            </a:r>
            <a:r>
              <a:rPr lang="en-GB" sz="1400" dirty="0"/>
              <a:t>Lean Management</a:t>
            </a:r>
            <a:r>
              <a:rPr lang="sl-SI" sz="1400" dirty="0"/>
              <a:t>)</a:t>
            </a:r>
            <a:endParaRPr lang="en-GB" dirty="0" smtClean="0"/>
          </a:p>
        </p:txBody>
      </p:sp>
      <p:sp>
        <p:nvSpPr>
          <p:cNvPr id="6" name="Tijdelijke aanduiding voor inhoud 5"/>
          <p:cNvSpPr>
            <a:spLocks noGrp="1"/>
          </p:cNvSpPr>
          <p:nvPr>
            <p:ph idx="1"/>
          </p:nvPr>
        </p:nvSpPr>
        <p:spPr>
          <a:xfrm>
            <a:off x="720724" y="1845072"/>
            <a:ext cx="8315771" cy="5040312"/>
          </a:xfrm>
        </p:spPr>
        <p:txBody>
          <a:bodyPr/>
          <a:lstStyle/>
          <a:p>
            <a:pPr marL="1333500" lvl="2" indent="-419100">
              <a:lnSpc>
                <a:spcPct val="115000"/>
              </a:lnSpc>
              <a:spcBef>
                <a:spcPct val="0"/>
              </a:spcBef>
              <a:buClr>
                <a:srgbClr val="3333FF"/>
              </a:buClr>
              <a:buFont typeface="Wingdings" pitchFamily="2" charset="2"/>
              <a:buAutoNum type="arabicPeriod"/>
              <a:tabLst>
                <a:tab pos="3492500" algn="l"/>
              </a:tabLst>
            </a:pPr>
            <a:r>
              <a:rPr lang="sl-SI" b="1" dirty="0" smtClean="0">
                <a:solidFill>
                  <a:srgbClr val="000000"/>
                </a:solidFill>
              </a:rPr>
              <a:t>Prekomerna proizvodnja</a:t>
            </a:r>
            <a:r>
              <a:rPr lang="en-GB" b="1" dirty="0">
                <a:solidFill>
                  <a:srgbClr val="000000"/>
                </a:solidFill>
              </a:rPr>
              <a:t>	</a:t>
            </a:r>
            <a:r>
              <a:rPr lang="sl-SI" b="1" dirty="0" smtClean="0">
                <a:solidFill>
                  <a:prstClr val="black"/>
                </a:solidFill>
              </a:rPr>
              <a:t>Več, kot zahteva trg</a:t>
            </a:r>
            <a:endParaRPr lang="en-GB" b="1" dirty="0">
              <a:solidFill>
                <a:srgbClr val="000000"/>
              </a:solidFill>
            </a:endParaRPr>
          </a:p>
          <a:p>
            <a:pPr marL="1333500" lvl="2" indent="-419100">
              <a:lnSpc>
                <a:spcPct val="115000"/>
              </a:lnSpc>
              <a:spcBef>
                <a:spcPct val="0"/>
              </a:spcBef>
              <a:buClr>
                <a:srgbClr val="3333FF"/>
              </a:buClr>
              <a:buFont typeface="Wingdings" pitchFamily="2" charset="2"/>
              <a:buAutoNum type="arabicPeriod"/>
              <a:tabLst>
                <a:tab pos="3492500" algn="l"/>
              </a:tabLst>
            </a:pPr>
            <a:endParaRPr lang="en-GB" b="1" dirty="0">
              <a:solidFill>
                <a:srgbClr val="000000"/>
              </a:solidFill>
            </a:endParaRPr>
          </a:p>
          <a:p>
            <a:pPr marL="1333500" lvl="2" indent="-419100">
              <a:lnSpc>
                <a:spcPct val="115000"/>
              </a:lnSpc>
              <a:spcBef>
                <a:spcPct val="0"/>
              </a:spcBef>
              <a:buClr>
                <a:srgbClr val="3333FF"/>
              </a:buClr>
              <a:buFont typeface="Wingdings" pitchFamily="2" charset="2"/>
              <a:buAutoNum type="arabicPeriod"/>
              <a:tabLst>
                <a:tab pos="3492500" algn="l"/>
              </a:tabLst>
            </a:pPr>
            <a:r>
              <a:rPr lang="sl-SI" b="1" dirty="0" smtClean="0">
                <a:solidFill>
                  <a:srgbClr val="000000"/>
                </a:solidFill>
              </a:rPr>
              <a:t>Čakanje</a:t>
            </a:r>
            <a:r>
              <a:rPr lang="en-GB" b="1" dirty="0">
                <a:solidFill>
                  <a:srgbClr val="000000"/>
                </a:solidFill>
              </a:rPr>
              <a:t>	</a:t>
            </a:r>
            <a:r>
              <a:rPr lang="sl-SI" b="1" dirty="0" smtClean="0">
                <a:solidFill>
                  <a:srgbClr val="000000"/>
                </a:solidFill>
              </a:rPr>
              <a:t>		</a:t>
            </a:r>
            <a:r>
              <a:rPr lang="sl-SI" b="1" dirty="0" smtClean="0">
                <a:solidFill>
                  <a:prstClr val="black"/>
                </a:solidFill>
              </a:rPr>
              <a:t>Čakanje</a:t>
            </a:r>
            <a:r>
              <a:rPr lang="en-GB" b="1" dirty="0" smtClean="0">
                <a:solidFill>
                  <a:prstClr val="black"/>
                </a:solidFill>
              </a:rPr>
              <a:t>, </a:t>
            </a:r>
            <a:r>
              <a:rPr lang="sl-SI" b="1" dirty="0" smtClean="0">
                <a:solidFill>
                  <a:prstClr val="black"/>
                </a:solidFill>
              </a:rPr>
              <a:t>oprema v okvari</a:t>
            </a:r>
            <a:endParaRPr lang="en-GB" b="1" dirty="0">
              <a:solidFill>
                <a:srgbClr val="000000"/>
              </a:solidFill>
            </a:endParaRPr>
          </a:p>
          <a:p>
            <a:pPr marL="1333500" lvl="2" indent="-419100">
              <a:lnSpc>
                <a:spcPct val="115000"/>
              </a:lnSpc>
              <a:spcBef>
                <a:spcPct val="0"/>
              </a:spcBef>
              <a:buClr>
                <a:srgbClr val="3333FF"/>
              </a:buClr>
              <a:buFont typeface="Wingdings" pitchFamily="2" charset="2"/>
              <a:buAutoNum type="arabicPeriod"/>
              <a:tabLst>
                <a:tab pos="3492500" algn="l"/>
              </a:tabLst>
            </a:pPr>
            <a:endParaRPr lang="en-GB" b="1" dirty="0">
              <a:solidFill>
                <a:srgbClr val="000000"/>
              </a:solidFill>
            </a:endParaRPr>
          </a:p>
          <a:p>
            <a:pPr marL="1333500" lvl="2" indent="-419100">
              <a:lnSpc>
                <a:spcPct val="115000"/>
              </a:lnSpc>
              <a:spcBef>
                <a:spcPct val="0"/>
              </a:spcBef>
              <a:buClr>
                <a:srgbClr val="3333FF"/>
              </a:buClr>
              <a:buFont typeface="Wingdings" pitchFamily="2" charset="2"/>
              <a:buAutoNum type="arabicPeriod"/>
              <a:tabLst>
                <a:tab pos="3492500" algn="l"/>
              </a:tabLst>
            </a:pPr>
            <a:r>
              <a:rPr lang="en-GB" b="1" dirty="0">
                <a:solidFill>
                  <a:srgbClr val="000000"/>
                </a:solidFill>
              </a:rPr>
              <a:t>Transport	</a:t>
            </a:r>
            <a:r>
              <a:rPr lang="sl-SI" b="1" dirty="0" smtClean="0">
                <a:solidFill>
                  <a:srgbClr val="000000"/>
                </a:solidFill>
              </a:rPr>
              <a:t>		</a:t>
            </a:r>
            <a:r>
              <a:rPr lang="en-GB" b="1" dirty="0" smtClean="0">
                <a:solidFill>
                  <a:prstClr val="black"/>
                </a:solidFill>
              </a:rPr>
              <a:t>Transport</a:t>
            </a:r>
            <a:r>
              <a:rPr lang="sl-SI" b="1" dirty="0" smtClean="0">
                <a:solidFill>
                  <a:prstClr val="black"/>
                </a:solidFill>
              </a:rPr>
              <a:t> surovin ali izdelkov</a:t>
            </a:r>
            <a:endParaRPr lang="en-GB" b="1" dirty="0">
              <a:solidFill>
                <a:srgbClr val="000000"/>
              </a:solidFill>
            </a:endParaRPr>
          </a:p>
          <a:p>
            <a:pPr marL="1333500" lvl="2" indent="-419100">
              <a:lnSpc>
                <a:spcPct val="115000"/>
              </a:lnSpc>
              <a:spcBef>
                <a:spcPct val="0"/>
              </a:spcBef>
              <a:buClr>
                <a:srgbClr val="3333FF"/>
              </a:buClr>
              <a:buFont typeface="Wingdings" pitchFamily="2" charset="2"/>
              <a:buAutoNum type="arabicPeriod"/>
              <a:tabLst>
                <a:tab pos="3492500" algn="l"/>
              </a:tabLst>
            </a:pPr>
            <a:endParaRPr lang="en-GB" b="1" dirty="0">
              <a:solidFill>
                <a:srgbClr val="000000"/>
              </a:solidFill>
            </a:endParaRPr>
          </a:p>
          <a:p>
            <a:pPr marL="1333500" lvl="2" indent="-419100">
              <a:lnSpc>
                <a:spcPct val="115000"/>
              </a:lnSpc>
              <a:spcBef>
                <a:spcPct val="0"/>
              </a:spcBef>
              <a:buClr>
                <a:srgbClr val="3333FF"/>
              </a:buClr>
              <a:buFont typeface="Wingdings" pitchFamily="2" charset="2"/>
              <a:buAutoNum type="arabicPeriod"/>
              <a:tabLst>
                <a:tab pos="3492500" algn="l"/>
              </a:tabLst>
            </a:pPr>
            <a:r>
              <a:rPr lang="sl-SI" b="1" dirty="0" smtClean="0">
                <a:solidFill>
                  <a:srgbClr val="000000"/>
                </a:solidFill>
              </a:rPr>
              <a:t>Prekomerno </a:t>
            </a:r>
            <a:r>
              <a:rPr lang="en-GB" b="1" dirty="0" err="1" smtClean="0">
                <a:solidFill>
                  <a:srgbClr val="000000"/>
                </a:solidFill>
              </a:rPr>
              <a:t>proces</a:t>
            </a:r>
            <a:r>
              <a:rPr lang="sl-SI" b="1" dirty="0" err="1" smtClean="0">
                <a:solidFill>
                  <a:srgbClr val="000000"/>
                </a:solidFill>
              </a:rPr>
              <a:t>iranje</a:t>
            </a:r>
            <a:r>
              <a:rPr lang="en-GB" b="1" dirty="0">
                <a:solidFill>
                  <a:srgbClr val="000000"/>
                </a:solidFill>
              </a:rPr>
              <a:t>	</a:t>
            </a:r>
            <a:r>
              <a:rPr lang="sl-SI" b="1" dirty="0" smtClean="0">
                <a:solidFill>
                  <a:srgbClr val="000000"/>
                </a:solidFill>
              </a:rPr>
              <a:t>Nepotrebni koraki pri izdelavi</a:t>
            </a:r>
            <a:endParaRPr lang="en-GB" b="1" dirty="0">
              <a:solidFill>
                <a:srgbClr val="000000"/>
              </a:solidFill>
            </a:endParaRPr>
          </a:p>
          <a:p>
            <a:pPr marL="1333500" lvl="2" indent="-419100">
              <a:lnSpc>
                <a:spcPct val="115000"/>
              </a:lnSpc>
              <a:spcBef>
                <a:spcPct val="0"/>
              </a:spcBef>
              <a:buClr>
                <a:srgbClr val="3333FF"/>
              </a:buClr>
              <a:buFont typeface="Wingdings" pitchFamily="2" charset="2"/>
              <a:buAutoNum type="arabicPeriod"/>
              <a:tabLst>
                <a:tab pos="3492500" algn="l"/>
              </a:tabLst>
            </a:pPr>
            <a:endParaRPr lang="en-GB" b="1" dirty="0">
              <a:solidFill>
                <a:srgbClr val="000000"/>
              </a:solidFill>
            </a:endParaRPr>
          </a:p>
          <a:p>
            <a:pPr marL="1333500" lvl="2" indent="-419100">
              <a:lnSpc>
                <a:spcPct val="115000"/>
              </a:lnSpc>
              <a:spcBef>
                <a:spcPct val="0"/>
              </a:spcBef>
              <a:buClr>
                <a:srgbClr val="3333FF"/>
              </a:buClr>
              <a:buFont typeface="Wingdings" pitchFamily="2" charset="2"/>
              <a:buAutoNum type="arabicPeriod"/>
              <a:tabLst>
                <a:tab pos="3492500" algn="l"/>
              </a:tabLst>
            </a:pPr>
            <a:r>
              <a:rPr lang="sl-SI" b="1" dirty="0">
                <a:solidFill>
                  <a:srgbClr val="000000"/>
                </a:solidFill>
              </a:rPr>
              <a:t>Z</a:t>
            </a:r>
            <a:r>
              <a:rPr lang="sl-SI" b="1" dirty="0" smtClean="0">
                <a:solidFill>
                  <a:srgbClr val="000000"/>
                </a:solidFill>
              </a:rPr>
              <a:t>aloge</a:t>
            </a:r>
            <a:r>
              <a:rPr lang="en-GB" b="1" dirty="0">
                <a:solidFill>
                  <a:srgbClr val="000000"/>
                </a:solidFill>
              </a:rPr>
              <a:t>	</a:t>
            </a:r>
            <a:r>
              <a:rPr lang="sl-SI" b="1" dirty="0" smtClean="0">
                <a:solidFill>
                  <a:srgbClr val="000000"/>
                </a:solidFill>
              </a:rPr>
              <a:t>		</a:t>
            </a:r>
            <a:r>
              <a:rPr lang="sl-SI" b="1" dirty="0" smtClean="0">
                <a:solidFill>
                  <a:prstClr val="black"/>
                </a:solidFill>
              </a:rPr>
              <a:t>Nepotrebne zaloge</a:t>
            </a:r>
            <a:endParaRPr lang="en-GB" b="1" dirty="0">
              <a:solidFill>
                <a:srgbClr val="000000"/>
              </a:solidFill>
            </a:endParaRPr>
          </a:p>
          <a:p>
            <a:pPr marL="1333500" lvl="2" indent="-419100">
              <a:lnSpc>
                <a:spcPct val="115000"/>
              </a:lnSpc>
              <a:spcBef>
                <a:spcPct val="0"/>
              </a:spcBef>
              <a:buClr>
                <a:srgbClr val="3333FF"/>
              </a:buClr>
              <a:buFont typeface="Wingdings" pitchFamily="2" charset="2"/>
              <a:buAutoNum type="arabicPeriod"/>
              <a:tabLst>
                <a:tab pos="3492500" algn="l"/>
              </a:tabLst>
            </a:pPr>
            <a:endParaRPr lang="en-GB" b="1" dirty="0">
              <a:solidFill>
                <a:srgbClr val="000000"/>
              </a:solidFill>
            </a:endParaRPr>
          </a:p>
          <a:p>
            <a:pPr marL="1333500" lvl="2" indent="-419100">
              <a:lnSpc>
                <a:spcPct val="115000"/>
              </a:lnSpc>
              <a:spcBef>
                <a:spcPct val="0"/>
              </a:spcBef>
              <a:buClr>
                <a:srgbClr val="3333FF"/>
              </a:buClr>
              <a:buFont typeface="Wingdings" pitchFamily="2" charset="2"/>
              <a:buAutoNum type="arabicPeriod"/>
              <a:tabLst>
                <a:tab pos="3492500" algn="l"/>
              </a:tabLst>
            </a:pPr>
            <a:r>
              <a:rPr lang="sl-SI" b="1" dirty="0" smtClean="0">
                <a:solidFill>
                  <a:srgbClr val="000000"/>
                </a:solidFill>
              </a:rPr>
              <a:t>Premiki, gibanje</a:t>
            </a:r>
            <a:r>
              <a:rPr lang="en-GB" b="1" dirty="0">
                <a:solidFill>
                  <a:srgbClr val="000000"/>
                </a:solidFill>
              </a:rPr>
              <a:t>	</a:t>
            </a:r>
            <a:r>
              <a:rPr lang="sl-SI" b="1" dirty="0" smtClean="0">
                <a:solidFill>
                  <a:srgbClr val="000000"/>
                </a:solidFill>
              </a:rPr>
              <a:t>		</a:t>
            </a:r>
            <a:r>
              <a:rPr lang="sl-SI" b="1" dirty="0" smtClean="0">
                <a:solidFill>
                  <a:prstClr val="black"/>
                </a:solidFill>
              </a:rPr>
              <a:t>Nepotrebno iskanje in premikanje</a:t>
            </a:r>
            <a:endParaRPr lang="en-GB" b="1" dirty="0">
              <a:solidFill>
                <a:srgbClr val="000000"/>
              </a:solidFill>
            </a:endParaRPr>
          </a:p>
          <a:p>
            <a:pPr marL="1333500" lvl="2" indent="-419100">
              <a:lnSpc>
                <a:spcPct val="115000"/>
              </a:lnSpc>
              <a:spcBef>
                <a:spcPct val="0"/>
              </a:spcBef>
              <a:buClr>
                <a:srgbClr val="3333FF"/>
              </a:buClr>
              <a:buFont typeface="Wingdings" pitchFamily="2" charset="2"/>
              <a:buAutoNum type="arabicPeriod"/>
              <a:tabLst>
                <a:tab pos="3492500" algn="l"/>
              </a:tabLst>
            </a:pPr>
            <a:endParaRPr lang="en-GB" b="1" dirty="0">
              <a:solidFill>
                <a:srgbClr val="000000"/>
              </a:solidFill>
            </a:endParaRPr>
          </a:p>
          <a:p>
            <a:pPr marL="1333500" lvl="2" indent="-419100">
              <a:lnSpc>
                <a:spcPct val="115000"/>
              </a:lnSpc>
              <a:spcBef>
                <a:spcPct val="0"/>
              </a:spcBef>
              <a:buClr>
                <a:srgbClr val="3333FF"/>
              </a:buClr>
              <a:buFont typeface="Wingdings" pitchFamily="2" charset="2"/>
              <a:buAutoNum type="arabicPeriod"/>
              <a:tabLst>
                <a:tab pos="3492500" algn="l"/>
              </a:tabLst>
            </a:pPr>
            <a:r>
              <a:rPr lang="sl-SI" b="1" dirty="0" smtClean="0">
                <a:solidFill>
                  <a:srgbClr val="000000"/>
                </a:solidFill>
              </a:rPr>
              <a:t>Okvare</a:t>
            </a:r>
            <a:r>
              <a:rPr lang="en-GB" b="1" dirty="0">
                <a:solidFill>
                  <a:srgbClr val="000000"/>
                </a:solidFill>
              </a:rPr>
              <a:t>	</a:t>
            </a:r>
            <a:r>
              <a:rPr lang="sl-SI" b="1" dirty="0" smtClean="0">
                <a:solidFill>
                  <a:srgbClr val="000000"/>
                </a:solidFill>
              </a:rPr>
              <a:t>		</a:t>
            </a:r>
            <a:r>
              <a:rPr lang="sl-SI" b="1" dirty="0" smtClean="0">
                <a:solidFill>
                  <a:prstClr val="black"/>
                </a:solidFill>
              </a:rPr>
              <a:t>Zaradi napak, slabe kvalitete</a:t>
            </a:r>
            <a:endParaRPr lang="en-GB" b="1" dirty="0">
              <a:solidFill>
                <a:srgbClr val="000000"/>
              </a:solidFill>
            </a:endParaRPr>
          </a:p>
          <a:p>
            <a:pPr marL="1333500" lvl="2" indent="-419100">
              <a:lnSpc>
                <a:spcPct val="115000"/>
              </a:lnSpc>
              <a:spcBef>
                <a:spcPct val="0"/>
              </a:spcBef>
              <a:buClr>
                <a:srgbClr val="3333FF"/>
              </a:buClr>
              <a:buFont typeface="Wingdings" pitchFamily="2" charset="2"/>
              <a:buAutoNum type="arabicPeriod"/>
              <a:tabLst>
                <a:tab pos="3492500" algn="l"/>
              </a:tabLst>
            </a:pPr>
            <a:endParaRPr lang="en-GB" b="1" dirty="0">
              <a:solidFill>
                <a:srgbClr val="000000"/>
              </a:solidFill>
            </a:endParaRPr>
          </a:p>
          <a:p>
            <a:pPr marL="1333500" lvl="2" indent="-419100">
              <a:lnSpc>
                <a:spcPct val="115000"/>
              </a:lnSpc>
              <a:spcBef>
                <a:spcPct val="0"/>
              </a:spcBef>
              <a:buClr>
                <a:srgbClr val="3333FF"/>
              </a:buClr>
              <a:buFont typeface="Wingdings" pitchFamily="2" charset="2"/>
              <a:buAutoNum type="arabicPeriod"/>
              <a:tabLst>
                <a:tab pos="3492500" algn="l"/>
              </a:tabLst>
            </a:pPr>
            <a:r>
              <a:rPr lang="sl-SI" b="1" dirty="0" smtClean="0">
                <a:solidFill>
                  <a:srgbClr val="000000"/>
                </a:solidFill>
              </a:rPr>
              <a:t>Neizrabljen potencial</a:t>
            </a:r>
            <a:r>
              <a:rPr lang="en-GB" b="1" dirty="0">
                <a:solidFill>
                  <a:srgbClr val="000000"/>
                </a:solidFill>
              </a:rPr>
              <a:t>	</a:t>
            </a:r>
            <a:r>
              <a:rPr lang="sl-SI" b="1" dirty="0" smtClean="0">
                <a:solidFill>
                  <a:srgbClr val="000000"/>
                </a:solidFill>
              </a:rPr>
              <a:t>		</a:t>
            </a:r>
            <a:r>
              <a:rPr lang="sl-SI" b="1" dirty="0" smtClean="0">
                <a:solidFill>
                  <a:prstClr val="black"/>
                </a:solidFill>
              </a:rPr>
              <a:t>Znanje delavca je neizkoriščeno </a:t>
            </a:r>
            <a:endParaRPr lang="en-GB" dirty="0">
              <a:solidFill>
                <a:prstClr val="black"/>
              </a:solidFill>
            </a:endParaRPr>
          </a:p>
          <a:p>
            <a:pPr marL="1333500" lvl="2" indent="-419100">
              <a:lnSpc>
                <a:spcPct val="115000"/>
              </a:lnSpc>
              <a:spcBef>
                <a:spcPct val="0"/>
              </a:spcBef>
              <a:buClr>
                <a:srgbClr val="3333FF"/>
              </a:buClr>
              <a:buNone/>
              <a:tabLst>
                <a:tab pos="3492500" algn="l"/>
              </a:tabLst>
            </a:pPr>
            <a:endParaRPr lang="en-GB" dirty="0">
              <a:solidFill>
                <a:prstClr val="black"/>
              </a:solidFill>
            </a:endParaRPr>
          </a:p>
          <a:p>
            <a:endParaRPr lang="nl-NL" dirty="0"/>
          </a:p>
        </p:txBody>
      </p:sp>
      <p:pic>
        <p:nvPicPr>
          <p:cNvPr id="6147" name="Picture 4" descr="WAITIN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0" y="2230760"/>
            <a:ext cx="660400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5" descr="DEFECTS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050160"/>
            <a:ext cx="650875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6" descr="INVENTORY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" y="3907160"/>
            <a:ext cx="6286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7" descr="MOTION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4440560"/>
            <a:ext cx="7143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8" descr="OVERPRODUCTION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13" y="1468760"/>
            <a:ext cx="714375" cy="82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9" descr="PROCESSING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063" y="3297560"/>
            <a:ext cx="7143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3" name="Picture 10" descr="TRANSPORTATION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56" b="19556"/>
          <a:stretch>
            <a:fillRect/>
          </a:stretch>
        </p:blipFill>
        <p:spPr bwMode="auto">
          <a:xfrm>
            <a:off x="685800" y="2840360"/>
            <a:ext cx="82073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4" name="Text Box 19"/>
          <p:cNvSpPr txBox="1">
            <a:spLocks noChangeArrowheads="1"/>
          </p:cNvSpPr>
          <p:nvPr/>
        </p:nvSpPr>
        <p:spPr bwMode="auto">
          <a:xfrm>
            <a:off x="614363" y="5318448"/>
            <a:ext cx="98583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6000"/>
              <a:t>☻</a:t>
            </a:r>
          </a:p>
        </p:txBody>
      </p:sp>
    </p:spTree>
    <p:extLst>
      <p:ext uri="{BB962C8B-B14F-4D97-AF65-F5344CB8AC3E}">
        <p14:creationId xmlns:p14="http://schemas.microsoft.com/office/powerpoint/2010/main" val="4277942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45" r="16565"/>
          <a:stretch>
            <a:fillRect/>
          </a:stretch>
        </p:blipFill>
        <p:spPr bwMode="auto">
          <a:xfrm>
            <a:off x="609600" y="2792413"/>
            <a:ext cx="4594225" cy="157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smtClean="0"/>
              <a:t>Nivo </a:t>
            </a:r>
            <a:r>
              <a:rPr lang="en-GB" dirty="0" smtClean="0"/>
              <a:t>4 </a:t>
            </a:r>
            <a:r>
              <a:rPr lang="en-GB" dirty="0"/>
              <a:t>– </a:t>
            </a:r>
            <a:r>
              <a:rPr lang="en-GB" dirty="0" smtClean="0"/>
              <a:t>Six Sigma</a:t>
            </a:r>
            <a:endParaRPr lang="en-GB" sz="2400" dirty="0" smtClean="0">
              <a:latin typeface="Arial" charset="0"/>
              <a:cs typeface="Arial" charset="0"/>
            </a:endParaRPr>
          </a:p>
        </p:txBody>
      </p:sp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Six Sigma </a:t>
            </a:r>
            <a:r>
              <a:rPr lang="sl-SI" dirty="0" smtClean="0"/>
              <a:t>poudarek na zmogljivostih</a:t>
            </a:r>
            <a:endParaRPr lang="en-GB" dirty="0"/>
          </a:p>
        </p:txBody>
      </p:sp>
      <p:sp>
        <p:nvSpPr>
          <p:cNvPr id="10251" name="Line 14"/>
          <p:cNvSpPr>
            <a:spLocks noChangeShapeType="1"/>
          </p:cNvSpPr>
          <p:nvPr/>
        </p:nvSpPr>
        <p:spPr bwMode="auto">
          <a:xfrm flipH="1">
            <a:off x="4826000" y="2738438"/>
            <a:ext cx="3175" cy="1773237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2" name="Line 15"/>
          <p:cNvSpPr>
            <a:spLocks noChangeShapeType="1"/>
          </p:cNvSpPr>
          <p:nvPr/>
        </p:nvSpPr>
        <p:spPr bwMode="auto">
          <a:xfrm flipH="1">
            <a:off x="2965450" y="2814638"/>
            <a:ext cx="1588" cy="1706562"/>
          </a:xfrm>
          <a:prstGeom prst="line">
            <a:avLst/>
          </a:prstGeom>
          <a:noFill/>
          <a:ln w="19050">
            <a:solidFill>
              <a:srgbClr val="0000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3" name="Line 16"/>
          <p:cNvSpPr>
            <a:spLocks noChangeShapeType="1"/>
          </p:cNvSpPr>
          <p:nvPr/>
        </p:nvSpPr>
        <p:spPr bwMode="auto">
          <a:xfrm>
            <a:off x="1108075" y="4356100"/>
            <a:ext cx="36433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4" name="Line 17"/>
          <p:cNvSpPr>
            <a:spLocks noChangeShapeType="1"/>
          </p:cNvSpPr>
          <p:nvPr/>
        </p:nvSpPr>
        <p:spPr bwMode="auto">
          <a:xfrm flipH="1">
            <a:off x="1042988" y="2781300"/>
            <a:ext cx="15875" cy="1735138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5" name="Line 18"/>
          <p:cNvSpPr>
            <a:spLocks noChangeShapeType="1"/>
          </p:cNvSpPr>
          <p:nvPr/>
        </p:nvSpPr>
        <p:spPr bwMode="auto">
          <a:xfrm flipV="1">
            <a:off x="725488" y="4354513"/>
            <a:ext cx="4368800" cy="12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6" name="Text Box 19"/>
          <p:cNvSpPr txBox="1">
            <a:spLocks noChangeArrowheads="1"/>
          </p:cNvSpPr>
          <p:nvPr/>
        </p:nvSpPr>
        <p:spPr bwMode="auto">
          <a:xfrm>
            <a:off x="798513" y="2460625"/>
            <a:ext cx="5191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400" b="1"/>
              <a:t>LSL</a:t>
            </a:r>
          </a:p>
        </p:txBody>
      </p:sp>
      <p:sp>
        <p:nvSpPr>
          <p:cNvPr id="10257" name="Text Box 20"/>
          <p:cNvSpPr txBox="1">
            <a:spLocks noChangeArrowheads="1"/>
          </p:cNvSpPr>
          <p:nvPr/>
        </p:nvSpPr>
        <p:spPr bwMode="auto">
          <a:xfrm>
            <a:off x="4570413" y="2438400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400" b="1"/>
              <a:t>USL</a:t>
            </a:r>
          </a:p>
        </p:txBody>
      </p:sp>
      <p:sp>
        <p:nvSpPr>
          <p:cNvPr id="10258" name="Text Box 22"/>
          <p:cNvSpPr txBox="1">
            <a:spLocks noChangeArrowheads="1"/>
          </p:cNvSpPr>
          <p:nvPr/>
        </p:nvSpPr>
        <p:spPr bwMode="auto">
          <a:xfrm>
            <a:off x="5312808" y="3319463"/>
            <a:ext cx="254428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600" dirty="0" smtClean="0"/>
              <a:t>2700 </a:t>
            </a:r>
            <a:r>
              <a:rPr lang="sl-SI" sz="1600" dirty="0" smtClean="0"/>
              <a:t>Napak</a:t>
            </a:r>
            <a:r>
              <a:rPr lang="en-GB" sz="1600" dirty="0" smtClean="0"/>
              <a:t>: </a:t>
            </a:r>
            <a:r>
              <a:rPr lang="sl-SI" sz="1600" dirty="0" smtClean="0"/>
              <a:t>izven zahtev</a:t>
            </a:r>
            <a:endParaRPr lang="en-GB" sz="1600" dirty="0"/>
          </a:p>
        </p:txBody>
      </p:sp>
      <p:sp>
        <p:nvSpPr>
          <p:cNvPr id="10259" name="Line 24"/>
          <p:cNvSpPr>
            <a:spLocks noChangeShapeType="1"/>
          </p:cNvSpPr>
          <p:nvPr/>
        </p:nvSpPr>
        <p:spPr bwMode="auto">
          <a:xfrm flipH="1">
            <a:off x="5186363" y="3748088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60" name="Oval 25"/>
          <p:cNvSpPr>
            <a:spLocks noChangeArrowheads="1"/>
          </p:cNvSpPr>
          <p:nvPr/>
        </p:nvSpPr>
        <p:spPr bwMode="auto">
          <a:xfrm>
            <a:off x="4805363" y="4129088"/>
            <a:ext cx="457200" cy="304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261" name="Oval 26"/>
          <p:cNvSpPr>
            <a:spLocks noChangeArrowheads="1"/>
          </p:cNvSpPr>
          <p:nvPr/>
        </p:nvSpPr>
        <p:spPr bwMode="auto">
          <a:xfrm>
            <a:off x="614363" y="4129088"/>
            <a:ext cx="457200" cy="304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264" name="AutoShape 30"/>
          <p:cNvSpPr>
            <a:spLocks noChangeArrowheads="1"/>
          </p:cNvSpPr>
          <p:nvPr/>
        </p:nvSpPr>
        <p:spPr bwMode="auto">
          <a:xfrm rot="-1772879">
            <a:off x="1654175" y="4929188"/>
            <a:ext cx="457200" cy="1522412"/>
          </a:xfrm>
          <a:prstGeom prst="curvedRightArrow">
            <a:avLst>
              <a:gd name="adj1" fmla="val 44352"/>
              <a:gd name="adj2" fmla="val 110949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5" name="Line 6"/>
          <p:cNvSpPr>
            <a:spLocks noChangeShapeType="1"/>
          </p:cNvSpPr>
          <p:nvPr/>
        </p:nvSpPr>
        <p:spPr bwMode="auto">
          <a:xfrm flipH="1">
            <a:off x="7097713" y="4903788"/>
            <a:ext cx="3175" cy="1773237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" name="Line 7"/>
          <p:cNvSpPr>
            <a:spLocks noChangeShapeType="1"/>
          </p:cNvSpPr>
          <p:nvPr/>
        </p:nvSpPr>
        <p:spPr bwMode="auto">
          <a:xfrm flipH="1">
            <a:off x="5605339" y="4979988"/>
            <a:ext cx="1587" cy="1706562"/>
          </a:xfrm>
          <a:prstGeom prst="line">
            <a:avLst/>
          </a:prstGeom>
          <a:noFill/>
          <a:ln w="19050">
            <a:solidFill>
              <a:srgbClr val="0000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" name="Line 8"/>
          <p:cNvSpPr>
            <a:spLocks noChangeShapeType="1"/>
          </p:cNvSpPr>
          <p:nvPr/>
        </p:nvSpPr>
        <p:spPr bwMode="auto">
          <a:xfrm>
            <a:off x="3379788" y="6521450"/>
            <a:ext cx="36433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8" name="Line 9"/>
          <p:cNvSpPr>
            <a:spLocks noChangeShapeType="1"/>
          </p:cNvSpPr>
          <p:nvPr/>
        </p:nvSpPr>
        <p:spPr bwMode="auto">
          <a:xfrm flipH="1">
            <a:off x="3314700" y="4946650"/>
            <a:ext cx="15875" cy="1735138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9" name="Line 10"/>
          <p:cNvSpPr>
            <a:spLocks noChangeShapeType="1"/>
          </p:cNvSpPr>
          <p:nvPr/>
        </p:nvSpPr>
        <p:spPr bwMode="auto">
          <a:xfrm flipV="1">
            <a:off x="2997200" y="6519863"/>
            <a:ext cx="4368800" cy="12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" name="Line 11"/>
          <p:cNvSpPr>
            <a:spLocks noChangeShapeType="1"/>
          </p:cNvSpPr>
          <p:nvPr/>
        </p:nvSpPr>
        <p:spPr bwMode="auto">
          <a:xfrm flipV="1">
            <a:off x="5605339" y="5793119"/>
            <a:ext cx="1509836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" name="Text Box 12"/>
          <p:cNvSpPr txBox="1">
            <a:spLocks noChangeArrowheads="1"/>
          </p:cNvSpPr>
          <p:nvPr/>
        </p:nvSpPr>
        <p:spPr bwMode="auto">
          <a:xfrm>
            <a:off x="5951538" y="5435932"/>
            <a:ext cx="6479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nl-NL" dirty="0" smtClean="0">
                <a:solidFill>
                  <a:schemeClr val="accent2"/>
                </a:solidFill>
              </a:rPr>
              <a:t>4.5</a:t>
            </a:r>
            <a:r>
              <a:rPr lang="el-GR" dirty="0" smtClean="0">
                <a:solidFill>
                  <a:schemeClr val="accent2"/>
                </a:solidFill>
              </a:rPr>
              <a:t>σ</a:t>
            </a:r>
            <a:endParaRPr lang="el-GR" baseline="-25000" dirty="0">
              <a:solidFill>
                <a:schemeClr val="accent2"/>
              </a:solidFill>
            </a:endParaRPr>
          </a:p>
        </p:txBody>
      </p:sp>
      <p:sp>
        <p:nvSpPr>
          <p:cNvPr id="32" name="Freeform 13"/>
          <p:cNvSpPr>
            <a:spLocks/>
          </p:cNvSpPr>
          <p:nvPr/>
        </p:nvSpPr>
        <p:spPr bwMode="auto">
          <a:xfrm>
            <a:off x="4355976" y="4968875"/>
            <a:ext cx="2514600" cy="1519238"/>
          </a:xfrm>
          <a:custGeom>
            <a:avLst/>
            <a:gdLst>
              <a:gd name="T0" fmla="*/ 2147483647 w 2458"/>
              <a:gd name="T1" fmla="*/ 2147483647 h 957"/>
              <a:gd name="T2" fmla="*/ 2147483647 w 2458"/>
              <a:gd name="T3" fmla="*/ 2147483647 h 957"/>
              <a:gd name="T4" fmla="*/ 2147483647 w 2458"/>
              <a:gd name="T5" fmla="*/ 2147483647 h 957"/>
              <a:gd name="T6" fmla="*/ 2147483647 w 2458"/>
              <a:gd name="T7" fmla="*/ 2147483647 h 957"/>
              <a:gd name="T8" fmla="*/ 2147483647 w 2458"/>
              <a:gd name="T9" fmla="*/ 2147483647 h 957"/>
              <a:gd name="T10" fmla="*/ 2147483647 w 2458"/>
              <a:gd name="T11" fmla="*/ 2147483647 h 957"/>
              <a:gd name="T12" fmla="*/ 2147483647 w 2458"/>
              <a:gd name="T13" fmla="*/ 2147483647 h 957"/>
              <a:gd name="T14" fmla="*/ 2147483647 w 2458"/>
              <a:gd name="T15" fmla="*/ 2147483647 h 957"/>
              <a:gd name="T16" fmla="*/ 2147483647 w 2458"/>
              <a:gd name="T17" fmla="*/ 2147483647 h 957"/>
              <a:gd name="T18" fmla="*/ 2147483647 w 2458"/>
              <a:gd name="T19" fmla="*/ 2147483647 h 957"/>
              <a:gd name="T20" fmla="*/ 2147483647 w 2458"/>
              <a:gd name="T21" fmla="*/ 2147483647 h 957"/>
              <a:gd name="T22" fmla="*/ 2147483647 w 2458"/>
              <a:gd name="T23" fmla="*/ 2147483647 h 957"/>
              <a:gd name="T24" fmla="*/ 2147483647 w 2458"/>
              <a:gd name="T25" fmla="*/ 2147483647 h 957"/>
              <a:gd name="T26" fmla="*/ 2147483647 w 2458"/>
              <a:gd name="T27" fmla="*/ 2147483647 h 957"/>
              <a:gd name="T28" fmla="*/ 2147483647 w 2458"/>
              <a:gd name="T29" fmla="*/ 2147483647 h 957"/>
              <a:gd name="T30" fmla="*/ 2147483647 w 2458"/>
              <a:gd name="T31" fmla="*/ 2147483647 h 957"/>
              <a:gd name="T32" fmla="*/ 2147483647 w 2458"/>
              <a:gd name="T33" fmla="*/ 2147483647 h 957"/>
              <a:gd name="T34" fmla="*/ 2147483647 w 2458"/>
              <a:gd name="T35" fmla="*/ 2147483647 h 957"/>
              <a:gd name="T36" fmla="*/ 2147483647 w 2458"/>
              <a:gd name="T37" fmla="*/ 2147483647 h 957"/>
              <a:gd name="T38" fmla="*/ 2147483647 w 2458"/>
              <a:gd name="T39" fmla="*/ 2147483647 h 957"/>
              <a:gd name="T40" fmla="*/ 2147483647 w 2458"/>
              <a:gd name="T41" fmla="*/ 2147483647 h 957"/>
              <a:gd name="T42" fmla="*/ 2147483647 w 2458"/>
              <a:gd name="T43" fmla="*/ 2147483647 h 957"/>
              <a:gd name="T44" fmla="*/ 2147483647 w 2458"/>
              <a:gd name="T45" fmla="*/ 2147483647 h 957"/>
              <a:gd name="T46" fmla="*/ 2147483647 w 2458"/>
              <a:gd name="T47" fmla="*/ 2147483647 h 957"/>
              <a:gd name="T48" fmla="*/ 2147483647 w 2458"/>
              <a:gd name="T49" fmla="*/ 2147483647 h 957"/>
              <a:gd name="T50" fmla="*/ 2147483647 w 2458"/>
              <a:gd name="T51" fmla="*/ 2147483647 h 957"/>
              <a:gd name="T52" fmla="*/ 2147483647 w 2458"/>
              <a:gd name="T53" fmla="*/ 2147483647 h 957"/>
              <a:gd name="T54" fmla="*/ 2147483647 w 2458"/>
              <a:gd name="T55" fmla="*/ 2147483647 h 957"/>
              <a:gd name="T56" fmla="*/ 2147483647 w 2458"/>
              <a:gd name="T57" fmla="*/ 2147483647 h 957"/>
              <a:gd name="T58" fmla="*/ 2147483647 w 2458"/>
              <a:gd name="T59" fmla="*/ 2147483647 h 957"/>
              <a:gd name="T60" fmla="*/ 2147483647 w 2458"/>
              <a:gd name="T61" fmla="*/ 2147483647 h 957"/>
              <a:gd name="T62" fmla="*/ 2147483647 w 2458"/>
              <a:gd name="T63" fmla="*/ 2147483647 h 957"/>
              <a:gd name="T64" fmla="*/ 2147483647 w 2458"/>
              <a:gd name="T65" fmla="*/ 2147483647 h 957"/>
              <a:gd name="T66" fmla="*/ 2147483647 w 2458"/>
              <a:gd name="T67" fmla="*/ 2147483647 h 957"/>
              <a:gd name="T68" fmla="*/ 2147483647 w 2458"/>
              <a:gd name="T69" fmla="*/ 2147483647 h 957"/>
              <a:gd name="T70" fmla="*/ 2147483647 w 2458"/>
              <a:gd name="T71" fmla="*/ 2147483647 h 957"/>
              <a:gd name="T72" fmla="*/ 2147483647 w 2458"/>
              <a:gd name="T73" fmla="*/ 2147483647 h 957"/>
              <a:gd name="T74" fmla="*/ 2147483647 w 2458"/>
              <a:gd name="T75" fmla="*/ 2147483647 h 957"/>
              <a:gd name="T76" fmla="*/ 2147483647 w 2458"/>
              <a:gd name="T77" fmla="*/ 2147483647 h 957"/>
              <a:gd name="T78" fmla="*/ 2147483647 w 2458"/>
              <a:gd name="T79" fmla="*/ 2147483647 h 957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2458"/>
              <a:gd name="T121" fmla="*/ 0 h 957"/>
              <a:gd name="T122" fmla="*/ 2458 w 2458"/>
              <a:gd name="T123" fmla="*/ 957 h 957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2458" h="957">
                <a:moveTo>
                  <a:pt x="0" y="956"/>
                </a:moveTo>
                <a:lnTo>
                  <a:pt x="30" y="956"/>
                </a:lnTo>
                <a:lnTo>
                  <a:pt x="60" y="956"/>
                </a:lnTo>
                <a:lnTo>
                  <a:pt x="91" y="956"/>
                </a:lnTo>
                <a:lnTo>
                  <a:pt x="120" y="956"/>
                </a:lnTo>
                <a:lnTo>
                  <a:pt x="151" y="956"/>
                </a:lnTo>
                <a:lnTo>
                  <a:pt x="180" y="956"/>
                </a:lnTo>
                <a:lnTo>
                  <a:pt x="211" y="956"/>
                </a:lnTo>
                <a:lnTo>
                  <a:pt x="241" y="951"/>
                </a:lnTo>
                <a:lnTo>
                  <a:pt x="271" y="951"/>
                </a:lnTo>
                <a:lnTo>
                  <a:pt x="301" y="951"/>
                </a:lnTo>
                <a:lnTo>
                  <a:pt x="331" y="945"/>
                </a:lnTo>
                <a:lnTo>
                  <a:pt x="361" y="939"/>
                </a:lnTo>
                <a:lnTo>
                  <a:pt x="401" y="933"/>
                </a:lnTo>
                <a:lnTo>
                  <a:pt x="431" y="927"/>
                </a:lnTo>
                <a:lnTo>
                  <a:pt x="462" y="915"/>
                </a:lnTo>
                <a:lnTo>
                  <a:pt x="491" y="904"/>
                </a:lnTo>
                <a:lnTo>
                  <a:pt x="522" y="892"/>
                </a:lnTo>
                <a:lnTo>
                  <a:pt x="551" y="875"/>
                </a:lnTo>
                <a:lnTo>
                  <a:pt x="582" y="851"/>
                </a:lnTo>
                <a:lnTo>
                  <a:pt x="611" y="828"/>
                </a:lnTo>
                <a:lnTo>
                  <a:pt x="642" y="799"/>
                </a:lnTo>
                <a:lnTo>
                  <a:pt x="672" y="770"/>
                </a:lnTo>
                <a:lnTo>
                  <a:pt x="702" y="735"/>
                </a:lnTo>
                <a:lnTo>
                  <a:pt x="732" y="694"/>
                </a:lnTo>
                <a:lnTo>
                  <a:pt x="762" y="647"/>
                </a:lnTo>
                <a:lnTo>
                  <a:pt x="793" y="601"/>
                </a:lnTo>
                <a:lnTo>
                  <a:pt x="833" y="548"/>
                </a:lnTo>
                <a:lnTo>
                  <a:pt x="862" y="495"/>
                </a:lnTo>
                <a:lnTo>
                  <a:pt x="893" y="438"/>
                </a:lnTo>
                <a:lnTo>
                  <a:pt x="922" y="379"/>
                </a:lnTo>
                <a:lnTo>
                  <a:pt x="953" y="321"/>
                </a:lnTo>
                <a:lnTo>
                  <a:pt x="983" y="262"/>
                </a:lnTo>
                <a:lnTo>
                  <a:pt x="1013" y="210"/>
                </a:lnTo>
                <a:lnTo>
                  <a:pt x="1043" y="158"/>
                </a:lnTo>
                <a:lnTo>
                  <a:pt x="1073" y="117"/>
                </a:lnTo>
                <a:lnTo>
                  <a:pt x="1104" y="76"/>
                </a:lnTo>
                <a:lnTo>
                  <a:pt x="1133" y="41"/>
                </a:lnTo>
                <a:lnTo>
                  <a:pt x="1164" y="24"/>
                </a:lnTo>
                <a:lnTo>
                  <a:pt x="1193" y="6"/>
                </a:lnTo>
                <a:lnTo>
                  <a:pt x="1234" y="0"/>
                </a:lnTo>
                <a:lnTo>
                  <a:pt x="1264" y="6"/>
                </a:lnTo>
                <a:lnTo>
                  <a:pt x="1294" y="24"/>
                </a:lnTo>
                <a:lnTo>
                  <a:pt x="1324" y="41"/>
                </a:lnTo>
                <a:lnTo>
                  <a:pt x="1354" y="76"/>
                </a:lnTo>
                <a:lnTo>
                  <a:pt x="1384" y="117"/>
                </a:lnTo>
                <a:lnTo>
                  <a:pt x="1414" y="158"/>
                </a:lnTo>
                <a:lnTo>
                  <a:pt x="1444" y="210"/>
                </a:lnTo>
                <a:lnTo>
                  <a:pt x="1475" y="262"/>
                </a:lnTo>
                <a:lnTo>
                  <a:pt x="1504" y="321"/>
                </a:lnTo>
                <a:lnTo>
                  <a:pt x="1535" y="379"/>
                </a:lnTo>
                <a:lnTo>
                  <a:pt x="1564" y="438"/>
                </a:lnTo>
                <a:lnTo>
                  <a:pt x="1595" y="495"/>
                </a:lnTo>
                <a:lnTo>
                  <a:pt x="1624" y="548"/>
                </a:lnTo>
                <a:lnTo>
                  <a:pt x="1665" y="601"/>
                </a:lnTo>
                <a:lnTo>
                  <a:pt x="1695" y="647"/>
                </a:lnTo>
                <a:lnTo>
                  <a:pt x="1725" y="694"/>
                </a:lnTo>
                <a:lnTo>
                  <a:pt x="1755" y="735"/>
                </a:lnTo>
                <a:lnTo>
                  <a:pt x="1785" y="770"/>
                </a:lnTo>
                <a:lnTo>
                  <a:pt x="1815" y="799"/>
                </a:lnTo>
                <a:lnTo>
                  <a:pt x="1846" y="828"/>
                </a:lnTo>
                <a:lnTo>
                  <a:pt x="1875" y="851"/>
                </a:lnTo>
                <a:lnTo>
                  <a:pt x="1906" y="875"/>
                </a:lnTo>
                <a:lnTo>
                  <a:pt x="1936" y="892"/>
                </a:lnTo>
                <a:lnTo>
                  <a:pt x="1966" y="904"/>
                </a:lnTo>
                <a:lnTo>
                  <a:pt x="1996" y="915"/>
                </a:lnTo>
                <a:lnTo>
                  <a:pt x="2026" y="927"/>
                </a:lnTo>
                <a:lnTo>
                  <a:pt x="2056" y="933"/>
                </a:lnTo>
                <a:lnTo>
                  <a:pt x="2096" y="939"/>
                </a:lnTo>
                <a:lnTo>
                  <a:pt x="2127" y="945"/>
                </a:lnTo>
                <a:lnTo>
                  <a:pt x="2156" y="951"/>
                </a:lnTo>
                <a:lnTo>
                  <a:pt x="2187" y="951"/>
                </a:lnTo>
                <a:lnTo>
                  <a:pt x="2216" y="951"/>
                </a:lnTo>
                <a:lnTo>
                  <a:pt x="2247" y="956"/>
                </a:lnTo>
                <a:lnTo>
                  <a:pt x="2277" y="956"/>
                </a:lnTo>
                <a:lnTo>
                  <a:pt x="2307" y="956"/>
                </a:lnTo>
                <a:lnTo>
                  <a:pt x="2337" y="956"/>
                </a:lnTo>
                <a:lnTo>
                  <a:pt x="2367" y="956"/>
                </a:lnTo>
                <a:lnTo>
                  <a:pt x="2397" y="956"/>
                </a:lnTo>
                <a:lnTo>
                  <a:pt x="2427" y="956"/>
                </a:lnTo>
                <a:lnTo>
                  <a:pt x="2457" y="956"/>
                </a:lnTo>
              </a:path>
            </a:pathLst>
          </a:custGeom>
          <a:noFill/>
          <a:ln w="28575" cap="rnd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" name="Text Box 23"/>
          <p:cNvSpPr txBox="1">
            <a:spLocks noChangeArrowheads="1"/>
          </p:cNvSpPr>
          <p:nvPr/>
        </p:nvSpPr>
        <p:spPr bwMode="auto">
          <a:xfrm>
            <a:off x="7458665" y="5470525"/>
            <a:ext cx="99418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 dirty="0"/>
              <a:t>3.4 ppm </a:t>
            </a:r>
          </a:p>
          <a:p>
            <a:pPr algn="ctr" eaLnBrk="1" hangingPunct="1"/>
            <a:r>
              <a:rPr lang="sl-SI" sz="1600" dirty="0" smtClean="0"/>
              <a:t>napak</a:t>
            </a:r>
            <a:endParaRPr lang="nl-NL" sz="1600" dirty="0"/>
          </a:p>
        </p:txBody>
      </p:sp>
      <p:sp>
        <p:nvSpPr>
          <p:cNvPr id="34" name="Text Box 27"/>
          <p:cNvSpPr txBox="1">
            <a:spLocks noChangeArrowheads="1"/>
          </p:cNvSpPr>
          <p:nvPr/>
        </p:nvSpPr>
        <p:spPr bwMode="auto">
          <a:xfrm>
            <a:off x="3071813" y="4670425"/>
            <a:ext cx="5191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400" b="1"/>
              <a:t>LSL</a:t>
            </a:r>
          </a:p>
        </p:txBody>
      </p:sp>
      <p:sp>
        <p:nvSpPr>
          <p:cNvPr id="35" name="Text Box 28"/>
          <p:cNvSpPr txBox="1">
            <a:spLocks noChangeArrowheads="1"/>
          </p:cNvSpPr>
          <p:nvPr/>
        </p:nvSpPr>
        <p:spPr bwMode="auto">
          <a:xfrm>
            <a:off x="6843713" y="4648200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400" b="1"/>
              <a:t>USL</a:t>
            </a:r>
          </a:p>
        </p:txBody>
      </p:sp>
      <p:sp>
        <p:nvSpPr>
          <p:cNvPr id="36" name="Line 29"/>
          <p:cNvSpPr>
            <a:spLocks noChangeShapeType="1"/>
          </p:cNvSpPr>
          <p:nvPr/>
        </p:nvSpPr>
        <p:spPr bwMode="auto">
          <a:xfrm flipH="1">
            <a:off x="7162800" y="606425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7" name="Line 7"/>
          <p:cNvSpPr>
            <a:spLocks noChangeShapeType="1"/>
          </p:cNvSpPr>
          <p:nvPr/>
        </p:nvSpPr>
        <p:spPr bwMode="auto">
          <a:xfrm flipH="1">
            <a:off x="5148064" y="4970463"/>
            <a:ext cx="1587" cy="1706562"/>
          </a:xfrm>
          <a:prstGeom prst="line">
            <a:avLst/>
          </a:prstGeom>
          <a:noFill/>
          <a:ln w="19050">
            <a:solidFill>
              <a:srgbClr val="0000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" name="Line 11"/>
          <p:cNvSpPr>
            <a:spLocks noChangeShapeType="1"/>
          </p:cNvSpPr>
          <p:nvPr/>
        </p:nvSpPr>
        <p:spPr bwMode="auto">
          <a:xfrm flipV="1">
            <a:off x="5148064" y="5181931"/>
            <a:ext cx="195572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" name="Text Box 12"/>
          <p:cNvSpPr txBox="1">
            <a:spLocks noChangeArrowheads="1"/>
          </p:cNvSpPr>
          <p:nvPr/>
        </p:nvSpPr>
        <p:spPr bwMode="auto">
          <a:xfrm>
            <a:off x="5940152" y="4824744"/>
            <a:ext cx="4555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nl-NL" dirty="0" smtClean="0">
                <a:solidFill>
                  <a:schemeClr val="accent2"/>
                </a:solidFill>
              </a:rPr>
              <a:t>6</a:t>
            </a:r>
            <a:r>
              <a:rPr lang="el-GR" dirty="0" smtClean="0">
                <a:solidFill>
                  <a:schemeClr val="accent2"/>
                </a:solidFill>
              </a:rPr>
              <a:t>σ</a:t>
            </a:r>
            <a:endParaRPr lang="el-GR" baseline="-25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666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l-SI" dirty="0" smtClean="0">
                <a:latin typeface="Arial" charset="0"/>
                <a:cs typeface="Arial" charset="0"/>
              </a:rPr>
              <a:t>Nivo </a:t>
            </a:r>
            <a:r>
              <a:rPr lang="en-GB" dirty="0" smtClean="0">
                <a:latin typeface="Arial" charset="0"/>
                <a:cs typeface="Arial" charset="0"/>
              </a:rPr>
              <a:t>5 – </a:t>
            </a:r>
            <a:r>
              <a:rPr lang="sl-SI" dirty="0" smtClean="0">
                <a:latin typeface="Arial" charset="0"/>
                <a:cs typeface="Arial" charset="0"/>
              </a:rPr>
              <a:t>Oblikovanje za </a:t>
            </a:r>
            <a:r>
              <a:rPr lang="en-GB" dirty="0" smtClean="0">
                <a:latin typeface="Arial" charset="0"/>
                <a:cs typeface="Arial" charset="0"/>
              </a:rPr>
              <a:t>Six Sigma</a:t>
            </a:r>
            <a:endParaRPr lang="en-GB" sz="2400" dirty="0" smtClean="0">
              <a:latin typeface="Arial" charset="0"/>
              <a:cs typeface="Arial" charset="0"/>
            </a:endParaRPr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defRPr/>
            </a:pPr>
            <a:r>
              <a:rPr lang="sl-SI" dirty="0" smtClean="0"/>
              <a:t>Poudarek na zanesljivosti in robustnem oblikovanju</a:t>
            </a:r>
            <a:endParaRPr lang="en-GB" dirty="0"/>
          </a:p>
        </p:txBody>
      </p:sp>
      <p:grpSp>
        <p:nvGrpSpPr>
          <p:cNvPr id="2" name="Groep 1"/>
          <p:cNvGrpSpPr/>
          <p:nvPr/>
        </p:nvGrpSpPr>
        <p:grpSpPr>
          <a:xfrm>
            <a:off x="657220" y="2014546"/>
            <a:ext cx="7371204" cy="4510798"/>
            <a:chOff x="657220" y="2014546"/>
            <a:chExt cx="7371204" cy="4510798"/>
          </a:xfrm>
        </p:grpSpPr>
        <p:grpSp>
          <p:nvGrpSpPr>
            <p:cNvPr id="36" name="Groep 46"/>
            <p:cNvGrpSpPr/>
            <p:nvPr/>
          </p:nvGrpSpPr>
          <p:grpSpPr>
            <a:xfrm>
              <a:off x="1259632" y="2914915"/>
              <a:ext cx="6624736" cy="952081"/>
              <a:chOff x="1043608" y="2492896"/>
              <a:chExt cx="6624736" cy="1232520"/>
            </a:xfrm>
          </p:grpSpPr>
          <p:sp>
            <p:nvSpPr>
              <p:cNvPr id="37" name="Rechthoek 36"/>
              <p:cNvSpPr/>
              <p:nvPr/>
            </p:nvSpPr>
            <p:spPr>
              <a:xfrm>
                <a:off x="1043608" y="3068960"/>
                <a:ext cx="36000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" name="Rechthoek 37"/>
              <p:cNvSpPr/>
              <p:nvPr/>
            </p:nvSpPr>
            <p:spPr>
              <a:xfrm>
                <a:off x="1403648" y="2776736"/>
                <a:ext cx="720080" cy="9444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9" name="Gelijkbenige driehoek 38"/>
              <p:cNvSpPr/>
              <p:nvPr/>
            </p:nvSpPr>
            <p:spPr>
              <a:xfrm>
                <a:off x="1403648" y="2492896"/>
                <a:ext cx="720080" cy="283840"/>
              </a:xfrm>
              <a:prstGeom prst="triangl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0" name="Rechthoek 39"/>
              <p:cNvSpPr/>
              <p:nvPr/>
            </p:nvSpPr>
            <p:spPr>
              <a:xfrm>
                <a:off x="1403728" y="3068960"/>
                <a:ext cx="72000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1" name="Rechthoek 40"/>
              <p:cNvSpPr/>
              <p:nvPr/>
            </p:nvSpPr>
            <p:spPr>
              <a:xfrm>
                <a:off x="2123728" y="3068960"/>
                <a:ext cx="36000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" name="Rechthoek 41"/>
              <p:cNvSpPr/>
              <p:nvPr/>
            </p:nvSpPr>
            <p:spPr>
              <a:xfrm>
                <a:off x="2771840" y="3068960"/>
                <a:ext cx="36000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" name="Rechthoek 42"/>
              <p:cNvSpPr/>
              <p:nvPr/>
            </p:nvSpPr>
            <p:spPr>
              <a:xfrm>
                <a:off x="3131880" y="2776736"/>
                <a:ext cx="720080" cy="9444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4" name="Rechthoek 43"/>
              <p:cNvSpPr/>
              <p:nvPr/>
            </p:nvSpPr>
            <p:spPr>
              <a:xfrm>
                <a:off x="3131960" y="3068960"/>
                <a:ext cx="72000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" name="Rechthoek 44"/>
              <p:cNvSpPr/>
              <p:nvPr/>
            </p:nvSpPr>
            <p:spPr>
              <a:xfrm>
                <a:off x="3851960" y="3068960"/>
                <a:ext cx="36000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6" name="Rechthoek 45"/>
              <p:cNvSpPr/>
              <p:nvPr/>
            </p:nvSpPr>
            <p:spPr>
              <a:xfrm>
                <a:off x="4500032" y="3073152"/>
                <a:ext cx="36000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Rechthoek 46"/>
              <p:cNvSpPr/>
              <p:nvPr/>
            </p:nvSpPr>
            <p:spPr>
              <a:xfrm>
                <a:off x="4860072" y="2780928"/>
                <a:ext cx="720080" cy="9444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8" name="Rechthoek 47"/>
              <p:cNvSpPr/>
              <p:nvPr/>
            </p:nvSpPr>
            <p:spPr>
              <a:xfrm>
                <a:off x="4860152" y="3073152"/>
                <a:ext cx="72000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9" name="Rechthoek 48"/>
              <p:cNvSpPr/>
              <p:nvPr/>
            </p:nvSpPr>
            <p:spPr>
              <a:xfrm>
                <a:off x="5580152" y="3073152"/>
                <a:ext cx="36000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0" name="Rechthoek 49"/>
              <p:cNvSpPr/>
              <p:nvPr/>
            </p:nvSpPr>
            <p:spPr>
              <a:xfrm>
                <a:off x="6228224" y="3073152"/>
                <a:ext cx="36000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1" name="Rechthoek 50"/>
              <p:cNvSpPr/>
              <p:nvPr/>
            </p:nvSpPr>
            <p:spPr>
              <a:xfrm>
                <a:off x="6588264" y="2780928"/>
                <a:ext cx="720080" cy="9444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2" name="Rechthoek 51"/>
              <p:cNvSpPr/>
              <p:nvPr/>
            </p:nvSpPr>
            <p:spPr>
              <a:xfrm>
                <a:off x="6588344" y="3073152"/>
                <a:ext cx="72000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3" name="Rechthoek 52"/>
              <p:cNvSpPr/>
              <p:nvPr/>
            </p:nvSpPr>
            <p:spPr>
              <a:xfrm>
                <a:off x="7308344" y="3073152"/>
                <a:ext cx="36000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54" name="Gekromde verbindingslijn 53"/>
              <p:cNvCxnSpPr>
                <a:stCxn id="39" idx="3"/>
                <a:endCxn id="42" idx="0"/>
              </p:cNvCxnSpPr>
              <p:nvPr/>
            </p:nvCxnSpPr>
            <p:spPr>
              <a:xfrm rot="16200000" flipH="1">
                <a:off x="2211652" y="2328772"/>
                <a:ext cx="292224" cy="1188152"/>
              </a:xfrm>
              <a:prstGeom prst="curved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Gekromde verbindingslijn 54"/>
              <p:cNvCxnSpPr>
                <a:stCxn id="38" idx="2"/>
                <a:endCxn id="45" idx="2"/>
              </p:cNvCxnSpPr>
              <p:nvPr/>
            </p:nvCxnSpPr>
            <p:spPr>
              <a:xfrm rot="5400000" flipH="1" flipV="1">
                <a:off x="2751712" y="2440976"/>
                <a:ext cx="292224" cy="2268272"/>
              </a:xfrm>
              <a:prstGeom prst="curvedConnector3">
                <a:avLst>
                  <a:gd name="adj1" fmla="val -78228"/>
                </a:avLst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Gekromde verbindingslijn 55"/>
              <p:cNvCxnSpPr>
                <a:stCxn id="43" idx="0"/>
                <a:endCxn id="46" idx="0"/>
              </p:cNvCxnSpPr>
              <p:nvPr/>
            </p:nvCxnSpPr>
            <p:spPr>
              <a:xfrm rot="16200000" flipH="1">
                <a:off x="3937768" y="2330888"/>
                <a:ext cx="296416" cy="1188112"/>
              </a:xfrm>
              <a:prstGeom prst="curvedConnector3">
                <a:avLst>
                  <a:gd name="adj1" fmla="val -77121"/>
                </a:avLst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Gekromde verbindingslijn 56"/>
              <p:cNvCxnSpPr>
                <a:stCxn id="43" idx="2"/>
                <a:endCxn id="49" idx="2"/>
              </p:cNvCxnSpPr>
              <p:nvPr/>
            </p:nvCxnSpPr>
            <p:spPr>
              <a:xfrm rot="5400000" flipH="1" flipV="1">
                <a:off x="4482020" y="2443092"/>
                <a:ext cx="288032" cy="2268232"/>
              </a:xfrm>
              <a:prstGeom prst="curvedConnector3">
                <a:avLst>
                  <a:gd name="adj1" fmla="val -79366"/>
                </a:avLst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Gekromde verbindingslijn 57"/>
              <p:cNvCxnSpPr>
                <a:stCxn id="47" idx="0"/>
                <a:endCxn id="50" idx="0"/>
              </p:cNvCxnSpPr>
              <p:nvPr/>
            </p:nvCxnSpPr>
            <p:spPr>
              <a:xfrm rot="16200000" flipH="1">
                <a:off x="5668056" y="2332984"/>
                <a:ext cx="292224" cy="1188112"/>
              </a:xfrm>
              <a:prstGeom prst="curvedConnector3">
                <a:avLst>
                  <a:gd name="adj1" fmla="val -78228"/>
                </a:avLst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kstvak 58"/>
            <p:cNvSpPr txBox="1"/>
            <p:nvPr/>
          </p:nvSpPr>
          <p:spPr>
            <a:xfrm>
              <a:off x="1288732" y="2014547"/>
              <a:ext cx="1339012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GB" sz="1200" b="1" dirty="0" smtClean="0"/>
                <a:t>Product Planning </a:t>
              </a:r>
              <a:br>
                <a:rPr lang="en-GB" sz="1200" b="1" dirty="0" smtClean="0"/>
              </a:br>
              <a:r>
                <a:rPr lang="en-GB" sz="1200" b="1" dirty="0" smtClean="0"/>
                <a:t>(House of Quality)</a:t>
              </a:r>
              <a:endParaRPr lang="en-GB" sz="1200" b="1" dirty="0"/>
            </a:p>
          </p:txBody>
        </p:sp>
        <p:sp>
          <p:nvSpPr>
            <p:cNvPr id="60" name="Tekstvak 59"/>
            <p:cNvSpPr txBox="1"/>
            <p:nvPr/>
          </p:nvSpPr>
          <p:spPr>
            <a:xfrm>
              <a:off x="2890980" y="2014546"/>
              <a:ext cx="1339012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GB" sz="1200" b="1" dirty="0" smtClean="0"/>
                <a:t>Design Deployment</a:t>
              </a:r>
              <a:br>
                <a:rPr lang="en-GB" sz="1200" b="1" dirty="0" smtClean="0"/>
              </a:br>
              <a:r>
                <a:rPr lang="en-GB" sz="1200" b="1" dirty="0" smtClean="0"/>
                <a:t>(Part Deployment)</a:t>
              </a:r>
              <a:endParaRPr lang="en-GB" sz="1200" b="1" dirty="0"/>
            </a:p>
          </p:txBody>
        </p:sp>
        <p:sp>
          <p:nvSpPr>
            <p:cNvPr id="61" name="Tekstvak 60"/>
            <p:cNvSpPr txBox="1"/>
            <p:nvPr/>
          </p:nvSpPr>
          <p:spPr>
            <a:xfrm>
              <a:off x="4499992" y="2032172"/>
              <a:ext cx="1656184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GB" sz="1200" b="1" dirty="0" smtClean="0"/>
                <a:t>Manufacturing Planning</a:t>
              </a:r>
              <a:br>
                <a:rPr lang="en-GB" sz="1200" b="1" dirty="0" smtClean="0"/>
              </a:br>
              <a:r>
                <a:rPr lang="en-GB" sz="1200" b="1" dirty="0" smtClean="0"/>
                <a:t>(Process Planning)</a:t>
              </a:r>
              <a:endParaRPr lang="en-GB" sz="1200" b="1" dirty="0"/>
            </a:p>
          </p:txBody>
        </p:sp>
        <p:sp>
          <p:nvSpPr>
            <p:cNvPr id="62" name="Tekstvak 61"/>
            <p:cNvSpPr txBox="1"/>
            <p:nvPr/>
          </p:nvSpPr>
          <p:spPr>
            <a:xfrm>
              <a:off x="6372240" y="2032172"/>
              <a:ext cx="1656184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GB" sz="1200" b="1" dirty="0" smtClean="0"/>
                <a:t>Production Planning</a:t>
              </a:r>
              <a:br>
                <a:rPr lang="en-GB" sz="1200" b="1" dirty="0" smtClean="0"/>
              </a:br>
              <a:r>
                <a:rPr lang="en-GB" sz="1200" b="1" dirty="0" smtClean="0"/>
                <a:t>(Operations  Planning)</a:t>
              </a:r>
              <a:endParaRPr lang="en-GB" sz="1200" b="1" dirty="0"/>
            </a:p>
          </p:txBody>
        </p:sp>
        <p:sp>
          <p:nvSpPr>
            <p:cNvPr id="63" name="Tekstvak 62"/>
            <p:cNvSpPr txBox="1"/>
            <p:nvPr/>
          </p:nvSpPr>
          <p:spPr>
            <a:xfrm rot="16200000">
              <a:off x="208732" y="3186548"/>
              <a:ext cx="1339012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GB" sz="1200" dirty="0" smtClean="0"/>
                <a:t>Voice of the Customer</a:t>
              </a:r>
              <a:endParaRPr lang="en-GB" sz="1200" dirty="0"/>
            </a:p>
          </p:txBody>
        </p:sp>
        <p:sp>
          <p:nvSpPr>
            <p:cNvPr id="64" name="Tekstvak 63"/>
            <p:cNvSpPr txBox="1"/>
            <p:nvPr/>
          </p:nvSpPr>
          <p:spPr>
            <a:xfrm>
              <a:off x="1288732" y="2420888"/>
              <a:ext cx="1339012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GB" sz="1200" dirty="0" smtClean="0"/>
                <a:t>Technical </a:t>
              </a:r>
              <a:br>
                <a:rPr lang="en-GB" sz="1200" dirty="0" smtClean="0"/>
              </a:br>
              <a:r>
                <a:rPr lang="en-GB" sz="1200" dirty="0" smtClean="0"/>
                <a:t>Requirements (SQC)</a:t>
              </a:r>
              <a:endParaRPr lang="en-GB" sz="1200" dirty="0"/>
            </a:p>
          </p:txBody>
        </p:sp>
        <p:sp>
          <p:nvSpPr>
            <p:cNvPr id="65" name="Tekstvak 64"/>
            <p:cNvSpPr txBox="1"/>
            <p:nvPr/>
          </p:nvSpPr>
          <p:spPr>
            <a:xfrm>
              <a:off x="2880584" y="2420888"/>
              <a:ext cx="1339012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GB" sz="1200" dirty="0" smtClean="0"/>
                <a:t>Part</a:t>
              </a:r>
              <a:br>
                <a:rPr lang="en-GB" sz="1200" dirty="0" smtClean="0"/>
              </a:br>
              <a:r>
                <a:rPr lang="en-GB" sz="1200" dirty="0" smtClean="0"/>
                <a:t>Characteristics</a:t>
              </a:r>
              <a:endParaRPr lang="en-GB" sz="1200" dirty="0"/>
            </a:p>
          </p:txBody>
        </p:sp>
        <p:sp>
          <p:nvSpPr>
            <p:cNvPr id="66" name="Tekstvak 65"/>
            <p:cNvSpPr txBox="1"/>
            <p:nvPr/>
          </p:nvSpPr>
          <p:spPr>
            <a:xfrm>
              <a:off x="4619172" y="2420888"/>
              <a:ext cx="1339012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GB" sz="1200" dirty="0" smtClean="0"/>
                <a:t>Process </a:t>
              </a:r>
              <a:br>
                <a:rPr lang="en-GB" sz="1200" dirty="0" smtClean="0"/>
              </a:br>
              <a:r>
                <a:rPr lang="en-GB" sz="1200" dirty="0" smtClean="0"/>
                <a:t>Parameters</a:t>
              </a:r>
              <a:endParaRPr lang="en-GB" sz="1200" dirty="0"/>
            </a:p>
          </p:txBody>
        </p:sp>
        <p:sp>
          <p:nvSpPr>
            <p:cNvPr id="67" name="Tekstvak 66"/>
            <p:cNvSpPr txBox="1"/>
            <p:nvPr/>
          </p:nvSpPr>
          <p:spPr>
            <a:xfrm>
              <a:off x="6530826" y="2420888"/>
              <a:ext cx="1339012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GB" sz="1200" dirty="0" smtClean="0"/>
                <a:t>Production Operations</a:t>
              </a:r>
              <a:endParaRPr lang="en-GB" sz="1200" dirty="0"/>
            </a:p>
          </p:txBody>
        </p:sp>
        <p:grpSp>
          <p:nvGrpSpPr>
            <p:cNvPr id="90" name="Group 28"/>
            <p:cNvGrpSpPr>
              <a:grpSpLocks/>
            </p:cNvGrpSpPr>
            <p:nvPr/>
          </p:nvGrpSpPr>
          <p:grpSpPr bwMode="auto">
            <a:xfrm>
              <a:off x="1960210" y="4258120"/>
              <a:ext cx="5276086" cy="2267224"/>
              <a:chOff x="553" y="1706"/>
              <a:chExt cx="4323" cy="2314"/>
            </a:xfrm>
          </p:grpSpPr>
          <p:sp>
            <p:nvSpPr>
              <p:cNvPr id="91" name="Rectangle 27"/>
              <p:cNvSpPr>
                <a:spLocks noChangeArrowheads="1"/>
              </p:cNvSpPr>
              <p:nvPr/>
            </p:nvSpPr>
            <p:spPr bwMode="auto">
              <a:xfrm>
                <a:off x="567" y="1706"/>
                <a:ext cx="4309" cy="23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nl-NL" sz="1200"/>
              </a:p>
            </p:txBody>
          </p:sp>
          <p:grpSp>
            <p:nvGrpSpPr>
              <p:cNvPr id="92" name="Group 26"/>
              <p:cNvGrpSpPr>
                <a:grpSpLocks/>
              </p:cNvGrpSpPr>
              <p:nvPr/>
            </p:nvGrpSpPr>
            <p:grpSpPr bwMode="auto">
              <a:xfrm>
                <a:off x="553" y="1706"/>
                <a:ext cx="4186" cy="2160"/>
                <a:chOff x="869" y="1506"/>
                <a:chExt cx="4186" cy="2160"/>
              </a:xfrm>
            </p:grpSpPr>
            <p:sp>
              <p:nvSpPr>
                <p:cNvPr id="93" name="Line 5"/>
                <p:cNvSpPr>
                  <a:spLocks noChangeShapeType="1"/>
                </p:cNvSpPr>
                <p:nvPr/>
              </p:nvSpPr>
              <p:spPr bwMode="auto">
                <a:xfrm>
                  <a:off x="1266" y="1890"/>
                  <a:ext cx="0" cy="13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nl-NL" sz="1200"/>
                </a:p>
              </p:txBody>
            </p:sp>
            <p:sp>
              <p:nvSpPr>
                <p:cNvPr id="94" name="Line 6"/>
                <p:cNvSpPr>
                  <a:spLocks noChangeShapeType="1"/>
                </p:cNvSpPr>
                <p:nvPr/>
              </p:nvSpPr>
              <p:spPr bwMode="auto">
                <a:xfrm>
                  <a:off x="1266" y="3234"/>
                  <a:ext cx="326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nl-NL" sz="1200"/>
                </a:p>
              </p:txBody>
            </p:sp>
            <p:sp>
              <p:nvSpPr>
                <p:cNvPr id="95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4513" y="3113"/>
                  <a:ext cx="369" cy="2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r>
                    <a:rPr lang="nl-NL" sz="1100" dirty="0" smtClean="0"/>
                    <a:t>time</a:t>
                  </a:r>
                  <a:endParaRPr lang="nl-NL" sz="1200" dirty="0"/>
                </a:p>
              </p:txBody>
            </p:sp>
            <p:sp>
              <p:nvSpPr>
                <p:cNvPr id="96" name="Freeform 10"/>
                <p:cNvSpPr>
                  <a:spLocks/>
                </p:cNvSpPr>
                <p:nvPr/>
              </p:nvSpPr>
              <p:spPr bwMode="auto">
                <a:xfrm>
                  <a:off x="1362" y="2034"/>
                  <a:ext cx="3024" cy="1152"/>
                </a:xfrm>
                <a:custGeom>
                  <a:avLst/>
                  <a:gdLst>
                    <a:gd name="T0" fmla="*/ 0 w 3024"/>
                    <a:gd name="T1" fmla="*/ 0 h 1232"/>
                    <a:gd name="T2" fmla="*/ 480 w 3024"/>
                    <a:gd name="T3" fmla="*/ 863 h 1232"/>
                    <a:gd name="T4" fmla="*/ 2304 w 3024"/>
                    <a:gd name="T5" fmla="*/ 863 h 1232"/>
                    <a:gd name="T6" fmla="*/ 3024 w 3024"/>
                    <a:gd name="T7" fmla="*/ 79 h 123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024"/>
                    <a:gd name="T13" fmla="*/ 0 h 1232"/>
                    <a:gd name="T14" fmla="*/ 3024 w 3024"/>
                    <a:gd name="T15" fmla="*/ 1232 h 123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024" h="1232">
                      <a:moveTo>
                        <a:pt x="0" y="0"/>
                      </a:moveTo>
                      <a:cubicBezTo>
                        <a:pt x="48" y="440"/>
                        <a:pt x="96" y="880"/>
                        <a:pt x="480" y="1056"/>
                      </a:cubicBezTo>
                      <a:cubicBezTo>
                        <a:pt x="864" y="1232"/>
                        <a:pt x="1880" y="1216"/>
                        <a:pt x="2304" y="1056"/>
                      </a:cubicBezTo>
                      <a:cubicBezTo>
                        <a:pt x="2728" y="896"/>
                        <a:pt x="2896" y="232"/>
                        <a:pt x="3024" y="96"/>
                      </a:cubicBezTo>
                    </a:path>
                  </a:pathLst>
                </a:custGeom>
                <a:noFill/>
                <a:ln w="50800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nl-NL" sz="1200"/>
                </a:p>
              </p:txBody>
            </p:sp>
            <p:sp>
              <p:nvSpPr>
                <p:cNvPr id="97" name="Line 11"/>
                <p:cNvSpPr>
                  <a:spLocks noChangeShapeType="1"/>
                </p:cNvSpPr>
                <p:nvPr/>
              </p:nvSpPr>
              <p:spPr bwMode="auto">
                <a:xfrm>
                  <a:off x="1266" y="3090"/>
                  <a:ext cx="3168" cy="0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nl-NL" sz="1200"/>
                </a:p>
              </p:txBody>
            </p:sp>
            <p:sp>
              <p:nvSpPr>
                <p:cNvPr id="98" name="Line 12"/>
                <p:cNvSpPr>
                  <a:spLocks noChangeShapeType="1"/>
                </p:cNvSpPr>
                <p:nvPr/>
              </p:nvSpPr>
              <p:spPr bwMode="auto">
                <a:xfrm>
                  <a:off x="3666" y="1890"/>
                  <a:ext cx="0" cy="1344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nl-NL" sz="1200"/>
                </a:p>
              </p:txBody>
            </p:sp>
            <p:sp>
              <p:nvSpPr>
                <p:cNvPr id="99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1890" y="1842"/>
                  <a:ext cx="0" cy="139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nl-NL" sz="1200"/>
                </a:p>
              </p:txBody>
            </p:sp>
            <p:sp>
              <p:nvSpPr>
                <p:cNvPr id="100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1962" y="1506"/>
                  <a:ext cx="1840" cy="432"/>
                </a:xfrm>
                <a:prstGeom prst="rect">
                  <a:avLst/>
                </a:prstGeom>
                <a:solidFill>
                  <a:schemeClr val="bg1">
                    <a:alpha val="50195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/>
                  <a:r>
                    <a:rPr lang="nl-NL" sz="1100" b="1" dirty="0" smtClean="0"/>
                    <a:t>The </a:t>
                  </a:r>
                  <a:r>
                    <a:rPr lang="nl-NL" sz="1100" b="1" dirty="0" err="1" smtClean="0"/>
                    <a:t>Bathtub</a:t>
                  </a:r>
                  <a:r>
                    <a:rPr lang="nl-NL" sz="1100" b="1" dirty="0" smtClean="0"/>
                    <a:t> Curve</a:t>
                  </a:r>
                </a:p>
                <a:p>
                  <a:pPr algn="ctr"/>
                  <a:r>
                    <a:rPr lang="nl-NL" sz="1050" dirty="0" err="1" smtClean="0"/>
                    <a:t>Hypothetical</a:t>
                  </a:r>
                  <a:r>
                    <a:rPr lang="nl-NL" sz="1050" dirty="0" smtClean="0"/>
                    <a:t> Failure </a:t>
                  </a:r>
                  <a:r>
                    <a:rPr lang="nl-NL" sz="1050" dirty="0" err="1" smtClean="0"/>
                    <a:t>Rate</a:t>
                  </a:r>
                  <a:r>
                    <a:rPr lang="nl-NL" sz="1050" dirty="0" smtClean="0"/>
                    <a:t> vs. Time</a:t>
                  </a:r>
                  <a:endParaRPr lang="nl-NL" sz="1050" dirty="0"/>
                </a:p>
              </p:txBody>
            </p:sp>
            <p:sp>
              <p:nvSpPr>
                <p:cNvPr id="101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1383" y="1933"/>
                  <a:ext cx="454" cy="36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nl-NL" sz="1200"/>
                </a:p>
              </p:txBody>
            </p:sp>
            <p:sp>
              <p:nvSpPr>
                <p:cNvPr id="102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258" y="3415"/>
                  <a:ext cx="3797" cy="2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r>
                    <a:rPr lang="nl-NL" sz="1000" dirty="0" smtClean="0"/>
                    <a:t>Infant </a:t>
                  </a:r>
                  <a:r>
                    <a:rPr lang="nl-NL" sz="1000" dirty="0" err="1" smtClean="0"/>
                    <a:t>Mortality</a:t>
                  </a:r>
                  <a:r>
                    <a:rPr lang="nl-NL" sz="1000" dirty="0" smtClean="0"/>
                    <a:t>                     </a:t>
                  </a:r>
                  <a:r>
                    <a:rPr lang="nl-NL" sz="1000" dirty="0" err="1" smtClean="0"/>
                    <a:t>Normal</a:t>
                  </a:r>
                  <a:r>
                    <a:rPr lang="nl-NL" sz="1000" dirty="0" smtClean="0"/>
                    <a:t> Life                            End of Life / </a:t>
                  </a:r>
                  <a:r>
                    <a:rPr lang="nl-NL" sz="1000" dirty="0" err="1" smtClean="0"/>
                    <a:t>Wear</a:t>
                  </a:r>
                  <a:r>
                    <a:rPr lang="nl-NL" sz="1000" dirty="0" smtClean="0"/>
                    <a:t> out</a:t>
                  </a:r>
                  <a:endParaRPr lang="nl-NL" sz="1000" dirty="0"/>
                </a:p>
              </p:txBody>
            </p:sp>
            <p:sp>
              <p:nvSpPr>
                <p:cNvPr id="104" name="Line 21"/>
                <p:cNvSpPr>
                  <a:spLocks noChangeShapeType="1"/>
                </p:cNvSpPr>
                <p:nvPr/>
              </p:nvSpPr>
              <p:spPr bwMode="auto">
                <a:xfrm>
                  <a:off x="1292" y="3339"/>
                  <a:ext cx="59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nl-NL" sz="1200"/>
                </a:p>
              </p:txBody>
            </p:sp>
            <p:sp>
              <p:nvSpPr>
                <p:cNvPr id="105" name="Line 22"/>
                <p:cNvSpPr>
                  <a:spLocks noChangeShapeType="1"/>
                </p:cNvSpPr>
                <p:nvPr/>
              </p:nvSpPr>
              <p:spPr bwMode="auto">
                <a:xfrm>
                  <a:off x="1882" y="3339"/>
                  <a:ext cx="176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nl-NL" sz="1200"/>
                </a:p>
              </p:txBody>
            </p:sp>
            <p:sp>
              <p:nvSpPr>
                <p:cNvPr id="106" name="Line 23"/>
                <p:cNvSpPr>
                  <a:spLocks noChangeShapeType="1"/>
                </p:cNvSpPr>
                <p:nvPr/>
              </p:nvSpPr>
              <p:spPr bwMode="auto">
                <a:xfrm>
                  <a:off x="3651" y="3339"/>
                  <a:ext cx="127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nl-NL" sz="1200"/>
                </a:p>
              </p:txBody>
            </p:sp>
            <p:sp>
              <p:nvSpPr>
                <p:cNvPr id="107" name="Text Box 25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547" y="2391"/>
                  <a:ext cx="998" cy="3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/>
                  <a:r>
                    <a:rPr lang="nl-NL" sz="1050" dirty="0"/>
                    <a:t>Failure </a:t>
                  </a:r>
                  <a:r>
                    <a:rPr lang="nl-NL" sz="1050" dirty="0" err="1"/>
                    <a:t>Rate</a:t>
                  </a:r>
                  <a:r>
                    <a:rPr lang="nl-NL" sz="1050" dirty="0"/>
                    <a:t> h(t)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60877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Arial" charset="0"/>
                <a:cs typeface="Arial" charset="0"/>
              </a:rPr>
              <a:t>Lean </a:t>
            </a:r>
            <a:r>
              <a:rPr lang="sl-SI" dirty="0" smtClean="0">
                <a:latin typeface="Arial" charset="0"/>
                <a:cs typeface="Arial" charset="0"/>
              </a:rPr>
              <a:t>in </a:t>
            </a:r>
            <a:r>
              <a:rPr lang="en-US" dirty="0" smtClean="0">
                <a:latin typeface="Arial" charset="0"/>
                <a:cs typeface="Arial" charset="0"/>
              </a:rPr>
              <a:t>Six Sigma</a:t>
            </a:r>
            <a:endParaRPr dirty="0" smtClean="0">
              <a:latin typeface="Arial" charset="0"/>
              <a:cs typeface="Arial" charset="0"/>
            </a:endParaRPr>
          </a:p>
        </p:txBody>
      </p:sp>
      <p:sp>
        <p:nvSpPr>
          <p:cNvPr id="4099" name="Tijdelijke aanduiding voor inhoud 2"/>
          <p:cNvSpPr>
            <a:spLocks noGrp="1"/>
          </p:cNvSpPr>
          <p:nvPr>
            <p:ph idx="1"/>
          </p:nvPr>
        </p:nvSpPr>
        <p:spPr>
          <a:xfrm>
            <a:off x="323850" y="1438275"/>
            <a:ext cx="8820150" cy="5038725"/>
          </a:xfrm>
        </p:spPr>
        <p:txBody>
          <a:bodyPr/>
          <a:lstStyle/>
          <a:p>
            <a:pPr eaLnBrk="1" hangingPunct="1"/>
            <a:r>
              <a:rPr lang="sl-SI" dirty="0" smtClean="0">
                <a:latin typeface="Arial" charset="0"/>
                <a:cs typeface="Arial" charset="0"/>
              </a:rPr>
              <a:t>Kje vse se uporabljata </a:t>
            </a:r>
            <a:r>
              <a:rPr lang="en-US" dirty="0" smtClean="0">
                <a:latin typeface="Arial" charset="0"/>
                <a:cs typeface="Arial" charset="0"/>
              </a:rPr>
              <a:t>Lean &amp; Six Sigma?</a:t>
            </a:r>
          </a:p>
          <a:p>
            <a:pPr lvl="1" eaLnBrk="1" hangingPunct="1"/>
            <a:endParaRPr lang="en-US" dirty="0" smtClean="0">
              <a:latin typeface="Arial" charset="0"/>
              <a:cs typeface="Arial" charset="0"/>
            </a:endParaRPr>
          </a:p>
          <a:p>
            <a:pPr lvl="1" eaLnBrk="1" hangingPunct="1"/>
            <a:r>
              <a:rPr lang="en-US" dirty="0" smtClean="0">
                <a:latin typeface="Arial" charset="0"/>
                <a:cs typeface="Arial" charset="0"/>
              </a:rPr>
              <a:t>A</a:t>
            </a:r>
            <a:r>
              <a:rPr lang="sl-SI" dirty="0" smtClean="0">
                <a:latin typeface="Arial" charset="0"/>
                <a:cs typeface="Arial" charset="0"/>
              </a:rPr>
              <a:t>v</a:t>
            </a:r>
            <a:r>
              <a:rPr lang="en-US" dirty="0" err="1" smtClean="0">
                <a:latin typeface="Arial" charset="0"/>
                <a:cs typeface="Arial" charset="0"/>
              </a:rPr>
              <a:t>tomo</a:t>
            </a:r>
            <a:r>
              <a:rPr lang="sl-SI" dirty="0" err="1" smtClean="0">
                <a:latin typeface="Arial" charset="0"/>
                <a:cs typeface="Arial" charset="0"/>
              </a:rPr>
              <a:t>bilska</a:t>
            </a:r>
            <a:r>
              <a:rPr lang="en-US" dirty="0" smtClean="0">
                <a:latin typeface="Arial" charset="0"/>
                <a:cs typeface="Arial" charset="0"/>
              </a:rPr>
              <a:t> </a:t>
            </a:r>
            <a:r>
              <a:rPr lang="sl-SI" dirty="0" smtClean="0">
                <a:latin typeface="Arial" charset="0"/>
                <a:cs typeface="Arial" charset="0"/>
              </a:rPr>
              <a:t>i</a:t>
            </a:r>
            <a:r>
              <a:rPr lang="en-US" dirty="0" err="1" smtClean="0">
                <a:latin typeface="Arial" charset="0"/>
                <a:cs typeface="Arial" charset="0"/>
              </a:rPr>
              <a:t>ndustr</a:t>
            </a:r>
            <a:r>
              <a:rPr lang="sl-SI" dirty="0" err="1" smtClean="0">
                <a:latin typeface="Arial" charset="0"/>
                <a:cs typeface="Arial" charset="0"/>
              </a:rPr>
              <a:t>ija</a:t>
            </a:r>
            <a:r>
              <a:rPr lang="en-US" dirty="0" smtClean="0">
                <a:latin typeface="Arial" charset="0"/>
                <a:cs typeface="Arial" charset="0"/>
              </a:rPr>
              <a:t>		</a:t>
            </a:r>
            <a:r>
              <a:rPr lang="sl-SI" b="0" dirty="0" smtClean="0">
                <a:latin typeface="Arial" charset="0"/>
                <a:cs typeface="Arial" charset="0"/>
              </a:rPr>
              <a:t>skoraj vsi uporabljajo </a:t>
            </a:r>
            <a:r>
              <a:rPr lang="en-US" b="0" dirty="0" smtClean="0">
                <a:latin typeface="Arial" charset="0"/>
                <a:cs typeface="Arial" charset="0"/>
              </a:rPr>
              <a:t>Lean &amp; Six Sigma</a:t>
            </a:r>
          </a:p>
          <a:p>
            <a:pPr lvl="1" eaLnBrk="1" hangingPunct="1"/>
            <a:endParaRPr lang="en-US" dirty="0" smtClean="0">
              <a:latin typeface="Arial" charset="0"/>
              <a:cs typeface="Arial" charset="0"/>
            </a:endParaRPr>
          </a:p>
          <a:p>
            <a:pPr lvl="1" eaLnBrk="1" hangingPunct="1"/>
            <a:r>
              <a:rPr lang="en-US" dirty="0" err="1" smtClean="0">
                <a:latin typeface="Arial" charset="0"/>
                <a:cs typeface="Arial" charset="0"/>
              </a:rPr>
              <a:t>Industri</a:t>
            </a:r>
            <a:r>
              <a:rPr lang="sl-SI" dirty="0" err="1" smtClean="0">
                <a:latin typeface="Arial" charset="0"/>
                <a:cs typeface="Arial" charset="0"/>
              </a:rPr>
              <a:t>jska</a:t>
            </a:r>
            <a:r>
              <a:rPr lang="sl-SI" dirty="0" smtClean="0">
                <a:latin typeface="Arial" charset="0"/>
                <a:cs typeface="Arial" charset="0"/>
              </a:rPr>
              <a:t> proizvodnja</a:t>
            </a:r>
            <a:r>
              <a:rPr lang="en-US" dirty="0" smtClean="0">
                <a:latin typeface="Arial" charset="0"/>
                <a:cs typeface="Arial" charset="0"/>
              </a:rPr>
              <a:t>		</a:t>
            </a:r>
            <a:r>
              <a:rPr lang="sl-SI" b="0" dirty="0" smtClean="0">
                <a:latin typeface="Arial" charset="0"/>
                <a:cs typeface="Arial" charset="0"/>
              </a:rPr>
              <a:t>uporabljajo </a:t>
            </a:r>
            <a:r>
              <a:rPr lang="en-US" b="0" dirty="0" smtClean="0">
                <a:latin typeface="Arial" charset="0"/>
                <a:cs typeface="Arial" charset="0"/>
              </a:rPr>
              <a:t>Lean</a:t>
            </a:r>
            <a:r>
              <a:rPr lang="sl-SI" b="0" dirty="0" smtClean="0">
                <a:latin typeface="Arial" charset="0"/>
                <a:cs typeface="Arial" charset="0"/>
              </a:rPr>
              <a:t> in vedno več</a:t>
            </a:r>
            <a:r>
              <a:rPr lang="en-US" b="0" dirty="0" smtClean="0">
                <a:latin typeface="Arial" charset="0"/>
                <a:cs typeface="Arial" charset="0"/>
              </a:rPr>
              <a:t> Six Sigma</a:t>
            </a:r>
          </a:p>
          <a:p>
            <a:pPr lvl="1" eaLnBrk="1" hangingPunct="1"/>
            <a:endParaRPr lang="en-US" dirty="0" smtClean="0">
              <a:latin typeface="Arial" charset="0"/>
              <a:cs typeface="Arial" charset="0"/>
            </a:endParaRPr>
          </a:p>
          <a:p>
            <a:pPr lvl="1"/>
            <a:r>
              <a:rPr lang="en-US" dirty="0" smtClean="0">
                <a:latin typeface="Arial" charset="0"/>
                <a:cs typeface="Arial" charset="0"/>
              </a:rPr>
              <a:t>Bank</a:t>
            </a:r>
            <a:r>
              <a:rPr lang="sl-SI" dirty="0" smtClean="0">
                <a:latin typeface="Arial" charset="0"/>
                <a:cs typeface="Arial" charset="0"/>
              </a:rPr>
              <a:t>e</a:t>
            </a:r>
            <a:r>
              <a:rPr lang="en-US" dirty="0" smtClean="0">
                <a:latin typeface="Arial" charset="0"/>
                <a:cs typeface="Arial" charset="0"/>
              </a:rPr>
              <a:t> &amp; </a:t>
            </a:r>
            <a:r>
              <a:rPr lang="sl-SI" dirty="0" smtClean="0">
                <a:latin typeface="Arial" charset="0"/>
                <a:cs typeface="Arial" charset="0"/>
              </a:rPr>
              <a:t>zavarovalnice</a:t>
            </a:r>
            <a:r>
              <a:rPr lang="en-US" dirty="0" smtClean="0">
                <a:latin typeface="Arial" charset="0"/>
                <a:cs typeface="Arial" charset="0"/>
              </a:rPr>
              <a:t>		</a:t>
            </a:r>
            <a:r>
              <a:rPr lang="sl-SI" dirty="0" smtClean="0">
                <a:latin typeface="Arial" charset="0"/>
                <a:cs typeface="Arial" charset="0"/>
              </a:rPr>
              <a:t>	</a:t>
            </a:r>
            <a:r>
              <a:rPr lang="sl-SI" b="0" dirty="0" smtClean="0">
                <a:latin typeface="Arial" charset="0"/>
                <a:cs typeface="Arial" charset="0"/>
              </a:rPr>
              <a:t>uporabljajo </a:t>
            </a:r>
            <a:r>
              <a:rPr lang="en-US" b="0" dirty="0">
                <a:latin typeface="Arial" charset="0"/>
                <a:cs typeface="Arial" charset="0"/>
              </a:rPr>
              <a:t>Lean</a:t>
            </a:r>
            <a:r>
              <a:rPr lang="sl-SI" b="0" dirty="0">
                <a:latin typeface="Arial" charset="0"/>
                <a:cs typeface="Arial" charset="0"/>
              </a:rPr>
              <a:t> in vedno več</a:t>
            </a:r>
            <a:r>
              <a:rPr lang="en-US" b="0" dirty="0">
                <a:latin typeface="Arial" charset="0"/>
                <a:cs typeface="Arial" charset="0"/>
              </a:rPr>
              <a:t> Six </a:t>
            </a:r>
            <a:r>
              <a:rPr lang="en-US" b="0" dirty="0" smtClean="0">
                <a:latin typeface="Arial" charset="0"/>
                <a:cs typeface="Arial" charset="0"/>
              </a:rPr>
              <a:t>Sigma</a:t>
            </a:r>
          </a:p>
          <a:p>
            <a:pPr lvl="1" eaLnBrk="1" hangingPunct="1"/>
            <a:endParaRPr lang="en-US" dirty="0" smtClean="0">
              <a:latin typeface="Arial" charset="0"/>
              <a:cs typeface="Arial" charset="0"/>
            </a:endParaRPr>
          </a:p>
          <a:p>
            <a:pPr lvl="1" eaLnBrk="1" hangingPunct="1"/>
            <a:r>
              <a:rPr lang="sl-SI" dirty="0" smtClean="0">
                <a:latin typeface="Arial" charset="0"/>
                <a:cs typeface="Arial" charset="0"/>
              </a:rPr>
              <a:t>Storitvena industrija</a:t>
            </a:r>
            <a:r>
              <a:rPr lang="en-US" dirty="0" smtClean="0">
                <a:latin typeface="Arial" charset="0"/>
                <a:cs typeface="Arial" charset="0"/>
              </a:rPr>
              <a:t>		</a:t>
            </a:r>
            <a:r>
              <a:rPr lang="sl-SI" dirty="0" smtClean="0">
                <a:latin typeface="Arial" charset="0"/>
                <a:cs typeface="Arial" charset="0"/>
              </a:rPr>
              <a:t>	</a:t>
            </a:r>
            <a:r>
              <a:rPr lang="sl-SI" b="0" dirty="0" smtClean="0">
                <a:latin typeface="Arial" charset="0"/>
                <a:cs typeface="Arial" charset="0"/>
              </a:rPr>
              <a:t>pričenjajo z uporabo </a:t>
            </a:r>
            <a:r>
              <a:rPr lang="en-US" b="0" dirty="0" smtClean="0">
                <a:latin typeface="Arial" charset="0"/>
                <a:cs typeface="Arial" charset="0"/>
              </a:rPr>
              <a:t>Lean </a:t>
            </a:r>
            <a:r>
              <a:rPr lang="sl-SI" b="0" dirty="0" smtClean="0">
                <a:latin typeface="Arial" charset="0"/>
                <a:cs typeface="Arial" charset="0"/>
              </a:rPr>
              <a:t>in </a:t>
            </a:r>
            <a:r>
              <a:rPr lang="en-US" b="0" dirty="0" smtClean="0">
                <a:latin typeface="Arial" charset="0"/>
                <a:cs typeface="Arial" charset="0"/>
              </a:rPr>
              <a:t>Six Sigma</a:t>
            </a:r>
          </a:p>
          <a:p>
            <a:pPr lvl="1" eaLnBrk="1" hangingPunct="1"/>
            <a:endParaRPr lang="en-US" dirty="0" smtClean="0">
              <a:latin typeface="Arial" charset="0"/>
              <a:cs typeface="Arial" charset="0"/>
            </a:endParaRPr>
          </a:p>
          <a:p>
            <a:pPr lvl="1" eaLnBrk="1" hangingPunct="1"/>
            <a:r>
              <a:rPr lang="sl-SI" dirty="0" err="1" smtClean="0">
                <a:latin typeface="Arial" charset="0"/>
                <a:cs typeface="Arial" charset="0"/>
              </a:rPr>
              <a:t>Prehrambena</a:t>
            </a:r>
            <a:r>
              <a:rPr lang="sl-SI" dirty="0" smtClean="0">
                <a:latin typeface="Arial" charset="0"/>
                <a:cs typeface="Arial" charset="0"/>
              </a:rPr>
              <a:t> i</a:t>
            </a:r>
            <a:r>
              <a:rPr lang="en-US" dirty="0" err="1" smtClean="0">
                <a:latin typeface="Arial" charset="0"/>
                <a:cs typeface="Arial" charset="0"/>
              </a:rPr>
              <a:t>ndustr</a:t>
            </a:r>
            <a:r>
              <a:rPr lang="sl-SI" dirty="0" err="1" smtClean="0">
                <a:latin typeface="Arial" charset="0"/>
                <a:cs typeface="Arial" charset="0"/>
              </a:rPr>
              <a:t>ija</a:t>
            </a:r>
            <a:r>
              <a:rPr lang="en-US" dirty="0" smtClean="0">
                <a:latin typeface="Arial" charset="0"/>
                <a:cs typeface="Arial" charset="0"/>
              </a:rPr>
              <a:t>			</a:t>
            </a:r>
            <a:r>
              <a:rPr lang="sl-SI" b="0" dirty="0" smtClean="0">
                <a:latin typeface="Arial" charset="0"/>
                <a:cs typeface="Arial" charset="0"/>
              </a:rPr>
              <a:t>uporabljajo </a:t>
            </a:r>
            <a:r>
              <a:rPr lang="en-US" b="0" dirty="0" smtClean="0">
                <a:latin typeface="Arial" charset="0"/>
                <a:cs typeface="Arial" charset="0"/>
              </a:rPr>
              <a:t>TPM </a:t>
            </a:r>
            <a:r>
              <a:rPr lang="sl-SI" b="0" dirty="0" smtClean="0">
                <a:latin typeface="Arial" charset="0"/>
                <a:cs typeface="Arial" charset="0"/>
              </a:rPr>
              <a:t>in</a:t>
            </a:r>
            <a:r>
              <a:rPr lang="en-US" b="0" dirty="0" smtClean="0">
                <a:latin typeface="Arial" charset="0"/>
                <a:cs typeface="Arial" charset="0"/>
              </a:rPr>
              <a:t> Lean</a:t>
            </a:r>
          </a:p>
          <a:p>
            <a:pPr lvl="1" eaLnBrk="1" hangingPunct="1"/>
            <a:endParaRPr lang="en-US" dirty="0" smtClean="0">
              <a:latin typeface="Arial" charset="0"/>
              <a:cs typeface="Arial" charset="0"/>
            </a:endParaRPr>
          </a:p>
          <a:p>
            <a:pPr lvl="1"/>
            <a:r>
              <a:rPr lang="sl-SI" dirty="0" smtClean="0">
                <a:latin typeface="Arial" charset="0"/>
                <a:cs typeface="Arial" charset="0"/>
              </a:rPr>
              <a:t>Zdravstvo</a:t>
            </a:r>
            <a:r>
              <a:rPr lang="en-US" dirty="0" smtClean="0">
                <a:latin typeface="Arial" charset="0"/>
                <a:cs typeface="Arial" charset="0"/>
              </a:rPr>
              <a:t>			</a:t>
            </a:r>
            <a:r>
              <a:rPr lang="sl-SI" b="0" dirty="0">
                <a:latin typeface="Arial" charset="0"/>
                <a:cs typeface="Arial" charset="0"/>
              </a:rPr>
              <a:t> </a:t>
            </a:r>
            <a:r>
              <a:rPr lang="sl-SI" b="0" dirty="0" smtClean="0">
                <a:latin typeface="Arial" charset="0"/>
                <a:cs typeface="Arial" charset="0"/>
              </a:rPr>
              <a:t>	pričenjajo </a:t>
            </a:r>
            <a:r>
              <a:rPr lang="sl-SI" b="0" dirty="0">
                <a:latin typeface="Arial" charset="0"/>
                <a:cs typeface="Arial" charset="0"/>
              </a:rPr>
              <a:t>z uporabo </a:t>
            </a:r>
            <a:r>
              <a:rPr lang="en-US" b="0" dirty="0">
                <a:latin typeface="Arial" charset="0"/>
                <a:cs typeface="Arial" charset="0"/>
              </a:rPr>
              <a:t>Lean </a:t>
            </a:r>
            <a:r>
              <a:rPr lang="sl-SI" b="0" dirty="0">
                <a:latin typeface="Arial" charset="0"/>
                <a:cs typeface="Arial" charset="0"/>
              </a:rPr>
              <a:t>in </a:t>
            </a:r>
            <a:r>
              <a:rPr lang="en-US" b="0" dirty="0">
                <a:latin typeface="Arial" charset="0"/>
                <a:cs typeface="Arial" charset="0"/>
              </a:rPr>
              <a:t>Six Sigma</a:t>
            </a:r>
            <a:endParaRPr lang="en-US" b="0" dirty="0" smtClean="0">
              <a:latin typeface="Arial" charset="0"/>
              <a:cs typeface="Arial" charset="0"/>
            </a:endParaRPr>
          </a:p>
          <a:p>
            <a:pPr lvl="1" eaLnBrk="1" hangingPunct="1"/>
            <a:endParaRPr lang="en-US" dirty="0" smtClean="0">
              <a:latin typeface="Arial" charset="0"/>
              <a:cs typeface="Arial" charset="0"/>
            </a:endParaRPr>
          </a:p>
          <a:p>
            <a:pPr lvl="1" eaLnBrk="1" hangingPunct="1"/>
            <a:r>
              <a:rPr lang="sl-SI" dirty="0" smtClean="0">
                <a:latin typeface="Arial" charset="0"/>
                <a:cs typeface="Arial" charset="0"/>
              </a:rPr>
              <a:t>Razvoj izdelkov</a:t>
            </a:r>
            <a:r>
              <a:rPr lang="en-US" dirty="0" smtClean="0">
                <a:latin typeface="Arial" charset="0"/>
                <a:cs typeface="Arial" charset="0"/>
              </a:rPr>
              <a:t>		</a:t>
            </a:r>
            <a:r>
              <a:rPr lang="sl-SI" dirty="0" smtClean="0">
                <a:latin typeface="Arial" charset="0"/>
                <a:cs typeface="Arial" charset="0"/>
              </a:rPr>
              <a:t>	</a:t>
            </a:r>
            <a:r>
              <a:rPr lang="sl-SI" b="0" dirty="0" smtClean="0">
                <a:latin typeface="Arial" charset="0"/>
                <a:cs typeface="Arial" charset="0"/>
              </a:rPr>
              <a:t>oblikovanje za</a:t>
            </a:r>
            <a:r>
              <a:rPr lang="en-US" b="0" dirty="0" smtClean="0">
                <a:latin typeface="Arial" charset="0"/>
                <a:cs typeface="Arial" charset="0"/>
              </a:rPr>
              <a:t> Six Sigma</a:t>
            </a:r>
          </a:p>
        </p:txBody>
      </p:sp>
    </p:spTree>
    <p:extLst>
      <p:ext uri="{BB962C8B-B14F-4D97-AF65-F5344CB8AC3E}">
        <p14:creationId xmlns:p14="http://schemas.microsoft.com/office/powerpoint/2010/main" val="3795305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l-SI" dirty="0" smtClean="0"/>
              <a:t>Vloge in odgovornosti</a:t>
            </a:r>
            <a:endParaRPr lang="en-GB" dirty="0" smtClean="0"/>
          </a:p>
        </p:txBody>
      </p:sp>
      <p:sp>
        <p:nvSpPr>
          <p:cNvPr id="3075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pitchFamily="34" charset="0"/>
              <a:buNone/>
            </a:pPr>
            <a:r>
              <a:rPr lang="en-GB" dirty="0" smtClean="0"/>
              <a:t>Lean Six Sigma</a:t>
            </a:r>
            <a:r>
              <a:rPr lang="sl-SI" dirty="0" smtClean="0"/>
              <a:t> struktura</a:t>
            </a:r>
            <a:endParaRPr lang="en-GB" dirty="0" smtClean="0"/>
          </a:p>
          <a:p>
            <a:pPr lvl="1" eaLnBrk="1" hangingPunct="1"/>
            <a:endParaRPr lang="en-GB" dirty="0" smtClean="0"/>
          </a:p>
          <a:p>
            <a:pPr lvl="1" eaLnBrk="1" hangingPunct="1"/>
            <a:r>
              <a:rPr lang="sl-SI" dirty="0" smtClean="0"/>
              <a:t>Pri uspešni </a:t>
            </a:r>
            <a:r>
              <a:rPr lang="en-GB" dirty="0" err="1" smtClean="0"/>
              <a:t>implementa</a:t>
            </a:r>
            <a:r>
              <a:rPr lang="sl-SI" dirty="0" err="1" smtClean="0"/>
              <a:t>ciji</a:t>
            </a:r>
            <a:r>
              <a:rPr lang="sl-SI" dirty="0" smtClean="0"/>
              <a:t> </a:t>
            </a:r>
            <a:r>
              <a:rPr lang="sl-SI" dirty="0" err="1" smtClean="0"/>
              <a:t>Lean</a:t>
            </a:r>
            <a:r>
              <a:rPr lang="en-GB" dirty="0" smtClean="0"/>
              <a:t> Six Sigma</a:t>
            </a:r>
            <a:r>
              <a:rPr lang="sl-SI" dirty="0" smtClean="0"/>
              <a:t> metodologije so odgovornosti in vloge različne in jasno razdeljene</a:t>
            </a:r>
            <a:r>
              <a:rPr lang="en-GB" dirty="0" smtClean="0"/>
              <a:t>.</a:t>
            </a:r>
          </a:p>
          <a:p>
            <a:pPr lvl="1" eaLnBrk="1" hangingPunct="1"/>
            <a:endParaRPr lang="en-GB" dirty="0" smtClean="0"/>
          </a:p>
          <a:p>
            <a:pPr lvl="1" eaLnBrk="1" hangingPunct="1"/>
            <a:endParaRPr lang="en-GB" dirty="0" smtClean="0"/>
          </a:p>
          <a:p>
            <a:pPr lvl="1" eaLnBrk="1" hangingPunct="1"/>
            <a:endParaRPr lang="en-GB" dirty="0" smtClean="0"/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611188" y="6172200"/>
            <a:ext cx="7777162" cy="338138"/>
          </a:xfrm>
          <a:prstGeom prst="rect">
            <a:avLst/>
          </a:prstGeom>
          <a:solidFill>
            <a:srgbClr val="000066"/>
          </a:solidFill>
          <a:ln w="19050" algn="ctr">
            <a:noFill/>
            <a:miter lim="800000"/>
            <a:headEnd/>
            <a:tailEnd/>
          </a:ln>
          <a:effectLst>
            <a:outerShdw dist="28398" dir="1593903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/>
            <a:r>
              <a:rPr lang="sl-SI" sz="1600" b="1" dirty="0" smtClean="0">
                <a:solidFill>
                  <a:schemeClr val="bg1"/>
                </a:solidFill>
              </a:rPr>
              <a:t>Potrebna je najširša možna podpora v organizaciji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3081" name="Text Box 10"/>
          <p:cNvSpPr txBox="1">
            <a:spLocks noChangeArrowheads="1"/>
          </p:cNvSpPr>
          <p:nvPr/>
        </p:nvSpPr>
        <p:spPr bwMode="auto">
          <a:xfrm>
            <a:off x="914400" y="2971800"/>
            <a:ext cx="7343775" cy="336550"/>
          </a:xfrm>
          <a:prstGeom prst="rect">
            <a:avLst/>
          </a:prstGeom>
          <a:solidFill>
            <a:srgbClr val="000066"/>
          </a:solidFill>
          <a:ln w="19050">
            <a:noFill/>
            <a:miter lim="800000"/>
            <a:headEnd/>
            <a:tailEnd/>
          </a:ln>
          <a:effectLst>
            <a:outerShdw dist="28398" dir="1593903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/>
            <a:r>
              <a:rPr lang="sl-SI" sz="1600" b="1" dirty="0" smtClean="0">
                <a:solidFill>
                  <a:schemeClr val="bg1"/>
                </a:solidFill>
              </a:rPr>
              <a:t>Vodstvo mora podpirati in voditi</a:t>
            </a:r>
            <a:r>
              <a:rPr lang="en-GB" sz="1600" b="1" dirty="0" smtClean="0">
                <a:solidFill>
                  <a:schemeClr val="bg1"/>
                </a:solidFill>
              </a:rPr>
              <a:t> </a:t>
            </a:r>
            <a:r>
              <a:rPr lang="en-GB" sz="1600" b="1" dirty="0">
                <a:solidFill>
                  <a:schemeClr val="bg1"/>
                </a:solidFill>
              </a:rPr>
              <a:t>Six Sigma </a:t>
            </a:r>
          </a:p>
        </p:txBody>
      </p:sp>
      <p:sp>
        <p:nvSpPr>
          <p:cNvPr id="12" name="PIJL-RECHTS 11"/>
          <p:cNvSpPr/>
          <p:nvPr/>
        </p:nvSpPr>
        <p:spPr bwMode="auto">
          <a:xfrm rot="5400000">
            <a:off x="5600191" y="4388359"/>
            <a:ext cx="2050480" cy="649287"/>
          </a:xfrm>
          <a:prstGeom prst="rightArrow">
            <a:avLst/>
          </a:prstGeom>
          <a:gradFill flip="none" rotWithShape="1">
            <a:gsLst>
              <a:gs pos="9000">
                <a:srgbClr val="002060"/>
              </a:gs>
              <a:gs pos="9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>
              <a:defRPr/>
            </a:pPr>
            <a:endParaRPr lang="nl-NL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5861050" y="3605213"/>
            <a:ext cx="1584325" cy="328612"/>
          </a:xfrm>
          <a:prstGeom prst="rect">
            <a:avLst/>
          </a:prstGeom>
          <a:gradFill rotWithShape="1">
            <a:gsLst>
              <a:gs pos="0">
                <a:srgbClr val="002060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Champion</a:t>
            </a:r>
          </a:p>
        </p:txBody>
      </p:sp>
      <p:sp>
        <p:nvSpPr>
          <p:cNvPr id="3086" name="Tekstvak 2"/>
          <p:cNvSpPr txBox="1">
            <a:spLocks noChangeArrowheads="1"/>
          </p:cNvSpPr>
          <p:nvPr/>
        </p:nvSpPr>
        <p:spPr bwMode="auto">
          <a:xfrm>
            <a:off x="7156450" y="4251325"/>
            <a:ext cx="97948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nl-NL" sz="1400"/>
              <a:t>Top Down</a:t>
            </a:r>
          </a:p>
        </p:txBody>
      </p:sp>
      <p:sp>
        <p:nvSpPr>
          <p:cNvPr id="3087" name="Tekstvak 14"/>
          <p:cNvSpPr txBox="1">
            <a:spLocks noChangeArrowheads="1"/>
          </p:cNvSpPr>
          <p:nvPr/>
        </p:nvSpPr>
        <p:spPr bwMode="auto">
          <a:xfrm>
            <a:off x="7165975" y="5229225"/>
            <a:ext cx="100171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nl-NL" sz="1400"/>
              <a:t>Bottom up</a:t>
            </a:r>
          </a:p>
        </p:txBody>
      </p:sp>
      <p:sp>
        <p:nvSpPr>
          <p:cNvPr id="22" name="PIJL-RECHTS 21"/>
          <p:cNvSpPr/>
          <p:nvPr/>
        </p:nvSpPr>
        <p:spPr>
          <a:xfrm rot="16200000">
            <a:off x="1900387" y="4342979"/>
            <a:ext cx="2570212" cy="598240"/>
          </a:xfrm>
          <a:prstGeom prst="rightArrow">
            <a:avLst/>
          </a:prstGeom>
          <a:gradFill flip="none" rotWithShape="1">
            <a:gsLst>
              <a:gs pos="9000">
                <a:srgbClr val="002060"/>
              </a:gs>
              <a:gs pos="9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nl-NL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1187624" y="5409631"/>
            <a:ext cx="3963988" cy="328612"/>
          </a:xfrm>
          <a:prstGeom prst="rect">
            <a:avLst/>
          </a:prstGeom>
          <a:gradFill rotWithShape="1">
            <a:gsLst>
              <a:gs pos="0">
                <a:srgbClr val="939000"/>
              </a:gs>
              <a:gs pos="50000">
                <a:srgbClr val="D4CF00"/>
              </a:gs>
              <a:gs pos="100000">
                <a:srgbClr val="FDF700"/>
              </a:gs>
            </a:gsLst>
            <a:lin ang="162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Yellow </a:t>
            </a:r>
            <a:r>
              <a:rPr lang="en-US" b="1" dirty="0" smtClean="0">
                <a:solidFill>
                  <a:schemeClr val="bg1"/>
                </a:solidFill>
              </a:rPr>
              <a:t>Belt / Lean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4" name="Rectangle 6"/>
          <p:cNvSpPr>
            <a:spLocks noChangeArrowheads="1"/>
          </p:cNvSpPr>
          <p:nvPr/>
        </p:nvSpPr>
        <p:spPr bwMode="auto">
          <a:xfrm>
            <a:off x="1719437" y="4588893"/>
            <a:ext cx="2928937" cy="330200"/>
          </a:xfrm>
          <a:prstGeom prst="rect">
            <a:avLst/>
          </a:prstGeom>
          <a:gradFill flip="none" rotWithShape="1">
            <a:gsLst>
              <a:gs pos="23000">
                <a:srgbClr val="336600"/>
              </a:gs>
              <a:gs pos="78000">
                <a:srgbClr val="99CC00"/>
              </a:gs>
            </a:gsLst>
            <a:lin ang="540000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</a:rPr>
              <a:t>Green Belt</a:t>
            </a:r>
          </a:p>
        </p:txBody>
      </p: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2268712" y="4198368"/>
            <a:ext cx="1890712" cy="328613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50000">
                <a:srgbClr val="5F5F5F"/>
              </a:gs>
              <a:gs pos="100000">
                <a:schemeClr val="tx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</a:rPr>
              <a:t>Black Belt</a:t>
            </a:r>
          </a:p>
        </p:txBody>
      </p:sp>
      <p:sp>
        <p:nvSpPr>
          <p:cNvPr id="26" name="Rectangle 8"/>
          <p:cNvSpPr>
            <a:spLocks noChangeArrowheads="1"/>
          </p:cNvSpPr>
          <p:nvPr/>
        </p:nvSpPr>
        <p:spPr bwMode="auto">
          <a:xfrm>
            <a:off x="2573512" y="3806256"/>
            <a:ext cx="1281112" cy="328612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162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MBB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1416224" y="4995293"/>
            <a:ext cx="3538538" cy="328613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100000">
                <a:srgbClr val="8650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Orange Belt</a:t>
            </a:r>
          </a:p>
        </p:txBody>
      </p:sp>
    </p:spTree>
    <p:extLst>
      <p:ext uri="{BB962C8B-B14F-4D97-AF65-F5344CB8AC3E}">
        <p14:creationId xmlns:p14="http://schemas.microsoft.com/office/powerpoint/2010/main" val="2974706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l-SI" dirty="0" smtClean="0"/>
              <a:t>Vozni red</a:t>
            </a:r>
            <a:endParaRPr lang="en-GB" dirty="0" smtClean="0"/>
          </a:p>
        </p:txBody>
      </p:sp>
      <p:sp>
        <p:nvSpPr>
          <p:cNvPr id="2" name="Označba mesta vsebine 1"/>
          <p:cNvSpPr>
            <a:spLocks noGrp="1"/>
          </p:cNvSpPr>
          <p:nvPr>
            <p:ph idx="1"/>
          </p:nvPr>
        </p:nvSpPr>
        <p:spPr>
          <a:xfrm>
            <a:off x="179512" y="1268760"/>
            <a:ext cx="8964488" cy="5472608"/>
          </a:xfrm>
        </p:spPr>
        <p:txBody>
          <a:bodyPr/>
          <a:lstStyle/>
          <a:p>
            <a:pPr lvl="0"/>
            <a:r>
              <a:rPr lang="en-IE" sz="1600" dirty="0"/>
              <a:t>Lean Six Sigma Yellow Belt training </a:t>
            </a:r>
            <a:r>
              <a:rPr lang="sl-SI" sz="1200" dirty="0" smtClean="0"/>
              <a:t>– strukturiran pristop k zaznavanju možnosti za izboljšave v </a:t>
            </a:r>
            <a:r>
              <a:rPr lang="sl-SI" sz="1200" dirty="0" smtClean="0"/>
              <a:t>procesih ter </a:t>
            </a:r>
            <a:r>
              <a:rPr lang="sl-SI" sz="1200" dirty="0" smtClean="0"/>
              <a:t>njihova </a:t>
            </a:r>
            <a:r>
              <a:rPr lang="sl-SI" sz="1200" dirty="0" smtClean="0"/>
              <a:t>izvedba</a:t>
            </a:r>
            <a:endParaRPr lang="sl-SI" sz="1200" dirty="0" smtClean="0"/>
          </a:p>
          <a:p>
            <a:pPr lvl="0"/>
            <a:endParaRPr lang="sl-SI" sz="1800" dirty="0"/>
          </a:p>
          <a:p>
            <a:pPr lvl="0"/>
            <a:r>
              <a:rPr lang="en-IE" sz="1200" dirty="0"/>
              <a:t>Introduction/Needs Analysis on Lean Six Sigma in Health</a:t>
            </a:r>
            <a:endParaRPr lang="sl-SI" sz="1800" dirty="0"/>
          </a:p>
          <a:p>
            <a:pPr lvl="1"/>
            <a:r>
              <a:rPr lang="en-IE" sz="900" dirty="0"/>
              <a:t>Roles &amp; Responsibilities in Lean Six Sigma</a:t>
            </a:r>
            <a:endParaRPr lang="sl-SI" sz="1400" dirty="0"/>
          </a:p>
          <a:p>
            <a:pPr lvl="1"/>
            <a:r>
              <a:rPr lang="en-IE" sz="900" dirty="0"/>
              <a:t>Lean Principles</a:t>
            </a:r>
            <a:endParaRPr lang="sl-SI" sz="1400" dirty="0"/>
          </a:p>
          <a:p>
            <a:pPr lvl="0"/>
            <a:r>
              <a:rPr lang="en-IE" sz="1200" dirty="0"/>
              <a:t>Define Phase of Lean Six Sigma</a:t>
            </a:r>
            <a:endParaRPr lang="sl-SI" sz="1800" dirty="0"/>
          </a:p>
          <a:p>
            <a:pPr lvl="1"/>
            <a:r>
              <a:rPr lang="en-IE" sz="900" dirty="0"/>
              <a:t>Process Mapping</a:t>
            </a:r>
            <a:endParaRPr lang="sl-SI" sz="1400" dirty="0"/>
          </a:p>
          <a:p>
            <a:pPr lvl="1"/>
            <a:r>
              <a:rPr lang="en-IE" sz="900" dirty="0"/>
              <a:t>Voice of the Customer (VOC) &amp; Critical to Quality (CTQ)</a:t>
            </a:r>
            <a:endParaRPr lang="sl-SI" sz="1400" dirty="0"/>
          </a:p>
          <a:p>
            <a:pPr lvl="0"/>
            <a:r>
              <a:rPr lang="en-IE" sz="1200" dirty="0"/>
              <a:t>Measure Phase of Lean Six Sigma </a:t>
            </a:r>
            <a:endParaRPr lang="sl-SI" sz="1800" dirty="0"/>
          </a:p>
          <a:p>
            <a:pPr lvl="1"/>
            <a:r>
              <a:rPr lang="en-IE" sz="900" dirty="0"/>
              <a:t>Data Types &amp; Data Collection</a:t>
            </a:r>
            <a:endParaRPr lang="sl-SI" sz="1400" dirty="0"/>
          </a:p>
          <a:p>
            <a:pPr lvl="1"/>
            <a:r>
              <a:rPr lang="en-IE" sz="900" dirty="0"/>
              <a:t>Basic Statistics</a:t>
            </a:r>
            <a:endParaRPr lang="sl-SI" sz="1400" dirty="0"/>
          </a:p>
          <a:p>
            <a:pPr lvl="1"/>
            <a:r>
              <a:rPr lang="en-IE" sz="900" dirty="0"/>
              <a:t>Process performance Metrics</a:t>
            </a:r>
            <a:endParaRPr lang="sl-SI" sz="1400" dirty="0"/>
          </a:p>
          <a:p>
            <a:pPr lvl="1"/>
            <a:r>
              <a:rPr lang="en-IE" sz="900" dirty="0"/>
              <a:t>Visualisation of data</a:t>
            </a:r>
            <a:endParaRPr lang="sl-SI" sz="1400" dirty="0"/>
          </a:p>
          <a:p>
            <a:pPr lvl="1"/>
            <a:r>
              <a:rPr lang="en-IE" sz="900" dirty="0"/>
              <a:t>Measurement Systems</a:t>
            </a:r>
            <a:endParaRPr lang="sl-SI" sz="1400" dirty="0"/>
          </a:p>
          <a:p>
            <a:pPr lvl="0"/>
            <a:r>
              <a:rPr lang="en-IE" sz="1200" dirty="0"/>
              <a:t>Analyse Phase of Lean Six Sigma</a:t>
            </a:r>
            <a:endParaRPr lang="sl-SI" sz="1800" dirty="0"/>
          </a:p>
          <a:p>
            <a:pPr lvl="1"/>
            <a:r>
              <a:rPr lang="en-IE" sz="900" dirty="0"/>
              <a:t>Regression Analysis</a:t>
            </a:r>
            <a:endParaRPr lang="sl-SI" sz="1400" dirty="0"/>
          </a:p>
          <a:p>
            <a:pPr lvl="1"/>
            <a:r>
              <a:rPr lang="en-IE" sz="900" dirty="0"/>
              <a:t>Hypothesis Testing</a:t>
            </a:r>
            <a:endParaRPr lang="sl-SI" sz="1400" dirty="0"/>
          </a:p>
          <a:p>
            <a:pPr lvl="1"/>
            <a:r>
              <a:rPr lang="en-IE" sz="900" dirty="0"/>
              <a:t>Failure Mode Effect Analysis (FMEA)</a:t>
            </a:r>
            <a:endParaRPr lang="sl-SI" sz="1400" dirty="0"/>
          </a:p>
          <a:p>
            <a:pPr lvl="1"/>
            <a:r>
              <a:rPr lang="en-IE" sz="900" dirty="0"/>
              <a:t>Root Cause Analysis</a:t>
            </a:r>
            <a:endParaRPr lang="sl-SI" sz="1400" dirty="0"/>
          </a:p>
          <a:p>
            <a:pPr lvl="1"/>
            <a:r>
              <a:rPr lang="en-IE" sz="900" dirty="0"/>
              <a:t>Value Stream Mapping (VSM).</a:t>
            </a:r>
            <a:endParaRPr lang="sl-SI" sz="1400" dirty="0"/>
          </a:p>
          <a:p>
            <a:pPr lvl="0"/>
            <a:r>
              <a:rPr lang="en-IE" sz="1200" dirty="0"/>
              <a:t>Improve Phase of Lean Six Sigma</a:t>
            </a:r>
            <a:endParaRPr lang="sl-SI" sz="1800" dirty="0"/>
          </a:p>
          <a:p>
            <a:pPr lvl="1"/>
            <a:r>
              <a:rPr lang="en-IE" sz="900" dirty="0"/>
              <a:t>5S</a:t>
            </a:r>
            <a:endParaRPr lang="sl-SI" sz="1400" dirty="0"/>
          </a:p>
          <a:p>
            <a:pPr lvl="1"/>
            <a:r>
              <a:rPr lang="en-IE" sz="900" dirty="0"/>
              <a:t>Kaizen</a:t>
            </a:r>
            <a:endParaRPr lang="sl-SI" sz="1400" dirty="0"/>
          </a:p>
          <a:p>
            <a:pPr lvl="1"/>
            <a:r>
              <a:rPr lang="en-IE" sz="900" dirty="0"/>
              <a:t>Statistical Process Control (SPC)/process Capability</a:t>
            </a:r>
            <a:endParaRPr lang="sl-SI" sz="1400" dirty="0"/>
          </a:p>
          <a:p>
            <a:pPr lvl="0"/>
            <a:r>
              <a:rPr lang="en-IE" sz="1200" dirty="0"/>
              <a:t>Control Phase of Lean Six Sigma</a:t>
            </a:r>
            <a:endParaRPr lang="sl-SI" sz="1800" dirty="0"/>
          </a:p>
          <a:p>
            <a:pPr lvl="1"/>
            <a:r>
              <a:rPr lang="en-IE" sz="900" dirty="0"/>
              <a:t>Visual Factory &amp; Quality Assurance</a:t>
            </a:r>
            <a:endParaRPr lang="sl-SI" sz="1400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683480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SSA_20110718">
  <a:themeElements>
    <a:clrScheme name="LSSA">
      <a:dk1>
        <a:sysClr val="windowText" lastClr="000000"/>
      </a:dk1>
      <a:lt1>
        <a:sysClr val="window" lastClr="FFFFFF"/>
      </a:lt1>
      <a:dk2>
        <a:srgbClr val="73202F"/>
      </a:dk2>
      <a:lt2>
        <a:srgbClr val="F2F2F2"/>
      </a:lt2>
      <a:accent1>
        <a:srgbClr val="BF0426"/>
      </a:accent1>
      <a:accent2>
        <a:srgbClr val="73202F"/>
      </a:accent2>
      <a:accent3>
        <a:srgbClr val="595956"/>
      </a:accent3>
      <a:accent4>
        <a:srgbClr val="F2F2F2"/>
      </a:accent4>
      <a:accent5>
        <a:srgbClr val="735C48"/>
      </a:accent5>
      <a:accent6>
        <a:srgbClr val="000000"/>
      </a:accent6>
      <a:hlink>
        <a:srgbClr val="000000"/>
      </a:hlink>
      <a:folHlink>
        <a:srgbClr val="0000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LSSA_20110718</Template>
  <TotalTime>458</TotalTime>
  <Words>583</Words>
  <Application>Microsoft Office PowerPoint</Application>
  <PresentationFormat>Diaprojekcija na zaslonu (4:3)</PresentationFormat>
  <Paragraphs>192</Paragraphs>
  <Slides>12</Slides>
  <Notes>8</Notes>
  <HiddenSlides>0</HiddenSlides>
  <MMClips>0</MMClips>
  <ScaleCrop>false</ScaleCrop>
  <HeadingPairs>
    <vt:vector size="6" baseType="variant">
      <vt:variant>
        <vt:lpstr>Uporabljene pisave</vt:lpstr>
      </vt:variant>
      <vt:variant>
        <vt:i4>4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Wingdings</vt:lpstr>
      <vt:lpstr>LSSA_20110718</vt:lpstr>
      <vt:lpstr>Kaj je Lean Six Sigma ?</vt:lpstr>
      <vt:lpstr>Zgodovina nenehnih izboljšav </vt:lpstr>
      <vt:lpstr>Osnove LSS</vt:lpstr>
      <vt:lpstr>Nivo 1 – 5S delovno okolje</vt:lpstr>
      <vt:lpstr>Nivo 2 – Kaizen</vt:lpstr>
      <vt:lpstr>Nivo 3 – Vitko upravljanje (Lean Management)</vt:lpstr>
      <vt:lpstr>Nivo 3 – Vitko upravljanje (Lean Management)</vt:lpstr>
      <vt:lpstr>Nivo 4 – Six Sigma</vt:lpstr>
      <vt:lpstr>Nivo 5 – Oblikovanje za Six Sigma</vt:lpstr>
      <vt:lpstr>Lean in Six Sigma</vt:lpstr>
      <vt:lpstr>Vloge in odgovornosti</vt:lpstr>
      <vt:lpstr>Vozni red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DMADV Review Template</dc:title>
  <dc:creator>Dick</dc:creator>
  <cp:lastModifiedBy>Milan Zorman</cp:lastModifiedBy>
  <cp:revision>61</cp:revision>
  <dcterms:created xsi:type="dcterms:W3CDTF">2010-09-17T08:26:53Z</dcterms:created>
  <dcterms:modified xsi:type="dcterms:W3CDTF">2014-10-01T21:00:50Z</dcterms:modified>
</cp:coreProperties>
</file>