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6"/>
  </p:notesMasterIdLst>
  <p:handoutMasterIdLst>
    <p:handoutMasterId r:id="rId27"/>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0287000" cy="6858000" type="35mm"/>
  <p:notesSz cx="6858000" cy="9144000"/>
  <p:embeddedFontLst>
    <p:embeddedFont>
      <p:font typeface="Calibri" pitchFamily="34" charset="0"/>
      <p:regular r:id="rId28"/>
      <p:bold r:id="rId29"/>
      <p:italic r:id="rId30"/>
      <p:boldItalic r:id="rId31"/>
    </p:embeddedFont>
    <p:embeddedFont>
      <p:font typeface="Cambria Math" pitchFamily="18" charset="0"/>
      <p:regular r:id="rId32"/>
    </p:embeddedFont>
    <p:embeddedFont>
      <p:font typeface="Arial Black" pitchFamily="34" charset="0"/>
      <p:bold r:id="rId33"/>
    </p:embeddedFont>
  </p:embeddedFontLst>
  <p:defaultTextStyle>
    <a:defPPr>
      <a:defRPr lang="nl-NL"/>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1721"/>
    <a:srgbClr val="C00000"/>
    <a:srgbClr val="DD6F11"/>
    <a:srgbClr val="C8B8A4"/>
    <a:srgbClr val="967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46" autoAdjust="0"/>
    <p:restoredTop sz="74746" autoAdjust="0"/>
  </p:normalViewPr>
  <p:slideViewPr>
    <p:cSldViewPr>
      <p:cViewPr varScale="1">
        <p:scale>
          <a:sx n="81" d="100"/>
          <a:sy n="81" d="100"/>
        </p:scale>
        <p:origin x="-780" y="-84"/>
      </p:cViewPr>
      <p:guideLst>
        <p:guide orient="horz" pos="2160"/>
        <p:guide pos="32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D:\Documenten%20van%20Alfons\symbol\algemeen\Process%20performance%20metrics\Process%20Yield%20-%20Rolled%20Throughput%20Yiel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I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Process Yield</c:v>
          </c:tx>
          <c:spPr>
            <a:ln>
              <a:solidFill>
                <a:schemeClr val="accent2"/>
              </a:solidFill>
            </a:ln>
          </c:spPr>
          <c:marker>
            <c:symbol val="none"/>
          </c:marker>
          <c:cat>
            <c:strRef>
              <c:f>Blad1!$A$2:$A$5</c:f>
              <c:strCache>
                <c:ptCount val="4"/>
                <c:pt idx="0">
                  <c:v>A</c:v>
                </c:pt>
                <c:pt idx="1">
                  <c:v>B</c:v>
                </c:pt>
                <c:pt idx="2">
                  <c:v>C</c:v>
                </c:pt>
                <c:pt idx="3">
                  <c:v>D</c:v>
                </c:pt>
              </c:strCache>
            </c:strRef>
          </c:cat>
          <c:val>
            <c:numRef>
              <c:f>Blad1!$F$2:$F$5</c:f>
              <c:numCache>
                <c:formatCode>0%</c:formatCode>
                <c:ptCount val="4"/>
                <c:pt idx="0">
                  <c:v>0.9</c:v>
                </c:pt>
                <c:pt idx="1">
                  <c:v>0.88888888888888884</c:v>
                </c:pt>
                <c:pt idx="2">
                  <c:v>0.9375</c:v>
                </c:pt>
                <c:pt idx="3">
                  <c:v>0.93333333333333335</c:v>
                </c:pt>
              </c:numCache>
            </c:numRef>
          </c:val>
          <c:smooth val="0"/>
        </c:ser>
        <c:ser>
          <c:idx val="1"/>
          <c:order val="1"/>
          <c:tx>
            <c:v>Total Process Yield</c:v>
          </c:tx>
          <c:spPr>
            <a:ln>
              <a:solidFill>
                <a:schemeClr val="accent2"/>
              </a:solidFill>
              <a:prstDash val="solid"/>
            </a:ln>
          </c:spPr>
          <c:marker>
            <c:symbol val="square"/>
            <c:size val="5"/>
          </c:marker>
          <c:cat>
            <c:strRef>
              <c:f>Blad1!$A$2:$A$5</c:f>
              <c:strCache>
                <c:ptCount val="4"/>
                <c:pt idx="0">
                  <c:v>A</c:v>
                </c:pt>
                <c:pt idx="1">
                  <c:v>B</c:v>
                </c:pt>
                <c:pt idx="2">
                  <c:v>C</c:v>
                </c:pt>
                <c:pt idx="3">
                  <c:v>D</c:v>
                </c:pt>
              </c:strCache>
            </c:strRef>
          </c:cat>
          <c:val>
            <c:numRef>
              <c:f>Blad1!$G$2:$G$5</c:f>
              <c:numCache>
                <c:formatCode>0%</c:formatCode>
                <c:ptCount val="4"/>
                <c:pt idx="0">
                  <c:v>0.9</c:v>
                </c:pt>
                <c:pt idx="1">
                  <c:v>0.79999999999999993</c:v>
                </c:pt>
                <c:pt idx="2">
                  <c:v>0.75000000000000022</c:v>
                </c:pt>
                <c:pt idx="3">
                  <c:v>0.70000000000000029</c:v>
                </c:pt>
              </c:numCache>
            </c:numRef>
          </c:val>
          <c:smooth val="0"/>
        </c:ser>
        <c:ser>
          <c:idx val="2"/>
          <c:order val="2"/>
          <c:tx>
            <c:v>First Time Yield</c:v>
          </c:tx>
          <c:spPr>
            <a:ln>
              <a:solidFill>
                <a:schemeClr val="tx2"/>
              </a:solidFill>
              <a:prstDash val="dash"/>
            </a:ln>
          </c:spPr>
          <c:marker>
            <c:symbol val="none"/>
          </c:marker>
          <c:cat>
            <c:strRef>
              <c:f>Blad1!$A$2:$A$5</c:f>
              <c:strCache>
                <c:ptCount val="4"/>
                <c:pt idx="0">
                  <c:v>A</c:v>
                </c:pt>
                <c:pt idx="1">
                  <c:v>B</c:v>
                </c:pt>
                <c:pt idx="2">
                  <c:v>C</c:v>
                </c:pt>
                <c:pt idx="3">
                  <c:v>D</c:v>
                </c:pt>
              </c:strCache>
            </c:strRef>
          </c:cat>
          <c:val>
            <c:numRef>
              <c:f>Blad1!$H$2:$H$5</c:f>
              <c:numCache>
                <c:formatCode>0%</c:formatCode>
                <c:ptCount val="4"/>
                <c:pt idx="0">
                  <c:v>0.85000000000000031</c:v>
                </c:pt>
                <c:pt idx="1">
                  <c:v>0.81111111111111112</c:v>
                </c:pt>
                <c:pt idx="2">
                  <c:v>0.9</c:v>
                </c:pt>
                <c:pt idx="3">
                  <c:v>0.8666666666666667</c:v>
                </c:pt>
              </c:numCache>
            </c:numRef>
          </c:val>
          <c:smooth val="0"/>
        </c:ser>
        <c:ser>
          <c:idx val="3"/>
          <c:order val="3"/>
          <c:tx>
            <c:v>Rolled Throughput Yield</c:v>
          </c:tx>
          <c:spPr>
            <a:ln>
              <a:solidFill>
                <a:schemeClr val="tx2"/>
              </a:solidFill>
              <a:prstDash val="dash"/>
            </a:ln>
          </c:spPr>
          <c:marker>
            <c:symbol val="square"/>
            <c:size val="7"/>
            <c:spPr>
              <a:solidFill>
                <a:schemeClr val="tx2"/>
              </a:solidFill>
            </c:spPr>
          </c:marker>
          <c:cat>
            <c:strRef>
              <c:f>Blad1!$A$2:$A$5</c:f>
              <c:strCache>
                <c:ptCount val="4"/>
                <c:pt idx="0">
                  <c:v>A</c:v>
                </c:pt>
                <c:pt idx="1">
                  <c:v>B</c:v>
                </c:pt>
                <c:pt idx="2">
                  <c:v>C</c:v>
                </c:pt>
                <c:pt idx="3">
                  <c:v>D</c:v>
                </c:pt>
              </c:strCache>
            </c:strRef>
          </c:cat>
          <c:val>
            <c:numRef>
              <c:f>Blad1!$I$2:$I$5</c:f>
              <c:numCache>
                <c:formatCode>0%</c:formatCode>
                <c:ptCount val="4"/>
                <c:pt idx="0">
                  <c:v>0.85000000000000031</c:v>
                </c:pt>
                <c:pt idx="1">
                  <c:v>0.68944444444444464</c:v>
                </c:pt>
                <c:pt idx="2">
                  <c:v>0.62049999999999994</c:v>
                </c:pt>
                <c:pt idx="3">
                  <c:v>0.5377666666666665</c:v>
                </c:pt>
              </c:numCache>
            </c:numRef>
          </c:val>
          <c:smooth val="0"/>
        </c:ser>
        <c:dLbls>
          <c:showLegendKey val="0"/>
          <c:showVal val="0"/>
          <c:showCatName val="0"/>
          <c:showSerName val="0"/>
          <c:showPercent val="0"/>
          <c:showBubbleSize val="0"/>
        </c:dLbls>
        <c:marker val="1"/>
        <c:smooth val="0"/>
        <c:axId val="71721344"/>
        <c:axId val="71723264"/>
      </c:lineChart>
      <c:catAx>
        <c:axId val="71721344"/>
        <c:scaling>
          <c:orientation val="minMax"/>
        </c:scaling>
        <c:delete val="0"/>
        <c:axPos val="b"/>
        <c:numFmt formatCode="General" sourceLinked="0"/>
        <c:majorTickMark val="none"/>
        <c:minorTickMark val="none"/>
        <c:tickLblPos val="nextTo"/>
        <c:crossAx val="71723264"/>
        <c:crosses val="autoZero"/>
        <c:auto val="1"/>
        <c:lblAlgn val="ctr"/>
        <c:lblOffset val="100"/>
        <c:noMultiLvlLbl val="0"/>
      </c:catAx>
      <c:valAx>
        <c:axId val="71723264"/>
        <c:scaling>
          <c:orientation val="minMax"/>
          <c:min val="0.5"/>
        </c:scaling>
        <c:delete val="0"/>
        <c:axPos val="l"/>
        <c:majorGridlines/>
        <c:numFmt formatCode="0%" sourceLinked="1"/>
        <c:majorTickMark val="none"/>
        <c:minorTickMark val="none"/>
        <c:tickLblPos val="nextTo"/>
        <c:spPr>
          <a:ln w="9525">
            <a:noFill/>
          </a:ln>
        </c:spPr>
        <c:crossAx val="71721344"/>
        <c:crosses val="autoZero"/>
        <c:crossBetween val="between"/>
      </c:valAx>
    </c:plotArea>
    <c:legend>
      <c:legendPos val="b"/>
      <c:layout/>
      <c:overlay val="0"/>
    </c:legend>
    <c:plotVisOnly val="1"/>
    <c:dispBlanksAs val="gap"/>
    <c:showDLblsOverMax val="0"/>
  </c:chart>
  <c:spPr>
    <a:ln>
      <a:noFill/>
    </a:ln>
  </c:sp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85E35E23-CCFD-4222-A665-1BD8C6E5793F}" type="datetimeFigureOut">
              <a:rPr lang="nl-NL"/>
              <a:pPr>
                <a:defRPr/>
              </a:pPr>
              <a:t>13-5-2014</a:t>
            </a:fld>
            <a:endParaRPr lang="nl-NL"/>
          </a:p>
        </p:txBody>
      </p:sp>
      <p:sp>
        <p:nvSpPr>
          <p:cNvPr id="4" name="Tijdelijke aanduiding voor voettekst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5" name="Tijdelijke aanduiding voor dianumm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6A92D83A-2D81-43E1-BDA3-632E1B4D7CF2}" type="slidenum">
              <a:rPr lang="nl-NL"/>
              <a:pPr>
                <a:defRPr/>
              </a:pPr>
              <a:t>‹#›</a:t>
            </a:fld>
            <a:endParaRPr lang="nl-NL"/>
          </a:p>
        </p:txBody>
      </p:sp>
    </p:spTree>
    <p:extLst>
      <p:ext uri="{BB962C8B-B14F-4D97-AF65-F5344CB8AC3E}">
        <p14:creationId xmlns:p14="http://schemas.microsoft.com/office/powerpoint/2010/main" val="37650525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F380E48A-4520-4807-B99D-26FF16B1CDE0}" type="datetimeFigureOut">
              <a:rPr lang="nl-NL"/>
              <a:pPr>
                <a:defRPr/>
              </a:pPr>
              <a:t>13-5-2014</a:t>
            </a:fld>
            <a:endParaRPr lang="nl-NL"/>
          </a:p>
        </p:txBody>
      </p:sp>
      <p:sp>
        <p:nvSpPr>
          <p:cNvPr id="4" name="Tijdelijke aanduiding voor dia-afbeelding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pPr lvl="0"/>
            <a:endParaRPr lang="nl-NL" noProof="0" smtClean="0"/>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noProof="0" smtClean="0"/>
              <a:t>Klik om de modelstijlen te bewerken</a:t>
            </a:r>
          </a:p>
          <a:p>
            <a:pPr lvl="1"/>
            <a:r>
              <a:rPr lang="nl-NL" noProof="0" smtClean="0"/>
              <a:t>Tweede niveau</a:t>
            </a:r>
          </a:p>
          <a:p>
            <a:pPr lvl="2"/>
            <a:r>
              <a:rPr lang="nl-NL" noProof="0" smtClean="0"/>
              <a:t>Derde niveau</a:t>
            </a:r>
          </a:p>
          <a:p>
            <a:pPr lvl="3"/>
            <a:r>
              <a:rPr lang="nl-NL" noProof="0" smtClean="0"/>
              <a:t>Vierde niveau</a:t>
            </a:r>
          </a:p>
          <a:p>
            <a:pPr lvl="4"/>
            <a:r>
              <a:rPr lang="nl-NL" noProof="0" smtClean="0"/>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89D55498-1794-4764-9AAF-A0AF23A23787}" type="slidenum">
              <a:rPr lang="nl-NL"/>
              <a:pPr>
                <a:defRPr/>
              </a:pPr>
              <a:t>‹#›</a:t>
            </a:fld>
            <a:endParaRPr lang="nl-NL"/>
          </a:p>
        </p:txBody>
      </p:sp>
    </p:spTree>
    <p:extLst>
      <p:ext uri="{BB962C8B-B14F-4D97-AF65-F5344CB8AC3E}">
        <p14:creationId xmlns:p14="http://schemas.microsoft.com/office/powerpoint/2010/main" val="3919799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Welcome to the Process Performance Metrics module</a:t>
            </a:r>
            <a:endParaRPr lang="en-GB" dirty="0"/>
          </a:p>
        </p:txBody>
      </p:sp>
      <p:sp>
        <p:nvSpPr>
          <p:cNvPr id="4" name="Slide Number Placeholder 3"/>
          <p:cNvSpPr>
            <a:spLocks noGrp="1"/>
          </p:cNvSpPr>
          <p:nvPr>
            <p:ph type="sldNum" sz="quarter" idx="10"/>
          </p:nvPr>
        </p:nvSpPr>
        <p:spPr/>
        <p:txBody>
          <a:bodyPr/>
          <a:lstStyle/>
          <a:p>
            <a:pPr>
              <a:defRPr/>
            </a:pPr>
            <a:fld id="{89D55498-1794-4764-9AAF-A0AF23A23787}" type="slidenum">
              <a:rPr lang="nl-NL" smtClean="0"/>
              <a:pPr>
                <a:defRPr/>
              </a:pPr>
              <a:t>1</a:t>
            </a:fld>
            <a:endParaRPr lang="nl-NL"/>
          </a:p>
        </p:txBody>
      </p:sp>
    </p:spTree>
    <p:extLst>
      <p:ext uri="{BB962C8B-B14F-4D97-AF65-F5344CB8AC3E}">
        <p14:creationId xmlns:p14="http://schemas.microsoft.com/office/powerpoint/2010/main" val="2015195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pPr defTabSz="987425"/>
            <a:fld id="{4BE63987-B8CF-481F-936F-F3DD5D7CF389}" type="slidenum">
              <a:rPr lang="en-US" smtClean="0">
                <a:latin typeface="Arial" pitchFamily="34" charset="0"/>
                <a:cs typeface="Arial" pitchFamily="34" charset="0"/>
              </a:rPr>
              <a:pPr defTabSz="987425"/>
              <a:t>2</a:t>
            </a:fld>
            <a:endParaRPr lang="en-US" smtClean="0">
              <a:latin typeface="Arial" pitchFamily="34" charset="0"/>
              <a:cs typeface="Arial" pitchFamily="34" charset="0"/>
            </a:endParaRPr>
          </a:p>
        </p:txBody>
      </p:sp>
      <p:sp>
        <p:nvSpPr>
          <p:cNvPr id="23555" name="Rectangle 2"/>
          <p:cNvSpPr>
            <a:spLocks noGrp="1" noRot="1" noChangeAspect="1" noChangeArrowheads="1" noTextEdit="1"/>
          </p:cNvSpPr>
          <p:nvPr>
            <p:ph type="sldImg"/>
          </p:nvPr>
        </p:nvSpPr>
        <p:spPr>
          <a:xfrm>
            <a:off x="857250" y="685800"/>
            <a:ext cx="5143500" cy="3429000"/>
          </a:xfrm>
          <a:ln/>
        </p:spPr>
      </p:sp>
      <p:sp>
        <p:nvSpPr>
          <p:cNvPr id="23556" name="Rectangle 3"/>
          <p:cNvSpPr>
            <a:spLocks noGrp="1" noChangeArrowheads="1"/>
          </p:cNvSpPr>
          <p:nvPr>
            <p:ph type="body" idx="1"/>
          </p:nvPr>
        </p:nvSpPr>
        <p:spPr>
          <a:noFill/>
          <a:ln/>
        </p:spPr>
        <p:txBody>
          <a:bodyPr/>
          <a:lstStyle/>
          <a:p>
            <a:pPr eaLnBrk="1" hangingPunct="1"/>
            <a:r>
              <a:rPr lang="en-GB" dirty="0" smtClean="0">
                <a:latin typeface="Arial" pitchFamily="34" charset="0"/>
                <a:cs typeface="Arial" pitchFamily="34" charset="0"/>
              </a:rPr>
              <a:t>It is important, for the management of a company, to be able to use clear performance indicators or ‘metrics’. The current performance of the company needs to be recorded, to be able to evaluate the level at which the company is performing. A second goal is to gain insight into improvement projects to discover if they have shown results. Furthermore, well-chosen performance indicators can form a basis for important communication with operators and the company environment concerning performance. </a:t>
            </a:r>
          </a:p>
          <a:p>
            <a:pPr eaLnBrk="1" hangingPunct="1"/>
            <a:endParaRPr lang="en-US" dirty="0" smtClean="0">
              <a:latin typeface="Arial" pitchFamily="34" charset="0"/>
              <a:cs typeface="Arial" pitchFamily="34" charset="0"/>
            </a:endParaRPr>
          </a:p>
        </p:txBody>
      </p:sp>
    </p:spTree>
    <p:extLst>
      <p:ext uri="{BB962C8B-B14F-4D97-AF65-F5344CB8AC3E}">
        <p14:creationId xmlns:p14="http://schemas.microsoft.com/office/powerpoint/2010/main" val="2266856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11225" eaLnBrk="0" hangingPunct="0">
              <a:defRPr>
                <a:solidFill>
                  <a:schemeClr val="tx1"/>
                </a:solidFill>
                <a:latin typeface="Calibri" pitchFamily="34" charset="0"/>
                <a:cs typeface="Arial" charset="0"/>
              </a:defRPr>
            </a:lvl1pPr>
            <a:lvl2pPr marL="742950" indent="-285750" defTabSz="911225" eaLnBrk="0" hangingPunct="0">
              <a:defRPr>
                <a:solidFill>
                  <a:schemeClr val="tx1"/>
                </a:solidFill>
                <a:latin typeface="Calibri" pitchFamily="34" charset="0"/>
                <a:cs typeface="Arial" charset="0"/>
              </a:defRPr>
            </a:lvl2pPr>
            <a:lvl3pPr marL="1143000" indent="-228600" defTabSz="911225" eaLnBrk="0" hangingPunct="0">
              <a:defRPr>
                <a:solidFill>
                  <a:schemeClr val="tx1"/>
                </a:solidFill>
                <a:latin typeface="Calibri" pitchFamily="34" charset="0"/>
                <a:cs typeface="Arial" charset="0"/>
              </a:defRPr>
            </a:lvl3pPr>
            <a:lvl4pPr marL="1600200" indent="-228600" defTabSz="911225" eaLnBrk="0" hangingPunct="0">
              <a:defRPr>
                <a:solidFill>
                  <a:schemeClr val="tx1"/>
                </a:solidFill>
                <a:latin typeface="Calibri" pitchFamily="34" charset="0"/>
                <a:cs typeface="Arial" charset="0"/>
              </a:defRPr>
            </a:lvl4pPr>
            <a:lvl5pPr marL="2057400" indent="-228600" defTabSz="911225" eaLnBrk="0" hangingPunct="0">
              <a:defRPr>
                <a:solidFill>
                  <a:schemeClr val="tx1"/>
                </a:solidFill>
                <a:latin typeface="Calibri" pitchFamily="34" charset="0"/>
                <a:cs typeface="Arial" charset="0"/>
              </a:defRPr>
            </a:lvl5pPr>
            <a:lvl6pPr marL="2514600" indent="-228600" defTabSz="911225" eaLnBrk="0" fontAlgn="base" hangingPunct="0">
              <a:spcBef>
                <a:spcPct val="0"/>
              </a:spcBef>
              <a:spcAft>
                <a:spcPct val="0"/>
              </a:spcAft>
              <a:defRPr>
                <a:solidFill>
                  <a:schemeClr val="tx1"/>
                </a:solidFill>
                <a:latin typeface="Calibri" pitchFamily="34" charset="0"/>
                <a:cs typeface="Arial" charset="0"/>
              </a:defRPr>
            </a:lvl6pPr>
            <a:lvl7pPr marL="2971800" indent="-228600" defTabSz="911225" eaLnBrk="0" fontAlgn="base" hangingPunct="0">
              <a:spcBef>
                <a:spcPct val="0"/>
              </a:spcBef>
              <a:spcAft>
                <a:spcPct val="0"/>
              </a:spcAft>
              <a:defRPr>
                <a:solidFill>
                  <a:schemeClr val="tx1"/>
                </a:solidFill>
                <a:latin typeface="Calibri" pitchFamily="34" charset="0"/>
                <a:cs typeface="Arial" charset="0"/>
              </a:defRPr>
            </a:lvl7pPr>
            <a:lvl8pPr marL="3429000" indent="-228600" defTabSz="911225" eaLnBrk="0" fontAlgn="base" hangingPunct="0">
              <a:spcBef>
                <a:spcPct val="0"/>
              </a:spcBef>
              <a:spcAft>
                <a:spcPct val="0"/>
              </a:spcAft>
              <a:defRPr>
                <a:solidFill>
                  <a:schemeClr val="tx1"/>
                </a:solidFill>
                <a:latin typeface="Calibri" pitchFamily="34" charset="0"/>
                <a:cs typeface="Arial" charset="0"/>
              </a:defRPr>
            </a:lvl8pPr>
            <a:lvl9pPr marL="3886200" indent="-228600" defTabSz="911225"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FCB1F44F-ABE5-439C-83FF-E5C4D893492B}" type="slidenum">
              <a:rPr lang="en-US" altLang="nl-NL" smtClean="0"/>
              <a:pPr eaLnBrk="1" hangingPunct="1"/>
              <a:t>3</a:t>
            </a:fld>
            <a:endParaRPr lang="en-US" altLang="nl-NL" smtClean="0"/>
          </a:p>
        </p:txBody>
      </p:sp>
      <p:sp>
        <p:nvSpPr>
          <p:cNvPr id="19459" name="Rectangle 2"/>
          <p:cNvSpPr>
            <a:spLocks noGrp="1" noRot="1" noChangeAspect="1" noChangeArrowheads="1" noTextEdit="1"/>
          </p:cNvSpPr>
          <p:nvPr>
            <p:ph type="sldImg"/>
          </p:nvPr>
        </p:nvSpPr>
        <p:spPr bwMode="auto">
          <a:xfrm>
            <a:off x="857250" y="685800"/>
            <a:ext cx="51435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nl-NL" dirty="0" smtClean="0"/>
              <a:t>If we look at the most frequently used performance indicators in Lean and Six Sigma, we can see a difference in focus. In Lean, the emphasis is on effectiveness and delivery time. Here, we act to prevent ‘</a:t>
            </a:r>
            <a:r>
              <a:rPr lang="en-GB" altLang="nl-NL" dirty="0" err="1" smtClean="0"/>
              <a:t>Muda</a:t>
            </a:r>
            <a:r>
              <a:rPr lang="en-GB" altLang="nl-NL" dirty="0" smtClean="0"/>
              <a:t>’ or waste and to reduce non- value added steps in the process. In Six Sigma, we concentrate on controlling the processes within the customer’s specification for the product. In both cases, the resulting reduction of cost and the improvement of efficiency is of importance. COPQ stands for the Cost Of Poor Quality -think of the iceberg with the few visible costs and the many less obvious costs.</a:t>
            </a:r>
          </a:p>
        </p:txBody>
      </p:sp>
    </p:spTree>
    <p:extLst>
      <p:ext uri="{BB962C8B-B14F-4D97-AF65-F5344CB8AC3E}">
        <p14:creationId xmlns:p14="http://schemas.microsoft.com/office/powerpoint/2010/main" val="3962277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jdelijke aanduiding voor dia-afbeelding 1"/>
          <p:cNvSpPr>
            <a:spLocks noGrp="1" noRot="1" noChangeAspect="1" noTextEdit="1"/>
          </p:cNvSpPr>
          <p:nvPr>
            <p:ph type="sldImg"/>
          </p:nvPr>
        </p:nvSpPr>
        <p:spPr bwMode="auto">
          <a:xfrm>
            <a:off x="857250" y="685800"/>
            <a:ext cx="51435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Tijdelijke aanduiding voor notiti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nl-NL" dirty="0" smtClean="0"/>
              <a:t>We will first discuss the Takt time. The word ‘Takt’ is borrowed from the German language and is an indication of the pace that is determined by the conductor of an orchestra. The most important difference between usual production planning and Takt time is that the Takt time is controlled by customer demand. It is the average time between two customer orders. Takt time is calculated by dividing the available production time by the necessary production volume. The pace of production then needs to be adjusted so that every workstation can </a:t>
            </a:r>
            <a:r>
              <a:rPr lang="en-GB" altLang="nl-NL" dirty="0" smtClean="0"/>
              <a:t>finish their task within the available Takt time. In this case, the assumption is that the customer demand is relatively stable over time. </a:t>
            </a:r>
            <a:endParaRPr lang="nl-NL" altLang="nl-NL" dirty="0" smtClean="0"/>
          </a:p>
        </p:txBody>
      </p:sp>
      <p:sp>
        <p:nvSpPr>
          <p:cNvPr id="21508" name="Tijdelijke aanduiding voor dianumm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33CC7903-391C-4E30-894F-B0999070DE84}" type="slidenum">
              <a:rPr lang="en-US" altLang="nl-NL" smtClean="0"/>
              <a:pPr eaLnBrk="1" hangingPunct="1"/>
              <a:t>4</a:t>
            </a:fld>
            <a:endParaRPr lang="en-US" altLang="nl-NL" smtClean="0"/>
          </a:p>
        </p:txBody>
      </p:sp>
    </p:spTree>
    <p:extLst>
      <p:ext uri="{BB962C8B-B14F-4D97-AF65-F5344CB8AC3E}">
        <p14:creationId xmlns:p14="http://schemas.microsoft.com/office/powerpoint/2010/main" val="466879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jdelijke aanduiding voor dia-afbeelding 1"/>
          <p:cNvSpPr>
            <a:spLocks noGrp="1" noRot="1" noChangeAspect="1" noTextEdit="1"/>
          </p:cNvSpPr>
          <p:nvPr>
            <p:ph type="sldImg"/>
          </p:nvPr>
        </p:nvSpPr>
        <p:spPr bwMode="auto">
          <a:xfrm>
            <a:off x="857250" y="685800"/>
            <a:ext cx="51435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Tijdelijke aanduiding voor notiti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nl-NL" dirty="0" smtClean="0"/>
              <a:t>Here, we will use an example to explain how to calculate </a:t>
            </a:r>
            <a:r>
              <a:rPr lang="en-GB" altLang="nl-NL" dirty="0" err="1" smtClean="0"/>
              <a:t>Takt</a:t>
            </a:r>
            <a:r>
              <a:rPr lang="en-GB" altLang="nl-NL" dirty="0" smtClean="0"/>
              <a:t> time. Assume that the average customer demand per day is 200 meals. The kitchen is operating 2 hours per day with 3 employees.</a:t>
            </a:r>
          </a:p>
          <a:p>
            <a:pPr eaLnBrk="1" hangingPunct="1">
              <a:spcBef>
                <a:spcPct val="0"/>
              </a:spcBef>
            </a:pPr>
            <a:r>
              <a:rPr lang="en-GB" altLang="nl-NL" dirty="0" smtClean="0"/>
              <a:t>The </a:t>
            </a:r>
            <a:r>
              <a:rPr lang="en-GB" altLang="nl-NL" dirty="0" err="1" smtClean="0"/>
              <a:t>takt</a:t>
            </a:r>
            <a:r>
              <a:rPr lang="en-GB" altLang="nl-NL" dirty="0" smtClean="0"/>
              <a:t> time is 3 employees X 2 hours /200 meals is 1.8 min/meal.</a:t>
            </a:r>
          </a:p>
          <a:p>
            <a:pPr eaLnBrk="1" hangingPunct="1">
              <a:spcBef>
                <a:spcPct val="0"/>
              </a:spcBef>
            </a:pPr>
            <a:endParaRPr lang="nl-NL" altLang="nl-NL" dirty="0" smtClean="0"/>
          </a:p>
        </p:txBody>
      </p:sp>
      <p:sp>
        <p:nvSpPr>
          <p:cNvPr id="22532" name="Tijdelijke aanduiding voor dianumm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FE329973-7C40-4ED5-A6D1-9BF433B451D1}" type="slidenum">
              <a:rPr lang="en-US" altLang="nl-NL" smtClean="0"/>
              <a:pPr eaLnBrk="1" hangingPunct="1"/>
              <a:t>5</a:t>
            </a:fld>
            <a:endParaRPr lang="en-US" altLang="nl-NL" smtClean="0"/>
          </a:p>
        </p:txBody>
      </p:sp>
    </p:spTree>
    <p:extLst>
      <p:ext uri="{BB962C8B-B14F-4D97-AF65-F5344CB8AC3E}">
        <p14:creationId xmlns:p14="http://schemas.microsoft.com/office/powerpoint/2010/main" val="1917840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jdelijke aanduiding voor dia-afbeelding 1"/>
          <p:cNvSpPr>
            <a:spLocks noGrp="1" noRot="1" noChangeAspect="1" noTextEdit="1"/>
          </p:cNvSpPr>
          <p:nvPr>
            <p:ph type="sldImg"/>
          </p:nvPr>
        </p:nvSpPr>
        <p:spPr bwMode="auto">
          <a:xfrm>
            <a:off x="857250" y="685800"/>
            <a:ext cx="51435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Tijdelijke aanduiding voor notiti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nl-NL" dirty="0" smtClean="0"/>
              <a:t>The next performance indicator or ‘metric’ that we will look at is the cycle time, which is written as C/T. Cycle time is the necessary time between the completion of 2 successive procedures/processes by observation. The product or the time personnel needs to go through all the work steps one time at the specific station. The cycle time needs to be shorter than the </a:t>
            </a:r>
            <a:r>
              <a:rPr lang="en-US" altLang="nl-NL" dirty="0" err="1" smtClean="0"/>
              <a:t>Takt</a:t>
            </a:r>
            <a:r>
              <a:rPr lang="en-US" altLang="nl-NL" dirty="0" smtClean="0"/>
              <a:t> time, otherwise the customer demand cannot be met unless we produce on </a:t>
            </a:r>
            <a:r>
              <a:rPr lang="en-US" altLang="nl-NL" dirty="0" smtClean="0"/>
              <a:t>several machines </a:t>
            </a:r>
            <a:r>
              <a:rPr lang="en-US" altLang="nl-NL" dirty="0" smtClean="0"/>
              <a:t>at the same time.</a:t>
            </a:r>
            <a:endParaRPr lang="nl-NL" altLang="nl-NL" dirty="0" smtClean="0"/>
          </a:p>
        </p:txBody>
      </p:sp>
      <p:sp>
        <p:nvSpPr>
          <p:cNvPr id="23556" name="Tijdelijke aanduiding voor dianumm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CB8FEF7B-2985-4158-A26E-5E2DDEDB2A1D}" type="slidenum">
              <a:rPr lang="en-US" altLang="nl-NL" smtClean="0"/>
              <a:pPr eaLnBrk="1" hangingPunct="1"/>
              <a:t>6</a:t>
            </a:fld>
            <a:endParaRPr lang="en-US" altLang="nl-NL" smtClean="0"/>
          </a:p>
        </p:txBody>
      </p:sp>
    </p:spTree>
    <p:extLst>
      <p:ext uri="{BB962C8B-B14F-4D97-AF65-F5344CB8AC3E}">
        <p14:creationId xmlns:p14="http://schemas.microsoft.com/office/powerpoint/2010/main" val="1323315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jdelijke aanduiding voor dia-afbeelding 1"/>
          <p:cNvSpPr>
            <a:spLocks noGrp="1" noRot="1" noChangeAspect="1" noTextEdit="1"/>
          </p:cNvSpPr>
          <p:nvPr>
            <p:ph type="sldImg"/>
          </p:nvPr>
        </p:nvSpPr>
        <p:spPr>
          <a:xfrm>
            <a:off x="857250" y="685800"/>
            <a:ext cx="5143500" cy="3429000"/>
          </a:xfrm>
          <a:ln/>
        </p:spPr>
      </p:sp>
      <p:sp>
        <p:nvSpPr>
          <p:cNvPr id="21507"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smtClean="0"/>
              <a:t>The difference in cycle time and the lead time are demonstrated  graphically here</a:t>
            </a:r>
          </a:p>
        </p:txBody>
      </p:sp>
      <p:sp>
        <p:nvSpPr>
          <p:cNvPr id="21508" name="Tijdelijke aanduiding voor dia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5D8C91C-EC7B-4E90-9C10-DAB240FB5F03}" type="slidenum">
              <a:rPr lang="en-US" smtClean="0"/>
              <a:pPr eaLnBrk="1" hangingPunct="1"/>
              <a:t>7</a:t>
            </a:fld>
            <a:endParaRPr lang="en-US" smtClean="0"/>
          </a:p>
        </p:txBody>
      </p:sp>
    </p:spTree>
    <p:extLst>
      <p:ext uri="{BB962C8B-B14F-4D97-AF65-F5344CB8AC3E}">
        <p14:creationId xmlns:p14="http://schemas.microsoft.com/office/powerpoint/2010/main" val="1231582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11225" eaLnBrk="0" hangingPunct="0">
              <a:defRPr>
                <a:solidFill>
                  <a:schemeClr val="tx1"/>
                </a:solidFill>
                <a:latin typeface="Calibri" pitchFamily="34" charset="0"/>
                <a:cs typeface="Arial" charset="0"/>
              </a:defRPr>
            </a:lvl1pPr>
            <a:lvl2pPr marL="742950" indent="-285750" defTabSz="911225" eaLnBrk="0" hangingPunct="0">
              <a:defRPr>
                <a:solidFill>
                  <a:schemeClr val="tx1"/>
                </a:solidFill>
                <a:latin typeface="Calibri" pitchFamily="34" charset="0"/>
                <a:cs typeface="Arial" charset="0"/>
              </a:defRPr>
            </a:lvl2pPr>
            <a:lvl3pPr marL="1143000" indent="-228600" defTabSz="911225" eaLnBrk="0" hangingPunct="0">
              <a:defRPr>
                <a:solidFill>
                  <a:schemeClr val="tx1"/>
                </a:solidFill>
                <a:latin typeface="Calibri" pitchFamily="34" charset="0"/>
                <a:cs typeface="Arial" charset="0"/>
              </a:defRPr>
            </a:lvl3pPr>
            <a:lvl4pPr marL="1600200" indent="-228600" defTabSz="911225" eaLnBrk="0" hangingPunct="0">
              <a:defRPr>
                <a:solidFill>
                  <a:schemeClr val="tx1"/>
                </a:solidFill>
                <a:latin typeface="Calibri" pitchFamily="34" charset="0"/>
                <a:cs typeface="Arial" charset="0"/>
              </a:defRPr>
            </a:lvl4pPr>
            <a:lvl5pPr marL="2057400" indent="-228600" defTabSz="911225" eaLnBrk="0" hangingPunct="0">
              <a:defRPr>
                <a:solidFill>
                  <a:schemeClr val="tx1"/>
                </a:solidFill>
                <a:latin typeface="Calibri" pitchFamily="34" charset="0"/>
                <a:cs typeface="Arial" charset="0"/>
              </a:defRPr>
            </a:lvl5pPr>
            <a:lvl6pPr marL="2514600" indent="-228600" defTabSz="911225" eaLnBrk="0" fontAlgn="base" hangingPunct="0">
              <a:spcBef>
                <a:spcPct val="0"/>
              </a:spcBef>
              <a:spcAft>
                <a:spcPct val="0"/>
              </a:spcAft>
              <a:defRPr>
                <a:solidFill>
                  <a:schemeClr val="tx1"/>
                </a:solidFill>
                <a:latin typeface="Calibri" pitchFamily="34" charset="0"/>
                <a:cs typeface="Arial" charset="0"/>
              </a:defRPr>
            </a:lvl6pPr>
            <a:lvl7pPr marL="2971800" indent="-228600" defTabSz="911225" eaLnBrk="0" fontAlgn="base" hangingPunct="0">
              <a:spcBef>
                <a:spcPct val="0"/>
              </a:spcBef>
              <a:spcAft>
                <a:spcPct val="0"/>
              </a:spcAft>
              <a:defRPr>
                <a:solidFill>
                  <a:schemeClr val="tx1"/>
                </a:solidFill>
                <a:latin typeface="Calibri" pitchFamily="34" charset="0"/>
                <a:cs typeface="Arial" charset="0"/>
              </a:defRPr>
            </a:lvl7pPr>
            <a:lvl8pPr marL="3429000" indent="-228600" defTabSz="911225" eaLnBrk="0" fontAlgn="base" hangingPunct="0">
              <a:spcBef>
                <a:spcPct val="0"/>
              </a:spcBef>
              <a:spcAft>
                <a:spcPct val="0"/>
              </a:spcAft>
              <a:defRPr>
                <a:solidFill>
                  <a:schemeClr val="tx1"/>
                </a:solidFill>
                <a:latin typeface="Calibri" pitchFamily="34" charset="0"/>
                <a:cs typeface="Arial" charset="0"/>
              </a:defRPr>
            </a:lvl8pPr>
            <a:lvl9pPr marL="3886200" indent="-228600" defTabSz="911225"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AF430123-4253-48B5-AD8C-D15A6197F7FA}" type="slidenum">
              <a:rPr lang="en-US" altLang="nl-NL" smtClean="0"/>
              <a:pPr eaLnBrk="1" hangingPunct="1"/>
              <a:t>8</a:t>
            </a:fld>
            <a:endParaRPr lang="en-US" altLang="nl-NL" smtClean="0"/>
          </a:p>
        </p:txBody>
      </p:sp>
      <p:sp>
        <p:nvSpPr>
          <p:cNvPr id="25603" name="Rectangle 2"/>
          <p:cNvSpPr>
            <a:spLocks noGrp="1" noRot="1" noChangeAspect="1" noChangeArrowheads="1" noTextEdit="1"/>
          </p:cNvSpPr>
          <p:nvPr>
            <p:ph type="sldImg"/>
          </p:nvPr>
        </p:nvSpPr>
        <p:spPr bwMode="auto">
          <a:xfrm>
            <a:off x="857250" y="685800"/>
            <a:ext cx="51435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nl-NL" dirty="0" smtClean="0"/>
              <a:t>DPU or Defects per Unit is in this case 0.0177 , which is calculated by dividing the 53 wrong dosages by the 3000 number of total prescriptions.  Each prescription contains on average 0.0177 defects, but in reality each prescription can only contain zero, one or two defects. Normally, the number of defects per unit is very low, we therefore often use another indicator.</a:t>
            </a:r>
            <a:endParaRPr lang="nl-NL" altLang="nl-NL" dirty="0" smtClean="0"/>
          </a:p>
        </p:txBody>
      </p:sp>
    </p:spTree>
    <p:extLst>
      <p:ext uri="{BB962C8B-B14F-4D97-AF65-F5344CB8AC3E}">
        <p14:creationId xmlns:p14="http://schemas.microsoft.com/office/powerpoint/2010/main" val="4162510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jdelijke aanduiding voor dia-afbeelding 1"/>
          <p:cNvSpPr>
            <a:spLocks noGrp="1" noRot="1" noChangeAspect="1" noTextEdit="1"/>
          </p:cNvSpPr>
          <p:nvPr>
            <p:ph type="sldImg"/>
          </p:nvPr>
        </p:nvSpPr>
        <p:spPr bwMode="auto">
          <a:xfrm>
            <a:off x="857250" y="685800"/>
            <a:ext cx="51435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Tijdelijke aanduiding voor notiti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nl-NL" dirty="0" smtClean="0"/>
              <a:t>Instead of the DPU, we use the number of defects per million opportunities or DPMO. If we inspect a prescription for missing or wrong dosages, we have two potential opportunities for defects. We will use the same figures as in the previous example, in which we inspected 3000 prescriptions and found 53 defects.</a:t>
            </a:r>
            <a:endParaRPr lang="nl-NL" altLang="nl-NL" dirty="0" smtClean="0"/>
          </a:p>
        </p:txBody>
      </p:sp>
      <p:sp>
        <p:nvSpPr>
          <p:cNvPr id="26628" name="Tijdelijke aanduiding voor dianumm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11225" eaLnBrk="0" hangingPunct="0">
              <a:defRPr>
                <a:solidFill>
                  <a:schemeClr val="tx1"/>
                </a:solidFill>
                <a:latin typeface="Calibri" pitchFamily="34" charset="0"/>
                <a:cs typeface="Arial" charset="0"/>
              </a:defRPr>
            </a:lvl1pPr>
            <a:lvl2pPr marL="742950" indent="-285750" defTabSz="911225" eaLnBrk="0" hangingPunct="0">
              <a:defRPr>
                <a:solidFill>
                  <a:schemeClr val="tx1"/>
                </a:solidFill>
                <a:latin typeface="Calibri" pitchFamily="34" charset="0"/>
                <a:cs typeface="Arial" charset="0"/>
              </a:defRPr>
            </a:lvl2pPr>
            <a:lvl3pPr marL="1143000" indent="-228600" defTabSz="911225" eaLnBrk="0" hangingPunct="0">
              <a:defRPr>
                <a:solidFill>
                  <a:schemeClr val="tx1"/>
                </a:solidFill>
                <a:latin typeface="Calibri" pitchFamily="34" charset="0"/>
                <a:cs typeface="Arial" charset="0"/>
              </a:defRPr>
            </a:lvl3pPr>
            <a:lvl4pPr marL="1600200" indent="-228600" defTabSz="911225" eaLnBrk="0" hangingPunct="0">
              <a:defRPr>
                <a:solidFill>
                  <a:schemeClr val="tx1"/>
                </a:solidFill>
                <a:latin typeface="Calibri" pitchFamily="34" charset="0"/>
                <a:cs typeface="Arial" charset="0"/>
              </a:defRPr>
            </a:lvl4pPr>
            <a:lvl5pPr marL="2057400" indent="-228600" defTabSz="911225" eaLnBrk="0" hangingPunct="0">
              <a:defRPr>
                <a:solidFill>
                  <a:schemeClr val="tx1"/>
                </a:solidFill>
                <a:latin typeface="Calibri" pitchFamily="34" charset="0"/>
                <a:cs typeface="Arial" charset="0"/>
              </a:defRPr>
            </a:lvl5pPr>
            <a:lvl6pPr marL="2514600" indent="-228600" defTabSz="911225" eaLnBrk="0" fontAlgn="base" hangingPunct="0">
              <a:spcBef>
                <a:spcPct val="0"/>
              </a:spcBef>
              <a:spcAft>
                <a:spcPct val="0"/>
              </a:spcAft>
              <a:defRPr>
                <a:solidFill>
                  <a:schemeClr val="tx1"/>
                </a:solidFill>
                <a:latin typeface="Calibri" pitchFamily="34" charset="0"/>
                <a:cs typeface="Arial" charset="0"/>
              </a:defRPr>
            </a:lvl6pPr>
            <a:lvl7pPr marL="2971800" indent="-228600" defTabSz="911225" eaLnBrk="0" fontAlgn="base" hangingPunct="0">
              <a:spcBef>
                <a:spcPct val="0"/>
              </a:spcBef>
              <a:spcAft>
                <a:spcPct val="0"/>
              </a:spcAft>
              <a:defRPr>
                <a:solidFill>
                  <a:schemeClr val="tx1"/>
                </a:solidFill>
                <a:latin typeface="Calibri" pitchFamily="34" charset="0"/>
                <a:cs typeface="Arial" charset="0"/>
              </a:defRPr>
            </a:lvl7pPr>
            <a:lvl8pPr marL="3429000" indent="-228600" defTabSz="911225" eaLnBrk="0" fontAlgn="base" hangingPunct="0">
              <a:spcBef>
                <a:spcPct val="0"/>
              </a:spcBef>
              <a:spcAft>
                <a:spcPct val="0"/>
              </a:spcAft>
              <a:defRPr>
                <a:solidFill>
                  <a:schemeClr val="tx1"/>
                </a:solidFill>
                <a:latin typeface="Calibri" pitchFamily="34" charset="0"/>
                <a:cs typeface="Arial" charset="0"/>
              </a:defRPr>
            </a:lvl8pPr>
            <a:lvl9pPr marL="3886200" indent="-228600" defTabSz="911225"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F066CCC1-1BBF-4351-BC55-5057481D585D}" type="slidenum">
              <a:rPr lang="en-US" altLang="nl-NL" smtClean="0"/>
              <a:pPr eaLnBrk="1" hangingPunct="1"/>
              <a:t>9</a:t>
            </a:fld>
            <a:endParaRPr lang="en-US" altLang="nl-NL" smtClean="0"/>
          </a:p>
        </p:txBody>
      </p:sp>
    </p:spTree>
    <p:extLst>
      <p:ext uri="{BB962C8B-B14F-4D97-AF65-F5344CB8AC3E}">
        <p14:creationId xmlns:p14="http://schemas.microsoft.com/office/powerpoint/2010/main" val="4026501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pPr defTabSz="911492"/>
            <a:fld id="{03338F6E-2517-466E-852F-2BA3587291FD}" type="slidenum">
              <a:rPr lang="en-US" smtClean="0">
                <a:latin typeface="Arial" pitchFamily="34" charset="0"/>
                <a:cs typeface="Arial" pitchFamily="34" charset="0"/>
              </a:rPr>
              <a:pPr defTabSz="911492"/>
              <a:t>10</a:t>
            </a:fld>
            <a:endParaRPr lang="en-US" dirty="0" smtClean="0">
              <a:latin typeface="Arial" pitchFamily="34" charset="0"/>
              <a:cs typeface="Arial" pitchFamily="34" charset="0"/>
            </a:endParaRPr>
          </a:p>
        </p:txBody>
      </p:sp>
      <p:sp>
        <p:nvSpPr>
          <p:cNvPr id="34819" name="Rectangle 2"/>
          <p:cNvSpPr>
            <a:spLocks noGrp="1" noRot="1" noChangeAspect="1" noChangeArrowheads="1" noTextEdit="1"/>
          </p:cNvSpPr>
          <p:nvPr>
            <p:ph type="sldImg"/>
          </p:nvPr>
        </p:nvSpPr>
        <p:spPr>
          <a:xfrm>
            <a:off x="857250" y="685800"/>
            <a:ext cx="5143500" cy="3429000"/>
          </a:xfrm>
          <a:ln/>
        </p:spPr>
      </p:sp>
      <p:sp>
        <p:nvSpPr>
          <p:cNvPr id="34820" name="Rectangle 3"/>
          <p:cNvSpPr>
            <a:spLocks noGrp="1" noChangeArrowheads="1"/>
          </p:cNvSpPr>
          <p:nvPr>
            <p:ph type="body" idx="1"/>
          </p:nvPr>
        </p:nvSpPr>
        <p:spPr>
          <a:noFill/>
          <a:ln/>
        </p:spPr>
        <p:txBody>
          <a:bodyPr/>
          <a:lstStyle/>
          <a:p>
            <a:pPr eaLnBrk="1" hangingPunct="1"/>
            <a:r>
              <a:rPr lang="en-GB" dirty="0" smtClean="0">
                <a:latin typeface="Arial" pitchFamily="34" charset="0"/>
                <a:cs typeface="Arial" pitchFamily="34" charset="0"/>
              </a:rPr>
              <a:t>The DPMO or the number of Defects per million opportunities is calculated by one million times 53 defects divided by two opportunities times 30 defects. The result is 833,000 defects. In other words, we can expect to find 833,000 defects in only 500,000 prescriptions that we inspect.</a:t>
            </a:r>
          </a:p>
          <a:p>
            <a:pPr eaLnBrk="1" hangingPunct="1"/>
            <a:endParaRPr lang="en-US" dirty="0" smtClean="0">
              <a:latin typeface="Arial" pitchFamily="34" charset="0"/>
              <a:cs typeface="Arial" pitchFamily="34" charset="0"/>
            </a:endParaRPr>
          </a:p>
        </p:txBody>
      </p:sp>
    </p:spTree>
    <p:extLst>
      <p:ext uri="{BB962C8B-B14F-4D97-AF65-F5344CB8AC3E}">
        <p14:creationId xmlns:p14="http://schemas.microsoft.com/office/powerpoint/2010/main" val="786977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11225" eaLnBrk="0" hangingPunct="0">
              <a:defRPr>
                <a:solidFill>
                  <a:schemeClr val="tx1"/>
                </a:solidFill>
                <a:latin typeface="Calibri" pitchFamily="34" charset="0"/>
                <a:cs typeface="Arial" charset="0"/>
              </a:defRPr>
            </a:lvl1pPr>
            <a:lvl2pPr marL="742950" indent="-285750" defTabSz="911225" eaLnBrk="0" hangingPunct="0">
              <a:defRPr>
                <a:solidFill>
                  <a:schemeClr val="tx1"/>
                </a:solidFill>
                <a:latin typeface="Calibri" pitchFamily="34" charset="0"/>
                <a:cs typeface="Arial" charset="0"/>
              </a:defRPr>
            </a:lvl2pPr>
            <a:lvl3pPr marL="1143000" indent="-228600" defTabSz="911225" eaLnBrk="0" hangingPunct="0">
              <a:defRPr>
                <a:solidFill>
                  <a:schemeClr val="tx1"/>
                </a:solidFill>
                <a:latin typeface="Calibri" pitchFamily="34" charset="0"/>
                <a:cs typeface="Arial" charset="0"/>
              </a:defRPr>
            </a:lvl3pPr>
            <a:lvl4pPr marL="1600200" indent="-228600" defTabSz="911225" eaLnBrk="0" hangingPunct="0">
              <a:defRPr>
                <a:solidFill>
                  <a:schemeClr val="tx1"/>
                </a:solidFill>
                <a:latin typeface="Calibri" pitchFamily="34" charset="0"/>
                <a:cs typeface="Arial" charset="0"/>
              </a:defRPr>
            </a:lvl4pPr>
            <a:lvl5pPr marL="2057400" indent="-228600" defTabSz="911225" eaLnBrk="0" hangingPunct="0">
              <a:defRPr>
                <a:solidFill>
                  <a:schemeClr val="tx1"/>
                </a:solidFill>
                <a:latin typeface="Calibri" pitchFamily="34" charset="0"/>
                <a:cs typeface="Arial" charset="0"/>
              </a:defRPr>
            </a:lvl5pPr>
            <a:lvl6pPr marL="2514600" indent="-228600" defTabSz="911225" eaLnBrk="0" fontAlgn="base" hangingPunct="0">
              <a:spcBef>
                <a:spcPct val="0"/>
              </a:spcBef>
              <a:spcAft>
                <a:spcPct val="0"/>
              </a:spcAft>
              <a:defRPr>
                <a:solidFill>
                  <a:schemeClr val="tx1"/>
                </a:solidFill>
                <a:latin typeface="Calibri" pitchFamily="34" charset="0"/>
                <a:cs typeface="Arial" charset="0"/>
              </a:defRPr>
            </a:lvl6pPr>
            <a:lvl7pPr marL="2971800" indent="-228600" defTabSz="911225" eaLnBrk="0" fontAlgn="base" hangingPunct="0">
              <a:spcBef>
                <a:spcPct val="0"/>
              </a:spcBef>
              <a:spcAft>
                <a:spcPct val="0"/>
              </a:spcAft>
              <a:defRPr>
                <a:solidFill>
                  <a:schemeClr val="tx1"/>
                </a:solidFill>
                <a:latin typeface="Calibri" pitchFamily="34" charset="0"/>
                <a:cs typeface="Arial" charset="0"/>
              </a:defRPr>
            </a:lvl7pPr>
            <a:lvl8pPr marL="3429000" indent="-228600" defTabSz="911225" eaLnBrk="0" fontAlgn="base" hangingPunct="0">
              <a:spcBef>
                <a:spcPct val="0"/>
              </a:spcBef>
              <a:spcAft>
                <a:spcPct val="0"/>
              </a:spcAft>
              <a:defRPr>
                <a:solidFill>
                  <a:schemeClr val="tx1"/>
                </a:solidFill>
                <a:latin typeface="Calibri" pitchFamily="34" charset="0"/>
                <a:cs typeface="Arial" charset="0"/>
              </a:defRPr>
            </a:lvl8pPr>
            <a:lvl9pPr marL="3886200" indent="-228600" defTabSz="911225"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35939534-3561-4D1F-BD01-8564D028A074}" type="slidenum">
              <a:rPr lang="en-US" altLang="nl-NL" smtClean="0"/>
              <a:pPr eaLnBrk="1" hangingPunct="1"/>
              <a:t>11</a:t>
            </a:fld>
            <a:endParaRPr lang="en-US" altLang="nl-NL" smtClean="0"/>
          </a:p>
        </p:txBody>
      </p:sp>
      <p:sp>
        <p:nvSpPr>
          <p:cNvPr id="29699" name="Rectangle 2"/>
          <p:cNvSpPr>
            <a:spLocks noGrp="1" noRot="1" noChangeAspect="1" noChangeArrowheads="1" noTextEdit="1"/>
          </p:cNvSpPr>
          <p:nvPr>
            <p:ph type="sldImg"/>
          </p:nvPr>
        </p:nvSpPr>
        <p:spPr bwMode="auto">
          <a:xfrm>
            <a:off x="857250" y="685800"/>
            <a:ext cx="51435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nl-NL" dirty="0" smtClean="0"/>
              <a:t>In this production process, we will calculate the ‘First Time Yield’ or ‘Process Yield’ of these 4 process steps in a blood sampling laboratory. For each step, the number of products/blood samples going in and out are known. Products going to the next step are without any defects.</a:t>
            </a:r>
            <a:endParaRPr lang="nl-NL" altLang="nl-NL" dirty="0" smtClean="0"/>
          </a:p>
        </p:txBody>
      </p:sp>
    </p:spTree>
    <p:extLst>
      <p:ext uri="{BB962C8B-B14F-4D97-AF65-F5344CB8AC3E}">
        <p14:creationId xmlns:p14="http://schemas.microsoft.com/office/powerpoint/2010/main" val="4170033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eaLnBrk="0" hangingPunct="0">
              <a:defRPr>
                <a:solidFill>
                  <a:schemeClr val="tx1"/>
                </a:solidFill>
                <a:latin typeface="Arial" charset="0"/>
                <a:cs typeface="Arial" charset="0"/>
              </a:defRPr>
            </a:lvl1pPr>
            <a:lvl2pPr marL="742950" indent="-285750" defTabSz="987425" eaLnBrk="0" hangingPunct="0">
              <a:defRPr>
                <a:solidFill>
                  <a:schemeClr val="tx1"/>
                </a:solidFill>
                <a:latin typeface="Arial" charset="0"/>
                <a:cs typeface="Arial" charset="0"/>
              </a:defRPr>
            </a:lvl2pPr>
            <a:lvl3pPr marL="1143000" indent="-228600" defTabSz="987425" eaLnBrk="0" hangingPunct="0">
              <a:defRPr>
                <a:solidFill>
                  <a:schemeClr val="tx1"/>
                </a:solidFill>
                <a:latin typeface="Arial" charset="0"/>
                <a:cs typeface="Arial" charset="0"/>
              </a:defRPr>
            </a:lvl3pPr>
            <a:lvl4pPr marL="1600200" indent="-228600" defTabSz="987425" eaLnBrk="0" hangingPunct="0">
              <a:defRPr>
                <a:solidFill>
                  <a:schemeClr val="tx1"/>
                </a:solidFill>
                <a:latin typeface="Arial" charset="0"/>
                <a:cs typeface="Arial" charset="0"/>
              </a:defRPr>
            </a:lvl4pPr>
            <a:lvl5pPr marL="2057400" indent="-228600" defTabSz="987425" eaLnBrk="0" hangingPunct="0">
              <a:defRPr>
                <a:solidFill>
                  <a:schemeClr val="tx1"/>
                </a:solidFill>
                <a:latin typeface="Arial" charset="0"/>
                <a:cs typeface="Arial" charset="0"/>
              </a:defRPr>
            </a:lvl5pPr>
            <a:lvl6pPr marL="2514600" indent="-228600" defTabSz="987425" eaLnBrk="0" fontAlgn="base" hangingPunct="0">
              <a:spcBef>
                <a:spcPct val="0"/>
              </a:spcBef>
              <a:spcAft>
                <a:spcPct val="0"/>
              </a:spcAft>
              <a:defRPr>
                <a:solidFill>
                  <a:schemeClr val="tx1"/>
                </a:solidFill>
                <a:latin typeface="Arial" charset="0"/>
                <a:cs typeface="Arial" charset="0"/>
              </a:defRPr>
            </a:lvl6pPr>
            <a:lvl7pPr marL="2971800" indent="-228600" defTabSz="987425" eaLnBrk="0" fontAlgn="base" hangingPunct="0">
              <a:spcBef>
                <a:spcPct val="0"/>
              </a:spcBef>
              <a:spcAft>
                <a:spcPct val="0"/>
              </a:spcAft>
              <a:defRPr>
                <a:solidFill>
                  <a:schemeClr val="tx1"/>
                </a:solidFill>
                <a:latin typeface="Arial" charset="0"/>
                <a:cs typeface="Arial" charset="0"/>
              </a:defRPr>
            </a:lvl7pPr>
            <a:lvl8pPr marL="3429000" indent="-228600" defTabSz="987425" eaLnBrk="0" fontAlgn="base" hangingPunct="0">
              <a:spcBef>
                <a:spcPct val="0"/>
              </a:spcBef>
              <a:spcAft>
                <a:spcPct val="0"/>
              </a:spcAft>
              <a:defRPr>
                <a:solidFill>
                  <a:schemeClr val="tx1"/>
                </a:solidFill>
                <a:latin typeface="Arial" charset="0"/>
                <a:cs typeface="Arial" charset="0"/>
              </a:defRPr>
            </a:lvl8pPr>
            <a:lvl9pPr marL="3886200" indent="-228600" defTabSz="987425" eaLnBrk="0" fontAlgn="base" hangingPunct="0">
              <a:spcBef>
                <a:spcPct val="0"/>
              </a:spcBef>
              <a:spcAft>
                <a:spcPct val="0"/>
              </a:spcAft>
              <a:defRPr>
                <a:solidFill>
                  <a:schemeClr val="tx1"/>
                </a:solidFill>
                <a:latin typeface="Arial" charset="0"/>
                <a:cs typeface="Arial" charset="0"/>
              </a:defRPr>
            </a:lvl9pPr>
          </a:lstStyle>
          <a:p>
            <a:pPr eaLnBrk="1" hangingPunct="1"/>
            <a:fld id="{4A05169B-1AEB-4193-AF4E-1BB10F419753}" type="slidenum">
              <a:rPr lang="en-US" smtClean="0"/>
              <a:pPr eaLnBrk="1" hangingPunct="1"/>
              <a:t>12</a:t>
            </a:fld>
            <a:endParaRPr lang="en-US" smtClean="0"/>
          </a:p>
        </p:txBody>
      </p:sp>
      <p:sp>
        <p:nvSpPr>
          <p:cNvPr id="35843" name="Rectangle 2"/>
          <p:cNvSpPr>
            <a:spLocks noGrp="1" noRot="1" noChangeAspect="1" noChangeArrowheads="1" noTextEdit="1"/>
          </p:cNvSpPr>
          <p:nvPr>
            <p:ph type="sldImg"/>
          </p:nvPr>
        </p:nvSpPr>
        <p:spPr>
          <a:xfrm>
            <a:off x="857250" y="685800"/>
            <a:ext cx="5143500" cy="3429000"/>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dirty="0" smtClean="0"/>
              <a:t>We can see that the yield per process step varies between 89% and 94%, but that after 4 steps, the total process yield is only 70%. Also, no rework has been performed during any of the steps within this process.</a:t>
            </a:r>
          </a:p>
        </p:txBody>
      </p:sp>
    </p:spTree>
    <p:extLst>
      <p:ext uri="{BB962C8B-B14F-4D97-AF65-F5344CB8AC3E}">
        <p14:creationId xmlns:p14="http://schemas.microsoft.com/office/powerpoint/2010/main" val="3374477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11225" eaLnBrk="0" hangingPunct="0">
              <a:defRPr>
                <a:solidFill>
                  <a:schemeClr val="tx1"/>
                </a:solidFill>
                <a:latin typeface="Calibri" pitchFamily="34" charset="0"/>
                <a:cs typeface="Arial" charset="0"/>
              </a:defRPr>
            </a:lvl1pPr>
            <a:lvl2pPr marL="742950" indent="-285750" defTabSz="911225" eaLnBrk="0" hangingPunct="0">
              <a:defRPr>
                <a:solidFill>
                  <a:schemeClr val="tx1"/>
                </a:solidFill>
                <a:latin typeface="Calibri" pitchFamily="34" charset="0"/>
                <a:cs typeface="Arial" charset="0"/>
              </a:defRPr>
            </a:lvl2pPr>
            <a:lvl3pPr marL="1143000" indent="-228600" defTabSz="911225" eaLnBrk="0" hangingPunct="0">
              <a:defRPr>
                <a:solidFill>
                  <a:schemeClr val="tx1"/>
                </a:solidFill>
                <a:latin typeface="Calibri" pitchFamily="34" charset="0"/>
                <a:cs typeface="Arial" charset="0"/>
              </a:defRPr>
            </a:lvl3pPr>
            <a:lvl4pPr marL="1600200" indent="-228600" defTabSz="911225" eaLnBrk="0" hangingPunct="0">
              <a:defRPr>
                <a:solidFill>
                  <a:schemeClr val="tx1"/>
                </a:solidFill>
                <a:latin typeface="Calibri" pitchFamily="34" charset="0"/>
                <a:cs typeface="Arial" charset="0"/>
              </a:defRPr>
            </a:lvl4pPr>
            <a:lvl5pPr marL="2057400" indent="-228600" defTabSz="911225" eaLnBrk="0" hangingPunct="0">
              <a:defRPr>
                <a:solidFill>
                  <a:schemeClr val="tx1"/>
                </a:solidFill>
                <a:latin typeface="Calibri" pitchFamily="34" charset="0"/>
                <a:cs typeface="Arial" charset="0"/>
              </a:defRPr>
            </a:lvl5pPr>
            <a:lvl6pPr marL="2514600" indent="-228600" defTabSz="911225" eaLnBrk="0" fontAlgn="base" hangingPunct="0">
              <a:spcBef>
                <a:spcPct val="0"/>
              </a:spcBef>
              <a:spcAft>
                <a:spcPct val="0"/>
              </a:spcAft>
              <a:defRPr>
                <a:solidFill>
                  <a:schemeClr val="tx1"/>
                </a:solidFill>
                <a:latin typeface="Calibri" pitchFamily="34" charset="0"/>
                <a:cs typeface="Arial" charset="0"/>
              </a:defRPr>
            </a:lvl6pPr>
            <a:lvl7pPr marL="2971800" indent="-228600" defTabSz="911225" eaLnBrk="0" fontAlgn="base" hangingPunct="0">
              <a:spcBef>
                <a:spcPct val="0"/>
              </a:spcBef>
              <a:spcAft>
                <a:spcPct val="0"/>
              </a:spcAft>
              <a:defRPr>
                <a:solidFill>
                  <a:schemeClr val="tx1"/>
                </a:solidFill>
                <a:latin typeface="Calibri" pitchFamily="34" charset="0"/>
                <a:cs typeface="Arial" charset="0"/>
              </a:defRPr>
            </a:lvl7pPr>
            <a:lvl8pPr marL="3429000" indent="-228600" defTabSz="911225" eaLnBrk="0" fontAlgn="base" hangingPunct="0">
              <a:spcBef>
                <a:spcPct val="0"/>
              </a:spcBef>
              <a:spcAft>
                <a:spcPct val="0"/>
              </a:spcAft>
              <a:defRPr>
                <a:solidFill>
                  <a:schemeClr val="tx1"/>
                </a:solidFill>
                <a:latin typeface="Calibri" pitchFamily="34" charset="0"/>
                <a:cs typeface="Arial" charset="0"/>
              </a:defRPr>
            </a:lvl8pPr>
            <a:lvl9pPr marL="3886200" indent="-228600" defTabSz="911225"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6D504DA6-C8A7-4CD4-BE1E-51B576F90D7F}" type="slidenum">
              <a:rPr lang="en-US" altLang="nl-NL" smtClean="0"/>
              <a:pPr eaLnBrk="1" hangingPunct="1"/>
              <a:t>13</a:t>
            </a:fld>
            <a:endParaRPr lang="en-US" altLang="nl-NL" smtClean="0"/>
          </a:p>
        </p:txBody>
      </p:sp>
      <p:sp>
        <p:nvSpPr>
          <p:cNvPr id="30723" name="Rectangle 2"/>
          <p:cNvSpPr>
            <a:spLocks noGrp="1" noRot="1" noChangeAspect="1" noChangeArrowheads="1" noTextEdit="1"/>
          </p:cNvSpPr>
          <p:nvPr>
            <p:ph type="sldImg"/>
          </p:nvPr>
        </p:nvSpPr>
        <p:spPr bwMode="auto">
          <a:xfrm>
            <a:off x="857250" y="685800"/>
            <a:ext cx="51435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nl-NL" dirty="0" smtClean="0"/>
              <a:t>In a different process, rework is performed to reduce the losses per step. There are also 4 steps in the process that are working sequentially and in the end, 70 units leave production.</a:t>
            </a:r>
            <a:endParaRPr lang="nl-NL" altLang="nl-NL" dirty="0" smtClean="0"/>
          </a:p>
        </p:txBody>
      </p:sp>
    </p:spTree>
    <p:extLst>
      <p:ext uri="{BB962C8B-B14F-4D97-AF65-F5344CB8AC3E}">
        <p14:creationId xmlns:p14="http://schemas.microsoft.com/office/powerpoint/2010/main" val="687471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eaLnBrk="0" hangingPunct="0">
              <a:defRPr>
                <a:solidFill>
                  <a:schemeClr val="tx1"/>
                </a:solidFill>
                <a:latin typeface="Arial" charset="0"/>
                <a:cs typeface="Arial" charset="0"/>
              </a:defRPr>
            </a:lvl1pPr>
            <a:lvl2pPr marL="742950" indent="-285750" defTabSz="987425" eaLnBrk="0" hangingPunct="0">
              <a:defRPr>
                <a:solidFill>
                  <a:schemeClr val="tx1"/>
                </a:solidFill>
                <a:latin typeface="Arial" charset="0"/>
                <a:cs typeface="Arial" charset="0"/>
              </a:defRPr>
            </a:lvl2pPr>
            <a:lvl3pPr marL="1143000" indent="-228600" defTabSz="987425" eaLnBrk="0" hangingPunct="0">
              <a:defRPr>
                <a:solidFill>
                  <a:schemeClr val="tx1"/>
                </a:solidFill>
                <a:latin typeface="Arial" charset="0"/>
                <a:cs typeface="Arial" charset="0"/>
              </a:defRPr>
            </a:lvl3pPr>
            <a:lvl4pPr marL="1600200" indent="-228600" defTabSz="987425" eaLnBrk="0" hangingPunct="0">
              <a:defRPr>
                <a:solidFill>
                  <a:schemeClr val="tx1"/>
                </a:solidFill>
                <a:latin typeface="Arial" charset="0"/>
                <a:cs typeface="Arial" charset="0"/>
              </a:defRPr>
            </a:lvl4pPr>
            <a:lvl5pPr marL="2057400" indent="-228600" defTabSz="987425" eaLnBrk="0" hangingPunct="0">
              <a:defRPr>
                <a:solidFill>
                  <a:schemeClr val="tx1"/>
                </a:solidFill>
                <a:latin typeface="Arial" charset="0"/>
                <a:cs typeface="Arial" charset="0"/>
              </a:defRPr>
            </a:lvl5pPr>
            <a:lvl6pPr marL="2514600" indent="-228600" defTabSz="987425" eaLnBrk="0" fontAlgn="base" hangingPunct="0">
              <a:spcBef>
                <a:spcPct val="0"/>
              </a:spcBef>
              <a:spcAft>
                <a:spcPct val="0"/>
              </a:spcAft>
              <a:defRPr>
                <a:solidFill>
                  <a:schemeClr val="tx1"/>
                </a:solidFill>
                <a:latin typeface="Arial" charset="0"/>
                <a:cs typeface="Arial" charset="0"/>
              </a:defRPr>
            </a:lvl6pPr>
            <a:lvl7pPr marL="2971800" indent="-228600" defTabSz="987425" eaLnBrk="0" fontAlgn="base" hangingPunct="0">
              <a:spcBef>
                <a:spcPct val="0"/>
              </a:spcBef>
              <a:spcAft>
                <a:spcPct val="0"/>
              </a:spcAft>
              <a:defRPr>
                <a:solidFill>
                  <a:schemeClr val="tx1"/>
                </a:solidFill>
                <a:latin typeface="Arial" charset="0"/>
                <a:cs typeface="Arial" charset="0"/>
              </a:defRPr>
            </a:lvl7pPr>
            <a:lvl8pPr marL="3429000" indent="-228600" defTabSz="987425" eaLnBrk="0" fontAlgn="base" hangingPunct="0">
              <a:spcBef>
                <a:spcPct val="0"/>
              </a:spcBef>
              <a:spcAft>
                <a:spcPct val="0"/>
              </a:spcAft>
              <a:defRPr>
                <a:solidFill>
                  <a:schemeClr val="tx1"/>
                </a:solidFill>
                <a:latin typeface="Arial" charset="0"/>
                <a:cs typeface="Arial" charset="0"/>
              </a:defRPr>
            </a:lvl8pPr>
            <a:lvl9pPr marL="3886200" indent="-228600" defTabSz="987425" eaLnBrk="0" fontAlgn="base" hangingPunct="0">
              <a:spcBef>
                <a:spcPct val="0"/>
              </a:spcBef>
              <a:spcAft>
                <a:spcPct val="0"/>
              </a:spcAft>
              <a:defRPr>
                <a:solidFill>
                  <a:schemeClr val="tx1"/>
                </a:solidFill>
                <a:latin typeface="Arial" charset="0"/>
                <a:cs typeface="Arial" charset="0"/>
              </a:defRPr>
            </a:lvl9pPr>
          </a:lstStyle>
          <a:p>
            <a:pPr eaLnBrk="1" hangingPunct="1"/>
            <a:fld id="{26AFED1D-335E-417F-9573-129B552EB84B}" type="slidenum">
              <a:rPr lang="en-US" smtClean="0"/>
              <a:pPr eaLnBrk="1" hangingPunct="1"/>
              <a:t>14</a:t>
            </a:fld>
            <a:endParaRPr lang="en-US" smtClean="0"/>
          </a:p>
        </p:txBody>
      </p:sp>
      <p:sp>
        <p:nvSpPr>
          <p:cNvPr id="36867" name="Rectangle 2"/>
          <p:cNvSpPr>
            <a:spLocks noGrp="1" noRot="1" noChangeAspect="1" noChangeArrowheads="1" noTextEdit="1"/>
          </p:cNvSpPr>
          <p:nvPr>
            <p:ph type="sldImg"/>
          </p:nvPr>
        </p:nvSpPr>
        <p:spPr>
          <a:xfrm>
            <a:off x="857250" y="685800"/>
            <a:ext cx="5143500" cy="3429000"/>
          </a:xfrm>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dirty="0" smtClean="0"/>
              <a:t>If we look at the ‘First Time Yield’ per process step, we see that it varies between 81 and 90%. This doesn’t seem very dramatic, but the ‘Rolled Throughput Yield’ here is only 54%. This means that only 54% of all units leave the factory directly ‘good’, meaning without any rework. The more process steps you need to finish the product, the higher the risk of a low overall efficiency.</a:t>
            </a:r>
          </a:p>
          <a:p>
            <a:pPr eaLnBrk="1" hangingPunct="1"/>
            <a:endParaRPr lang="en-GB" dirty="0" smtClean="0"/>
          </a:p>
          <a:p>
            <a:pPr eaLnBrk="1" hangingPunct="1"/>
            <a:r>
              <a:rPr lang="en-GB" dirty="0" smtClean="0"/>
              <a:t>------------</a:t>
            </a:r>
          </a:p>
          <a:p>
            <a:pPr eaLnBrk="1" hangingPunct="1"/>
            <a:endParaRPr lang="nl-NL" dirty="0" smtClean="0"/>
          </a:p>
        </p:txBody>
      </p:sp>
    </p:spTree>
    <p:extLst>
      <p:ext uri="{BB962C8B-B14F-4D97-AF65-F5344CB8AC3E}">
        <p14:creationId xmlns:p14="http://schemas.microsoft.com/office/powerpoint/2010/main" val="4386948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summary the different methods for calculating yield can help you identify the hidden waste or hidden factory within your process.</a:t>
            </a:r>
          </a:p>
          <a:p>
            <a:endParaRPr lang="en-GB" dirty="0"/>
          </a:p>
        </p:txBody>
      </p:sp>
      <p:sp>
        <p:nvSpPr>
          <p:cNvPr id="4" name="Slide Number Placeholder 3"/>
          <p:cNvSpPr>
            <a:spLocks noGrp="1"/>
          </p:cNvSpPr>
          <p:nvPr>
            <p:ph type="sldNum" sz="quarter" idx="10"/>
          </p:nvPr>
        </p:nvSpPr>
        <p:spPr/>
        <p:txBody>
          <a:bodyPr/>
          <a:lstStyle/>
          <a:p>
            <a:pPr>
              <a:defRPr/>
            </a:pPr>
            <a:fld id="{89D55498-1794-4764-9AAF-A0AF23A23787}" type="slidenum">
              <a:rPr lang="nl-NL" smtClean="0"/>
              <a:pPr>
                <a:defRPr/>
              </a:pPr>
              <a:t>15</a:t>
            </a:fld>
            <a:endParaRPr lang="nl-NL"/>
          </a:p>
        </p:txBody>
      </p:sp>
    </p:spTree>
    <p:extLst>
      <p:ext uri="{BB962C8B-B14F-4D97-AF65-F5344CB8AC3E}">
        <p14:creationId xmlns:p14="http://schemas.microsoft.com/office/powerpoint/2010/main" val="701461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smtClean="0"/>
              <a:t>Welcome to the Process Capability &amp; Performance module</a:t>
            </a:r>
            <a:endParaRPr lang="en-IE" dirty="0"/>
          </a:p>
        </p:txBody>
      </p:sp>
      <p:sp>
        <p:nvSpPr>
          <p:cNvPr id="4" name="Slide Number Placeholder 3"/>
          <p:cNvSpPr>
            <a:spLocks noGrp="1"/>
          </p:cNvSpPr>
          <p:nvPr>
            <p:ph type="sldNum" sz="quarter" idx="10"/>
          </p:nvPr>
        </p:nvSpPr>
        <p:spPr/>
        <p:txBody>
          <a:bodyPr/>
          <a:lstStyle/>
          <a:p>
            <a:pPr>
              <a:defRPr/>
            </a:pPr>
            <a:fld id="{89D55498-1794-4764-9AAF-A0AF23A23787}" type="slidenum">
              <a:rPr lang="nl-NL" smtClean="0"/>
              <a:pPr>
                <a:defRPr/>
              </a:pPr>
              <a:t>16</a:t>
            </a:fld>
            <a:endParaRPr lang="nl-NL"/>
          </a:p>
        </p:txBody>
      </p:sp>
    </p:spTree>
    <p:extLst>
      <p:ext uri="{BB962C8B-B14F-4D97-AF65-F5344CB8AC3E}">
        <p14:creationId xmlns:p14="http://schemas.microsoft.com/office/powerpoint/2010/main" val="14751806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an ideal world, we would be able to supply our customer with exactly what he needed at the precise moment he needed it. In reality however, we must look at the ability of our process to deliver the products that meet the specification of the customer. If we want to draw a conclusion about capability based on statistical information, the process needs to be stable. This means that we cannot discuss a process that shows regular ‘out-of-control’ situations. Alternatively, if we study a stable process, we can form an opinion about the degree to which the process is able to meet the customer specification. We can also see if a process can be improved, for instance by </a:t>
            </a:r>
            <a:r>
              <a:rPr lang="en-GB" dirty="0" err="1" smtClean="0"/>
              <a:t>centering</a:t>
            </a:r>
            <a:r>
              <a:rPr lang="en-GB" dirty="0" smtClean="0"/>
              <a:t> a process relative to the specification limits.     </a:t>
            </a:r>
          </a:p>
          <a:p>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89D55498-1794-4764-9AAF-A0AF23A23787}" type="slidenum">
              <a:rPr lang="nl-NL" smtClean="0"/>
              <a:pPr>
                <a:defRPr/>
              </a:pPr>
              <a:t>17</a:t>
            </a:fld>
            <a:endParaRPr lang="nl-NL"/>
          </a:p>
        </p:txBody>
      </p:sp>
    </p:spTree>
    <p:extLst>
      <p:ext uri="{BB962C8B-B14F-4D97-AF65-F5344CB8AC3E}">
        <p14:creationId xmlns:p14="http://schemas.microsoft.com/office/powerpoint/2010/main" val="2899916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 meal service in an elderly care home was  surveyed and meals found to be either too hot or too cold. The ideal temperature has a lower specification of 60 and a higher specification of 70.</a:t>
            </a:r>
          </a:p>
          <a:p>
            <a:endParaRPr lang="en-GB" dirty="0"/>
          </a:p>
        </p:txBody>
      </p:sp>
      <p:sp>
        <p:nvSpPr>
          <p:cNvPr id="4" name="Slide Number Placeholder 3"/>
          <p:cNvSpPr>
            <a:spLocks noGrp="1"/>
          </p:cNvSpPr>
          <p:nvPr>
            <p:ph type="sldNum" sz="quarter" idx="10"/>
          </p:nvPr>
        </p:nvSpPr>
        <p:spPr/>
        <p:txBody>
          <a:bodyPr/>
          <a:lstStyle/>
          <a:p>
            <a:pPr>
              <a:defRPr/>
            </a:pPr>
            <a:fld id="{89D55498-1794-4764-9AAF-A0AF23A23787}" type="slidenum">
              <a:rPr lang="nl-NL" smtClean="0"/>
              <a:pPr>
                <a:defRPr/>
              </a:pPr>
              <a:t>18</a:t>
            </a:fld>
            <a:endParaRPr lang="nl-NL"/>
          </a:p>
        </p:txBody>
      </p:sp>
    </p:spTree>
    <p:extLst>
      <p:ext uri="{BB962C8B-B14F-4D97-AF65-F5344CB8AC3E}">
        <p14:creationId xmlns:p14="http://schemas.microsoft.com/office/powerpoint/2010/main" val="1489749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When the elderly home centre started to measure the temperature of the meals the average temp was 65 degrees Celsius and the standard deviation was 10 degrees Celsius.</a:t>
            </a:r>
            <a:endParaRPr lang="en-GB" dirty="0"/>
          </a:p>
        </p:txBody>
      </p:sp>
      <p:sp>
        <p:nvSpPr>
          <p:cNvPr id="4" name="Slide Number Placeholder 3"/>
          <p:cNvSpPr>
            <a:spLocks noGrp="1"/>
          </p:cNvSpPr>
          <p:nvPr>
            <p:ph type="sldNum" sz="quarter" idx="10"/>
          </p:nvPr>
        </p:nvSpPr>
        <p:spPr/>
        <p:txBody>
          <a:bodyPr/>
          <a:lstStyle/>
          <a:p>
            <a:pPr>
              <a:defRPr/>
            </a:pPr>
            <a:fld id="{89D55498-1794-4764-9AAF-A0AF23A23787}" type="slidenum">
              <a:rPr lang="nl-NL" smtClean="0"/>
              <a:pPr>
                <a:defRPr/>
              </a:pPr>
              <a:t>19</a:t>
            </a:fld>
            <a:endParaRPr lang="nl-NL"/>
          </a:p>
        </p:txBody>
      </p:sp>
    </p:spTree>
    <p:extLst>
      <p:ext uri="{BB962C8B-B14F-4D97-AF65-F5344CB8AC3E}">
        <p14:creationId xmlns:p14="http://schemas.microsoft.com/office/powerpoint/2010/main" val="1640786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From the information gathered it can be seen that approx. 30% of the meals are either too hot or too cold (outside of the spec limits)</a:t>
            </a:r>
            <a:endParaRPr lang="en-GB" dirty="0"/>
          </a:p>
        </p:txBody>
      </p:sp>
      <p:sp>
        <p:nvSpPr>
          <p:cNvPr id="4" name="Slide Number Placeholder 3"/>
          <p:cNvSpPr>
            <a:spLocks noGrp="1"/>
          </p:cNvSpPr>
          <p:nvPr>
            <p:ph type="sldNum" sz="quarter" idx="10"/>
          </p:nvPr>
        </p:nvSpPr>
        <p:spPr/>
        <p:txBody>
          <a:bodyPr/>
          <a:lstStyle/>
          <a:p>
            <a:pPr>
              <a:defRPr/>
            </a:pPr>
            <a:fld id="{89D55498-1794-4764-9AAF-A0AF23A23787}" type="slidenum">
              <a:rPr lang="nl-NL" smtClean="0"/>
              <a:pPr>
                <a:defRPr/>
              </a:pPr>
              <a:t>20</a:t>
            </a:fld>
            <a:endParaRPr lang="nl-NL"/>
          </a:p>
        </p:txBody>
      </p:sp>
    </p:spTree>
    <p:extLst>
      <p:ext uri="{BB962C8B-B14F-4D97-AF65-F5344CB8AC3E}">
        <p14:creationId xmlns:p14="http://schemas.microsoft.com/office/powerpoint/2010/main" val="24574917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process needs to be improved to better meet the customers expectations.</a:t>
            </a:r>
            <a:endParaRPr lang="en-GB" dirty="0"/>
          </a:p>
        </p:txBody>
      </p:sp>
      <p:sp>
        <p:nvSpPr>
          <p:cNvPr id="4" name="Slide Number Placeholder 3"/>
          <p:cNvSpPr>
            <a:spLocks noGrp="1"/>
          </p:cNvSpPr>
          <p:nvPr>
            <p:ph type="sldNum" sz="quarter" idx="10"/>
          </p:nvPr>
        </p:nvSpPr>
        <p:spPr/>
        <p:txBody>
          <a:bodyPr/>
          <a:lstStyle/>
          <a:p>
            <a:pPr>
              <a:defRPr/>
            </a:pPr>
            <a:fld id="{89D55498-1794-4764-9AAF-A0AF23A23787}" type="slidenum">
              <a:rPr lang="nl-NL" smtClean="0"/>
              <a:pPr>
                <a:defRPr/>
              </a:pPr>
              <a:t>21</a:t>
            </a:fld>
            <a:endParaRPr lang="nl-NL"/>
          </a:p>
        </p:txBody>
      </p:sp>
    </p:spTree>
    <p:extLst>
      <p:ext uri="{BB962C8B-B14F-4D97-AF65-F5344CB8AC3E}">
        <p14:creationId xmlns:p14="http://schemas.microsoft.com/office/powerpoint/2010/main" val="591013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Sometimes not only the variation but also the average needs adjusting.</a:t>
            </a:r>
            <a:endParaRPr lang="en-GB" dirty="0"/>
          </a:p>
        </p:txBody>
      </p:sp>
      <p:sp>
        <p:nvSpPr>
          <p:cNvPr id="4" name="Slide Number Placeholder 3"/>
          <p:cNvSpPr>
            <a:spLocks noGrp="1"/>
          </p:cNvSpPr>
          <p:nvPr>
            <p:ph type="sldNum" sz="quarter" idx="10"/>
          </p:nvPr>
        </p:nvSpPr>
        <p:spPr/>
        <p:txBody>
          <a:bodyPr/>
          <a:lstStyle/>
          <a:p>
            <a:pPr>
              <a:defRPr/>
            </a:pPr>
            <a:fld id="{89D55498-1794-4764-9AAF-A0AF23A23787}" type="slidenum">
              <a:rPr lang="nl-NL" smtClean="0"/>
              <a:pPr>
                <a:defRPr/>
              </a:pPr>
              <a:t>22</a:t>
            </a:fld>
            <a:endParaRPr lang="nl-NL"/>
          </a:p>
        </p:txBody>
      </p:sp>
    </p:spTree>
    <p:extLst>
      <p:ext uri="{BB962C8B-B14F-4D97-AF65-F5344CB8AC3E}">
        <p14:creationId xmlns:p14="http://schemas.microsoft.com/office/powerpoint/2010/main" val="1161841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589924D-3F24-4092-BA2E-7170B98062A4}" type="slidenum">
              <a:rPr lang="en-US" smtClean="0"/>
              <a:pPr eaLnBrk="1" hangingPunct="1"/>
              <a:t>23</a:t>
            </a:fld>
            <a:endParaRPr lang="en-US" smtClean="0"/>
          </a:p>
        </p:txBody>
      </p:sp>
      <p:sp>
        <p:nvSpPr>
          <p:cNvPr id="25603" name="Rectangle 2"/>
          <p:cNvSpPr>
            <a:spLocks noGrp="1" noRot="1" noChangeAspect="1" noChangeArrowheads="1" noTextEdit="1"/>
          </p:cNvSpPr>
          <p:nvPr>
            <p:ph type="sldImg"/>
          </p:nvPr>
        </p:nvSpPr>
        <p:spPr>
          <a:xfrm>
            <a:off x="684213" y="774700"/>
            <a:ext cx="5734050" cy="3824288"/>
          </a:xfrm>
          <a:ln w="12699" cap="flat">
            <a:solidFill>
              <a:schemeClr val="tx1"/>
            </a:solidFill>
          </a:ln>
        </p:spPr>
      </p:sp>
      <p:sp>
        <p:nvSpPr>
          <p:cNvPr id="25604" name="Rectangle 3"/>
          <p:cNvSpPr>
            <a:spLocks noGrp="1" noChangeArrowheads="1"/>
          </p:cNvSpPr>
          <p:nvPr>
            <p:ph type="body" idx="1"/>
          </p:nvPr>
        </p:nvSpPr>
        <p:spPr>
          <a:xfrm>
            <a:off x="944563" y="4860925"/>
            <a:ext cx="52101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554" tIns="46447" rIns="94554" bIns="46447"/>
          <a:lstStyle/>
          <a:p>
            <a:pPr eaLnBrk="1" hangingPunct="1"/>
            <a:r>
              <a:rPr lang="en-GB" dirty="0" smtClean="0"/>
              <a:t>If we want to express capability as a statistical value, we use </a:t>
            </a:r>
            <a:r>
              <a:rPr lang="en-GB" dirty="0" err="1" smtClean="0"/>
              <a:t>Cp</a:t>
            </a:r>
            <a:r>
              <a:rPr lang="en-GB" dirty="0" smtClean="0"/>
              <a:t> for the short term. The definition is shown in the formula. We divide the range of the specification (or the difference between upper and lower limit) by 6 times the variation of the process  which is expressed as standard deviation ‘within’. The </a:t>
            </a:r>
            <a:r>
              <a:rPr lang="en-GB" dirty="0" err="1" smtClean="0"/>
              <a:t>Cp</a:t>
            </a:r>
            <a:r>
              <a:rPr lang="en-GB" dirty="0" smtClean="0"/>
              <a:t> assumes that the process could be completely centred and describes how good we could potentially be.</a:t>
            </a:r>
          </a:p>
          <a:p>
            <a:pPr eaLnBrk="1" hangingPunct="1"/>
            <a:endParaRPr lang="en-GB" dirty="0" smtClean="0"/>
          </a:p>
          <a:p>
            <a:pPr eaLnBrk="1" hangingPunct="1"/>
            <a:r>
              <a:rPr lang="en-GB" dirty="0" smtClean="0"/>
              <a:t>In practice, the process will not always be on target so we will use the </a:t>
            </a:r>
            <a:r>
              <a:rPr lang="en-GB" dirty="0" err="1" smtClean="0"/>
              <a:t>Cpk</a:t>
            </a:r>
            <a:r>
              <a:rPr lang="en-GB" dirty="0" smtClean="0"/>
              <a:t> of the process. The </a:t>
            </a:r>
            <a:r>
              <a:rPr lang="en-GB" dirty="0" err="1" smtClean="0"/>
              <a:t>Cpk</a:t>
            </a:r>
            <a:r>
              <a:rPr lang="en-GB" dirty="0" smtClean="0"/>
              <a:t> is the capability expressed in relation to the closest specification limit. Because we only look at one specification limit, we don’t divide by 6 times the variation, but by 3 times the variation, expressed as the standard deviation ‘within’. Because we use the minimum of the </a:t>
            </a:r>
            <a:r>
              <a:rPr lang="en-GB" dirty="0" err="1" smtClean="0"/>
              <a:t>CpL</a:t>
            </a:r>
            <a:r>
              <a:rPr lang="en-GB" dirty="0" smtClean="0"/>
              <a:t> and </a:t>
            </a:r>
            <a:r>
              <a:rPr lang="en-GB" dirty="0" err="1" smtClean="0"/>
              <a:t>CpU</a:t>
            </a:r>
            <a:r>
              <a:rPr lang="en-GB" dirty="0" smtClean="0"/>
              <a:t>, the </a:t>
            </a:r>
            <a:r>
              <a:rPr lang="en-GB" dirty="0" err="1" smtClean="0"/>
              <a:t>Cpk</a:t>
            </a:r>
            <a:r>
              <a:rPr lang="en-GB" dirty="0" smtClean="0"/>
              <a:t> will always be lower than the Cp. Only with a perfectly </a:t>
            </a:r>
            <a:r>
              <a:rPr lang="en-GB" dirty="0" err="1" smtClean="0"/>
              <a:t>centered</a:t>
            </a:r>
            <a:r>
              <a:rPr lang="en-GB" dirty="0" smtClean="0"/>
              <a:t> process will the </a:t>
            </a:r>
            <a:r>
              <a:rPr lang="en-GB" dirty="0" err="1" smtClean="0"/>
              <a:t>Cpk</a:t>
            </a:r>
            <a:r>
              <a:rPr lang="en-GB" dirty="0" smtClean="0"/>
              <a:t> be the same as the Cp.</a:t>
            </a:r>
          </a:p>
          <a:p>
            <a:pPr eaLnBrk="1" hangingPunct="1"/>
            <a:endParaRPr lang="en-GB" dirty="0" smtClean="0"/>
          </a:p>
        </p:txBody>
      </p:sp>
    </p:spTree>
    <p:extLst>
      <p:ext uri="{BB962C8B-B14F-4D97-AF65-F5344CB8AC3E}">
        <p14:creationId xmlns:p14="http://schemas.microsoft.com/office/powerpoint/2010/main" val="29324231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p>
            <a:pPr defTabSz="911492"/>
            <a:fld id="{4A8F105E-FA33-4E82-9705-D517083DD795}" type="slidenum">
              <a:rPr lang="en-US" smtClean="0">
                <a:latin typeface="Arial" pitchFamily="34" charset="0"/>
                <a:cs typeface="Arial" pitchFamily="34" charset="0"/>
              </a:rPr>
              <a:pPr defTabSz="911492"/>
              <a:t>24</a:t>
            </a:fld>
            <a:endParaRPr lang="en-US" dirty="0" smtClean="0">
              <a:latin typeface="Arial" pitchFamily="34" charset="0"/>
              <a:cs typeface="Arial" pitchFamily="34" charset="0"/>
            </a:endParaRPr>
          </a:p>
        </p:txBody>
      </p:sp>
      <p:sp>
        <p:nvSpPr>
          <p:cNvPr id="10243" name="Rectangle 2"/>
          <p:cNvSpPr>
            <a:spLocks noGrp="1" noRot="1" noChangeAspect="1" noChangeArrowheads="1" noTextEdit="1"/>
          </p:cNvSpPr>
          <p:nvPr>
            <p:ph type="sldImg"/>
          </p:nvPr>
        </p:nvSpPr>
        <p:spPr>
          <a:xfrm>
            <a:off x="857250" y="685800"/>
            <a:ext cx="5143500" cy="3429000"/>
          </a:xfrm>
          <a:ln/>
        </p:spPr>
      </p:sp>
      <p:sp>
        <p:nvSpPr>
          <p:cNvPr id="10244" name="Rectangle 3"/>
          <p:cNvSpPr>
            <a:spLocks noGrp="1" noChangeArrowheads="1"/>
          </p:cNvSpPr>
          <p:nvPr>
            <p:ph type="body" idx="1"/>
          </p:nvPr>
        </p:nvSpPr>
        <p:spPr>
          <a:noFill/>
          <a:ln/>
        </p:spPr>
        <p:txBody>
          <a:bodyPr/>
          <a:lstStyle/>
          <a:p>
            <a:pPr eaLnBrk="1" hangingPunct="1"/>
            <a:r>
              <a:rPr lang="en-GB" dirty="0" smtClean="0">
                <a:latin typeface="Arial" pitchFamily="34" charset="0"/>
                <a:cs typeface="Arial" pitchFamily="34" charset="0"/>
              </a:rPr>
              <a:t>If we were to study our process over a longer period of time, we would see an increase in variation. The average of the process could shift as much as 1.5 sigma, but this is an assumption. We use the term ‘capability’ when we are discussing short term effects and the term ‘performance’ when we are talking about long term effects.</a:t>
            </a:r>
          </a:p>
          <a:p>
            <a:pPr eaLnBrk="1" hangingPunct="1"/>
            <a:endParaRPr lang="en-US" dirty="0" smtClean="0">
              <a:latin typeface="Arial" pitchFamily="34" charset="0"/>
              <a:cs typeface="Arial" pitchFamily="34" charset="0"/>
            </a:endParaRPr>
          </a:p>
        </p:txBody>
      </p:sp>
    </p:spTree>
    <p:extLst>
      <p:ext uri="{BB962C8B-B14F-4D97-AF65-F5344CB8AC3E}">
        <p14:creationId xmlns:p14="http://schemas.microsoft.com/office/powerpoint/2010/main" val="41787617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hyperlink" Target="http://www.wgvoost.nl/" TargetMode="External"/><Relationship Id="rId3" Type="http://schemas.openxmlformats.org/officeDocument/2006/relationships/hyperlink" Target="http://www.iscn.com/" TargetMode="External"/><Relationship Id="rId7" Type="http://schemas.openxmlformats.org/officeDocument/2006/relationships/hyperlink" Target="http://www.utwente.nl/" TargetMode="External"/><Relationship Id="rId2" Type="http://schemas.openxmlformats.org/officeDocument/2006/relationships/hyperlink" Target="http://www.symbolbv.nl/" TargetMode="External"/><Relationship Id="rId1" Type="http://schemas.openxmlformats.org/officeDocument/2006/relationships/slideMaster" Target="../slideMasters/slideMaster1.xml"/><Relationship Id="rId6" Type="http://schemas.openxmlformats.org/officeDocument/2006/relationships/hyperlink" Target="http://www.ul.ie/" TargetMode="External"/><Relationship Id="rId5" Type="http://schemas.openxmlformats.org/officeDocument/2006/relationships/hyperlink" Target="http://www.lssa.eu/" TargetMode="External"/><Relationship Id="rId4" Type="http://schemas.openxmlformats.org/officeDocument/2006/relationships/hyperlink" Target="http://www.rocvantwente.nl/" TargetMode="External"/><Relationship Id="rId9"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spTree>
      <p:nvGrpSpPr>
        <p:cNvPr id="1" name=""/>
        <p:cNvGrpSpPr/>
        <p:nvPr/>
      </p:nvGrpSpPr>
      <p:grpSpPr>
        <a:xfrm>
          <a:off x="0" y="0"/>
          <a:ext cx="0" cy="0"/>
          <a:chOff x="0" y="0"/>
          <a:chExt cx="0" cy="0"/>
        </a:xfrm>
      </p:grpSpPr>
      <p:pic>
        <p:nvPicPr>
          <p:cNvPr id="6" name="Afbeelding 9"/>
          <p:cNvPicPr>
            <a:picLocks noChangeAspect="1"/>
          </p:cNvPicPr>
          <p:nvPr/>
        </p:nvPicPr>
        <p:blipFill>
          <a:blip r:embed="rId2" cstate="print"/>
          <a:srcRect/>
          <a:stretch>
            <a:fillRect/>
          </a:stretch>
        </p:blipFill>
        <p:spPr bwMode="auto">
          <a:xfrm>
            <a:off x="0" y="2286001"/>
            <a:ext cx="10287000" cy="3419475"/>
          </a:xfrm>
          <a:prstGeom prst="rect">
            <a:avLst/>
          </a:prstGeom>
          <a:noFill/>
          <a:ln w="9525">
            <a:noFill/>
            <a:miter lim="800000"/>
            <a:headEnd/>
            <a:tailEnd/>
          </a:ln>
        </p:spPr>
      </p:pic>
      <p:pic>
        <p:nvPicPr>
          <p:cNvPr id="7" name="Picture 2" descr="EU_flag_LLP_EN-01"/>
          <p:cNvPicPr>
            <a:picLocks noChangeAspect="1" noChangeArrowheads="1"/>
          </p:cNvPicPr>
          <p:nvPr/>
        </p:nvPicPr>
        <p:blipFill>
          <a:blip r:embed="rId3" cstate="print"/>
          <a:srcRect/>
          <a:stretch>
            <a:fillRect/>
          </a:stretch>
        </p:blipFill>
        <p:spPr bwMode="auto">
          <a:xfrm>
            <a:off x="364332" y="5876926"/>
            <a:ext cx="2348508" cy="815975"/>
          </a:xfrm>
          <a:prstGeom prst="rect">
            <a:avLst/>
          </a:prstGeom>
          <a:noFill/>
          <a:ln w="9525">
            <a:noFill/>
            <a:miter lim="800000"/>
            <a:headEnd/>
            <a:tailEnd/>
          </a:ln>
        </p:spPr>
      </p:pic>
      <p:pic>
        <p:nvPicPr>
          <p:cNvPr id="8" name="Afbeelding 12"/>
          <p:cNvPicPr>
            <a:picLocks noChangeAspect="1"/>
          </p:cNvPicPr>
          <p:nvPr/>
        </p:nvPicPr>
        <p:blipFill>
          <a:blip r:embed="rId4" cstate="print"/>
          <a:srcRect/>
          <a:stretch>
            <a:fillRect/>
          </a:stretch>
        </p:blipFill>
        <p:spPr bwMode="auto">
          <a:xfrm>
            <a:off x="6515101" y="609600"/>
            <a:ext cx="3175397" cy="1079500"/>
          </a:xfrm>
          <a:prstGeom prst="rect">
            <a:avLst/>
          </a:prstGeom>
          <a:noFill/>
          <a:ln w="9525">
            <a:noFill/>
            <a:miter lim="800000"/>
            <a:headEnd/>
            <a:tailEnd/>
          </a:ln>
        </p:spPr>
      </p:pic>
      <p:sp>
        <p:nvSpPr>
          <p:cNvPr id="2" name="Titel 1"/>
          <p:cNvSpPr>
            <a:spLocks noGrp="1"/>
          </p:cNvSpPr>
          <p:nvPr>
            <p:ph type="ctrTitle"/>
          </p:nvPr>
        </p:nvSpPr>
        <p:spPr>
          <a:xfrm>
            <a:off x="688005" y="2422800"/>
            <a:ext cx="9073008" cy="579600"/>
          </a:xfrm>
        </p:spPr>
        <p:txBody>
          <a:bodyPr anchor="t"/>
          <a:lstStyle>
            <a:lvl1pPr algn="l">
              <a:defRPr sz="3200" b="1">
                <a:solidFill>
                  <a:schemeClr val="tx1"/>
                </a:solidFill>
              </a:defRPr>
            </a:lvl1pPr>
          </a:lstStyle>
          <a:p>
            <a:r>
              <a:rPr lang="nl-NL" smtClean="0"/>
              <a:t>Klik om de stijl te bewerken</a:t>
            </a:r>
            <a:endParaRPr lang="nl-NL" dirty="0"/>
          </a:p>
        </p:txBody>
      </p:sp>
      <p:sp>
        <p:nvSpPr>
          <p:cNvPr id="3" name="Ondertitel 2"/>
          <p:cNvSpPr>
            <a:spLocks noGrp="1"/>
          </p:cNvSpPr>
          <p:nvPr>
            <p:ph type="subTitle" idx="1"/>
          </p:nvPr>
        </p:nvSpPr>
        <p:spPr>
          <a:xfrm>
            <a:off x="688005" y="3808800"/>
            <a:ext cx="7695000" cy="1548000"/>
          </a:xfrm>
        </p:spPr>
        <p:txBody>
          <a:bodyPr anchor="ctr" anchorCtr="1">
            <a:normAutofit/>
          </a:bodyPr>
          <a:lstStyle>
            <a:lvl1pPr marL="0" indent="0" algn="ctr">
              <a:buNone/>
              <a:defRPr sz="1600" b="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smtClean="0"/>
              <a:t>Klik om de ondertitelstijl van het model te bewerken</a:t>
            </a:r>
            <a:endParaRPr lang="nl-NL"/>
          </a:p>
        </p:txBody>
      </p:sp>
      <p:sp>
        <p:nvSpPr>
          <p:cNvPr id="10" name="Tijdelijke aanduiding voor tekst 9"/>
          <p:cNvSpPr>
            <a:spLocks noGrp="1"/>
          </p:cNvSpPr>
          <p:nvPr>
            <p:ph type="body" sz="quarter" idx="13"/>
          </p:nvPr>
        </p:nvSpPr>
        <p:spPr>
          <a:xfrm>
            <a:off x="4122899" y="6011999"/>
            <a:ext cx="5917050" cy="687600"/>
          </a:xfrm>
        </p:spPr>
        <p:txBody>
          <a:bodyPr/>
          <a:lstStyle>
            <a:lvl1pPr algn="r">
              <a:defRPr sz="3600" b="1">
                <a:solidFill>
                  <a:srgbClr val="C80F00"/>
                </a:solidFill>
                <a:latin typeface="Arial" pitchFamily="34" charset="0"/>
                <a:cs typeface="Arial" pitchFamily="34" charset="0"/>
              </a:defRPr>
            </a:lvl1pPr>
            <a:lvl2pPr algn="r">
              <a:defRPr sz="3600" b="1">
                <a:solidFill>
                  <a:srgbClr val="C80F00"/>
                </a:solidFill>
                <a:latin typeface="Arial Black" pitchFamily="34" charset="0"/>
              </a:defRPr>
            </a:lvl2pPr>
            <a:lvl3pPr algn="r">
              <a:defRPr sz="3600" b="1">
                <a:solidFill>
                  <a:srgbClr val="C80F00"/>
                </a:solidFill>
                <a:latin typeface="Arial Black" pitchFamily="34" charset="0"/>
              </a:defRPr>
            </a:lvl3pPr>
            <a:lvl4pPr algn="r">
              <a:defRPr sz="3600" b="1">
                <a:solidFill>
                  <a:srgbClr val="C80F00"/>
                </a:solidFill>
                <a:latin typeface="Arial Black" pitchFamily="34" charset="0"/>
              </a:defRPr>
            </a:lvl4pPr>
            <a:lvl5pPr algn="r">
              <a:defRPr sz="3600" b="1">
                <a:solidFill>
                  <a:srgbClr val="C80F00"/>
                </a:solidFill>
                <a:latin typeface="Arial Black" pitchFamily="34" charset="0"/>
              </a:defRPr>
            </a:lvl5pPr>
          </a:lstStyle>
          <a:p>
            <a:pPr lvl="0"/>
            <a:r>
              <a:rPr lang="nl-NL" smtClean="0"/>
              <a:t>Klik om de modelstijlen te bewerken</a:t>
            </a:r>
          </a:p>
        </p:txBody>
      </p:sp>
      <p:sp>
        <p:nvSpPr>
          <p:cNvPr id="12" name="Tijdelijke aanduiding voor inhoud 11"/>
          <p:cNvSpPr>
            <a:spLocks noGrp="1"/>
          </p:cNvSpPr>
          <p:nvPr>
            <p:ph sz="quarter" idx="17"/>
          </p:nvPr>
        </p:nvSpPr>
        <p:spPr>
          <a:xfrm>
            <a:off x="1017718" y="2998800"/>
            <a:ext cx="8743295" cy="431800"/>
          </a:xfrm>
        </p:spPr>
        <p:txBody>
          <a:bodyPr/>
          <a:lstStyle>
            <a:lvl1pPr>
              <a:defRPr sz="1600">
                <a:solidFill>
                  <a:schemeClr val="tx1"/>
                </a:solidFill>
              </a:defRPr>
            </a:lvl1pPr>
          </a:lstStyle>
          <a:p>
            <a:pPr lvl="0"/>
            <a:r>
              <a:rPr lang="nl-NL" smtClean="0"/>
              <a:t>Klik om de modelstijlen te bewerken</a:t>
            </a:r>
          </a:p>
        </p:txBody>
      </p:sp>
      <p:sp>
        <p:nvSpPr>
          <p:cNvPr id="9" name="Tijdelijke aanduiding voor voettekst 4"/>
          <p:cNvSpPr>
            <a:spLocks noGrp="1"/>
          </p:cNvSpPr>
          <p:nvPr>
            <p:ph type="ftr" sz="quarter" idx="18"/>
          </p:nvPr>
        </p:nvSpPr>
        <p:spPr/>
        <p:txBody>
          <a:bodyPr/>
          <a:lstStyle>
            <a:lvl1pPr>
              <a:defRPr/>
            </a:lvl1pPr>
          </a:lstStyle>
          <a:p>
            <a:pPr>
              <a:defRPr/>
            </a:pPr>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idx="1"/>
          </p:nvPr>
        </p:nvSpPr>
        <p:spPr/>
        <p:txBody>
          <a:body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12602" y="4406901"/>
            <a:ext cx="8743950" cy="1362075"/>
          </a:xfrm>
        </p:spPr>
        <p:txBody>
          <a:bodyPr anchor="t"/>
          <a:lstStyle>
            <a:lvl1pPr algn="l">
              <a:defRPr sz="3600" b="1" cap="all">
                <a:solidFill>
                  <a:schemeClr val="tx1"/>
                </a:solidFill>
              </a:defRPr>
            </a:lvl1pPr>
          </a:lstStyle>
          <a:p>
            <a:r>
              <a:rPr lang="nl-NL" smtClean="0"/>
              <a:t>Klik om de stijl te bewerken</a:t>
            </a:r>
            <a:endParaRPr lang="nl-NL" dirty="0"/>
          </a:p>
        </p:txBody>
      </p:sp>
      <p:sp>
        <p:nvSpPr>
          <p:cNvPr id="3" name="Tijdelijke aanduiding voor tekst 2"/>
          <p:cNvSpPr>
            <a:spLocks noGrp="1"/>
          </p:cNvSpPr>
          <p:nvPr>
            <p:ph type="body" idx="1"/>
          </p:nvPr>
        </p:nvSpPr>
        <p:spPr>
          <a:xfrm>
            <a:off x="812602" y="2906713"/>
            <a:ext cx="8743950" cy="1500187"/>
          </a:xfrm>
        </p:spPr>
        <p:txBody>
          <a:bodyPr anchor="b"/>
          <a:lstStyle>
            <a:lvl1pPr marL="0" indent="0">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smtClean="0"/>
              <a:t>Klik om de modelstijlen te bewerken</a:t>
            </a:r>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sz="half" idx="1"/>
          </p:nvPr>
        </p:nvSpPr>
        <p:spPr>
          <a:xfrm>
            <a:off x="514350"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4" name="Tijdelijke aanduiding voor inhoud 3"/>
          <p:cNvSpPr>
            <a:spLocks noGrp="1"/>
          </p:cNvSpPr>
          <p:nvPr>
            <p:ph sz="half" idx="2"/>
          </p:nvPr>
        </p:nvSpPr>
        <p:spPr>
          <a:xfrm>
            <a:off x="5229225"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5"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smtClean="0"/>
              <a:t>Klik om de stijl te bewerken</a:t>
            </a:r>
            <a:endParaRPr lang="nl-NL"/>
          </a:p>
        </p:txBody>
      </p:sp>
      <p:sp>
        <p:nvSpPr>
          <p:cNvPr id="3" name="Tijdelijke aanduiding voor tekst 2"/>
          <p:cNvSpPr>
            <a:spLocks noGrp="1"/>
          </p:cNvSpPr>
          <p:nvPr>
            <p:ph type="body" idx="1"/>
          </p:nvPr>
        </p:nvSpPr>
        <p:spPr>
          <a:xfrm>
            <a:off x="514350" y="1535113"/>
            <a:ext cx="454521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smtClean="0"/>
              <a:t>Klik om de modelstijlen te bewerken</a:t>
            </a:r>
          </a:p>
        </p:txBody>
      </p:sp>
      <p:sp>
        <p:nvSpPr>
          <p:cNvPr id="4" name="Tijdelijke aanduiding voor inhoud 3"/>
          <p:cNvSpPr>
            <a:spLocks noGrp="1"/>
          </p:cNvSpPr>
          <p:nvPr>
            <p:ph sz="half" idx="2"/>
          </p:nvPr>
        </p:nvSpPr>
        <p:spPr>
          <a:xfrm>
            <a:off x="514350" y="2174875"/>
            <a:ext cx="4545212"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5" name="Tijdelijke aanduiding voor tekst 4"/>
          <p:cNvSpPr>
            <a:spLocks noGrp="1"/>
          </p:cNvSpPr>
          <p:nvPr>
            <p:ph type="body" sz="quarter" idx="3"/>
          </p:nvPr>
        </p:nvSpPr>
        <p:spPr>
          <a:xfrm>
            <a:off x="5225654" y="1535113"/>
            <a:ext cx="454699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smtClean="0"/>
              <a:t>Klik om de modelstijlen te bewerken</a:t>
            </a:r>
          </a:p>
        </p:txBody>
      </p:sp>
      <p:sp>
        <p:nvSpPr>
          <p:cNvPr id="6" name="Tijdelijke aanduiding voor inhoud 5"/>
          <p:cNvSpPr>
            <a:spLocks noGrp="1"/>
          </p:cNvSpPr>
          <p:nvPr>
            <p:ph sz="quarter" idx="4"/>
          </p:nvPr>
        </p:nvSpPr>
        <p:spPr>
          <a:xfrm>
            <a:off x="5225654" y="2174875"/>
            <a:ext cx="4546997"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7"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fsluitdia">
    <p:spTree>
      <p:nvGrpSpPr>
        <p:cNvPr id="1" name=""/>
        <p:cNvGrpSpPr/>
        <p:nvPr/>
      </p:nvGrpSpPr>
      <p:grpSpPr>
        <a:xfrm>
          <a:off x="0" y="0"/>
          <a:ext cx="0" cy="0"/>
          <a:chOff x="0" y="0"/>
          <a:chExt cx="0" cy="0"/>
        </a:xfrm>
      </p:grpSpPr>
      <p:sp>
        <p:nvSpPr>
          <p:cNvPr id="2" name="Tekstvak 9"/>
          <p:cNvSpPr txBox="1">
            <a:spLocks noChangeAspect="1"/>
          </p:cNvSpPr>
          <p:nvPr/>
        </p:nvSpPr>
        <p:spPr bwMode="auto">
          <a:xfrm>
            <a:off x="689372" y="238126"/>
            <a:ext cx="7288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r>
              <a:rPr lang="sl-SI" altLang="nl-NL" sz="2800" b="1" smtClean="0">
                <a:solidFill>
                  <a:srgbClr val="000000"/>
                </a:solidFill>
                <a:latin typeface="Arial" charset="0"/>
              </a:rPr>
              <a:t>Reference to Authors</a:t>
            </a:r>
            <a:endParaRPr lang="en-GB" altLang="nl-NL" smtClean="0"/>
          </a:p>
        </p:txBody>
      </p:sp>
      <p:sp>
        <p:nvSpPr>
          <p:cNvPr id="3" name="Rechthoek 11"/>
          <p:cNvSpPr>
            <a:spLocks noChangeArrowheads="1"/>
          </p:cNvSpPr>
          <p:nvPr/>
        </p:nvSpPr>
        <p:spPr bwMode="auto">
          <a:xfrm>
            <a:off x="810816" y="1439863"/>
            <a:ext cx="891004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itchFamily="34" charset="0"/>
                <a:cs typeface="Arial" charset="0"/>
              </a:defRPr>
            </a:lvl1pPr>
            <a:lvl2pPr marL="447675" indent="-266700" eaLnBrk="0" hangingPunct="0">
              <a:defRPr>
                <a:solidFill>
                  <a:schemeClr val="tx1"/>
                </a:solidFill>
                <a:latin typeface="Calibri" pitchFamily="34" charset="0"/>
                <a:cs typeface="Arial" charset="0"/>
              </a:defRPr>
            </a:lvl2pPr>
            <a:lvl3pPr marL="985838" indent="-2667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lvl="1" eaLnBrk="1" hangingPunct="1">
              <a:spcBef>
                <a:spcPct val="20000"/>
              </a:spcBef>
              <a:buClr>
                <a:srgbClr val="C80F00"/>
              </a:buClr>
              <a:buSzPct val="120000"/>
              <a:buFont typeface="Arial" charset="0"/>
              <a:buChar char="•"/>
              <a:defRPr/>
            </a:pPr>
            <a:r>
              <a:rPr lang="en-US" altLang="nl-NL" sz="1600" b="1" smtClean="0">
                <a:solidFill>
                  <a:srgbClr val="000000"/>
                </a:solidFill>
                <a:latin typeface="Arial" charset="0"/>
              </a:rPr>
              <a:t>This Training Material has been certified according to the rules of the ‘ECQA – European Certification and Qualification Association’</a:t>
            </a: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a:p>
            <a:pPr lvl="1" eaLnBrk="1" hangingPunct="1">
              <a:spcBef>
                <a:spcPct val="20000"/>
              </a:spcBef>
              <a:buClr>
                <a:srgbClr val="C80F00"/>
              </a:buClr>
              <a:buSzPct val="120000"/>
              <a:buFont typeface="Arial" charset="0"/>
              <a:buChar char="•"/>
              <a:defRPr/>
            </a:pPr>
            <a:r>
              <a:rPr lang="en-US" altLang="nl-NL" sz="1600" b="1" smtClean="0">
                <a:solidFill>
                  <a:srgbClr val="000000"/>
                </a:solidFill>
                <a:latin typeface="Arial" charset="0"/>
              </a:rPr>
              <a:t>The Training Material was developed within the international consortium ‘LSSH – Lean Six Sigma for Healthcare’</a:t>
            </a: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Symbol BV		Netherlands		</a:t>
            </a:r>
            <a:r>
              <a:rPr lang="en-US" altLang="nl-NL" sz="1200" smtClean="0">
                <a:solidFill>
                  <a:srgbClr val="000000"/>
                </a:solidFill>
                <a:latin typeface="Arial" charset="0"/>
                <a:hlinkClick r:id="rId2"/>
              </a:rPr>
              <a:t>www.symbolbv.nl</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ISCN Ltd./Ges.m.b.H, 	Ireland/Austria	</a:t>
            </a:r>
            <a:r>
              <a:rPr lang="en-US" altLang="nl-NL" sz="1200" smtClean="0">
                <a:solidFill>
                  <a:srgbClr val="000000"/>
                </a:solidFill>
                <a:latin typeface="Arial" charset="0"/>
                <a:hlinkClick r:id="rId3"/>
              </a:rPr>
              <a:t>www.iscn.com</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ROC of Twente	Netherlands		</a:t>
            </a:r>
            <a:r>
              <a:rPr lang="en-US" altLang="nl-NL" sz="1200" smtClean="0">
                <a:solidFill>
                  <a:srgbClr val="000000"/>
                </a:solidFill>
                <a:latin typeface="Arial" charset="0"/>
                <a:hlinkClick r:id="rId4"/>
              </a:rPr>
              <a:t>www.rocvantwente.nl</a:t>
            </a:r>
            <a:r>
              <a:rPr lang="en-US" altLang="nl-NL" sz="1200" smtClean="0">
                <a:solidFill>
                  <a:srgbClr val="000000"/>
                </a:solidFill>
                <a:latin typeface="Arial" charset="0"/>
              </a:rPr>
              <a:t> </a:t>
            </a: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LSSA BV		Netherlands		</a:t>
            </a:r>
            <a:r>
              <a:rPr lang="en-US" altLang="nl-NL" sz="1200" smtClean="0">
                <a:solidFill>
                  <a:srgbClr val="000000"/>
                </a:solidFill>
                <a:latin typeface="Arial" charset="0"/>
                <a:hlinkClick r:id="rId5"/>
              </a:rPr>
              <a:t>www.lssa.eu</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University of Limerick	Ireland		</a:t>
            </a:r>
            <a:r>
              <a:rPr lang="en-US" altLang="nl-NL" sz="1200" smtClean="0">
                <a:solidFill>
                  <a:srgbClr val="000000"/>
                </a:solidFill>
                <a:latin typeface="Arial" charset="0"/>
                <a:hlinkClick r:id="rId6"/>
              </a:rPr>
              <a:t>www.ul.ie</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University of Twente	Netherlands		</a:t>
            </a:r>
            <a:r>
              <a:rPr lang="en-US" altLang="nl-NL" sz="1200" smtClean="0">
                <a:solidFill>
                  <a:srgbClr val="000000"/>
                </a:solidFill>
                <a:latin typeface="Arial" charset="0"/>
                <a:hlinkClick r:id="rId7"/>
              </a:rPr>
              <a:t>www.utwente.nl</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WGV Oost		Netherlands		</a:t>
            </a:r>
            <a:r>
              <a:rPr lang="en-US" altLang="nl-NL" sz="1200" smtClean="0">
                <a:solidFill>
                  <a:srgbClr val="000000"/>
                </a:solidFill>
                <a:latin typeface="Arial" charset="0"/>
                <a:hlinkClick r:id="rId8"/>
              </a:rPr>
              <a:t>www.wgvoost.nl</a:t>
            </a:r>
            <a:endParaRPr lang="en-US" altLang="nl-NL" sz="1200" smtClean="0">
              <a:solidFill>
                <a:srgbClr val="000000"/>
              </a:solidFill>
              <a:latin typeface="Arial" charset="0"/>
            </a:endParaRP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p:txBody>
      </p:sp>
      <p:pic>
        <p:nvPicPr>
          <p:cNvPr id="4" name="Picture 2" descr="EU_flag_LLP_EN-01"/>
          <p:cNvPicPr>
            <a:picLocks noChangeAspect="1" noChangeArrowheads="1"/>
          </p:cNvPicPr>
          <p:nvPr/>
        </p:nvPicPr>
        <p:blipFill>
          <a:blip r:embed="rId9" cstate="print"/>
          <a:srcRect/>
          <a:stretch>
            <a:fillRect/>
          </a:stretch>
        </p:blipFill>
        <p:spPr bwMode="auto">
          <a:xfrm>
            <a:off x="1092995" y="5249864"/>
            <a:ext cx="2348508" cy="815975"/>
          </a:xfrm>
          <a:prstGeom prst="rect">
            <a:avLst/>
          </a:prstGeom>
          <a:noFill/>
          <a:ln w="9525">
            <a:noFill/>
            <a:miter lim="800000"/>
            <a:headEnd/>
            <a:tailEnd/>
          </a:ln>
        </p:spPr>
      </p:pic>
      <p:sp>
        <p:nvSpPr>
          <p:cNvPr id="5" name="Tekstvak 13"/>
          <p:cNvSpPr txBox="1">
            <a:spLocks noChangeArrowheads="1"/>
          </p:cNvSpPr>
          <p:nvPr/>
        </p:nvSpPr>
        <p:spPr bwMode="auto">
          <a:xfrm>
            <a:off x="3361135" y="5249864"/>
            <a:ext cx="6318647"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altLang="nl-NL" sz="1200" i="1" smtClean="0"/>
              <a:t>This project has been funded with support from the European Commission under agreement EAC-2012-0635. This publication/communication reflects the views only of the author, and the Commission cannot be held responsible for any use which may be made of the information contained therein.</a:t>
            </a:r>
          </a:p>
          <a:p>
            <a:pPr eaLnBrk="1" hangingPunct="1">
              <a:defRPr/>
            </a:pPr>
            <a:endParaRPr lang="en-US" altLang="nl-NL" sz="1200" i="1" smtClean="0"/>
          </a:p>
          <a:p>
            <a:pPr eaLnBrk="1" hangingPunct="1">
              <a:defRPr/>
            </a:pPr>
            <a:r>
              <a:rPr lang="en-US" altLang="nl-NL" sz="1200" smtClean="0"/>
              <a:t>This publication reflects the views only of the author</a:t>
            </a:r>
            <a:r>
              <a:rPr lang="sl-SI" altLang="nl-NL" sz="1200" smtClean="0"/>
              <a:t>s</a:t>
            </a:r>
            <a:r>
              <a:rPr lang="en-US" altLang="nl-NL" sz="1200" smtClean="0"/>
              <a:t>, and the Commission cannot be held responsible for any use which may be made of the information contained therein.</a:t>
            </a:r>
          </a:p>
        </p:txBody>
      </p:sp>
      <p:sp>
        <p:nvSpPr>
          <p:cNvPr id="6" name="Tijdelijke aanduiding voor voettekst 2"/>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idx="1"/>
          </p:nvPr>
        </p:nvSpPr>
        <p:spPr>
          <a:xfrm>
            <a:off x="810816" y="1340768"/>
            <a:ext cx="8910043" cy="5040312"/>
          </a:xfrm>
        </p:spPr>
        <p:txBody>
          <a:body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8" name="Tijdelijke aanduiding voor tekst 7"/>
          <p:cNvSpPr>
            <a:spLocks noGrp="1"/>
          </p:cNvSpPr>
          <p:nvPr>
            <p:ph type="body" sz="quarter" idx="13"/>
          </p:nvPr>
        </p:nvSpPr>
        <p:spPr>
          <a:xfrm>
            <a:off x="1458000" y="6669360"/>
            <a:ext cx="1498257" cy="203040"/>
          </a:xfrm>
        </p:spPr>
        <p:txBody>
          <a:bodyPr tIns="36000" bIns="36000"/>
          <a:lstStyle>
            <a:lvl1pPr algn="l">
              <a:defRPr sz="1000" b="0">
                <a:solidFill>
                  <a:schemeClr val="bg1"/>
                </a:solidFill>
              </a:defRPr>
            </a:lvl1pPr>
          </a:lstStyle>
          <a:p>
            <a:pPr lvl="0"/>
            <a:r>
              <a:rPr lang="nl-NL" smtClean="0"/>
              <a:t>Klik om de modelstijlen te bewerken</a:t>
            </a:r>
          </a:p>
        </p:txBody>
      </p:sp>
      <p:sp>
        <p:nvSpPr>
          <p:cNvPr id="5" name="Tijdelijke aanduiding voor voettekst 4"/>
          <p:cNvSpPr>
            <a:spLocks noGrp="1"/>
          </p:cNvSpPr>
          <p:nvPr>
            <p:ph type="ftr" sz="quarter" idx="14"/>
          </p:nvPr>
        </p:nvSpPr>
        <p:spPr/>
        <p:txBody>
          <a:bodyPr/>
          <a:lstStyle>
            <a:lvl1pPr>
              <a:defRPr/>
            </a:lvl1pPr>
          </a:lstStyle>
          <a:p>
            <a:pPr>
              <a:defRPr/>
            </a:pPr>
            <a:endParaRPr lang="nl-NL" dirty="0"/>
          </a:p>
        </p:txBody>
      </p:sp>
    </p:spTree>
    <p:extLst>
      <p:ext uri="{BB962C8B-B14F-4D97-AF65-F5344CB8AC3E}">
        <p14:creationId xmlns:p14="http://schemas.microsoft.com/office/powerpoint/2010/main" val="60338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2_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idx="1"/>
          </p:nvPr>
        </p:nvSpPr>
        <p:spPr>
          <a:xfrm>
            <a:off x="810816" y="1340768"/>
            <a:ext cx="8910043" cy="5040312"/>
          </a:xfrm>
        </p:spPr>
        <p:txBody>
          <a:body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8" name="Tijdelijke aanduiding voor tekst 7"/>
          <p:cNvSpPr>
            <a:spLocks noGrp="1"/>
          </p:cNvSpPr>
          <p:nvPr>
            <p:ph type="body" sz="quarter" idx="13"/>
          </p:nvPr>
        </p:nvSpPr>
        <p:spPr>
          <a:xfrm>
            <a:off x="1458000" y="6669360"/>
            <a:ext cx="1498257" cy="203040"/>
          </a:xfrm>
        </p:spPr>
        <p:txBody>
          <a:bodyPr tIns="36000" bIns="36000"/>
          <a:lstStyle>
            <a:lvl1pPr algn="l">
              <a:defRPr sz="1000" b="0">
                <a:solidFill>
                  <a:schemeClr val="bg1"/>
                </a:solidFill>
              </a:defRPr>
            </a:lvl1pPr>
          </a:lstStyle>
          <a:p>
            <a:pPr lvl="0"/>
            <a:r>
              <a:rPr lang="nl-NL" smtClean="0"/>
              <a:t>Klik om de modelstijlen te bewerken</a:t>
            </a:r>
          </a:p>
        </p:txBody>
      </p:sp>
      <p:sp>
        <p:nvSpPr>
          <p:cNvPr id="5" name="Tijdelijke aanduiding voor voettekst 4"/>
          <p:cNvSpPr>
            <a:spLocks noGrp="1"/>
          </p:cNvSpPr>
          <p:nvPr>
            <p:ph type="ftr" sz="quarter" idx="14"/>
          </p:nvPr>
        </p:nvSpPr>
        <p:spPr/>
        <p:txBody>
          <a:bodyPr/>
          <a:lstStyle>
            <a:lvl1pPr>
              <a:defRPr/>
            </a:lvl1pPr>
          </a:lstStyle>
          <a:p>
            <a:pPr>
              <a:defRPr/>
            </a:pPr>
            <a:endParaRPr lang="nl-NL" dirty="0"/>
          </a:p>
        </p:txBody>
      </p:sp>
    </p:spTree>
    <p:extLst>
      <p:ext uri="{BB962C8B-B14F-4D97-AF65-F5344CB8AC3E}">
        <p14:creationId xmlns:p14="http://schemas.microsoft.com/office/powerpoint/2010/main" val="2203333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3_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idx="1"/>
          </p:nvPr>
        </p:nvSpPr>
        <p:spPr>
          <a:xfrm>
            <a:off x="810816" y="1340768"/>
            <a:ext cx="8910043" cy="5040312"/>
          </a:xfrm>
        </p:spPr>
        <p:txBody>
          <a:body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8" name="Tijdelijke aanduiding voor tekst 7"/>
          <p:cNvSpPr>
            <a:spLocks noGrp="1"/>
          </p:cNvSpPr>
          <p:nvPr>
            <p:ph type="body" sz="quarter" idx="13"/>
          </p:nvPr>
        </p:nvSpPr>
        <p:spPr>
          <a:xfrm>
            <a:off x="1458000" y="6669360"/>
            <a:ext cx="1498257" cy="203040"/>
          </a:xfrm>
        </p:spPr>
        <p:txBody>
          <a:bodyPr tIns="36000" bIns="36000"/>
          <a:lstStyle>
            <a:lvl1pPr algn="l">
              <a:defRPr sz="1000" b="0">
                <a:solidFill>
                  <a:schemeClr val="bg1"/>
                </a:solidFill>
              </a:defRPr>
            </a:lvl1pPr>
          </a:lstStyle>
          <a:p>
            <a:pPr lvl="0"/>
            <a:r>
              <a:rPr lang="nl-NL" smtClean="0"/>
              <a:t>Klik om de modelstijlen te bewerken</a:t>
            </a:r>
          </a:p>
        </p:txBody>
      </p:sp>
      <p:sp>
        <p:nvSpPr>
          <p:cNvPr id="5" name="Tijdelijke aanduiding voor voettekst 4"/>
          <p:cNvSpPr>
            <a:spLocks noGrp="1"/>
          </p:cNvSpPr>
          <p:nvPr>
            <p:ph type="ftr" sz="quarter" idx="14"/>
          </p:nvPr>
        </p:nvSpPr>
        <p:spPr/>
        <p:txBody>
          <a:bodyPr/>
          <a:lstStyle>
            <a:lvl1pPr>
              <a:defRPr/>
            </a:lvl1pPr>
          </a:lstStyle>
          <a:p>
            <a:pPr>
              <a:defRPr/>
            </a:pPr>
            <a:endParaRPr lang="nl-NL" dirty="0"/>
          </a:p>
        </p:txBody>
      </p:sp>
    </p:spTree>
    <p:extLst>
      <p:ext uri="{BB962C8B-B14F-4D97-AF65-F5344CB8AC3E}">
        <p14:creationId xmlns:p14="http://schemas.microsoft.com/office/powerpoint/2010/main" val="1527033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hthoek 1"/>
          <p:cNvSpPr/>
          <p:nvPr/>
        </p:nvSpPr>
        <p:spPr>
          <a:xfrm>
            <a:off x="10716" y="6696076"/>
            <a:ext cx="10287000" cy="180975"/>
          </a:xfrm>
          <a:prstGeom prst="rect">
            <a:avLst/>
          </a:prstGeom>
          <a:solidFill>
            <a:srgbClr val="C8B8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chemeClr val="tx1"/>
              </a:solidFill>
            </a:endParaRPr>
          </a:p>
        </p:txBody>
      </p:sp>
      <p:sp>
        <p:nvSpPr>
          <p:cNvPr id="1027" name="Tijdelijke aanduiding voor titel 1"/>
          <p:cNvSpPr>
            <a:spLocks noGrp="1"/>
          </p:cNvSpPr>
          <p:nvPr>
            <p:ph type="title"/>
          </p:nvPr>
        </p:nvSpPr>
        <p:spPr bwMode="auto">
          <a:xfrm>
            <a:off x="687587" y="238126"/>
            <a:ext cx="7290197" cy="6000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nl-NL" altLang="nl-NL" smtClean="0"/>
              <a:t>Klik om de stijl te bewerken</a:t>
            </a:r>
          </a:p>
        </p:txBody>
      </p:sp>
      <p:sp>
        <p:nvSpPr>
          <p:cNvPr id="1028" name="Tijdelijke aanduiding voor tekst 2"/>
          <p:cNvSpPr>
            <a:spLocks noGrp="1"/>
          </p:cNvSpPr>
          <p:nvPr>
            <p:ph type="body" idx="1"/>
          </p:nvPr>
        </p:nvSpPr>
        <p:spPr bwMode="auto">
          <a:xfrm>
            <a:off x="810816" y="1439863"/>
            <a:ext cx="8910043"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ltLang="nl-NL" smtClean="0"/>
              <a:t>Klik om de modelstijlen te bewerken</a:t>
            </a:r>
          </a:p>
          <a:p>
            <a:pPr lvl="1"/>
            <a:r>
              <a:rPr lang="nl-NL" altLang="nl-NL" smtClean="0"/>
              <a:t>Tweede niveau</a:t>
            </a:r>
          </a:p>
          <a:p>
            <a:pPr lvl="2"/>
            <a:r>
              <a:rPr lang="nl-NL" altLang="nl-NL" smtClean="0"/>
              <a:t>Derde niveau</a:t>
            </a:r>
          </a:p>
          <a:p>
            <a:pPr lvl="3"/>
            <a:r>
              <a:rPr lang="nl-NL" altLang="nl-NL" smtClean="0"/>
              <a:t>Vierde niveau</a:t>
            </a:r>
          </a:p>
          <a:p>
            <a:pPr lvl="4"/>
            <a:r>
              <a:rPr lang="nl-NL" altLang="nl-NL" smtClean="0"/>
              <a:t>Vijfde niveau</a:t>
            </a:r>
          </a:p>
        </p:txBody>
      </p:sp>
      <p:sp>
        <p:nvSpPr>
          <p:cNvPr id="5" name="Tijdelijke aanduiding voor voettekst 4"/>
          <p:cNvSpPr>
            <a:spLocks noGrp="1"/>
          </p:cNvSpPr>
          <p:nvPr>
            <p:ph type="ftr" sz="quarter" idx="3"/>
          </p:nvPr>
        </p:nvSpPr>
        <p:spPr>
          <a:xfrm>
            <a:off x="1468040" y="6702426"/>
            <a:ext cx="1459112" cy="161925"/>
          </a:xfrm>
          <a:prstGeom prst="rect">
            <a:avLst/>
          </a:prstGeom>
        </p:spPr>
        <p:txBody>
          <a:bodyPr vert="horz" lIns="91440" tIns="45720" rIns="91440" bIns="45720" rtlCol="0" anchor="ctr"/>
          <a:lstStyle>
            <a:lvl1pPr algn="l" fontAlgn="auto">
              <a:spcBef>
                <a:spcPts val="0"/>
              </a:spcBef>
              <a:spcAft>
                <a:spcPts val="0"/>
              </a:spcAft>
              <a:defRPr sz="1000">
                <a:solidFill>
                  <a:schemeClr val="tx1"/>
                </a:solidFill>
                <a:latin typeface="+mn-lt"/>
                <a:cs typeface="+mn-cs"/>
              </a:defRPr>
            </a:lvl1pPr>
          </a:lstStyle>
          <a:p>
            <a:pPr>
              <a:defRPr/>
            </a:pPr>
            <a:endParaRPr lang="nl-NL"/>
          </a:p>
        </p:txBody>
      </p:sp>
      <p:sp>
        <p:nvSpPr>
          <p:cNvPr id="1032" name="Rectangle 9"/>
          <p:cNvSpPr>
            <a:spLocks noChangeArrowheads="1"/>
          </p:cNvSpPr>
          <p:nvPr/>
        </p:nvSpPr>
        <p:spPr bwMode="auto">
          <a:xfrm>
            <a:off x="9636919" y="6702425"/>
            <a:ext cx="66079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fld id="{CD273429-C5AB-4BD5-BB28-1634FDE3C97E}" type="slidenum">
              <a:rPr lang="nl-NL" altLang="nl-NL" sz="1000" smtClean="0"/>
              <a:pPr algn="ctr" eaLnBrk="1" hangingPunct="1">
                <a:defRPr/>
              </a:pPr>
              <a:t>‹#›</a:t>
            </a:fld>
            <a:endParaRPr lang="nl-NL" altLang="nl-NL" sz="1000" smtClean="0"/>
          </a:p>
        </p:txBody>
      </p:sp>
      <p:sp>
        <p:nvSpPr>
          <p:cNvPr id="1036" name="Text Box 20"/>
          <p:cNvSpPr txBox="1">
            <a:spLocks noChangeArrowheads="1"/>
          </p:cNvSpPr>
          <p:nvPr/>
        </p:nvSpPr>
        <p:spPr bwMode="auto">
          <a:xfrm>
            <a:off x="10716" y="6677026"/>
            <a:ext cx="14573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0" bIns="0" anchor="b"/>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spcBef>
                <a:spcPct val="20000"/>
              </a:spcBef>
              <a:buClr>
                <a:srgbClr val="0000FF"/>
              </a:buClr>
              <a:buSzPct val="125000"/>
              <a:defRPr/>
            </a:pPr>
            <a:r>
              <a:rPr lang="en-US" sz="1000" dirty="0" smtClean="0"/>
              <a:t>© LSSH 2014</a:t>
            </a:r>
          </a:p>
        </p:txBody>
      </p:sp>
      <p:cxnSp>
        <p:nvCxnSpPr>
          <p:cNvPr id="11" name="Rechte verbindingslijn 10"/>
          <p:cNvCxnSpPr/>
          <p:nvPr/>
        </p:nvCxnSpPr>
        <p:spPr>
          <a:xfrm>
            <a:off x="0" y="1052514"/>
            <a:ext cx="10287000" cy="1587"/>
          </a:xfrm>
          <a:prstGeom prst="line">
            <a:avLst/>
          </a:prstGeom>
          <a:ln>
            <a:solidFill>
              <a:srgbClr val="C41721"/>
            </a:solidFill>
          </a:ln>
        </p:spPr>
        <p:style>
          <a:lnRef idx="1">
            <a:schemeClr val="accent1"/>
          </a:lnRef>
          <a:fillRef idx="0">
            <a:schemeClr val="accent1"/>
          </a:fillRef>
          <a:effectRef idx="0">
            <a:schemeClr val="accent1"/>
          </a:effectRef>
          <a:fontRef idx="minor">
            <a:schemeClr val="tx1"/>
          </a:fontRef>
        </p:style>
      </p:cxnSp>
      <p:pic>
        <p:nvPicPr>
          <p:cNvPr id="1033" name="Afbeelding 6"/>
          <p:cNvPicPr>
            <a:picLocks noChangeAspect="1"/>
          </p:cNvPicPr>
          <p:nvPr/>
        </p:nvPicPr>
        <p:blipFill>
          <a:blip r:embed="rId13" cstate="print"/>
          <a:srcRect/>
          <a:stretch>
            <a:fillRect/>
          </a:stretch>
        </p:blipFill>
        <p:spPr bwMode="auto">
          <a:xfrm>
            <a:off x="8017074" y="220663"/>
            <a:ext cx="1905595" cy="6477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07" r:id="rId1"/>
    <p:sldLayoutId id="2147483701" r:id="rId2"/>
    <p:sldLayoutId id="2147483702" r:id="rId3"/>
    <p:sldLayoutId id="2147483703" r:id="rId4"/>
    <p:sldLayoutId id="2147483704" r:id="rId5"/>
    <p:sldLayoutId id="2147483705" r:id="rId6"/>
    <p:sldLayoutId id="2147483706" r:id="rId7"/>
    <p:sldLayoutId id="2147483708" r:id="rId8"/>
    <p:sldLayoutId id="2147483709" r:id="rId9"/>
    <p:sldLayoutId id="2147483710" r:id="rId10"/>
    <p:sldLayoutId id="2147483711" r:id="rId11"/>
  </p:sldLayoutIdLst>
  <p:timing>
    <p:tnLst>
      <p:par>
        <p:cTn id="1" dur="indefinite" restart="never" nodeType="tmRoot"/>
      </p:par>
    </p:tnLst>
  </p:timing>
  <p:hf sldNum="0" hdr="0" dt="0"/>
  <p:txStyles>
    <p:titleStyle>
      <a:lvl1pPr algn="ctr" rtl="0" eaLnBrk="0" fontAlgn="base" hangingPunct="0">
        <a:spcBef>
          <a:spcPct val="0"/>
        </a:spcBef>
        <a:spcAft>
          <a:spcPct val="0"/>
        </a:spcAft>
        <a:defRPr lang="nl-NL" sz="28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b="1">
          <a:solidFill>
            <a:schemeClr val="tx1"/>
          </a:solidFill>
          <a:latin typeface="Arial" charset="0"/>
          <a:cs typeface="Arial" charset="0"/>
        </a:defRPr>
      </a:lvl2pPr>
      <a:lvl3pPr algn="ctr" rtl="0" eaLnBrk="0" fontAlgn="base" hangingPunct="0">
        <a:spcBef>
          <a:spcPct val="0"/>
        </a:spcBef>
        <a:spcAft>
          <a:spcPct val="0"/>
        </a:spcAft>
        <a:defRPr sz="2800" b="1">
          <a:solidFill>
            <a:schemeClr val="tx1"/>
          </a:solidFill>
          <a:latin typeface="Arial" charset="0"/>
          <a:cs typeface="Arial" charset="0"/>
        </a:defRPr>
      </a:lvl3pPr>
      <a:lvl4pPr algn="ctr" rtl="0" eaLnBrk="0" fontAlgn="base" hangingPunct="0">
        <a:spcBef>
          <a:spcPct val="0"/>
        </a:spcBef>
        <a:spcAft>
          <a:spcPct val="0"/>
        </a:spcAft>
        <a:defRPr sz="2800" b="1">
          <a:solidFill>
            <a:schemeClr val="tx1"/>
          </a:solidFill>
          <a:latin typeface="Arial" charset="0"/>
          <a:cs typeface="Arial" charset="0"/>
        </a:defRPr>
      </a:lvl4pPr>
      <a:lvl5pPr algn="ctr" rtl="0" eaLnBrk="0" fontAlgn="base" hangingPunct="0">
        <a:spcBef>
          <a:spcPct val="0"/>
        </a:spcBef>
        <a:spcAft>
          <a:spcPct val="0"/>
        </a:spcAft>
        <a:defRPr sz="2800" b="1">
          <a:solidFill>
            <a:schemeClr val="tx1"/>
          </a:solidFill>
          <a:latin typeface="Arial" charset="0"/>
          <a:cs typeface="Arial" charset="0"/>
        </a:defRPr>
      </a:lvl5pPr>
      <a:lvl6pPr marL="457200" algn="ctr" rtl="0" eaLnBrk="1" fontAlgn="base" hangingPunct="1">
        <a:spcBef>
          <a:spcPct val="0"/>
        </a:spcBef>
        <a:spcAft>
          <a:spcPct val="0"/>
        </a:spcAft>
        <a:defRPr sz="2800" b="1">
          <a:solidFill>
            <a:srgbClr val="FEF6D6"/>
          </a:solidFill>
          <a:latin typeface="Arial" charset="0"/>
          <a:cs typeface="Arial" charset="0"/>
        </a:defRPr>
      </a:lvl6pPr>
      <a:lvl7pPr marL="914400" algn="ctr" rtl="0" eaLnBrk="1" fontAlgn="base" hangingPunct="1">
        <a:spcBef>
          <a:spcPct val="0"/>
        </a:spcBef>
        <a:spcAft>
          <a:spcPct val="0"/>
        </a:spcAft>
        <a:defRPr sz="2800" b="1">
          <a:solidFill>
            <a:srgbClr val="FEF6D6"/>
          </a:solidFill>
          <a:latin typeface="Arial" charset="0"/>
          <a:cs typeface="Arial" charset="0"/>
        </a:defRPr>
      </a:lvl7pPr>
      <a:lvl8pPr marL="1371600" algn="ctr" rtl="0" eaLnBrk="1" fontAlgn="base" hangingPunct="1">
        <a:spcBef>
          <a:spcPct val="0"/>
        </a:spcBef>
        <a:spcAft>
          <a:spcPct val="0"/>
        </a:spcAft>
        <a:defRPr sz="2800" b="1">
          <a:solidFill>
            <a:srgbClr val="FEF6D6"/>
          </a:solidFill>
          <a:latin typeface="Arial" charset="0"/>
          <a:cs typeface="Arial" charset="0"/>
        </a:defRPr>
      </a:lvl8pPr>
      <a:lvl9pPr marL="1828800" algn="ctr" rtl="0" eaLnBrk="1" fontAlgn="base" hangingPunct="1">
        <a:spcBef>
          <a:spcPct val="0"/>
        </a:spcBef>
        <a:spcAft>
          <a:spcPct val="0"/>
        </a:spcAft>
        <a:defRPr sz="2800" b="1">
          <a:solidFill>
            <a:srgbClr val="FEF6D6"/>
          </a:solidFill>
          <a:latin typeface="Arial" charset="0"/>
          <a:cs typeface="Arial" charset="0"/>
        </a:defRPr>
      </a:lvl9pPr>
    </p:titleStyle>
    <p:bodyStyle>
      <a:lvl1pPr algn="l" rtl="0" eaLnBrk="0" fontAlgn="base" hangingPunct="0">
        <a:spcBef>
          <a:spcPct val="20000"/>
        </a:spcBef>
        <a:spcAft>
          <a:spcPct val="0"/>
        </a:spcAft>
        <a:buClr>
          <a:srgbClr val="C41721"/>
        </a:buClr>
        <a:buSzPct val="100000"/>
        <a:buFont typeface="Arial" charset="0"/>
        <a:defRPr sz="2400" b="1" kern="1200">
          <a:solidFill>
            <a:schemeClr val="tx1"/>
          </a:solidFill>
          <a:latin typeface="Arial" pitchFamily="34" charset="0"/>
          <a:ea typeface="+mn-ea"/>
          <a:cs typeface="Arial" pitchFamily="34" charset="0"/>
        </a:defRPr>
      </a:lvl1pPr>
      <a:lvl2pPr marL="447675" indent="-266700" algn="l" rtl="0" eaLnBrk="0" fontAlgn="base" hangingPunct="0">
        <a:spcBef>
          <a:spcPct val="20000"/>
        </a:spcBef>
        <a:spcAft>
          <a:spcPct val="0"/>
        </a:spcAft>
        <a:buClr>
          <a:srgbClr val="C41721"/>
        </a:buClr>
        <a:buSzPct val="100000"/>
        <a:buFont typeface="Arial" charset="0"/>
        <a:buChar char="•"/>
        <a:defRPr sz="1600" b="1" kern="1200">
          <a:solidFill>
            <a:schemeClr val="tx1"/>
          </a:solidFill>
          <a:latin typeface="Arial" pitchFamily="34" charset="0"/>
          <a:ea typeface="+mn-ea"/>
          <a:cs typeface="Arial" pitchFamily="34" charset="0"/>
        </a:defRPr>
      </a:lvl2pPr>
      <a:lvl3pPr marL="985838" indent="-266700" algn="l" rtl="0" eaLnBrk="0" fontAlgn="base" hangingPunct="0">
        <a:spcBef>
          <a:spcPct val="20000"/>
        </a:spcBef>
        <a:spcAft>
          <a:spcPct val="0"/>
        </a:spcAft>
        <a:buClr>
          <a:srgbClr val="C41721"/>
        </a:buClr>
        <a:buSzPct val="100000"/>
        <a:buFont typeface="Arial" charset="0"/>
        <a:buChar char="•"/>
        <a:defRPr sz="1600" kern="1200">
          <a:solidFill>
            <a:schemeClr val="tx1"/>
          </a:solidFill>
          <a:latin typeface="Arial" pitchFamily="34" charset="0"/>
          <a:ea typeface="+mn-ea"/>
          <a:cs typeface="Arial" pitchFamily="34" charset="0"/>
        </a:defRPr>
      </a:lvl3pPr>
      <a:lvl4pPr marL="1524000"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4pPr>
      <a:lvl5pPr marL="2062163"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op8.neco.cz/images/dirigent.jp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9.png"/><Relationship Id="rId5" Type="http://schemas.openxmlformats.org/officeDocument/2006/relationships/image" Target="../media/image8.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6"/>
          <p:cNvSpPr>
            <a:spLocks noGrp="1"/>
          </p:cNvSpPr>
          <p:nvPr>
            <p:ph type="ctrTitle"/>
          </p:nvPr>
        </p:nvSpPr>
        <p:spPr/>
        <p:txBody>
          <a:bodyPr/>
          <a:lstStyle/>
          <a:p>
            <a:r>
              <a:rPr lang="en-US" smtClean="0"/>
              <a:t>Process Performance Metrics</a:t>
            </a:r>
            <a:br>
              <a:rPr lang="en-US" smtClean="0"/>
            </a:br>
            <a:r>
              <a:rPr lang="en-US" smtClean="0"/>
              <a:t/>
            </a:r>
            <a:br>
              <a:rPr lang="en-US" smtClean="0"/>
            </a:br>
            <a:endParaRPr lang="nl-NL" dirty="0" smtClean="0"/>
          </a:p>
        </p:txBody>
      </p:sp>
      <p:sp>
        <p:nvSpPr>
          <p:cNvPr id="4" name="Tijdelijke aanduiding voor tekst 3"/>
          <p:cNvSpPr>
            <a:spLocks noGrp="1"/>
          </p:cNvSpPr>
          <p:nvPr>
            <p:ph type="subTitle" idx="1"/>
          </p:nvPr>
        </p:nvSpPr>
        <p:spPr/>
        <p:txBody>
          <a:bodyPr/>
          <a:lstStyle/>
          <a:p>
            <a:r>
              <a:rPr lang="en-US" smtClean="0"/>
              <a:t>The element ‘Process Capability and Performance’ explains process capability and performance in relation to specification limits. </a:t>
            </a:r>
            <a:endParaRPr lang="en-US" dirty="0"/>
          </a:p>
        </p:txBody>
      </p:sp>
      <p:sp>
        <p:nvSpPr>
          <p:cNvPr id="3" name="Tijdelijke aanduiding voor tekst 2"/>
          <p:cNvSpPr>
            <a:spLocks noGrp="1"/>
          </p:cNvSpPr>
          <p:nvPr>
            <p:ph type="body" sz="quarter" idx="13"/>
          </p:nvPr>
        </p:nvSpPr>
        <p:spPr/>
        <p:txBody>
          <a:bodyPr/>
          <a:lstStyle/>
          <a:p>
            <a:r>
              <a:rPr lang="nl-NL" smtClean="0"/>
              <a:t>Yellow Belt</a:t>
            </a:r>
            <a:endParaRPr lang="nl-NL" dirty="0"/>
          </a:p>
        </p:txBody>
      </p:sp>
      <p:sp>
        <p:nvSpPr>
          <p:cNvPr id="2" name="Tijdelijke aanduiding voor inhoud 1"/>
          <p:cNvSpPr>
            <a:spLocks noGrp="1"/>
          </p:cNvSpPr>
          <p:nvPr>
            <p:ph sz="quarter" idx="17"/>
          </p:nvPr>
        </p:nvSpPr>
        <p:spPr/>
        <p:txBody>
          <a:bodyPr/>
          <a:lstStyle/>
          <a:p>
            <a:r>
              <a:rPr lang="en-US" smtClean="0"/>
              <a:t>U4 – Measure</a:t>
            </a:r>
          </a:p>
          <a:p>
            <a:r>
              <a:rPr lang="en-US" smtClean="0"/>
              <a:t>E4 – Process Capability and Performance</a:t>
            </a:r>
            <a:endParaRPr lang="nl-NL"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mtClean="0"/>
              <a:t>Process Performance Metrics</a:t>
            </a:r>
            <a:endParaRPr sz="2400" smtClean="0"/>
          </a:p>
        </p:txBody>
      </p:sp>
      <p:sp>
        <p:nvSpPr>
          <p:cNvPr id="9219" name="Rectangle 3"/>
          <p:cNvSpPr>
            <a:spLocks noGrp="1" noChangeArrowheads="1"/>
          </p:cNvSpPr>
          <p:nvPr>
            <p:ph idx="1"/>
          </p:nvPr>
        </p:nvSpPr>
        <p:spPr/>
        <p:txBody>
          <a:bodyPr/>
          <a:lstStyle/>
          <a:p>
            <a:pPr marL="0" indent="0" eaLnBrk="1" hangingPunct="1"/>
            <a:r>
              <a:rPr lang="en-US" dirty="0" smtClean="0"/>
              <a:t>The importance of metrics</a:t>
            </a:r>
            <a:endParaRPr lang="nl-NL" dirty="0" smtClean="0"/>
          </a:p>
          <a:p>
            <a:pPr lvl="1" eaLnBrk="1" hangingPunct="1"/>
            <a:endParaRPr lang="nl-NL" dirty="0" smtClean="0"/>
          </a:p>
          <a:p>
            <a:pPr lvl="1" eaLnBrk="1" hangingPunct="1">
              <a:buClrTx/>
            </a:pPr>
            <a:r>
              <a:rPr lang="en-US" dirty="0" smtClean="0"/>
              <a:t>Two important management tasks: sustain and improve</a:t>
            </a:r>
            <a:endParaRPr lang="nl-NL" dirty="0" smtClean="0"/>
          </a:p>
          <a:p>
            <a:pPr lvl="1" eaLnBrk="1" hangingPunct="1">
              <a:buClrTx/>
            </a:pPr>
            <a:endParaRPr lang="nl-NL" dirty="0" smtClean="0"/>
          </a:p>
          <a:p>
            <a:pPr lvl="1" eaLnBrk="1" hangingPunct="1">
              <a:buClrTx/>
            </a:pPr>
            <a:r>
              <a:rPr lang="en-US" dirty="0" smtClean="0"/>
              <a:t>We must make performances measurable so that we can ensure that performance will not deteriorate</a:t>
            </a:r>
            <a:endParaRPr lang="nl-NL" dirty="0" smtClean="0"/>
          </a:p>
          <a:p>
            <a:pPr lvl="1" eaLnBrk="1" hangingPunct="1">
              <a:buClrTx/>
            </a:pPr>
            <a:endParaRPr lang="nl-NL" dirty="0" smtClean="0"/>
          </a:p>
          <a:p>
            <a:pPr lvl="1" eaLnBrk="1" hangingPunct="1">
              <a:buClrTx/>
            </a:pPr>
            <a:r>
              <a:rPr lang="en-US" dirty="0" smtClean="0"/>
              <a:t>We must make performances measurable so that we can make the results of improvement activities visible</a:t>
            </a:r>
            <a:endParaRPr lang="nl-NL" dirty="0" smtClean="0"/>
          </a:p>
          <a:p>
            <a:pPr lvl="1" eaLnBrk="1" hangingPunct="1"/>
            <a:endParaRPr lang="nl-NL" dirty="0" smtClean="0"/>
          </a:p>
        </p:txBody>
      </p:sp>
    </p:spTree>
    <p:extLst>
      <p:ext uri="{BB962C8B-B14F-4D97-AF65-F5344CB8AC3E}">
        <p14:creationId xmlns:p14="http://schemas.microsoft.com/office/powerpoint/2010/main" val="33885984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nl-NL" smtClean="0"/>
              <a:t>Process Performance Metrics</a:t>
            </a:r>
          </a:p>
        </p:txBody>
      </p:sp>
      <p:sp>
        <p:nvSpPr>
          <p:cNvPr id="4099" name="Rectangle 3"/>
          <p:cNvSpPr>
            <a:spLocks noGrp="1" noChangeArrowheads="1"/>
          </p:cNvSpPr>
          <p:nvPr>
            <p:ph idx="1"/>
          </p:nvPr>
        </p:nvSpPr>
        <p:spPr/>
        <p:txBody>
          <a:bodyPr/>
          <a:lstStyle/>
          <a:p>
            <a:r>
              <a:rPr lang="en-GB" altLang="nl-NL" dirty="0" smtClean="0"/>
              <a:t>Lean Six Sigma metrics</a:t>
            </a:r>
          </a:p>
          <a:p>
            <a:pPr lvl="1">
              <a:buClrTx/>
            </a:pPr>
            <a:endParaRPr lang="en-GB" altLang="nl-NL" sz="1800" dirty="0" smtClean="0"/>
          </a:p>
          <a:p>
            <a:pPr marL="96838" lvl="1" indent="0">
              <a:buClrTx/>
              <a:buNone/>
            </a:pPr>
            <a:r>
              <a:rPr lang="en-GB" altLang="nl-NL" sz="1800" dirty="0" smtClean="0"/>
              <a:t>Metrics = Performance Indicator</a:t>
            </a:r>
          </a:p>
          <a:p>
            <a:pPr lvl="1">
              <a:buClrTx/>
            </a:pPr>
            <a:endParaRPr lang="en-GB" altLang="nl-NL" dirty="0" smtClean="0"/>
          </a:p>
          <a:p>
            <a:pPr marL="96838" lvl="1" indent="0">
              <a:buClrTx/>
              <a:buNone/>
            </a:pPr>
            <a:r>
              <a:rPr lang="en-GB" altLang="nl-NL" sz="1800" dirty="0" smtClean="0"/>
              <a:t>Lean &amp; Six Sigma both have their own performance metrics - each with a different focus:</a:t>
            </a:r>
          </a:p>
          <a:p>
            <a:pPr marL="180975" lvl="1" indent="0">
              <a:buClrTx/>
              <a:buNone/>
            </a:pPr>
            <a:endParaRPr lang="en-GB" altLang="nl-NL" dirty="0" smtClean="0"/>
          </a:p>
          <a:p>
            <a:pPr lvl="1">
              <a:buClrTx/>
            </a:pPr>
            <a:r>
              <a:rPr lang="en-GB" altLang="nl-NL" dirty="0" smtClean="0"/>
              <a:t>Lean metrics focus on effectiveness and (delivery) time</a:t>
            </a:r>
          </a:p>
          <a:p>
            <a:pPr lvl="1">
              <a:buClrTx/>
            </a:pPr>
            <a:endParaRPr lang="en-GB" altLang="nl-NL" dirty="0" smtClean="0"/>
          </a:p>
          <a:p>
            <a:pPr lvl="1">
              <a:buClrTx/>
            </a:pPr>
            <a:r>
              <a:rPr lang="en-GB" altLang="nl-NL" dirty="0" smtClean="0"/>
              <a:t>Six Sigma metrics focus on quality and capability</a:t>
            </a:r>
          </a:p>
          <a:p>
            <a:pPr lvl="1">
              <a:buClrTx/>
            </a:pPr>
            <a:endParaRPr lang="en-GB" altLang="nl-NL" dirty="0" smtClean="0"/>
          </a:p>
          <a:p>
            <a:pPr lvl="1">
              <a:buClrTx/>
            </a:pPr>
            <a:r>
              <a:rPr lang="en-GB" altLang="nl-NL" dirty="0" smtClean="0"/>
              <a:t>Both focus on costs </a:t>
            </a:r>
            <a:r>
              <a:rPr lang="en-GB" altLang="nl-NL" dirty="0" err="1" smtClean="0"/>
              <a:t>costs</a:t>
            </a:r>
            <a:r>
              <a:rPr lang="en-GB" altLang="nl-NL" dirty="0" smtClean="0"/>
              <a:t> (€) and efficiency (%)</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el 1"/>
          <p:cNvSpPr>
            <a:spLocks noGrp="1"/>
          </p:cNvSpPr>
          <p:nvPr>
            <p:ph type="title"/>
          </p:nvPr>
        </p:nvSpPr>
        <p:spPr/>
        <p:txBody>
          <a:bodyPr/>
          <a:lstStyle/>
          <a:p>
            <a:r>
              <a:rPr lang="en-US" altLang="nl-NL" smtClean="0"/>
              <a:t>Process Performance Metrics</a:t>
            </a:r>
          </a:p>
        </p:txBody>
      </p:sp>
      <p:sp>
        <p:nvSpPr>
          <p:cNvPr id="6147" name="Tijdelijke aanduiding voor inhoud 2"/>
          <p:cNvSpPr>
            <a:spLocks noGrp="1"/>
          </p:cNvSpPr>
          <p:nvPr>
            <p:ph idx="1"/>
          </p:nvPr>
        </p:nvSpPr>
        <p:spPr/>
        <p:txBody>
          <a:bodyPr/>
          <a:lstStyle/>
          <a:p>
            <a:r>
              <a:rPr lang="en-GB" altLang="nl-NL" dirty="0" err="1" smtClean="0"/>
              <a:t>Takt</a:t>
            </a:r>
            <a:r>
              <a:rPr lang="en-GB" altLang="nl-NL" dirty="0" smtClean="0"/>
              <a:t> time</a:t>
            </a:r>
          </a:p>
          <a:p>
            <a:pPr marL="180975" lvl="1" indent="0">
              <a:buNone/>
            </a:pPr>
            <a:endParaRPr lang="en-GB" altLang="nl-NL" dirty="0" smtClean="0"/>
          </a:p>
          <a:p>
            <a:pPr lvl="1">
              <a:buClrTx/>
            </a:pPr>
            <a:r>
              <a:rPr lang="en-GB" altLang="nl-NL" dirty="0" err="1" smtClean="0"/>
              <a:t>Takt</a:t>
            </a:r>
            <a:r>
              <a:rPr lang="en-GB" altLang="nl-NL" dirty="0" smtClean="0"/>
              <a:t> time: the average time between two consecutive customer procedures/ processes/ consultations</a:t>
            </a:r>
          </a:p>
          <a:p>
            <a:pPr lvl="1">
              <a:buClrTx/>
            </a:pPr>
            <a:endParaRPr lang="en-GB" altLang="nl-NL" dirty="0" smtClean="0"/>
          </a:p>
          <a:p>
            <a:pPr lvl="1">
              <a:buClrTx/>
            </a:pPr>
            <a:r>
              <a:rPr lang="en-GB" altLang="nl-NL" dirty="0" smtClean="0"/>
              <a:t>‘</a:t>
            </a:r>
            <a:r>
              <a:rPr lang="en-GB" altLang="nl-NL" dirty="0" err="1" smtClean="0"/>
              <a:t>Takt</a:t>
            </a:r>
            <a:r>
              <a:rPr lang="en-GB" altLang="nl-NL" dirty="0" smtClean="0"/>
              <a:t>’ is German and means the pace determined by the orchestra’s conductor</a:t>
            </a:r>
          </a:p>
          <a:p>
            <a:pPr lvl="1">
              <a:buClrTx/>
            </a:pPr>
            <a:endParaRPr lang="en-GB" altLang="nl-NL" dirty="0" smtClean="0"/>
          </a:p>
          <a:p>
            <a:pPr lvl="1">
              <a:buClrTx/>
            </a:pPr>
            <a:r>
              <a:rPr lang="en-GB" altLang="nl-NL" dirty="0" smtClean="0"/>
              <a:t>The customer’s demand determines the </a:t>
            </a:r>
            <a:r>
              <a:rPr lang="en-GB" altLang="nl-NL" dirty="0" err="1" smtClean="0"/>
              <a:t>Takt</a:t>
            </a:r>
            <a:r>
              <a:rPr lang="en-GB" altLang="nl-NL" dirty="0" smtClean="0"/>
              <a:t> time (not                                    the hospital/ clinic / general practitioner)</a:t>
            </a:r>
          </a:p>
        </p:txBody>
      </p:sp>
      <p:pic>
        <p:nvPicPr>
          <p:cNvPr id="6148" name="Picture 10" descr="is?312dHV9rBeXJTuGCWgsPcca0NVpUShN9a93e-4SyqmI">
            <a:hlinkClick r:id="rId3"/>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33073" y="4238625"/>
            <a:ext cx="251102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ext Box 11"/>
          <p:cNvSpPr txBox="1">
            <a:spLocks noChangeArrowheads="1"/>
          </p:cNvSpPr>
          <p:nvPr/>
        </p:nvSpPr>
        <p:spPr bwMode="auto">
          <a:xfrm>
            <a:off x="8461772" y="3629025"/>
            <a:ext cx="107433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nl-NL" sz="1600" i="1" dirty="0">
                <a:latin typeface="Arial" panose="020B0604020202020204" pitchFamily="34" charset="0"/>
                <a:cs typeface="Arial" panose="020B0604020202020204" pitchFamily="34" charset="0"/>
              </a:rPr>
              <a:t>Customer</a:t>
            </a:r>
          </a:p>
        </p:txBody>
      </p:sp>
      <p:sp>
        <p:nvSpPr>
          <p:cNvPr id="6150" name="AutoShape 12"/>
          <p:cNvSpPr>
            <a:spLocks noChangeArrowheads="1"/>
          </p:cNvSpPr>
          <p:nvPr/>
        </p:nvSpPr>
        <p:spPr bwMode="auto">
          <a:xfrm>
            <a:off x="8718947" y="4010025"/>
            <a:ext cx="257175" cy="381000"/>
          </a:xfrm>
          <a:prstGeom prst="downArrow">
            <a:avLst>
              <a:gd name="adj1" fmla="val 50000"/>
              <a:gd name="adj2" fmla="val 41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endParaRPr lang="en-US" altLang="nl-NL"/>
          </a:p>
        </p:txBody>
      </p:sp>
      <p:sp>
        <p:nvSpPr>
          <p:cNvPr id="6151" name="Rectangle 2"/>
          <p:cNvSpPr>
            <a:spLocks noChangeArrowheads="1"/>
          </p:cNvSpPr>
          <p:nvPr/>
        </p:nvSpPr>
        <p:spPr bwMode="auto">
          <a:xfrm>
            <a:off x="607220" y="5300663"/>
            <a:ext cx="6377583" cy="914400"/>
          </a:xfrm>
          <a:prstGeom prst="rect">
            <a:avLst/>
          </a:prstGeom>
          <a:solidFill>
            <a:srgbClr val="FEF6D6"/>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endParaRPr lang="en-US" altLang="nl-NL" sz="1600">
              <a:latin typeface="Arial" panose="020B0604020202020204" pitchFamily="34" charset="0"/>
              <a:cs typeface="Arial" panose="020B0604020202020204" pitchFamily="34" charset="0"/>
            </a:endParaRPr>
          </a:p>
        </p:txBody>
      </p:sp>
      <p:sp>
        <p:nvSpPr>
          <p:cNvPr id="6152" name="Text Box 4"/>
          <p:cNvSpPr txBox="1">
            <a:spLocks noChangeArrowheads="1"/>
          </p:cNvSpPr>
          <p:nvPr/>
        </p:nvSpPr>
        <p:spPr bwMode="auto">
          <a:xfrm>
            <a:off x="968321" y="5567363"/>
            <a:ext cx="12423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nl-NL" sz="1600">
                <a:latin typeface="Arial" panose="020B0604020202020204" pitchFamily="34" charset="0"/>
                <a:cs typeface="Arial" panose="020B0604020202020204" pitchFamily="34" charset="0"/>
              </a:rPr>
              <a:t>Takt time</a:t>
            </a:r>
            <a:r>
              <a:rPr lang="en-US" altLang="nl-NL" sz="1600">
                <a:latin typeface="Arial" panose="020B0604020202020204" pitchFamily="34" charset="0"/>
                <a:cs typeface="Arial" panose="020B0604020202020204" pitchFamily="34" charset="0"/>
              </a:rPr>
              <a:t> = </a:t>
            </a:r>
          </a:p>
        </p:txBody>
      </p:sp>
      <p:sp>
        <p:nvSpPr>
          <p:cNvPr id="6153" name="Tekstvak 11"/>
          <p:cNvSpPr txBox="1">
            <a:spLocks noChangeArrowheads="1"/>
          </p:cNvSpPr>
          <p:nvPr/>
        </p:nvSpPr>
        <p:spPr bwMode="auto">
          <a:xfrm>
            <a:off x="2744986" y="5383213"/>
            <a:ext cx="45862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nl-NL" sz="1600" dirty="0">
                <a:latin typeface="Arial" panose="020B0604020202020204" pitchFamily="34" charset="0"/>
                <a:cs typeface="Arial" panose="020B0604020202020204" pitchFamily="34" charset="0"/>
              </a:rPr>
              <a:t>Available production(process) time</a:t>
            </a:r>
            <a:endParaRPr lang="nl-NL" altLang="nl-NL" sz="1600" dirty="0">
              <a:latin typeface="Arial" panose="020B0604020202020204" pitchFamily="34" charset="0"/>
              <a:cs typeface="Arial" panose="020B0604020202020204" pitchFamily="34" charset="0"/>
            </a:endParaRPr>
          </a:p>
        </p:txBody>
      </p:sp>
      <p:sp>
        <p:nvSpPr>
          <p:cNvPr id="6154" name="Tekstvak 12"/>
          <p:cNvSpPr txBox="1">
            <a:spLocks noChangeArrowheads="1"/>
          </p:cNvSpPr>
          <p:nvPr/>
        </p:nvSpPr>
        <p:spPr bwMode="auto">
          <a:xfrm>
            <a:off x="2632473" y="5734050"/>
            <a:ext cx="469880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altLang="nl-NL" sz="1600">
                <a:latin typeface="Arial" panose="020B0604020202020204" pitchFamily="34" charset="0"/>
                <a:cs typeface="Arial" panose="020B0604020202020204" pitchFamily="34" charset="0"/>
              </a:rPr>
              <a:t>Required production (process)  volume</a:t>
            </a:r>
            <a:endParaRPr lang="nl-NL" altLang="nl-NL" sz="1600">
              <a:latin typeface="Arial" panose="020B0604020202020204" pitchFamily="34" charset="0"/>
              <a:cs typeface="Arial" panose="020B0604020202020204" pitchFamily="34" charset="0"/>
            </a:endParaRPr>
          </a:p>
        </p:txBody>
      </p:sp>
      <p:sp>
        <p:nvSpPr>
          <p:cNvPr id="6155" name="Line 5"/>
          <p:cNvSpPr>
            <a:spLocks noChangeShapeType="1"/>
          </p:cNvSpPr>
          <p:nvPr/>
        </p:nvSpPr>
        <p:spPr bwMode="auto">
          <a:xfrm flipH="1">
            <a:off x="2328862" y="5737225"/>
            <a:ext cx="40719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nl-NL"/>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GB" altLang="nl-NL" dirty="0" smtClean="0"/>
              <a:t>Process Performance Metrics</a:t>
            </a:r>
          </a:p>
        </p:txBody>
      </p:sp>
      <p:sp>
        <p:nvSpPr>
          <p:cNvPr id="7171" name="Rectangle 3"/>
          <p:cNvSpPr>
            <a:spLocks noGrp="1" noChangeArrowheads="1"/>
          </p:cNvSpPr>
          <p:nvPr>
            <p:ph idx="1"/>
          </p:nvPr>
        </p:nvSpPr>
        <p:spPr/>
        <p:txBody>
          <a:bodyPr/>
          <a:lstStyle/>
          <a:p>
            <a:r>
              <a:rPr lang="en-GB" altLang="nl-NL" dirty="0" smtClean="0"/>
              <a:t>Example </a:t>
            </a:r>
            <a:r>
              <a:rPr lang="en-GB" altLang="nl-NL" dirty="0" err="1" smtClean="0"/>
              <a:t>Takt</a:t>
            </a:r>
            <a:r>
              <a:rPr lang="en-GB" altLang="nl-NL" dirty="0" smtClean="0"/>
              <a:t> time in elderly home</a:t>
            </a:r>
          </a:p>
          <a:p>
            <a:pPr lvl="1"/>
            <a:endParaRPr lang="en-GB" altLang="nl-NL" dirty="0" smtClean="0"/>
          </a:p>
          <a:p>
            <a:pPr marL="96838" indent="0"/>
            <a:r>
              <a:rPr lang="en-GB" altLang="nl-NL" sz="1800" dirty="0" smtClean="0"/>
              <a:t>Customer demand: 200 meals to be served at all private rooms between 17.00 and 19.00 every day</a:t>
            </a:r>
          </a:p>
          <a:p>
            <a:pPr lvl="1"/>
            <a:endParaRPr lang="en-GB" altLang="nl-NL" dirty="0" smtClean="0"/>
          </a:p>
          <a:p>
            <a:pPr indent="-246063"/>
            <a:r>
              <a:rPr lang="en-GB" altLang="nl-NL" sz="1800" dirty="0" smtClean="0"/>
              <a:t>Available production (process) time: </a:t>
            </a:r>
          </a:p>
          <a:p>
            <a:pPr lvl="1">
              <a:buClrTx/>
            </a:pPr>
            <a:r>
              <a:rPr lang="en-GB" altLang="nl-NL" dirty="0" smtClean="0"/>
              <a:t>2 hours per day</a:t>
            </a:r>
          </a:p>
          <a:p>
            <a:pPr lvl="1">
              <a:buClrTx/>
            </a:pPr>
            <a:r>
              <a:rPr lang="en-GB" altLang="nl-NL" dirty="0" smtClean="0"/>
              <a:t>3 delivery employees</a:t>
            </a:r>
          </a:p>
          <a:p>
            <a:pPr lvl="1"/>
            <a:endParaRPr lang="en-GB" altLang="nl-NL" dirty="0" smtClean="0"/>
          </a:p>
          <a:p>
            <a:pPr lvl="2"/>
            <a:endParaRPr lang="en-GB" altLang="nl-NL" dirty="0" smtClean="0"/>
          </a:p>
        </p:txBody>
      </p:sp>
      <p:sp>
        <p:nvSpPr>
          <p:cNvPr id="7172" name="Line 5"/>
          <p:cNvSpPr>
            <a:spLocks noChangeShapeType="1"/>
          </p:cNvSpPr>
          <p:nvPr/>
        </p:nvSpPr>
        <p:spPr bwMode="auto">
          <a:xfrm flipH="1">
            <a:off x="2696765" y="6061075"/>
            <a:ext cx="40719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7173" name="Rectangle 7"/>
          <p:cNvSpPr>
            <a:spLocks noChangeArrowheads="1"/>
          </p:cNvSpPr>
          <p:nvPr/>
        </p:nvSpPr>
        <p:spPr bwMode="auto">
          <a:xfrm>
            <a:off x="769740" y="5430366"/>
            <a:ext cx="9396318" cy="914400"/>
          </a:xfrm>
          <a:prstGeom prst="rect">
            <a:avLst/>
          </a:prstGeom>
          <a:solidFill>
            <a:srgbClr val="FEF6D6"/>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endParaRPr lang="en-GB" altLang="nl-NL" dirty="0"/>
          </a:p>
        </p:txBody>
      </p:sp>
      <p:grpSp>
        <p:nvGrpSpPr>
          <p:cNvPr id="2" name="Group 8"/>
          <p:cNvGrpSpPr>
            <a:grpSpLocks/>
          </p:cNvGrpSpPr>
          <p:nvPr/>
        </p:nvGrpSpPr>
        <p:grpSpPr bwMode="auto">
          <a:xfrm>
            <a:off x="2146697" y="5401148"/>
            <a:ext cx="8078625" cy="988243"/>
            <a:chOff x="2486" y="2742"/>
            <a:chExt cx="4215" cy="460"/>
          </a:xfrm>
        </p:grpSpPr>
        <p:sp>
          <p:nvSpPr>
            <p:cNvPr id="7182" name="Rectangle 9"/>
            <p:cNvSpPr>
              <a:spLocks noChangeArrowheads="1"/>
            </p:cNvSpPr>
            <p:nvPr/>
          </p:nvSpPr>
          <p:spPr bwMode="auto">
            <a:xfrm>
              <a:off x="2486" y="2756"/>
              <a:ext cx="3091"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488" tIns="44450" rIns="90488" bIns="44450"/>
            <a:lstStyle>
              <a:lvl1pPr marL="533400" indent="-533400"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GB" altLang="nl-NL" sz="1600" dirty="0" smtClean="0">
                  <a:latin typeface="Arial" panose="020B0604020202020204" pitchFamily="34" charset="0"/>
                  <a:cs typeface="Arial" panose="020B0604020202020204" pitchFamily="34" charset="0"/>
                </a:rPr>
                <a:t>        3 x (2 hours)	        	       360 (minutes/day)</a:t>
              </a:r>
            </a:p>
            <a:p>
              <a:pPr eaLnBrk="1" hangingPunct="1"/>
              <a:r>
                <a:rPr lang="en-GB" altLang="nl-NL" sz="1600" dirty="0" smtClean="0">
                  <a:latin typeface="Arial" panose="020B0604020202020204" pitchFamily="34" charset="0"/>
                  <a:cs typeface="Arial" panose="020B0604020202020204" pitchFamily="34" charset="0"/>
                </a:rPr>
                <a:t>				= </a:t>
              </a:r>
            </a:p>
            <a:p>
              <a:pPr eaLnBrk="1" hangingPunct="1"/>
              <a:r>
                <a:rPr lang="en-GB" altLang="nl-NL" sz="1600" dirty="0" smtClean="0">
                  <a:latin typeface="Arial" panose="020B0604020202020204" pitchFamily="34" charset="0"/>
                  <a:cs typeface="Arial" panose="020B0604020202020204" pitchFamily="34" charset="0"/>
                </a:rPr>
                <a:t>  (200 meals per 2 hours per day)</a:t>
              </a:r>
              <a:r>
                <a:rPr lang="en-GB" altLang="nl-NL" sz="1600" dirty="0" smtClean="0">
                  <a:solidFill>
                    <a:prstClr val="black"/>
                  </a:solidFill>
                  <a:latin typeface="Arial" panose="020B0604020202020204" pitchFamily="34" charset="0"/>
                  <a:cs typeface="Arial" panose="020B0604020202020204" pitchFamily="34" charset="0"/>
                </a:rPr>
                <a:t> </a:t>
              </a:r>
              <a:r>
                <a:rPr lang="en-GB" altLang="nl-NL" sz="1600" dirty="0" smtClean="0">
                  <a:latin typeface="Arial" panose="020B0604020202020204" pitchFamily="34" charset="0"/>
                  <a:cs typeface="Arial" panose="020B0604020202020204" pitchFamily="34" charset="0"/>
                </a:rPr>
                <a:t>  200 (meals/ day)</a:t>
              </a:r>
              <a:endParaRPr lang="en-GB" altLang="nl-NL" sz="1600" dirty="0">
                <a:latin typeface="Arial" panose="020B0604020202020204" pitchFamily="34" charset="0"/>
                <a:cs typeface="Arial" panose="020B0604020202020204" pitchFamily="34" charset="0"/>
              </a:endParaRPr>
            </a:p>
          </p:txBody>
        </p:sp>
        <p:sp>
          <p:nvSpPr>
            <p:cNvPr id="7183" name="Text Box 10"/>
            <p:cNvSpPr txBox="1">
              <a:spLocks noChangeArrowheads="1"/>
            </p:cNvSpPr>
            <p:nvPr/>
          </p:nvSpPr>
          <p:spPr bwMode="auto">
            <a:xfrm>
              <a:off x="4453" y="2742"/>
              <a:ext cx="2248"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GB" altLang="nl-NL" sz="1600" dirty="0" smtClean="0">
                  <a:latin typeface="Arial" panose="020B0604020202020204" pitchFamily="34" charset="0"/>
                  <a:cs typeface="Arial" panose="020B0604020202020204" pitchFamily="34" charset="0"/>
                </a:rPr>
                <a:t> 			  </a:t>
              </a:r>
            </a:p>
            <a:p>
              <a:pPr eaLnBrk="1" hangingPunct="1"/>
              <a:r>
                <a:rPr lang="en-GB" altLang="nl-NL" sz="1600" dirty="0" smtClean="0">
                  <a:latin typeface="Arial" panose="020B0604020202020204" pitchFamily="34" charset="0"/>
                  <a:cs typeface="Arial" panose="020B0604020202020204" pitchFamily="34" charset="0"/>
                </a:rPr>
                <a:t>		=  1,8 min/meal 	                 	                                                       </a:t>
              </a:r>
              <a:endParaRPr lang="en-GB" altLang="nl-NL" sz="1600" dirty="0">
                <a:latin typeface="Arial" panose="020B0604020202020204" pitchFamily="34" charset="0"/>
                <a:cs typeface="Arial" panose="020B0604020202020204" pitchFamily="34" charset="0"/>
              </a:endParaRPr>
            </a:p>
          </p:txBody>
        </p:sp>
      </p:grpSp>
      <p:sp>
        <p:nvSpPr>
          <p:cNvPr id="7175" name="Line 11"/>
          <p:cNvSpPr>
            <a:spLocks noChangeShapeType="1"/>
          </p:cNvSpPr>
          <p:nvPr/>
        </p:nvSpPr>
        <p:spPr bwMode="auto">
          <a:xfrm flipH="1" flipV="1">
            <a:off x="2494955" y="5805264"/>
            <a:ext cx="24860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latin typeface="Arial" panose="020B0604020202020204" pitchFamily="34" charset="0"/>
              <a:cs typeface="Arial" panose="020B0604020202020204" pitchFamily="34" charset="0"/>
            </a:endParaRPr>
          </a:p>
        </p:txBody>
      </p:sp>
      <p:sp>
        <p:nvSpPr>
          <p:cNvPr id="7176" name="Line 12"/>
          <p:cNvSpPr>
            <a:spLocks noChangeShapeType="1"/>
          </p:cNvSpPr>
          <p:nvPr/>
        </p:nvSpPr>
        <p:spPr bwMode="auto">
          <a:xfrm flipH="1" flipV="1">
            <a:off x="5759397" y="5805264"/>
            <a:ext cx="2057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dirty="0"/>
          </a:p>
        </p:txBody>
      </p:sp>
      <p:sp>
        <p:nvSpPr>
          <p:cNvPr id="7177" name="Text Box 4"/>
          <p:cNvSpPr txBox="1">
            <a:spLocks noChangeArrowheads="1"/>
          </p:cNvSpPr>
          <p:nvPr/>
        </p:nvSpPr>
        <p:spPr bwMode="auto">
          <a:xfrm>
            <a:off x="1118340" y="5614516"/>
            <a:ext cx="12423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nl-NL" sz="1600" dirty="0" err="1" smtClean="0">
                <a:latin typeface="Arial" panose="020B0604020202020204" pitchFamily="34" charset="0"/>
                <a:cs typeface="Arial" panose="020B0604020202020204" pitchFamily="34" charset="0"/>
              </a:rPr>
              <a:t>Takt</a:t>
            </a:r>
            <a:r>
              <a:rPr lang="en-GB" altLang="nl-NL" sz="1600" dirty="0" smtClean="0">
                <a:latin typeface="Arial" panose="020B0604020202020204" pitchFamily="34" charset="0"/>
                <a:cs typeface="Arial" panose="020B0604020202020204" pitchFamily="34" charset="0"/>
              </a:rPr>
              <a:t> time = </a:t>
            </a:r>
            <a:endParaRPr lang="en-GB" altLang="nl-NL" sz="1600" dirty="0">
              <a:latin typeface="Arial" panose="020B0604020202020204" pitchFamily="34" charset="0"/>
              <a:cs typeface="Arial" panose="020B0604020202020204" pitchFamily="34" charset="0"/>
            </a:endParaRPr>
          </a:p>
        </p:txBody>
      </p:sp>
      <p:sp>
        <p:nvSpPr>
          <p:cNvPr id="18" name="Rectangle 2"/>
          <p:cNvSpPr>
            <a:spLocks noChangeArrowheads="1"/>
          </p:cNvSpPr>
          <p:nvPr/>
        </p:nvSpPr>
        <p:spPr bwMode="auto">
          <a:xfrm>
            <a:off x="769015" y="4293096"/>
            <a:ext cx="6377583" cy="914400"/>
          </a:xfrm>
          <a:prstGeom prst="rect">
            <a:avLst/>
          </a:prstGeom>
          <a:solidFill>
            <a:srgbClr val="FEF6D6"/>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endParaRPr lang="en-GB" altLang="nl-NL" dirty="0"/>
          </a:p>
        </p:txBody>
      </p:sp>
      <p:sp>
        <p:nvSpPr>
          <p:cNvPr id="19" name="Text Box 4"/>
          <p:cNvSpPr txBox="1">
            <a:spLocks noChangeArrowheads="1"/>
          </p:cNvSpPr>
          <p:nvPr/>
        </p:nvSpPr>
        <p:spPr bwMode="auto">
          <a:xfrm>
            <a:off x="1130116" y="4559796"/>
            <a:ext cx="12423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nl-NL" sz="1600" dirty="0" smtClean="0">
                <a:latin typeface="Arial" panose="020B0604020202020204" pitchFamily="34" charset="0"/>
                <a:cs typeface="Arial" panose="020B0604020202020204" pitchFamily="34" charset="0"/>
              </a:rPr>
              <a:t>Takt time = </a:t>
            </a:r>
            <a:endParaRPr lang="en-GB" altLang="nl-NL" sz="1600" dirty="0">
              <a:latin typeface="Arial" panose="020B0604020202020204" pitchFamily="34" charset="0"/>
              <a:cs typeface="Arial" panose="020B0604020202020204" pitchFamily="34" charset="0"/>
            </a:endParaRPr>
          </a:p>
        </p:txBody>
      </p:sp>
      <p:sp>
        <p:nvSpPr>
          <p:cNvPr id="20" name="Tekstvak 11"/>
          <p:cNvSpPr txBox="1">
            <a:spLocks noChangeArrowheads="1"/>
          </p:cNvSpPr>
          <p:nvPr/>
        </p:nvSpPr>
        <p:spPr bwMode="auto">
          <a:xfrm>
            <a:off x="2906782" y="4375646"/>
            <a:ext cx="45862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GB" altLang="nl-NL" sz="1600" dirty="0" smtClean="0">
                <a:latin typeface="Arial" panose="020B0604020202020204" pitchFamily="34" charset="0"/>
                <a:cs typeface="Arial" panose="020B0604020202020204" pitchFamily="34" charset="0"/>
              </a:rPr>
              <a:t>Available production(process) time</a:t>
            </a:r>
            <a:endParaRPr lang="en-GB" altLang="nl-NL" sz="1600" dirty="0">
              <a:latin typeface="Arial" panose="020B0604020202020204" pitchFamily="34" charset="0"/>
              <a:cs typeface="Arial" panose="020B0604020202020204" pitchFamily="34" charset="0"/>
            </a:endParaRPr>
          </a:p>
        </p:txBody>
      </p:sp>
      <p:sp>
        <p:nvSpPr>
          <p:cNvPr id="21" name="Tekstvak 12"/>
          <p:cNvSpPr txBox="1">
            <a:spLocks noChangeArrowheads="1"/>
          </p:cNvSpPr>
          <p:nvPr/>
        </p:nvSpPr>
        <p:spPr bwMode="auto">
          <a:xfrm>
            <a:off x="2794268" y="4726483"/>
            <a:ext cx="469880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GB" altLang="nl-NL" sz="1600" dirty="0" smtClean="0">
                <a:latin typeface="Arial" panose="020B0604020202020204" pitchFamily="34" charset="0"/>
                <a:cs typeface="Arial" panose="020B0604020202020204" pitchFamily="34" charset="0"/>
              </a:rPr>
              <a:t>Required production (process)  volume</a:t>
            </a:r>
            <a:endParaRPr lang="en-GB" altLang="nl-NL" sz="1600" dirty="0">
              <a:latin typeface="Arial" panose="020B0604020202020204" pitchFamily="34" charset="0"/>
              <a:cs typeface="Arial" panose="020B0604020202020204" pitchFamily="34" charset="0"/>
            </a:endParaRPr>
          </a:p>
        </p:txBody>
      </p:sp>
      <p:sp>
        <p:nvSpPr>
          <p:cNvPr id="22" name="Line 5"/>
          <p:cNvSpPr>
            <a:spLocks noChangeShapeType="1"/>
          </p:cNvSpPr>
          <p:nvPr/>
        </p:nvSpPr>
        <p:spPr bwMode="auto">
          <a:xfrm flipH="1">
            <a:off x="2490658" y="4729658"/>
            <a:ext cx="407193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sz="16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el 1"/>
          <p:cNvSpPr>
            <a:spLocks noGrp="1"/>
          </p:cNvSpPr>
          <p:nvPr>
            <p:ph type="title"/>
          </p:nvPr>
        </p:nvSpPr>
        <p:spPr/>
        <p:txBody>
          <a:bodyPr/>
          <a:lstStyle/>
          <a:p>
            <a:r>
              <a:rPr lang="en-US" altLang="nl-NL" smtClean="0"/>
              <a:t>Process Performance Metrics</a:t>
            </a:r>
          </a:p>
        </p:txBody>
      </p:sp>
      <p:sp>
        <p:nvSpPr>
          <p:cNvPr id="8195" name="Tijdelijke aanduiding voor inhoud 17"/>
          <p:cNvSpPr>
            <a:spLocks noGrp="1"/>
          </p:cNvSpPr>
          <p:nvPr>
            <p:ph idx="1"/>
          </p:nvPr>
        </p:nvSpPr>
        <p:spPr/>
        <p:txBody>
          <a:bodyPr/>
          <a:lstStyle/>
          <a:p>
            <a:r>
              <a:rPr lang="en-US" altLang="nl-NL" dirty="0" smtClean="0"/>
              <a:t>Cycle time (C/T) &amp; Lead time (L/T)</a:t>
            </a:r>
          </a:p>
          <a:p>
            <a:pPr lvl="1"/>
            <a:endParaRPr lang="nl-NL" altLang="nl-NL" dirty="0" smtClean="0"/>
          </a:p>
          <a:p>
            <a:pPr indent="-246063"/>
            <a:r>
              <a:rPr lang="en-US" altLang="nl-NL" sz="1800" dirty="0" smtClean="0"/>
              <a:t>Cycle time</a:t>
            </a:r>
          </a:p>
          <a:p>
            <a:pPr lvl="1">
              <a:buClrTx/>
            </a:pPr>
            <a:r>
              <a:rPr lang="en-US" altLang="nl-NL" b="0" dirty="0" smtClean="0"/>
              <a:t>The time between the completion of 2 successive procedures/ processes/ tasks by observation</a:t>
            </a:r>
          </a:p>
          <a:p>
            <a:pPr lvl="1">
              <a:buClrTx/>
            </a:pPr>
            <a:r>
              <a:rPr lang="en-US" altLang="nl-NL" b="0" dirty="0" smtClean="0"/>
              <a:t>The time it takes personnel to go through all of the work elements before repeating them</a:t>
            </a:r>
          </a:p>
          <a:p>
            <a:pPr lvl="1">
              <a:buClrTx/>
            </a:pPr>
            <a:endParaRPr lang="en-US" altLang="nl-NL" dirty="0" smtClean="0"/>
          </a:p>
          <a:p>
            <a:pPr indent="-246063"/>
            <a:r>
              <a:rPr lang="en-US" altLang="nl-NL" sz="1800" dirty="0" smtClean="0"/>
              <a:t>Lead time</a:t>
            </a:r>
          </a:p>
          <a:p>
            <a:pPr lvl="1">
              <a:buClrTx/>
            </a:pPr>
            <a:r>
              <a:rPr lang="en-US" altLang="nl-NL" b="0" dirty="0" smtClean="0"/>
              <a:t>Time needed for ONE part to pass the complete process/ value stream, from start to finish</a:t>
            </a:r>
            <a:r>
              <a:rPr lang="nl-NL" altLang="nl-NL" b="0" dirty="0" smtClean="0"/>
              <a:t> </a:t>
            </a:r>
          </a:p>
          <a:p>
            <a:pPr lvl="1">
              <a:buClrTx/>
            </a:pPr>
            <a:r>
              <a:rPr lang="en-US" altLang="nl-NL" b="0" dirty="0" smtClean="0"/>
              <a:t>Example: a nurse can take a patient for a blood sample in runs over a day every 10 minutes, but the actual (value adding) process (taking the blood) takes only 30 seconds:</a:t>
            </a:r>
            <a:endParaRPr lang="nl-NL" altLang="nl-NL" b="0" dirty="0" smtClean="0"/>
          </a:p>
          <a:p>
            <a:pPr lvl="1"/>
            <a:endParaRPr lang="nl-NL" altLang="nl-NL" dirty="0" smtClean="0"/>
          </a:p>
        </p:txBody>
      </p:sp>
      <p:sp>
        <p:nvSpPr>
          <p:cNvPr id="4" name="Tekstvak 3"/>
          <p:cNvSpPr txBox="1"/>
          <p:nvPr/>
        </p:nvSpPr>
        <p:spPr>
          <a:xfrm>
            <a:off x="2875248" y="5661248"/>
            <a:ext cx="5751639" cy="830997"/>
          </a:xfrm>
          <a:prstGeom prst="rect">
            <a:avLst/>
          </a:prstGeom>
          <a:noFill/>
        </p:spPr>
        <p:txBody>
          <a:bodyPr wrap="square" rtlCol="0">
            <a:spAutoFit/>
          </a:bodyPr>
          <a:lstStyle/>
          <a:p>
            <a:r>
              <a:rPr lang="nl-NL" sz="1600" b="1" dirty="0" smtClean="0">
                <a:solidFill>
                  <a:srgbClr val="00B050"/>
                </a:solidFill>
                <a:latin typeface="Arial" panose="020B0604020202020204" pitchFamily="34" charset="0"/>
                <a:cs typeface="Arial" panose="020B0604020202020204" pitchFamily="34" charset="0"/>
              </a:rPr>
              <a:t>Value Added Time 		= 30 s</a:t>
            </a:r>
          </a:p>
          <a:p>
            <a:r>
              <a:rPr lang="nl-NL" sz="1600" b="1" dirty="0" smtClean="0">
                <a:solidFill>
                  <a:srgbClr val="FF0000"/>
                </a:solidFill>
                <a:latin typeface="Arial" panose="020B0604020202020204" pitchFamily="34" charset="0"/>
                <a:cs typeface="Arial" panose="020B0604020202020204" pitchFamily="34" charset="0"/>
              </a:rPr>
              <a:t>NON Value </a:t>
            </a:r>
            <a:r>
              <a:rPr lang="nl-NL" sz="1600" b="1" dirty="0" err="1" smtClean="0">
                <a:solidFill>
                  <a:srgbClr val="FF0000"/>
                </a:solidFill>
                <a:latin typeface="Arial" panose="020B0604020202020204" pitchFamily="34" charset="0"/>
                <a:cs typeface="Arial" panose="020B0604020202020204" pitchFamily="34" charset="0"/>
              </a:rPr>
              <a:t>Added</a:t>
            </a:r>
            <a:r>
              <a:rPr lang="nl-NL" sz="1600" b="1" dirty="0" smtClean="0">
                <a:solidFill>
                  <a:srgbClr val="FF0000"/>
                </a:solidFill>
                <a:latin typeface="Arial" panose="020B0604020202020204" pitchFamily="34" charset="0"/>
                <a:cs typeface="Arial" panose="020B0604020202020204" pitchFamily="34" charset="0"/>
              </a:rPr>
              <a:t> Time 	= 9 min 30 s</a:t>
            </a:r>
          </a:p>
          <a:p>
            <a:r>
              <a:rPr lang="nl-NL" sz="1600" b="1" dirty="0" smtClean="0">
                <a:latin typeface="Arial" panose="020B0604020202020204" pitchFamily="34" charset="0"/>
                <a:cs typeface="Arial" panose="020B0604020202020204" pitchFamily="34" charset="0"/>
              </a:rPr>
              <a:t>Lead Time		= 10 minutes</a:t>
            </a:r>
            <a:endParaRPr lang="nl-NL" sz="1600" b="1"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el 1"/>
          <p:cNvSpPr>
            <a:spLocks noGrp="1"/>
          </p:cNvSpPr>
          <p:nvPr>
            <p:ph type="title"/>
          </p:nvPr>
        </p:nvSpPr>
        <p:spPr/>
        <p:txBody>
          <a:bodyPr/>
          <a:lstStyle/>
          <a:p>
            <a:pPr eaLnBrk="1" hangingPunct="1"/>
            <a:r>
              <a:rPr lang="en-US" smtClean="0">
                <a:latin typeface="Arial" charset="0"/>
                <a:cs typeface="Arial" charset="0"/>
              </a:rPr>
              <a:t>Process Performance Metrics</a:t>
            </a:r>
            <a:endParaRPr sz="2400" smtClean="0">
              <a:latin typeface="Arial" charset="0"/>
              <a:cs typeface="Arial" charset="0"/>
            </a:endParaRPr>
          </a:p>
        </p:txBody>
      </p:sp>
      <p:sp>
        <p:nvSpPr>
          <p:cNvPr id="11267" name="Tijdelijke aanduiding voor inhoud 17"/>
          <p:cNvSpPr>
            <a:spLocks noGrp="1"/>
          </p:cNvSpPr>
          <p:nvPr>
            <p:ph idx="1"/>
          </p:nvPr>
        </p:nvSpPr>
        <p:spPr/>
        <p:txBody>
          <a:bodyPr/>
          <a:lstStyle/>
          <a:p>
            <a:r>
              <a:rPr lang="en-US" altLang="nl-NL" dirty="0"/>
              <a:t>Cycle </a:t>
            </a:r>
            <a:r>
              <a:rPr lang="en-US" altLang="nl-NL" dirty="0" smtClean="0"/>
              <a:t>time </a:t>
            </a:r>
            <a:r>
              <a:rPr lang="en-US" altLang="nl-NL" dirty="0"/>
              <a:t>(C/T) &amp; Lead t</a:t>
            </a:r>
            <a:r>
              <a:rPr lang="en-US" altLang="nl-NL" dirty="0" smtClean="0"/>
              <a:t>ime </a:t>
            </a:r>
            <a:r>
              <a:rPr lang="en-US" altLang="nl-NL" dirty="0"/>
              <a:t>(L/T)</a:t>
            </a:r>
          </a:p>
          <a:p>
            <a:pPr lvl="1" eaLnBrk="1" hangingPunct="1">
              <a:defRPr/>
            </a:pPr>
            <a:endParaRPr lang="nl-NL" dirty="0" smtClean="0">
              <a:latin typeface="Arial" charset="0"/>
              <a:cs typeface="Arial" charset="0"/>
            </a:endParaRPr>
          </a:p>
        </p:txBody>
      </p:sp>
      <p:grpSp>
        <p:nvGrpSpPr>
          <p:cNvPr id="2" name="Groep 1"/>
          <p:cNvGrpSpPr/>
          <p:nvPr/>
        </p:nvGrpSpPr>
        <p:grpSpPr>
          <a:xfrm>
            <a:off x="121863" y="1732454"/>
            <a:ext cx="9882959" cy="2281237"/>
            <a:chOff x="107628" y="4275138"/>
            <a:chExt cx="8784852" cy="2281237"/>
          </a:xfrm>
        </p:grpSpPr>
        <p:sp>
          <p:nvSpPr>
            <p:cNvPr id="19" name="PIJL-RECHTS 18"/>
            <p:cNvSpPr/>
            <p:nvPr/>
          </p:nvSpPr>
          <p:spPr>
            <a:xfrm>
              <a:off x="107628" y="5726113"/>
              <a:ext cx="8784852" cy="4397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pic>
          <p:nvPicPr>
            <p:cNvPr id="2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l="11475" t="10855" r="10748" b="7161"/>
            <a:stretch>
              <a:fillRect/>
            </a:stretch>
          </p:blipFill>
          <p:spPr bwMode="auto">
            <a:xfrm>
              <a:off x="218505" y="5583238"/>
              <a:ext cx="6080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l="11475" t="10855" r="10748" b="7161"/>
            <a:stretch>
              <a:fillRect/>
            </a:stretch>
          </p:blipFill>
          <p:spPr bwMode="auto">
            <a:xfrm>
              <a:off x="6876256" y="5583238"/>
              <a:ext cx="609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38" descr="http://www.logicwebdesign.nl/images/Computer_Carto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4642" y="5199063"/>
              <a:ext cx="1246188"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38" descr="http://www.logicwebdesign.nl/images/Computer_Carto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82280" y="5157788"/>
              <a:ext cx="12461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38" descr="http://www.logicwebdesign.nl/images/Computer_Carto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01505" y="5157788"/>
              <a:ext cx="12461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38" descr="http://www.logicwebdesign.nl/images/Computer_Carto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1367" y="5157788"/>
              <a:ext cx="1246188"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Line 13"/>
            <p:cNvSpPr>
              <a:spLocks noChangeShapeType="1"/>
            </p:cNvSpPr>
            <p:nvPr/>
          </p:nvSpPr>
          <p:spPr bwMode="auto">
            <a:xfrm>
              <a:off x="8460432" y="4556126"/>
              <a:ext cx="0" cy="1169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l-NL"/>
            </a:p>
          </p:txBody>
        </p:sp>
        <p:sp>
          <p:nvSpPr>
            <p:cNvPr id="27" name="Line 14"/>
            <p:cNvSpPr>
              <a:spLocks noChangeShapeType="1"/>
            </p:cNvSpPr>
            <p:nvPr/>
          </p:nvSpPr>
          <p:spPr bwMode="auto">
            <a:xfrm>
              <a:off x="7485856" y="4556126"/>
              <a:ext cx="0" cy="12247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l-NL"/>
            </a:p>
          </p:txBody>
        </p:sp>
        <p:sp>
          <p:nvSpPr>
            <p:cNvPr id="28" name="Line 15"/>
            <p:cNvSpPr>
              <a:spLocks noChangeShapeType="1"/>
            </p:cNvSpPr>
            <p:nvPr/>
          </p:nvSpPr>
          <p:spPr bwMode="auto">
            <a:xfrm>
              <a:off x="7485856" y="4690269"/>
              <a:ext cx="974576"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nl-NL"/>
            </a:p>
          </p:txBody>
        </p:sp>
        <p:sp>
          <p:nvSpPr>
            <p:cNvPr id="29" name="Text Box 16"/>
            <p:cNvSpPr txBox="1">
              <a:spLocks noChangeArrowheads="1"/>
            </p:cNvSpPr>
            <p:nvPr/>
          </p:nvSpPr>
          <p:spPr bwMode="auto">
            <a:xfrm>
              <a:off x="7255644" y="4275138"/>
              <a:ext cx="13488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600" dirty="0" smtClean="0"/>
                <a:t>Cycle time</a:t>
              </a:r>
              <a:endParaRPr lang="en-US" sz="1600" dirty="0"/>
            </a:p>
          </p:txBody>
        </p:sp>
        <p:pic>
          <p:nvPicPr>
            <p:cNvPr id="33"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l="11475" t="10855" r="10748" b="7161"/>
            <a:stretch>
              <a:fillRect/>
            </a:stretch>
          </p:blipFill>
          <p:spPr bwMode="auto">
            <a:xfrm>
              <a:off x="7850832" y="5625306"/>
              <a:ext cx="609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ep 34"/>
          <p:cNvGrpSpPr/>
          <p:nvPr/>
        </p:nvGrpSpPr>
        <p:grpSpPr>
          <a:xfrm>
            <a:off x="282178" y="4403773"/>
            <a:ext cx="9834113" cy="2152602"/>
            <a:chOff x="250825" y="4403773"/>
            <a:chExt cx="8741434" cy="2152602"/>
          </a:xfrm>
        </p:grpSpPr>
        <p:sp>
          <p:nvSpPr>
            <p:cNvPr id="36" name="PIJL-RECHTS 35"/>
            <p:cNvSpPr/>
            <p:nvPr/>
          </p:nvSpPr>
          <p:spPr>
            <a:xfrm>
              <a:off x="323850" y="5726113"/>
              <a:ext cx="8569325" cy="4397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pic>
          <p:nvPicPr>
            <p:cNvPr id="37"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l="11475" t="10855" r="10748" b="7161"/>
            <a:stretch>
              <a:fillRect/>
            </a:stretch>
          </p:blipFill>
          <p:spPr bwMode="auto">
            <a:xfrm>
              <a:off x="506413" y="5583238"/>
              <a:ext cx="609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l="11475" t="10855" r="10748" b="7161"/>
            <a:stretch>
              <a:fillRect/>
            </a:stretch>
          </p:blipFill>
          <p:spPr bwMode="auto">
            <a:xfrm>
              <a:off x="7854950" y="5583238"/>
              <a:ext cx="609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38" descr="http://www.logicwebdesign.nl/images/Computer_Carto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73275" y="5199063"/>
              <a:ext cx="1246188"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38" descr="http://www.logicwebdesign.nl/images/Computer_Carto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90913" y="5157788"/>
              <a:ext cx="12461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38" descr="http://www.logicwebdesign.nl/images/Computer_Carto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10138" y="5157788"/>
              <a:ext cx="12461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38" descr="http://www.logicwebdesign.nl/images/Computer_Carto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50000" y="5157788"/>
              <a:ext cx="1246188"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Line 13"/>
            <p:cNvSpPr>
              <a:spLocks noChangeShapeType="1"/>
            </p:cNvSpPr>
            <p:nvPr/>
          </p:nvSpPr>
          <p:spPr bwMode="auto">
            <a:xfrm>
              <a:off x="8243888" y="4840288"/>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l-NL"/>
            </a:p>
          </p:txBody>
        </p:sp>
        <p:sp>
          <p:nvSpPr>
            <p:cNvPr id="44" name="Line 14"/>
            <p:cNvSpPr>
              <a:spLocks noChangeShapeType="1"/>
            </p:cNvSpPr>
            <p:nvPr/>
          </p:nvSpPr>
          <p:spPr bwMode="auto">
            <a:xfrm>
              <a:off x="858838" y="4840288"/>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nl-NL"/>
            </a:p>
          </p:txBody>
        </p:sp>
        <p:sp>
          <p:nvSpPr>
            <p:cNvPr id="45" name="Line 15"/>
            <p:cNvSpPr>
              <a:spLocks noChangeShapeType="1"/>
            </p:cNvSpPr>
            <p:nvPr/>
          </p:nvSpPr>
          <p:spPr bwMode="auto">
            <a:xfrm flipV="1">
              <a:off x="858838" y="5013325"/>
              <a:ext cx="73850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nl-NL"/>
            </a:p>
          </p:txBody>
        </p:sp>
        <p:sp>
          <p:nvSpPr>
            <p:cNvPr id="46" name="Text Box 16"/>
            <p:cNvSpPr txBox="1">
              <a:spLocks noChangeArrowheads="1"/>
            </p:cNvSpPr>
            <p:nvPr/>
          </p:nvSpPr>
          <p:spPr bwMode="auto">
            <a:xfrm>
              <a:off x="3897314" y="4690113"/>
              <a:ext cx="13477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dirty="0" smtClean="0"/>
                <a:t>Lead Time</a:t>
              </a:r>
              <a:endParaRPr lang="en-US" sz="1600" dirty="0"/>
            </a:p>
          </p:txBody>
        </p:sp>
        <p:sp>
          <p:nvSpPr>
            <p:cNvPr id="47" name="Tekstvak 1"/>
            <p:cNvSpPr txBox="1">
              <a:spLocks noChangeArrowheads="1"/>
            </p:cNvSpPr>
            <p:nvPr/>
          </p:nvSpPr>
          <p:spPr bwMode="auto">
            <a:xfrm>
              <a:off x="250825" y="4437063"/>
              <a:ext cx="13482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nl-NL" sz="1400" dirty="0" smtClean="0"/>
                <a:t>Customer orders</a:t>
              </a:r>
              <a:endParaRPr lang="nl-NL" sz="1400" dirty="0"/>
            </a:p>
          </p:txBody>
        </p:sp>
        <p:sp>
          <p:nvSpPr>
            <p:cNvPr id="48" name="Tekstvak 15"/>
            <p:cNvSpPr txBox="1">
              <a:spLocks noChangeArrowheads="1"/>
            </p:cNvSpPr>
            <p:nvPr/>
          </p:nvSpPr>
          <p:spPr bwMode="auto">
            <a:xfrm>
              <a:off x="7615689" y="4403773"/>
              <a:ext cx="13765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nl-NL" sz="1400" dirty="0" smtClean="0"/>
                <a:t>Product/ service ready</a:t>
              </a:r>
              <a:endParaRPr lang="nl-NL" sz="1400" dirty="0"/>
            </a:p>
          </p:txBody>
        </p:sp>
      </p:grpSp>
    </p:spTree>
    <p:extLst>
      <p:ext uri="{BB962C8B-B14F-4D97-AF65-F5344CB8AC3E}">
        <p14:creationId xmlns:p14="http://schemas.microsoft.com/office/powerpoint/2010/main" val="3902307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nl-NL" smtClean="0"/>
              <a:t>Process Performance Metrics</a:t>
            </a:r>
          </a:p>
        </p:txBody>
      </p:sp>
      <p:sp>
        <p:nvSpPr>
          <p:cNvPr id="10243" name="Rectangle 3"/>
          <p:cNvSpPr>
            <a:spLocks noGrp="1" noChangeArrowheads="1"/>
          </p:cNvSpPr>
          <p:nvPr>
            <p:ph idx="1"/>
          </p:nvPr>
        </p:nvSpPr>
        <p:spPr>
          <a:xfrm>
            <a:off x="810815" y="1439863"/>
            <a:ext cx="9274233" cy="5040312"/>
          </a:xfrm>
        </p:spPr>
        <p:txBody>
          <a:bodyPr/>
          <a:lstStyle/>
          <a:p>
            <a:r>
              <a:rPr lang="en-GB" altLang="nl-NL" dirty="0" smtClean="0"/>
              <a:t>Defects per unit (DPU)</a:t>
            </a:r>
          </a:p>
          <a:p>
            <a:endParaRPr lang="en-GB" altLang="nl-NL" sz="1800" dirty="0"/>
          </a:p>
          <a:p>
            <a:pPr indent="-246063"/>
            <a:r>
              <a:rPr lang="en-GB" altLang="nl-NL" sz="1800" dirty="0" smtClean="0"/>
              <a:t>DPU is the number of defects per unit</a:t>
            </a:r>
          </a:p>
          <a:p>
            <a:pPr lvl="1">
              <a:buClrTx/>
            </a:pPr>
            <a:r>
              <a:rPr lang="en-GB" altLang="nl-NL" dirty="0" smtClean="0"/>
              <a:t>DPU can be greater than 1 because a unit can have several defects (for instance: a prescription may have more than 1 error</a:t>
            </a:r>
          </a:p>
          <a:p>
            <a:pPr lvl="1"/>
            <a:endParaRPr lang="en-GB" altLang="nl-NL" dirty="0" smtClean="0"/>
          </a:p>
          <a:p>
            <a:pPr indent="-246063"/>
            <a:r>
              <a:rPr lang="en-GB" altLang="nl-NL" sz="1800" dirty="0" smtClean="0"/>
              <a:t>Example</a:t>
            </a:r>
          </a:p>
          <a:p>
            <a:pPr lvl="1">
              <a:buClrTx/>
            </a:pPr>
            <a:r>
              <a:rPr lang="en-GB" altLang="nl-NL" dirty="0" smtClean="0"/>
              <a:t>Number of units 	=  3000 number of written prescriptions</a:t>
            </a:r>
          </a:p>
          <a:p>
            <a:pPr lvl="1">
              <a:buClrTx/>
            </a:pPr>
            <a:r>
              <a:rPr lang="en-GB" altLang="nl-NL" dirty="0" smtClean="0"/>
              <a:t>Number of defects	=      53 number of wrong or missing dosages</a:t>
            </a:r>
          </a:p>
          <a:p>
            <a:pPr lvl="1"/>
            <a:endParaRPr lang="en-GB" altLang="nl-NL" dirty="0" smtClean="0"/>
          </a:p>
          <a:p>
            <a:pPr lvl="1"/>
            <a:endParaRPr lang="en-GB" altLang="nl-NL" dirty="0" smtClean="0"/>
          </a:p>
          <a:p>
            <a:pPr lvl="1"/>
            <a:endParaRPr lang="en-GB" altLang="nl-NL" dirty="0" smtClean="0"/>
          </a:p>
          <a:p>
            <a:pPr lvl="1"/>
            <a:endParaRPr lang="en-GB" altLang="nl-NL" dirty="0" smtClean="0"/>
          </a:p>
          <a:p>
            <a:pPr lvl="1"/>
            <a:endParaRPr lang="en-GB" altLang="nl-NL" dirty="0" smtClean="0"/>
          </a:p>
          <a:p>
            <a:pPr marL="180975" lvl="1" indent="0">
              <a:buNone/>
            </a:pPr>
            <a:endParaRPr lang="en-GB" altLang="nl-NL" dirty="0" smtClean="0"/>
          </a:p>
          <a:p>
            <a:pPr lvl="1">
              <a:buClrTx/>
            </a:pPr>
            <a:r>
              <a:rPr lang="en-GB" altLang="nl-NL" dirty="0" smtClean="0"/>
              <a:t>So per prescription received into pharmacy, there are on average 0,02 defects</a:t>
            </a:r>
          </a:p>
        </p:txBody>
      </p:sp>
      <p:graphicFrame>
        <p:nvGraphicFramePr>
          <p:cNvPr id="184324" name="Object 5"/>
          <p:cNvGraphicFramePr>
            <a:graphicFrameLocks noChangeAspect="1"/>
          </p:cNvGraphicFramePr>
          <p:nvPr>
            <p:extLst>
              <p:ext uri="{D42A27DB-BD31-4B8C-83A1-F6EECF244321}">
                <p14:modId xmlns:p14="http://schemas.microsoft.com/office/powerpoint/2010/main" val="454299632"/>
              </p:ext>
            </p:extLst>
          </p:nvPr>
        </p:nvGraphicFramePr>
        <p:xfrm>
          <a:off x="1044775" y="5000626"/>
          <a:ext cx="4530923" cy="588963"/>
        </p:xfrm>
        <a:graphic>
          <a:graphicData uri="http://schemas.openxmlformats.org/presentationml/2006/ole">
            <mc:AlternateContent xmlns:mc="http://schemas.openxmlformats.org/markup-compatibility/2006">
              <mc:Choice xmlns:v="urn:schemas-microsoft-com:vml" Requires="v">
                <p:oleObj spid="_x0000_s16394" name="Vergelijking" r:id="rId4" imgW="2692080" imgH="393480" progId="Equation.3">
                  <p:embed/>
                </p:oleObj>
              </mc:Choice>
              <mc:Fallback>
                <p:oleObj name="Vergelijking" r:id="rId4" imgW="2692080" imgH="39348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4775" y="5000626"/>
                        <a:ext cx="4530923" cy="588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245"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20653" y="4365105"/>
            <a:ext cx="2835316"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4324"/>
                                        </p:tgtEl>
                                        <p:attrNameLst>
                                          <p:attrName>style.visibility</p:attrName>
                                        </p:attrNameLst>
                                      </p:cBhvr>
                                      <p:to>
                                        <p:strVal val="visible"/>
                                      </p:to>
                                    </p:set>
                                    <p:anim calcmode="lin" valueType="num">
                                      <p:cBhvr additive="base">
                                        <p:cTn id="7" dur="500" fill="hold"/>
                                        <p:tgtEl>
                                          <p:spTgt spid="184324"/>
                                        </p:tgtEl>
                                        <p:attrNameLst>
                                          <p:attrName>ppt_x</p:attrName>
                                        </p:attrNameLst>
                                      </p:cBhvr>
                                      <p:tavLst>
                                        <p:tav tm="0">
                                          <p:val>
                                            <p:strVal val="#ppt_x"/>
                                          </p:val>
                                        </p:tav>
                                        <p:tav tm="100000">
                                          <p:val>
                                            <p:strVal val="#ppt_x"/>
                                          </p:val>
                                        </p:tav>
                                      </p:tavLst>
                                    </p:anim>
                                    <p:anim calcmode="lin" valueType="num">
                                      <p:cBhvr additive="base">
                                        <p:cTn id="8" dur="500" fill="hold"/>
                                        <p:tgtEl>
                                          <p:spTgt spid="1843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70"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70204" y="3860578"/>
            <a:ext cx="4368403"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6" name="Titel 1"/>
          <p:cNvSpPr>
            <a:spLocks noGrp="1"/>
          </p:cNvSpPr>
          <p:nvPr>
            <p:ph type="title"/>
          </p:nvPr>
        </p:nvSpPr>
        <p:spPr/>
        <p:txBody>
          <a:bodyPr/>
          <a:lstStyle/>
          <a:p>
            <a:r>
              <a:rPr lang="en-US" altLang="nl-NL" smtClean="0"/>
              <a:t>Process Performance Metrics</a:t>
            </a:r>
          </a:p>
        </p:txBody>
      </p:sp>
      <p:sp>
        <p:nvSpPr>
          <p:cNvPr id="11267" name="Tijdelijke aanduiding voor inhoud 2"/>
          <p:cNvSpPr>
            <a:spLocks noGrp="1"/>
          </p:cNvSpPr>
          <p:nvPr>
            <p:ph idx="1"/>
          </p:nvPr>
        </p:nvSpPr>
        <p:spPr>
          <a:xfrm>
            <a:off x="810815" y="1439863"/>
            <a:ext cx="9274233" cy="5040312"/>
          </a:xfrm>
        </p:spPr>
        <p:txBody>
          <a:bodyPr/>
          <a:lstStyle/>
          <a:p>
            <a:r>
              <a:rPr lang="en-GB" altLang="nl-NL" dirty="0" smtClean="0"/>
              <a:t>Defects per million opportunities (DPMO)</a:t>
            </a:r>
          </a:p>
          <a:p>
            <a:pPr lvl="1"/>
            <a:endParaRPr lang="en-GB" altLang="nl-NL" dirty="0" smtClean="0"/>
          </a:p>
          <a:p>
            <a:pPr marL="361950" indent="-285750">
              <a:buFont typeface="Arial" panose="020B0604020202020204" pitchFamily="34" charset="0"/>
              <a:buChar char="•"/>
            </a:pPr>
            <a:r>
              <a:rPr lang="en-GB" altLang="nl-NL" sz="1600" dirty="0" smtClean="0"/>
              <a:t>Opportunities		= 	2 possible defects per unit: missing &amp; wrong</a:t>
            </a:r>
          </a:p>
          <a:p>
            <a:pPr marL="361950" indent="-285750">
              <a:buFont typeface="Arial" panose="020B0604020202020204" pitchFamily="34" charset="0"/>
              <a:buChar char="•"/>
            </a:pPr>
            <a:r>
              <a:rPr lang="en-GB" altLang="nl-NL" sz="1600" dirty="0" smtClean="0"/>
              <a:t>Number of units	=     	3000 number of prescriptions issued</a:t>
            </a:r>
          </a:p>
          <a:p>
            <a:pPr marL="361950" indent="-285750">
              <a:buFont typeface="Arial" panose="020B0604020202020204" pitchFamily="34" charset="0"/>
              <a:buChar char="•"/>
            </a:pPr>
            <a:r>
              <a:rPr lang="en-GB" altLang="nl-NL" sz="1600" dirty="0" smtClean="0"/>
              <a:t>Number of defects	=     	53 number of missing and wrong dosages</a:t>
            </a:r>
          </a:p>
          <a:p>
            <a:pPr marL="76200" indent="0"/>
            <a:endParaRPr lang="en-GB" altLang="nl-NL" sz="1600" dirty="0"/>
          </a:p>
          <a:p>
            <a:pPr marL="76200" indent="0"/>
            <a:endParaRPr lang="en-GB" altLang="nl-NL" sz="1600" dirty="0" smtClean="0"/>
          </a:p>
          <a:p>
            <a:pPr marL="76200" indent="0"/>
            <a:endParaRPr lang="en-GB" altLang="nl-NL" sz="1600" dirty="0"/>
          </a:p>
          <a:p>
            <a:pPr marL="76200" indent="0"/>
            <a:endParaRPr lang="en-GB" altLang="nl-NL" sz="1600" dirty="0" smtClean="0"/>
          </a:p>
          <a:p>
            <a:pPr marL="76200" indent="0"/>
            <a:endParaRPr lang="en-GB" altLang="nl-NL" sz="1600" dirty="0"/>
          </a:p>
          <a:p>
            <a:pPr marL="76200" indent="0"/>
            <a:endParaRPr lang="en-GB" altLang="nl-NL" sz="1600" dirty="0" smtClean="0"/>
          </a:p>
          <a:p>
            <a:pPr marL="76200" indent="0"/>
            <a:r>
              <a:rPr lang="en-GB" altLang="nl-NL" sz="1600" dirty="0" smtClean="0"/>
              <a:t>		</a:t>
            </a:r>
            <a:endParaRPr lang="en-GB" altLang="nl-NL" sz="1600" dirty="0"/>
          </a:p>
          <a:p>
            <a:pPr marL="76200" indent="0"/>
            <a:endParaRPr lang="en-GB" altLang="nl-NL" sz="1600" dirty="0" smtClean="0"/>
          </a:p>
          <a:p>
            <a:pPr marL="76200" indent="0"/>
            <a:endParaRPr lang="en-GB" altLang="nl-NL" sz="1600" dirty="0" smtClean="0"/>
          </a:p>
          <a:p>
            <a:pPr marL="76200" indent="0"/>
            <a:endParaRPr lang="en-GB" altLang="nl-NL" sz="1600" dirty="0" smtClean="0"/>
          </a:p>
          <a:p>
            <a:pPr marL="285750" lvl="1" indent="-285750" eaLnBrk="1" hangingPunct="1">
              <a:buClrTx/>
            </a:pPr>
            <a:r>
              <a:rPr lang="en-GB" altLang="nl-NL" dirty="0" smtClean="0">
                <a:latin typeface="Arial" charset="0"/>
                <a:cs typeface="Arial" charset="0"/>
              </a:rPr>
              <a:t>In other words: if we write 500.000 prescriptions, we can expect that there will be 8.833 defects (missing and wrong dosages) </a:t>
            </a:r>
          </a:p>
        </p:txBody>
      </p:sp>
      <p:graphicFrame>
        <p:nvGraphicFramePr>
          <p:cNvPr id="4" name="Object 3"/>
          <p:cNvGraphicFramePr>
            <a:graphicFrameLocks noChangeAspect="1"/>
          </p:cNvGraphicFramePr>
          <p:nvPr>
            <p:extLst>
              <p:ext uri="{D42A27DB-BD31-4B8C-83A1-F6EECF244321}">
                <p14:modId xmlns:p14="http://schemas.microsoft.com/office/powerpoint/2010/main" val="38318796"/>
              </p:ext>
            </p:extLst>
          </p:nvPr>
        </p:nvGraphicFramePr>
        <p:xfrm>
          <a:off x="1498096" y="3483918"/>
          <a:ext cx="6520458" cy="665162"/>
        </p:xfrm>
        <a:graphic>
          <a:graphicData uri="http://schemas.openxmlformats.org/presentationml/2006/ole">
            <mc:AlternateContent xmlns:mc="http://schemas.openxmlformats.org/markup-compatibility/2006">
              <mc:Choice xmlns:v="urn:schemas-microsoft-com:vml" Requires="v">
                <p:oleObj spid="_x0000_s17419" name="Vergelijking" r:id="rId5" imgW="3873240" imgH="444240" progId="Equation.3">
                  <p:embed/>
                </p:oleObj>
              </mc:Choice>
              <mc:Fallback>
                <p:oleObj name="Vergelijking" r:id="rId5" imgW="3873240" imgH="444240" progId="Equation.3">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8096" y="3483918"/>
                        <a:ext cx="6520458" cy="665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267">
                                            <p:txEl>
                                              <p:pRg st="15" end="15"/>
                                            </p:txEl>
                                          </p:spTgt>
                                        </p:tgtEl>
                                        <p:attrNameLst>
                                          <p:attrName>style.visibility</p:attrName>
                                        </p:attrNameLst>
                                      </p:cBhvr>
                                      <p:to>
                                        <p:strVal val="visible"/>
                                      </p:to>
                                    </p:set>
                                    <p:anim calcmode="lin" valueType="num">
                                      <p:cBhvr additive="base">
                                        <p:cTn id="11" dur="500" fill="hold"/>
                                        <p:tgtEl>
                                          <p:spTgt spid="11267">
                                            <p:txEl>
                                              <p:pRg st="15" end="1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267">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p:cNvSpPr>
            <a:spLocks noGrp="1" noChangeArrowheads="1"/>
          </p:cNvSpPr>
          <p:nvPr>
            <p:ph type="title"/>
          </p:nvPr>
        </p:nvSpPr>
        <p:spPr/>
        <p:txBody>
          <a:bodyPr/>
          <a:lstStyle/>
          <a:p>
            <a:pPr eaLnBrk="1" hangingPunct="1"/>
            <a:r>
              <a:rPr lang="en-US" smtClean="0"/>
              <a:t>Process Performance Metrics</a:t>
            </a:r>
            <a:endParaRPr sz="2400" smtClean="0"/>
          </a:p>
        </p:txBody>
      </p:sp>
      <mc:AlternateContent xmlns:mc="http://schemas.openxmlformats.org/markup-compatibility/2006" xmlns:a14="http://schemas.microsoft.com/office/drawing/2010/main">
        <mc:Choice Requires="a14">
          <p:sp>
            <p:nvSpPr>
              <p:cNvPr id="17411" name="Rectangle 6"/>
              <p:cNvSpPr>
                <a:spLocks noGrp="1" noChangeArrowheads="1"/>
              </p:cNvSpPr>
              <p:nvPr>
                <p:ph idx="1"/>
              </p:nvPr>
            </p:nvSpPr>
            <p:spPr/>
            <p:txBody>
              <a:bodyPr/>
              <a:lstStyle/>
              <a:p>
                <a:pPr marL="0" indent="0" eaLnBrk="1" hangingPunct="1"/>
                <a:r>
                  <a:rPr lang="en-GB" dirty="0" smtClean="0"/>
                  <a:t>Yield [%]</a:t>
                </a:r>
              </a:p>
              <a:p>
                <a:pPr lvl="1" eaLnBrk="1" hangingPunct="1"/>
                <a:endParaRPr lang="en-GB" dirty="0" smtClean="0"/>
              </a:p>
              <a:p>
                <a:pPr lvl="1" eaLnBrk="1" hangingPunct="1">
                  <a:buClrTx/>
                </a:pPr>
                <a:r>
                  <a:rPr lang="en-GB" dirty="0" smtClean="0">
                    <a:solidFill>
                      <a:schemeClr val="tx1"/>
                    </a:solidFill>
                  </a:rPr>
                  <a:t>Process yield </a:t>
                </a:r>
                <a14:m>
                  <m:oMath xmlns:m="http://schemas.openxmlformats.org/officeDocument/2006/math">
                    <m:r>
                      <a:rPr lang="nl-NL" b="1" i="1" smtClean="0">
                        <a:solidFill>
                          <a:schemeClr val="tx1"/>
                        </a:solidFill>
                        <a:latin typeface="Cambria Math"/>
                      </a:rPr>
                      <m:t>=</m:t>
                    </m:r>
                    <m:f>
                      <m:fPr>
                        <m:ctrlPr>
                          <a:rPr lang="nl-NL" b="1" i="1" smtClean="0">
                            <a:solidFill>
                              <a:schemeClr val="tx1"/>
                            </a:solidFill>
                            <a:latin typeface="Cambria Math"/>
                          </a:rPr>
                        </m:ctrlPr>
                      </m:fPr>
                      <m:num>
                        <m:r>
                          <a:rPr lang="nl-NL" b="1" i="1" smtClean="0">
                            <a:solidFill>
                              <a:schemeClr val="tx1"/>
                            </a:solidFill>
                            <a:latin typeface="Cambria Math"/>
                          </a:rPr>
                          <m:t>𝑻𝒐𝒕𝒂𝒍</m:t>
                        </m:r>
                        <m:r>
                          <a:rPr lang="nl-NL" b="1" i="1" smtClean="0">
                            <a:solidFill>
                              <a:schemeClr val="tx1"/>
                            </a:solidFill>
                            <a:latin typeface="Cambria Math"/>
                          </a:rPr>
                          <m:t> </m:t>
                        </m:r>
                        <m:r>
                          <a:rPr lang="nl-NL" b="1" i="1" smtClean="0">
                            <a:solidFill>
                              <a:schemeClr val="tx1"/>
                            </a:solidFill>
                            <a:latin typeface="Cambria Math"/>
                          </a:rPr>
                          <m:t>𝒏𝒖𝒎𝒃𝒆𝒓</m:t>
                        </m:r>
                        <m:r>
                          <a:rPr lang="nl-NL" b="1" i="1" smtClean="0">
                            <a:solidFill>
                              <a:schemeClr val="tx1"/>
                            </a:solidFill>
                            <a:latin typeface="Cambria Math"/>
                          </a:rPr>
                          <m:t> </m:t>
                        </m:r>
                        <m:r>
                          <a:rPr lang="nl-NL" b="1" i="1" smtClean="0">
                            <a:solidFill>
                              <a:schemeClr val="tx1"/>
                            </a:solidFill>
                            <a:latin typeface="Cambria Math"/>
                          </a:rPr>
                          <m:t>𝒐𝒇</m:t>
                        </m:r>
                        <m:r>
                          <a:rPr lang="nl-NL" i="1">
                            <a:latin typeface="Cambria Math"/>
                          </a:rPr>
                          <m:t>𝒑𝒓𝒐𝒄𝒆𝒔𝒔𝒆𝒔</m:t>
                        </m:r>
                        <m:r>
                          <a:rPr lang="nl-NL" i="1">
                            <a:latin typeface="Cambria Math"/>
                          </a:rPr>
                          <m:t>/</m:t>
                        </m:r>
                        <m:r>
                          <a:rPr lang="nl-NL" i="1">
                            <a:latin typeface="Cambria Math"/>
                          </a:rPr>
                          <m:t>𝒑𝒓𝒐𝒄𝒆𝒅𝒖𝒓𝒆𝒔</m:t>
                        </m:r>
                        <m:r>
                          <a:rPr lang="nl-NL" i="1">
                            <a:latin typeface="Cambria Math"/>
                          </a:rPr>
                          <m:t> </m:t>
                        </m:r>
                        <m:r>
                          <a:rPr lang="nl-NL" b="1" i="1" smtClean="0">
                            <a:solidFill>
                              <a:schemeClr val="tx1"/>
                            </a:solidFill>
                            <a:latin typeface="Cambria Math"/>
                          </a:rPr>
                          <m:t>𝒘𝒊𝒕𝒉𝒐𝒖𝒕</m:t>
                        </m:r>
                        <m:r>
                          <a:rPr lang="nl-NL" b="1" i="1" smtClean="0">
                            <a:solidFill>
                              <a:schemeClr val="tx1"/>
                            </a:solidFill>
                            <a:latin typeface="Cambria Math"/>
                          </a:rPr>
                          <m:t> </m:t>
                        </m:r>
                        <m:r>
                          <a:rPr lang="nl-NL" b="1" i="1" smtClean="0">
                            <a:solidFill>
                              <a:schemeClr val="tx1"/>
                            </a:solidFill>
                            <a:latin typeface="Cambria Math"/>
                          </a:rPr>
                          <m:t>𝒅𝒆𝒇𝒆𝒄𝒕𝒔</m:t>
                        </m:r>
                      </m:num>
                      <m:den>
                        <m:r>
                          <a:rPr lang="nl-NL" b="1" i="1" smtClean="0">
                            <a:solidFill>
                              <a:schemeClr val="tx1"/>
                            </a:solidFill>
                            <a:latin typeface="Cambria Math"/>
                          </a:rPr>
                          <m:t>𝑻𝒐𝒕𝒂𝒍</m:t>
                        </m:r>
                        <m:r>
                          <a:rPr lang="nl-NL" b="1" i="1" smtClean="0">
                            <a:solidFill>
                              <a:schemeClr val="tx1"/>
                            </a:solidFill>
                            <a:latin typeface="Cambria Math"/>
                          </a:rPr>
                          <m:t> </m:t>
                        </m:r>
                        <m:r>
                          <a:rPr lang="nl-NL" b="1" i="1" smtClean="0">
                            <a:solidFill>
                              <a:schemeClr val="tx1"/>
                            </a:solidFill>
                            <a:latin typeface="Cambria Math"/>
                          </a:rPr>
                          <m:t>𝒏𝒖𝒎𝒃𝒆𝒓</m:t>
                        </m:r>
                        <m:r>
                          <a:rPr lang="nl-NL" b="1" i="1" smtClean="0">
                            <a:solidFill>
                              <a:schemeClr val="tx1"/>
                            </a:solidFill>
                            <a:latin typeface="Cambria Math"/>
                          </a:rPr>
                          <m:t> </m:t>
                        </m:r>
                        <m:r>
                          <a:rPr lang="nl-NL" b="1" i="1" smtClean="0">
                            <a:solidFill>
                              <a:schemeClr val="tx1"/>
                            </a:solidFill>
                            <a:latin typeface="Cambria Math"/>
                          </a:rPr>
                          <m:t>𝒐𝒇</m:t>
                        </m:r>
                        <m:r>
                          <a:rPr lang="nl-NL" i="1">
                            <a:latin typeface="Cambria Math"/>
                          </a:rPr>
                          <m:t>𝒑𝒓𝒐𝒄𝒆𝒔𝒔𝒆𝒔</m:t>
                        </m:r>
                        <m:r>
                          <a:rPr lang="nl-NL" i="1">
                            <a:latin typeface="Cambria Math"/>
                          </a:rPr>
                          <m:t>/</m:t>
                        </m:r>
                        <m:r>
                          <a:rPr lang="nl-NL" i="1">
                            <a:latin typeface="Cambria Math"/>
                          </a:rPr>
                          <m:t>𝒑𝒓𝒐𝒄𝒆𝒅𝒖𝒓𝒆𝒔</m:t>
                        </m:r>
                        <m:r>
                          <a:rPr lang="nl-NL" i="1">
                            <a:latin typeface="Cambria Math"/>
                          </a:rPr>
                          <m:t> </m:t>
                        </m:r>
                      </m:den>
                    </m:f>
                  </m:oMath>
                </a14:m>
                <a:r>
                  <a:rPr lang="en-GB" dirty="0" smtClean="0">
                    <a:solidFill>
                      <a:schemeClr val="tx1"/>
                    </a:solidFill>
                  </a:rPr>
                  <a:t/>
                </a:r>
                <a:br>
                  <a:rPr lang="en-GB" dirty="0" smtClean="0">
                    <a:solidFill>
                      <a:schemeClr val="tx1"/>
                    </a:solidFill>
                  </a:rPr>
                </a:br>
                <a:endParaRPr lang="en-GB" dirty="0" smtClean="0">
                  <a:solidFill>
                    <a:schemeClr val="tx1"/>
                  </a:solidFill>
                </a:endParaRPr>
              </a:p>
              <a:p>
                <a:pPr lvl="1" eaLnBrk="1" hangingPunct="1">
                  <a:buClrTx/>
                </a:pPr>
                <a:endParaRPr lang="en-GB" dirty="0" smtClean="0">
                  <a:solidFill>
                    <a:schemeClr val="tx1"/>
                  </a:solidFill>
                </a:endParaRPr>
              </a:p>
              <a:p>
                <a:pPr lvl="1" eaLnBrk="1" hangingPunct="1">
                  <a:buClrTx/>
                </a:pPr>
                <a:endParaRPr lang="en-GB" dirty="0" smtClean="0">
                  <a:solidFill>
                    <a:schemeClr val="tx1"/>
                  </a:solidFill>
                </a:endParaRPr>
              </a:p>
              <a:p>
                <a:pPr lvl="1" eaLnBrk="1" hangingPunct="1">
                  <a:buClrTx/>
                </a:pPr>
                <a:r>
                  <a:rPr lang="en-GB" dirty="0" smtClean="0">
                    <a:solidFill>
                      <a:schemeClr val="tx1"/>
                    </a:solidFill>
                  </a:rPr>
                  <a:t>First time right (FTR) yield </a:t>
                </a:r>
                <a14:m>
                  <m:oMath xmlns:m="http://schemas.openxmlformats.org/officeDocument/2006/math">
                    <m:r>
                      <a:rPr lang="nl-NL" b="1" i="1" smtClean="0">
                        <a:solidFill>
                          <a:schemeClr val="tx1"/>
                        </a:solidFill>
                        <a:latin typeface="Cambria Math"/>
                      </a:rPr>
                      <m:t>=</m:t>
                    </m:r>
                    <m:f>
                      <m:fPr>
                        <m:ctrlPr>
                          <a:rPr lang="nl-NL" b="1" i="1" smtClean="0">
                            <a:solidFill>
                              <a:schemeClr val="tx1"/>
                            </a:solidFill>
                            <a:latin typeface="Cambria Math"/>
                          </a:rPr>
                        </m:ctrlPr>
                      </m:fPr>
                      <m:num>
                        <m:r>
                          <a:rPr lang="nl-NL" b="1" i="1" smtClean="0">
                            <a:solidFill>
                              <a:schemeClr val="tx1"/>
                            </a:solidFill>
                            <a:latin typeface="Cambria Math"/>
                          </a:rPr>
                          <m:t>𝑻𝒐𝒕𝒂𝒍</m:t>
                        </m:r>
                        <m:r>
                          <a:rPr lang="nl-NL" b="1" i="1" smtClean="0">
                            <a:solidFill>
                              <a:schemeClr val="tx1"/>
                            </a:solidFill>
                            <a:latin typeface="Cambria Math"/>
                          </a:rPr>
                          <m:t> </m:t>
                        </m:r>
                        <m:r>
                          <a:rPr lang="nl-NL" b="1" i="1" smtClean="0">
                            <a:solidFill>
                              <a:schemeClr val="tx1"/>
                            </a:solidFill>
                            <a:latin typeface="Cambria Math"/>
                          </a:rPr>
                          <m:t>𝒏𝒖𝒎𝒃𝒆𝒓</m:t>
                        </m:r>
                        <m:r>
                          <a:rPr lang="nl-NL" b="1" i="1" smtClean="0">
                            <a:solidFill>
                              <a:schemeClr val="tx1"/>
                            </a:solidFill>
                            <a:latin typeface="Cambria Math"/>
                          </a:rPr>
                          <m:t> </m:t>
                        </m:r>
                        <m:r>
                          <a:rPr lang="nl-NL" b="1" i="1" smtClean="0">
                            <a:solidFill>
                              <a:schemeClr val="tx1"/>
                            </a:solidFill>
                            <a:latin typeface="Cambria Math"/>
                          </a:rPr>
                          <m:t>𝒐𝒇</m:t>
                        </m:r>
                        <m:r>
                          <a:rPr lang="nl-NL" i="1">
                            <a:latin typeface="Cambria Math"/>
                          </a:rPr>
                          <m:t>𝒑𝒓𝒐𝒄𝒆𝒔𝒔𝒆𝒔</m:t>
                        </m:r>
                        <m:r>
                          <a:rPr lang="nl-NL" i="1">
                            <a:latin typeface="Cambria Math"/>
                          </a:rPr>
                          <m:t>/</m:t>
                        </m:r>
                        <m:r>
                          <a:rPr lang="nl-NL" i="1">
                            <a:latin typeface="Cambria Math"/>
                          </a:rPr>
                          <m:t>𝒑𝒓𝒐𝒄𝒆𝒅𝒖𝒓𝒆𝒔</m:t>
                        </m:r>
                        <m:r>
                          <a:rPr lang="nl-NL" i="1">
                            <a:latin typeface="Cambria Math"/>
                          </a:rPr>
                          <m:t> </m:t>
                        </m:r>
                        <m:r>
                          <a:rPr lang="nl-NL" b="1" i="1" smtClean="0">
                            <a:solidFill>
                              <a:schemeClr val="tx1"/>
                            </a:solidFill>
                            <a:latin typeface="Cambria Math"/>
                          </a:rPr>
                          <m:t>𝒓𝒊𝒈𝒉𝒕</m:t>
                        </m:r>
                        <m:r>
                          <a:rPr lang="nl-NL" b="1" i="1" smtClean="0">
                            <a:solidFill>
                              <a:schemeClr val="tx1"/>
                            </a:solidFill>
                            <a:latin typeface="Cambria Math"/>
                          </a:rPr>
                          <m:t> </m:t>
                        </m:r>
                        <m:r>
                          <a:rPr lang="nl-NL" b="1" i="1" smtClean="0">
                            <a:solidFill>
                              <a:schemeClr val="tx1"/>
                            </a:solidFill>
                            <a:latin typeface="Cambria Math"/>
                          </a:rPr>
                          <m:t>𝒇𝒊𝒓𝒔𝒕</m:t>
                        </m:r>
                        <m:r>
                          <a:rPr lang="nl-NL" b="1" i="1" smtClean="0">
                            <a:solidFill>
                              <a:schemeClr val="tx1"/>
                            </a:solidFill>
                            <a:latin typeface="Cambria Math"/>
                          </a:rPr>
                          <m:t> </m:t>
                        </m:r>
                        <m:r>
                          <a:rPr lang="nl-NL" b="1" i="1" smtClean="0">
                            <a:solidFill>
                              <a:schemeClr val="tx1"/>
                            </a:solidFill>
                            <a:latin typeface="Cambria Math"/>
                          </a:rPr>
                          <m:t>𝒕𝒊𝒎𝒆</m:t>
                        </m:r>
                      </m:num>
                      <m:den>
                        <m:r>
                          <a:rPr lang="nl-NL" i="1">
                            <a:solidFill>
                              <a:schemeClr val="tx1"/>
                            </a:solidFill>
                            <a:latin typeface="Cambria Math"/>
                          </a:rPr>
                          <m:t>𝑻𝒐𝒕𝒂𝒍</m:t>
                        </m:r>
                        <m:r>
                          <a:rPr lang="nl-NL" i="1">
                            <a:solidFill>
                              <a:schemeClr val="tx1"/>
                            </a:solidFill>
                            <a:latin typeface="Cambria Math"/>
                          </a:rPr>
                          <m:t> </m:t>
                        </m:r>
                        <m:r>
                          <a:rPr lang="nl-NL" i="1">
                            <a:solidFill>
                              <a:schemeClr val="tx1"/>
                            </a:solidFill>
                            <a:latin typeface="Cambria Math"/>
                          </a:rPr>
                          <m:t>𝒏𝒖𝒎𝒃𝒆𝒓</m:t>
                        </m:r>
                        <m:r>
                          <a:rPr lang="nl-NL" i="1">
                            <a:solidFill>
                              <a:schemeClr val="tx1"/>
                            </a:solidFill>
                            <a:latin typeface="Cambria Math"/>
                          </a:rPr>
                          <m:t> </m:t>
                        </m:r>
                        <m:r>
                          <a:rPr lang="nl-NL" i="1">
                            <a:solidFill>
                              <a:schemeClr val="tx1"/>
                            </a:solidFill>
                            <a:latin typeface="Cambria Math"/>
                          </a:rPr>
                          <m:t>𝒐𝒇𝒑𝒓𝒐𝒄𝒆𝒔𝒔𝒆𝒔</m:t>
                        </m:r>
                        <m:r>
                          <a:rPr lang="nl-NL" i="1">
                            <a:latin typeface="Cambria Math"/>
                          </a:rPr>
                          <m:t>/</m:t>
                        </m:r>
                        <m:r>
                          <a:rPr lang="nl-NL" i="1">
                            <a:latin typeface="Cambria Math"/>
                          </a:rPr>
                          <m:t>𝒑𝒓𝒐𝒄𝒆𝒅𝒖𝒓𝒆𝒔</m:t>
                        </m:r>
                        <m:r>
                          <a:rPr lang="nl-NL" i="1">
                            <a:latin typeface="Cambria Math"/>
                          </a:rPr>
                          <m:t> </m:t>
                        </m:r>
                      </m:den>
                    </m:f>
                  </m:oMath>
                </a14:m>
                <a:endParaRPr lang="en-GB" dirty="0" smtClean="0">
                  <a:solidFill>
                    <a:schemeClr val="tx1"/>
                  </a:solidFill>
                </a:endParaRPr>
              </a:p>
              <a:p>
                <a:pPr lvl="1" eaLnBrk="1" hangingPunct="1">
                  <a:buClrTx/>
                </a:pPr>
                <a:endParaRPr lang="en-GB" dirty="0" smtClean="0">
                  <a:solidFill>
                    <a:schemeClr val="tx1"/>
                  </a:solidFill>
                </a:endParaRPr>
              </a:p>
              <a:p>
                <a:pPr lvl="1" eaLnBrk="1" hangingPunct="1">
                  <a:buClrTx/>
                </a:pPr>
                <a:endParaRPr lang="en-GB" dirty="0" smtClean="0">
                  <a:solidFill>
                    <a:schemeClr val="tx1"/>
                  </a:solidFill>
                </a:endParaRPr>
              </a:p>
              <a:p>
                <a:pPr lvl="1" eaLnBrk="1" hangingPunct="1">
                  <a:buClrTx/>
                </a:pPr>
                <a:endParaRPr lang="en-GB" dirty="0"/>
              </a:p>
              <a:p>
                <a:pPr lvl="1" eaLnBrk="1" hangingPunct="1">
                  <a:buClrTx/>
                </a:pPr>
                <a:r>
                  <a:rPr lang="en-GB" dirty="0" smtClean="0">
                    <a:solidFill>
                      <a:schemeClr val="tx1"/>
                    </a:solidFill>
                  </a:rPr>
                  <a:t>Rolled throughput yield</a:t>
                </a:r>
                <a:r>
                  <a:rPr lang="en-GB" u="sng" dirty="0" smtClean="0">
                    <a:solidFill>
                      <a:schemeClr val="tx1"/>
                    </a:solidFill>
                  </a:rPr>
                  <a:t/>
                </a:r>
                <a:br>
                  <a:rPr lang="en-GB" u="sng" dirty="0" smtClean="0">
                    <a:solidFill>
                      <a:schemeClr val="tx1"/>
                    </a:solidFill>
                  </a:rPr>
                </a:br>
                <a:r>
                  <a:rPr lang="en-GB" b="0" dirty="0" smtClean="0">
                    <a:solidFill>
                      <a:schemeClr val="tx1"/>
                    </a:solidFill>
                  </a:rPr>
                  <a:t>The probability that a product/ service will pass a number of sequential processes-steps without any defects (first time right)</a:t>
                </a:r>
                <a:br>
                  <a:rPr lang="en-GB" b="0" dirty="0" smtClean="0">
                    <a:solidFill>
                      <a:schemeClr val="tx1"/>
                    </a:solidFill>
                  </a:rPr>
                </a:br>
                <a:endParaRPr lang="en-GB" b="0" dirty="0" smtClean="0"/>
              </a:p>
            </p:txBody>
          </p:sp>
        </mc:Choice>
        <mc:Fallback xmlns="">
          <p:sp>
            <p:nvSpPr>
              <p:cNvPr id="17411" name="Rectangle 6"/>
              <p:cNvSpPr>
                <a:spLocks noGrp="1" noRot="1" noChangeAspect="1" noMove="1" noResize="1" noEditPoints="1" noAdjustHandles="1" noChangeArrowheads="1" noChangeShapeType="1" noTextEdit="1"/>
              </p:cNvSpPr>
              <p:nvPr>
                <p:ph idx="1"/>
              </p:nvPr>
            </p:nvSpPr>
            <p:spPr>
              <a:blipFill rotWithShape="0">
                <a:blip r:embed="rId3" cstate="print"/>
                <a:stretch>
                  <a:fillRect l="-1155" t="-846"/>
                </a:stretch>
              </a:blipFill>
            </p:spPr>
            <p:txBody>
              <a:bodyPr/>
              <a:lstStyle/>
              <a:p>
                <a:r>
                  <a:rPr lang="nl-NL">
                    <a:noFill/>
                  </a:rPr>
                  <a:t> </a:t>
                </a:r>
              </a:p>
            </p:txBody>
          </p:sp>
        </mc:Fallback>
      </mc:AlternateContent>
    </p:spTree>
    <p:extLst>
      <p:ext uri="{BB962C8B-B14F-4D97-AF65-F5344CB8AC3E}">
        <p14:creationId xmlns:p14="http://schemas.microsoft.com/office/powerpoint/2010/main" val="41903446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nl-NL" smtClean="0"/>
              <a:t>Process Performance Metrics</a:t>
            </a:r>
          </a:p>
        </p:txBody>
      </p:sp>
      <p:sp>
        <p:nvSpPr>
          <p:cNvPr id="14339" name="Rectangle 3"/>
          <p:cNvSpPr>
            <a:spLocks noGrp="1" noChangeArrowheads="1"/>
          </p:cNvSpPr>
          <p:nvPr>
            <p:ph idx="1"/>
          </p:nvPr>
        </p:nvSpPr>
        <p:spPr/>
        <p:txBody>
          <a:bodyPr/>
          <a:lstStyle/>
          <a:p>
            <a:r>
              <a:rPr lang="en-GB" altLang="nl-NL" dirty="0" smtClean="0"/>
              <a:t>Example Process </a:t>
            </a:r>
            <a:r>
              <a:rPr lang="en-GB" altLang="nl-NL" dirty="0"/>
              <a:t>y</a:t>
            </a:r>
            <a:r>
              <a:rPr lang="en-GB" altLang="nl-NL" dirty="0" smtClean="0"/>
              <a:t>ield</a:t>
            </a:r>
          </a:p>
          <a:p>
            <a:pPr lvl="1"/>
            <a:endParaRPr lang="en-GB" altLang="nl-NL" dirty="0" smtClean="0"/>
          </a:p>
          <a:p>
            <a:pPr marL="76200" indent="0"/>
            <a:r>
              <a:rPr lang="en-GB" altLang="nl-NL" sz="1800" dirty="0" smtClean="0"/>
              <a:t>Process of testing </a:t>
            </a:r>
            <a:r>
              <a:rPr lang="en-GB" altLang="nl-NL" sz="1800" dirty="0" err="1" smtClean="0"/>
              <a:t>bloodsamples</a:t>
            </a:r>
            <a:r>
              <a:rPr lang="en-GB" altLang="nl-NL" sz="1800" dirty="0" smtClean="0"/>
              <a:t> in a local laboratory. When patients visit a general </a:t>
            </a:r>
            <a:r>
              <a:rPr lang="en-GB" altLang="nl-NL" sz="1800" dirty="0" err="1" smtClean="0"/>
              <a:t>practioner</a:t>
            </a:r>
            <a:r>
              <a:rPr lang="en-GB" altLang="nl-NL" sz="1800" dirty="0" smtClean="0"/>
              <a:t> sometimes a blood sample is taken. This blood sample is sent to the local laboratory to be analysed.</a:t>
            </a:r>
          </a:p>
          <a:p>
            <a:pPr marL="76200" indent="0"/>
            <a:endParaRPr lang="en-GB" altLang="nl-NL" dirty="0" smtClean="0"/>
          </a:p>
          <a:p>
            <a:endParaRPr lang="en-GB" altLang="nl-NL" sz="1800" u="sng" dirty="0" smtClean="0"/>
          </a:p>
          <a:p>
            <a:endParaRPr lang="en-GB" altLang="nl-NL" sz="1800" u="sng" dirty="0" smtClean="0"/>
          </a:p>
          <a:p>
            <a:endParaRPr lang="en-GB" altLang="nl-NL" sz="1800" u="sng" dirty="0"/>
          </a:p>
          <a:p>
            <a:endParaRPr lang="en-GB" altLang="nl-NL" sz="1800" u="sng" dirty="0" smtClean="0"/>
          </a:p>
          <a:p>
            <a:pPr marL="180975" lvl="1" indent="0">
              <a:buClrTx/>
              <a:buNone/>
            </a:pPr>
            <a:r>
              <a:rPr lang="en-GB" altLang="nl-NL" dirty="0" smtClean="0"/>
              <a:t>	</a:t>
            </a:r>
          </a:p>
          <a:p>
            <a:pPr lvl="1"/>
            <a:endParaRPr lang="en-GB" altLang="nl-NL" dirty="0" smtClean="0"/>
          </a:p>
          <a:p>
            <a:pPr lvl="1"/>
            <a:endParaRPr lang="en-GB" altLang="nl-NL" dirty="0" smtClean="0"/>
          </a:p>
        </p:txBody>
      </p:sp>
      <p:sp>
        <p:nvSpPr>
          <p:cNvPr id="13" name="Rechthoek 12"/>
          <p:cNvSpPr/>
          <p:nvPr/>
        </p:nvSpPr>
        <p:spPr>
          <a:xfrm>
            <a:off x="854237" y="3817514"/>
            <a:ext cx="1777985" cy="11879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err="1" smtClean="0">
                <a:latin typeface="Arial" pitchFamily="34" charset="0"/>
              </a:rPr>
              <a:t>Process</a:t>
            </a:r>
            <a:r>
              <a:rPr lang="nl-NL" sz="1400" dirty="0" smtClean="0">
                <a:latin typeface="Arial" pitchFamily="34" charset="0"/>
              </a:rPr>
              <a:t> A </a:t>
            </a:r>
            <a:r>
              <a:rPr lang="nl-NL" sz="1400" dirty="0" err="1" smtClean="0">
                <a:latin typeface="Arial" pitchFamily="34" charset="0"/>
              </a:rPr>
              <a:t>Prepare</a:t>
            </a:r>
            <a:r>
              <a:rPr lang="nl-NL" sz="1400" dirty="0" smtClean="0">
                <a:latin typeface="Arial" pitchFamily="34" charset="0"/>
              </a:rPr>
              <a:t> sample </a:t>
            </a:r>
            <a:endParaRPr lang="nl-NL" sz="1400" dirty="0">
              <a:latin typeface="Arial" pitchFamily="34" charset="0"/>
            </a:endParaRPr>
          </a:p>
        </p:txBody>
      </p:sp>
      <p:cxnSp>
        <p:nvCxnSpPr>
          <p:cNvPr id="19" name="Rechte verbindingslijn met pijl 18"/>
          <p:cNvCxnSpPr>
            <a:stCxn id="13" idx="3"/>
          </p:cNvCxnSpPr>
          <p:nvPr/>
        </p:nvCxnSpPr>
        <p:spPr>
          <a:xfrm flipV="1">
            <a:off x="2632222" y="4411507"/>
            <a:ext cx="652285"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Rechthoek 24"/>
          <p:cNvSpPr/>
          <p:nvPr/>
        </p:nvSpPr>
        <p:spPr>
          <a:xfrm>
            <a:off x="3284507" y="3817514"/>
            <a:ext cx="1777985" cy="11879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err="1" smtClean="0">
                <a:latin typeface="Arial" pitchFamily="34" charset="0"/>
              </a:rPr>
              <a:t>Process</a:t>
            </a:r>
            <a:r>
              <a:rPr lang="nl-NL" sz="1400" dirty="0" smtClean="0">
                <a:latin typeface="Arial" pitchFamily="34" charset="0"/>
              </a:rPr>
              <a:t> B </a:t>
            </a:r>
            <a:r>
              <a:rPr lang="nl-NL" sz="1400" dirty="0" err="1" smtClean="0">
                <a:latin typeface="Arial" pitchFamily="34" charset="0"/>
              </a:rPr>
              <a:t>Measure</a:t>
            </a:r>
            <a:r>
              <a:rPr lang="nl-NL" sz="1400" dirty="0" smtClean="0">
                <a:latin typeface="Arial" pitchFamily="34" charset="0"/>
              </a:rPr>
              <a:t> sample </a:t>
            </a:r>
            <a:endParaRPr lang="nl-NL" sz="1400" dirty="0">
              <a:latin typeface="Arial" pitchFamily="34" charset="0"/>
            </a:endParaRPr>
          </a:p>
        </p:txBody>
      </p:sp>
      <p:sp>
        <p:nvSpPr>
          <p:cNvPr id="26" name="Rechthoek 25"/>
          <p:cNvSpPr/>
          <p:nvPr/>
        </p:nvSpPr>
        <p:spPr>
          <a:xfrm>
            <a:off x="5675096" y="3809107"/>
            <a:ext cx="1777985" cy="11879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err="1" smtClean="0">
                <a:latin typeface="Arial" pitchFamily="34" charset="0"/>
              </a:rPr>
              <a:t>Process</a:t>
            </a:r>
            <a:r>
              <a:rPr lang="nl-NL" sz="1400" dirty="0" smtClean="0">
                <a:latin typeface="Arial" pitchFamily="34" charset="0"/>
              </a:rPr>
              <a:t> C Analyse sample</a:t>
            </a:r>
            <a:endParaRPr lang="nl-NL" sz="1400" dirty="0">
              <a:latin typeface="Arial" pitchFamily="34" charset="0"/>
            </a:endParaRPr>
          </a:p>
        </p:txBody>
      </p:sp>
      <p:sp>
        <p:nvSpPr>
          <p:cNvPr id="27" name="Rechthoek 26"/>
          <p:cNvSpPr/>
          <p:nvPr/>
        </p:nvSpPr>
        <p:spPr>
          <a:xfrm>
            <a:off x="8064038" y="3825190"/>
            <a:ext cx="1777985" cy="11879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dirty="0" err="1" smtClean="0">
                <a:latin typeface="Arial" pitchFamily="34" charset="0"/>
              </a:rPr>
              <a:t>Process</a:t>
            </a:r>
            <a:r>
              <a:rPr lang="nl-NL" sz="1400" dirty="0" smtClean="0">
                <a:latin typeface="Arial" pitchFamily="34" charset="0"/>
              </a:rPr>
              <a:t> D Report sample </a:t>
            </a:r>
            <a:endParaRPr lang="nl-NL" sz="1400" dirty="0">
              <a:latin typeface="Arial" pitchFamily="34" charset="0"/>
            </a:endParaRPr>
          </a:p>
        </p:txBody>
      </p:sp>
      <p:cxnSp>
        <p:nvCxnSpPr>
          <p:cNvPr id="29" name="Rechte verbindingslijn met pijl 28"/>
          <p:cNvCxnSpPr/>
          <p:nvPr/>
        </p:nvCxnSpPr>
        <p:spPr>
          <a:xfrm flipV="1">
            <a:off x="4993240" y="4403101"/>
            <a:ext cx="652285"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Rechte verbindingslijn met pijl 29"/>
          <p:cNvCxnSpPr/>
          <p:nvPr/>
        </p:nvCxnSpPr>
        <p:spPr>
          <a:xfrm flipV="1">
            <a:off x="7415966" y="4403685"/>
            <a:ext cx="652285"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Rechte verbindingslijn met pijl 30"/>
          <p:cNvCxnSpPr/>
          <p:nvPr/>
        </p:nvCxnSpPr>
        <p:spPr>
          <a:xfrm flipV="1">
            <a:off x="197739" y="4422472"/>
            <a:ext cx="652285"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dirty="0" smtClean="0">
                <a:latin typeface="Arial" charset="0"/>
                <a:cs typeface="Arial" charset="0"/>
              </a:rPr>
              <a:t>Process Performance Metrics</a:t>
            </a:r>
            <a:endParaRPr sz="2400" dirty="0" smtClean="0">
              <a:latin typeface="Arial" charset="0"/>
              <a:cs typeface="Arial" charset="0"/>
            </a:endParaRPr>
          </a:p>
        </p:txBody>
      </p:sp>
      <p:sp>
        <p:nvSpPr>
          <p:cNvPr id="6" name="Rectangle 3"/>
          <p:cNvSpPr>
            <a:spLocks noGrp="1" noChangeArrowheads="1"/>
          </p:cNvSpPr>
          <p:nvPr>
            <p:ph idx="1"/>
          </p:nvPr>
        </p:nvSpPr>
        <p:spPr>
          <a:xfrm>
            <a:off x="810816" y="1340768"/>
            <a:ext cx="8910043" cy="3960520"/>
          </a:xfrm>
        </p:spPr>
        <p:txBody>
          <a:bodyPr/>
          <a:lstStyle/>
          <a:p>
            <a:r>
              <a:rPr lang="nl-NL" dirty="0" err="1" smtClean="0"/>
              <a:t>Process</a:t>
            </a:r>
            <a:r>
              <a:rPr lang="nl-NL" dirty="0" smtClean="0"/>
              <a:t> </a:t>
            </a:r>
            <a:r>
              <a:rPr lang="nl-NL" dirty="0" err="1" smtClean="0"/>
              <a:t>yield</a:t>
            </a:r>
            <a:endParaRPr lang="nl-NL" dirty="0" smtClean="0"/>
          </a:p>
          <a:p>
            <a:pPr lvl="1"/>
            <a:endParaRPr lang="nl-NL" dirty="0" smtClean="0"/>
          </a:p>
          <a:p>
            <a:pPr lvl="1"/>
            <a:endParaRPr lang="nl-NL" dirty="0" smtClean="0"/>
          </a:p>
          <a:p>
            <a:pPr lvl="1"/>
            <a:endParaRPr lang="nl-NL" dirty="0" smtClean="0"/>
          </a:p>
          <a:p>
            <a:pPr lvl="1"/>
            <a:endParaRPr lang="nl-NL" dirty="0" smtClean="0"/>
          </a:p>
          <a:p>
            <a:pPr lvl="1"/>
            <a:endParaRPr lang="nl-NL" dirty="0" smtClean="0"/>
          </a:p>
          <a:p>
            <a:pPr lvl="1"/>
            <a:endParaRPr lang="nl-NL" dirty="0"/>
          </a:p>
          <a:p>
            <a:pPr lvl="1"/>
            <a:endParaRPr lang="nl-NL" dirty="0" smtClean="0"/>
          </a:p>
          <a:p>
            <a:pPr lvl="1"/>
            <a:endParaRPr lang="nl-NL" dirty="0" smtClean="0"/>
          </a:p>
          <a:p>
            <a:pPr lvl="1"/>
            <a:endParaRPr lang="nl-NL" dirty="0" smtClean="0"/>
          </a:p>
          <a:p>
            <a:pPr lvl="1"/>
            <a:endParaRPr lang="nl-NL" dirty="0" smtClean="0"/>
          </a:p>
          <a:p>
            <a:pPr lvl="1">
              <a:buClrTx/>
            </a:pPr>
            <a:r>
              <a:rPr lang="en-US" dirty="0" smtClean="0"/>
              <a:t>Process yield =</a:t>
            </a:r>
          </a:p>
        </p:txBody>
      </p:sp>
      <p:sp>
        <p:nvSpPr>
          <p:cNvPr id="2" name="Tijdelijke aanduiding voor tekst 1"/>
          <p:cNvSpPr>
            <a:spLocks noGrp="1"/>
          </p:cNvSpPr>
          <p:nvPr>
            <p:ph type="body" sz="quarter" idx="13"/>
          </p:nvPr>
        </p:nvSpPr>
        <p:spPr/>
        <p:txBody>
          <a:bodyPr/>
          <a:lstStyle/>
          <a:p>
            <a:endParaRPr lang="en-GB"/>
          </a:p>
        </p:txBody>
      </p:sp>
      <p:graphicFrame>
        <p:nvGraphicFramePr>
          <p:cNvPr id="7" name="Tabel 6"/>
          <p:cNvGraphicFramePr>
            <a:graphicFrameLocks noGrp="1"/>
          </p:cNvGraphicFramePr>
          <p:nvPr>
            <p:extLst>
              <p:ext uri="{D42A27DB-BD31-4B8C-83A1-F6EECF244321}">
                <p14:modId xmlns:p14="http://schemas.microsoft.com/office/powerpoint/2010/main" val="4251661103"/>
              </p:ext>
            </p:extLst>
          </p:nvPr>
        </p:nvGraphicFramePr>
        <p:xfrm>
          <a:off x="810000" y="1980000"/>
          <a:ext cx="7978905" cy="1828800"/>
        </p:xfrm>
        <a:graphic>
          <a:graphicData uri="http://schemas.openxmlformats.org/drawingml/2006/table">
            <a:tbl>
              <a:tblPr firstRow="1" bandRow="1">
                <a:tableStyleId>{5C22544A-7EE6-4342-B048-85BDC9FD1C3A}</a:tableStyleId>
              </a:tblPr>
              <a:tblGrid>
                <a:gridCol w="1147592"/>
                <a:gridCol w="1241692"/>
                <a:gridCol w="567063"/>
                <a:gridCol w="2382057"/>
                <a:gridCol w="1697465"/>
                <a:gridCol w="943036"/>
              </a:tblGrid>
              <a:tr h="324000">
                <a:tc>
                  <a:txBody>
                    <a:bodyPr/>
                    <a:lstStyle/>
                    <a:p>
                      <a:pPr algn="ctr"/>
                      <a:r>
                        <a:rPr lang="nl-NL" dirty="0" err="1" smtClean="0">
                          <a:latin typeface="Arial" pitchFamily="34" charset="0"/>
                        </a:rPr>
                        <a:t>Process</a:t>
                      </a:r>
                      <a:endParaRPr lang="nl-NL" dirty="0">
                        <a:latin typeface="Arial" pitchFamily="34" charset="0"/>
                      </a:endParaRPr>
                    </a:p>
                  </a:txBody>
                  <a:tcPr marL="51435" marR="51435" anchor="ctr"/>
                </a:tc>
                <a:tc>
                  <a:txBody>
                    <a:bodyPr/>
                    <a:lstStyle/>
                    <a:p>
                      <a:pPr algn="ctr"/>
                      <a:r>
                        <a:rPr lang="nl-NL" dirty="0" err="1" smtClean="0">
                          <a:latin typeface="Arial" pitchFamily="34" charset="0"/>
                        </a:rPr>
                        <a:t>Scrap</a:t>
                      </a:r>
                      <a:endParaRPr lang="nl-NL" dirty="0">
                        <a:latin typeface="Arial" pitchFamily="34" charset="0"/>
                      </a:endParaRPr>
                    </a:p>
                  </a:txBody>
                  <a:tcPr marL="51435" marR="51435" anchor="ctr"/>
                </a:tc>
                <a:tc>
                  <a:txBody>
                    <a:bodyPr/>
                    <a:lstStyle/>
                    <a:p>
                      <a:pPr algn="ctr"/>
                      <a:r>
                        <a:rPr lang="nl-NL" dirty="0" smtClean="0">
                          <a:latin typeface="Arial" pitchFamily="34" charset="0"/>
                        </a:rPr>
                        <a:t>Out</a:t>
                      </a:r>
                      <a:endParaRPr lang="nl-NL" dirty="0">
                        <a:latin typeface="Arial" pitchFamily="34" charset="0"/>
                      </a:endParaRPr>
                    </a:p>
                  </a:txBody>
                  <a:tcPr marL="51435" marR="51435" anchor="ctr"/>
                </a:tc>
                <a:tc gridSpan="3">
                  <a:txBody>
                    <a:bodyPr/>
                    <a:lstStyle/>
                    <a:p>
                      <a:pPr algn="ctr"/>
                      <a:r>
                        <a:rPr lang="nl-NL" dirty="0" err="1" smtClean="0">
                          <a:latin typeface="Arial" pitchFamily="34" charset="0"/>
                        </a:rPr>
                        <a:t>Process</a:t>
                      </a:r>
                      <a:r>
                        <a:rPr lang="nl-NL" dirty="0" smtClean="0">
                          <a:latin typeface="Arial" pitchFamily="34" charset="0"/>
                        </a:rPr>
                        <a:t> </a:t>
                      </a:r>
                      <a:r>
                        <a:rPr lang="nl-NL" dirty="0" err="1" smtClean="0">
                          <a:latin typeface="Arial" pitchFamily="34" charset="0"/>
                        </a:rPr>
                        <a:t>yield</a:t>
                      </a:r>
                      <a:endParaRPr lang="nl-NL" dirty="0">
                        <a:latin typeface="Arial" pitchFamily="34" charset="0"/>
                      </a:endParaRPr>
                    </a:p>
                  </a:txBody>
                  <a:tcPr marL="51435" marR="51435" anchor="ctr"/>
                </a:tc>
                <a:tc hMerge="1">
                  <a:txBody>
                    <a:bodyPr/>
                    <a:lstStyle/>
                    <a:p>
                      <a:pPr algn="ctr"/>
                      <a:endParaRPr lang="nl-NL" dirty="0"/>
                    </a:p>
                  </a:txBody>
                  <a:tcPr marL="45720" marR="45720" anchor="ctr"/>
                </a:tc>
                <a:tc hMerge="1">
                  <a:txBody>
                    <a:bodyPr/>
                    <a:lstStyle/>
                    <a:p>
                      <a:pPr algn="ctr"/>
                      <a:endParaRPr lang="nl-NL" dirty="0"/>
                    </a:p>
                  </a:txBody>
                  <a:tcPr marL="45720" marR="45720" anchor="ctr"/>
                </a:tc>
              </a:tr>
              <a:tr h="324000">
                <a:tc>
                  <a:txBody>
                    <a:bodyPr/>
                    <a:lstStyle/>
                    <a:p>
                      <a:pPr algn="ctr"/>
                      <a:r>
                        <a:rPr lang="nl-NL" dirty="0" smtClean="0">
                          <a:latin typeface="Arial" pitchFamily="34" charset="0"/>
                        </a:rPr>
                        <a:t>A</a:t>
                      </a:r>
                      <a:endParaRPr lang="nl-NL" dirty="0">
                        <a:latin typeface="Arial" pitchFamily="34" charset="0"/>
                      </a:endParaRPr>
                    </a:p>
                  </a:txBody>
                  <a:tcPr marL="51435" marR="51435" anchor="ctr"/>
                </a:tc>
                <a:tc>
                  <a:txBody>
                    <a:bodyPr/>
                    <a:lstStyle/>
                    <a:p>
                      <a:pPr algn="ctr"/>
                      <a:r>
                        <a:rPr lang="nl-NL" dirty="0" smtClean="0">
                          <a:latin typeface="Arial" pitchFamily="34" charset="0"/>
                        </a:rPr>
                        <a:t>10</a:t>
                      </a:r>
                      <a:endParaRPr lang="nl-NL" dirty="0">
                        <a:latin typeface="Arial" pitchFamily="34" charset="0"/>
                      </a:endParaRPr>
                    </a:p>
                  </a:txBody>
                  <a:tcPr marL="51435" marR="51435" anchor="ctr"/>
                </a:tc>
                <a:tc>
                  <a:txBody>
                    <a:bodyPr/>
                    <a:lstStyle/>
                    <a:p>
                      <a:pPr algn="ctr"/>
                      <a:r>
                        <a:rPr lang="nl-NL" dirty="0" smtClean="0">
                          <a:latin typeface="Arial" pitchFamily="34" charset="0"/>
                        </a:rPr>
                        <a:t>90</a:t>
                      </a:r>
                      <a:endParaRPr lang="nl-NL" dirty="0">
                        <a:latin typeface="Arial" pitchFamily="34" charset="0"/>
                      </a:endParaRPr>
                    </a:p>
                  </a:txBody>
                  <a:tcPr marL="51435" marR="51435"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charset="0"/>
                          <a:cs typeface="Arial" charset="0"/>
                        </a:rPr>
                        <a:t>90 / (90+10)</a:t>
                      </a:r>
                    </a:p>
                  </a:txBody>
                  <a:tcPr marL="102870" marR="102870"/>
                </a:tc>
                <a:tc>
                  <a:txBody>
                    <a:bodyPr/>
                    <a:lstStyle/>
                    <a:p>
                      <a:r>
                        <a:rPr lang="en-US" dirty="0" smtClean="0">
                          <a:latin typeface="Arial" charset="0"/>
                          <a:cs typeface="Arial" charset="0"/>
                        </a:rPr>
                        <a:t>= 90 /100</a:t>
                      </a:r>
                      <a:endParaRPr lang="nl-NL" dirty="0">
                        <a:latin typeface="Arial" pitchFamily="34" charset="0"/>
                      </a:endParaRPr>
                    </a:p>
                  </a:txBody>
                  <a:tcPr marL="102870" marR="102870"/>
                </a:tc>
                <a:tc>
                  <a:txBody>
                    <a:bodyPr/>
                    <a:lstStyle/>
                    <a:p>
                      <a:r>
                        <a:rPr lang="en-US" dirty="0" smtClean="0">
                          <a:latin typeface="Arial" charset="0"/>
                          <a:cs typeface="Arial" charset="0"/>
                        </a:rPr>
                        <a:t>= 90%</a:t>
                      </a:r>
                      <a:endParaRPr lang="nl-NL" dirty="0">
                        <a:latin typeface="Arial" pitchFamily="34" charset="0"/>
                      </a:endParaRPr>
                    </a:p>
                  </a:txBody>
                  <a:tcPr marL="102870" marR="102870"/>
                </a:tc>
              </a:tr>
              <a:tr h="324000">
                <a:tc>
                  <a:txBody>
                    <a:bodyPr/>
                    <a:lstStyle/>
                    <a:p>
                      <a:pPr algn="ctr"/>
                      <a:r>
                        <a:rPr lang="nl-NL" dirty="0" smtClean="0">
                          <a:latin typeface="Arial" pitchFamily="34" charset="0"/>
                        </a:rPr>
                        <a:t>B</a:t>
                      </a:r>
                      <a:endParaRPr lang="nl-NL" dirty="0">
                        <a:latin typeface="Arial" pitchFamily="34" charset="0"/>
                      </a:endParaRPr>
                    </a:p>
                  </a:txBody>
                  <a:tcPr marL="51435" marR="51435" anchor="ctr"/>
                </a:tc>
                <a:tc>
                  <a:txBody>
                    <a:bodyPr/>
                    <a:lstStyle/>
                    <a:p>
                      <a:pPr algn="ctr"/>
                      <a:r>
                        <a:rPr lang="nl-NL" dirty="0" smtClean="0">
                          <a:latin typeface="Arial" pitchFamily="34" charset="0"/>
                        </a:rPr>
                        <a:t>10</a:t>
                      </a:r>
                      <a:endParaRPr lang="nl-NL" dirty="0">
                        <a:latin typeface="Arial" pitchFamily="34" charset="0"/>
                      </a:endParaRPr>
                    </a:p>
                  </a:txBody>
                  <a:tcPr marL="51435" marR="51435" anchor="ctr"/>
                </a:tc>
                <a:tc>
                  <a:txBody>
                    <a:bodyPr/>
                    <a:lstStyle/>
                    <a:p>
                      <a:pPr algn="ctr"/>
                      <a:r>
                        <a:rPr lang="nl-NL" dirty="0" smtClean="0">
                          <a:latin typeface="Arial" pitchFamily="34" charset="0"/>
                        </a:rPr>
                        <a:t>80</a:t>
                      </a:r>
                      <a:endParaRPr lang="nl-NL" dirty="0">
                        <a:latin typeface="Arial" pitchFamily="34" charset="0"/>
                      </a:endParaRPr>
                    </a:p>
                  </a:txBody>
                  <a:tcPr marL="51435" marR="51435"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charset="0"/>
                          <a:cs typeface="Arial" charset="0"/>
                        </a:rPr>
                        <a:t>80 / (80+10)</a:t>
                      </a:r>
                    </a:p>
                  </a:txBody>
                  <a:tcPr marL="102870" marR="102870"/>
                </a:tc>
                <a:tc>
                  <a:txBody>
                    <a:bodyPr/>
                    <a:lstStyle/>
                    <a:p>
                      <a:r>
                        <a:rPr lang="en-US" dirty="0" smtClean="0">
                          <a:latin typeface="Arial" charset="0"/>
                          <a:cs typeface="Arial" charset="0"/>
                        </a:rPr>
                        <a:t>= 80 / 90</a:t>
                      </a:r>
                      <a:endParaRPr lang="nl-NL" dirty="0">
                        <a:latin typeface="Arial" pitchFamily="34" charset="0"/>
                      </a:endParaRPr>
                    </a:p>
                  </a:txBody>
                  <a:tcPr marL="102870" marR="102870"/>
                </a:tc>
                <a:tc>
                  <a:txBody>
                    <a:bodyPr/>
                    <a:lstStyle/>
                    <a:p>
                      <a:r>
                        <a:rPr lang="en-US" dirty="0" smtClean="0">
                          <a:latin typeface="Arial" charset="0"/>
                          <a:cs typeface="Arial" charset="0"/>
                        </a:rPr>
                        <a:t>= 89%</a:t>
                      </a:r>
                      <a:endParaRPr lang="nl-NL" dirty="0">
                        <a:latin typeface="Arial" pitchFamily="34" charset="0"/>
                      </a:endParaRPr>
                    </a:p>
                  </a:txBody>
                  <a:tcPr marL="102870" marR="102870"/>
                </a:tc>
              </a:tr>
              <a:tr h="324000">
                <a:tc>
                  <a:txBody>
                    <a:bodyPr/>
                    <a:lstStyle/>
                    <a:p>
                      <a:pPr algn="ctr"/>
                      <a:r>
                        <a:rPr lang="nl-NL" dirty="0" smtClean="0">
                          <a:latin typeface="Arial" pitchFamily="34" charset="0"/>
                        </a:rPr>
                        <a:t>C</a:t>
                      </a:r>
                      <a:endParaRPr lang="nl-NL" dirty="0">
                        <a:latin typeface="Arial" pitchFamily="34" charset="0"/>
                      </a:endParaRPr>
                    </a:p>
                  </a:txBody>
                  <a:tcPr marL="51435" marR="51435" anchor="ctr"/>
                </a:tc>
                <a:tc>
                  <a:txBody>
                    <a:bodyPr/>
                    <a:lstStyle/>
                    <a:p>
                      <a:pPr algn="ctr"/>
                      <a:r>
                        <a:rPr lang="nl-NL" dirty="0" smtClean="0">
                          <a:latin typeface="Arial" pitchFamily="34" charset="0"/>
                        </a:rPr>
                        <a:t>5</a:t>
                      </a:r>
                      <a:endParaRPr lang="nl-NL" dirty="0">
                        <a:latin typeface="Arial" pitchFamily="34" charset="0"/>
                      </a:endParaRPr>
                    </a:p>
                  </a:txBody>
                  <a:tcPr marL="51435" marR="51435" anchor="ctr"/>
                </a:tc>
                <a:tc>
                  <a:txBody>
                    <a:bodyPr/>
                    <a:lstStyle/>
                    <a:p>
                      <a:pPr algn="ctr"/>
                      <a:r>
                        <a:rPr lang="nl-NL" dirty="0" smtClean="0">
                          <a:latin typeface="Arial" pitchFamily="34" charset="0"/>
                        </a:rPr>
                        <a:t>75</a:t>
                      </a:r>
                      <a:endParaRPr lang="nl-NL" dirty="0">
                        <a:latin typeface="Arial" pitchFamily="34" charset="0"/>
                      </a:endParaRPr>
                    </a:p>
                  </a:txBody>
                  <a:tcPr marL="51435" marR="51435"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charset="0"/>
                          <a:cs typeface="Arial" charset="0"/>
                        </a:rPr>
                        <a:t>75 / (75+5)</a:t>
                      </a:r>
                    </a:p>
                  </a:txBody>
                  <a:tcPr marL="102870" marR="102870"/>
                </a:tc>
                <a:tc>
                  <a:txBody>
                    <a:bodyPr/>
                    <a:lstStyle/>
                    <a:p>
                      <a:r>
                        <a:rPr lang="en-US" dirty="0" smtClean="0">
                          <a:latin typeface="Arial" charset="0"/>
                          <a:cs typeface="Arial" charset="0"/>
                        </a:rPr>
                        <a:t>= 75 / 80</a:t>
                      </a:r>
                      <a:endParaRPr lang="nl-NL" dirty="0">
                        <a:latin typeface="Arial" pitchFamily="34" charset="0"/>
                      </a:endParaRPr>
                    </a:p>
                  </a:txBody>
                  <a:tcPr marL="102870" marR="102870"/>
                </a:tc>
                <a:tc>
                  <a:txBody>
                    <a:bodyPr/>
                    <a:lstStyle/>
                    <a:p>
                      <a:r>
                        <a:rPr lang="en-US" dirty="0" smtClean="0">
                          <a:latin typeface="Arial" charset="0"/>
                          <a:cs typeface="Arial" charset="0"/>
                        </a:rPr>
                        <a:t>= 94%</a:t>
                      </a:r>
                      <a:endParaRPr lang="nl-NL" dirty="0">
                        <a:latin typeface="Arial" pitchFamily="34" charset="0"/>
                      </a:endParaRPr>
                    </a:p>
                  </a:txBody>
                  <a:tcPr marL="102870" marR="102870"/>
                </a:tc>
              </a:tr>
              <a:tr h="324000">
                <a:tc>
                  <a:txBody>
                    <a:bodyPr/>
                    <a:lstStyle/>
                    <a:p>
                      <a:pPr algn="ctr"/>
                      <a:r>
                        <a:rPr lang="nl-NL" dirty="0" smtClean="0">
                          <a:latin typeface="Arial" pitchFamily="34" charset="0"/>
                        </a:rPr>
                        <a:t>D</a:t>
                      </a:r>
                      <a:endParaRPr lang="nl-NL" dirty="0">
                        <a:latin typeface="Arial" pitchFamily="34" charset="0"/>
                      </a:endParaRPr>
                    </a:p>
                  </a:txBody>
                  <a:tcPr marL="51435" marR="51435" anchor="ctr"/>
                </a:tc>
                <a:tc>
                  <a:txBody>
                    <a:bodyPr/>
                    <a:lstStyle/>
                    <a:p>
                      <a:pPr algn="ctr"/>
                      <a:r>
                        <a:rPr lang="nl-NL" dirty="0" smtClean="0">
                          <a:latin typeface="Arial" pitchFamily="34" charset="0"/>
                        </a:rPr>
                        <a:t>5</a:t>
                      </a:r>
                      <a:endParaRPr lang="nl-NL" dirty="0">
                        <a:latin typeface="Arial" pitchFamily="34" charset="0"/>
                      </a:endParaRPr>
                    </a:p>
                  </a:txBody>
                  <a:tcPr marL="51435" marR="51435" anchor="ctr"/>
                </a:tc>
                <a:tc>
                  <a:txBody>
                    <a:bodyPr/>
                    <a:lstStyle/>
                    <a:p>
                      <a:pPr algn="ctr"/>
                      <a:r>
                        <a:rPr lang="nl-NL" dirty="0" smtClean="0">
                          <a:latin typeface="Arial" pitchFamily="34" charset="0"/>
                        </a:rPr>
                        <a:t>70</a:t>
                      </a:r>
                      <a:endParaRPr lang="nl-NL" dirty="0">
                        <a:latin typeface="Arial" pitchFamily="34" charset="0"/>
                      </a:endParaRPr>
                    </a:p>
                  </a:txBody>
                  <a:tcPr marL="51435" marR="51435"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charset="0"/>
                          <a:cs typeface="Arial" charset="0"/>
                        </a:rPr>
                        <a:t>70 / (70+5)</a:t>
                      </a:r>
                    </a:p>
                  </a:txBody>
                  <a:tcPr marL="102870" marR="102870"/>
                </a:tc>
                <a:tc>
                  <a:txBody>
                    <a:bodyPr/>
                    <a:lstStyle/>
                    <a:p>
                      <a:r>
                        <a:rPr lang="en-US" dirty="0" smtClean="0">
                          <a:latin typeface="Arial" charset="0"/>
                          <a:cs typeface="Arial" charset="0"/>
                        </a:rPr>
                        <a:t>= 70 / 75</a:t>
                      </a:r>
                      <a:endParaRPr lang="nl-NL" dirty="0">
                        <a:latin typeface="Arial" pitchFamily="34" charset="0"/>
                      </a:endParaRPr>
                    </a:p>
                  </a:txBody>
                  <a:tcPr marL="102870" marR="102870"/>
                </a:tc>
                <a:tc>
                  <a:txBody>
                    <a:bodyPr/>
                    <a:lstStyle/>
                    <a:p>
                      <a:r>
                        <a:rPr lang="en-US" dirty="0" smtClean="0">
                          <a:latin typeface="Arial" charset="0"/>
                          <a:cs typeface="Arial" charset="0"/>
                        </a:rPr>
                        <a:t>= 93%</a:t>
                      </a:r>
                      <a:endParaRPr lang="nl-NL" dirty="0">
                        <a:latin typeface="Arial" pitchFamily="34" charset="0"/>
                      </a:endParaRPr>
                    </a:p>
                  </a:txBody>
                  <a:tcPr marL="102870" marR="102870"/>
                </a:tc>
              </a:tr>
            </a:tbl>
          </a:graphicData>
        </a:graphic>
      </p:graphicFrame>
      <p:sp>
        <p:nvSpPr>
          <p:cNvPr id="8" name="Rectangle 6"/>
          <p:cNvSpPr>
            <a:spLocks noChangeArrowheads="1"/>
          </p:cNvSpPr>
          <p:nvPr/>
        </p:nvSpPr>
        <p:spPr bwMode="auto">
          <a:xfrm>
            <a:off x="3756556" y="2705360"/>
            <a:ext cx="5251383" cy="1512168"/>
          </a:xfrm>
          <a:prstGeom prst="rect">
            <a:avLst/>
          </a:prstGeom>
          <a:solidFill>
            <a:schemeClr val="bg1"/>
          </a:solidFill>
          <a:ln w="9525">
            <a:noFill/>
            <a:miter lim="800000"/>
            <a:headEnd/>
            <a:tailEnd/>
          </a:ln>
        </p:spPr>
        <p:txBody>
          <a:bodyPr wrap="none" anchor="ctr"/>
          <a:lstStyle/>
          <a:p>
            <a:endParaRPr lang="sv-SE"/>
          </a:p>
        </p:txBody>
      </p:sp>
      <p:sp>
        <p:nvSpPr>
          <p:cNvPr id="9" name="Rectangle 6"/>
          <p:cNvSpPr>
            <a:spLocks noChangeArrowheads="1"/>
          </p:cNvSpPr>
          <p:nvPr/>
        </p:nvSpPr>
        <p:spPr bwMode="auto">
          <a:xfrm>
            <a:off x="3079292" y="4344623"/>
            <a:ext cx="6000750" cy="355104"/>
          </a:xfrm>
          <a:prstGeom prst="rect">
            <a:avLst/>
          </a:prstGeom>
          <a:solidFill>
            <a:schemeClr val="bg1"/>
          </a:solidFill>
          <a:ln w="9525">
            <a:noFill/>
            <a:miter lim="800000"/>
            <a:headEnd/>
            <a:tailEnd/>
          </a:ln>
        </p:spPr>
        <p:txBody>
          <a:bodyPr wrap="none" anchor="ctr"/>
          <a:lstStyle/>
          <a:p>
            <a:endParaRPr lang="sv-SE"/>
          </a:p>
        </p:txBody>
      </p:sp>
      <p:sp>
        <p:nvSpPr>
          <p:cNvPr id="21" name="Rechthoek 20"/>
          <p:cNvSpPr/>
          <p:nvPr/>
        </p:nvSpPr>
        <p:spPr>
          <a:xfrm>
            <a:off x="5308560" y="5301288"/>
            <a:ext cx="12150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smtClean="0">
                <a:latin typeface="Arial" pitchFamily="34" charset="0"/>
              </a:rPr>
              <a:t>C</a:t>
            </a:r>
            <a:endParaRPr lang="nl-NL" dirty="0">
              <a:latin typeface="Arial" pitchFamily="34" charset="0"/>
            </a:endParaRPr>
          </a:p>
        </p:txBody>
      </p:sp>
      <p:sp>
        <p:nvSpPr>
          <p:cNvPr id="22" name="Rechthoek 21"/>
          <p:cNvSpPr/>
          <p:nvPr/>
        </p:nvSpPr>
        <p:spPr>
          <a:xfrm>
            <a:off x="7537829" y="5301288"/>
            <a:ext cx="12150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smtClean="0">
                <a:latin typeface="Arial" pitchFamily="34" charset="0"/>
              </a:rPr>
              <a:t>D</a:t>
            </a:r>
            <a:endParaRPr lang="nl-NL" dirty="0">
              <a:latin typeface="Arial" pitchFamily="34" charset="0"/>
            </a:endParaRPr>
          </a:p>
        </p:txBody>
      </p:sp>
      <p:sp>
        <p:nvSpPr>
          <p:cNvPr id="4" name="Tekstvak 3"/>
          <p:cNvSpPr txBox="1"/>
          <p:nvPr/>
        </p:nvSpPr>
        <p:spPr>
          <a:xfrm>
            <a:off x="2632221" y="4668677"/>
            <a:ext cx="5103567" cy="338554"/>
          </a:xfrm>
          <a:prstGeom prst="rect">
            <a:avLst/>
          </a:prstGeom>
          <a:noFill/>
        </p:spPr>
        <p:txBody>
          <a:bodyPr wrap="square" rtlCol="0">
            <a:spAutoFit/>
          </a:bodyPr>
          <a:lstStyle/>
          <a:p>
            <a:pPr lvl="1">
              <a:buClrTx/>
            </a:pPr>
            <a:r>
              <a:rPr lang="en-US" sz="1600" b="1" dirty="0">
                <a:latin typeface="Arial" panose="020B0604020202020204" pitchFamily="34" charset="0"/>
                <a:cs typeface="Arial" panose="020B0604020202020204" pitchFamily="34" charset="0"/>
              </a:rPr>
              <a:t>0.90 x 0.89 x 0.94 x 0.93 = 70%</a:t>
            </a:r>
          </a:p>
        </p:txBody>
      </p:sp>
      <p:sp>
        <p:nvSpPr>
          <p:cNvPr id="14" name="Rectangle 5"/>
          <p:cNvSpPr>
            <a:spLocks noChangeArrowheads="1"/>
          </p:cNvSpPr>
          <p:nvPr/>
        </p:nvSpPr>
        <p:spPr bwMode="auto">
          <a:xfrm>
            <a:off x="3134866" y="4503043"/>
            <a:ext cx="4895798" cy="705828"/>
          </a:xfrm>
          <a:prstGeom prst="rect">
            <a:avLst/>
          </a:prstGeom>
          <a:solidFill>
            <a:schemeClr val="bg1"/>
          </a:solidFill>
          <a:ln w="9525">
            <a:noFill/>
            <a:miter lim="800000"/>
            <a:headEnd/>
            <a:tailEnd/>
          </a:ln>
        </p:spPr>
        <p:txBody>
          <a:bodyPr wrap="none" anchor="ctr"/>
          <a:lstStyle/>
          <a:p>
            <a:endParaRPr lang="sv-SE"/>
          </a:p>
        </p:txBody>
      </p:sp>
    </p:spTree>
    <p:extLst>
      <p:ext uri="{BB962C8B-B14F-4D97-AF65-F5344CB8AC3E}">
        <p14:creationId xmlns:p14="http://schemas.microsoft.com/office/powerpoint/2010/main" val="248375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0" nodeType="clickEffect">
                                  <p:stCondLst>
                                    <p:cond delay="0"/>
                                  </p:stCondLst>
                                  <p:childTnLst>
                                    <p:animEffect transition="out" filter="blinds(horizontal)">
                                      <p:cBhvr>
                                        <p:cTn id="14" dur="500"/>
                                        <p:tgtEl>
                                          <p:spTgt spid="14"/>
                                        </p:tgtEl>
                                      </p:cBhvr>
                                    </p:animEffect>
                                    <p:set>
                                      <p:cBhvr>
                                        <p:cTn id="15"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nl-NL" smtClean="0"/>
              <a:t>Process Performance Metrics</a:t>
            </a:r>
          </a:p>
        </p:txBody>
      </p:sp>
      <p:sp>
        <p:nvSpPr>
          <p:cNvPr id="15363" name="Rectangle 3"/>
          <p:cNvSpPr>
            <a:spLocks noGrp="1" noChangeArrowheads="1"/>
          </p:cNvSpPr>
          <p:nvPr>
            <p:ph idx="1"/>
          </p:nvPr>
        </p:nvSpPr>
        <p:spPr/>
        <p:txBody>
          <a:bodyPr/>
          <a:lstStyle/>
          <a:p>
            <a:r>
              <a:rPr lang="en-GB" altLang="nl-NL" dirty="0" smtClean="0"/>
              <a:t>Example Rolled throughput yield </a:t>
            </a:r>
          </a:p>
          <a:p>
            <a:endParaRPr lang="en-GB" altLang="nl-NL" sz="1800" dirty="0"/>
          </a:p>
          <a:p>
            <a:pPr indent="-246063"/>
            <a:r>
              <a:rPr lang="en-GB" altLang="nl-NL" sz="1800" dirty="0" smtClean="0"/>
              <a:t>In the local laboratory some samples have to be reworked</a:t>
            </a:r>
            <a:endParaRPr lang="en-GB" altLang="nl-NL" dirty="0"/>
          </a:p>
          <a:p>
            <a:pPr lvl="1"/>
            <a:endParaRPr lang="en-GB" altLang="nl-NL" dirty="0" smtClean="0"/>
          </a:p>
          <a:p>
            <a:pPr lvl="1" defTabSz="703263">
              <a:buClrTx/>
            </a:pPr>
            <a:r>
              <a:rPr lang="en-GB" altLang="nl-NL" dirty="0" smtClean="0"/>
              <a:t>Process A : 100 blood samples in;     10 scrapped + 5 reworked;	90 out</a:t>
            </a:r>
          </a:p>
          <a:p>
            <a:pPr lvl="1" defTabSz="703263">
              <a:buClrTx/>
            </a:pPr>
            <a:r>
              <a:rPr lang="en-GB" altLang="nl-NL" dirty="0" smtClean="0"/>
              <a:t>Process B :   90 blood samples in;     10 scrapped + 7 reworked;	80 out</a:t>
            </a:r>
          </a:p>
          <a:p>
            <a:pPr lvl="1" defTabSz="703263">
              <a:buClrTx/>
            </a:pPr>
            <a:r>
              <a:rPr lang="en-GB" altLang="nl-NL" dirty="0" smtClean="0"/>
              <a:t>Process C :   80 blood samples in;      5 scrapped + 3 reworked;	75 out</a:t>
            </a:r>
          </a:p>
          <a:p>
            <a:pPr lvl="1" defTabSz="703263">
              <a:buClrTx/>
            </a:pPr>
            <a:r>
              <a:rPr lang="en-GB" altLang="nl-NL" dirty="0" smtClean="0"/>
              <a:t>Process D :   75 blood samples in;      5 scrapped + 5 reworked;	70 out</a:t>
            </a:r>
          </a:p>
          <a:p>
            <a:pPr lvl="1"/>
            <a:endParaRPr lang="en-GB" altLang="nl-NL" dirty="0" smtClean="0"/>
          </a:p>
          <a:p>
            <a:pPr lvl="1"/>
            <a:endParaRPr lang="en-GB" altLang="nl-NL" dirty="0" smtClean="0"/>
          </a:p>
        </p:txBody>
      </p:sp>
      <p:sp>
        <p:nvSpPr>
          <p:cNvPr id="8" name="Rectangle 4"/>
          <p:cNvSpPr>
            <a:spLocks noChangeArrowheads="1"/>
          </p:cNvSpPr>
          <p:nvPr/>
        </p:nvSpPr>
        <p:spPr bwMode="auto">
          <a:xfrm>
            <a:off x="2875248" y="4869161"/>
            <a:ext cx="6318702" cy="1008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endParaRPr lang="en-US" altLang="nl-NL"/>
          </a:p>
        </p:txBody>
      </p:sp>
      <p:sp>
        <p:nvSpPr>
          <p:cNvPr id="9" name="Rectangle 4"/>
          <p:cNvSpPr>
            <a:spLocks noChangeArrowheads="1"/>
          </p:cNvSpPr>
          <p:nvPr/>
        </p:nvSpPr>
        <p:spPr bwMode="auto">
          <a:xfrm>
            <a:off x="2713230" y="6029673"/>
            <a:ext cx="6318702" cy="2964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endParaRPr lang="en-US" altLang="nl-NL"/>
          </a:p>
        </p:txBody>
      </p:sp>
      <p:grpSp>
        <p:nvGrpSpPr>
          <p:cNvPr id="2" name="Groep 5"/>
          <p:cNvGrpSpPr/>
          <p:nvPr/>
        </p:nvGrpSpPr>
        <p:grpSpPr>
          <a:xfrm>
            <a:off x="466465" y="4437112"/>
            <a:ext cx="9537575" cy="1368152"/>
            <a:chOff x="204020" y="4293096"/>
            <a:chExt cx="8477844" cy="1368152"/>
          </a:xfrm>
        </p:grpSpPr>
        <p:sp>
          <p:nvSpPr>
            <p:cNvPr id="7" name="Rechthoek 6"/>
            <p:cNvSpPr/>
            <p:nvPr/>
          </p:nvSpPr>
          <p:spPr>
            <a:xfrm>
              <a:off x="755576" y="4329325"/>
              <a:ext cx="1080000"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smtClean="0">
                  <a:latin typeface="Arial" pitchFamily="34" charset="0"/>
                </a:rPr>
                <a:t>A</a:t>
              </a:r>
              <a:endParaRPr lang="nl-NL" dirty="0">
                <a:latin typeface="Arial" pitchFamily="34" charset="0"/>
              </a:endParaRPr>
            </a:p>
          </p:txBody>
        </p:sp>
        <p:sp>
          <p:nvSpPr>
            <p:cNvPr id="10" name="Rechthoek 9"/>
            <p:cNvSpPr/>
            <p:nvPr/>
          </p:nvSpPr>
          <p:spPr>
            <a:xfrm>
              <a:off x="2737148" y="4329325"/>
              <a:ext cx="1080000"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smtClean="0">
                  <a:latin typeface="Arial" pitchFamily="34" charset="0"/>
                </a:rPr>
                <a:t>B</a:t>
              </a:r>
              <a:endParaRPr lang="nl-NL" dirty="0">
                <a:latin typeface="Arial" pitchFamily="34" charset="0"/>
              </a:endParaRPr>
            </a:p>
          </p:txBody>
        </p:sp>
        <p:sp>
          <p:nvSpPr>
            <p:cNvPr id="11" name="Rechthoek 10"/>
            <p:cNvSpPr/>
            <p:nvPr/>
          </p:nvSpPr>
          <p:spPr>
            <a:xfrm>
              <a:off x="4718720" y="4329325"/>
              <a:ext cx="1080000"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smtClean="0">
                  <a:latin typeface="Arial" pitchFamily="34" charset="0"/>
                </a:rPr>
                <a:t>C</a:t>
              </a:r>
              <a:endParaRPr lang="nl-NL" dirty="0">
                <a:latin typeface="Arial" pitchFamily="34" charset="0"/>
              </a:endParaRPr>
            </a:p>
          </p:txBody>
        </p:sp>
        <p:sp>
          <p:nvSpPr>
            <p:cNvPr id="12" name="Rechthoek 11"/>
            <p:cNvSpPr/>
            <p:nvPr/>
          </p:nvSpPr>
          <p:spPr>
            <a:xfrm>
              <a:off x="6700292" y="4329325"/>
              <a:ext cx="1080000" cy="72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smtClean="0">
                  <a:latin typeface="Arial" pitchFamily="34" charset="0"/>
                </a:rPr>
                <a:t>D</a:t>
              </a:r>
              <a:endParaRPr lang="nl-NL" dirty="0">
                <a:latin typeface="Arial" pitchFamily="34" charset="0"/>
              </a:endParaRPr>
            </a:p>
          </p:txBody>
        </p:sp>
        <p:cxnSp>
          <p:nvCxnSpPr>
            <p:cNvPr id="13" name="Rechte verbindingslijn met pijl 12"/>
            <p:cNvCxnSpPr>
              <a:stCxn id="7" idx="3"/>
              <a:endCxn id="10" idx="1"/>
            </p:cNvCxnSpPr>
            <p:nvPr/>
          </p:nvCxnSpPr>
          <p:spPr>
            <a:xfrm>
              <a:off x="1835576" y="4689325"/>
              <a:ext cx="901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Rechte verbindingslijn met pijl 13"/>
            <p:cNvCxnSpPr>
              <a:stCxn id="10" idx="3"/>
              <a:endCxn id="11" idx="1"/>
            </p:cNvCxnSpPr>
            <p:nvPr/>
          </p:nvCxnSpPr>
          <p:spPr>
            <a:xfrm>
              <a:off x="3817148" y="4689325"/>
              <a:ext cx="901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Rechte verbindingslijn met pijl 14"/>
            <p:cNvCxnSpPr>
              <a:stCxn id="11" idx="3"/>
              <a:endCxn id="12" idx="1"/>
            </p:cNvCxnSpPr>
            <p:nvPr/>
          </p:nvCxnSpPr>
          <p:spPr>
            <a:xfrm>
              <a:off x="5798720" y="4689325"/>
              <a:ext cx="901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Rechte verbindingslijn met pijl 15"/>
            <p:cNvCxnSpPr>
              <a:stCxn id="12" idx="3"/>
            </p:cNvCxnSpPr>
            <p:nvPr/>
          </p:nvCxnSpPr>
          <p:spPr>
            <a:xfrm>
              <a:off x="7780292" y="4689325"/>
              <a:ext cx="9015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Rechte verbindingslijn met pijl 16"/>
            <p:cNvCxnSpPr>
              <a:stCxn id="7" idx="2"/>
            </p:cNvCxnSpPr>
            <p:nvPr/>
          </p:nvCxnSpPr>
          <p:spPr>
            <a:xfrm>
              <a:off x="1295576" y="5049325"/>
              <a:ext cx="0" cy="5399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Rechte verbindingslijn met pijl 17"/>
            <p:cNvCxnSpPr>
              <a:stCxn id="10" idx="2"/>
            </p:cNvCxnSpPr>
            <p:nvPr/>
          </p:nvCxnSpPr>
          <p:spPr>
            <a:xfrm>
              <a:off x="3277148" y="5049325"/>
              <a:ext cx="0" cy="5399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Rechte verbindingslijn met pijl 18"/>
            <p:cNvCxnSpPr>
              <a:stCxn id="11" idx="2"/>
            </p:cNvCxnSpPr>
            <p:nvPr/>
          </p:nvCxnSpPr>
          <p:spPr>
            <a:xfrm>
              <a:off x="5258720" y="5049325"/>
              <a:ext cx="0" cy="5399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Rechte verbindingslijn met pijl 19"/>
            <p:cNvCxnSpPr>
              <a:stCxn id="12" idx="2"/>
            </p:cNvCxnSpPr>
            <p:nvPr/>
          </p:nvCxnSpPr>
          <p:spPr>
            <a:xfrm>
              <a:off x="7240292" y="5049325"/>
              <a:ext cx="0" cy="5399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Tekstvak 20"/>
            <p:cNvSpPr txBox="1"/>
            <p:nvPr/>
          </p:nvSpPr>
          <p:spPr>
            <a:xfrm>
              <a:off x="1835696" y="4293096"/>
              <a:ext cx="540000" cy="369332"/>
            </a:xfrm>
            <a:prstGeom prst="rect">
              <a:avLst/>
            </a:prstGeom>
            <a:noFill/>
          </p:spPr>
          <p:txBody>
            <a:bodyPr wrap="square" rtlCol="0">
              <a:spAutoFit/>
            </a:bodyPr>
            <a:lstStyle/>
            <a:p>
              <a:r>
                <a:rPr lang="nl-NL" dirty="0" smtClean="0"/>
                <a:t>90</a:t>
              </a:r>
              <a:endParaRPr lang="nl-NL" dirty="0"/>
            </a:p>
          </p:txBody>
        </p:sp>
        <p:sp>
          <p:nvSpPr>
            <p:cNvPr id="22" name="Tekstvak 21"/>
            <p:cNvSpPr txBox="1"/>
            <p:nvPr/>
          </p:nvSpPr>
          <p:spPr>
            <a:xfrm>
              <a:off x="3851920" y="4293096"/>
              <a:ext cx="540000" cy="369332"/>
            </a:xfrm>
            <a:prstGeom prst="rect">
              <a:avLst/>
            </a:prstGeom>
            <a:noFill/>
          </p:spPr>
          <p:txBody>
            <a:bodyPr wrap="square" rtlCol="0">
              <a:spAutoFit/>
            </a:bodyPr>
            <a:lstStyle/>
            <a:p>
              <a:r>
                <a:rPr lang="nl-NL" dirty="0" smtClean="0"/>
                <a:t>80</a:t>
              </a:r>
              <a:endParaRPr lang="nl-NL" dirty="0"/>
            </a:p>
          </p:txBody>
        </p:sp>
        <p:sp>
          <p:nvSpPr>
            <p:cNvPr id="23" name="Tekstvak 22"/>
            <p:cNvSpPr txBox="1"/>
            <p:nvPr/>
          </p:nvSpPr>
          <p:spPr>
            <a:xfrm>
              <a:off x="5796136" y="4293096"/>
              <a:ext cx="540000" cy="369332"/>
            </a:xfrm>
            <a:prstGeom prst="rect">
              <a:avLst/>
            </a:prstGeom>
            <a:noFill/>
          </p:spPr>
          <p:txBody>
            <a:bodyPr wrap="square" rtlCol="0">
              <a:spAutoFit/>
            </a:bodyPr>
            <a:lstStyle/>
            <a:p>
              <a:r>
                <a:rPr lang="nl-NL" dirty="0" smtClean="0"/>
                <a:t>75</a:t>
              </a:r>
              <a:endParaRPr lang="nl-NL" dirty="0"/>
            </a:p>
          </p:txBody>
        </p:sp>
        <p:sp>
          <p:nvSpPr>
            <p:cNvPr id="24" name="Tekstvak 23"/>
            <p:cNvSpPr txBox="1"/>
            <p:nvPr/>
          </p:nvSpPr>
          <p:spPr>
            <a:xfrm>
              <a:off x="7812360" y="4293096"/>
              <a:ext cx="540000" cy="369332"/>
            </a:xfrm>
            <a:prstGeom prst="rect">
              <a:avLst/>
            </a:prstGeom>
            <a:noFill/>
          </p:spPr>
          <p:txBody>
            <a:bodyPr wrap="square" rtlCol="0">
              <a:spAutoFit/>
            </a:bodyPr>
            <a:lstStyle/>
            <a:p>
              <a:r>
                <a:rPr lang="nl-NL" dirty="0" smtClean="0"/>
                <a:t>70</a:t>
              </a:r>
              <a:endParaRPr lang="nl-NL" dirty="0"/>
            </a:p>
          </p:txBody>
        </p:sp>
        <p:sp>
          <p:nvSpPr>
            <p:cNvPr id="25" name="Tekstvak 24"/>
            <p:cNvSpPr txBox="1"/>
            <p:nvPr/>
          </p:nvSpPr>
          <p:spPr>
            <a:xfrm>
              <a:off x="1259632" y="5291876"/>
              <a:ext cx="540000" cy="369332"/>
            </a:xfrm>
            <a:prstGeom prst="rect">
              <a:avLst/>
            </a:prstGeom>
            <a:noFill/>
          </p:spPr>
          <p:txBody>
            <a:bodyPr wrap="square" rtlCol="0">
              <a:spAutoFit/>
            </a:bodyPr>
            <a:lstStyle/>
            <a:p>
              <a:r>
                <a:rPr lang="nl-NL" dirty="0" smtClean="0"/>
                <a:t>10</a:t>
              </a:r>
              <a:endParaRPr lang="nl-NL" dirty="0"/>
            </a:p>
          </p:txBody>
        </p:sp>
        <p:sp>
          <p:nvSpPr>
            <p:cNvPr id="26" name="Tekstvak 25"/>
            <p:cNvSpPr txBox="1"/>
            <p:nvPr/>
          </p:nvSpPr>
          <p:spPr>
            <a:xfrm>
              <a:off x="3275856" y="5291916"/>
              <a:ext cx="540000" cy="369332"/>
            </a:xfrm>
            <a:prstGeom prst="rect">
              <a:avLst/>
            </a:prstGeom>
            <a:noFill/>
          </p:spPr>
          <p:txBody>
            <a:bodyPr wrap="square" rtlCol="0">
              <a:spAutoFit/>
            </a:bodyPr>
            <a:lstStyle/>
            <a:p>
              <a:r>
                <a:rPr lang="nl-NL" dirty="0" smtClean="0"/>
                <a:t>10</a:t>
              </a:r>
              <a:endParaRPr lang="nl-NL" dirty="0"/>
            </a:p>
          </p:txBody>
        </p:sp>
        <p:sp>
          <p:nvSpPr>
            <p:cNvPr id="27" name="Tekstvak 26"/>
            <p:cNvSpPr txBox="1"/>
            <p:nvPr/>
          </p:nvSpPr>
          <p:spPr>
            <a:xfrm>
              <a:off x="5220072" y="5291876"/>
              <a:ext cx="540000" cy="369332"/>
            </a:xfrm>
            <a:prstGeom prst="rect">
              <a:avLst/>
            </a:prstGeom>
            <a:noFill/>
          </p:spPr>
          <p:txBody>
            <a:bodyPr wrap="square" rtlCol="0">
              <a:spAutoFit/>
            </a:bodyPr>
            <a:lstStyle/>
            <a:p>
              <a:r>
                <a:rPr lang="nl-NL" dirty="0" smtClean="0"/>
                <a:t>5</a:t>
              </a:r>
              <a:endParaRPr lang="nl-NL" dirty="0"/>
            </a:p>
          </p:txBody>
        </p:sp>
        <p:sp>
          <p:nvSpPr>
            <p:cNvPr id="28" name="Tekstvak 27"/>
            <p:cNvSpPr txBox="1"/>
            <p:nvPr/>
          </p:nvSpPr>
          <p:spPr>
            <a:xfrm>
              <a:off x="7236296" y="5291876"/>
              <a:ext cx="540000" cy="369332"/>
            </a:xfrm>
            <a:prstGeom prst="rect">
              <a:avLst/>
            </a:prstGeom>
            <a:noFill/>
          </p:spPr>
          <p:txBody>
            <a:bodyPr wrap="square" rtlCol="0">
              <a:spAutoFit/>
            </a:bodyPr>
            <a:lstStyle/>
            <a:p>
              <a:r>
                <a:rPr lang="nl-NL" dirty="0" smtClean="0"/>
                <a:t>5</a:t>
              </a:r>
              <a:endParaRPr lang="nl-NL" dirty="0"/>
            </a:p>
          </p:txBody>
        </p:sp>
        <p:cxnSp>
          <p:nvCxnSpPr>
            <p:cNvPr id="29" name="Gebogen verbindingslijn 28"/>
            <p:cNvCxnSpPr>
              <a:stCxn id="7" idx="2"/>
            </p:cNvCxnSpPr>
            <p:nvPr/>
          </p:nvCxnSpPr>
          <p:spPr>
            <a:xfrm rot="5400000" flipH="1">
              <a:off x="845576" y="4599325"/>
              <a:ext cx="360000" cy="540000"/>
            </a:xfrm>
            <a:prstGeom prst="bentConnector4">
              <a:avLst>
                <a:gd name="adj1" fmla="val -63500"/>
                <a:gd name="adj2" fmla="val 15842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Gebogen verbindingslijn 29"/>
            <p:cNvCxnSpPr>
              <a:stCxn id="10" idx="2"/>
              <a:endCxn id="10" idx="1"/>
            </p:cNvCxnSpPr>
            <p:nvPr/>
          </p:nvCxnSpPr>
          <p:spPr>
            <a:xfrm rot="5400000" flipH="1">
              <a:off x="2827148" y="4599325"/>
              <a:ext cx="360000" cy="540000"/>
            </a:xfrm>
            <a:prstGeom prst="bentConnector4">
              <a:avLst>
                <a:gd name="adj1" fmla="val -63500"/>
                <a:gd name="adj2" fmla="val 14233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Gebogen verbindingslijn 30"/>
            <p:cNvCxnSpPr>
              <a:stCxn id="11" idx="2"/>
              <a:endCxn id="11" idx="1"/>
            </p:cNvCxnSpPr>
            <p:nvPr/>
          </p:nvCxnSpPr>
          <p:spPr>
            <a:xfrm rot="5400000" flipH="1">
              <a:off x="4808720" y="4599325"/>
              <a:ext cx="360000" cy="540000"/>
            </a:xfrm>
            <a:prstGeom prst="bentConnector4">
              <a:avLst>
                <a:gd name="adj1" fmla="val -63500"/>
                <a:gd name="adj2" fmla="val 14233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Gebogen verbindingslijn 31"/>
            <p:cNvCxnSpPr>
              <a:stCxn id="12" idx="2"/>
              <a:endCxn id="12" idx="1"/>
            </p:cNvCxnSpPr>
            <p:nvPr/>
          </p:nvCxnSpPr>
          <p:spPr>
            <a:xfrm rot="5400000" flipH="1">
              <a:off x="6790292" y="4599325"/>
              <a:ext cx="360000" cy="540000"/>
            </a:xfrm>
            <a:prstGeom prst="bentConnector4">
              <a:avLst>
                <a:gd name="adj1" fmla="val -63500"/>
                <a:gd name="adj2" fmla="val 142333"/>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Tekstvak 32"/>
            <p:cNvSpPr txBox="1"/>
            <p:nvPr/>
          </p:nvSpPr>
          <p:spPr>
            <a:xfrm>
              <a:off x="204020" y="4715852"/>
              <a:ext cx="540000" cy="369332"/>
            </a:xfrm>
            <a:prstGeom prst="rect">
              <a:avLst/>
            </a:prstGeom>
            <a:noFill/>
          </p:spPr>
          <p:txBody>
            <a:bodyPr wrap="square" rtlCol="0">
              <a:spAutoFit/>
            </a:bodyPr>
            <a:lstStyle/>
            <a:p>
              <a:r>
                <a:rPr lang="nl-NL" dirty="0" smtClean="0"/>
                <a:t>5</a:t>
              </a:r>
              <a:endParaRPr lang="nl-NL" dirty="0"/>
            </a:p>
          </p:txBody>
        </p:sp>
        <p:sp>
          <p:nvSpPr>
            <p:cNvPr id="34" name="Tekstvak 33"/>
            <p:cNvSpPr txBox="1"/>
            <p:nvPr/>
          </p:nvSpPr>
          <p:spPr>
            <a:xfrm>
              <a:off x="2268183" y="4715852"/>
              <a:ext cx="540000" cy="369332"/>
            </a:xfrm>
            <a:prstGeom prst="rect">
              <a:avLst/>
            </a:prstGeom>
            <a:noFill/>
          </p:spPr>
          <p:txBody>
            <a:bodyPr wrap="square" rtlCol="0">
              <a:spAutoFit/>
            </a:bodyPr>
            <a:lstStyle/>
            <a:p>
              <a:r>
                <a:rPr lang="nl-NL" dirty="0" smtClean="0"/>
                <a:t>7</a:t>
              </a:r>
              <a:endParaRPr lang="nl-NL" dirty="0"/>
            </a:p>
          </p:txBody>
        </p:sp>
        <p:sp>
          <p:nvSpPr>
            <p:cNvPr id="35" name="Tekstvak 34"/>
            <p:cNvSpPr txBox="1"/>
            <p:nvPr/>
          </p:nvSpPr>
          <p:spPr>
            <a:xfrm>
              <a:off x="4236907" y="4715852"/>
              <a:ext cx="540000" cy="369332"/>
            </a:xfrm>
            <a:prstGeom prst="rect">
              <a:avLst/>
            </a:prstGeom>
            <a:noFill/>
          </p:spPr>
          <p:txBody>
            <a:bodyPr wrap="square" rtlCol="0">
              <a:spAutoFit/>
            </a:bodyPr>
            <a:lstStyle/>
            <a:p>
              <a:r>
                <a:rPr lang="nl-NL" dirty="0" smtClean="0"/>
                <a:t>3</a:t>
              </a:r>
              <a:endParaRPr lang="nl-NL" dirty="0"/>
            </a:p>
          </p:txBody>
        </p:sp>
        <p:sp>
          <p:nvSpPr>
            <p:cNvPr id="36" name="Tekstvak 35"/>
            <p:cNvSpPr txBox="1"/>
            <p:nvPr/>
          </p:nvSpPr>
          <p:spPr>
            <a:xfrm>
              <a:off x="6228623" y="4715852"/>
              <a:ext cx="540000" cy="369332"/>
            </a:xfrm>
            <a:prstGeom prst="rect">
              <a:avLst/>
            </a:prstGeom>
            <a:noFill/>
          </p:spPr>
          <p:txBody>
            <a:bodyPr wrap="square" rtlCol="0">
              <a:spAutoFit/>
            </a:bodyPr>
            <a:lstStyle/>
            <a:p>
              <a:r>
                <a:rPr lang="nl-NL" dirty="0"/>
                <a:t>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smtClean="0">
                <a:latin typeface="Arial" charset="0"/>
                <a:cs typeface="Arial" charset="0"/>
              </a:rPr>
              <a:t>Process Performance Metrics</a:t>
            </a:r>
            <a:endParaRPr sz="2400" smtClean="0">
              <a:latin typeface="Arial" charset="0"/>
              <a:cs typeface="Arial" charset="0"/>
            </a:endParaRPr>
          </a:p>
        </p:txBody>
      </p:sp>
      <p:sp>
        <p:nvSpPr>
          <p:cNvPr id="7" name="Rectangle 3"/>
          <p:cNvSpPr>
            <a:spLocks noGrp="1" noChangeArrowheads="1"/>
          </p:cNvSpPr>
          <p:nvPr>
            <p:ph idx="1"/>
          </p:nvPr>
        </p:nvSpPr>
        <p:spPr/>
        <p:txBody>
          <a:bodyPr/>
          <a:lstStyle/>
          <a:p>
            <a:r>
              <a:rPr lang="nl-NL" dirty="0" smtClean="0"/>
              <a:t>First time right </a:t>
            </a:r>
            <a:r>
              <a:rPr lang="nl-NL" dirty="0" err="1" smtClean="0"/>
              <a:t>yield</a:t>
            </a:r>
            <a:r>
              <a:rPr lang="nl-NL" dirty="0" smtClean="0"/>
              <a:t> </a:t>
            </a:r>
            <a:r>
              <a:rPr lang="nl-NL" dirty="0" err="1" smtClean="0"/>
              <a:t>and</a:t>
            </a:r>
            <a:r>
              <a:rPr lang="nl-NL" dirty="0" smtClean="0"/>
              <a:t> </a:t>
            </a:r>
            <a:r>
              <a:rPr lang="nl-NL" dirty="0" err="1" smtClean="0"/>
              <a:t>Rolled</a:t>
            </a:r>
            <a:r>
              <a:rPr lang="nl-NL" dirty="0" smtClean="0"/>
              <a:t> </a:t>
            </a:r>
            <a:r>
              <a:rPr lang="nl-NL" dirty="0" err="1" smtClean="0"/>
              <a:t>troughput</a:t>
            </a:r>
            <a:r>
              <a:rPr lang="nl-NL" dirty="0" smtClean="0"/>
              <a:t> </a:t>
            </a:r>
            <a:r>
              <a:rPr lang="nl-NL" dirty="0" err="1" smtClean="0"/>
              <a:t>yield</a:t>
            </a:r>
            <a:endParaRPr lang="nl-NL" dirty="0" smtClean="0"/>
          </a:p>
          <a:p>
            <a:pPr lvl="1"/>
            <a:endParaRPr lang="nl-NL" dirty="0" smtClean="0"/>
          </a:p>
          <a:p>
            <a:pPr lvl="1"/>
            <a:endParaRPr lang="nl-NL" dirty="0" smtClean="0"/>
          </a:p>
          <a:p>
            <a:pPr lvl="1"/>
            <a:endParaRPr lang="nl-NL" dirty="0" smtClean="0"/>
          </a:p>
          <a:p>
            <a:pPr lvl="1"/>
            <a:endParaRPr lang="nl-NL" dirty="0" smtClean="0"/>
          </a:p>
          <a:p>
            <a:pPr lvl="1"/>
            <a:endParaRPr lang="nl-NL" dirty="0" smtClean="0"/>
          </a:p>
          <a:p>
            <a:pPr lvl="1"/>
            <a:endParaRPr lang="nl-NL" dirty="0" smtClean="0"/>
          </a:p>
          <a:p>
            <a:pPr lvl="1"/>
            <a:endParaRPr lang="nl-NL" dirty="0" smtClean="0"/>
          </a:p>
          <a:p>
            <a:pPr lvl="1"/>
            <a:endParaRPr lang="nl-NL" dirty="0" smtClean="0"/>
          </a:p>
          <a:p>
            <a:pPr lvl="1"/>
            <a:endParaRPr lang="en-US" dirty="0" smtClean="0"/>
          </a:p>
          <a:p>
            <a:pPr lvl="1"/>
            <a:endParaRPr lang="en-US" dirty="0" smtClean="0"/>
          </a:p>
          <a:p>
            <a:pPr marL="465137" lvl="1" indent="-285750">
              <a:buClrTx/>
            </a:pPr>
            <a:r>
              <a:rPr lang="en-US" dirty="0" smtClean="0"/>
              <a:t>Rolled throughput yield =</a:t>
            </a:r>
          </a:p>
        </p:txBody>
      </p:sp>
      <p:sp>
        <p:nvSpPr>
          <p:cNvPr id="2" name="Tijdelijke aanduiding voor tekst 1"/>
          <p:cNvSpPr>
            <a:spLocks noGrp="1"/>
          </p:cNvSpPr>
          <p:nvPr>
            <p:ph type="body" sz="quarter" idx="13"/>
          </p:nvPr>
        </p:nvSpPr>
        <p:spPr/>
        <p:txBody>
          <a:bodyPr/>
          <a:lstStyle/>
          <a:p>
            <a:endParaRPr lang="en-GB"/>
          </a:p>
        </p:txBody>
      </p:sp>
      <p:graphicFrame>
        <p:nvGraphicFramePr>
          <p:cNvPr id="9" name="Tabel 8"/>
          <p:cNvGraphicFramePr>
            <a:graphicFrameLocks noGrp="1"/>
          </p:cNvGraphicFramePr>
          <p:nvPr>
            <p:extLst>
              <p:ext uri="{D42A27DB-BD31-4B8C-83A1-F6EECF244321}">
                <p14:modId xmlns:p14="http://schemas.microsoft.com/office/powerpoint/2010/main" val="3525113919"/>
              </p:ext>
            </p:extLst>
          </p:nvPr>
        </p:nvGraphicFramePr>
        <p:xfrm>
          <a:off x="810000" y="1980000"/>
          <a:ext cx="9194040" cy="1828800"/>
        </p:xfrm>
        <a:graphic>
          <a:graphicData uri="http://schemas.openxmlformats.org/drawingml/2006/table">
            <a:tbl>
              <a:tblPr firstRow="1" bandRow="1">
                <a:tableStyleId>{5C22544A-7EE6-4342-B048-85BDC9FD1C3A}</a:tableStyleId>
              </a:tblPr>
              <a:tblGrid>
                <a:gridCol w="1147592"/>
                <a:gridCol w="1241692"/>
                <a:gridCol w="1215135"/>
                <a:gridCol w="567063"/>
                <a:gridCol w="2382057"/>
                <a:gridCol w="1697465"/>
                <a:gridCol w="943036"/>
              </a:tblGrid>
              <a:tr h="324000">
                <a:tc>
                  <a:txBody>
                    <a:bodyPr/>
                    <a:lstStyle/>
                    <a:p>
                      <a:pPr algn="ctr"/>
                      <a:r>
                        <a:rPr lang="nl-NL" dirty="0" err="1" smtClean="0">
                          <a:latin typeface="Arial" pitchFamily="34" charset="0"/>
                        </a:rPr>
                        <a:t>Process</a:t>
                      </a:r>
                      <a:endParaRPr lang="nl-NL" dirty="0">
                        <a:latin typeface="Arial" pitchFamily="34" charset="0"/>
                      </a:endParaRPr>
                    </a:p>
                  </a:txBody>
                  <a:tcPr marL="51435" marR="51435" anchor="ctr"/>
                </a:tc>
                <a:tc>
                  <a:txBody>
                    <a:bodyPr/>
                    <a:lstStyle/>
                    <a:p>
                      <a:pPr algn="ctr"/>
                      <a:r>
                        <a:rPr lang="nl-NL" dirty="0" err="1" smtClean="0">
                          <a:latin typeface="Arial" pitchFamily="34" charset="0"/>
                        </a:rPr>
                        <a:t>Scrap</a:t>
                      </a:r>
                      <a:endParaRPr lang="nl-NL" dirty="0">
                        <a:latin typeface="Arial" pitchFamily="34" charset="0"/>
                      </a:endParaRPr>
                    </a:p>
                  </a:txBody>
                  <a:tcPr marL="51435" marR="51435" anchor="ctr"/>
                </a:tc>
                <a:tc>
                  <a:txBody>
                    <a:bodyPr/>
                    <a:lstStyle/>
                    <a:p>
                      <a:pPr algn="ctr"/>
                      <a:r>
                        <a:rPr lang="nl-NL" dirty="0" err="1" smtClean="0">
                          <a:latin typeface="Arial" pitchFamily="34" charset="0"/>
                        </a:rPr>
                        <a:t>Rework</a:t>
                      </a:r>
                      <a:endParaRPr lang="nl-NL" dirty="0">
                        <a:latin typeface="Arial" pitchFamily="34" charset="0"/>
                      </a:endParaRPr>
                    </a:p>
                  </a:txBody>
                  <a:tcPr marL="51435" marR="51435" anchor="ctr"/>
                </a:tc>
                <a:tc>
                  <a:txBody>
                    <a:bodyPr/>
                    <a:lstStyle/>
                    <a:p>
                      <a:pPr algn="ctr"/>
                      <a:r>
                        <a:rPr lang="nl-NL" dirty="0" smtClean="0">
                          <a:latin typeface="Arial" pitchFamily="34" charset="0"/>
                        </a:rPr>
                        <a:t>Out</a:t>
                      </a:r>
                      <a:endParaRPr lang="nl-NL" dirty="0">
                        <a:latin typeface="Arial" pitchFamily="34" charset="0"/>
                      </a:endParaRPr>
                    </a:p>
                  </a:txBody>
                  <a:tcPr marL="51435" marR="51435" anchor="ctr"/>
                </a:tc>
                <a:tc gridSpan="3">
                  <a:txBody>
                    <a:bodyPr/>
                    <a:lstStyle/>
                    <a:p>
                      <a:pPr algn="ctr"/>
                      <a:r>
                        <a:rPr lang="nl-NL" dirty="0" smtClean="0">
                          <a:latin typeface="Arial" pitchFamily="34" charset="0"/>
                        </a:rPr>
                        <a:t>First time right </a:t>
                      </a:r>
                      <a:r>
                        <a:rPr lang="nl-NL" dirty="0" err="1" smtClean="0">
                          <a:latin typeface="Arial" pitchFamily="34" charset="0"/>
                        </a:rPr>
                        <a:t>yield</a:t>
                      </a:r>
                      <a:endParaRPr lang="nl-NL" dirty="0">
                        <a:latin typeface="Arial" pitchFamily="34" charset="0"/>
                      </a:endParaRPr>
                    </a:p>
                  </a:txBody>
                  <a:tcPr marL="51435" marR="51435" anchor="ctr"/>
                </a:tc>
                <a:tc hMerge="1">
                  <a:txBody>
                    <a:bodyPr/>
                    <a:lstStyle/>
                    <a:p>
                      <a:pPr algn="ctr"/>
                      <a:endParaRPr lang="nl-NL" dirty="0"/>
                    </a:p>
                  </a:txBody>
                  <a:tcPr marL="45720" marR="45720" anchor="ctr"/>
                </a:tc>
                <a:tc hMerge="1">
                  <a:txBody>
                    <a:bodyPr/>
                    <a:lstStyle/>
                    <a:p>
                      <a:pPr algn="ctr"/>
                      <a:endParaRPr lang="nl-NL" dirty="0"/>
                    </a:p>
                  </a:txBody>
                  <a:tcPr marL="45720" marR="45720" anchor="ctr"/>
                </a:tc>
              </a:tr>
              <a:tr h="324000">
                <a:tc>
                  <a:txBody>
                    <a:bodyPr/>
                    <a:lstStyle/>
                    <a:p>
                      <a:pPr algn="ctr"/>
                      <a:r>
                        <a:rPr lang="nl-NL" dirty="0" smtClean="0">
                          <a:latin typeface="Arial" pitchFamily="34" charset="0"/>
                        </a:rPr>
                        <a:t>A</a:t>
                      </a:r>
                      <a:endParaRPr lang="nl-NL" dirty="0">
                        <a:latin typeface="Arial" pitchFamily="34" charset="0"/>
                      </a:endParaRPr>
                    </a:p>
                  </a:txBody>
                  <a:tcPr marL="51435" marR="51435" anchor="ctr"/>
                </a:tc>
                <a:tc>
                  <a:txBody>
                    <a:bodyPr/>
                    <a:lstStyle/>
                    <a:p>
                      <a:pPr algn="ctr"/>
                      <a:r>
                        <a:rPr lang="nl-NL" dirty="0" smtClean="0">
                          <a:latin typeface="Arial" pitchFamily="34" charset="0"/>
                        </a:rPr>
                        <a:t>10</a:t>
                      </a:r>
                      <a:endParaRPr lang="nl-NL" dirty="0">
                        <a:latin typeface="Arial" pitchFamily="34" charset="0"/>
                      </a:endParaRPr>
                    </a:p>
                  </a:txBody>
                  <a:tcPr marL="51435" marR="51435" anchor="ctr"/>
                </a:tc>
                <a:tc>
                  <a:txBody>
                    <a:bodyPr/>
                    <a:lstStyle/>
                    <a:p>
                      <a:pPr algn="ctr"/>
                      <a:r>
                        <a:rPr lang="nl-NL" dirty="0" smtClean="0">
                          <a:latin typeface="Arial" pitchFamily="34" charset="0"/>
                        </a:rPr>
                        <a:t>5</a:t>
                      </a:r>
                      <a:endParaRPr lang="nl-NL" dirty="0">
                        <a:latin typeface="Arial" pitchFamily="34" charset="0"/>
                      </a:endParaRPr>
                    </a:p>
                  </a:txBody>
                  <a:tcPr marL="51435" marR="51435" anchor="ctr"/>
                </a:tc>
                <a:tc>
                  <a:txBody>
                    <a:bodyPr/>
                    <a:lstStyle/>
                    <a:p>
                      <a:pPr algn="ctr"/>
                      <a:r>
                        <a:rPr lang="nl-NL" dirty="0" smtClean="0">
                          <a:latin typeface="Arial" pitchFamily="34" charset="0"/>
                        </a:rPr>
                        <a:t>90</a:t>
                      </a:r>
                      <a:endParaRPr lang="nl-NL" dirty="0">
                        <a:latin typeface="Arial" pitchFamily="34" charset="0"/>
                      </a:endParaRPr>
                    </a:p>
                  </a:txBody>
                  <a:tcPr marL="51435" marR="51435"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charset="0"/>
                          <a:cs typeface="Arial" charset="0"/>
                        </a:rPr>
                        <a:t>(90-5) / (90+10)</a:t>
                      </a:r>
                    </a:p>
                  </a:txBody>
                  <a:tcPr marL="102870" marR="102870"/>
                </a:tc>
                <a:tc>
                  <a:txBody>
                    <a:bodyPr/>
                    <a:lstStyle/>
                    <a:p>
                      <a:r>
                        <a:rPr lang="en-US" dirty="0" smtClean="0">
                          <a:latin typeface="Arial" charset="0"/>
                          <a:cs typeface="Arial" charset="0"/>
                        </a:rPr>
                        <a:t>= 85 /100</a:t>
                      </a:r>
                      <a:endParaRPr lang="nl-NL" dirty="0">
                        <a:latin typeface="Arial" pitchFamily="34" charset="0"/>
                      </a:endParaRPr>
                    </a:p>
                  </a:txBody>
                  <a:tcPr marL="102870" marR="102870"/>
                </a:tc>
                <a:tc>
                  <a:txBody>
                    <a:bodyPr/>
                    <a:lstStyle/>
                    <a:p>
                      <a:r>
                        <a:rPr lang="en-US" dirty="0" smtClean="0">
                          <a:latin typeface="Arial" charset="0"/>
                          <a:cs typeface="Arial" charset="0"/>
                        </a:rPr>
                        <a:t>= 85%</a:t>
                      </a:r>
                      <a:endParaRPr lang="nl-NL" dirty="0">
                        <a:latin typeface="Arial" pitchFamily="34" charset="0"/>
                      </a:endParaRPr>
                    </a:p>
                  </a:txBody>
                  <a:tcPr marL="102870" marR="102870"/>
                </a:tc>
              </a:tr>
              <a:tr h="324000">
                <a:tc>
                  <a:txBody>
                    <a:bodyPr/>
                    <a:lstStyle/>
                    <a:p>
                      <a:pPr algn="ctr"/>
                      <a:r>
                        <a:rPr lang="nl-NL" dirty="0" smtClean="0">
                          <a:latin typeface="Arial" pitchFamily="34" charset="0"/>
                        </a:rPr>
                        <a:t>B</a:t>
                      </a:r>
                      <a:endParaRPr lang="nl-NL" dirty="0">
                        <a:latin typeface="Arial" pitchFamily="34" charset="0"/>
                      </a:endParaRPr>
                    </a:p>
                  </a:txBody>
                  <a:tcPr marL="51435" marR="51435" anchor="ctr"/>
                </a:tc>
                <a:tc>
                  <a:txBody>
                    <a:bodyPr/>
                    <a:lstStyle/>
                    <a:p>
                      <a:pPr algn="ctr"/>
                      <a:r>
                        <a:rPr lang="nl-NL" dirty="0" smtClean="0">
                          <a:latin typeface="Arial" pitchFamily="34" charset="0"/>
                        </a:rPr>
                        <a:t>10</a:t>
                      </a:r>
                      <a:endParaRPr lang="nl-NL" dirty="0">
                        <a:latin typeface="Arial" pitchFamily="34" charset="0"/>
                      </a:endParaRPr>
                    </a:p>
                  </a:txBody>
                  <a:tcPr marL="51435" marR="51435" anchor="ctr"/>
                </a:tc>
                <a:tc>
                  <a:txBody>
                    <a:bodyPr/>
                    <a:lstStyle/>
                    <a:p>
                      <a:pPr algn="ctr"/>
                      <a:r>
                        <a:rPr lang="nl-NL" dirty="0" smtClean="0">
                          <a:latin typeface="Arial" pitchFamily="34" charset="0"/>
                        </a:rPr>
                        <a:t>7</a:t>
                      </a:r>
                      <a:endParaRPr lang="nl-NL" dirty="0">
                        <a:latin typeface="Arial" pitchFamily="34" charset="0"/>
                      </a:endParaRPr>
                    </a:p>
                  </a:txBody>
                  <a:tcPr marL="51435" marR="51435" anchor="ctr"/>
                </a:tc>
                <a:tc>
                  <a:txBody>
                    <a:bodyPr/>
                    <a:lstStyle/>
                    <a:p>
                      <a:pPr algn="ctr"/>
                      <a:r>
                        <a:rPr lang="nl-NL" dirty="0" smtClean="0">
                          <a:latin typeface="Arial" pitchFamily="34" charset="0"/>
                        </a:rPr>
                        <a:t>80</a:t>
                      </a:r>
                      <a:endParaRPr lang="nl-NL" dirty="0">
                        <a:latin typeface="Arial" pitchFamily="34" charset="0"/>
                      </a:endParaRPr>
                    </a:p>
                  </a:txBody>
                  <a:tcPr marL="51435" marR="51435"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charset="0"/>
                          <a:cs typeface="Arial" charset="0"/>
                        </a:rPr>
                        <a:t>(80-7) / (80+10)</a:t>
                      </a:r>
                    </a:p>
                  </a:txBody>
                  <a:tcPr marL="102870" marR="102870"/>
                </a:tc>
                <a:tc>
                  <a:txBody>
                    <a:bodyPr/>
                    <a:lstStyle/>
                    <a:p>
                      <a:r>
                        <a:rPr lang="en-US" dirty="0" smtClean="0">
                          <a:latin typeface="Arial" charset="0"/>
                          <a:cs typeface="Arial" charset="0"/>
                        </a:rPr>
                        <a:t>= 73 / 90</a:t>
                      </a:r>
                      <a:endParaRPr lang="nl-NL" dirty="0">
                        <a:latin typeface="Arial" pitchFamily="34" charset="0"/>
                      </a:endParaRPr>
                    </a:p>
                  </a:txBody>
                  <a:tcPr marL="102870" marR="102870"/>
                </a:tc>
                <a:tc>
                  <a:txBody>
                    <a:bodyPr/>
                    <a:lstStyle/>
                    <a:p>
                      <a:r>
                        <a:rPr lang="en-US" dirty="0" smtClean="0">
                          <a:latin typeface="Arial" charset="0"/>
                          <a:cs typeface="Arial" charset="0"/>
                        </a:rPr>
                        <a:t>= 81%</a:t>
                      </a:r>
                      <a:endParaRPr lang="nl-NL" dirty="0">
                        <a:latin typeface="Arial" pitchFamily="34" charset="0"/>
                      </a:endParaRPr>
                    </a:p>
                  </a:txBody>
                  <a:tcPr marL="102870" marR="102870"/>
                </a:tc>
              </a:tr>
              <a:tr h="324000">
                <a:tc>
                  <a:txBody>
                    <a:bodyPr/>
                    <a:lstStyle/>
                    <a:p>
                      <a:pPr algn="ctr"/>
                      <a:r>
                        <a:rPr lang="nl-NL" dirty="0" smtClean="0">
                          <a:latin typeface="Arial" pitchFamily="34" charset="0"/>
                        </a:rPr>
                        <a:t>C</a:t>
                      </a:r>
                      <a:endParaRPr lang="nl-NL" dirty="0">
                        <a:latin typeface="Arial" pitchFamily="34" charset="0"/>
                      </a:endParaRPr>
                    </a:p>
                  </a:txBody>
                  <a:tcPr marL="51435" marR="51435" anchor="ctr"/>
                </a:tc>
                <a:tc>
                  <a:txBody>
                    <a:bodyPr/>
                    <a:lstStyle/>
                    <a:p>
                      <a:pPr algn="ctr"/>
                      <a:r>
                        <a:rPr lang="nl-NL" dirty="0" smtClean="0">
                          <a:latin typeface="Arial" pitchFamily="34" charset="0"/>
                        </a:rPr>
                        <a:t>5</a:t>
                      </a:r>
                      <a:endParaRPr lang="nl-NL" dirty="0">
                        <a:latin typeface="Arial" pitchFamily="34" charset="0"/>
                      </a:endParaRPr>
                    </a:p>
                  </a:txBody>
                  <a:tcPr marL="51435" marR="51435" anchor="ctr"/>
                </a:tc>
                <a:tc>
                  <a:txBody>
                    <a:bodyPr/>
                    <a:lstStyle/>
                    <a:p>
                      <a:pPr algn="ctr"/>
                      <a:r>
                        <a:rPr lang="nl-NL" dirty="0" smtClean="0">
                          <a:latin typeface="Arial" pitchFamily="34" charset="0"/>
                        </a:rPr>
                        <a:t>3</a:t>
                      </a:r>
                      <a:endParaRPr lang="nl-NL" dirty="0">
                        <a:latin typeface="Arial" pitchFamily="34" charset="0"/>
                      </a:endParaRPr>
                    </a:p>
                  </a:txBody>
                  <a:tcPr marL="51435" marR="51435" anchor="ctr"/>
                </a:tc>
                <a:tc>
                  <a:txBody>
                    <a:bodyPr/>
                    <a:lstStyle/>
                    <a:p>
                      <a:pPr algn="ctr"/>
                      <a:r>
                        <a:rPr lang="nl-NL" dirty="0" smtClean="0">
                          <a:latin typeface="Arial" pitchFamily="34" charset="0"/>
                        </a:rPr>
                        <a:t>75</a:t>
                      </a:r>
                      <a:endParaRPr lang="nl-NL" dirty="0">
                        <a:latin typeface="Arial" pitchFamily="34" charset="0"/>
                      </a:endParaRPr>
                    </a:p>
                  </a:txBody>
                  <a:tcPr marL="51435" marR="51435"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charset="0"/>
                          <a:cs typeface="Arial" charset="0"/>
                        </a:rPr>
                        <a:t>(75-3) / (75+5)</a:t>
                      </a:r>
                    </a:p>
                  </a:txBody>
                  <a:tcPr marL="102870" marR="102870"/>
                </a:tc>
                <a:tc>
                  <a:txBody>
                    <a:bodyPr/>
                    <a:lstStyle/>
                    <a:p>
                      <a:r>
                        <a:rPr lang="en-US" dirty="0" smtClean="0">
                          <a:latin typeface="Arial" charset="0"/>
                          <a:cs typeface="Arial" charset="0"/>
                        </a:rPr>
                        <a:t>= 72 / 80</a:t>
                      </a:r>
                      <a:endParaRPr lang="nl-NL" dirty="0">
                        <a:latin typeface="Arial" pitchFamily="34" charset="0"/>
                      </a:endParaRPr>
                    </a:p>
                  </a:txBody>
                  <a:tcPr marL="102870" marR="102870"/>
                </a:tc>
                <a:tc>
                  <a:txBody>
                    <a:bodyPr/>
                    <a:lstStyle/>
                    <a:p>
                      <a:r>
                        <a:rPr lang="en-US" dirty="0" smtClean="0">
                          <a:latin typeface="Arial" charset="0"/>
                          <a:cs typeface="Arial" charset="0"/>
                        </a:rPr>
                        <a:t>= 90%</a:t>
                      </a:r>
                      <a:endParaRPr lang="nl-NL" dirty="0">
                        <a:latin typeface="Arial" pitchFamily="34" charset="0"/>
                      </a:endParaRPr>
                    </a:p>
                  </a:txBody>
                  <a:tcPr marL="102870" marR="102870"/>
                </a:tc>
              </a:tr>
              <a:tr h="324000">
                <a:tc>
                  <a:txBody>
                    <a:bodyPr/>
                    <a:lstStyle/>
                    <a:p>
                      <a:pPr algn="ctr"/>
                      <a:r>
                        <a:rPr lang="nl-NL" dirty="0" smtClean="0">
                          <a:latin typeface="Arial" pitchFamily="34" charset="0"/>
                        </a:rPr>
                        <a:t>D</a:t>
                      </a:r>
                      <a:endParaRPr lang="nl-NL" dirty="0">
                        <a:latin typeface="Arial" pitchFamily="34" charset="0"/>
                      </a:endParaRPr>
                    </a:p>
                  </a:txBody>
                  <a:tcPr marL="51435" marR="51435" anchor="ctr"/>
                </a:tc>
                <a:tc>
                  <a:txBody>
                    <a:bodyPr/>
                    <a:lstStyle/>
                    <a:p>
                      <a:pPr algn="ctr"/>
                      <a:r>
                        <a:rPr lang="nl-NL" dirty="0" smtClean="0">
                          <a:latin typeface="Arial" pitchFamily="34" charset="0"/>
                        </a:rPr>
                        <a:t>5</a:t>
                      </a:r>
                      <a:endParaRPr lang="nl-NL" dirty="0">
                        <a:latin typeface="Arial" pitchFamily="34" charset="0"/>
                      </a:endParaRPr>
                    </a:p>
                  </a:txBody>
                  <a:tcPr marL="51435" marR="51435" anchor="ctr"/>
                </a:tc>
                <a:tc>
                  <a:txBody>
                    <a:bodyPr/>
                    <a:lstStyle/>
                    <a:p>
                      <a:pPr algn="ctr"/>
                      <a:r>
                        <a:rPr lang="nl-NL" dirty="0" smtClean="0">
                          <a:latin typeface="Arial" pitchFamily="34" charset="0"/>
                        </a:rPr>
                        <a:t>5</a:t>
                      </a:r>
                      <a:endParaRPr lang="nl-NL" dirty="0">
                        <a:latin typeface="Arial" pitchFamily="34" charset="0"/>
                      </a:endParaRPr>
                    </a:p>
                  </a:txBody>
                  <a:tcPr marL="51435" marR="51435" anchor="ctr"/>
                </a:tc>
                <a:tc>
                  <a:txBody>
                    <a:bodyPr/>
                    <a:lstStyle/>
                    <a:p>
                      <a:pPr algn="ctr"/>
                      <a:r>
                        <a:rPr lang="nl-NL" dirty="0" smtClean="0">
                          <a:latin typeface="Arial" pitchFamily="34" charset="0"/>
                        </a:rPr>
                        <a:t>70</a:t>
                      </a:r>
                      <a:endParaRPr lang="nl-NL" dirty="0">
                        <a:latin typeface="Arial" pitchFamily="34" charset="0"/>
                      </a:endParaRPr>
                    </a:p>
                  </a:txBody>
                  <a:tcPr marL="51435" marR="51435"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charset="0"/>
                          <a:cs typeface="Arial" charset="0"/>
                        </a:rPr>
                        <a:t>(70-5) / (70+5)</a:t>
                      </a:r>
                    </a:p>
                  </a:txBody>
                  <a:tcPr marL="102870" marR="102870"/>
                </a:tc>
                <a:tc>
                  <a:txBody>
                    <a:bodyPr/>
                    <a:lstStyle/>
                    <a:p>
                      <a:r>
                        <a:rPr lang="en-US" dirty="0" smtClean="0">
                          <a:latin typeface="Arial" charset="0"/>
                          <a:cs typeface="Arial" charset="0"/>
                        </a:rPr>
                        <a:t>= 65 / 75</a:t>
                      </a:r>
                      <a:endParaRPr lang="nl-NL" dirty="0">
                        <a:latin typeface="Arial" pitchFamily="34" charset="0"/>
                      </a:endParaRPr>
                    </a:p>
                  </a:txBody>
                  <a:tcPr marL="102870" marR="102870"/>
                </a:tc>
                <a:tc>
                  <a:txBody>
                    <a:bodyPr/>
                    <a:lstStyle/>
                    <a:p>
                      <a:r>
                        <a:rPr lang="en-US" dirty="0" smtClean="0">
                          <a:latin typeface="Arial" charset="0"/>
                          <a:cs typeface="Arial" charset="0"/>
                        </a:rPr>
                        <a:t>= 87%</a:t>
                      </a:r>
                      <a:endParaRPr lang="nl-NL" dirty="0">
                        <a:latin typeface="Arial" pitchFamily="34" charset="0"/>
                      </a:endParaRPr>
                    </a:p>
                  </a:txBody>
                  <a:tcPr marL="102870" marR="102870"/>
                </a:tc>
              </a:tr>
            </a:tbl>
          </a:graphicData>
        </a:graphic>
      </p:graphicFrame>
      <p:sp>
        <p:nvSpPr>
          <p:cNvPr id="10" name="Rectangle 6"/>
          <p:cNvSpPr>
            <a:spLocks noChangeArrowheads="1"/>
          </p:cNvSpPr>
          <p:nvPr/>
        </p:nvSpPr>
        <p:spPr bwMode="auto">
          <a:xfrm>
            <a:off x="4998353" y="2744489"/>
            <a:ext cx="5305518" cy="1512168"/>
          </a:xfrm>
          <a:prstGeom prst="rect">
            <a:avLst/>
          </a:prstGeom>
          <a:solidFill>
            <a:schemeClr val="bg1"/>
          </a:solidFill>
          <a:ln w="9525">
            <a:noFill/>
            <a:miter lim="800000"/>
            <a:headEnd/>
            <a:tailEnd/>
          </a:ln>
        </p:spPr>
        <p:txBody>
          <a:bodyPr wrap="none" anchor="ctr"/>
          <a:lstStyle/>
          <a:p>
            <a:endParaRPr lang="sv-SE"/>
          </a:p>
        </p:txBody>
      </p:sp>
      <p:sp>
        <p:nvSpPr>
          <p:cNvPr id="20" name="Rechthoek 19"/>
          <p:cNvSpPr/>
          <p:nvPr/>
        </p:nvSpPr>
        <p:spPr>
          <a:xfrm>
            <a:off x="850023" y="5301288"/>
            <a:ext cx="12150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smtClean="0">
                <a:latin typeface="Arial" pitchFamily="34" charset="0"/>
              </a:rPr>
              <a:t>À</a:t>
            </a:r>
            <a:endParaRPr lang="nl-NL" dirty="0">
              <a:latin typeface="Arial" pitchFamily="34" charset="0"/>
            </a:endParaRPr>
          </a:p>
        </p:txBody>
      </p:sp>
      <p:sp>
        <p:nvSpPr>
          <p:cNvPr id="12" name="Tekstvak 11"/>
          <p:cNvSpPr txBox="1"/>
          <p:nvPr/>
        </p:nvSpPr>
        <p:spPr>
          <a:xfrm>
            <a:off x="4009374" y="4671155"/>
            <a:ext cx="5103567" cy="338554"/>
          </a:xfrm>
          <a:prstGeom prst="rect">
            <a:avLst/>
          </a:prstGeom>
          <a:noFill/>
        </p:spPr>
        <p:txBody>
          <a:bodyPr wrap="square" rtlCol="0">
            <a:spAutoFit/>
          </a:bodyPr>
          <a:lstStyle/>
          <a:p>
            <a:pPr marL="465137" lvl="1" indent="-285750">
              <a:buClrTx/>
            </a:pPr>
            <a:r>
              <a:rPr lang="en-US" sz="1600" b="1" dirty="0">
                <a:latin typeface="Arial" panose="020B0604020202020204" pitchFamily="34" charset="0"/>
                <a:cs typeface="Arial" panose="020B0604020202020204" pitchFamily="34" charset="0"/>
              </a:rPr>
              <a:t>0.85 x 0.81 x 0.90 x 0.87 = 54%</a:t>
            </a:r>
          </a:p>
        </p:txBody>
      </p:sp>
      <p:sp>
        <p:nvSpPr>
          <p:cNvPr id="13" name="Rectangle 5"/>
          <p:cNvSpPr>
            <a:spLocks noChangeArrowheads="1"/>
          </p:cNvSpPr>
          <p:nvPr/>
        </p:nvSpPr>
        <p:spPr bwMode="auto">
          <a:xfrm>
            <a:off x="4252401" y="4503043"/>
            <a:ext cx="4895798" cy="705828"/>
          </a:xfrm>
          <a:prstGeom prst="rect">
            <a:avLst/>
          </a:prstGeom>
          <a:solidFill>
            <a:schemeClr val="bg1"/>
          </a:solidFill>
          <a:ln w="9525">
            <a:noFill/>
            <a:miter lim="800000"/>
            <a:headEnd/>
            <a:tailEnd/>
          </a:ln>
        </p:spPr>
        <p:txBody>
          <a:bodyPr wrap="none" anchor="ctr"/>
          <a:lstStyle/>
          <a:p>
            <a:endParaRPr lang="sv-SE"/>
          </a:p>
        </p:txBody>
      </p:sp>
    </p:spTree>
    <p:extLst>
      <p:ext uri="{BB962C8B-B14F-4D97-AF65-F5344CB8AC3E}">
        <p14:creationId xmlns:p14="http://schemas.microsoft.com/office/powerpoint/2010/main" val="3389524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3" presetClass="exit" presetSubtype="10" fill="hold" grpId="0" nodeType="clickEffect">
                                  <p:stCondLst>
                                    <p:cond delay="0"/>
                                  </p:stCondLst>
                                  <p:childTnLst>
                                    <p:animEffect transition="out" filter="blinds(horizontal)">
                                      <p:cBhvr>
                                        <p:cTn id="10" dur="500"/>
                                        <p:tgtEl>
                                          <p:spTgt spid="13"/>
                                        </p:tgtEl>
                                      </p:cBhvr>
                                    </p:animEffect>
                                    <p:set>
                                      <p:cBhvr>
                                        <p:cTn id="11"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latin typeface="Arial" charset="0"/>
                <a:cs typeface="Arial" charset="0"/>
              </a:rPr>
              <a:t>Process Performance Metrics</a:t>
            </a:r>
            <a:endParaRPr lang="nl-NL" dirty="0"/>
          </a:p>
        </p:txBody>
      </p:sp>
      <p:sp>
        <p:nvSpPr>
          <p:cNvPr id="4" name="Rectangle 6"/>
          <p:cNvSpPr>
            <a:spLocks noGrp="1" noChangeArrowheads="1"/>
          </p:cNvSpPr>
          <p:nvPr>
            <p:ph idx="1"/>
          </p:nvPr>
        </p:nvSpPr>
        <p:spPr/>
        <p:txBody>
          <a:bodyPr/>
          <a:lstStyle/>
          <a:p>
            <a:pPr marL="0" indent="0" eaLnBrk="1" hangingPunct="1"/>
            <a:r>
              <a:rPr lang="nl-NL" dirty="0" smtClean="0">
                <a:latin typeface="Arial" charset="0"/>
                <a:cs typeface="Arial" charset="0"/>
              </a:rPr>
              <a:t>Summary </a:t>
            </a:r>
            <a:r>
              <a:rPr lang="nl-NL" dirty="0" err="1" smtClean="0">
                <a:latin typeface="Arial" charset="0"/>
                <a:cs typeface="Arial" charset="0"/>
              </a:rPr>
              <a:t>Yield</a:t>
            </a:r>
            <a:r>
              <a:rPr lang="nl-NL" dirty="0" smtClean="0">
                <a:latin typeface="Arial" charset="0"/>
                <a:cs typeface="Arial" charset="0"/>
              </a:rPr>
              <a:t> </a:t>
            </a:r>
          </a:p>
          <a:p>
            <a:pPr lvl="1" eaLnBrk="1" hangingPunct="1"/>
            <a:endParaRPr lang="nl-NL" b="0" dirty="0" smtClean="0">
              <a:latin typeface="Arial" charset="0"/>
              <a:cs typeface="Arial" charset="0"/>
            </a:endParaRPr>
          </a:p>
        </p:txBody>
      </p:sp>
      <p:sp>
        <p:nvSpPr>
          <p:cNvPr id="3" name="Tijdelijke aanduiding voor tekst 2"/>
          <p:cNvSpPr>
            <a:spLocks noGrp="1"/>
          </p:cNvSpPr>
          <p:nvPr>
            <p:ph type="body" sz="quarter" idx="13"/>
          </p:nvPr>
        </p:nvSpPr>
        <p:spPr/>
        <p:txBody>
          <a:bodyPr/>
          <a:lstStyle/>
          <a:p>
            <a:endParaRPr lang="en-GB"/>
          </a:p>
        </p:txBody>
      </p:sp>
      <p:graphicFrame>
        <p:nvGraphicFramePr>
          <p:cNvPr id="5" name="Grafiek 4"/>
          <p:cNvGraphicFramePr>
            <a:graphicFrameLocks/>
          </p:cNvGraphicFramePr>
          <p:nvPr>
            <p:extLst/>
          </p:nvPr>
        </p:nvGraphicFramePr>
        <p:xfrm>
          <a:off x="554006" y="4005064"/>
          <a:ext cx="4597003"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hteraccolade 5"/>
          <p:cNvSpPr/>
          <p:nvPr/>
        </p:nvSpPr>
        <p:spPr>
          <a:xfrm>
            <a:off x="5135244" y="5301208"/>
            <a:ext cx="405045" cy="57606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dirty="0">
              <a:latin typeface="Arial" pitchFamily="34" charset="0"/>
            </a:endParaRPr>
          </a:p>
        </p:txBody>
      </p:sp>
      <p:sp>
        <p:nvSpPr>
          <p:cNvPr id="7" name="Tekstvak 6"/>
          <p:cNvSpPr txBox="1"/>
          <p:nvPr/>
        </p:nvSpPr>
        <p:spPr>
          <a:xfrm>
            <a:off x="5679840" y="5384249"/>
            <a:ext cx="2430270" cy="369332"/>
          </a:xfrm>
          <a:prstGeom prst="rect">
            <a:avLst/>
          </a:prstGeom>
          <a:noFill/>
        </p:spPr>
        <p:txBody>
          <a:bodyPr wrap="square" rtlCol="0">
            <a:spAutoFit/>
          </a:bodyPr>
          <a:lstStyle/>
          <a:p>
            <a:r>
              <a:rPr lang="nl-NL" dirty="0" smtClean="0">
                <a:latin typeface="Arial" panose="020B0604020202020204" pitchFamily="34" charset="0"/>
                <a:cs typeface="Arial" panose="020B0604020202020204" pitchFamily="34" charset="0"/>
              </a:rPr>
              <a:t>‘</a:t>
            </a:r>
            <a:r>
              <a:rPr lang="nl-NL" dirty="0" err="1" smtClean="0">
                <a:latin typeface="Arial" panose="020B0604020202020204" pitchFamily="34" charset="0"/>
                <a:cs typeface="Arial" panose="020B0604020202020204" pitchFamily="34" charset="0"/>
              </a:rPr>
              <a:t>Hidden</a:t>
            </a:r>
            <a:r>
              <a:rPr lang="nl-NL" dirty="0" smtClean="0">
                <a:latin typeface="Arial" panose="020B0604020202020204" pitchFamily="34" charset="0"/>
                <a:cs typeface="Arial" panose="020B0604020202020204" pitchFamily="34" charset="0"/>
              </a:rPr>
              <a:t> </a:t>
            </a:r>
            <a:r>
              <a:rPr lang="nl-NL" dirty="0" err="1" smtClean="0">
                <a:latin typeface="Arial" panose="020B0604020202020204" pitchFamily="34" charset="0"/>
                <a:cs typeface="Arial" panose="020B0604020202020204" pitchFamily="34" charset="0"/>
              </a:rPr>
              <a:t>factory</a:t>
            </a:r>
            <a:r>
              <a:rPr lang="nl-NL" dirty="0" smtClean="0">
                <a:latin typeface="Arial" panose="020B0604020202020204" pitchFamily="34" charset="0"/>
                <a:cs typeface="Arial" panose="020B0604020202020204" pitchFamily="34" charset="0"/>
              </a:rPr>
              <a:t>’</a:t>
            </a:r>
            <a:endParaRPr lang="nl-NL" dirty="0">
              <a:latin typeface="Arial" panose="020B0604020202020204" pitchFamily="34" charset="0"/>
              <a:cs typeface="Arial" panose="020B0604020202020204" pitchFamily="34" charset="0"/>
            </a:endParaRPr>
          </a:p>
        </p:txBody>
      </p:sp>
      <p:graphicFrame>
        <p:nvGraphicFramePr>
          <p:cNvPr id="8" name="Tabel 7"/>
          <p:cNvGraphicFramePr>
            <a:graphicFrameLocks noGrp="1"/>
          </p:cNvGraphicFramePr>
          <p:nvPr>
            <p:extLst/>
          </p:nvPr>
        </p:nvGraphicFramePr>
        <p:xfrm>
          <a:off x="810000" y="1980001"/>
          <a:ext cx="8019000" cy="1995805"/>
        </p:xfrm>
        <a:graphic>
          <a:graphicData uri="http://schemas.openxmlformats.org/drawingml/2006/table">
            <a:tbl>
              <a:tblPr firstRow="1" bandRow="1">
                <a:tableStyleId>{5C22544A-7EE6-4342-B048-85BDC9FD1C3A}</a:tableStyleId>
              </a:tblPr>
              <a:tblGrid>
                <a:gridCol w="810000"/>
                <a:gridCol w="810000"/>
                <a:gridCol w="810000"/>
                <a:gridCol w="810000"/>
                <a:gridCol w="364500"/>
                <a:gridCol w="1012500"/>
                <a:gridCol w="1012500"/>
                <a:gridCol w="364500"/>
                <a:gridCol w="1012500"/>
                <a:gridCol w="1012500"/>
              </a:tblGrid>
              <a:tr h="370840">
                <a:tc>
                  <a:txBody>
                    <a:bodyPr/>
                    <a:lstStyle/>
                    <a:p>
                      <a:pPr algn="ctr" fontAlgn="t"/>
                      <a:r>
                        <a:rPr lang="nl-NL" sz="1100" u="none" strike="noStrike" dirty="0" smtClean="0">
                          <a:effectLst/>
                          <a:latin typeface="Arial" pitchFamily="34" charset="0"/>
                        </a:rPr>
                        <a:t>Proces</a:t>
                      </a:r>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t"/>
                      <a:r>
                        <a:rPr lang="nl-NL" sz="1100" u="none" strike="noStrike" dirty="0" smtClean="0">
                          <a:effectLst/>
                          <a:latin typeface="Arial" pitchFamily="34" charset="0"/>
                        </a:rPr>
                        <a:t>Units </a:t>
                      </a:r>
                      <a:r>
                        <a:rPr lang="nl-NL" sz="1100" u="none" strike="noStrike" dirty="0">
                          <a:effectLst/>
                          <a:latin typeface="Arial" pitchFamily="34" charset="0"/>
                        </a:rPr>
                        <a:t>out</a:t>
                      </a:r>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t"/>
                      <a:r>
                        <a:rPr lang="nl-NL" sz="1100" u="none" strike="noStrike" dirty="0" err="1" smtClean="0">
                          <a:effectLst/>
                          <a:latin typeface="Arial" pitchFamily="34" charset="0"/>
                        </a:rPr>
                        <a:t>Scrap</a:t>
                      </a:r>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t"/>
                      <a:r>
                        <a:rPr lang="nl-NL" sz="1100" u="none" strike="noStrike" dirty="0" err="1" smtClean="0">
                          <a:effectLst/>
                          <a:latin typeface="Arial" pitchFamily="34" charset="0"/>
                        </a:rPr>
                        <a:t>Rework</a:t>
                      </a:r>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t"/>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t"/>
                      <a:r>
                        <a:rPr lang="nl-NL" sz="1100" u="none" strike="noStrike" dirty="0" err="1">
                          <a:effectLst/>
                          <a:latin typeface="Arial" pitchFamily="34" charset="0"/>
                        </a:rPr>
                        <a:t>Process</a:t>
                      </a:r>
                      <a:r>
                        <a:rPr lang="nl-NL" sz="1100" u="none" strike="noStrike" dirty="0">
                          <a:effectLst/>
                          <a:latin typeface="Arial" pitchFamily="34" charset="0"/>
                        </a:rPr>
                        <a:t> </a:t>
                      </a:r>
                      <a:r>
                        <a:rPr lang="nl-NL" sz="1100" u="none" strike="noStrike" dirty="0" err="1" smtClean="0">
                          <a:effectLst/>
                          <a:latin typeface="Arial" pitchFamily="34" charset="0"/>
                        </a:rPr>
                        <a:t>Yield</a:t>
                      </a:r>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t"/>
                      <a:r>
                        <a:rPr lang="nl-NL" sz="1100" u="none" strike="noStrike" dirty="0">
                          <a:effectLst/>
                          <a:latin typeface="Arial" pitchFamily="34" charset="0"/>
                        </a:rPr>
                        <a:t>Total </a:t>
                      </a:r>
                      <a:r>
                        <a:rPr lang="nl-NL" sz="1100" u="none" strike="noStrike" dirty="0" err="1" smtClean="0">
                          <a:effectLst/>
                          <a:latin typeface="Arial" pitchFamily="34" charset="0"/>
                        </a:rPr>
                        <a:t>Process</a:t>
                      </a:r>
                      <a:r>
                        <a:rPr lang="nl-NL" sz="1100" u="none" strike="noStrike" dirty="0" smtClean="0">
                          <a:effectLst/>
                          <a:latin typeface="Arial" pitchFamily="34" charset="0"/>
                        </a:rPr>
                        <a:t> </a:t>
                      </a:r>
                      <a:r>
                        <a:rPr lang="nl-NL" sz="1100" u="none" strike="noStrike" dirty="0" err="1" smtClean="0">
                          <a:effectLst/>
                          <a:latin typeface="Arial" pitchFamily="34" charset="0"/>
                        </a:rPr>
                        <a:t>Yield</a:t>
                      </a:r>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t"/>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t"/>
                      <a:r>
                        <a:rPr lang="nl-NL" sz="1100" u="none" strike="noStrike" dirty="0">
                          <a:effectLst/>
                          <a:latin typeface="Arial" pitchFamily="34" charset="0"/>
                        </a:rPr>
                        <a:t>First Time </a:t>
                      </a:r>
                      <a:r>
                        <a:rPr lang="nl-NL" sz="1100" u="none" strike="noStrike" dirty="0" smtClean="0">
                          <a:effectLst/>
                          <a:latin typeface="Arial" pitchFamily="34" charset="0"/>
                        </a:rPr>
                        <a:t>Right</a:t>
                      </a:r>
                      <a:r>
                        <a:rPr lang="nl-NL" sz="1100" u="none" strike="noStrike" baseline="0" dirty="0" smtClean="0">
                          <a:effectLst/>
                          <a:latin typeface="Arial" pitchFamily="34" charset="0"/>
                        </a:rPr>
                        <a:t> </a:t>
                      </a:r>
                      <a:r>
                        <a:rPr lang="nl-NL" sz="1100" u="none" strike="noStrike" dirty="0" err="1" smtClean="0">
                          <a:effectLst/>
                          <a:latin typeface="Arial" pitchFamily="34" charset="0"/>
                        </a:rPr>
                        <a:t>Yield</a:t>
                      </a:r>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t"/>
                      <a:r>
                        <a:rPr lang="nl-NL" sz="1100" u="none" strike="noStrike" dirty="0" err="1">
                          <a:effectLst/>
                          <a:latin typeface="Arial" pitchFamily="34" charset="0"/>
                        </a:rPr>
                        <a:t>Rolled</a:t>
                      </a:r>
                      <a:r>
                        <a:rPr lang="nl-NL" sz="1100" u="none" strike="noStrike" dirty="0">
                          <a:effectLst/>
                          <a:latin typeface="Arial" pitchFamily="34" charset="0"/>
                        </a:rPr>
                        <a:t> Throughput </a:t>
                      </a:r>
                      <a:r>
                        <a:rPr lang="nl-NL" sz="1100" u="none" strike="noStrike" dirty="0" err="1">
                          <a:effectLst/>
                          <a:latin typeface="Arial" pitchFamily="34" charset="0"/>
                        </a:rPr>
                        <a:t>Yield</a:t>
                      </a:r>
                      <a:endParaRPr lang="nl-NL" sz="1100" b="1" i="0" u="none" strike="noStrike" dirty="0">
                        <a:solidFill>
                          <a:srgbClr val="000000"/>
                        </a:solidFill>
                        <a:effectLst/>
                        <a:latin typeface="Arial" pitchFamily="34" charset="0"/>
                      </a:endParaRPr>
                    </a:p>
                  </a:txBody>
                  <a:tcPr marL="10716" marR="10716" marT="9525" marB="0" anchor="ctr"/>
                </a:tc>
              </a:tr>
              <a:tr h="370840">
                <a:tc>
                  <a:txBody>
                    <a:bodyPr/>
                    <a:lstStyle/>
                    <a:p>
                      <a:pPr algn="ctr" fontAlgn="b"/>
                      <a:r>
                        <a:rPr lang="nl-NL" sz="1100" u="none" strike="noStrike" dirty="0">
                          <a:effectLst/>
                          <a:latin typeface="Arial" pitchFamily="34" charset="0"/>
                        </a:rPr>
                        <a:t>A</a:t>
                      </a:r>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90</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10</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5</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90%</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90%</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85%</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85%</a:t>
                      </a:r>
                      <a:endParaRPr lang="nl-NL" sz="1100" b="0" i="0" u="none" strike="noStrike" dirty="0">
                        <a:solidFill>
                          <a:srgbClr val="000000"/>
                        </a:solidFill>
                        <a:effectLst/>
                        <a:latin typeface="Arial" pitchFamily="34" charset="0"/>
                      </a:endParaRPr>
                    </a:p>
                  </a:txBody>
                  <a:tcPr marL="10716" marR="10716" marT="9525" marB="0" anchor="ctr"/>
                </a:tc>
              </a:tr>
              <a:tr h="370840">
                <a:tc>
                  <a:txBody>
                    <a:bodyPr/>
                    <a:lstStyle/>
                    <a:p>
                      <a:pPr algn="ctr" fontAlgn="b"/>
                      <a:r>
                        <a:rPr lang="nl-NL" sz="1100" u="none" strike="noStrike" dirty="0">
                          <a:effectLst/>
                          <a:latin typeface="Arial" pitchFamily="34" charset="0"/>
                        </a:rPr>
                        <a:t>B</a:t>
                      </a:r>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80</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10</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7</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89%</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80%</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81%</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69%</a:t>
                      </a:r>
                      <a:endParaRPr lang="nl-NL" sz="1100" b="0" i="0" u="none" strike="noStrike" dirty="0">
                        <a:solidFill>
                          <a:srgbClr val="000000"/>
                        </a:solidFill>
                        <a:effectLst/>
                        <a:latin typeface="Arial" pitchFamily="34" charset="0"/>
                      </a:endParaRPr>
                    </a:p>
                  </a:txBody>
                  <a:tcPr marL="10716" marR="10716" marT="9525" marB="0" anchor="ctr"/>
                </a:tc>
              </a:tr>
              <a:tr h="370840">
                <a:tc>
                  <a:txBody>
                    <a:bodyPr/>
                    <a:lstStyle/>
                    <a:p>
                      <a:pPr algn="ctr" fontAlgn="b"/>
                      <a:r>
                        <a:rPr lang="nl-NL" sz="1100" u="none" strike="noStrike" dirty="0">
                          <a:effectLst/>
                          <a:latin typeface="Arial" pitchFamily="34" charset="0"/>
                        </a:rPr>
                        <a:t>C</a:t>
                      </a:r>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75</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5</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3</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94%</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75%</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90%</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62%</a:t>
                      </a:r>
                      <a:endParaRPr lang="nl-NL" sz="1100" b="0" i="0" u="none" strike="noStrike" dirty="0">
                        <a:solidFill>
                          <a:srgbClr val="000000"/>
                        </a:solidFill>
                        <a:effectLst/>
                        <a:latin typeface="Arial" pitchFamily="34" charset="0"/>
                      </a:endParaRPr>
                    </a:p>
                  </a:txBody>
                  <a:tcPr marL="10716" marR="10716" marT="9525" marB="0" anchor="ctr"/>
                </a:tc>
              </a:tr>
              <a:tr h="370840">
                <a:tc>
                  <a:txBody>
                    <a:bodyPr/>
                    <a:lstStyle/>
                    <a:p>
                      <a:pPr algn="ctr" fontAlgn="b"/>
                      <a:r>
                        <a:rPr lang="nl-NL" sz="1100" u="none" strike="noStrike" dirty="0">
                          <a:effectLst/>
                          <a:latin typeface="Arial" pitchFamily="34" charset="0"/>
                        </a:rPr>
                        <a:t>D</a:t>
                      </a:r>
                      <a:endParaRPr lang="nl-NL" sz="1100" b="1"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70</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5</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5</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93%</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70%</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87%</a:t>
                      </a:r>
                      <a:endParaRPr lang="nl-NL" sz="1100" b="0" i="0" u="none" strike="noStrike" dirty="0">
                        <a:solidFill>
                          <a:srgbClr val="000000"/>
                        </a:solidFill>
                        <a:effectLst/>
                        <a:latin typeface="Arial" pitchFamily="34" charset="0"/>
                      </a:endParaRPr>
                    </a:p>
                  </a:txBody>
                  <a:tcPr marL="10716" marR="10716" marT="9525" marB="0" anchor="ctr"/>
                </a:tc>
                <a:tc>
                  <a:txBody>
                    <a:bodyPr/>
                    <a:lstStyle/>
                    <a:p>
                      <a:pPr algn="ctr" fontAlgn="b"/>
                      <a:r>
                        <a:rPr lang="nl-NL" sz="1100" u="none" strike="noStrike" dirty="0">
                          <a:effectLst/>
                          <a:latin typeface="Arial" pitchFamily="34" charset="0"/>
                        </a:rPr>
                        <a:t>54%</a:t>
                      </a:r>
                      <a:endParaRPr lang="nl-NL" sz="1100" b="0" i="0" u="none" strike="noStrike" dirty="0">
                        <a:solidFill>
                          <a:srgbClr val="000000"/>
                        </a:solidFill>
                        <a:effectLst/>
                        <a:latin typeface="Arial" pitchFamily="34" charset="0"/>
                      </a:endParaRPr>
                    </a:p>
                  </a:txBody>
                  <a:tcPr marL="10716" marR="10716" marT="9525" marB="0" anchor="ctr"/>
                </a:tc>
              </a:tr>
            </a:tbl>
          </a:graphicData>
        </a:graphic>
      </p:graphicFrame>
    </p:spTree>
    <p:extLst>
      <p:ext uri="{BB962C8B-B14F-4D97-AF65-F5344CB8AC3E}">
        <p14:creationId xmlns:p14="http://schemas.microsoft.com/office/powerpoint/2010/main" val="14118127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6"/>
          <p:cNvSpPr>
            <a:spLocks noGrp="1"/>
          </p:cNvSpPr>
          <p:nvPr>
            <p:ph type="ctrTitle"/>
          </p:nvPr>
        </p:nvSpPr>
        <p:spPr/>
        <p:txBody>
          <a:bodyPr/>
          <a:lstStyle/>
          <a:p>
            <a:r>
              <a:rPr lang="en-US" dirty="0" smtClean="0"/>
              <a:t>Process Capability &amp; Performance</a:t>
            </a:r>
            <a:br>
              <a:rPr lang="en-US" dirty="0" smtClean="0"/>
            </a:br>
            <a:r>
              <a:rPr lang="en-US" dirty="0" smtClean="0"/>
              <a:t/>
            </a:r>
            <a:br>
              <a:rPr lang="en-US" dirty="0" smtClean="0"/>
            </a:br>
            <a:endParaRPr lang="nl-NL" dirty="0" smtClean="0"/>
          </a:p>
        </p:txBody>
      </p:sp>
      <p:sp>
        <p:nvSpPr>
          <p:cNvPr id="4" name="Tijdelijke aanduiding voor tekst 3"/>
          <p:cNvSpPr>
            <a:spLocks noGrp="1"/>
          </p:cNvSpPr>
          <p:nvPr>
            <p:ph type="subTitle" idx="1"/>
          </p:nvPr>
        </p:nvSpPr>
        <p:spPr/>
        <p:txBody>
          <a:bodyPr/>
          <a:lstStyle/>
          <a:p>
            <a:r>
              <a:rPr lang="en-US" smtClean="0"/>
              <a:t>The element ‘Process Capability and Performance’ explains process capability and performance in relation to specification limits. </a:t>
            </a:r>
            <a:endParaRPr lang="en-US" dirty="0"/>
          </a:p>
        </p:txBody>
      </p:sp>
      <p:sp>
        <p:nvSpPr>
          <p:cNvPr id="3" name="Tijdelijke aanduiding voor tekst 2"/>
          <p:cNvSpPr>
            <a:spLocks noGrp="1"/>
          </p:cNvSpPr>
          <p:nvPr>
            <p:ph type="body" sz="quarter" idx="13"/>
          </p:nvPr>
        </p:nvSpPr>
        <p:spPr/>
        <p:txBody>
          <a:bodyPr/>
          <a:lstStyle/>
          <a:p>
            <a:r>
              <a:rPr lang="nl-NL" smtClean="0"/>
              <a:t>Yellow Belt</a:t>
            </a:r>
            <a:endParaRPr lang="nl-NL" dirty="0"/>
          </a:p>
        </p:txBody>
      </p:sp>
      <p:sp>
        <p:nvSpPr>
          <p:cNvPr id="2" name="Tijdelijke aanduiding voor inhoud 1"/>
          <p:cNvSpPr>
            <a:spLocks noGrp="1"/>
          </p:cNvSpPr>
          <p:nvPr>
            <p:ph sz="quarter" idx="17"/>
          </p:nvPr>
        </p:nvSpPr>
        <p:spPr/>
        <p:txBody>
          <a:bodyPr/>
          <a:lstStyle/>
          <a:p>
            <a:r>
              <a:rPr lang="en-US" smtClean="0"/>
              <a:t>U4 – Measure</a:t>
            </a:r>
          </a:p>
          <a:p>
            <a:r>
              <a:rPr lang="en-US" smtClean="0"/>
              <a:t>E4 – Process Capability and Performance</a:t>
            </a:r>
            <a:endParaRPr lang="nl-NL"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p:cNvSpPr>
            <a:spLocks noGrp="1"/>
          </p:cNvSpPr>
          <p:nvPr>
            <p:ph type="title"/>
          </p:nvPr>
        </p:nvSpPr>
        <p:spPr/>
        <p:txBody>
          <a:bodyPr/>
          <a:lstStyle/>
          <a:p>
            <a:pPr eaLnBrk="1" hangingPunct="1"/>
            <a:r>
              <a:rPr lang="en-US" smtClean="0">
                <a:latin typeface="Arial" charset="0"/>
                <a:cs typeface="Arial" charset="0"/>
              </a:rPr>
              <a:t>Process Capability &amp; Performance</a:t>
            </a:r>
            <a:endParaRPr smtClean="0">
              <a:latin typeface="Arial" charset="0"/>
              <a:cs typeface="Arial" charset="0"/>
            </a:endParaRPr>
          </a:p>
        </p:txBody>
      </p:sp>
      <p:sp>
        <p:nvSpPr>
          <p:cNvPr id="4099" name="Tijdelijke aanduiding voor inhoud 2"/>
          <p:cNvSpPr>
            <a:spLocks noGrp="1"/>
          </p:cNvSpPr>
          <p:nvPr>
            <p:ph idx="1"/>
          </p:nvPr>
        </p:nvSpPr>
        <p:spPr/>
        <p:txBody>
          <a:bodyPr/>
          <a:lstStyle/>
          <a:p>
            <a:pPr eaLnBrk="1" hangingPunct="1"/>
            <a:r>
              <a:rPr lang="en-US" dirty="0" smtClean="0">
                <a:latin typeface="Arial" charset="0"/>
                <a:cs typeface="Arial" charset="0"/>
              </a:rPr>
              <a:t>Definition of process capability:</a:t>
            </a:r>
            <a:endParaRPr lang="nl-NL" dirty="0" smtClean="0">
              <a:latin typeface="Arial" charset="0"/>
              <a:cs typeface="Arial" charset="0"/>
            </a:endParaRPr>
          </a:p>
          <a:p>
            <a:pPr lvl="1" eaLnBrk="1" hangingPunct="1"/>
            <a:endParaRPr lang="nl-NL" dirty="0" smtClean="0">
              <a:latin typeface="Arial" charset="0"/>
              <a:cs typeface="Arial" charset="0"/>
            </a:endParaRPr>
          </a:p>
          <a:p>
            <a:pPr lvl="1" algn="ctr" eaLnBrk="1" hangingPunct="1">
              <a:buFont typeface="Arial" charset="0"/>
              <a:buNone/>
            </a:pPr>
            <a:r>
              <a:rPr lang="en-US" i="1" dirty="0" smtClean="0">
                <a:latin typeface="Arial" charset="0"/>
                <a:cs typeface="Arial" charset="0"/>
              </a:rPr>
              <a:t>‘The ability of a process to supply products/ services that satisfy</a:t>
            </a:r>
            <a:br>
              <a:rPr lang="en-US" i="1" dirty="0" smtClean="0">
                <a:latin typeface="Arial" charset="0"/>
                <a:cs typeface="Arial" charset="0"/>
              </a:rPr>
            </a:br>
            <a:r>
              <a:rPr lang="en-US" i="1" dirty="0" smtClean="0">
                <a:latin typeface="Arial" charset="0"/>
                <a:cs typeface="Arial" charset="0"/>
              </a:rPr>
              <a:t>customer expectations / specifications’</a:t>
            </a:r>
            <a:endParaRPr lang="nl-NL" i="1" dirty="0" smtClean="0">
              <a:latin typeface="Arial" charset="0"/>
              <a:cs typeface="Arial" charset="0"/>
            </a:endParaRPr>
          </a:p>
          <a:p>
            <a:pPr lvl="1" eaLnBrk="1" hangingPunct="1"/>
            <a:endParaRPr lang="nl-NL" dirty="0" smtClean="0">
              <a:latin typeface="Arial" charset="0"/>
              <a:cs typeface="Arial" charset="0"/>
            </a:endParaRPr>
          </a:p>
          <a:p>
            <a:pPr lvl="1" eaLnBrk="1" hangingPunct="1"/>
            <a:endParaRPr lang="nl-NL" dirty="0" smtClean="0">
              <a:latin typeface="Arial" charset="0"/>
              <a:cs typeface="Arial" charset="0"/>
            </a:endParaRPr>
          </a:p>
          <a:p>
            <a:pPr lvl="1" indent="-355600" eaLnBrk="1" hangingPunct="1">
              <a:buFont typeface="Arial" charset="0"/>
              <a:buNone/>
            </a:pPr>
            <a:r>
              <a:rPr lang="en-US" sz="1800" dirty="0" smtClean="0">
                <a:latin typeface="Arial" charset="0"/>
                <a:cs typeface="Arial" charset="0"/>
              </a:rPr>
              <a:t>Example Elderly home </a:t>
            </a:r>
            <a:r>
              <a:rPr lang="en-US" sz="1800" dirty="0" err="1" smtClean="0">
                <a:latin typeface="Arial" charset="0"/>
                <a:cs typeface="Arial" charset="0"/>
              </a:rPr>
              <a:t>centre</a:t>
            </a:r>
            <a:endParaRPr lang="nl-NL" sz="1800" dirty="0" smtClean="0">
              <a:latin typeface="Arial" charset="0"/>
              <a:cs typeface="Arial" charset="0"/>
            </a:endParaRPr>
          </a:p>
          <a:p>
            <a:pPr lvl="1" eaLnBrk="1" hangingPunct="1">
              <a:buClrTx/>
            </a:pPr>
            <a:r>
              <a:rPr lang="en-US" dirty="0" smtClean="0">
                <a:latin typeface="Arial" charset="0"/>
                <a:cs typeface="Arial" charset="0"/>
              </a:rPr>
              <a:t>The specifications of </a:t>
            </a:r>
            <a:r>
              <a:rPr lang="nl-NL" dirty="0" smtClean="0">
                <a:latin typeface="Arial" charset="0"/>
                <a:cs typeface="Arial" charset="0"/>
              </a:rPr>
              <a:t>the </a:t>
            </a:r>
            <a:r>
              <a:rPr lang="nl-NL" dirty="0" err="1" smtClean="0">
                <a:latin typeface="Arial" charset="0"/>
                <a:cs typeface="Arial" charset="0"/>
              </a:rPr>
              <a:t>ideal</a:t>
            </a:r>
            <a:r>
              <a:rPr lang="nl-NL" dirty="0" smtClean="0">
                <a:latin typeface="Arial" charset="0"/>
                <a:cs typeface="Arial" charset="0"/>
              </a:rPr>
              <a:t> </a:t>
            </a:r>
            <a:r>
              <a:rPr lang="nl-NL" dirty="0" err="1" smtClean="0">
                <a:latin typeface="Arial" charset="0"/>
                <a:cs typeface="Arial" charset="0"/>
              </a:rPr>
              <a:t>temperature</a:t>
            </a:r>
            <a:r>
              <a:rPr lang="nl-NL" dirty="0" smtClean="0">
                <a:latin typeface="Arial" charset="0"/>
                <a:cs typeface="Arial" charset="0"/>
              </a:rPr>
              <a:t> of a </a:t>
            </a:r>
            <a:r>
              <a:rPr lang="nl-NL" dirty="0" err="1" smtClean="0">
                <a:latin typeface="Arial" charset="0"/>
                <a:cs typeface="Arial" charset="0"/>
              </a:rPr>
              <a:t>meal</a:t>
            </a:r>
            <a:r>
              <a:rPr lang="nl-NL" dirty="0" smtClean="0">
                <a:latin typeface="Arial" charset="0"/>
                <a:cs typeface="Arial" charset="0"/>
              </a:rPr>
              <a:t> in </a:t>
            </a:r>
            <a:r>
              <a:rPr lang="nl-NL" dirty="0" err="1" smtClean="0">
                <a:latin typeface="Arial" charset="0"/>
                <a:cs typeface="Arial" charset="0"/>
              </a:rPr>
              <a:t>an</a:t>
            </a:r>
            <a:r>
              <a:rPr lang="nl-NL" dirty="0" smtClean="0">
                <a:latin typeface="Arial" charset="0"/>
                <a:cs typeface="Arial" charset="0"/>
              </a:rPr>
              <a:t> </a:t>
            </a:r>
            <a:r>
              <a:rPr lang="nl-NL" dirty="0" err="1" smtClean="0">
                <a:latin typeface="Arial" charset="0"/>
                <a:cs typeface="Arial" charset="0"/>
              </a:rPr>
              <a:t>Elderly</a:t>
            </a:r>
            <a:r>
              <a:rPr lang="nl-NL" dirty="0" smtClean="0">
                <a:latin typeface="Arial" charset="0"/>
                <a:cs typeface="Arial" charset="0"/>
              </a:rPr>
              <a:t> home </a:t>
            </a:r>
            <a:r>
              <a:rPr lang="nl-NL" dirty="0" err="1" smtClean="0">
                <a:latin typeface="Arial" charset="0"/>
                <a:cs typeface="Arial" charset="0"/>
              </a:rPr>
              <a:t>centre</a:t>
            </a:r>
            <a:r>
              <a:rPr lang="nl-NL" dirty="0" smtClean="0">
                <a:latin typeface="Arial" charset="0"/>
                <a:cs typeface="Arial" charset="0"/>
              </a:rPr>
              <a:t> are: </a:t>
            </a:r>
            <a:r>
              <a:rPr lang="nl-NL" dirty="0" err="1" smtClean="0">
                <a:latin typeface="Arial" charset="0"/>
                <a:cs typeface="Arial" charset="0"/>
              </a:rPr>
              <a:t>between</a:t>
            </a:r>
            <a:r>
              <a:rPr lang="nl-NL" dirty="0" smtClean="0">
                <a:latin typeface="Arial" charset="0"/>
                <a:cs typeface="Arial" charset="0"/>
              </a:rPr>
              <a:t> 60 </a:t>
            </a:r>
            <a:r>
              <a:rPr lang="nl-NL" dirty="0" err="1" smtClean="0">
                <a:latin typeface="Arial" charset="0"/>
                <a:cs typeface="Arial" charset="0"/>
              </a:rPr>
              <a:t>and</a:t>
            </a:r>
            <a:r>
              <a:rPr lang="nl-NL" dirty="0" smtClean="0">
                <a:latin typeface="Arial" charset="0"/>
                <a:cs typeface="Arial" charset="0"/>
              </a:rPr>
              <a:t> 70 </a:t>
            </a:r>
            <a:r>
              <a:rPr lang="nl-NL" dirty="0" err="1" smtClean="0">
                <a:latin typeface="Arial" charset="0"/>
                <a:cs typeface="Arial" charset="0"/>
              </a:rPr>
              <a:t>degrees</a:t>
            </a:r>
            <a:endParaRPr lang="nl-NL" dirty="0" smtClean="0">
              <a:latin typeface="Arial" charset="0"/>
              <a:cs typeface="Arial" charset="0"/>
            </a:endParaRPr>
          </a:p>
          <a:p>
            <a:pPr lvl="1" eaLnBrk="1" hangingPunct="1">
              <a:buClrTx/>
            </a:pPr>
            <a:endParaRPr lang="nl-NL" dirty="0" smtClean="0">
              <a:latin typeface="Arial" charset="0"/>
              <a:cs typeface="Arial" charset="0"/>
            </a:endParaRPr>
          </a:p>
          <a:p>
            <a:pPr lvl="1" eaLnBrk="1" hangingPunct="1">
              <a:buClrTx/>
            </a:pPr>
            <a:r>
              <a:rPr lang="en-US" dirty="0" smtClean="0">
                <a:latin typeface="Arial" charset="0"/>
                <a:cs typeface="Arial" charset="0"/>
              </a:rPr>
              <a:t>A capability analysis indicates how capable the process is to meet specifications and how the process can be improved and secured</a:t>
            </a:r>
            <a:endParaRPr lang="nl-NL" dirty="0" smtClean="0">
              <a:latin typeface="Arial" charset="0"/>
              <a:cs typeface="Arial" charset="0"/>
            </a:endParaRPr>
          </a:p>
          <a:p>
            <a:pPr lvl="1" eaLnBrk="1" hangingPunct="1">
              <a:buClrTx/>
            </a:pPr>
            <a:endParaRPr lang="nl-NL" dirty="0" smtClean="0">
              <a:latin typeface="Arial" charset="0"/>
              <a:cs typeface="Arial" charset="0"/>
            </a:endParaRPr>
          </a:p>
          <a:p>
            <a:pPr lvl="1" eaLnBrk="1" hangingPunct="1">
              <a:buClrTx/>
            </a:pPr>
            <a:r>
              <a:rPr lang="en-US" dirty="0" smtClean="0">
                <a:latin typeface="Arial" charset="0"/>
                <a:cs typeface="Arial" charset="0"/>
              </a:rPr>
              <a:t>In order to reliably determine the process capability, the process must be stable</a:t>
            </a:r>
          </a:p>
          <a:p>
            <a:pPr lvl="1" eaLnBrk="1" hangingPunct="1">
              <a:buClrTx/>
            </a:pPr>
            <a:endParaRPr lang="en-US" dirty="0">
              <a:latin typeface="Arial" charset="0"/>
              <a:cs typeface="Arial" charset="0"/>
            </a:endParaRPr>
          </a:p>
          <a:p>
            <a:pPr lvl="1" eaLnBrk="1" hangingPunct="1">
              <a:buClrTx/>
            </a:pPr>
            <a:r>
              <a:rPr lang="en-US" dirty="0" smtClean="0">
                <a:latin typeface="Arial" charset="0"/>
                <a:cs typeface="Arial" charset="0"/>
              </a:rPr>
              <a:t>An unstable process is unpredictable</a:t>
            </a:r>
            <a:endParaRPr lang="nl-NL" dirty="0" smtClean="0">
              <a:latin typeface="Arial" charset="0"/>
              <a:cs typeface="Arial" charset="0"/>
            </a:endParaRPr>
          </a:p>
        </p:txBody>
      </p:sp>
    </p:spTree>
    <p:extLst>
      <p:ext uri="{BB962C8B-B14F-4D97-AF65-F5344CB8AC3E}">
        <p14:creationId xmlns:p14="http://schemas.microsoft.com/office/powerpoint/2010/main" val="3546390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9">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9">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9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Process Capability &amp; Performance</a:t>
            </a:r>
            <a:endParaRPr lang="en-IE" dirty="0"/>
          </a:p>
        </p:txBody>
      </p:sp>
      <p:sp>
        <p:nvSpPr>
          <p:cNvPr id="3" name="Content Placeholder 2"/>
          <p:cNvSpPr>
            <a:spLocks noGrp="1"/>
          </p:cNvSpPr>
          <p:nvPr>
            <p:ph idx="1"/>
          </p:nvPr>
        </p:nvSpPr>
        <p:spPr>
          <a:xfrm>
            <a:off x="810816" y="1439863"/>
            <a:ext cx="5735850" cy="5040312"/>
          </a:xfrm>
        </p:spPr>
        <p:txBody>
          <a:bodyPr/>
          <a:lstStyle/>
          <a:p>
            <a:r>
              <a:rPr lang="en-GB" dirty="0" smtClean="0"/>
              <a:t>Example Temperature problems</a:t>
            </a:r>
          </a:p>
          <a:p>
            <a:pPr lvl="1">
              <a:buClrTx/>
            </a:pPr>
            <a:endParaRPr lang="en-GB" dirty="0" smtClean="0"/>
          </a:p>
          <a:p>
            <a:pPr lvl="1">
              <a:buClrTx/>
            </a:pPr>
            <a:r>
              <a:rPr lang="en-GB" dirty="0" smtClean="0"/>
              <a:t>As a result of a survey on the meal service of an Elderly home centre the temperature of the meal was found to be an issue with clients. E.g. too hot or too cold</a:t>
            </a:r>
          </a:p>
          <a:p>
            <a:pPr lvl="1">
              <a:buClrTx/>
            </a:pPr>
            <a:endParaRPr lang="en-GB" dirty="0" smtClean="0"/>
          </a:p>
          <a:p>
            <a:pPr lvl="1">
              <a:buClrTx/>
            </a:pPr>
            <a:r>
              <a:rPr lang="en-GB" dirty="0" smtClean="0"/>
              <a:t>Interviews learned that the ideal temp was between 60 and 70ºC</a:t>
            </a:r>
            <a:endParaRPr lang="en-IE" dirty="0"/>
          </a:p>
        </p:txBody>
      </p:sp>
      <p:sp>
        <p:nvSpPr>
          <p:cNvPr id="4" name="Footer Placeholder 3"/>
          <p:cNvSpPr>
            <a:spLocks noGrp="1"/>
          </p:cNvSpPr>
          <p:nvPr>
            <p:ph type="ftr" sz="quarter" idx="10"/>
          </p:nvPr>
        </p:nvSpPr>
        <p:spPr/>
        <p:txBody>
          <a:bodyPr/>
          <a:lstStyle/>
          <a:p>
            <a:endParaRPr lang="nl-NL"/>
          </a:p>
        </p:txBody>
      </p:sp>
      <p:grpSp>
        <p:nvGrpSpPr>
          <p:cNvPr id="5" name="Groep 4"/>
          <p:cNvGrpSpPr/>
          <p:nvPr/>
        </p:nvGrpSpPr>
        <p:grpSpPr>
          <a:xfrm>
            <a:off x="397314" y="4077072"/>
            <a:ext cx="9039663" cy="2610505"/>
            <a:chOff x="251520" y="3357562"/>
            <a:chExt cx="8035256" cy="2745948"/>
          </a:xfrm>
        </p:grpSpPr>
        <p:sp>
          <p:nvSpPr>
            <p:cNvPr id="12" name="Line 10"/>
            <p:cNvSpPr>
              <a:spLocks noChangeShapeType="1"/>
            </p:cNvSpPr>
            <p:nvPr/>
          </p:nvSpPr>
          <p:spPr bwMode="auto">
            <a:xfrm flipV="1">
              <a:off x="3000364" y="4063134"/>
              <a:ext cx="0" cy="1600200"/>
            </a:xfrm>
            <a:prstGeom prst="line">
              <a:avLst/>
            </a:prstGeom>
            <a:noFill/>
            <a:ln w="9525">
              <a:solidFill>
                <a:srgbClr val="FF0000"/>
              </a:solidFill>
              <a:round/>
              <a:headEnd/>
              <a:tailEnd/>
            </a:ln>
          </p:spPr>
          <p:txBody>
            <a:bodyPr wrap="none" anchor="ctr"/>
            <a:lstStyle/>
            <a:p>
              <a:endParaRPr lang="nl-NL" dirty="0"/>
            </a:p>
          </p:txBody>
        </p:sp>
        <p:sp>
          <p:nvSpPr>
            <p:cNvPr id="17" name="Line 11"/>
            <p:cNvSpPr>
              <a:spLocks noChangeShapeType="1"/>
            </p:cNvSpPr>
            <p:nvPr/>
          </p:nvSpPr>
          <p:spPr bwMode="auto">
            <a:xfrm flipV="1">
              <a:off x="5500694" y="4063134"/>
              <a:ext cx="0" cy="1600200"/>
            </a:xfrm>
            <a:prstGeom prst="line">
              <a:avLst/>
            </a:prstGeom>
            <a:noFill/>
            <a:ln w="9525">
              <a:solidFill>
                <a:srgbClr val="FF0000"/>
              </a:solidFill>
              <a:round/>
              <a:headEnd/>
              <a:tailEnd/>
            </a:ln>
          </p:spPr>
          <p:txBody>
            <a:bodyPr wrap="none" anchor="ctr"/>
            <a:lstStyle/>
            <a:p>
              <a:endParaRPr lang="nl-NL" dirty="0"/>
            </a:p>
          </p:txBody>
        </p:sp>
        <p:sp>
          <p:nvSpPr>
            <p:cNvPr id="18" name="Text Box 12"/>
            <p:cNvSpPr txBox="1">
              <a:spLocks noChangeArrowheads="1"/>
            </p:cNvSpPr>
            <p:nvPr/>
          </p:nvSpPr>
          <p:spPr bwMode="auto">
            <a:xfrm>
              <a:off x="1976227" y="3357562"/>
              <a:ext cx="2139047" cy="615115"/>
            </a:xfrm>
            <a:prstGeom prst="rect">
              <a:avLst/>
            </a:prstGeom>
            <a:noFill/>
            <a:ln w="9525">
              <a:noFill/>
              <a:miter lim="800000"/>
              <a:headEnd/>
              <a:tailEnd/>
            </a:ln>
          </p:spPr>
          <p:txBody>
            <a:bodyPr wrap="none">
              <a:spAutoFit/>
            </a:bodyPr>
            <a:lstStyle/>
            <a:p>
              <a:pPr algn="ctr" eaLnBrk="0" hangingPunct="0"/>
              <a:r>
                <a:rPr lang="nl-NL" sz="1600" dirty="0" smtClean="0">
                  <a:latin typeface="Arial" panose="020B0604020202020204" pitchFamily="34" charset="0"/>
                  <a:cs typeface="Arial" panose="020B0604020202020204" pitchFamily="34" charset="0"/>
                </a:rPr>
                <a:t>Lower specification limit </a:t>
              </a:r>
            </a:p>
            <a:p>
              <a:pPr algn="ctr" eaLnBrk="0" hangingPunct="0"/>
              <a:r>
                <a:rPr lang="nl-NL" sz="1600" dirty="0" smtClean="0">
                  <a:latin typeface="Arial" panose="020B0604020202020204" pitchFamily="34" charset="0"/>
                  <a:cs typeface="Arial" panose="020B0604020202020204" pitchFamily="34" charset="0"/>
                </a:rPr>
                <a:t>(LSL)</a:t>
              </a:r>
              <a:endParaRPr lang="nl-NL" sz="1600" dirty="0">
                <a:latin typeface="Arial" panose="020B0604020202020204" pitchFamily="34" charset="0"/>
                <a:cs typeface="Arial" panose="020B0604020202020204" pitchFamily="34" charset="0"/>
              </a:endParaRPr>
            </a:p>
          </p:txBody>
        </p:sp>
        <p:sp>
          <p:nvSpPr>
            <p:cNvPr id="19" name="Line 9"/>
            <p:cNvSpPr>
              <a:spLocks noChangeShapeType="1"/>
            </p:cNvSpPr>
            <p:nvPr/>
          </p:nvSpPr>
          <p:spPr bwMode="auto">
            <a:xfrm>
              <a:off x="251520" y="5661248"/>
              <a:ext cx="8035256" cy="0"/>
            </a:xfrm>
            <a:prstGeom prst="line">
              <a:avLst/>
            </a:prstGeom>
            <a:noFill/>
            <a:ln w="19050">
              <a:solidFill>
                <a:schemeClr val="tx1"/>
              </a:solidFill>
              <a:round/>
              <a:headEnd/>
              <a:tailEnd/>
            </a:ln>
          </p:spPr>
          <p:txBody>
            <a:bodyPr wrap="none" anchor="ctr"/>
            <a:lstStyle/>
            <a:p>
              <a:endParaRPr lang="nl-NL" dirty="0"/>
            </a:p>
          </p:txBody>
        </p:sp>
        <p:sp>
          <p:nvSpPr>
            <p:cNvPr id="20" name="Text Box 12"/>
            <p:cNvSpPr txBox="1">
              <a:spLocks noChangeArrowheads="1"/>
            </p:cNvSpPr>
            <p:nvPr/>
          </p:nvSpPr>
          <p:spPr bwMode="auto">
            <a:xfrm>
              <a:off x="2802294" y="5715016"/>
              <a:ext cx="372181" cy="388494"/>
            </a:xfrm>
            <a:prstGeom prst="rect">
              <a:avLst/>
            </a:prstGeom>
            <a:noFill/>
            <a:ln w="9525">
              <a:noFill/>
              <a:miter lim="800000"/>
              <a:headEnd/>
              <a:tailEnd/>
            </a:ln>
          </p:spPr>
          <p:txBody>
            <a:bodyPr wrap="none">
              <a:spAutoFit/>
            </a:bodyPr>
            <a:lstStyle/>
            <a:p>
              <a:pPr eaLnBrk="0" hangingPunct="0"/>
              <a:r>
                <a:rPr lang="nl-NL" dirty="0" smtClean="0"/>
                <a:t>60</a:t>
              </a:r>
              <a:endParaRPr lang="nl-NL" dirty="0"/>
            </a:p>
          </p:txBody>
        </p:sp>
        <p:sp>
          <p:nvSpPr>
            <p:cNvPr id="21" name="Text Box 12"/>
            <p:cNvSpPr txBox="1">
              <a:spLocks noChangeArrowheads="1"/>
            </p:cNvSpPr>
            <p:nvPr/>
          </p:nvSpPr>
          <p:spPr bwMode="auto">
            <a:xfrm>
              <a:off x="5298906" y="5715016"/>
              <a:ext cx="372181" cy="388494"/>
            </a:xfrm>
            <a:prstGeom prst="rect">
              <a:avLst/>
            </a:prstGeom>
            <a:noFill/>
            <a:ln w="9525">
              <a:noFill/>
              <a:miter lim="800000"/>
              <a:headEnd/>
              <a:tailEnd/>
            </a:ln>
          </p:spPr>
          <p:txBody>
            <a:bodyPr wrap="none">
              <a:spAutoFit/>
            </a:bodyPr>
            <a:lstStyle/>
            <a:p>
              <a:pPr eaLnBrk="0" hangingPunct="0"/>
              <a:r>
                <a:rPr lang="nl-NL" dirty="0" smtClean="0"/>
                <a:t>70</a:t>
              </a:r>
              <a:endParaRPr lang="nl-NL" dirty="0"/>
            </a:p>
          </p:txBody>
        </p:sp>
        <p:sp>
          <p:nvSpPr>
            <p:cNvPr id="22" name="Text Box 12"/>
            <p:cNvSpPr txBox="1">
              <a:spLocks noChangeArrowheads="1"/>
            </p:cNvSpPr>
            <p:nvPr/>
          </p:nvSpPr>
          <p:spPr bwMode="auto">
            <a:xfrm>
              <a:off x="4406949" y="3357562"/>
              <a:ext cx="2139047" cy="615115"/>
            </a:xfrm>
            <a:prstGeom prst="rect">
              <a:avLst/>
            </a:prstGeom>
            <a:noFill/>
            <a:ln w="9525">
              <a:noFill/>
              <a:miter lim="800000"/>
              <a:headEnd/>
              <a:tailEnd/>
            </a:ln>
          </p:spPr>
          <p:txBody>
            <a:bodyPr wrap="none">
              <a:spAutoFit/>
            </a:bodyPr>
            <a:lstStyle/>
            <a:p>
              <a:pPr algn="ctr" eaLnBrk="0" hangingPunct="0"/>
              <a:r>
                <a:rPr lang="nl-NL" sz="1600" dirty="0" smtClean="0">
                  <a:latin typeface="Arial" panose="020B0604020202020204" pitchFamily="34" charset="0"/>
                  <a:cs typeface="Arial" panose="020B0604020202020204" pitchFamily="34" charset="0"/>
                </a:rPr>
                <a:t>Upper specification limit </a:t>
              </a:r>
            </a:p>
            <a:p>
              <a:pPr algn="ctr" eaLnBrk="0" hangingPunct="0"/>
              <a:r>
                <a:rPr lang="nl-NL" sz="1600" dirty="0" smtClean="0">
                  <a:latin typeface="Arial" panose="020B0604020202020204" pitchFamily="34" charset="0"/>
                  <a:cs typeface="Arial" panose="020B0604020202020204" pitchFamily="34" charset="0"/>
                </a:rPr>
                <a:t>(USL)</a:t>
              </a:r>
              <a:endParaRPr lang="nl-NL" sz="1600" dirty="0">
                <a:latin typeface="Arial" panose="020B0604020202020204" pitchFamily="34" charset="0"/>
                <a:cs typeface="Arial" panose="020B0604020202020204" pitchFamily="34" charset="0"/>
              </a:endParaRPr>
            </a:p>
          </p:txBody>
        </p:sp>
      </p:grpSp>
      <p:pic>
        <p:nvPicPr>
          <p:cNvPr id="7" name="Afbeelding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46665" y="1907466"/>
            <a:ext cx="3498082" cy="209409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Process Capability &amp; Performance</a:t>
            </a:r>
            <a:endParaRPr lang="en-IE" dirty="0"/>
          </a:p>
        </p:txBody>
      </p:sp>
      <p:sp>
        <p:nvSpPr>
          <p:cNvPr id="3" name="Content Placeholder 2"/>
          <p:cNvSpPr>
            <a:spLocks noGrp="1"/>
          </p:cNvSpPr>
          <p:nvPr>
            <p:ph idx="1"/>
          </p:nvPr>
        </p:nvSpPr>
        <p:spPr/>
        <p:txBody>
          <a:bodyPr/>
          <a:lstStyle/>
          <a:p>
            <a:pPr marL="0"/>
            <a:r>
              <a:rPr lang="en-GB" dirty="0"/>
              <a:t>Example Temperature problems</a:t>
            </a:r>
          </a:p>
          <a:p>
            <a:pPr marL="92075" indent="0"/>
            <a:endParaRPr lang="en-GB" sz="1800" dirty="0" smtClean="0"/>
          </a:p>
          <a:p>
            <a:pPr marL="92075" indent="0"/>
            <a:r>
              <a:rPr lang="en-GB" sz="1800" dirty="0" smtClean="0"/>
              <a:t>The Elderly home centre started to measure the temperature of the meals</a:t>
            </a:r>
          </a:p>
          <a:p>
            <a:pPr lvl="1"/>
            <a:endParaRPr lang="en-GB" dirty="0" smtClean="0"/>
          </a:p>
          <a:p>
            <a:pPr lvl="1"/>
            <a:r>
              <a:rPr lang="en-GB" dirty="0" smtClean="0"/>
              <a:t>The average temperature was 65ºC</a:t>
            </a:r>
          </a:p>
          <a:p>
            <a:pPr lvl="1"/>
            <a:r>
              <a:rPr lang="en-GB" dirty="0" smtClean="0"/>
              <a:t>The standard deviation was 10ºC</a:t>
            </a:r>
            <a:endParaRPr lang="en-IE" dirty="0"/>
          </a:p>
        </p:txBody>
      </p:sp>
      <p:sp>
        <p:nvSpPr>
          <p:cNvPr id="4" name="Footer Placeholder 3"/>
          <p:cNvSpPr>
            <a:spLocks noGrp="1"/>
          </p:cNvSpPr>
          <p:nvPr>
            <p:ph type="ftr" sz="quarter" idx="10"/>
          </p:nvPr>
        </p:nvSpPr>
        <p:spPr/>
        <p:txBody>
          <a:bodyPr/>
          <a:lstStyle/>
          <a:p>
            <a:endParaRPr lang="nl-NL"/>
          </a:p>
        </p:txBody>
      </p:sp>
      <p:sp>
        <p:nvSpPr>
          <p:cNvPr id="9" name="Line 10"/>
          <p:cNvSpPr>
            <a:spLocks noChangeShapeType="1"/>
          </p:cNvSpPr>
          <p:nvPr/>
        </p:nvSpPr>
        <p:spPr bwMode="auto">
          <a:xfrm flipV="1">
            <a:off x="3375410" y="4432122"/>
            <a:ext cx="0" cy="1600200"/>
          </a:xfrm>
          <a:prstGeom prst="line">
            <a:avLst/>
          </a:prstGeom>
          <a:noFill/>
          <a:ln w="9525">
            <a:solidFill>
              <a:srgbClr val="FF0000"/>
            </a:solidFill>
            <a:round/>
            <a:headEnd/>
            <a:tailEnd/>
          </a:ln>
        </p:spPr>
        <p:txBody>
          <a:bodyPr wrap="none" anchor="ctr"/>
          <a:lstStyle/>
          <a:p>
            <a:endParaRPr lang="nl-NL" dirty="0"/>
          </a:p>
        </p:txBody>
      </p:sp>
      <p:sp>
        <p:nvSpPr>
          <p:cNvPr id="10" name="Line 11"/>
          <p:cNvSpPr>
            <a:spLocks noChangeShapeType="1"/>
          </p:cNvSpPr>
          <p:nvPr/>
        </p:nvSpPr>
        <p:spPr bwMode="auto">
          <a:xfrm flipV="1">
            <a:off x="6188281" y="4432122"/>
            <a:ext cx="0" cy="1600200"/>
          </a:xfrm>
          <a:prstGeom prst="line">
            <a:avLst/>
          </a:prstGeom>
          <a:noFill/>
          <a:ln w="9525">
            <a:solidFill>
              <a:srgbClr val="FF0000"/>
            </a:solidFill>
            <a:round/>
            <a:headEnd/>
            <a:tailEnd/>
          </a:ln>
        </p:spPr>
        <p:txBody>
          <a:bodyPr wrap="none" anchor="ctr"/>
          <a:lstStyle/>
          <a:p>
            <a:endParaRPr lang="nl-NL" dirty="0"/>
          </a:p>
        </p:txBody>
      </p:sp>
      <p:sp>
        <p:nvSpPr>
          <p:cNvPr id="11" name="Text Box 12"/>
          <p:cNvSpPr txBox="1">
            <a:spLocks noChangeArrowheads="1"/>
          </p:cNvSpPr>
          <p:nvPr/>
        </p:nvSpPr>
        <p:spPr bwMode="auto">
          <a:xfrm>
            <a:off x="3083266" y="3726551"/>
            <a:ext cx="686405" cy="584775"/>
          </a:xfrm>
          <a:prstGeom prst="rect">
            <a:avLst/>
          </a:prstGeom>
          <a:noFill/>
          <a:ln w="9525">
            <a:noFill/>
            <a:miter lim="800000"/>
            <a:headEnd/>
            <a:tailEnd/>
          </a:ln>
        </p:spPr>
        <p:txBody>
          <a:bodyPr wrap="none">
            <a:spAutoFit/>
          </a:bodyPr>
          <a:lstStyle/>
          <a:p>
            <a:pPr algn="ctr" eaLnBrk="0" hangingPunct="0"/>
            <a:endParaRPr lang="nl-NL" sz="1600" dirty="0" smtClean="0">
              <a:latin typeface="Arial" panose="020B0604020202020204" pitchFamily="34" charset="0"/>
              <a:cs typeface="Arial" panose="020B0604020202020204" pitchFamily="34" charset="0"/>
            </a:endParaRPr>
          </a:p>
          <a:p>
            <a:pPr algn="ctr" eaLnBrk="0" hangingPunct="0"/>
            <a:r>
              <a:rPr lang="nl-NL" sz="1600" dirty="0" smtClean="0">
                <a:latin typeface="Arial" panose="020B0604020202020204" pitchFamily="34" charset="0"/>
                <a:cs typeface="Arial" panose="020B0604020202020204" pitchFamily="34" charset="0"/>
              </a:rPr>
              <a:t>(LSL)</a:t>
            </a:r>
            <a:endParaRPr lang="nl-NL" sz="1600" dirty="0">
              <a:latin typeface="Arial" panose="020B0604020202020204" pitchFamily="34" charset="0"/>
              <a:cs typeface="Arial" panose="020B0604020202020204" pitchFamily="34" charset="0"/>
            </a:endParaRPr>
          </a:p>
        </p:txBody>
      </p:sp>
      <p:sp>
        <p:nvSpPr>
          <p:cNvPr id="13" name="Line 9"/>
          <p:cNvSpPr>
            <a:spLocks noChangeShapeType="1"/>
          </p:cNvSpPr>
          <p:nvPr/>
        </p:nvSpPr>
        <p:spPr bwMode="auto">
          <a:xfrm>
            <a:off x="282960" y="6021288"/>
            <a:ext cx="9039663" cy="0"/>
          </a:xfrm>
          <a:prstGeom prst="line">
            <a:avLst/>
          </a:prstGeom>
          <a:noFill/>
          <a:ln w="19050">
            <a:solidFill>
              <a:schemeClr val="tx1"/>
            </a:solidFill>
            <a:round/>
            <a:headEnd/>
            <a:tailEnd/>
          </a:ln>
        </p:spPr>
        <p:txBody>
          <a:bodyPr wrap="none" anchor="ctr"/>
          <a:lstStyle/>
          <a:p>
            <a:endParaRPr lang="nl-NL" dirty="0"/>
          </a:p>
        </p:txBody>
      </p:sp>
      <p:sp>
        <p:nvSpPr>
          <p:cNvPr id="14" name="Text Box 12"/>
          <p:cNvSpPr txBox="1">
            <a:spLocks noChangeArrowheads="1"/>
          </p:cNvSpPr>
          <p:nvPr/>
        </p:nvSpPr>
        <p:spPr bwMode="auto">
          <a:xfrm>
            <a:off x="3152581" y="6084004"/>
            <a:ext cx="418704" cy="369332"/>
          </a:xfrm>
          <a:prstGeom prst="rect">
            <a:avLst/>
          </a:prstGeom>
          <a:noFill/>
          <a:ln w="9525">
            <a:noFill/>
            <a:miter lim="800000"/>
            <a:headEnd/>
            <a:tailEnd/>
          </a:ln>
        </p:spPr>
        <p:txBody>
          <a:bodyPr wrap="none">
            <a:spAutoFit/>
          </a:bodyPr>
          <a:lstStyle/>
          <a:p>
            <a:pPr eaLnBrk="0" hangingPunct="0"/>
            <a:r>
              <a:rPr lang="nl-NL" dirty="0" smtClean="0"/>
              <a:t>60</a:t>
            </a:r>
            <a:endParaRPr lang="nl-NL" dirty="0"/>
          </a:p>
        </p:txBody>
      </p:sp>
      <p:sp>
        <p:nvSpPr>
          <p:cNvPr id="15" name="Text Box 12"/>
          <p:cNvSpPr txBox="1">
            <a:spLocks noChangeArrowheads="1"/>
          </p:cNvSpPr>
          <p:nvPr/>
        </p:nvSpPr>
        <p:spPr bwMode="auto">
          <a:xfrm>
            <a:off x="5961269" y="6084004"/>
            <a:ext cx="418704" cy="369332"/>
          </a:xfrm>
          <a:prstGeom prst="rect">
            <a:avLst/>
          </a:prstGeom>
          <a:noFill/>
          <a:ln w="9525">
            <a:noFill/>
            <a:miter lim="800000"/>
            <a:headEnd/>
            <a:tailEnd/>
          </a:ln>
        </p:spPr>
        <p:txBody>
          <a:bodyPr wrap="none">
            <a:spAutoFit/>
          </a:bodyPr>
          <a:lstStyle/>
          <a:p>
            <a:pPr eaLnBrk="0" hangingPunct="0"/>
            <a:r>
              <a:rPr lang="nl-NL" dirty="0" smtClean="0"/>
              <a:t>70</a:t>
            </a:r>
            <a:endParaRPr lang="nl-NL" dirty="0"/>
          </a:p>
        </p:txBody>
      </p:sp>
      <p:sp>
        <p:nvSpPr>
          <p:cNvPr id="16" name="Text Box 12"/>
          <p:cNvSpPr txBox="1">
            <a:spLocks noChangeArrowheads="1"/>
          </p:cNvSpPr>
          <p:nvPr/>
        </p:nvSpPr>
        <p:spPr bwMode="auto">
          <a:xfrm>
            <a:off x="5800997" y="3726551"/>
            <a:ext cx="720069" cy="584775"/>
          </a:xfrm>
          <a:prstGeom prst="rect">
            <a:avLst/>
          </a:prstGeom>
          <a:noFill/>
          <a:ln w="9525">
            <a:noFill/>
            <a:miter lim="800000"/>
            <a:headEnd/>
            <a:tailEnd/>
          </a:ln>
        </p:spPr>
        <p:txBody>
          <a:bodyPr wrap="none">
            <a:spAutoFit/>
          </a:bodyPr>
          <a:lstStyle/>
          <a:p>
            <a:pPr algn="ctr" eaLnBrk="0" hangingPunct="0"/>
            <a:endParaRPr lang="nl-NL" sz="1600" dirty="0" smtClean="0">
              <a:latin typeface="Arial" panose="020B0604020202020204" pitchFamily="34" charset="0"/>
              <a:cs typeface="Arial" panose="020B0604020202020204" pitchFamily="34" charset="0"/>
            </a:endParaRPr>
          </a:p>
          <a:p>
            <a:pPr algn="ctr" eaLnBrk="0" hangingPunct="0"/>
            <a:r>
              <a:rPr lang="nl-NL" sz="1600" dirty="0" smtClean="0">
                <a:latin typeface="Arial" panose="020B0604020202020204" pitchFamily="34" charset="0"/>
                <a:cs typeface="Arial" panose="020B0604020202020204" pitchFamily="34" charset="0"/>
              </a:rPr>
              <a:t>(USL)</a:t>
            </a:r>
            <a:endParaRPr lang="nl-NL" sz="1600" dirty="0">
              <a:latin typeface="Arial" panose="020B0604020202020204" pitchFamily="34" charset="0"/>
              <a:cs typeface="Arial" panose="020B0604020202020204" pitchFamily="34" charset="0"/>
            </a:endParaRPr>
          </a:p>
        </p:txBody>
      </p:sp>
      <p:sp>
        <p:nvSpPr>
          <p:cNvPr id="12" name="Freeform 4"/>
          <p:cNvSpPr>
            <a:spLocks/>
          </p:cNvSpPr>
          <p:nvPr/>
        </p:nvSpPr>
        <p:spPr bwMode="auto">
          <a:xfrm>
            <a:off x="444978" y="4478508"/>
            <a:ext cx="8679717" cy="1519238"/>
          </a:xfrm>
          <a:custGeom>
            <a:avLst/>
            <a:gdLst>
              <a:gd name="T0" fmla="*/ 2147483647 w 2458"/>
              <a:gd name="T1" fmla="*/ 2147483647 h 957"/>
              <a:gd name="T2" fmla="*/ 2147483647 w 2458"/>
              <a:gd name="T3" fmla="*/ 2147483647 h 957"/>
              <a:gd name="T4" fmla="*/ 2147483647 w 2458"/>
              <a:gd name="T5" fmla="*/ 2147483647 h 957"/>
              <a:gd name="T6" fmla="*/ 2147483647 w 2458"/>
              <a:gd name="T7" fmla="*/ 2147483647 h 957"/>
              <a:gd name="T8" fmla="*/ 2147483647 w 2458"/>
              <a:gd name="T9" fmla="*/ 2147483647 h 957"/>
              <a:gd name="T10" fmla="*/ 2147483647 w 2458"/>
              <a:gd name="T11" fmla="*/ 2147483647 h 957"/>
              <a:gd name="T12" fmla="*/ 2147483647 w 2458"/>
              <a:gd name="T13" fmla="*/ 2147483647 h 957"/>
              <a:gd name="T14" fmla="*/ 2147483647 w 2458"/>
              <a:gd name="T15" fmla="*/ 2147483647 h 957"/>
              <a:gd name="T16" fmla="*/ 2147483647 w 2458"/>
              <a:gd name="T17" fmla="*/ 2147483647 h 957"/>
              <a:gd name="T18" fmla="*/ 2147483647 w 2458"/>
              <a:gd name="T19" fmla="*/ 2147483647 h 957"/>
              <a:gd name="T20" fmla="*/ 2147483647 w 2458"/>
              <a:gd name="T21" fmla="*/ 2147483647 h 957"/>
              <a:gd name="T22" fmla="*/ 2147483647 w 2458"/>
              <a:gd name="T23" fmla="*/ 2147483647 h 957"/>
              <a:gd name="T24" fmla="*/ 2147483647 w 2458"/>
              <a:gd name="T25" fmla="*/ 2147483647 h 957"/>
              <a:gd name="T26" fmla="*/ 2147483647 w 2458"/>
              <a:gd name="T27" fmla="*/ 2147483647 h 957"/>
              <a:gd name="T28" fmla="*/ 2147483647 w 2458"/>
              <a:gd name="T29" fmla="*/ 2147483647 h 957"/>
              <a:gd name="T30" fmla="*/ 2147483647 w 2458"/>
              <a:gd name="T31" fmla="*/ 2147483647 h 957"/>
              <a:gd name="T32" fmla="*/ 2147483647 w 2458"/>
              <a:gd name="T33" fmla="*/ 2147483647 h 957"/>
              <a:gd name="T34" fmla="*/ 2147483647 w 2458"/>
              <a:gd name="T35" fmla="*/ 2147483647 h 957"/>
              <a:gd name="T36" fmla="*/ 2147483647 w 2458"/>
              <a:gd name="T37" fmla="*/ 2147483647 h 957"/>
              <a:gd name="T38" fmla="*/ 2147483647 w 2458"/>
              <a:gd name="T39" fmla="*/ 2147483647 h 957"/>
              <a:gd name="T40" fmla="*/ 2147483647 w 2458"/>
              <a:gd name="T41" fmla="*/ 2147483647 h 957"/>
              <a:gd name="T42" fmla="*/ 2147483647 w 2458"/>
              <a:gd name="T43" fmla="*/ 2147483647 h 957"/>
              <a:gd name="T44" fmla="*/ 2147483647 w 2458"/>
              <a:gd name="T45" fmla="*/ 2147483647 h 957"/>
              <a:gd name="T46" fmla="*/ 2147483647 w 2458"/>
              <a:gd name="T47" fmla="*/ 2147483647 h 957"/>
              <a:gd name="T48" fmla="*/ 2147483647 w 2458"/>
              <a:gd name="T49" fmla="*/ 2147483647 h 957"/>
              <a:gd name="T50" fmla="*/ 2147483647 w 2458"/>
              <a:gd name="T51" fmla="*/ 2147483647 h 957"/>
              <a:gd name="T52" fmla="*/ 2147483647 w 2458"/>
              <a:gd name="T53" fmla="*/ 2147483647 h 957"/>
              <a:gd name="T54" fmla="*/ 2147483647 w 2458"/>
              <a:gd name="T55" fmla="*/ 2147483647 h 957"/>
              <a:gd name="T56" fmla="*/ 2147483647 w 2458"/>
              <a:gd name="T57" fmla="*/ 2147483647 h 957"/>
              <a:gd name="T58" fmla="*/ 2147483647 w 2458"/>
              <a:gd name="T59" fmla="*/ 2147483647 h 957"/>
              <a:gd name="T60" fmla="*/ 2147483647 w 2458"/>
              <a:gd name="T61" fmla="*/ 2147483647 h 957"/>
              <a:gd name="T62" fmla="*/ 2147483647 w 2458"/>
              <a:gd name="T63" fmla="*/ 2147483647 h 957"/>
              <a:gd name="T64" fmla="*/ 2147483647 w 2458"/>
              <a:gd name="T65" fmla="*/ 2147483647 h 957"/>
              <a:gd name="T66" fmla="*/ 2147483647 w 2458"/>
              <a:gd name="T67" fmla="*/ 2147483647 h 957"/>
              <a:gd name="T68" fmla="*/ 2147483647 w 2458"/>
              <a:gd name="T69" fmla="*/ 2147483647 h 957"/>
              <a:gd name="T70" fmla="*/ 2147483647 w 2458"/>
              <a:gd name="T71" fmla="*/ 2147483647 h 957"/>
              <a:gd name="T72" fmla="*/ 2147483647 w 2458"/>
              <a:gd name="T73" fmla="*/ 2147483647 h 957"/>
              <a:gd name="T74" fmla="*/ 2147483647 w 2458"/>
              <a:gd name="T75" fmla="*/ 2147483647 h 957"/>
              <a:gd name="T76" fmla="*/ 2147483647 w 2458"/>
              <a:gd name="T77" fmla="*/ 2147483647 h 957"/>
              <a:gd name="T78" fmla="*/ 2147483647 w 2458"/>
              <a:gd name="T79" fmla="*/ 2147483647 h 95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458"/>
              <a:gd name="T121" fmla="*/ 0 h 957"/>
              <a:gd name="T122" fmla="*/ 2458 w 2458"/>
              <a:gd name="T123" fmla="*/ 957 h 95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458" h="957">
                <a:moveTo>
                  <a:pt x="0" y="956"/>
                </a:moveTo>
                <a:lnTo>
                  <a:pt x="30" y="956"/>
                </a:lnTo>
                <a:lnTo>
                  <a:pt x="60" y="956"/>
                </a:lnTo>
                <a:lnTo>
                  <a:pt x="91" y="956"/>
                </a:lnTo>
                <a:lnTo>
                  <a:pt x="120" y="956"/>
                </a:lnTo>
                <a:lnTo>
                  <a:pt x="151" y="956"/>
                </a:lnTo>
                <a:lnTo>
                  <a:pt x="180" y="956"/>
                </a:lnTo>
                <a:lnTo>
                  <a:pt x="211" y="956"/>
                </a:lnTo>
                <a:lnTo>
                  <a:pt x="241" y="951"/>
                </a:lnTo>
                <a:lnTo>
                  <a:pt x="271" y="951"/>
                </a:lnTo>
                <a:lnTo>
                  <a:pt x="301" y="951"/>
                </a:lnTo>
                <a:lnTo>
                  <a:pt x="331" y="945"/>
                </a:lnTo>
                <a:lnTo>
                  <a:pt x="361" y="939"/>
                </a:lnTo>
                <a:lnTo>
                  <a:pt x="401" y="933"/>
                </a:lnTo>
                <a:lnTo>
                  <a:pt x="431" y="927"/>
                </a:lnTo>
                <a:lnTo>
                  <a:pt x="462" y="915"/>
                </a:lnTo>
                <a:lnTo>
                  <a:pt x="491" y="904"/>
                </a:lnTo>
                <a:lnTo>
                  <a:pt x="522" y="892"/>
                </a:lnTo>
                <a:lnTo>
                  <a:pt x="551" y="875"/>
                </a:lnTo>
                <a:lnTo>
                  <a:pt x="582" y="851"/>
                </a:lnTo>
                <a:lnTo>
                  <a:pt x="611" y="828"/>
                </a:lnTo>
                <a:lnTo>
                  <a:pt x="642" y="799"/>
                </a:lnTo>
                <a:lnTo>
                  <a:pt x="672" y="770"/>
                </a:lnTo>
                <a:lnTo>
                  <a:pt x="702" y="735"/>
                </a:lnTo>
                <a:lnTo>
                  <a:pt x="732" y="694"/>
                </a:lnTo>
                <a:lnTo>
                  <a:pt x="762" y="647"/>
                </a:lnTo>
                <a:lnTo>
                  <a:pt x="793" y="601"/>
                </a:lnTo>
                <a:lnTo>
                  <a:pt x="833" y="548"/>
                </a:lnTo>
                <a:lnTo>
                  <a:pt x="862" y="495"/>
                </a:lnTo>
                <a:lnTo>
                  <a:pt x="893" y="438"/>
                </a:lnTo>
                <a:lnTo>
                  <a:pt x="922" y="379"/>
                </a:lnTo>
                <a:lnTo>
                  <a:pt x="953" y="321"/>
                </a:lnTo>
                <a:lnTo>
                  <a:pt x="983" y="262"/>
                </a:lnTo>
                <a:lnTo>
                  <a:pt x="1013" y="210"/>
                </a:lnTo>
                <a:lnTo>
                  <a:pt x="1043" y="158"/>
                </a:lnTo>
                <a:lnTo>
                  <a:pt x="1073" y="117"/>
                </a:lnTo>
                <a:lnTo>
                  <a:pt x="1104" y="76"/>
                </a:lnTo>
                <a:lnTo>
                  <a:pt x="1133" y="41"/>
                </a:lnTo>
                <a:lnTo>
                  <a:pt x="1164" y="24"/>
                </a:lnTo>
                <a:lnTo>
                  <a:pt x="1193" y="6"/>
                </a:lnTo>
                <a:lnTo>
                  <a:pt x="1234" y="0"/>
                </a:lnTo>
                <a:lnTo>
                  <a:pt x="1264" y="6"/>
                </a:lnTo>
                <a:lnTo>
                  <a:pt x="1294" y="24"/>
                </a:lnTo>
                <a:lnTo>
                  <a:pt x="1324" y="41"/>
                </a:lnTo>
                <a:lnTo>
                  <a:pt x="1354" y="76"/>
                </a:lnTo>
                <a:lnTo>
                  <a:pt x="1384" y="117"/>
                </a:lnTo>
                <a:lnTo>
                  <a:pt x="1414" y="158"/>
                </a:lnTo>
                <a:lnTo>
                  <a:pt x="1444" y="210"/>
                </a:lnTo>
                <a:lnTo>
                  <a:pt x="1475" y="262"/>
                </a:lnTo>
                <a:lnTo>
                  <a:pt x="1504" y="321"/>
                </a:lnTo>
                <a:lnTo>
                  <a:pt x="1535" y="379"/>
                </a:lnTo>
                <a:lnTo>
                  <a:pt x="1564" y="438"/>
                </a:lnTo>
                <a:lnTo>
                  <a:pt x="1595" y="495"/>
                </a:lnTo>
                <a:lnTo>
                  <a:pt x="1624" y="548"/>
                </a:lnTo>
                <a:lnTo>
                  <a:pt x="1665" y="601"/>
                </a:lnTo>
                <a:lnTo>
                  <a:pt x="1695" y="647"/>
                </a:lnTo>
                <a:lnTo>
                  <a:pt x="1725" y="694"/>
                </a:lnTo>
                <a:lnTo>
                  <a:pt x="1755" y="735"/>
                </a:lnTo>
                <a:lnTo>
                  <a:pt x="1785" y="770"/>
                </a:lnTo>
                <a:lnTo>
                  <a:pt x="1815" y="799"/>
                </a:lnTo>
                <a:lnTo>
                  <a:pt x="1846" y="828"/>
                </a:lnTo>
                <a:lnTo>
                  <a:pt x="1875" y="851"/>
                </a:lnTo>
                <a:lnTo>
                  <a:pt x="1906" y="875"/>
                </a:lnTo>
                <a:lnTo>
                  <a:pt x="1936" y="892"/>
                </a:lnTo>
                <a:lnTo>
                  <a:pt x="1966" y="904"/>
                </a:lnTo>
                <a:lnTo>
                  <a:pt x="1996" y="915"/>
                </a:lnTo>
                <a:lnTo>
                  <a:pt x="2026" y="927"/>
                </a:lnTo>
                <a:lnTo>
                  <a:pt x="2056" y="933"/>
                </a:lnTo>
                <a:lnTo>
                  <a:pt x="2096" y="939"/>
                </a:lnTo>
                <a:lnTo>
                  <a:pt x="2127" y="945"/>
                </a:lnTo>
                <a:lnTo>
                  <a:pt x="2156" y="951"/>
                </a:lnTo>
                <a:lnTo>
                  <a:pt x="2187" y="951"/>
                </a:lnTo>
                <a:lnTo>
                  <a:pt x="2216" y="951"/>
                </a:lnTo>
                <a:lnTo>
                  <a:pt x="2247" y="956"/>
                </a:lnTo>
                <a:lnTo>
                  <a:pt x="2277" y="956"/>
                </a:lnTo>
                <a:lnTo>
                  <a:pt x="2307" y="956"/>
                </a:lnTo>
                <a:lnTo>
                  <a:pt x="2337" y="956"/>
                </a:lnTo>
                <a:lnTo>
                  <a:pt x="2367" y="956"/>
                </a:lnTo>
                <a:lnTo>
                  <a:pt x="2397" y="956"/>
                </a:lnTo>
                <a:lnTo>
                  <a:pt x="2427" y="956"/>
                </a:lnTo>
                <a:lnTo>
                  <a:pt x="2457" y="956"/>
                </a:lnTo>
              </a:path>
            </a:pathLst>
          </a:custGeom>
          <a:noFill/>
          <a:ln w="28575" cap="rnd" cmpd="sng">
            <a:solidFill>
              <a:srgbClr val="114FFB"/>
            </a:solidFill>
            <a:prstDash val="solid"/>
            <a:round/>
            <a:headEnd type="none" w="med" len="med"/>
            <a:tailEnd type="none" w="med" len="med"/>
          </a:ln>
        </p:spPr>
        <p:txBody>
          <a:bodyPr/>
          <a:lstStyle/>
          <a:p>
            <a:endParaRPr lang="nl-NL" dirty="0"/>
          </a:p>
        </p:txBody>
      </p:sp>
      <p:sp>
        <p:nvSpPr>
          <p:cNvPr id="17" name="Line 10"/>
          <p:cNvSpPr>
            <a:spLocks noChangeShapeType="1"/>
          </p:cNvSpPr>
          <p:nvPr/>
        </p:nvSpPr>
        <p:spPr bwMode="auto">
          <a:xfrm flipV="1">
            <a:off x="4738455" y="4432122"/>
            <a:ext cx="0" cy="1600200"/>
          </a:xfrm>
          <a:prstGeom prst="line">
            <a:avLst/>
          </a:prstGeom>
          <a:noFill/>
          <a:ln w="9525">
            <a:solidFill>
              <a:srgbClr val="FF0000"/>
            </a:solidFill>
            <a:round/>
            <a:headEnd/>
            <a:tailEnd/>
          </a:ln>
        </p:spPr>
        <p:txBody>
          <a:bodyPr wrap="none" anchor="ctr"/>
          <a:lstStyle/>
          <a:p>
            <a:endParaRPr lang="nl-NL" dirty="0"/>
          </a:p>
        </p:txBody>
      </p:sp>
      <p:sp>
        <p:nvSpPr>
          <p:cNvPr id="18" name="Text Box 12"/>
          <p:cNvSpPr txBox="1">
            <a:spLocks noChangeArrowheads="1"/>
          </p:cNvSpPr>
          <p:nvPr/>
        </p:nvSpPr>
        <p:spPr bwMode="auto">
          <a:xfrm>
            <a:off x="4307787" y="3726551"/>
            <a:ext cx="943976" cy="584775"/>
          </a:xfrm>
          <a:prstGeom prst="rect">
            <a:avLst/>
          </a:prstGeom>
          <a:noFill/>
          <a:ln w="9525">
            <a:noFill/>
            <a:miter lim="800000"/>
            <a:headEnd/>
            <a:tailEnd/>
          </a:ln>
        </p:spPr>
        <p:txBody>
          <a:bodyPr wrap="none">
            <a:spAutoFit/>
          </a:bodyPr>
          <a:lstStyle/>
          <a:p>
            <a:pPr algn="ctr" eaLnBrk="0" hangingPunct="0"/>
            <a:endParaRPr lang="nl-NL" sz="1600" dirty="0" smtClean="0">
              <a:latin typeface="Arial" panose="020B0604020202020204" pitchFamily="34" charset="0"/>
              <a:cs typeface="Arial" panose="020B0604020202020204" pitchFamily="34" charset="0"/>
            </a:endParaRPr>
          </a:p>
          <a:p>
            <a:pPr algn="ctr" eaLnBrk="0" hangingPunct="0"/>
            <a:r>
              <a:rPr lang="nl-NL" sz="1600" dirty="0" err="1" smtClean="0">
                <a:latin typeface="Arial" panose="020B0604020202020204" pitchFamily="34" charset="0"/>
                <a:cs typeface="Arial" panose="020B0604020202020204" pitchFamily="34" charset="0"/>
              </a:rPr>
              <a:t>Average</a:t>
            </a:r>
            <a:endParaRPr lang="nl-NL" sz="1600" dirty="0">
              <a:latin typeface="Arial" panose="020B0604020202020204" pitchFamily="34" charset="0"/>
              <a:cs typeface="Arial" panose="020B0604020202020204" pitchFamily="34" charset="0"/>
            </a:endParaRPr>
          </a:p>
        </p:txBody>
      </p:sp>
      <p:sp>
        <p:nvSpPr>
          <p:cNvPr id="19" name="Text Box 12"/>
          <p:cNvSpPr txBox="1">
            <a:spLocks noChangeArrowheads="1"/>
          </p:cNvSpPr>
          <p:nvPr/>
        </p:nvSpPr>
        <p:spPr bwMode="auto">
          <a:xfrm>
            <a:off x="4556925" y="6084004"/>
            <a:ext cx="418704" cy="369332"/>
          </a:xfrm>
          <a:prstGeom prst="rect">
            <a:avLst/>
          </a:prstGeom>
          <a:noFill/>
          <a:ln w="9525">
            <a:noFill/>
            <a:miter lim="800000"/>
            <a:headEnd/>
            <a:tailEnd/>
          </a:ln>
        </p:spPr>
        <p:txBody>
          <a:bodyPr wrap="none">
            <a:spAutoFit/>
          </a:bodyPr>
          <a:lstStyle/>
          <a:p>
            <a:pPr eaLnBrk="0" hangingPunct="0"/>
            <a:r>
              <a:rPr lang="nl-NL" dirty="0" smtClean="0"/>
              <a:t>65</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Process Capability &amp; Performance</a:t>
            </a:r>
            <a:endParaRPr lang="en-IE" dirty="0"/>
          </a:p>
        </p:txBody>
      </p:sp>
      <p:sp>
        <p:nvSpPr>
          <p:cNvPr id="3" name="Content Placeholder 2"/>
          <p:cNvSpPr>
            <a:spLocks noGrp="1"/>
          </p:cNvSpPr>
          <p:nvPr>
            <p:ph idx="1"/>
          </p:nvPr>
        </p:nvSpPr>
        <p:spPr/>
        <p:txBody>
          <a:bodyPr/>
          <a:lstStyle/>
          <a:p>
            <a:pPr marL="0"/>
            <a:r>
              <a:rPr lang="en-GB" dirty="0"/>
              <a:t>Example Temperature problems</a:t>
            </a:r>
          </a:p>
          <a:p>
            <a:pPr marL="92075" indent="0"/>
            <a:endParaRPr lang="en-GB" sz="1800" dirty="0" smtClean="0"/>
          </a:p>
          <a:p>
            <a:pPr marL="92075" indent="0"/>
            <a:r>
              <a:rPr lang="en-GB" sz="1800" dirty="0" smtClean="0"/>
              <a:t>Based on the information collected we can see that approx. 30% of the meals served is either too hot or too cold</a:t>
            </a:r>
          </a:p>
          <a:p>
            <a:r>
              <a:rPr lang="en-GB" dirty="0" smtClean="0"/>
              <a:t>  </a:t>
            </a:r>
            <a:endParaRPr lang="en-IE" dirty="0"/>
          </a:p>
        </p:txBody>
      </p:sp>
      <p:sp>
        <p:nvSpPr>
          <p:cNvPr id="4" name="Footer Placeholder 3"/>
          <p:cNvSpPr>
            <a:spLocks noGrp="1"/>
          </p:cNvSpPr>
          <p:nvPr>
            <p:ph type="ftr" sz="quarter" idx="10"/>
          </p:nvPr>
        </p:nvSpPr>
        <p:spPr/>
        <p:txBody>
          <a:bodyPr/>
          <a:lstStyle/>
          <a:p>
            <a:endParaRPr lang="nl-NL"/>
          </a:p>
        </p:txBody>
      </p:sp>
      <p:sp>
        <p:nvSpPr>
          <p:cNvPr id="19" name="Text Box 12"/>
          <p:cNvSpPr txBox="1">
            <a:spLocks noChangeArrowheads="1"/>
          </p:cNvSpPr>
          <p:nvPr/>
        </p:nvSpPr>
        <p:spPr bwMode="auto">
          <a:xfrm>
            <a:off x="3083266" y="3541305"/>
            <a:ext cx="686405" cy="584775"/>
          </a:xfrm>
          <a:prstGeom prst="rect">
            <a:avLst/>
          </a:prstGeom>
          <a:noFill/>
          <a:ln w="9525">
            <a:noFill/>
            <a:miter lim="800000"/>
            <a:headEnd/>
            <a:tailEnd/>
          </a:ln>
        </p:spPr>
        <p:txBody>
          <a:bodyPr wrap="none">
            <a:spAutoFit/>
          </a:bodyPr>
          <a:lstStyle/>
          <a:p>
            <a:pPr algn="ctr" eaLnBrk="0" hangingPunct="0"/>
            <a:endParaRPr lang="nl-NL" sz="1600" dirty="0" smtClean="0">
              <a:latin typeface="Arial" panose="020B0604020202020204" pitchFamily="34" charset="0"/>
              <a:cs typeface="Arial" panose="020B0604020202020204" pitchFamily="34" charset="0"/>
            </a:endParaRPr>
          </a:p>
          <a:p>
            <a:pPr algn="ctr" eaLnBrk="0" hangingPunct="0"/>
            <a:r>
              <a:rPr lang="nl-NL" sz="1600" dirty="0" smtClean="0">
                <a:latin typeface="Arial" panose="020B0604020202020204" pitchFamily="34" charset="0"/>
                <a:cs typeface="Arial" panose="020B0604020202020204" pitchFamily="34" charset="0"/>
              </a:rPr>
              <a:t>(LSL)</a:t>
            </a:r>
            <a:endParaRPr lang="nl-NL" sz="1600" dirty="0">
              <a:latin typeface="Arial" panose="020B0604020202020204" pitchFamily="34" charset="0"/>
              <a:cs typeface="Arial" panose="020B0604020202020204" pitchFamily="34" charset="0"/>
            </a:endParaRPr>
          </a:p>
        </p:txBody>
      </p:sp>
      <p:sp>
        <p:nvSpPr>
          <p:cNvPr id="21" name="Text Box 12"/>
          <p:cNvSpPr txBox="1">
            <a:spLocks noChangeArrowheads="1"/>
          </p:cNvSpPr>
          <p:nvPr/>
        </p:nvSpPr>
        <p:spPr bwMode="auto">
          <a:xfrm>
            <a:off x="3152580" y="5898758"/>
            <a:ext cx="412292" cy="338554"/>
          </a:xfrm>
          <a:prstGeom prst="rect">
            <a:avLst/>
          </a:prstGeom>
          <a:noFill/>
          <a:ln w="9525">
            <a:noFill/>
            <a:miter lim="800000"/>
            <a:headEnd/>
            <a:tailEnd/>
          </a:ln>
        </p:spPr>
        <p:txBody>
          <a:bodyPr wrap="none">
            <a:spAutoFit/>
          </a:bodyPr>
          <a:lstStyle/>
          <a:p>
            <a:pPr eaLnBrk="0" hangingPunct="0"/>
            <a:r>
              <a:rPr lang="nl-NL" sz="1600" dirty="0" smtClean="0">
                <a:latin typeface="Arial" panose="020B0604020202020204" pitchFamily="34" charset="0"/>
                <a:cs typeface="Arial" panose="020B0604020202020204" pitchFamily="34" charset="0"/>
              </a:rPr>
              <a:t>60</a:t>
            </a:r>
            <a:endParaRPr lang="nl-NL" sz="1600" dirty="0">
              <a:latin typeface="Arial" panose="020B0604020202020204" pitchFamily="34" charset="0"/>
              <a:cs typeface="Arial" panose="020B0604020202020204" pitchFamily="34" charset="0"/>
            </a:endParaRPr>
          </a:p>
        </p:txBody>
      </p:sp>
      <p:sp>
        <p:nvSpPr>
          <p:cNvPr id="22" name="Text Box 12"/>
          <p:cNvSpPr txBox="1">
            <a:spLocks noChangeArrowheads="1"/>
          </p:cNvSpPr>
          <p:nvPr/>
        </p:nvSpPr>
        <p:spPr bwMode="auto">
          <a:xfrm>
            <a:off x="5961269" y="5898758"/>
            <a:ext cx="412292" cy="338554"/>
          </a:xfrm>
          <a:prstGeom prst="rect">
            <a:avLst/>
          </a:prstGeom>
          <a:noFill/>
          <a:ln w="9525">
            <a:noFill/>
            <a:miter lim="800000"/>
            <a:headEnd/>
            <a:tailEnd/>
          </a:ln>
        </p:spPr>
        <p:txBody>
          <a:bodyPr wrap="none">
            <a:spAutoFit/>
          </a:bodyPr>
          <a:lstStyle/>
          <a:p>
            <a:pPr eaLnBrk="0" hangingPunct="0"/>
            <a:r>
              <a:rPr lang="nl-NL" sz="1600" dirty="0" smtClean="0">
                <a:latin typeface="Arial" panose="020B0604020202020204" pitchFamily="34" charset="0"/>
                <a:cs typeface="Arial" panose="020B0604020202020204" pitchFamily="34" charset="0"/>
              </a:rPr>
              <a:t>70</a:t>
            </a:r>
            <a:endParaRPr lang="nl-NL" sz="1600" dirty="0">
              <a:latin typeface="Arial" panose="020B0604020202020204" pitchFamily="34" charset="0"/>
              <a:cs typeface="Arial" panose="020B0604020202020204" pitchFamily="34" charset="0"/>
            </a:endParaRPr>
          </a:p>
        </p:txBody>
      </p:sp>
      <p:sp>
        <p:nvSpPr>
          <p:cNvPr id="23" name="Text Box 12"/>
          <p:cNvSpPr txBox="1">
            <a:spLocks noChangeArrowheads="1"/>
          </p:cNvSpPr>
          <p:nvPr/>
        </p:nvSpPr>
        <p:spPr bwMode="auto">
          <a:xfrm>
            <a:off x="5800997" y="3541305"/>
            <a:ext cx="720069" cy="584775"/>
          </a:xfrm>
          <a:prstGeom prst="rect">
            <a:avLst/>
          </a:prstGeom>
          <a:noFill/>
          <a:ln w="9525">
            <a:noFill/>
            <a:miter lim="800000"/>
            <a:headEnd/>
            <a:tailEnd/>
          </a:ln>
        </p:spPr>
        <p:txBody>
          <a:bodyPr wrap="none">
            <a:spAutoFit/>
          </a:bodyPr>
          <a:lstStyle/>
          <a:p>
            <a:pPr algn="ctr" eaLnBrk="0" hangingPunct="0"/>
            <a:endParaRPr lang="nl-NL" sz="1600" dirty="0" smtClean="0">
              <a:latin typeface="Arial" panose="020B0604020202020204" pitchFamily="34" charset="0"/>
              <a:cs typeface="Arial" panose="020B0604020202020204" pitchFamily="34" charset="0"/>
            </a:endParaRPr>
          </a:p>
          <a:p>
            <a:pPr algn="ctr" eaLnBrk="0" hangingPunct="0"/>
            <a:r>
              <a:rPr lang="nl-NL" sz="1600" dirty="0" smtClean="0">
                <a:latin typeface="Arial" panose="020B0604020202020204" pitchFamily="34" charset="0"/>
                <a:cs typeface="Arial" panose="020B0604020202020204" pitchFamily="34" charset="0"/>
              </a:rPr>
              <a:t>(USL)</a:t>
            </a:r>
            <a:endParaRPr lang="nl-NL" sz="1600" dirty="0">
              <a:latin typeface="Arial" panose="020B0604020202020204" pitchFamily="34" charset="0"/>
              <a:cs typeface="Arial" panose="020B0604020202020204" pitchFamily="34" charset="0"/>
            </a:endParaRPr>
          </a:p>
        </p:txBody>
      </p:sp>
      <p:sp>
        <p:nvSpPr>
          <p:cNvPr id="24" name="Freeform 4"/>
          <p:cNvSpPr>
            <a:spLocks/>
          </p:cNvSpPr>
          <p:nvPr/>
        </p:nvSpPr>
        <p:spPr bwMode="auto">
          <a:xfrm>
            <a:off x="444978" y="4293262"/>
            <a:ext cx="8679717" cy="1519238"/>
          </a:xfrm>
          <a:custGeom>
            <a:avLst/>
            <a:gdLst>
              <a:gd name="T0" fmla="*/ 2147483647 w 2458"/>
              <a:gd name="T1" fmla="*/ 2147483647 h 957"/>
              <a:gd name="T2" fmla="*/ 2147483647 w 2458"/>
              <a:gd name="T3" fmla="*/ 2147483647 h 957"/>
              <a:gd name="T4" fmla="*/ 2147483647 w 2458"/>
              <a:gd name="T5" fmla="*/ 2147483647 h 957"/>
              <a:gd name="T6" fmla="*/ 2147483647 w 2458"/>
              <a:gd name="T7" fmla="*/ 2147483647 h 957"/>
              <a:gd name="T8" fmla="*/ 2147483647 w 2458"/>
              <a:gd name="T9" fmla="*/ 2147483647 h 957"/>
              <a:gd name="T10" fmla="*/ 2147483647 w 2458"/>
              <a:gd name="T11" fmla="*/ 2147483647 h 957"/>
              <a:gd name="T12" fmla="*/ 2147483647 w 2458"/>
              <a:gd name="T13" fmla="*/ 2147483647 h 957"/>
              <a:gd name="T14" fmla="*/ 2147483647 w 2458"/>
              <a:gd name="T15" fmla="*/ 2147483647 h 957"/>
              <a:gd name="T16" fmla="*/ 2147483647 w 2458"/>
              <a:gd name="T17" fmla="*/ 2147483647 h 957"/>
              <a:gd name="T18" fmla="*/ 2147483647 w 2458"/>
              <a:gd name="T19" fmla="*/ 2147483647 h 957"/>
              <a:gd name="T20" fmla="*/ 2147483647 w 2458"/>
              <a:gd name="T21" fmla="*/ 2147483647 h 957"/>
              <a:gd name="T22" fmla="*/ 2147483647 w 2458"/>
              <a:gd name="T23" fmla="*/ 2147483647 h 957"/>
              <a:gd name="T24" fmla="*/ 2147483647 w 2458"/>
              <a:gd name="T25" fmla="*/ 2147483647 h 957"/>
              <a:gd name="T26" fmla="*/ 2147483647 w 2458"/>
              <a:gd name="T27" fmla="*/ 2147483647 h 957"/>
              <a:gd name="T28" fmla="*/ 2147483647 w 2458"/>
              <a:gd name="T29" fmla="*/ 2147483647 h 957"/>
              <a:gd name="T30" fmla="*/ 2147483647 w 2458"/>
              <a:gd name="T31" fmla="*/ 2147483647 h 957"/>
              <a:gd name="T32" fmla="*/ 2147483647 w 2458"/>
              <a:gd name="T33" fmla="*/ 2147483647 h 957"/>
              <a:gd name="T34" fmla="*/ 2147483647 w 2458"/>
              <a:gd name="T35" fmla="*/ 2147483647 h 957"/>
              <a:gd name="T36" fmla="*/ 2147483647 w 2458"/>
              <a:gd name="T37" fmla="*/ 2147483647 h 957"/>
              <a:gd name="T38" fmla="*/ 2147483647 w 2458"/>
              <a:gd name="T39" fmla="*/ 2147483647 h 957"/>
              <a:gd name="T40" fmla="*/ 2147483647 w 2458"/>
              <a:gd name="T41" fmla="*/ 2147483647 h 957"/>
              <a:gd name="T42" fmla="*/ 2147483647 w 2458"/>
              <a:gd name="T43" fmla="*/ 2147483647 h 957"/>
              <a:gd name="T44" fmla="*/ 2147483647 w 2458"/>
              <a:gd name="T45" fmla="*/ 2147483647 h 957"/>
              <a:gd name="T46" fmla="*/ 2147483647 w 2458"/>
              <a:gd name="T47" fmla="*/ 2147483647 h 957"/>
              <a:gd name="T48" fmla="*/ 2147483647 w 2458"/>
              <a:gd name="T49" fmla="*/ 2147483647 h 957"/>
              <a:gd name="T50" fmla="*/ 2147483647 w 2458"/>
              <a:gd name="T51" fmla="*/ 2147483647 h 957"/>
              <a:gd name="T52" fmla="*/ 2147483647 w 2458"/>
              <a:gd name="T53" fmla="*/ 2147483647 h 957"/>
              <a:gd name="T54" fmla="*/ 2147483647 w 2458"/>
              <a:gd name="T55" fmla="*/ 2147483647 h 957"/>
              <a:gd name="T56" fmla="*/ 2147483647 w 2458"/>
              <a:gd name="T57" fmla="*/ 2147483647 h 957"/>
              <a:gd name="T58" fmla="*/ 2147483647 w 2458"/>
              <a:gd name="T59" fmla="*/ 2147483647 h 957"/>
              <a:gd name="T60" fmla="*/ 2147483647 w 2458"/>
              <a:gd name="T61" fmla="*/ 2147483647 h 957"/>
              <a:gd name="T62" fmla="*/ 2147483647 w 2458"/>
              <a:gd name="T63" fmla="*/ 2147483647 h 957"/>
              <a:gd name="T64" fmla="*/ 2147483647 w 2458"/>
              <a:gd name="T65" fmla="*/ 2147483647 h 957"/>
              <a:gd name="T66" fmla="*/ 2147483647 w 2458"/>
              <a:gd name="T67" fmla="*/ 2147483647 h 957"/>
              <a:gd name="T68" fmla="*/ 2147483647 w 2458"/>
              <a:gd name="T69" fmla="*/ 2147483647 h 957"/>
              <a:gd name="T70" fmla="*/ 2147483647 w 2458"/>
              <a:gd name="T71" fmla="*/ 2147483647 h 957"/>
              <a:gd name="T72" fmla="*/ 2147483647 w 2458"/>
              <a:gd name="T73" fmla="*/ 2147483647 h 957"/>
              <a:gd name="T74" fmla="*/ 2147483647 w 2458"/>
              <a:gd name="T75" fmla="*/ 2147483647 h 957"/>
              <a:gd name="T76" fmla="*/ 2147483647 w 2458"/>
              <a:gd name="T77" fmla="*/ 2147483647 h 957"/>
              <a:gd name="T78" fmla="*/ 2147483647 w 2458"/>
              <a:gd name="T79" fmla="*/ 2147483647 h 95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458"/>
              <a:gd name="T121" fmla="*/ 0 h 957"/>
              <a:gd name="T122" fmla="*/ 2458 w 2458"/>
              <a:gd name="T123" fmla="*/ 957 h 95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458" h="957">
                <a:moveTo>
                  <a:pt x="0" y="956"/>
                </a:moveTo>
                <a:lnTo>
                  <a:pt x="30" y="956"/>
                </a:lnTo>
                <a:lnTo>
                  <a:pt x="60" y="956"/>
                </a:lnTo>
                <a:lnTo>
                  <a:pt x="91" y="956"/>
                </a:lnTo>
                <a:lnTo>
                  <a:pt x="120" y="956"/>
                </a:lnTo>
                <a:lnTo>
                  <a:pt x="151" y="956"/>
                </a:lnTo>
                <a:lnTo>
                  <a:pt x="180" y="956"/>
                </a:lnTo>
                <a:lnTo>
                  <a:pt x="211" y="956"/>
                </a:lnTo>
                <a:lnTo>
                  <a:pt x="241" y="951"/>
                </a:lnTo>
                <a:lnTo>
                  <a:pt x="271" y="951"/>
                </a:lnTo>
                <a:lnTo>
                  <a:pt x="301" y="951"/>
                </a:lnTo>
                <a:lnTo>
                  <a:pt x="331" y="945"/>
                </a:lnTo>
                <a:lnTo>
                  <a:pt x="361" y="939"/>
                </a:lnTo>
                <a:lnTo>
                  <a:pt x="401" y="933"/>
                </a:lnTo>
                <a:lnTo>
                  <a:pt x="431" y="927"/>
                </a:lnTo>
                <a:lnTo>
                  <a:pt x="462" y="915"/>
                </a:lnTo>
                <a:lnTo>
                  <a:pt x="491" y="904"/>
                </a:lnTo>
                <a:lnTo>
                  <a:pt x="522" y="892"/>
                </a:lnTo>
                <a:lnTo>
                  <a:pt x="551" y="875"/>
                </a:lnTo>
                <a:lnTo>
                  <a:pt x="582" y="851"/>
                </a:lnTo>
                <a:lnTo>
                  <a:pt x="611" y="828"/>
                </a:lnTo>
                <a:lnTo>
                  <a:pt x="642" y="799"/>
                </a:lnTo>
                <a:lnTo>
                  <a:pt x="672" y="770"/>
                </a:lnTo>
                <a:lnTo>
                  <a:pt x="702" y="735"/>
                </a:lnTo>
                <a:lnTo>
                  <a:pt x="732" y="694"/>
                </a:lnTo>
                <a:lnTo>
                  <a:pt x="762" y="647"/>
                </a:lnTo>
                <a:lnTo>
                  <a:pt x="793" y="601"/>
                </a:lnTo>
                <a:lnTo>
                  <a:pt x="833" y="548"/>
                </a:lnTo>
                <a:lnTo>
                  <a:pt x="862" y="495"/>
                </a:lnTo>
                <a:lnTo>
                  <a:pt x="893" y="438"/>
                </a:lnTo>
                <a:lnTo>
                  <a:pt x="922" y="379"/>
                </a:lnTo>
                <a:lnTo>
                  <a:pt x="953" y="321"/>
                </a:lnTo>
                <a:lnTo>
                  <a:pt x="983" y="262"/>
                </a:lnTo>
                <a:lnTo>
                  <a:pt x="1013" y="210"/>
                </a:lnTo>
                <a:lnTo>
                  <a:pt x="1043" y="158"/>
                </a:lnTo>
                <a:lnTo>
                  <a:pt x="1073" y="117"/>
                </a:lnTo>
                <a:lnTo>
                  <a:pt x="1104" y="76"/>
                </a:lnTo>
                <a:lnTo>
                  <a:pt x="1133" y="41"/>
                </a:lnTo>
                <a:lnTo>
                  <a:pt x="1164" y="24"/>
                </a:lnTo>
                <a:lnTo>
                  <a:pt x="1193" y="6"/>
                </a:lnTo>
                <a:lnTo>
                  <a:pt x="1234" y="0"/>
                </a:lnTo>
                <a:lnTo>
                  <a:pt x="1264" y="6"/>
                </a:lnTo>
                <a:lnTo>
                  <a:pt x="1294" y="24"/>
                </a:lnTo>
                <a:lnTo>
                  <a:pt x="1324" y="41"/>
                </a:lnTo>
                <a:lnTo>
                  <a:pt x="1354" y="76"/>
                </a:lnTo>
                <a:lnTo>
                  <a:pt x="1384" y="117"/>
                </a:lnTo>
                <a:lnTo>
                  <a:pt x="1414" y="158"/>
                </a:lnTo>
                <a:lnTo>
                  <a:pt x="1444" y="210"/>
                </a:lnTo>
                <a:lnTo>
                  <a:pt x="1475" y="262"/>
                </a:lnTo>
                <a:lnTo>
                  <a:pt x="1504" y="321"/>
                </a:lnTo>
                <a:lnTo>
                  <a:pt x="1535" y="379"/>
                </a:lnTo>
                <a:lnTo>
                  <a:pt x="1564" y="438"/>
                </a:lnTo>
                <a:lnTo>
                  <a:pt x="1595" y="495"/>
                </a:lnTo>
                <a:lnTo>
                  <a:pt x="1624" y="548"/>
                </a:lnTo>
                <a:lnTo>
                  <a:pt x="1665" y="601"/>
                </a:lnTo>
                <a:lnTo>
                  <a:pt x="1695" y="647"/>
                </a:lnTo>
                <a:lnTo>
                  <a:pt x="1725" y="694"/>
                </a:lnTo>
                <a:lnTo>
                  <a:pt x="1755" y="735"/>
                </a:lnTo>
                <a:lnTo>
                  <a:pt x="1785" y="770"/>
                </a:lnTo>
                <a:lnTo>
                  <a:pt x="1815" y="799"/>
                </a:lnTo>
                <a:lnTo>
                  <a:pt x="1846" y="828"/>
                </a:lnTo>
                <a:lnTo>
                  <a:pt x="1875" y="851"/>
                </a:lnTo>
                <a:lnTo>
                  <a:pt x="1906" y="875"/>
                </a:lnTo>
                <a:lnTo>
                  <a:pt x="1936" y="892"/>
                </a:lnTo>
                <a:lnTo>
                  <a:pt x="1966" y="904"/>
                </a:lnTo>
                <a:lnTo>
                  <a:pt x="1996" y="915"/>
                </a:lnTo>
                <a:lnTo>
                  <a:pt x="2026" y="927"/>
                </a:lnTo>
                <a:lnTo>
                  <a:pt x="2056" y="933"/>
                </a:lnTo>
                <a:lnTo>
                  <a:pt x="2096" y="939"/>
                </a:lnTo>
                <a:lnTo>
                  <a:pt x="2127" y="945"/>
                </a:lnTo>
                <a:lnTo>
                  <a:pt x="2156" y="951"/>
                </a:lnTo>
                <a:lnTo>
                  <a:pt x="2187" y="951"/>
                </a:lnTo>
                <a:lnTo>
                  <a:pt x="2216" y="951"/>
                </a:lnTo>
                <a:lnTo>
                  <a:pt x="2247" y="956"/>
                </a:lnTo>
                <a:lnTo>
                  <a:pt x="2277" y="956"/>
                </a:lnTo>
                <a:lnTo>
                  <a:pt x="2307" y="956"/>
                </a:lnTo>
                <a:lnTo>
                  <a:pt x="2337" y="956"/>
                </a:lnTo>
                <a:lnTo>
                  <a:pt x="2367" y="956"/>
                </a:lnTo>
                <a:lnTo>
                  <a:pt x="2397" y="956"/>
                </a:lnTo>
                <a:lnTo>
                  <a:pt x="2427" y="956"/>
                </a:lnTo>
                <a:lnTo>
                  <a:pt x="2457" y="956"/>
                </a:ln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dirty="0">
              <a:solidFill>
                <a:schemeClr val="lt1"/>
              </a:solidFill>
              <a:latin typeface="+mn-lt"/>
              <a:cs typeface="+mn-cs"/>
            </a:endParaRPr>
          </a:p>
        </p:txBody>
      </p:sp>
      <p:grpSp>
        <p:nvGrpSpPr>
          <p:cNvPr id="5" name="Groep 7"/>
          <p:cNvGrpSpPr/>
          <p:nvPr/>
        </p:nvGrpSpPr>
        <p:grpSpPr>
          <a:xfrm>
            <a:off x="458795" y="5172114"/>
            <a:ext cx="8654147" cy="672876"/>
            <a:chOff x="407817" y="4988372"/>
            <a:chExt cx="7692575" cy="672876"/>
          </a:xfrm>
        </p:grpSpPr>
        <p:sp>
          <p:nvSpPr>
            <p:cNvPr id="7" name="Vrije vorm 6"/>
            <p:cNvSpPr/>
            <p:nvPr/>
          </p:nvSpPr>
          <p:spPr>
            <a:xfrm>
              <a:off x="407817" y="4988372"/>
              <a:ext cx="2583022" cy="663351"/>
            </a:xfrm>
            <a:custGeom>
              <a:avLst/>
              <a:gdLst>
                <a:gd name="connsiteX0" fmla="*/ 1924050 w 1924050"/>
                <a:gd name="connsiteY0" fmla="*/ 0 h 638175"/>
                <a:gd name="connsiteX1" fmla="*/ 1790700 w 1924050"/>
                <a:gd name="connsiteY1" fmla="*/ 85725 h 638175"/>
                <a:gd name="connsiteX2" fmla="*/ 1647825 w 1924050"/>
                <a:gd name="connsiteY2" fmla="*/ 200025 h 638175"/>
                <a:gd name="connsiteX3" fmla="*/ 1485900 w 1924050"/>
                <a:gd name="connsiteY3" fmla="*/ 304800 h 638175"/>
                <a:gd name="connsiteX4" fmla="*/ 1323975 w 1924050"/>
                <a:gd name="connsiteY4" fmla="*/ 409575 h 638175"/>
                <a:gd name="connsiteX5" fmla="*/ 1057275 w 1924050"/>
                <a:gd name="connsiteY5" fmla="*/ 504825 h 638175"/>
                <a:gd name="connsiteX6" fmla="*/ 695325 w 1924050"/>
                <a:gd name="connsiteY6" fmla="*/ 581025 h 638175"/>
                <a:gd name="connsiteX7" fmla="*/ 361950 w 1924050"/>
                <a:gd name="connsiteY7" fmla="*/ 619125 h 638175"/>
                <a:gd name="connsiteX8" fmla="*/ 0 w 1924050"/>
                <a:gd name="connsiteY8" fmla="*/ 638175 h 638175"/>
                <a:gd name="connsiteX0" fmla="*/ 2562225 w 2562225"/>
                <a:gd name="connsiteY0" fmla="*/ 0 h 619125"/>
                <a:gd name="connsiteX1" fmla="*/ 2428875 w 2562225"/>
                <a:gd name="connsiteY1" fmla="*/ 85725 h 619125"/>
                <a:gd name="connsiteX2" fmla="*/ 2286000 w 2562225"/>
                <a:gd name="connsiteY2" fmla="*/ 200025 h 619125"/>
                <a:gd name="connsiteX3" fmla="*/ 2124075 w 2562225"/>
                <a:gd name="connsiteY3" fmla="*/ 304800 h 619125"/>
                <a:gd name="connsiteX4" fmla="*/ 1962150 w 2562225"/>
                <a:gd name="connsiteY4" fmla="*/ 409575 h 619125"/>
                <a:gd name="connsiteX5" fmla="*/ 1695450 w 2562225"/>
                <a:gd name="connsiteY5" fmla="*/ 504825 h 619125"/>
                <a:gd name="connsiteX6" fmla="*/ 1333500 w 2562225"/>
                <a:gd name="connsiteY6" fmla="*/ 581025 h 619125"/>
                <a:gd name="connsiteX7" fmla="*/ 1000125 w 2562225"/>
                <a:gd name="connsiteY7" fmla="*/ 619125 h 619125"/>
                <a:gd name="connsiteX8" fmla="*/ 0 w 2562225"/>
                <a:gd name="connsiteY8" fmla="*/ 619125 h 619125"/>
                <a:gd name="connsiteX0" fmla="*/ 2562225 w 2562225"/>
                <a:gd name="connsiteY0" fmla="*/ 0 h 619125"/>
                <a:gd name="connsiteX1" fmla="*/ 2428875 w 2562225"/>
                <a:gd name="connsiteY1" fmla="*/ 85725 h 619125"/>
                <a:gd name="connsiteX2" fmla="*/ 2286000 w 2562225"/>
                <a:gd name="connsiteY2" fmla="*/ 200025 h 619125"/>
                <a:gd name="connsiteX3" fmla="*/ 2124075 w 2562225"/>
                <a:gd name="connsiteY3" fmla="*/ 304800 h 619125"/>
                <a:gd name="connsiteX4" fmla="*/ 1962150 w 2562225"/>
                <a:gd name="connsiteY4" fmla="*/ 409575 h 619125"/>
                <a:gd name="connsiteX5" fmla="*/ 1695450 w 2562225"/>
                <a:gd name="connsiteY5" fmla="*/ 504825 h 619125"/>
                <a:gd name="connsiteX6" fmla="*/ 1333500 w 2562225"/>
                <a:gd name="connsiteY6" fmla="*/ 581025 h 619125"/>
                <a:gd name="connsiteX7" fmla="*/ 800100 w 2562225"/>
                <a:gd name="connsiteY7" fmla="*/ 619125 h 619125"/>
                <a:gd name="connsiteX8" fmla="*/ 0 w 2562225"/>
                <a:gd name="connsiteY8" fmla="*/ 619125 h 619125"/>
                <a:gd name="connsiteX0" fmla="*/ 2562225 w 2562225"/>
                <a:gd name="connsiteY0" fmla="*/ 0 h 619125"/>
                <a:gd name="connsiteX1" fmla="*/ 2428875 w 2562225"/>
                <a:gd name="connsiteY1" fmla="*/ 85725 h 619125"/>
                <a:gd name="connsiteX2" fmla="*/ 2286000 w 2562225"/>
                <a:gd name="connsiteY2" fmla="*/ 200025 h 619125"/>
                <a:gd name="connsiteX3" fmla="*/ 2124075 w 2562225"/>
                <a:gd name="connsiteY3" fmla="*/ 304800 h 619125"/>
                <a:gd name="connsiteX4" fmla="*/ 1962150 w 2562225"/>
                <a:gd name="connsiteY4" fmla="*/ 409575 h 619125"/>
                <a:gd name="connsiteX5" fmla="*/ 1638300 w 2562225"/>
                <a:gd name="connsiteY5" fmla="*/ 504825 h 619125"/>
                <a:gd name="connsiteX6" fmla="*/ 1333500 w 2562225"/>
                <a:gd name="connsiteY6" fmla="*/ 581025 h 619125"/>
                <a:gd name="connsiteX7" fmla="*/ 800100 w 2562225"/>
                <a:gd name="connsiteY7" fmla="*/ 619125 h 619125"/>
                <a:gd name="connsiteX8" fmla="*/ 0 w 2562225"/>
                <a:gd name="connsiteY8" fmla="*/ 619125 h 619125"/>
                <a:gd name="connsiteX0" fmla="*/ 2562225 w 2562225"/>
                <a:gd name="connsiteY0" fmla="*/ 0 h 619125"/>
                <a:gd name="connsiteX1" fmla="*/ 2428875 w 2562225"/>
                <a:gd name="connsiteY1" fmla="*/ 85725 h 619125"/>
                <a:gd name="connsiteX2" fmla="*/ 2286000 w 2562225"/>
                <a:gd name="connsiteY2" fmla="*/ 200025 h 619125"/>
                <a:gd name="connsiteX3" fmla="*/ 2124075 w 2562225"/>
                <a:gd name="connsiteY3" fmla="*/ 304800 h 619125"/>
                <a:gd name="connsiteX4" fmla="*/ 1933575 w 2562225"/>
                <a:gd name="connsiteY4" fmla="*/ 400050 h 619125"/>
                <a:gd name="connsiteX5" fmla="*/ 1638300 w 2562225"/>
                <a:gd name="connsiteY5" fmla="*/ 504825 h 619125"/>
                <a:gd name="connsiteX6" fmla="*/ 1333500 w 2562225"/>
                <a:gd name="connsiteY6" fmla="*/ 581025 h 619125"/>
                <a:gd name="connsiteX7" fmla="*/ 800100 w 2562225"/>
                <a:gd name="connsiteY7" fmla="*/ 619125 h 619125"/>
                <a:gd name="connsiteX8" fmla="*/ 0 w 2562225"/>
                <a:gd name="connsiteY8" fmla="*/ 619125 h 619125"/>
                <a:gd name="connsiteX0" fmla="*/ 2562225 w 2562225"/>
                <a:gd name="connsiteY0" fmla="*/ 0 h 619125"/>
                <a:gd name="connsiteX1" fmla="*/ 2428875 w 2562225"/>
                <a:gd name="connsiteY1" fmla="*/ 85725 h 619125"/>
                <a:gd name="connsiteX2" fmla="*/ 2286000 w 2562225"/>
                <a:gd name="connsiteY2" fmla="*/ 200025 h 619125"/>
                <a:gd name="connsiteX3" fmla="*/ 2114550 w 2562225"/>
                <a:gd name="connsiteY3" fmla="*/ 304800 h 619125"/>
                <a:gd name="connsiteX4" fmla="*/ 1933575 w 2562225"/>
                <a:gd name="connsiteY4" fmla="*/ 400050 h 619125"/>
                <a:gd name="connsiteX5" fmla="*/ 1638300 w 2562225"/>
                <a:gd name="connsiteY5" fmla="*/ 504825 h 619125"/>
                <a:gd name="connsiteX6" fmla="*/ 1333500 w 2562225"/>
                <a:gd name="connsiteY6" fmla="*/ 581025 h 619125"/>
                <a:gd name="connsiteX7" fmla="*/ 800100 w 2562225"/>
                <a:gd name="connsiteY7" fmla="*/ 619125 h 619125"/>
                <a:gd name="connsiteX8" fmla="*/ 0 w 2562225"/>
                <a:gd name="connsiteY8" fmla="*/ 619125 h 619125"/>
                <a:gd name="connsiteX0" fmla="*/ 2562225 w 2562225"/>
                <a:gd name="connsiteY0" fmla="*/ 0 h 619125"/>
                <a:gd name="connsiteX1" fmla="*/ 2505075 w 2562225"/>
                <a:gd name="connsiteY1" fmla="*/ 28575 h 619125"/>
                <a:gd name="connsiteX2" fmla="*/ 2286000 w 2562225"/>
                <a:gd name="connsiteY2" fmla="*/ 200025 h 619125"/>
                <a:gd name="connsiteX3" fmla="*/ 2114550 w 2562225"/>
                <a:gd name="connsiteY3" fmla="*/ 304800 h 619125"/>
                <a:gd name="connsiteX4" fmla="*/ 1933575 w 2562225"/>
                <a:gd name="connsiteY4" fmla="*/ 400050 h 619125"/>
                <a:gd name="connsiteX5" fmla="*/ 1638300 w 2562225"/>
                <a:gd name="connsiteY5" fmla="*/ 504825 h 619125"/>
                <a:gd name="connsiteX6" fmla="*/ 1333500 w 2562225"/>
                <a:gd name="connsiteY6" fmla="*/ 581025 h 619125"/>
                <a:gd name="connsiteX7" fmla="*/ 800100 w 2562225"/>
                <a:gd name="connsiteY7" fmla="*/ 619125 h 619125"/>
                <a:gd name="connsiteX8" fmla="*/ 0 w 2562225"/>
                <a:gd name="connsiteY8" fmla="*/ 619125 h 619125"/>
                <a:gd name="connsiteX0" fmla="*/ 2562225 w 2562225"/>
                <a:gd name="connsiteY0" fmla="*/ 609600 h 609600"/>
                <a:gd name="connsiteX1" fmla="*/ 2505075 w 2562225"/>
                <a:gd name="connsiteY1" fmla="*/ 0 h 609600"/>
                <a:gd name="connsiteX2" fmla="*/ 2286000 w 2562225"/>
                <a:gd name="connsiteY2" fmla="*/ 171450 h 609600"/>
                <a:gd name="connsiteX3" fmla="*/ 2114550 w 2562225"/>
                <a:gd name="connsiteY3" fmla="*/ 276225 h 609600"/>
                <a:gd name="connsiteX4" fmla="*/ 1933575 w 2562225"/>
                <a:gd name="connsiteY4" fmla="*/ 371475 h 609600"/>
                <a:gd name="connsiteX5" fmla="*/ 1638300 w 2562225"/>
                <a:gd name="connsiteY5" fmla="*/ 476250 h 609600"/>
                <a:gd name="connsiteX6" fmla="*/ 1333500 w 2562225"/>
                <a:gd name="connsiteY6" fmla="*/ 552450 h 609600"/>
                <a:gd name="connsiteX7" fmla="*/ 800100 w 2562225"/>
                <a:gd name="connsiteY7" fmla="*/ 590550 h 609600"/>
                <a:gd name="connsiteX8" fmla="*/ 0 w 2562225"/>
                <a:gd name="connsiteY8" fmla="*/ 590550 h 609600"/>
                <a:gd name="connsiteX0" fmla="*/ 2562225 w 2571750"/>
                <a:gd name="connsiteY0" fmla="*/ 666750 h 666750"/>
                <a:gd name="connsiteX1" fmla="*/ 2571750 w 2571750"/>
                <a:gd name="connsiteY1" fmla="*/ 0 h 666750"/>
                <a:gd name="connsiteX2" fmla="*/ 2286000 w 2571750"/>
                <a:gd name="connsiteY2" fmla="*/ 228600 h 666750"/>
                <a:gd name="connsiteX3" fmla="*/ 2114550 w 2571750"/>
                <a:gd name="connsiteY3" fmla="*/ 333375 h 666750"/>
                <a:gd name="connsiteX4" fmla="*/ 1933575 w 2571750"/>
                <a:gd name="connsiteY4" fmla="*/ 428625 h 666750"/>
                <a:gd name="connsiteX5" fmla="*/ 1638300 w 2571750"/>
                <a:gd name="connsiteY5" fmla="*/ 533400 h 666750"/>
                <a:gd name="connsiteX6" fmla="*/ 1333500 w 2571750"/>
                <a:gd name="connsiteY6" fmla="*/ 609600 h 666750"/>
                <a:gd name="connsiteX7" fmla="*/ 800100 w 2571750"/>
                <a:gd name="connsiteY7" fmla="*/ 647700 h 666750"/>
                <a:gd name="connsiteX8" fmla="*/ 0 w 2571750"/>
                <a:gd name="connsiteY8" fmla="*/ 647700 h 666750"/>
                <a:gd name="connsiteX0" fmla="*/ 2066925 w 2571750"/>
                <a:gd name="connsiteY0" fmla="*/ 666750 h 666750"/>
                <a:gd name="connsiteX1" fmla="*/ 2571750 w 2571750"/>
                <a:gd name="connsiteY1" fmla="*/ 0 h 666750"/>
                <a:gd name="connsiteX2" fmla="*/ 2286000 w 2571750"/>
                <a:gd name="connsiteY2" fmla="*/ 228600 h 666750"/>
                <a:gd name="connsiteX3" fmla="*/ 2114550 w 2571750"/>
                <a:gd name="connsiteY3" fmla="*/ 333375 h 666750"/>
                <a:gd name="connsiteX4" fmla="*/ 1933575 w 2571750"/>
                <a:gd name="connsiteY4" fmla="*/ 428625 h 666750"/>
                <a:gd name="connsiteX5" fmla="*/ 1638300 w 2571750"/>
                <a:gd name="connsiteY5" fmla="*/ 533400 h 666750"/>
                <a:gd name="connsiteX6" fmla="*/ 1333500 w 2571750"/>
                <a:gd name="connsiteY6" fmla="*/ 609600 h 666750"/>
                <a:gd name="connsiteX7" fmla="*/ 800100 w 2571750"/>
                <a:gd name="connsiteY7" fmla="*/ 647700 h 666750"/>
                <a:gd name="connsiteX8" fmla="*/ 0 w 2571750"/>
                <a:gd name="connsiteY8" fmla="*/ 647700 h 666750"/>
                <a:gd name="connsiteX0" fmla="*/ 2066925 w 2571750"/>
                <a:gd name="connsiteY0" fmla="*/ 666750 h 667150"/>
                <a:gd name="connsiteX1" fmla="*/ 2571750 w 2571750"/>
                <a:gd name="connsiteY1" fmla="*/ 0 h 667150"/>
                <a:gd name="connsiteX2" fmla="*/ 2286000 w 2571750"/>
                <a:gd name="connsiteY2" fmla="*/ 228600 h 667150"/>
                <a:gd name="connsiteX3" fmla="*/ 2114550 w 2571750"/>
                <a:gd name="connsiteY3" fmla="*/ 333375 h 667150"/>
                <a:gd name="connsiteX4" fmla="*/ 1933575 w 2571750"/>
                <a:gd name="connsiteY4" fmla="*/ 428625 h 667150"/>
                <a:gd name="connsiteX5" fmla="*/ 1638300 w 2571750"/>
                <a:gd name="connsiteY5" fmla="*/ 533400 h 667150"/>
                <a:gd name="connsiteX6" fmla="*/ 1333500 w 2571750"/>
                <a:gd name="connsiteY6" fmla="*/ 609600 h 667150"/>
                <a:gd name="connsiteX7" fmla="*/ 800100 w 2571750"/>
                <a:gd name="connsiteY7" fmla="*/ 647700 h 667150"/>
                <a:gd name="connsiteX8" fmla="*/ 0 w 2571750"/>
                <a:gd name="connsiteY8" fmla="*/ 647700 h 667150"/>
                <a:gd name="connsiteX0" fmla="*/ 2581275 w 2581275"/>
                <a:gd name="connsiteY0" fmla="*/ 638175 h 647700"/>
                <a:gd name="connsiteX1" fmla="*/ 2571750 w 2581275"/>
                <a:gd name="connsiteY1" fmla="*/ 0 h 647700"/>
                <a:gd name="connsiteX2" fmla="*/ 2286000 w 2581275"/>
                <a:gd name="connsiteY2" fmla="*/ 228600 h 647700"/>
                <a:gd name="connsiteX3" fmla="*/ 2114550 w 2581275"/>
                <a:gd name="connsiteY3" fmla="*/ 333375 h 647700"/>
                <a:gd name="connsiteX4" fmla="*/ 1933575 w 2581275"/>
                <a:gd name="connsiteY4" fmla="*/ 428625 h 647700"/>
                <a:gd name="connsiteX5" fmla="*/ 1638300 w 2581275"/>
                <a:gd name="connsiteY5" fmla="*/ 533400 h 647700"/>
                <a:gd name="connsiteX6" fmla="*/ 1333500 w 2581275"/>
                <a:gd name="connsiteY6" fmla="*/ 609600 h 647700"/>
                <a:gd name="connsiteX7" fmla="*/ 800100 w 2581275"/>
                <a:gd name="connsiteY7" fmla="*/ 647700 h 647700"/>
                <a:gd name="connsiteX8" fmla="*/ 0 w 2581275"/>
                <a:gd name="connsiteY8" fmla="*/ 647700 h 647700"/>
                <a:gd name="connsiteX0" fmla="*/ 2581275 w 2581275"/>
                <a:gd name="connsiteY0" fmla="*/ 638175 h 647700"/>
                <a:gd name="connsiteX1" fmla="*/ 2552700 w 2581275"/>
                <a:gd name="connsiteY1" fmla="*/ 387126 h 647700"/>
                <a:gd name="connsiteX2" fmla="*/ 2571750 w 2581275"/>
                <a:gd name="connsiteY2" fmla="*/ 0 h 647700"/>
                <a:gd name="connsiteX3" fmla="*/ 2286000 w 2581275"/>
                <a:gd name="connsiteY3" fmla="*/ 228600 h 647700"/>
                <a:gd name="connsiteX4" fmla="*/ 2114550 w 2581275"/>
                <a:gd name="connsiteY4" fmla="*/ 333375 h 647700"/>
                <a:gd name="connsiteX5" fmla="*/ 1933575 w 2581275"/>
                <a:gd name="connsiteY5" fmla="*/ 428625 h 647700"/>
                <a:gd name="connsiteX6" fmla="*/ 1638300 w 2581275"/>
                <a:gd name="connsiteY6" fmla="*/ 533400 h 647700"/>
                <a:gd name="connsiteX7" fmla="*/ 1333500 w 2581275"/>
                <a:gd name="connsiteY7" fmla="*/ 609600 h 647700"/>
                <a:gd name="connsiteX8" fmla="*/ 800100 w 2581275"/>
                <a:gd name="connsiteY8" fmla="*/ 647700 h 647700"/>
                <a:gd name="connsiteX9" fmla="*/ 0 w 2581275"/>
                <a:gd name="connsiteY9" fmla="*/ 647700 h 647700"/>
                <a:gd name="connsiteX0" fmla="*/ 1819275 w 2579410"/>
                <a:gd name="connsiteY0" fmla="*/ 685800 h 685800"/>
                <a:gd name="connsiteX1" fmla="*/ 2552700 w 2579410"/>
                <a:gd name="connsiteY1" fmla="*/ 387126 h 685800"/>
                <a:gd name="connsiteX2" fmla="*/ 2571750 w 2579410"/>
                <a:gd name="connsiteY2" fmla="*/ 0 h 685800"/>
                <a:gd name="connsiteX3" fmla="*/ 2286000 w 2579410"/>
                <a:gd name="connsiteY3" fmla="*/ 228600 h 685800"/>
                <a:gd name="connsiteX4" fmla="*/ 2114550 w 2579410"/>
                <a:gd name="connsiteY4" fmla="*/ 333375 h 685800"/>
                <a:gd name="connsiteX5" fmla="*/ 1933575 w 2579410"/>
                <a:gd name="connsiteY5" fmla="*/ 428625 h 685800"/>
                <a:gd name="connsiteX6" fmla="*/ 1638300 w 2579410"/>
                <a:gd name="connsiteY6" fmla="*/ 533400 h 685800"/>
                <a:gd name="connsiteX7" fmla="*/ 1333500 w 2579410"/>
                <a:gd name="connsiteY7" fmla="*/ 609600 h 685800"/>
                <a:gd name="connsiteX8" fmla="*/ 800100 w 2579410"/>
                <a:gd name="connsiteY8" fmla="*/ 647700 h 685800"/>
                <a:gd name="connsiteX9" fmla="*/ 0 w 2579410"/>
                <a:gd name="connsiteY9" fmla="*/ 647700 h 685800"/>
                <a:gd name="connsiteX0" fmla="*/ 1819275 w 2580764"/>
                <a:gd name="connsiteY0" fmla="*/ 685800 h 685800"/>
                <a:gd name="connsiteX1" fmla="*/ 2562225 w 2580764"/>
                <a:gd name="connsiteY1" fmla="*/ 587151 h 685800"/>
                <a:gd name="connsiteX2" fmla="*/ 2571750 w 2580764"/>
                <a:gd name="connsiteY2" fmla="*/ 0 h 685800"/>
                <a:gd name="connsiteX3" fmla="*/ 2286000 w 2580764"/>
                <a:gd name="connsiteY3" fmla="*/ 228600 h 685800"/>
                <a:gd name="connsiteX4" fmla="*/ 2114550 w 2580764"/>
                <a:gd name="connsiteY4" fmla="*/ 333375 h 685800"/>
                <a:gd name="connsiteX5" fmla="*/ 1933575 w 2580764"/>
                <a:gd name="connsiteY5" fmla="*/ 428625 h 685800"/>
                <a:gd name="connsiteX6" fmla="*/ 1638300 w 2580764"/>
                <a:gd name="connsiteY6" fmla="*/ 533400 h 685800"/>
                <a:gd name="connsiteX7" fmla="*/ 1333500 w 2580764"/>
                <a:gd name="connsiteY7" fmla="*/ 609600 h 685800"/>
                <a:gd name="connsiteX8" fmla="*/ 800100 w 2580764"/>
                <a:gd name="connsiteY8" fmla="*/ 647700 h 685800"/>
                <a:gd name="connsiteX9" fmla="*/ 0 w 2580764"/>
                <a:gd name="connsiteY9" fmla="*/ 647700 h 685800"/>
                <a:gd name="connsiteX0" fmla="*/ 1819275 w 2582694"/>
                <a:gd name="connsiteY0" fmla="*/ 685800 h 708245"/>
                <a:gd name="connsiteX1" fmla="*/ 2571750 w 2582694"/>
                <a:gd name="connsiteY1" fmla="*/ 663351 h 708245"/>
                <a:gd name="connsiteX2" fmla="*/ 2571750 w 2582694"/>
                <a:gd name="connsiteY2" fmla="*/ 0 h 708245"/>
                <a:gd name="connsiteX3" fmla="*/ 2286000 w 2582694"/>
                <a:gd name="connsiteY3" fmla="*/ 228600 h 708245"/>
                <a:gd name="connsiteX4" fmla="*/ 2114550 w 2582694"/>
                <a:gd name="connsiteY4" fmla="*/ 333375 h 708245"/>
                <a:gd name="connsiteX5" fmla="*/ 1933575 w 2582694"/>
                <a:gd name="connsiteY5" fmla="*/ 428625 h 708245"/>
                <a:gd name="connsiteX6" fmla="*/ 1638300 w 2582694"/>
                <a:gd name="connsiteY6" fmla="*/ 533400 h 708245"/>
                <a:gd name="connsiteX7" fmla="*/ 1333500 w 2582694"/>
                <a:gd name="connsiteY7" fmla="*/ 609600 h 708245"/>
                <a:gd name="connsiteX8" fmla="*/ 800100 w 2582694"/>
                <a:gd name="connsiteY8" fmla="*/ 647700 h 708245"/>
                <a:gd name="connsiteX9" fmla="*/ 0 w 2582694"/>
                <a:gd name="connsiteY9" fmla="*/ 647700 h 708245"/>
                <a:gd name="connsiteX0" fmla="*/ 162 w 2592381"/>
                <a:gd name="connsiteY0" fmla="*/ 647700 h 700593"/>
                <a:gd name="connsiteX1" fmla="*/ 2581437 w 2592381"/>
                <a:gd name="connsiteY1" fmla="*/ 663351 h 700593"/>
                <a:gd name="connsiteX2" fmla="*/ 2581437 w 2592381"/>
                <a:gd name="connsiteY2" fmla="*/ 0 h 700593"/>
                <a:gd name="connsiteX3" fmla="*/ 2295687 w 2592381"/>
                <a:gd name="connsiteY3" fmla="*/ 228600 h 700593"/>
                <a:gd name="connsiteX4" fmla="*/ 2124237 w 2592381"/>
                <a:gd name="connsiteY4" fmla="*/ 333375 h 700593"/>
                <a:gd name="connsiteX5" fmla="*/ 1943262 w 2592381"/>
                <a:gd name="connsiteY5" fmla="*/ 428625 h 700593"/>
                <a:gd name="connsiteX6" fmla="*/ 1647987 w 2592381"/>
                <a:gd name="connsiteY6" fmla="*/ 533400 h 700593"/>
                <a:gd name="connsiteX7" fmla="*/ 1343187 w 2592381"/>
                <a:gd name="connsiteY7" fmla="*/ 609600 h 700593"/>
                <a:gd name="connsiteX8" fmla="*/ 809787 w 2592381"/>
                <a:gd name="connsiteY8" fmla="*/ 647700 h 700593"/>
                <a:gd name="connsiteX9" fmla="*/ 9687 w 2592381"/>
                <a:gd name="connsiteY9" fmla="*/ 647700 h 700593"/>
                <a:gd name="connsiteX0" fmla="*/ 0 w 2592219"/>
                <a:gd name="connsiteY0" fmla="*/ 647700 h 663351"/>
                <a:gd name="connsiteX1" fmla="*/ 2581275 w 2592219"/>
                <a:gd name="connsiteY1" fmla="*/ 663351 h 663351"/>
                <a:gd name="connsiteX2" fmla="*/ 2581275 w 2592219"/>
                <a:gd name="connsiteY2" fmla="*/ 0 h 663351"/>
                <a:gd name="connsiteX3" fmla="*/ 2295525 w 2592219"/>
                <a:gd name="connsiteY3" fmla="*/ 228600 h 663351"/>
                <a:gd name="connsiteX4" fmla="*/ 2124075 w 2592219"/>
                <a:gd name="connsiteY4" fmla="*/ 333375 h 663351"/>
                <a:gd name="connsiteX5" fmla="*/ 1943100 w 2592219"/>
                <a:gd name="connsiteY5" fmla="*/ 428625 h 663351"/>
                <a:gd name="connsiteX6" fmla="*/ 1647825 w 2592219"/>
                <a:gd name="connsiteY6" fmla="*/ 533400 h 663351"/>
                <a:gd name="connsiteX7" fmla="*/ 1343025 w 2592219"/>
                <a:gd name="connsiteY7" fmla="*/ 609600 h 663351"/>
                <a:gd name="connsiteX8" fmla="*/ 809625 w 2592219"/>
                <a:gd name="connsiteY8" fmla="*/ 647700 h 663351"/>
                <a:gd name="connsiteX9" fmla="*/ 9525 w 2592219"/>
                <a:gd name="connsiteY9" fmla="*/ 647700 h 663351"/>
                <a:gd name="connsiteX0" fmla="*/ 0 w 2592219"/>
                <a:gd name="connsiteY0" fmla="*/ 647700 h 663351"/>
                <a:gd name="connsiteX1" fmla="*/ 2581275 w 2592219"/>
                <a:gd name="connsiteY1" fmla="*/ 663351 h 663351"/>
                <a:gd name="connsiteX2" fmla="*/ 2581275 w 2592219"/>
                <a:gd name="connsiteY2" fmla="*/ 0 h 663351"/>
                <a:gd name="connsiteX3" fmla="*/ 2295525 w 2592219"/>
                <a:gd name="connsiteY3" fmla="*/ 228600 h 663351"/>
                <a:gd name="connsiteX4" fmla="*/ 2124075 w 2592219"/>
                <a:gd name="connsiteY4" fmla="*/ 333375 h 663351"/>
                <a:gd name="connsiteX5" fmla="*/ 1943100 w 2592219"/>
                <a:gd name="connsiteY5" fmla="*/ 428625 h 663351"/>
                <a:gd name="connsiteX6" fmla="*/ 1647825 w 2592219"/>
                <a:gd name="connsiteY6" fmla="*/ 533400 h 663351"/>
                <a:gd name="connsiteX7" fmla="*/ 1343025 w 2592219"/>
                <a:gd name="connsiteY7" fmla="*/ 609600 h 663351"/>
                <a:gd name="connsiteX8" fmla="*/ 809625 w 2592219"/>
                <a:gd name="connsiteY8" fmla="*/ 647700 h 663351"/>
                <a:gd name="connsiteX9" fmla="*/ 9525 w 2592219"/>
                <a:gd name="connsiteY9" fmla="*/ 647700 h 663351"/>
                <a:gd name="connsiteX10" fmla="*/ 0 w 2592219"/>
                <a:gd name="connsiteY10" fmla="*/ 647700 h 663351"/>
                <a:gd name="connsiteX0" fmla="*/ 0 w 2581275"/>
                <a:gd name="connsiteY0" fmla="*/ 647700 h 663351"/>
                <a:gd name="connsiteX1" fmla="*/ 2581275 w 2581275"/>
                <a:gd name="connsiteY1" fmla="*/ 663351 h 663351"/>
                <a:gd name="connsiteX2" fmla="*/ 2581275 w 2581275"/>
                <a:gd name="connsiteY2" fmla="*/ 0 h 663351"/>
                <a:gd name="connsiteX3" fmla="*/ 2295525 w 2581275"/>
                <a:gd name="connsiteY3" fmla="*/ 228600 h 663351"/>
                <a:gd name="connsiteX4" fmla="*/ 2124075 w 2581275"/>
                <a:gd name="connsiteY4" fmla="*/ 333375 h 663351"/>
                <a:gd name="connsiteX5" fmla="*/ 1943100 w 2581275"/>
                <a:gd name="connsiteY5" fmla="*/ 428625 h 663351"/>
                <a:gd name="connsiteX6" fmla="*/ 1647825 w 2581275"/>
                <a:gd name="connsiteY6" fmla="*/ 533400 h 663351"/>
                <a:gd name="connsiteX7" fmla="*/ 1343025 w 2581275"/>
                <a:gd name="connsiteY7" fmla="*/ 609600 h 663351"/>
                <a:gd name="connsiteX8" fmla="*/ 809625 w 2581275"/>
                <a:gd name="connsiteY8" fmla="*/ 647700 h 663351"/>
                <a:gd name="connsiteX9" fmla="*/ 9525 w 2581275"/>
                <a:gd name="connsiteY9" fmla="*/ 647700 h 663351"/>
                <a:gd name="connsiteX10" fmla="*/ 0 w 2581275"/>
                <a:gd name="connsiteY10" fmla="*/ 647700 h 66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1275" h="663351">
                  <a:moveTo>
                    <a:pt x="0" y="647700"/>
                  </a:moveTo>
                  <a:lnTo>
                    <a:pt x="2581275" y="663351"/>
                  </a:lnTo>
                  <a:lnTo>
                    <a:pt x="2581275" y="0"/>
                  </a:lnTo>
                  <a:lnTo>
                    <a:pt x="2295525" y="228600"/>
                  </a:lnTo>
                  <a:cubicBezTo>
                    <a:pt x="2241550" y="263525"/>
                    <a:pt x="2182812" y="300038"/>
                    <a:pt x="2124075" y="333375"/>
                  </a:cubicBezTo>
                  <a:cubicBezTo>
                    <a:pt x="2065338" y="366712"/>
                    <a:pt x="2006600" y="396875"/>
                    <a:pt x="1943100" y="428625"/>
                  </a:cubicBezTo>
                  <a:lnTo>
                    <a:pt x="1647825" y="533400"/>
                  </a:lnTo>
                  <a:lnTo>
                    <a:pt x="1343025" y="609600"/>
                  </a:lnTo>
                  <a:lnTo>
                    <a:pt x="809625" y="647700"/>
                  </a:lnTo>
                  <a:lnTo>
                    <a:pt x="9525" y="647700"/>
                  </a:lnTo>
                  <a:lnTo>
                    <a:pt x="0" y="647700"/>
                  </a:lnTo>
                  <a:close/>
                </a:path>
              </a:pathLst>
            </a:cu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Vrije vorm 24"/>
            <p:cNvSpPr/>
            <p:nvPr/>
          </p:nvSpPr>
          <p:spPr>
            <a:xfrm flipH="1">
              <a:off x="5518002" y="4997897"/>
              <a:ext cx="2582390" cy="663351"/>
            </a:xfrm>
            <a:custGeom>
              <a:avLst/>
              <a:gdLst>
                <a:gd name="connsiteX0" fmla="*/ 1924050 w 1924050"/>
                <a:gd name="connsiteY0" fmla="*/ 0 h 638175"/>
                <a:gd name="connsiteX1" fmla="*/ 1790700 w 1924050"/>
                <a:gd name="connsiteY1" fmla="*/ 85725 h 638175"/>
                <a:gd name="connsiteX2" fmla="*/ 1647825 w 1924050"/>
                <a:gd name="connsiteY2" fmla="*/ 200025 h 638175"/>
                <a:gd name="connsiteX3" fmla="*/ 1485900 w 1924050"/>
                <a:gd name="connsiteY3" fmla="*/ 304800 h 638175"/>
                <a:gd name="connsiteX4" fmla="*/ 1323975 w 1924050"/>
                <a:gd name="connsiteY4" fmla="*/ 409575 h 638175"/>
                <a:gd name="connsiteX5" fmla="*/ 1057275 w 1924050"/>
                <a:gd name="connsiteY5" fmla="*/ 504825 h 638175"/>
                <a:gd name="connsiteX6" fmla="*/ 695325 w 1924050"/>
                <a:gd name="connsiteY6" fmla="*/ 581025 h 638175"/>
                <a:gd name="connsiteX7" fmla="*/ 361950 w 1924050"/>
                <a:gd name="connsiteY7" fmla="*/ 619125 h 638175"/>
                <a:gd name="connsiteX8" fmla="*/ 0 w 1924050"/>
                <a:gd name="connsiteY8" fmla="*/ 638175 h 638175"/>
                <a:gd name="connsiteX0" fmla="*/ 2562225 w 2562225"/>
                <a:gd name="connsiteY0" fmla="*/ 0 h 619125"/>
                <a:gd name="connsiteX1" fmla="*/ 2428875 w 2562225"/>
                <a:gd name="connsiteY1" fmla="*/ 85725 h 619125"/>
                <a:gd name="connsiteX2" fmla="*/ 2286000 w 2562225"/>
                <a:gd name="connsiteY2" fmla="*/ 200025 h 619125"/>
                <a:gd name="connsiteX3" fmla="*/ 2124075 w 2562225"/>
                <a:gd name="connsiteY3" fmla="*/ 304800 h 619125"/>
                <a:gd name="connsiteX4" fmla="*/ 1962150 w 2562225"/>
                <a:gd name="connsiteY4" fmla="*/ 409575 h 619125"/>
                <a:gd name="connsiteX5" fmla="*/ 1695450 w 2562225"/>
                <a:gd name="connsiteY5" fmla="*/ 504825 h 619125"/>
                <a:gd name="connsiteX6" fmla="*/ 1333500 w 2562225"/>
                <a:gd name="connsiteY6" fmla="*/ 581025 h 619125"/>
                <a:gd name="connsiteX7" fmla="*/ 1000125 w 2562225"/>
                <a:gd name="connsiteY7" fmla="*/ 619125 h 619125"/>
                <a:gd name="connsiteX8" fmla="*/ 0 w 2562225"/>
                <a:gd name="connsiteY8" fmla="*/ 619125 h 619125"/>
                <a:gd name="connsiteX0" fmla="*/ 2562225 w 2562225"/>
                <a:gd name="connsiteY0" fmla="*/ 0 h 619125"/>
                <a:gd name="connsiteX1" fmla="*/ 2428875 w 2562225"/>
                <a:gd name="connsiteY1" fmla="*/ 85725 h 619125"/>
                <a:gd name="connsiteX2" fmla="*/ 2286000 w 2562225"/>
                <a:gd name="connsiteY2" fmla="*/ 200025 h 619125"/>
                <a:gd name="connsiteX3" fmla="*/ 2124075 w 2562225"/>
                <a:gd name="connsiteY3" fmla="*/ 304800 h 619125"/>
                <a:gd name="connsiteX4" fmla="*/ 1962150 w 2562225"/>
                <a:gd name="connsiteY4" fmla="*/ 409575 h 619125"/>
                <a:gd name="connsiteX5" fmla="*/ 1695450 w 2562225"/>
                <a:gd name="connsiteY5" fmla="*/ 504825 h 619125"/>
                <a:gd name="connsiteX6" fmla="*/ 1333500 w 2562225"/>
                <a:gd name="connsiteY6" fmla="*/ 581025 h 619125"/>
                <a:gd name="connsiteX7" fmla="*/ 800100 w 2562225"/>
                <a:gd name="connsiteY7" fmla="*/ 619125 h 619125"/>
                <a:gd name="connsiteX8" fmla="*/ 0 w 2562225"/>
                <a:gd name="connsiteY8" fmla="*/ 619125 h 619125"/>
                <a:gd name="connsiteX0" fmla="*/ 2562225 w 2562225"/>
                <a:gd name="connsiteY0" fmla="*/ 0 h 619125"/>
                <a:gd name="connsiteX1" fmla="*/ 2428875 w 2562225"/>
                <a:gd name="connsiteY1" fmla="*/ 85725 h 619125"/>
                <a:gd name="connsiteX2" fmla="*/ 2286000 w 2562225"/>
                <a:gd name="connsiteY2" fmla="*/ 200025 h 619125"/>
                <a:gd name="connsiteX3" fmla="*/ 2124075 w 2562225"/>
                <a:gd name="connsiteY3" fmla="*/ 304800 h 619125"/>
                <a:gd name="connsiteX4" fmla="*/ 1962150 w 2562225"/>
                <a:gd name="connsiteY4" fmla="*/ 409575 h 619125"/>
                <a:gd name="connsiteX5" fmla="*/ 1638300 w 2562225"/>
                <a:gd name="connsiteY5" fmla="*/ 504825 h 619125"/>
                <a:gd name="connsiteX6" fmla="*/ 1333500 w 2562225"/>
                <a:gd name="connsiteY6" fmla="*/ 581025 h 619125"/>
                <a:gd name="connsiteX7" fmla="*/ 800100 w 2562225"/>
                <a:gd name="connsiteY7" fmla="*/ 619125 h 619125"/>
                <a:gd name="connsiteX8" fmla="*/ 0 w 2562225"/>
                <a:gd name="connsiteY8" fmla="*/ 619125 h 619125"/>
                <a:gd name="connsiteX0" fmla="*/ 2562225 w 2562225"/>
                <a:gd name="connsiteY0" fmla="*/ 0 h 619125"/>
                <a:gd name="connsiteX1" fmla="*/ 2428875 w 2562225"/>
                <a:gd name="connsiteY1" fmla="*/ 85725 h 619125"/>
                <a:gd name="connsiteX2" fmla="*/ 2286000 w 2562225"/>
                <a:gd name="connsiteY2" fmla="*/ 200025 h 619125"/>
                <a:gd name="connsiteX3" fmla="*/ 2124075 w 2562225"/>
                <a:gd name="connsiteY3" fmla="*/ 304800 h 619125"/>
                <a:gd name="connsiteX4" fmla="*/ 1933575 w 2562225"/>
                <a:gd name="connsiteY4" fmla="*/ 400050 h 619125"/>
                <a:gd name="connsiteX5" fmla="*/ 1638300 w 2562225"/>
                <a:gd name="connsiteY5" fmla="*/ 504825 h 619125"/>
                <a:gd name="connsiteX6" fmla="*/ 1333500 w 2562225"/>
                <a:gd name="connsiteY6" fmla="*/ 581025 h 619125"/>
                <a:gd name="connsiteX7" fmla="*/ 800100 w 2562225"/>
                <a:gd name="connsiteY7" fmla="*/ 619125 h 619125"/>
                <a:gd name="connsiteX8" fmla="*/ 0 w 2562225"/>
                <a:gd name="connsiteY8" fmla="*/ 619125 h 619125"/>
                <a:gd name="connsiteX0" fmla="*/ 2562225 w 2562225"/>
                <a:gd name="connsiteY0" fmla="*/ 0 h 619125"/>
                <a:gd name="connsiteX1" fmla="*/ 2428875 w 2562225"/>
                <a:gd name="connsiteY1" fmla="*/ 85725 h 619125"/>
                <a:gd name="connsiteX2" fmla="*/ 2286000 w 2562225"/>
                <a:gd name="connsiteY2" fmla="*/ 200025 h 619125"/>
                <a:gd name="connsiteX3" fmla="*/ 2114550 w 2562225"/>
                <a:gd name="connsiteY3" fmla="*/ 304800 h 619125"/>
                <a:gd name="connsiteX4" fmla="*/ 1933575 w 2562225"/>
                <a:gd name="connsiteY4" fmla="*/ 400050 h 619125"/>
                <a:gd name="connsiteX5" fmla="*/ 1638300 w 2562225"/>
                <a:gd name="connsiteY5" fmla="*/ 504825 h 619125"/>
                <a:gd name="connsiteX6" fmla="*/ 1333500 w 2562225"/>
                <a:gd name="connsiteY6" fmla="*/ 581025 h 619125"/>
                <a:gd name="connsiteX7" fmla="*/ 800100 w 2562225"/>
                <a:gd name="connsiteY7" fmla="*/ 619125 h 619125"/>
                <a:gd name="connsiteX8" fmla="*/ 0 w 2562225"/>
                <a:gd name="connsiteY8" fmla="*/ 619125 h 619125"/>
                <a:gd name="connsiteX0" fmla="*/ 2562225 w 2562225"/>
                <a:gd name="connsiteY0" fmla="*/ 0 h 619125"/>
                <a:gd name="connsiteX1" fmla="*/ 2505075 w 2562225"/>
                <a:gd name="connsiteY1" fmla="*/ 28575 h 619125"/>
                <a:gd name="connsiteX2" fmla="*/ 2286000 w 2562225"/>
                <a:gd name="connsiteY2" fmla="*/ 200025 h 619125"/>
                <a:gd name="connsiteX3" fmla="*/ 2114550 w 2562225"/>
                <a:gd name="connsiteY3" fmla="*/ 304800 h 619125"/>
                <a:gd name="connsiteX4" fmla="*/ 1933575 w 2562225"/>
                <a:gd name="connsiteY4" fmla="*/ 400050 h 619125"/>
                <a:gd name="connsiteX5" fmla="*/ 1638300 w 2562225"/>
                <a:gd name="connsiteY5" fmla="*/ 504825 h 619125"/>
                <a:gd name="connsiteX6" fmla="*/ 1333500 w 2562225"/>
                <a:gd name="connsiteY6" fmla="*/ 581025 h 619125"/>
                <a:gd name="connsiteX7" fmla="*/ 800100 w 2562225"/>
                <a:gd name="connsiteY7" fmla="*/ 619125 h 619125"/>
                <a:gd name="connsiteX8" fmla="*/ 0 w 2562225"/>
                <a:gd name="connsiteY8" fmla="*/ 619125 h 619125"/>
                <a:gd name="connsiteX0" fmla="*/ 2562225 w 2562225"/>
                <a:gd name="connsiteY0" fmla="*/ 609600 h 609600"/>
                <a:gd name="connsiteX1" fmla="*/ 2505075 w 2562225"/>
                <a:gd name="connsiteY1" fmla="*/ 0 h 609600"/>
                <a:gd name="connsiteX2" fmla="*/ 2286000 w 2562225"/>
                <a:gd name="connsiteY2" fmla="*/ 171450 h 609600"/>
                <a:gd name="connsiteX3" fmla="*/ 2114550 w 2562225"/>
                <a:gd name="connsiteY3" fmla="*/ 276225 h 609600"/>
                <a:gd name="connsiteX4" fmla="*/ 1933575 w 2562225"/>
                <a:gd name="connsiteY4" fmla="*/ 371475 h 609600"/>
                <a:gd name="connsiteX5" fmla="*/ 1638300 w 2562225"/>
                <a:gd name="connsiteY5" fmla="*/ 476250 h 609600"/>
                <a:gd name="connsiteX6" fmla="*/ 1333500 w 2562225"/>
                <a:gd name="connsiteY6" fmla="*/ 552450 h 609600"/>
                <a:gd name="connsiteX7" fmla="*/ 800100 w 2562225"/>
                <a:gd name="connsiteY7" fmla="*/ 590550 h 609600"/>
                <a:gd name="connsiteX8" fmla="*/ 0 w 2562225"/>
                <a:gd name="connsiteY8" fmla="*/ 590550 h 609600"/>
                <a:gd name="connsiteX0" fmla="*/ 2562225 w 2571750"/>
                <a:gd name="connsiteY0" fmla="*/ 666750 h 666750"/>
                <a:gd name="connsiteX1" fmla="*/ 2571750 w 2571750"/>
                <a:gd name="connsiteY1" fmla="*/ 0 h 666750"/>
                <a:gd name="connsiteX2" fmla="*/ 2286000 w 2571750"/>
                <a:gd name="connsiteY2" fmla="*/ 228600 h 666750"/>
                <a:gd name="connsiteX3" fmla="*/ 2114550 w 2571750"/>
                <a:gd name="connsiteY3" fmla="*/ 333375 h 666750"/>
                <a:gd name="connsiteX4" fmla="*/ 1933575 w 2571750"/>
                <a:gd name="connsiteY4" fmla="*/ 428625 h 666750"/>
                <a:gd name="connsiteX5" fmla="*/ 1638300 w 2571750"/>
                <a:gd name="connsiteY5" fmla="*/ 533400 h 666750"/>
                <a:gd name="connsiteX6" fmla="*/ 1333500 w 2571750"/>
                <a:gd name="connsiteY6" fmla="*/ 609600 h 666750"/>
                <a:gd name="connsiteX7" fmla="*/ 800100 w 2571750"/>
                <a:gd name="connsiteY7" fmla="*/ 647700 h 666750"/>
                <a:gd name="connsiteX8" fmla="*/ 0 w 2571750"/>
                <a:gd name="connsiteY8" fmla="*/ 647700 h 666750"/>
                <a:gd name="connsiteX0" fmla="*/ 2066925 w 2571750"/>
                <a:gd name="connsiteY0" fmla="*/ 666750 h 666750"/>
                <a:gd name="connsiteX1" fmla="*/ 2571750 w 2571750"/>
                <a:gd name="connsiteY1" fmla="*/ 0 h 666750"/>
                <a:gd name="connsiteX2" fmla="*/ 2286000 w 2571750"/>
                <a:gd name="connsiteY2" fmla="*/ 228600 h 666750"/>
                <a:gd name="connsiteX3" fmla="*/ 2114550 w 2571750"/>
                <a:gd name="connsiteY3" fmla="*/ 333375 h 666750"/>
                <a:gd name="connsiteX4" fmla="*/ 1933575 w 2571750"/>
                <a:gd name="connsiteY4" fmla="*/ 428625 h 666750"/>
                <a:gd name="connsiteX5" fmla="*/ 1638300 w 2571750"/>
                <a:gd name="connsiteY5" fmla="*/ 533400 h 666750"/>
                <a:gd name="connsiteX6" fmla="*/ 1333500 w 2571750"/>
                <a:gd name="connsiteY6" fmla="*/ 609600 h 666750"/>
                <a:gd name="connsiteX7" fmla="*/ 800100 w 2571750"/>
                <a:gd name="connsiteY7" fmla="*/ 647700 h 666750"/>
                <a:gd name="connsiteX8" fmla="*/ 0 w 2571750"/>
                <a:gd name="connsiteY8" fmla="*/ 647700 h 666750"/>
                <a:gd name="connsiteX0" fmla="*/ 2066925 w 2571750"/>
                <a:gd name="connsiteY0" fmla="*/ 666750 h 667150"/>
                <a:gd name="connsiteX1" fmla="*/ 2571750 w 2571750"/>
                <a:gd name="connsiteY1" fmla="*/ 0 h 667150"/>
                <a:gd name="connsiteX2" fmla="*/ 2286000 w 2571750"/>
                <a:gd name="connsiteY2" fmla="*/ 228600 h 667150"/>
                <a:gd name="connsiteX3" fmla="*/ 2114550 w 2571750"/>
                <a:gd name="connsiteY3" fmla="*/ 333375 h 667150"/>
                <a:gd name="connsiteX4" fmla="*/ 1933575 w 2571750"/>
                <a:gd name="connsiteY4" fmla="*/ 428625 h 667150"/>
                <a:gd name="connsiteX5" fmla="*/ 1638300 w 2571750"/>
                <a:gd name="connsiteY5" fmla="*/ 533400 h 667150"/>
                <a:gd name="connsiteX6" fmla="*/ 1333500 w 2571750"/>
                <a:gd name="connsiteY6" fmla="*/ 609600 h 667150"/>
                <a:gd name="connsiteX7" fmla="*/ 800100 w 2571750"/>
                <a:gd name="connsiteY7" fmla="*/ 647700 h 667150"/>
                <a:gd name="connsiteX8" fmla="*/ 0 w 2571750"/>
                <a:gd name="connsiteY8" fmla="*/ 647700 h 667150"/>
                <a:gd name="connsiteX0" fmla="*/ 2581275 w 2581275"/>
                <a:gd name="connsiteY0" fmla="*/ 638175 h 647700"/>
                <a:gd name="connsiteX1" fmla="*/ 2571750 w 2581275"/>
                <a:gd name="connsiteY1" fmla="*/ 0 h 647700"/>
                <a:gd name="connsiteX2" fmla="*/ 2286000 w 2581275"/>
                <a:gd name="connsiteY2" fmla="*/ 228600 h 647700"/>
                <a:gd name="connsiteX3" fmla="*/ 2114550 w 2581275"/>
                <a:gd name="connsiteY3" fmla="*/ 333375 h 647700"/>
                <a:gd name="connsiteX4" fmla="*/ 1933575 w 2581275"/>
                <a:gd name="connsiteY4" fmla="*/ 428625 h 647700"/>
                <a:gd name="connsiteX5" fmla="*/ 1638300 w 2581275"/>
                <a:gd name="connsiteY5" fmla="*/ 533400 h 647700"/>
                <a:gd name="connsiteX6" fmla="*/ 1333500 w 2581275"/>
                <a:gd name="connsiteY6" fmla="*/ 609600 h 647700"/>
                <a:gd name="connsiteX7" fmla="*/ 800100 w 2581275"/>
                <a:gd name="connsiteY7" fmla="*/ 647700 h 647700"/>
                <a:gd name="connsiteX8" fmla="*/ 0 w 2581275"/>
                <a:gd name="connsiteY8" fmla="*/ 647700 h 647700"/>
                <a:gd name="connsiteX0" fmla="*/ 2581275 w 2581275"/>
                <a:gd name="connsiteY0" fmla="*/ 638175 h 647700"/>
                <a:gd name="connsiteX1" fmla="*/ 2552700 w 2581275"/>
                <a:gd name="connsiteY1" fmla="*/ 387126 h 647700"/>
                <a:gd name="connsiteX2" fmla="*/ 2571750 w 2581275"/>
                <a:gd name="connsiteY2" fmla="*/ 0 h 647700"/>
                <a:gd name="connsiteX3" fmla="*/ 2286000 w 2581275"/>
                <a:gd name="connsiteY3" fmla="*/ 228600 h 647700"/>
                <a:gd name="connsiteX4" fmla="*/ 2114550 w 2581275"/>
                <a:gd name="connsiteY4" fmla="*/ 333375 h 647700"/>
                <a:gd name="connsiteX5" fmla="*/ 1933575 w 2581275"/>
                <a:gd name="connsiteY5" fmla="*/ 428625 h 647700"/>
                <a:gd name="connsiteX6" fmla="*/ 1638300 w 2581275"/>
                <a:gd name="connsiteY6" fmla="*/ 533400 h 647700"/>
                <a:gd name="connsiteX7" fmla="*/ 1333500 w 2581275"/>
                <a:gd name="connsiteY7" fmla="*/ 609600 h 647700"/>
                <a:gd name="connsiteX8" fmla="*/ 800100 w 2581275"/>
                <a:gd name="connsiteY8" fmla="*/ 647700 h 647700"/>
                <a:gd name="connsiteX9" fmla="*/ 0 w 2581275"/>
                <a:gd name="connsiteY9" fmla="*/ 647700 h 647700"/>
                <a:gd name="connsiteX0" fmla="*/ 1819275 w 2579410"/>
                <a:gd name="connsiteY0" fmla="*/ 685800 h 685800"/>
                <a:gd name="connsiteX1" fmla="*/ 2552700 w 2579410"/>
                <a:gd name="connsiteY1" fmla="*/ 387126 h 685800"/>
                <a:gd name="connsiteX2" fmla="*/ 2571750 w 2579410"/>
                <a:gd name="connsiteY2" fmla="*/ 0 h 685800"/>
                <a:gd name="connsiteX3" fmla="*/ 2286000 w 2579410"/>
                <a:gd name="connsiteY3" fmla="*/ 228600 h 685800"/>
                <a:gd name="connsiteX4" fmla="*/ 2114550 w 2579410"/>
                <a:gd name="connsiteY4" fmla="*/ 333375 h 685800"/>
                <a:gd name="connsiteX5" fmla="*/ 1933575 w 2579410"/>
                <a:gd name="connsiteY5" fmla="*/ 428625 h 685800"/>
                <a:gd name="connsiteX6" fmla="*/ 1638300 w 2579410"/>
                <a:gd name="connsiteY6" fmla="*/ 533400 h 685800"/>
                <a:gd name="connsiteX7" fmla="*/ 1333500 w 2579410"/>
                <a:gd name="connsiteY7" fmla="*/ 609600 h 685800"/>
                <a:gd name="connsiteX8" fmla="*/ 800100 w 2579410"/>
                <a:gd name="connsiteY8" fmla="*/ 647700 h 685800"/>
                <a:gd name="connsiteX9" fmla="*/ 0 w 2579410"/>
                <a:gd name="connsiteY9" fmla="*/ 647700 h 685800"/>
                <a:gd name="connsiteX0" fmla="*/ 1819275 w 2580764"/>
                <a:gd name="connsiteY0" fmla="*/ 685800 h 685800"/>
                <a:gd name="connsiteX1" fmla="*/ 2562225 w 2580764"/>
                <a:gd name="connsiteY1" fmla="*/ 587151 h 685800"/>
                <a:gd name="connsiteX2" fmla="*/ 2571750 w 2580764"/>
                <a:gd name="connsiteY2" fmla="*/ 0 h 685800"/>
                <a:gd name="connsiteX3" fmla="*/ 2286000 w 2580764"/>
                <a:gd name="connsiteY3" fmla="*/ 228600 h 685800"/>
                <a:gd name="connsiteX4" fmla="*/ 2114550 w 2580764"/>
                <a:gd name="connsiteY4" fmla="*/ 333375 h 685800"/>
                <a:gd name="connsiteX5" fmla="*/ 1933575 w 2580764"/>
                <a:gd name="connsiteY5" fmla="*/ 428625 h 685800"/>
                <a:gd name="connsiteX6" fmla="*/ 1638300 w 2580764"/>
                <a:gd name="connsiteY6" fmla="*/ 533400 h 685800"/>
                <a:gd name="connsiteX7" fmla="*/ 1333500 w 2580764"/>
                <a:gd name="connsiteY7" fmla="*/ 609600 h 685800"/>
                <a:gd name="connsiteX8" fmla="*/ 800100 w 2580764"/>
                <a:gd name="connsiteY8" fmla="*/ 647700 h 685800"/>
                <a:gd name="connsiteX9" fmla="*/ 0 w 2580764"/>
                <a:gd name="connsiteY9" fmla="*/ 647700 h 685800"/>
                <a:gd name="connsiteX0" fmla="*/ 1819275 w 2582694"/>
                <a:gd name="connsiteY0" fmla="*/ 685800 h 708245"/>
                <a:gd name="connsiteX1" fmla="*/ 2571750 w 2582694"/>
                <a:gd name="connsiteY1" fmla="*/ 663351 h 708245"/>
                <a:gd name="connsiteX2" fmla="*/ 2571750 w 2582694"/>
                <a:gd name="connsiteY2" fmla="*/ 0 h 708245"/>
                <a:gd name="connsiteX3" fmla="*/ 2286000 w 2582694"/>
                <a:gd name="connsiteY3" fmla="*/ 228600 h 708245"/>
                <a:gd name="connsiteX4" fmla="*/ 2114550 w 2582694"/>
                <a:gd name="connsiteY4" fmla="*/ 333375 h 708245"/>
                <a:gd name="connsiteX5" fmla="*/ 1933575 w 2582694"/>
                <a:gd name="connsiteY5" fmla="*/ 428625 h 708245"/>
                <a:gd name="connsiteX6" fmla="*/ 1638300 w 2582694"/>
                <a:gd name="connsiteY6" fmla="*/ 533400 h 708245"/>
                <a:gd name="connsiteX7" fmla="*/ 1333500 w 2582694"/>
                <a:gd name="connsiteY7" fmla="*/ 609600 h 708245"/>
                <a:gd name="connsiteX8" fmla="*/ 800100 w 2582694"/>
                <a:gd name="connsiteY8" fmla="*/ 647700 h 708245"/>
                <a:gd name="connsiteX9" fmla="*/ 0 w 2582694"/>
                <a:gd name="connsiteY9" fmla="*/ 647700 h 708245"/>
                <a:gd name="connsiteX0" fmla="*/ 162 w 2592381"/>
                <a:gd name="connsiteY0" fmla="*/ 647700 h 700593"/>
                <a:gd name="connsiteX1" fmla="*/ 2581437 w 2592381"/>
                <a:gd name="connsiteY1" fmla="*/ 663351 h 700593"/>
                <a:gd name="connsiteX2" fmla="*/ 2581437 w 2592381"/>
                <a:gd name="connsiteY2" fmla="*/ 0 h 700593"/>
                <a:gd name="connsiteX3" fmla="*/ 2295687 w 2592381"/>
                <a:gd name="connsiteY3" fmla="*/ 228600 h 700593"/>
                <a:gd name="connsiteX4" fmla="*/ 2124237 w 2592381"/>
                <a:gd name="connsiteY4" fmla="*/ 333375 h 700593"/>
                <a:gd name="connsiteX5" fmla="*/ 1943262 w 2592381"/>
                <a:gd name="connsiteY5" fmla="*/ 428625 h 700593"/>
                <a:gd name="connsiteX6" fmla="*/ 1647987 w 2592381"/>
                <a:gd name="connsiteY6" fmla="*/ 533400 h 700593"/>
                <a:gd name="connsiteX7" fmla="*/ 1343187 w 2592381"/>
                <a:gd name="connsiteY7" fmla="*/ 609600 h 700593"/>
                <a:gd name="connsiteX8" fmla="*/ 809787 w 2592381"/>
                <a:gd name="connsiteY8" fmla="*/ 647700 h 700593"/>
                <a:gd name="connsiteX9" fmla="*/ 9687 w 2592381"/>
                <a:gd name="connsiteY9" fmla="*/ 647700 h 700593"/>
                <a:gd name="connsiteX0" fmla="*/ 0 w 2592219"/>
                <a:gd name="connsiteY0" fmla="*/ 647700 h 663351"/>
                <a:gd name="connsiteX1" fmla="*/ 2581275 w 2592219"/>
                <a:gd name="connsiteY1" fmla="*/ 663351 h 663351"/>
                <a:gd name="connsiteX2" fmla="*/ 2581275 w 2592219"/>
                <a:gd name="connsiteY2" fmla="*/ 0 h 663351"/>
                <a:gd name="connsiteX3" fmla="*/ 2295525 w 2592219"/>
                <a:gd name="connsiteY3" fmla="*/ 228600 h 663351"/>
                <a:gd name="connsiteX4" fmla="*/ 2124075 w 2592219"/>
                <a:gd name="connsiteY4" fmla="*/ 333375 h 663351"/>
                <a:gd name="connsiteX5" fmla="*/ 1943100 w 2592219"/>
                <a:gd name="connsiteY5" fmla="*/ 428625 h 663351"/>
                <a:gd name="connsiteX6" fmla="*/ 1647825 w 2592219"/>
                <a:gd name="connsiteY6" fmla="*/ 533400 h 663351"/>
                <a:gd name="connsiteX7" fmla="*/ 1343025 w 2592219"/>
                <a:gd name="connsiteY7" fmla="*/ 609600 h 663351"/>
                <a:gd name="connsiteX8" fmla="*/ 809625 w 2592219"/>
                <a:gd name="connsiteY8" fmla="*/ 647700 h 663351"/>
                <a:gd name="connsiteX9" fmla="*/ 9525 w 2592219"/>
                <a:gd name="connsiteY9" fmla="*/ 647700 h 663351"/>
                <a:gd name="connsiteX0" fmla="*/ 0 w 2592219"/>
                <a:gd name="connsiteY0" fmla="*/ 647700 h 663351"/>
                <a:gd name="connsiteX1" fmla="*/ 2581275 w 2592219"/>
                <a:gd name="connsiteY1" fmla="*/ 663351 h 663351"/>
                <a:gd name="connsiteX2" fmla="*/ 2581275 w 2592219"/>
                <a:gd name="connsiteY2" fmla="*/ 0 h 663351"/>
                <a:gd name="connsiteX3" fmla="*/ 2295525 w 2592219"/>
                <a:gd name="connsiteY3" fmla="*/ 228600 h 663351"/>
                <a:gd name="connsiteX4" fmla="*/ 2124075 w 2592219"/>
                <a:gd name="connsiteY4" fmla="*/ 333375 h 663351"/>
                <a:gd name="connsiteX5" fmla="*/ 1943100 w 2592219"/>
                <a:gd name="connsiteY5" fmla="*/ 428625 h 663351"/>
                <a:gd name="connsiteX6" fmla="*/ 1647825 w 2592219"/>
                <a:gd name="connsiteY6" fmla="*/ 533400 h 663351"/>
                <a:gd name="connsiteX7" fmla="*/ 1343025 w 2592219"/>
                <a:gd name="connsiteY7" fmla="*/ 609600 h 663351"/>
                <a:gd name="connsiteX8" fmla="*/ 809625 w 2592219"/>
                <a:gd name="connsiteY8" fmla="*/ 647700 h 663351"/>
                <a:gd name="connsiteX9" fmla="*/ 9525 w 2592219"/>
                <a:gd name="connsiteY9" fmla="*/ 647700 h 663351"/>
                <a:gd name="connsiteX10" fmla="*/ 0 w 2592219"/>
                <a:gd name="connsiteY10" fmla="*/ 647700 h 663351"/>
                <a:gd name="connsiteX0" fmla="*/ 0 w 2581275"/>
                <a:gd name="connsiteY0" fmla="*/ 647700 h 663351"/>
                <a:gd name="connsiteX1" fmla="*/ 2581275 w 2581275"/>
                <a:gd name="connsiteY1" fmla="*/ 663351 h 663351"/>
                <a:gd name="connsiteX2" fmla="*/ 2581275 w 2581275"/>
                <a:gd name="connsiteY2" fmla="*/ 0 h 663351"/>
                <a:gd name="connsiteX3" fmla="*/ 2295525 w 2581275"/>
                <a:gd name="connsiteY3" fmla="*/ 228600 h 663351"/>
                <a:gd name="connsiteX4" fmla="*/ 2124075 w 2581275"/>
                <a:gd name="connsiteY4" fmla="*/ 333375 h 663351"/>
                <a:gd name="connsiteX5" fmla="*/ 1943100 w 2581275"/>
                <a:gd name="connsiteY5" fmla="*/ 428625 h 663351"/>
                <a:gd name="connsiteX6" fmla="*/ 1647825 w 2581275"/>
                <a:gd name="connsiteY6" fmla="*/ 533400 h 663351"/>
                <a:gd name="connsiteX7" fmla="*/ 1343025 w 2581275"/>
                <a:gd name="connsiteY7" fmla="*/ 609600 h 663351"/>
                <a:gd name="connsiteX8" fmla="*/ 809625 w 2581275"/>
                <a:gd name="connsiteY8" fmla="*/ 647700 h 663351"/>
                <a:gd name="connsiteX9" fmla="*/ 9525 w 2581275"/>
                <a:gd name="connsiteY9" fmla="*/ 647700 h 663351"/>
                <a:gd name="connsiteX10" fmla="*/ 0 w 2581275"/>
                <a:gd name="connsiteY10" fmla="*/ 647700 h 66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1275" h="663351">
                  <a:moveTo>
                    <a:pt x="0" y="647700"/>
                  </a:moveTo>
                  <a:lnTo>
                    <a:pt x="2581275" y="663351"/>
                  </a:lnTo>
                  <a:lnTo>
                    <a:pt x="2581275" y="0"/>
                  </a:lnTo>
                  <a:lnTo>
                    <a:pt x="2295525" y="228600"/>
                  </a:lnTo>
                  <a:cubicBezTo>
                    <a:pt x="2241550" y="263525"/>
                    <a:pt x="2182812" y="300038"/>
                    <a:pt x="2124075" y="333375"/>
                  </a:cubicBezTo>
                  <a:cubicBezTo>
                    <a:pt x="2065338" y="366712"/>
                    <a:pt x="2006600" y="396875"/>
                    <a:pt x="1943100" y="428625"/>
                  </a:cubicBezTo>
                  <a:lnTo>
                    <a:pt x="1647825" y="533400"/>
                  </a:lnTo>
                  <a:lnTo>
                    <a:pt x="1343025" y="609600"/>
                  </a:lnTo>
                  <a:lnTo>
                    <a:pt x="809625" y="647700"/>
                  </a:lnTo>
                  <a:lnTo>
                    <a:pt x="9525" y="647700"/>
                  </a:lnTo>
                  <a:lnTo>
                    <a:pt x="0" y="647700"/>
                  </a:lnTo>
                  <a:close/>
                </a:path>
              </a:pathLst>
            </a:cu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0" name="Line 9"/>
          <p:cNvSpPr>
            <a:spLocks noChangeShapeType="1"/>
          </p:cNvSpPr>
          <p:nvPr/>
        </p:nvSpPr>
        <p:spPr bwMode="auto">
          <a:xfrm>
            <a:off x="282960" y="5844990"/>
            <a:ext cx="9039663" cy="0"/>
          </a:xfrm>
          <a:prstGeom prst="line">
            <a:avLst/>
          </a:prstGeom>
          <a:noFill/>
          <a:ln w="19050">
            <a:solidFill>
              <a:schemeClr val="tx1"/>
            </a:solidFill>
            <a:round/>
            <a:headEnd/>
            <a:tailEnd/>
          </a:ln>
        </p:spPr>
        <p:txBody>
          <a:bodyPr wrap="none" anchor="ctr"/>
          <a:lstStyle/>
          <a:p>
            <a:endParaRPr lang="nl-NL" dirty="0"/>
          </a:p>
        </p:txBody>
      </p:sp>
      <p:sp>
        <p:nvSpPr>
          <p:cNvPr id="17" name="Line 10"/>
          <p:cNvSpPr>
            <a:spLocks noChangeShapeType="1"/>
          </p:cNvSpPr>
          <p:nvPr/>
        </p:nvSpPr>
        <p:spPr bwMode="auto">
          <a:xfrm flipV="1">
            <a:off x="3375410" y="4063134"/>
            <a:ext cx="0" cy="1600200"/>
          </a:xfrm>
          <a:prstGeom prst="line">
            <a:avLst/>
          </a:prstGeom>
          <a:noFill/>
          <a:ln w="9525">
            <a:solidFill>
              <a:srgbClr val="FF0000"/>
            </a:solidFill>
            <a:round/>
            <a:headEnd/>
            <a:tailEnd/>
          </a:ln>
        </p:spPr>
        <p:txBody>
          <a:bodyPr wrap="none" anchor="ctr"/>
          <a:lstStyle/>
          <a:p>
            <a:endParaRPr lang="nl-NL" dirty="0"/>
          </a:p>
        </p:txBody>
      </p:sp>
      <p:sp>
        <p:nvSpPr>
          <p:cNvPr id="18" name="Line 11"/>
          <p:cNvSpPr>
            <a:spLocks noChangeShapeType="1"/>
          </p:cNvSpPr>
          <p:nvPr/>
        </p:nvSpPr>
        <p:spPr bwMode="auto">
          <a:xfrm flipV="1">
            <a:off x="6188281" y="4246876"/>
            <a:ext cx="0" cy="1600200"/>
          </a:xfrm>
          <a:prstGeom prst="line">
            <a:avLst/>
          </a:prstGeom>
          <a:noFill/>
          <a:ln w="9525">
            <a:solidFill>
              <a:srgbClr val="FF0000"/>
            </a:solidFill>
            <a:round/>
            <a:headEnd/>
            <a:tailEnd/>
          </a:ln>
        </p:spPr>
        <p:txBody>
          <a:bodyPr wrap="none" anchor="ctr"/>
          <a:lstStyle/>
          <a:p>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Process Capability &amp; Performance</a:t>
            </a:r>
            <a:endParaRPr lang="en-IE" dirty="0"/>
          </a:p>
        </p:txBody>
      </p:sp>
      <p:sp>
        <p:nvSpPr>
          <p:cNvPr id="3" name="Content Placeholder 2"/>
          <p:cNvSpPr>
            <a:spLocks noGrp="1"/>
          </p:cNvSpPr>
          <p:nvPr>
            <p:ph idx="1"/>
          </p:nvPr>
        </p:nvSpPr>
        <p:spPr>
          <a:xfrm>
            <a:off x="810815" y="1439863"/>
            <a:ext cx="9112215" cy="5040312"/>
          </a:xfrm>
        </p:spPr>
        <p:txBody>
          <a:bodyPr/>
          <a:lstStyle/>
          <a:p>
            <a:pPr marL="0">
              <a:spcBef>
                <a:spcPts val="0"/>
              </a:spcBef>
            </a:pPr>
            <a:r>
              <a:rPr lang="en-GB" dirty="0"/>
              <a:t>Example Temperature problems</a:t>
            </a:r>
          </a:p>
          <a:p>
            <a:pPr marL="0">
              <a:spcBef>
                <a:spcPts val="0"/>
              </a:spcBef>
            </a:pPr>
            <a:endParaRPr lang="en-GB" sz="1800" dirty="0" smtClean="0"/>
          </a:p>
          <a:p>
            <a:pPr marL="92075" indent="0">
              <a:spcBef>
                <a:spcPts val="0"/>
              </a:spcBef>
            </a:pPr>
            <a:r>
              <a:rPr lang="en-GB" sz="1800" dirty="0" smtClean="0"/>
              <a:t>So, in order to meet clients expectations, they had to improve the process by reducing the variation in the mea</a:t>
            </a:r>
            <a:r>
              <a:rPr lang="en-GB" sz="1800" dirty="0"/>
              <a:t>l</a:t>
            </a:r>
            <a:r>
              <a:rPr lang="en-GB" sz="1800" dirty="0" smtClean="0"/>
              <a:t> temperature</a:t>
            </a:r>
          </a:p>
          <a:p>
            <a:pPr marL="0"/>
            <a:endParaRPr lang="en-GB" dirty="0"/>
          </a:p>
          <a:p>
            <a:pPr marL="0"/>
            <a:r>
              <a:rPr lang="en-GB" dirty="0" smtClean="0"/>
              <a:t>  </a:t>
            </a:r>
          </a:p>
          <a:p>
            <a:r>
              <a:rPr lang="en-GB" dirty="0" smtClean="0"/>
              <a:t>  </a:t>
            </a:r>
            <a:endParaRPr lang="en-IE" dirty="0"/>
          </a:p>
        </p:txBody>
      </p:sp>
      <p:sp>
        <p:nvSpPr>
          <p:cNvPr id="4" name="Footer Placeholder 3"/>
          <p:cNvSpPr>
            <a:spLocks noGrp="1"/>
          </p:cNvSpPr>
          <p:nvPr>
            <p:ph type="ftr" sz="quarter" idx="10"/>
          </p:nvPr>
        </p:nvSpPr>
        <p:spPr/>
        <p:txBody>
          <a:bodyPr/>
          <a:lstStyle/>
          <a:p>
            <a:endParaRPr lang="nl-NL"/>
          </a:p>
        </p:txBody>
      </p:sp>
      <p:sp>
        <p:nvSpPr>
          <p:cNvPr id="19" name="Text Box 12"/>
          <p:cNvSpPr txBox="1">
            <a:spLocks noChangeArrowheads="1"/>
          </p:cNvSpPr>
          <p:nvPr/>
        </p:nvSpPr>
        <p:spPr bwMode="auto">
          <a:xfrm>
            <a:off x="3083266" y="3757329"/>
            <a:ext cx="686405" cy="584775"/>
          </a:xfrm>
          <a:prstGeom prst="rect">
            <a:avLst/>
          </a:prstGeom>
          <a:noFill/>
          <a:ln w="9525">
            <a:noFill/>
            <a:miter lim="800000"/>
            <a:headEnd/>
            <a:tailEnd/>
          </a:ln>
        </p:spPr>
        <p:txBody>
          <a:bodyPr wrap="none">
            <a:spAutoFit/>
          </a:bodyPr>
          <a:lstStyle/>
          <a:p>
            <a:pPr algn="ctr" eaLnBrk="0" hangingPunct="0"/>
            <a:endParaRPr lang="nl-NL" sz="1600" dirty="0" smtClean="0">
              <a:latin typeface="Arial" panose="020B0604020202020204" pitchFamily="34" charset="0"/>
              <a:cs typeface="Arial" panose="020B0604020202020204" pitchFamily="34" charset="0"/>
            </a:endParaRPr>
          </a:p>
          <a:p>
            <a:pPr algn="ctr" eaLnBrk="0" hangingPunct="0"/>
            <a:r>
              <a:rPr lang="nl-NL" sz="1600" dirty="0" smtClean="0">
                <a:latin typeface="Arial" panose="020B0604020202020204" pitchFamily="34" charset="0"/>
                <a:cs typeface="Arial" panose="020B0604020202020204" pitchFamily="34" charset="0"/>
              </a:rPr>
              <a:t>(LSL)</a:t>
            </a:r>
            <a:endParaRPr lang="nl-NL" sz="1600" dirty="0">
              <a:latin typeface="Arial" panose="020B0604020202020204" pitchFamily="34" charset="0"/>
              <a:cs typeface="Arial" panose="020B0604020202020204" pitchFamily="34" charset="0"/>
            </a:endParaRPr>
          </a:p>
        </p:txBody>
      </p:sp>
      <p:sp>
        <p:nvSpPr>
          <p:cNvPr id="21" name="Text Box 12"/>
          <p:cNvSpPr txBox="1">
            <a:spLocks noChangeArrowheads="1"/>
          </p:cNvSpPr>
          <p:nvPr/>
        </p:nvSpPr>
        <p:spPr bwMode="auto">
          <a:xfrm>
            <a:off x="3152580" y="6114782"/>
            <a:ext cx="412292" cy="338554"/>
          </a:xfrm>
          <a:prstGeom prst="rect">
            <a:avLst/>
          </a:prstGeom>
          <a:noFill/>
          <a:ln w="9525">
            <a:noFill/>
            <a:miter lim="800000"/>
            <a:headEnd/>
            <a:tailEnd/>
          </a:ln>
        </p:spPr>
        <p:txBody>
          <a:bodyPr wrap="none">
            <a:spAutoFit/>
          </a:bodyPr>
          <a:lstStyle/>
          <a:p>
            <a:pPr eaLnBrk="0" hangingPunct="0"/>
            <a:r>
              <a:rPr lang="nl-NL" sz="1600" dirty="0" smtClean="0">
                <a:latin typeface="Arial" panose="020B0604020202020204" pitchFamily="34" charset="0"/>
                <a:cs typeface="Arial" panose="020B0604020202020204" pitchFamily="34" charset="0"/>
              </a:rPr>
              <a:t>60</a:t>
            </a:r>
            <a:endParaRPr lang="nl-NL" sz="1600" dirty="0">
              <a:latin typeface="Arial" panose="020B0604020202020204" pitchFamily="34" charset="0"/>
              <a:cs typeface="Arial" panose="020B0604020202020204" pitchFamily="34" charset="0"/>
            </a:endParaRPr>
          </a:p>
        </p:txBody>
      </p:sp>
      <p:sp>
        <p:nvSpPr>
          <p:cNvPr id="22" name="Text Box 12"/>
          <p:cNvSpPr txBox="1">
            <a:spLocks noChangeArrowheads="1"/>
          </p:cNvSpPr>
          <p:nvPr/>
        </p:nvSpPr>
        <p:spPr bwMode="auto">
          <a:xfrm>
            <a:off x="5961269" y="6114782"/>
            <a:ext cx="412292" cy="338554"/>
          </a:xfrm>
          <a:prstGeom prst="rect">
            <a:avLst/>
          </a:prstGeom>
          <a:noFill/>
          <a:ln w="9525">
            <a:noFill/>
            <a:miter lim="800000"/>
            <a:headEnd/>
            <a:tailEnd/>
          </a:ln>
        </p:spPr>
        <p:txBody>
          <a:bodyPr wrap="none">
            <a:spAutoFit/>
          </a:bodyPr>
          <a:lstStyle/>
          <a:p>
            <a:pPr eaLnBrk="0" hangingPunct="0"/>
            <a:r>
              <a:rPr lang="nl-NL" sz="1600" dirty="0" smtClean="0">
                <a:latin typeface="Arial" panose="020B0604020202020204" pitchFamily="34" charset="0"/>
                <a:cs typeface="Arial" panose="020B0604020202020204" pitchFamily="34" charset="0"/>
              </a:rPr>
              <a:t>70</a:t>
            </a:r>
            <a:endParaRPr lang="nl-NL" sz="1600" dirty="0">
              <a:latin typeface="Arial" panose="020B0604020202020204" pitchFamily="34" charset="0"/>
              <a:cs typeface="Arial" panose="020B0604020202020204" pitchFamily="34" charset="0"/>
            </a:endParaRPr>
          </a:p>
        </p:txBody>
      </p:sp>
      <p:sp>
        <p:nvSpPr>
          <p:cNvPr id="23" name="Text Box 12"/>
          <p:cNvSpPr txBox="1">
            <a:spLocks noChangeArrowheads="1"/>
          </p:cNvSpPr>
          <p:nvPr/>
        </p:nvSpPr>
        <p:spPr bwMode="auto">
          <a:xfrm>
            <a:off x="5800997" y="3757329"/>
            <a:ext cx="720069" cy="584775"/>
          </a:xfrm>
          <a:prstGeom prst="rect">
            <a:avLst/>
          </a:prstGeom>
          <a:noFill/>
          <a:ln w="9525">
            <a:noFill/>
            <a:miter lim="800000"/>
            <a:headEnd/>
            <a:tailEnd/>
          </a:ln>
        </p:spPr>
        <p:txBody>
          <a:bodyPr wrap="none">
            <a:spAutoFit/>
          </a:bodyPr>
          <a:lstStyle/>
          <a:p>
            <a:pPr algn="ctr" eaLnBrk="0" hangingPunct="0"/>
            <a:endParaRPr lang="nl-NL" sz="1600" dirty="0" smtClean="0">
              <a:latin typeface="Arial" panose="020B0604020202020204" pitchFamily="34" charset="0"/>
              <a:cs typeface="Arial" panose="020B0604020202020204" pitchFamily="34" charset="0"/>
            </a:endParaRPr>
          </a:p>
          <a:p>
            <a:pPr algn="ctr" eaLnBrk="0" hangingPunct="0"/>
            <a:r>
              <a:rPr lang="nl-NL" sz="1600" dirty="0" smtClean="0">
                <a:latin typeface="Arial" panose="020B0604020202020204" pitchFamily="34" charset="0"/>
                <a:cs typeface="Arial" panose="020B0604020202020204" pitchFamily="34" charset="0"/>
              </a:rPr>
              <a:t>(USL)</a:t>
            </a:r>
            <a:endParaRPr lang="nl-NL" sz="1600" dirty="0">
              <a:latin typeface="Arial" panose="020B0604020202020204" pitchFamily="34" charset="0"/>
              <a:cs typeface="Arial" panose="020B0604020202020204" pitchFamily="34" charset="0"/>
            </a:endParaRPr>
          </a:p>
        </p:txBody>
      </p:sp>
      <p:sp>
        <p:nvSpPr>
          <p:cNvPr id="20" name="Line 9"/>
          <p:cNvSpPr>
            <a:spLocks noChangeShapeType="1"/>
          </p:cNvSpPr>
          <p:nvPr/>
        </p:nvSpPr>
        <p:spPr bwMode="auto">
          <a:xfrm>
            <a:off x="282960" y="6061014"/>
            <a:ext cx="9039663" cy="0"/>
          </a:xfrm>
          <a:prstGeom prst="line">
            <a:avLst/>
          </a:prstGeom>
          <a:noFill/>
          <a:ln w="19050">
            <a:solidFill>
              <a:schemeClr val="tx1"/>
            </a:solidFill>
            <a:round/>
            <a:headEnd/>
            <a:tailEnd/>
          </a:ln>
        </p:spPr>
        <p:txBody>
          <a:bodyPr wrap="none" anchor="ctr"/>
          <a:lstStyle/>
          <a:p>
            <a:endParaRPr lang="nl-NL" dirty="0"/>
          </a:p>
        </p:txBody>
      </p:sp>
      <p:sp>
        <p:nvSpPr>
          <p:cNvPr id="17" name="Line 10"/>
          <p:cNvSpPr>
            <a:spLocks noChangeShapeType="1"/>
          </p:cNvSpPr>
          <p:nvPr/>
        </p:nvSpPr>
        <p:spPr bwMode="auto">
          <a:xfrm flipV="1">
            <a:off x="3375410" y="4462900"/>
            <a:ext cx="0" cy="1600200"/>
          </a:xfrm>
          <a:prstGeom prst="line">
            <a:avLst/>
          </a:prstGeom>
          <a:noFill/>
          <a:ln w="9525">
            <a:solidFill>
              <a:srgbClr val="FF0000"/>
            </a:solidFill>
            <a:round/>
            <a:headEnd/>
            <a:tailEnd/>
          </a:ln>
        </p:spPr>
        <p:txBody>
          <a:bodyPr wrap="none" anchor="ctr"/>
          <a:lstStyle/>
          <a:p>
            <a:endParaRPr lang="nl-NL" dirty="0"/>
          </a:p>
        </p:txBody>
      </p:sp>
      <p:sp>
        <p:nvSpPr>
          <p:cNvPr id="18" name="Line 11"/>
          <p:cNvSpPr>
            <a:spLocks noChangeShapeType="1"/>
          </p:cNvSpPr>
          <p:nvPr/>
        </p:nvSpPr>
        <p:spPr bwMode="auto">
          <a:xfrm flipV="1">
            <a:off x="6188281" y="4462900"/>
            <a:ext cx="0" cy="1600200"/>
          </a:xfrm>
          <a:prstGeom prst="line">
            <a:avLst/>
          </a:prstGeom>
          <a:noFill/>
          <a:ln w="9525">
            <a:solidFill>
              <a:srgbClr val="FF0000"/>
            </a:solidFill>
            <a:round/>
            <a:headEnd/>
            <a:tailEnd/>
          </a:ln>
        </p:spPr>
        <p:txBody>
          <a:bodyPr wrap="none" anchor="ctr"/>
          <a:lstStyle/>
          <a:p>
            <a:endParaRPr lang="nl-NL" dirty="0"/>
          </a:p>
        </p:txBody>
      </p:sp>
      <p:grpSp>
        <p:nvGrpSpPr>
          <p:cNvPr id="5" name="Groep 10"/>
          <p:cNvGrpSpPr/>
          <p:nvPr/>
        </p:nvGrpSpPr>
        <p:grpSpPr>
          <a:xfrm>
            <a:off x="1498095" y="2964670"/>
            <a:ext cx="6480720" cy="3063854"/>
            <a:chOff x="1251822" y="2204864"/>
            <a:chExt cx="5984474" cy="3423894"/>
          </a:xfrm>
        </p:grpSpPr>
        <p:sp>
          <p:nvSpPr>
            <p:cNvPr id="24" name="Freeform 4"/>
            <p:cNvSpPr>
              <a:spLocks/>
            </p:cNvSpPr>
            <p:nvPr/>
          </p:nvSpPr>
          <p:spPr bwMode="auto">
            <a:xfrm>
              <a:off x="3000364" y="2204864"/>
              <a:ext cx="2507894" cy="3423894"/>
            </a:xfrm>
            <a:custGeom>
              <a:avLst/>
              <a:gdLst>
                <a:gd name="T0" fmla="*/ 2147483647 w 2458"/>
                <a:gd name="T1" fmla="*/ 2147483647 h 957"/>
                <a:gd name="T2" fmla="*/ 2147483647 w 2458"/>
                <a:gd name="T3" fmla="*/ 2147483647 h 957"/>
                <a:gd name="T4" fmla="*/ 2147483647 w 2458"/>
                <a:gd name="T5" fmla="*/ 2147483647 h 957"/>
                <a:gd name="T6" fmla="*/ 2147483647 w 2458"/>
                <a:gd name="T7" fmla="*/ 2147483647 h 957"/>
                <a:gd name="T8" fmla="*/ 2147483647 w 2458"/>
                <a:gd name="T9" fmla="*/ 2147483647 h 957"/>
                <a:gd name="T10" fmla="*/ 2147483647 w 2458"/>
                <a:gd name="T11" fmla="*/ 2147483647 h 957"/>
                <a:gd name="T12" fmla="*/ 2147483647 w 2458"/>
                <a:gd name="T13" fmla="*/ 2147483647 h 957"/>
                <a:gd name="T14" fmla="*/ 2147483647 w 2458"/>
                <a:gd name="T15" fmla="*/ 2147483647 h 957"/>
                <a:gd name="T16" fmla="*/ 2147483647 w 2458"/>
                <a:gd name="T17" fmla="*/ 2147483647 h 957"/>
                <a:gd name="T18" fmla="*/ 2147483647 w 2458"/>
                <a:gd name="T19" fmla="*/ 2147483647 h 957"/>
                <a:gd name="T20" fmla="*/ 2147483647 w 2458"/>
                <a:gd name="T21" fmla="*/ 2147483647 h 957"/>
                <a:gd name="T22" fmla="*/ 2147483647 w 2458"/>
                <a:gd name="T23" fmla="*/ 2147483647 h 957"/>
                <a:gd name="T24" fmla="*/ 2147483647 w 2458"/>
                <a:gd name="T25" fmla="*/ 2147483647 h 957"/>
                <a:gd name="T26" fmla="*/ 2147483647 w 2458"/>
                <a:gd name="T27" fmla="*/ 2147483647 h 957"/>
                <a:gd name="T28" fmla="*/ 2147483647 w 2458"/>
                <a:gd name="T29" fmla="*/ 2147483647 h 957"/>
                <a:gd name="T30" fmla="*/ 2147483647 w 2458"/>
                <a:gd name="T31" fmla="*/ 2147483647 h 957"/>
                <a:gd name="T32" fmla="*/ 2147483647 w 2458"/>
                <a:gd name="T33" fmla="*/ 2147483647 h 957"/>
                <a:gd name="T34" fmla="*/ 2147483647 w 2458"/>
                <a:gd name="T35" fmla="*/ 2147483647 h 957"/>
                <a:gd name="T36" fmla="*/ 2147483647 w 2458"/>
                <a:gd name="T37" fmla="*/ 2147483647 h 957"/>
                <a:gd name="T38" fmla="*/ 2147483647 w 2458"/>
                <a:gd name="T39" fmla="*/ 2147483647 h 957"/>
                <a:gd name="T40" fmla="*/ 2147483647 w 2458"/>
                <a:gd name="T41" fmla="*/ 2147483647 h 957"/>
                <a:gd name="T42" fmla="*/ 2147483647 w 2458"/>
                <a:gd name="T43" fmla="*/ 2147483647 h 957"/>
                <a:gd name="T44" fmla="*/ 2147483647 w 2458"/>
                <a:gd name="T45" fmla="*/ 2147483647 h 957"/>
                <a:gd name="T46" fmla="*/ 2147483647 w 2458"/>
                <a:gd name="T47" fmla="*/ 2147483647 h 957"/>
                <a:gd name="T48" fmla="*/ 2147483647 w 2458"/>
                <a:gd name="T49" fmla="*/ 2147483647 h 957"/>
                <a:gd name="T50" fmla="*/ 2147483647 w 2458"/>
                <a:gd name="T51" fmla="*/ 2147483647 h 957"/>
                <a:gd name="T52" fmla="*/ 2147483647 w 2458"/>
                <a:gd name="T53" fmla="*/ 2147483647 h 957"/>
                <a:gd name="T54" fmla="*/ 2147483647 w 2458"/>
                <a:gd name="T55" fmla="*/ 2147483647 h 957"/>
                <a:gd name="T56" fmla="*/ 2147483647 w 2458"/>
                <a:gd name="T57" fmla="*/ 2147483647 h 957"/>
                <a:gd name="T58" fmla="*/ 2147483647 w 2458"/>
                <a:gd name="T59" fmla="*/ 2147483647 h 957"/>
                <a:gd name="T60" fmla="*/ 2147483647 w 2458"/>
                <a:gd name="T61" fmla="*/ 2147483647 h 957"/>
                <a:gd name="T62" fmla="*/ 2147483647 w 2458"/>
                <a:gd name="T63" fmla="*/ 2147483647 h 957"/>
                <a:gd name="T64" fmla="*/ 2147483647 w 2458"/>
                <a:gd name="T65" fmla="*/ 2147483647 h 957"/>
                <a:gd name="T66" fmla="*/ 2147483647 w 2458"/>
                <a:gd name="T67" fmla="*/ 2147483647 h 957"/>
                <a:gd name="T68" fmla="*/ 2147483647 w 2458"/>
                <a:gd name="T69" fmla="*/ 2147483647 h 957"/>
                <a:gd name="T70" fmla="*/ 2147483647 w 2458"/>
                <a:gd name="T71" fmla="*/ 2147483647 h 957"/>
                <a:gd name="T72" fmla="*/ 2147483647 w 2458"/>
                <a:gd name="T73" fmla="*/ 2147483647 h 957"/>
                <a:gd name="T74" fmla="*/ 2147483647 w 2458"/>
                <a:gd name="T75" fmla="*/ 2147483647 h 957"/>
                <a:gd name="T76" fmla="*/ 2147483647 w 2458"/>
                <a:gd name="T77" fmla="*/ 2147483647 h 957"/>
                <a:gd name="T78" fmla="*/ 2147483647 w 2458"/>
                <a:gd name="T79" fmla="*/ 2147483647 h 95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458"/>
                <a:gd name="T121" fmla="*/ 0 h 957"/>
                <a:gd name="T122" fmla="*/ 2458 w 2458"/>
                <a:gd name="T123" fmla="*/ 957 h 95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458" h="957">
                  <a:moveTo>
                    <a:pt x="0" y="956"/>
                  </a:moveTo>
                  <a:lnTo>
                    <a:pt x="30" y="956"/>
                  </a:lnTo>
                  <a:lnTo>
                    <a:pt x="60" y="956"/>
                  </a:lnTo>
                  <a:lnTo>
                    <a:pt x="91" y="956"/>
                  </a:lnTo>
                  <a:lnTo>
                    <a:pt x="120" y="956"/>
                  </a:lnTo>
                  <a:lnTo>
                    <a:pt x="151" y="956"/>
                  </a:lnTo>
                  <a:lnTo>
                    <a:pt x="180" y="956"/>
                  </a:lnTo>
                  <a:lnTo>
                    <a:pt x="211" y="956"/>
                  </a:lnTo>
                  <a:lnTo>
                    <a:pt x="241" y="951"/>
                  </a:lnTo>
                  <a:lnTo>
                    <a:pt x="271" y="951"/>
                  </a:lnTo>
                  <a:lnTo>
                    <a:pt x="301" y="951"/>
                  </a:lnTo>
                  <a:lnTo>
                    <a:pt x="331" y="945"/>
                  </a:lnTo>
                  <a:lnTo>
                    <a:pt x="361" y="939"/>
                  </a:lnTo>
                  <a:lnTo>
                    <a:pt x="401" y="933"/>
                  </a:lnTo>
                  <a:lnTo>
                    <a:pt x="431" y="927"/>
                  </a:lnTo>
                  <a:lnTo>
                    <a:pt x="462" y="915"/>
                  </a:lnTo>
                  <a:lnTo>
                    <a:pt x="491" y="904"/>
                  </a:lnTo>
                  <a:lnTo>
                    <a:pt x="522" y="892"/>
                  </a:lnTo>
                  <a:lnTo>
                    <a:pt x="551" y="875"/>
                  </a:lnTo>
                  <a:lnTo>
                    <a:pt x="582" y="851"/>
                  </a:lnTo>
                  <a:lnTo>
                    <a:pt x="611" y="828"/>
                  </a:lnTo>
                  <a:lnTo>
                    <a:pt x="642" y="799"/>
                  </a:lnTo>
                  <a:lnTo>
                    <a:pt x="672" y="770"/>
                  </a:lnTo>
                  <a:lnTo>
                    <a:pt x="702" y="735"/>
                  </a:lnTo>
                  <a:lnTo>
                    <a:pt x="732" y="694"/>
                  </a:lnTo>
                  <a:lnTo>
                    <a:pt x="762" y="647"/>
                  </a:lnTo>
                  <a:lnTo>
                    <a:pt x="793" y="601"/>
                  </a:lnTo>
                  <a:lnTo>
                    <a:pt x="833" y="548"/>
                  </a:lnTo>
                  <a:lnTo>
                    <a:pt x="862" y="495"/>
                  </a:lnTo>
                  <a:lnTo>
                    <a:pt x="893" y="438"/>
                  </a:lnTo>
                  <a:lnTo>
                    <a:pt x="922" y="379"/>
                  </a:lnTo>
                  <a:lnTo>
                    <a:pt x="953" y="321"/>
                  </a:lnTo>
                  <a:lnTo>
                    <a:pt x="983" y="262"/>
                  </a:lnTo>
                  <a:lnTo>
                    <a:pt x="1013" y="210"/>
                  </a:lnTo>
                  <a:lnTo>
                    <a:pt x="1043" y="158"/>
                  </a:lnTo>
                  <a:lnTo>
                    <a:pt x="1073" y="117"/>
                  </a:lnTo>
                  <a:lnTo>
                    <a:pt x="1104" y="76"/>
                  </a:lnTo>
                  <a:lnTo>
                    <a:pt x="1133" y="41"/>
                  </a:lnTo>
                  <a:lnTo>
                    <a:pt x="1164" y="24"/>
                  </a:lnTo>
                  <a:lnTo>
                    <a:pt x="1193" y="6"/>
                  </a:lnTo>
                  <a:lnTo>
                    <a:pt x="1234" y="0"/>
                  </a:lnTo>
                  <a:lnTo>
                    <a:pt x="1264" y="6"/>
                  </a:lnTo>
                  <a:lnTo>
                    <a:pt x="1294" y="24"/>
                  </a:lnTo>
                  <a:lnTo>
                    <a:pt x="1324" y="41"/>
                  </a:lnTo>
                  <a:lnTo>
                    <a:pt x="1354" y="76"/>
                  </a:lnTo>
                  <a:lnTo>
                    <a:pt x="1384" y="117"/>
                  </a:lnTo>
                  <a:lnTo>
                    <a:pt x="1414" y="158"/>
                  </a:lnTo>
                  <a:lnTo>
                    <a:pt x="1444" y="210"/>
                  </a:lnTo>
                  <a:lnTo>
                    <a:pt x="1475" y="262"/>
                  </a:lnTo>
                  <a:lnTo>
                    <a:pt x="1504" y="321"/>
                  </a:lnTo>
                  <a:lnTo>
                    <a:pt x="1535" y="379"/>
                  </a:lnTo>
                  <a:lnTo>
                    <a:pt x="1564" y="438"/>
                  </a:lnTo>
                  <a:lnTo>
                    <a:pt x="1595" y="495"/>
                  </a:lnTo>
                  <a:lnTo>
                    <a:pt x="1624" y="548"/>
                  </a:lnTo>
                  <a:lnTo>
                    <a:pt x="1665" y="601"/>
                  </a:lnTo>
                  <a:lnTo>
                    <a:pt x="1695" y="647"/>
                  </a:lnTo>
                  <a:lnTo>
                    <a:pt x="1725" y="694"/>
                  </a:lnTo>
                  <a:lnTo>
                    <a:pt x="1755" y="735"/>
                  </a:lnTo>
                  <a:lnTo>
                    <a:pt x="1785" y="770"/>
                  </a:lnTo>
                  <a:lnTo>
                    <a:pt x="1815" y="799"/>
                  </a:lnTo>
                  <a:lnTo>
                    <a:pt x="1846" y="828"/>
                  </a:lnTo>
                  <a:lnTo>
                    <a:pt x="1875" y="851"/>
                  </a:lnTo>
                  <a:lnTo>
                    <a:pt x="1906" y="875"/>
                  </a:lnTo>
                  <a:lnTo>
                    <a:pt x="1936" y="892"/>
                  </a:lnTo>
                  <a:lnTo>
                    <a:pt x="1966" y="904"/>
                  </a:lnTo>
                  <a:lnTo>
                    <a:pt x="1996" y="915"/>
                  </a:lnTo>
                  <a:lnTo>
                    <a:pt x="2026" y="927"/>
                  </a:lnTo>
                  <a:lnTo>
                    <a:pt x="2056" y="933"/>
                  </a:lnTo>
                  <a:lnTo>
                    <a:pt x="2096" y="939"/>
                  </a:lnTo>
                  <a:lnTo>
                    <a:pt x="2127" y="945"/>
                  </a:lnTo>
                  <a:lnTo>
                    <a:pt x="2156" y="951"/>
                  </a:lnTo>
                  <a:lnTo>
                    <a:pt x="2187" y="951"/>
                  </a:lnTo>
                  <a:lnTo>
                    <a:pt x="2216" y="951"/>
                  </a:lnTo>
                  <a:lnTo>
                    <a:pt x="2247" y="956"/>
                  </a:lnTo>
                  <a:lnTo>
                    <a:pt x="2277" y="956"/>
                  </a:lnTo>
                  <a:lnTo>
                    <a:pt x="2307" y="956"/>
                  </a:lnTo>
                  <a:lnTo>
                    <a:pt x="2337" y="956"/>
                  </a:lnTo>
                  <a:lnTo>
                    <a:pt x="2367" y="956"/>
                  </a:lnTo>
                  <a:lnTo>
                    <a:pt x="2397" y="956"/>
                  </a:lnTo>
                  <a:lnTo>
                    <a:pt x="2427" y="956"/>
                  </a:lnTo>
                  <a:lnTo>
                    <a:pt x="2457" y="956"/>
                  </a:ln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dirty="0">
                <a:solidFill>
                  <a:schemeClr val="lt1"/>
                </a:solidFill>
                <a:latin typeface="+mn-lt"/>
                <a:cs typeface="+mn-cs"/>
              </a:endParaRPr>
            </a:p>
          </p:txBody>
        </p:sp>
        <p:cxnSp>
          <p:nvCxnSpPr>
            <p:cNvPr id="10" name="Rechte verbindingslijn 9"/>
            <p:cNvCxnSpPr/>
            <p:nvPr/>
          </p:nvCxnSpPr>
          <p:spPr>
            <a:xfrm>
              <a:off x="5476472" y="5628758"/>
              <a:ext cx="175982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Rechte verbindingslijn 25"/>
            <p:cNvCxnSpPr/>
            <p:nvPr/>
          </p:nvCxnSpPr>
          <p:spPr>
            <a:xfrm>
              <a:off x="1251822" y="5628241"/>
              <a:ext cx="1759824" cy="0"/>
            </a:xfrm>
            <a:prstGeom prst="line">
              <a:avLst/>
            </a:prstGeom>
            <a:ln w="254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12301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Process Capability &amp; Performance</a:t>
            </a:r>
            <a:endParaRPr lang="en-IE" dirty="0"/>
          </a:p>
        </p:txBody>
      </p:sp>
      <p:sp>
        <p:nvSpPr>
          <p:cNvPr id="3" name="Content Placeholder 2"/>
          <p:cNvSpPr>
            <a:spLocks noGrp="1"/>
          </p:cNvSpPr>
          <p:nvPr>
            <p:ph idx="1"/>
          </p:nvPr>
        </p:nvSpPr>
        <p:spPr/>
        <p:txBody>
          <a:bodyPr/>
          <a:lstStyle/>
          <a:p>
            <a:r>
              <a:rPr lang="en-GB" dirty="0"/>
              <a:t>Example Temperature </a:t>
            </a:r>
            <a:r>
              <a:rPr lang="en-GB" dirty="0" smtClean="0"/>
              <a:t>problems</a:t>
            </a:r>
          </a:p>
          <a:p>
            <a:endParaRPr lang="en-GB" sz="1800" dirty="0"/>
          </a:p>
          <a:p>
            <a:pPr marL="92075" indent="0"/>
            <a:r>
              <a:rPr lang="en-GB" sz="1800" dirty="0" smtClean="0"/>
              <a:t>Sometimes it’s not (only) the variation, but (also) the average that needs adjusting</a:t>
            </a:r>
          </a:p>
          <a:p>
            <a:r>
              <a:rPr lang="en-GB" dirty="0" smtClean="0"/>
              <a:t>  </a:t>
            </a:r>
            <a:endParaRPr lang="en-IE" dirty="0"/>
          </a:p>
        </p:txBody>
      </p:sp>
      <p:sp>
        <p:nvSpPr>
          <p:cNvPr id="4" name="Footer Placeholder 3"/>
          <p:cNvSpPr>
            <a:spLocks noGrp="1"/>
          </p:cNvSpPr>
          <p:nvPr>
            <p:ph type="ftr" sz="quarter" idx="10"/>
          </p:nvPr>
        </p:nvSpPr>
        <p:spPr/>
        <p:txBody>
          <a:bodyPr/>
          <a:lstStyle/>
          <a:p>
            <a:endParaRPr lang="nl-NL"/>
          </a:p>
        </p:txBody>
      </p:sp>
      <p:sp>
        <p:nvSpPr>
          <p:cNvPr id="19" name="Text Box 12"/>
          <p:cNvSpPr txBox="1">
            <a:spLocks noChangeArrowheads="1"/>
          </p:cNvSpPr>
          <p:nvPr/>
        </p:nvSpPr>
        <p:spPr bwMode="auto">
          <a:xfrm>
            <a:off x="3112921" y="3829337"/>
            <a:ext cx="627095" cy="646331"/>
          </a:xfrm>
          <a:prstGeom prst="rect">
            <a:avLst/>
          </a:prstGeom>
          <a:noFill/>
          <a:ln w="9525">
            <a:noFill/>
            <a:miter lim="800000"/>
            <a:headEnd/>
            <a:tailEnd/>
          </a:ln>
        </p:spPr>
        <p:txBody>
          <a:bodyPr wrap="none">
            <a:spAutoFit/>
          </a:bodyPr>
          <a:lstStyle/>
          <a:p>
            <a:pPr algn="ctr" eaLnBrk="0" hangingPunct="0"/>
            <a:endParaRPr lang="nl-NL" dirty="0" smtClean="0"/>
          </a:p>
          <a:p>
            <a:pPr algn="ctr" eaLnBrk="0" hangingPunct="0"/>
            <a:r>
              <a:rPr lang="nl-NL" dirty="0" smtClean="0"/>
              <a:t>(LSL)</a:t>
            </a:r>
            <a:endParaRPr lang="nl-NL" dirty="0"/>
          </a:p>
        </p:txBody>
      </p:sp>
      <p:sp>
        <p:nvSpPr>
          <p:cNvPr id="21" name="Text Box 12"/>
          <p:cNvSpPr txBox="1">
            <a:spLocks noChangeArrowheads="1"/>
          </p:cNvSpPr>
          <p:nvPr/>
        </p:nvSpPr>
        <p:spPr bwMode="auto">
          <a:xfrm>
            <a:off x="3152580" y="6186790"/>
            <a:ext cx="412292" cy="338554"/>
          </a:xfrm>
          <a:prstGeom prst="rect">
            <a:avLst/>
          </a:prstGeom>
          <a:noFill/>
          <a:ln w="9525">
            <a:noFill/>
            <a:miter lim="800000"/>
            <a:headEnd/>
            <a:tailEnd/>
          </a:ln>
        </p:spPr>
        <p:txBody>
          <a:bodyPr wrap="none">
            <a:spAutoFit/>
          </a:bodyPr>
          <a:lstStyle/>
          <a:p>
            <a:pPr eaLnBrk="0" hangingPunct="0"/>
            <a:r>
              <a:rPr lang="nl-NL" sz="1600" dirty="0" smtClean="0">
                <a:latin typeface="Arial" panose="020B0604020202020204" pitchFamily="34" charset="0"/>
                <a:cs typeface="Arial" panose="020B0604020202020204" pitchFamily="34" charset="0"/>
              </a:rPr>
              <a:t>60</a:t>
            </a:r>
            <a:endParaRPr lang="nl-NL" sz="1600" dirty="0">
              <a:latin typeface="Arial" panose="020B0604020202020204" pitchFamily="34" charset="0"/>
              <a:cs typeface="Arial" panose="020B0604020202020204" pitchFamily="34" charset="0"/>
            </a:endParaRPr>
          </a:p>
        </p:txBody>
      </p:sp>
      <p:sp>
        <p:nvSpPr>
          <p:cNvPr id="22" name="Text Box 12"/>
          <p:cNvSpPr txBox="1">
            <a:spLocks noChangeArrowheads="1"/>
          </p:cNvSpPr>
          <p:nvPr/>
        </p:nvSpPr>
        <p:spPr bwMode="auto">
          <a:xfrm>
            <a:off x="5961269" y="6186790"/>
            <a:ext cx="412292" cy="338554"/>
          </a:xfrm>
          <a:prstGeom prst="rect">
            <a:avLst/>
          </a:prstGeom>
          <a:noFill/>
          <a:ln w="9525">
            <a:noFill/>
            <a:miter lim="800000"/>
            <a:headEnd/>
            <a:tailEnd/>
          </a:ln>
        </p:spPr>
        <p:txBody>
          <a:bodyPr wrap="none">
            <a:spAutoFit/>
          </a:bodyPr>
          <a:lstStyle/>
          <a:p>
            <a:pPr eaLnBrk="0" hangingPunct="0"/>
            <a:r>
              <a:rPr lang="nl-NL" sz="1600" dirty="0" smtClean="0">
                <a:latin typeface="Arial" panose="020B0604020202020204" pitchFamily="34" charset="0"/>
                <a:cs typeface="Arial" panose="020B0604020202020204" pitchFamily="34" charset="0"/>
              </a:rPr>
              <a:t>70</a:t>
            </a:r>
            <a:endParaRPr lang="nl-NL" sz="1600" dirty="0">
              <a:latin typeface="Arial" panose="020B0604020202020204" pitchFamily="34" charset="0"/>
              <a:cs typeface="Arial" panose="020B0604020202020204" pitchFamily="34" charset="0"/>
            </a:endParaRPr>
          </a:p>
        </p:txBody>
      </p:sp>
      <p:sp>
        <p:nvSpPr>
          <p:cNvPr id="23" name="Text Box 12"/>
          <p:cNvSpPr txBox="1">
            <a:spLocks noChangeArrowheads="1"/>
          </p:cNvSpPr>
          <p:nvPr/>
        </p:nvSpPr>
        <p:spPr bwMode="auto">
          <a:xfrm>
            <a:off x="5836576" y="3829337"/>
            <a:ext cx="720069" cy="584775"/>
          </a:xfrm>
          <a:prstGeom prst="rect">
            <a:avLst/>
          </a:prstGeom>
          <a:noFill/>
          <a:ln w="9525">
            <a:noFill/>
            <a:miter lim="800000"/>
            <a:headEnd/>
            <a:tailEnd/>
          </a:ln>
        </p:spPr>
        <p:txBody>
          <a:bodyPr wrap="none">
            <a:spAutoFit/>
          </a:bodyPr>
          <a:lstStyle/>
          <a:p>
            <a:pPr algn="ctr" eaLnBrk="0" hangingPunct="0"/>
            <a:endParaRPr lang="nl-NL" sz="1600" dirty="0" smtClean="0">
              <a:latin typeface="Arial" panose="020B0604020202020204" pitchFamily="34" charset="0"/>
              <a:cs typeface="Arial" panose="020B0604020202020204" pitchFamily="34" charset="0"/>
            </a:endParaRPr>
          </a:p>
          <a:p>
            <a:pPr algn="ctr" eaLnBrk="0" hangingPunct="0"/>
            <a:r>
              <a:rPr lang="nl-NL" sz="1600" dirty="0" smtClean="0">
                <a:latin typeface="Arial" panose="020B0604020202020204" pitchFamily="34" charset="0"/>
                <a:cs typeface="Arial" panose="020B0604020202020204" pitchFamily="34" charset="0"/>
              </a:rPr>
              <a:t>(USL)</a:t>
            </a:r>
            <a:endParaRPr lang="nl-NL" sz="1600" dirty="0">
              <a:latin typeface="Arial" panose="020B0604020202020204" pitchFamily="34" charset="0"/>
              <a:cs typeface="Arial" panose="020B0604020202020204" pitchFamily="34" charset="0"/>
            </a:endParaRPr>
          </a:p>
        </p:txBody>
      </p:sp>
      <p:sp>
        <p:nvSpPr>
          <p:cNvPr id="20" name="Line 9"/>
          <p:cNvSpPr>
            <a:spLocks noChangeShapeType="1"/>
          </p:cNvSpPr>
          <p:nvPr/>
        </p:nvSpPr>
        <p:spPr bwMode="auto">
          <a:xfrm>
            <a:off x="282960" y="6133022"/>
            <a:ext cx="9039663" cy="0"/>
          </a:xfrm>
          <a:prstGeom prst="line">
            <a:avLst/>
          </a:prstGeom>
          <a:noFill/>
          <a:ln w="19050">
            <a:solidFill>
              <a:schemeClr val="tx1"/>
            </a:solidFill>
            <a:round/>
            <a:headEnd/>
            <a:tailEnd/>
          </a:ln>
        </p:spPr>
        <p:txBody>
          <a:bodyPr wrap="none" anchor="ctr"/>
          <a:lstStyle/>
          <a:p>
            <a:endParaRPr lang="nl-NL" dirty="0"/>
          </a:p>
        </p:txBody>
      </p:sp>
      <p:sp>
        <p:nvSpPr>
          <p:cNvPr id="17" name="Line 10"/>
          <p:cNvSpPr>
            <a:spLocks noChangeShapeType="1"/>
          </p:cNvSpPr>
          <p:nvPr/>
        </p:nvSpPr>
        <p:spPr bwMode="auto">
          <a:xfrm flipV="1">
            <a:off x="3375410" y="4534908"/>
            <a:ext cx="0" cy="1600200"/>
          </a:xfrm>
          <a:prstGeom prst="line">
            <a:avLst/>
          </a:prstGeom>
          <a:noFill/>
          <a:ln w="9525">
            <a:solidFill>
              <a:srgbClr val="FF0000"/>
            </a:solidFill>
            <a:round/>
            <a:headEnd/>
            <a:tailEnd/>
          </a:ln>
        </p:spPr>
        <p:txBody>
          <a:bodyPr wrap="none" anchor="ctr"/>
          <a:lstStyle/>
          <a:p>
            <a:endParaRPr lang="nl-NL" dirty="0"/>
          </a:p>
        </p:txBody>
      </p:sp>
      <p:sp>
        <p:nvSpPr>
          <p:cNvPr id="18" name="Line 11"/>
          <p:cNvSpPr>
            <a:spLocks noChangeShapeType="1"/>
          </p:cNvSpPr>
          <p:nvPr/>
        </p:nvSpPr>
        <p:spPr bwMode="auto">
          <a:xfrm flipV="1">
            <a:off x="6188281" y="4534908"/>
            <a:ext cx="0" cy="1600200"/>
          </a:xfrm>
          <a:prstGeom prst="line">
            <a:avLst/>
          </a:prstGeom>
          <a:noFill/>
          <a:ln w="9525">
            <a:solidFill>
              <a:srgbClr val="FF0000"/>
            </a:solidFill>
            <a:round/>
            <a:headEnd/>
            <a:tailEnd/>
          </a:ln>
        </p:spPr>
        <p:txBody>
          <a:bodyPr wrap="none" anchor="ctr"/>
          <a:lstStyle/>
          <a:p>
            <a:endParaRPr lang="nl-NL" dirty="0"/>
          </a:p>
        </p:txBody>
      </p:sp>
      <p:grpSp>
        <p:nvGrpSpPr>
          <p:cNvPr id="5" name="Groep 10"/>
          <p:cNvGrpSpPr/>
          <p:nvPr/>
        </p:nvGrpSpPr>
        <p:grpSpPr>
          <a:xfrm>
            <a:off x="2146167" y="3036678"/>
            <a:ext cx="6732533" cy="3063337"/>
            <a:chOff x="1251822" y="2204864"/>
            <a:chExt cx="5984474" cy="3423894"/>
          </a:xfrm>
        </p:grpSpPr>
        <p:sp>
          <p:nvSpPr>
            <p:cNvPr id="24" name="Freeform 4"/>
            <p:cNvSpPr>
              <a:spLocks/>
            </p:cNvSpPr>
            <p:nvPr/>
          </p:nvSpPr>
          <p:spPr bwMode="auto">
            <a:xfrm>
              <a:off x="3000364" y="2204864"/>
              <a:ext cx="2507894" cy="3423894"/>
            </a:xfrm>
            <a:custGeom>
              <a:avLst/>
              <a:gdLst>
                <a:gd name="T0" fmla="*/ 2147483647 w 2458"/>
                <a:gd name="T1" fmla="*/ 2147483647 h 957"/>
                <a:gd name="T2" fmla="*/ 2147483647 w 2458"/>
                <a:gd name="T3" fmla="*/ 2147483647 h 957"/>
                <a:gd name="T4" fmla="*/ 2147483647 w 2458"/>
                <a:gd name="T5" fmla="*/ 2147483647 h 957"/>
                <a:gd name="T6" fmla="*/ 2147483647 w 2458"/>
                <a:gd name="T7" fmla="*/ 2147483647 h 957"/>
                <a:gd name="T8" fmla="*/ 2147483647 w 2458"/>
                <a:gd name="T9" fmla="*/ 2147483647 h 957"/>
                <a:gd name="T10" fmla="*/ 2147483647 w 2458"/>
                <a:gd name="T11" fmla="*/ 2147483647 h 957"/>
                <a:gd name="T12" fmla="*/ 2147483647 w 2458"/>
                <a:gd name="T13" fmla="*/ 2147483647 h 957"/>
                <a:gd name="T14" fmla="*/ 2147483647 w 2458"/>
                <a:gd name="T15" fmla="*/ 2147483647 h 957"/>
                <a:gd name="T16" fmla="*/ 2147483647 w 2458"/>
                <a:gd name="T17" fmla="*/ 2147483647 h 957"/>
                <a:gd name="T18" fmla="*/ 2147483647 w 2458"/>
                <a:gd name="T19" fmla="*/ 2147483647 h 957"/>
                <a:gd name="T20" fmla="*/ 2147483647 w 2458"/>
                <a:gd name="T21" fmla="*/ 2147483647 h 957"/>
                <a:gd name="T22" fmla="*/ 2147483647 w 2458"/>
                <a:gd name="T23" fmla="*/ 2147483647 h 957"/>
                <a:gd name="T24" fmla="*/ 2147483647 w 2458"/>
                <a:gd name="T25" fmla="*/ 2147483647 h 957"/>
                <a:gd name="T26" fmla="*/ 2147483647 w 2458"/>
                <a:gd name="T27" fmla="*/ 2147483647 h 957"/>
                <a:gd name="T28" fmla="*/ 2147483647 w 2458"/>
                <a:gd name="T29" fmla="*/ 2147483647 h 957"/>
                <a:gd name="T30" fmla="*/ 2147483647 w 2458"/>
                <a:gd name="T31" fmla="*/ 2147483647 h 957"/>
                <a:gd name="T32" fmla="*/ 2147483647 w 2458"/>
                <a:gd name="T33" fmla="*/ 2147483647 h 957"/>
                <a:gd name="T34" fmla="*/ 2147483647 w 2458"/>
                <a:gd name="T35" fmla="*/ 2147483647 h 957"/>
                <a:gd name="T36" fmla="*/ 2147483647 w 2458"/>
                <a:gd name="T37" fmla="*/ 2147483647 h 957"/>
                <a:gd name="T38" fmla="*/ 2147483647 w 2458"/>
                <a:gd name="T39" fmla="*/ 2147483647 h 957"/>
                <a:gd name="T40" fmla="*/ 2147483647 w 2458"/>
                <a:gd name="T41" fmla="*/ 2147483647 h 957"/>
                <a:gd name="T42" fmla="*/ 2147483647 w 2458"/>
                <a:gd name="T43" fmla="*/ 2147483647 h 957"/>
                <a:gd name="T44" fmla="*/ 2147483647 w 2458"/>
                <a:gd name="T45" fmla="*/ 2147483647 h 957"/>
                <a:gd name="T46" fmla="*/ 2147483647 w 2458"/>
                <a:gd name="T47" fmla="*/ 2147483647 h 957"/>
                <a:gd name="T48" fmla="*/ 2147483647 w 2458"/>
                <a:gd name="T49" fmla="*/ 2147483647 h 957"/>
                <a:gd name="T50" fmla="*/ 2147483647 w 2458"/>
                <a:gd name="T51" fmla="*/ 2147483647 h 957"/>
                <a:gd name="T52" fmla="*/ 2147483647 w 2458"/>
                <a:gd name="T53" fmla="*/ 2147483647 h 957"/>
                <a:gd name="T54" fmla="*/ 2147483647 w 2458"/>
                <a:gd name="T55" fmla="*/ 2147483647 h 957"/>
                <a:gd name="T56" fmla="*/ 2147483647 w 2458"/>
                <a:gd name="T57" fmla="*/ 2147483647 h 957"/>
                <a:gd name="T58" fmla="*/ 2147483647 w 2458"/>
                <a:gd name="T59" fmla="*/ 2147483647 h 957"/>
                <a:gd name="T60" fmla="*/ 2147483647 w 2458"/>
                <a:gd name="T61" fmla="*/ 2147483647 h 957"/>
                <a:gd name="T62" fmla="*/ 2147483647 w 2458"/>
                <a:gd name="T63" fmla="*/ 2147483647 h 957"/>
                <a:gd name="T64" fmla="*/ 2147483647 w 2458"/>
                <a:gd name="T65" fmla="*/ 2147483647 h 957"/>
                <a:gd name="T66" fmla="*/ 2147483647 w 2458"/>
                <a:gd name="T67" fmla="*/ 2147483647 h 957"/>
                <a:gd name="T68" fmla="*/ 2147483647 w 2458"/>
                <a:gd name="T69" fmla="*/ 2147483647 h 957"/>
                <a:gd name="T70" fmla="*/ 2147483647 w 2458"/>
                <a:gd name="T71" fmla="*/ 2147483647 h 957"/>
                <a:gd name="T72" fmla="*/ 2147483647 w 2458"/>
                <a:gd name="T73" fmla="*/ 2147483647 h 957"/>
                <a:gd name="T74" fmla="*/ 2147483647 w 2458"/>
                <a:gd name="T75" fmla="*/ 2147483647 h 957"/>
                <a:gd name="T76" fmla="*/ 2147483647 w 2458"/>
                <a:gd name="T77" fmla="*/ 2147483647 h 957"/>
                <a:gd name="T78" fmla="*/ 2147483647 w 2458"/>
                <a:gd name="T79" fmla="*/ 2147483647 h 95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458"/>
                <a:gd name="T121" fmla="*/ 0 h 957"/>
                <a:gd name="T122" fmla="*/ 2458 w 2458"/>
                <a:gd name="T123" fmla="*/ 957 h 95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458" h="957">
                  <a:moveTo>
                    <a:pt x="0" y="956"/>
                  </a:moveTo>
                  <a:lnTo>
                    <a:pt x="30" y="956"/>
                  </a:lnTo>
                  <a:lnTo>
                    <a:pt x="60" y="956"/>
                  </a:lnTo>
                  <a:lnTo>
                    <a:pt x="91" y="956"/>
                  </a:lnTo>
                  <a:lnTo>
                    <a:pt x="120" y="956"/>
                  </a:lnTo>
                  <a:lnTo>
                    <a:pt x="151" y="956"/>
                  </a:lnTo>
                  <a:lnTo>
                    <a:pt x="180" y="956"/>
                  </a:lnTo>
                  <a:lnTo>
                    <a:pt x="211" y="956"/>
                  </a:lnTo>
                  <a:lnTo>
                    <a:pt x="241" y="951"/>
                  </a:lnTo>
                  <a:lnTo>
                    <a:pt x="271" y="951"/>
                  </a:lnTo>
                  <a:lnTo>
                    <a:pt x="301" y="951"/>
                  </a:lnTo>
                  <a:lnTo>
                    <a:pt x="331" y="945"/>
                  </a:lnTo>
                  <a:lnTo>
                    <a:pt x="361" y="939"/>
                  </a:lnTo>
                  <a:lnTo>
                    <a:pt x="401" y="933"/>
                  </a:lnTo>
                  <a:lnTo>
                    <a:pt x="431" y="927"/>
                  </a:lnTo>
                  <a:lnTo>
                    <a:pt x="462" y="915"/>
                  </a:lnTo>
                  <a:lnTo>
                    <a:pt x="491" y="904"/>
                  </a:lnTo>
                  <a:lnTo>
                    <a:pt x="522" y="892"/>
                  </a:lnTo>
                  <a:lnTo>
                    <a:pt x="551" y="875"/>
                  </a:lnTo>
                  <a:lnTo>
                    <a:pt x="582" y="851"/>
                  </a:lnTo>
                  <a:lnTo>
                    <a:pt x="611" y="828"/>
                  </a:lnTo>
                  <a:lnTo>
                    <a:pt x="642" y="799"/>
                  </a:lnTo>
                  <a:lnTo>
                    <a:pt x="672" y="770"/>
                  </a:lnTo>
                  <a:lnTo>
                    <a:pt x="702" y="735"/>
                  </a:lnTo>
                  <a:lnTo>
                    <a:pt x="732" y="694"/>
                  </a:lnTo>
                  <a:lnTo>
                    <a:pt x="762" y="647"/>
                  </a:lnTo>
                  <a:lnTo>
                    <a:pt x="793" y="601"/>
                  </a:lnTo>
                  <a:lnTo>
                    <a:pt x="833" y="548"/>
                  </a:lnTo>
                  <a:lnTo>
                    <a:pt x="862" y="495"/>
                  </a:lnTo>
                  <a:lnTo>
                    <a:pt x="893" y="438"/>
                  </a:lnTo>
                  <a:lnTo>
                    <a:pt x="922" y="379"/>
                  </a:lnTo>
                  <a:lnTo>
                    <a:pt x="953" y="321"/>
                  </a:lnTo>
                  <a:lnTo>
                    <a:pt x="983" y="262"/>
                  </a:lnTo>
                  <a:lnTo>
                    <a:pt x="1013" y="210"/>
                  </a:lnTo>
                  <a:lnTo>
                    <a:pt x="1043" y="158"/>
                  </a:lnTo>
                  <a:lnTo>
                    <a:pt x="1073" y="117"/>
                  </a:lnTo>
                  <a:lnTo>
                    <a:pt x="1104" y="76"/>
                  </a:lnTo>
                  <a:lnTo>
                    <a:pt x="1133" y="41"/>
                  </a:lnTo>
                  <a:lnTo>
                    <a:pt x="1164" y="24"/>
                  </a:lnTo>
                  <a:lnTo>
                    <a:pt x="1193" y="6"/>
                  </a:lnTo>
                  <a:lnTo>
                    <a:pt x="1234" y="0"/>
                  </a:lnTo>
                  <a:lnTo>
                    <a:pt x="1264" y="6"/>
                  </a:lnTo>
                  <a:lnTo>
                    <a:pt x="1294" y="24"/>
                  </a:lnTo>
                  <a:lnTo>
                    <a:pt x="1324" y="41"/>
                  </a:lnTo>
                  <a:lnTo>
                    <a:pt x="1354" y="76"/>
                  </a:lnTo>
                  <a:lnTo>
                    <a:pt x="1384" y="117"/>
                  </a:lnTo>
                  <a:lnTo>
                    <a:pt x="1414" y="158"/>
                  </a:lnTo>
                  <a:lnTo>
                    <a:pt x="1444" y="210"/>
                  </a:lnTo>
                  <a:lnTo>
                    <a:pt x="1475" y="262"/>
                  </a:lnTo>
                  <a:lnTo>
                    <a:pt x="1504" y="321"/>
                  </a:lnTo>
                  <a:lnTo>
                    <a:pt x="1535" y="379"/>
                  </a:lnTo>
                  <a:lnTo>
                    <a:pt x="1564" y="438"/>
                  </a:lnTo>
                  <a:lnTo>
                    <a:pt x="1595" y="495"/>
                  </a:lnTo>
                  <a:lnTo>
                    <a:pt x="1624" y="548"/>
                  </a:lnTo>
                  <a:lnTo>
                    <a:pt x="1665" y="601"/>
                  </a:lnTo>
                  <a:lnTo>
                    <a:pt x="1695" y="647"/>
                  </a:lnTo>
                  <a:lnTo>
                    <a:pt x="1725" y="694"/>
                  </a:lnTo>
                  <a:lnTo>
                    <a:pt x="1755" y="735"/>
                  </a:lnTo>
                  <a:lnTo>
                    <a:pt x="1785" y="770"/>
                  </a:lnTo>
                  <a:lnTo>
                    <a:pt x="1815" y="799"/>
                  </a:lnTo>
                  <a:lnTo>
                    <a:pt x="1846" y="828"/>
                  </a:lnTo>
                  <a:lnTo>
                    <a:pt x="1875" y="851"/>
                  </a:lnTo>
                  <a:lnTo>
                    <a:pt x="1906" y="875"/>
                  </a:lnTo>
                  <a:lnTo>
                    <a:pt x="1936" y="892"/>
                  </a:lnTo>
                  <a:lnTo>
                    <a:pt x="1966" y="904"/>
                  </a:lnTo>
                  <a:lnTo>
                    <a:pt x="1996" y="915"/>
                  </a:lnTo>
                  <a:lnTo>
                    <a:pt x="2026" y="927"/>
                  </a:lnTo>
                  <a:lnTo>
                    <a:pt x="2056" y="933"/>
                  </a:lnTo>
                  <a:lnTo>
                    <a:pt x="2096" y="939"/>
                  </a:lnTo>
                  <a:lnTo>
                    <a:pt x="2127" y="945"/>
                  </a:lnTo>
                  <a:lnTo>
                    <a:pt x="2156" y="951"/>
                  </a:lnTo>
                  <a:lnTo>
                    <a:pt x="2187" y="951"/>
                  </a:lnTo>
                  <a:lnTo>
                    <a:pt x="2216" y="951"/>
                  </a:lnTo>
                  <a:lnTo>
                    <a:pt x="2247" y="956"/>
                  </a:lnTo>
                  <a:lnTo>
                    <a:pt x="2277" y="956"/>
                  </a:lnTo>
                  <a:lnTo>
                    <a:pt x="2307" y="956"/>
                  </a:lnTo>
                  <a:lnTo>
                    <a:pt x="2337" y="956"/>
                  </a:lnTo>
                  <a:lnTo>
                    <a:pt x="2367" y="956"/>
                  </a:lnTo>
                  <a:lnTo>
                    <a:pt x="2397" y="956"/>
                  </a:lnTo>
                  <a:lnTo>
                    <a:pt x="2427" y="956"/>
                  </a:lnTo>
                  <a:lnTo>
                    <a:pt x="2457" y="956"/>
                  </a:ln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dirty="0">
                <a:solidFill>
                  <a:schemeClr val="lt1"/>
                </a:solidFill>
                <a:latin typeface="+mn-lt"/>
                <a:cs typeface="+mn-cs"/>
              </a:endParaRPr>
            </a:p>
          </p:txBody>
        </p:sp>
        <p:cxnSp>
          <p:nvCxnSpPr>
            <p:cNvPr id="10" name="Rechte verbindingslijn 9"/>
            <p:cNvCxnSpPr/>
            <p:nvPr/>
          </p:nvCxnSpPr>
          <p:spPr>
            <a:xfrm>
              <a:off x="5476472" y="5628758"/>
              <a:ext cx="175982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Rechte verbindingslijn 25"/>
            <p:cNvCxnSpPr/>
            <p:nvPr/>
          </p:nvCxnSpPr>
          <p:spPr>
            <a:xfrm>
              <a:off x="1251822" y="5628241"/>
              <a:ext cx="1759824" cy="0"/>
            </a:xfrm>
            <a:prstGeom prst="line">
              <a:avLst/>
            </a:prstGeom>
            <a:ln w="25400"/>
          </p:spPr>
          <p:style>
            <a:lnRef idx="1">
              <a:schemeClr val="accent1"/>
            </a:lnRef>
            <a:fillRef idx="0">
              <a:schemeClr val="accent1"/>
            </a:fillRef>
            <a:effectRef idx="0">
              <a:schemeClr val="accent1"/>
            </a:effectRef>
            <a:fontRef idx="minor">
              <a:schemeClr val="tx1"/>
            </a:fontRef>
          </p:style>
        </p:cxnSp>
      </p:grpSp>
      <p:cxnSp>
        <p:nvCxnSpPr>
          <p:cNvPr id="6" name="Rechte verbindingslijn 5"/>
          <p:cNvCxnSpPr/>
          <p:nvPr/>
        </p:nvCxnSpPr>
        <p:spPr>
          <a:xfrm>
            <a:off x="5523967" y="3036678"/>
            <a:ext cx="0" cy="3098430"/>
          </a:xfrm>
          <a:prstGeom prst="line">
            <a:avLst/>
          </a:prstGeom>
        </p:spPr>
        <p:style>
          <a:lnRef idx="1">
            <a:schemeClr val="accent1"/>
          </a:lnRef>
          <a:fillRef idx="0">
            <a:schemeClr val="accent1"/>
          </a:fillRef>
          <a:effectRef idx="0">
            <a:schemeClr val="accent1"/>
          </a:effectRef>
          <a:fontRef idx="minor">
            <a:schemeClr val="tx1"/>
          </a:fontRef>
        </p:style>
      </p:cxnSp>
      <p:sp>
        <p:nvSpPr>
          <p:cNvPr id="7" name="PIJL-LINKS 6"/>
          <p:cNvSpPr/>
          <p:nvPr/>
        </p:nvSpPr>
        <p:spPr>
          <a:xfrm>
            <a:off x="5118922" y="3492086"/>
            <a:ext cx="405045" cy="2880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0656837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lstStyle/>
          <a:p>
            <a:pPr eaLnBrk="1" hangingPunct="1"/>
            <a:r>
              <a:rPr lang="en-US" smtClean="0">
                <a:latin typeface="Arial" charset="0"/>
                <a:cs typeface="Arial" charset="0"/>
              </a:rPr>
              <a:t>Process Capability &amp; Performance</a:t>
            </a:r>
            <a:endParaRPr sz="2400" smtClean="0">
              <a:latin typeface="Arial" charset="0"/>
              <a:cs typeface="Arial" charset="0"/>
            </a:endParaRPr>
          </a:p>
        </p:txBody>
      </p:sp>
      <p:sp>
        <p:nvSpPr>
          <p:cNvPr id="12291" name="Tijdelijke aanduiding voor inhoud 3"/>
          <p:cNvSpPr>
            <a:spLocks noGrp="1"/>
          </p:cNvSpPr>
          <p:nvPr>
            <p:ph idx="1"/>
          </p:nvPr>
        </p:nvSpPr>
        <p:spPr/>
        <p:txBody>
          <a:bodyPr/>
          <a:lstStyle/>
          <a:p>
            <a:pPr eaLnBrk="1" hangingPunct="1">
              <a:lnSpc>
                <a:spcPct val="115000"/>
              </a:lnSpc>
              <a:spcBef>
                <a:spcPct val="0"/>
              </a:spcBef>
              <a:buClr>
                <a:srgbClr val="3333FF"/>
              </a:buClr>
              <a:buSzPct val="60000"/>
              <a:buFont typeface="Wingdings" pitchFamily="2" charset="2"/>
              <a:buNone/>
            </a:pPr>
            <a:r>
              <a:rPr lang="en-GB" dirty="0" smtClean="0">
                <a:latin typeface="Arial" charset="0"/>
                <a:cs typeface="Arial" charset="0"/>
              </a:rPr>
              <a:t>Capability vs. Performance</a:t>
            </a:r>
          </a:p>
          <a:p>
            <a:pPr lvl="1" eaLnBrk="1" hangingPunct="1">
              <a:lnSpc>
                <a:spcPct val="115000"/>
              </a:lnSpc>
              <a:spcBef>
                <a:spcPct val="0"/>
              </a:spcBef>
              <a:buClr>
                <a:srgbClr val="3333FF"/>
              </a:buClr>
              <a:buSzPct val="60000"/>
              <a:buFont typeface="Wingdings" pitchFamily="2" charset="2"/>
              <a:buChar char="l"/>
            </a:pPr>
            <a:endParaRPr lang="en-GB" dirty="0" smtClean="0">
              <a:latin typeface="Arial" charset="0"/>
              <a:cs typeface="Arial" charset="0"/>
            </a:endParaRPr>
          </a:p>
          <a:p>
            <a:pPr lvl="1" eaLnBrk="1" hangingPunct="1">
              <a:lnSpc>
                <a:spcPct val="115000"/>
              </a:lnSpc>
              <a:spcBef>
                <a:spcPct val="0"/>
              </a:spcBef>
              <a:buClrTx/>
              <a:buSzPct val="60000"/>
              <a:buFont typeface="Wingdings" pitchFamily="2" charset="2"/>
              <a:buChar char="l"/>
            </a:pPr>
            <a:r>
              <a:rPr lang="en-GB" dirty="0" smtClean="0">
                <a:latin typeface="Arial" charset="0"/>
                <a:cs typeface="Arial" charset="0"/>
              </a:rPr>
              <a:t>Process capability:	The potential capability of the process </a:t>
            </a:r>
          </a:p>
          <a:p>
            <a:pPr lvl="1" eaLnBrk="1" hangingPunct="1">
              <a:lnSpc>
                <a:spcPct val="115000"/>
              </a:lnSpc>
              <a:spcBef>
                <a:spcPct val="0"/>
              </a:spcBef>
              <a:buClrTx/>
              <a:buSzPct val="60000"/>
              <a:buFont typeface="Wingdings" pitchFamily="2" charset="2"/>
              <a:buNone/>
            </a:pPr>
            <a:r>
              <a:rPr lang="en-GB" dirty="0" smtClean="0">
                <a:latin typeface="Arial" charset="0"/>
                <a:cs typeface="Arial" charset="0"/>
              </a:rPr>
              <a:t>				(Cp and </a:t>
            </a:r>
            <a:r>
              <a:rPr lang="en-GB" dirty="0" err="1" smtClean="0">
                <a:latin typeface="Arial" charset="0"/>
                <a:cs typeface="Arial" charset="0"/>
              </a:rPr>
              <a:t>Cpk</a:t>
            </a:r>
            <a:r>
              <a:rPr lang="en-GB" dirty="0" smtClean="0">
                <a:latin typeface="Arial" charset="0"/>
                <a:cs typeface="Arial" charset="0"/>
              </a:rPr>
              <a:t>)</a:t>
            </a:r>
          </a:p>
          <a:p>
            <a:pPr lvl="1" eaLnBrk="1" hangingPunct="1">
              <a:lnSpc>
                <a:spcPct val="115000"/>
              </a:lnSpc>
              <a:spcBef>
                <a:spcPct val="0"/>
              </a:spcBef>
              <a:buClrTx/>
              <a:buSzPct val="60000"/>
              <a:buFont typeface="Wingdings" pitchFamily="2" charset="2"/>
              <a:buChar char="l"/>
            </a:pPr>
            <a:endParaRPr lang="en-GB" dirty="0" smtClean="0">
              <a:latin typeface="Arial" charset="0"/>
              <a:cs typeface="Arial" charset="0"/>
            </a:endParaRPr>
          </a:p>
          <a:p>
            <a:pPr lvl="1" eaLnBrk="1" hangingPunct="1">
              <a:lnSpc>
                <a:spcPct val="115000"/>
              </a:lnSpc>
              <a:spcBef>
                <a:spcPct val="0"/>
              </a:spcBef>
              <a:buClrTx/>
              <a:buSzPct val="60000"/>
              <a:buFont typeface="Wingdings" pitchFamily="2" charset="2"/>
              <a:buChar char="l"/>
            </a:pPr>
            <a:r>
              <a:rPr lang="en-GB" dirty="0" smtClean="0">
                <a:latin typeface="Arial" charset="0"/>
                <a:cs typeface="Arial" charset="0"/>
              </a:rPr>
              <a:t>Process performance:	The processes overall performance </a:t>
            </a:r>
          </a:p>
          <a:p>
            <a:pPr lvl="1" eaLnBrk="1" hangingPunct="1">
              <a:lnSpc>
                <a:spcPct val="115000"/>
              </a:lnSpc>
              <a:spcBef>
                <a:spcPct val="0"/>
              </a:spcBef>
              <a:buClrTx/>
              <a:buSzPct val="60000"/>
              <a:buFont typeface="Wingdings" pitchFamily="2" charset="2"/>
              <a:buNone/>
            </a:pPr>
            <a:r>
              <a:rPr lang="en-GB" dirty="0" smtClean="0">
                <a:latin typeface="Arial" charset="0"/>
                <a:cs typeface="Arial" charset="0"/>
              </a:rPr>
              <a:t>				(Pp and </a:t>
            </a:r>
            <a:r>
              <a:rPr lang="en-GB" dirty="0" err="1" smtClean="0">
                <a:latin typeface="Arial" charset="0"/>
                <a:cs typeface="Arial" charset="0"/>
              </a:rPr>
              <a:t>Ppk</a:t>
            </a:r>
            <a:r>
              <a:rPr lang="en-GB" dirty="0" smtClean="0">
                <a:latin typeface="Arial" charset="0"/>
                <a:cs typeface="Arial" charset="0"/>
              </a:rPr>
              <a:t>)</a:t>
            </a:r>
          </a:p>
          <a:p>
            <a:pPr lvl="1" eaLnBrk="1" hangingPunct="1">
              <a:lnSpc>
                <a:spcPct val="115000"/>
              </a:lnSpc>
              <a:spcBef>
                <a:spcPct val="0"/>
              </a:spcBef>
              <a:buClrTx/>
              <a:buSzPct val="60000"/>
              <a:buFont typeface="Wingdings" pitchFamily="2" charset="2"/>
              <a:buChar char="l"/>
            </a:pPr>
            <a:endParaRPr lang="en-GB" b="0" dirty="0" smtClean="0">
              <a:latin typeface="Arial" charset="0"/>
              <a:cs typeface="Arial" charset="0"/>
            </a:endParaRPr>
          </a:p>
          <a:p>
            <a:pPr lvl="1" eaLnBrk="1" hangingPunct="1">
              <a:lnSpc>
                <a:spcPct val="115000"/>
              </a:lnSpc>
              <a:spcBef>
                <a:spcPct val="0"/>
              </a:spcBef>
              <a:buClrTx/>
              <a:buSzPct val="60000"/>
              <a:buFont typeface="Wingdings" pitchFamily="2" charset="2"/>
              <a:buChar char="l"/>
            </a:pPr>
            <a:r>
              <a:rPr lang="en-GB" dirty="0" smtClean="0">
                <a:latin typeface="Arial" charset="0"/>
                <a:cs typeface="Arial" charset="0"/>
              </a:rPr>
              <a:t>What the process can do (Cp) and what the process does (</a:t>
            </a:r>
            <a:r>
              <a:rPr lang="en-GB" dirty="0" err="1" smtClean="0">
                <a:latin typeface="Arial" charset="0"/>
                <a:cs typeface="Arial" charset="0"/>
              </a:rPr>
              <a:t>Ppk</a:t>
            </a:r>
            <a:r>
              <a:rPr lang="en-GB" dirty="0" smtClean="0">
                <a:latin typeface="Arial" charset="0"/>
                <a:cs typeface="Arial" charset="0"/>
              </a:rPr>
              <a:t>)</a:t>
            </a:r>
          </a:p>
          <a:p>
            <a:pPr lvl="1" eaLnBrk="1" hangingPunct="1">
              <a:lnSpc>
                <a:spcPct val="115000"/>
              </a:lnSpc>
              <a:spcBef>
                <a:spcPct val="0"/>
              </a:spcBef>
              <a:buClrTx/>
              <a:buSzPct val="60000"/>
              <a:buFont typeface="Wingdings" pitchFamily="2" charset="2"/>
              <a:buChar char="l"/>
            </a:pPr>
            <a:endParaRPr lang="en-GB" dirty="0" smtClean="0">
              <a:latin typeface="Arial" charset="0"/>
              <a:cs typeface="Arial" charset="0"/>
            </a:endParaRPr>
          </a:p>
          <a:p>
            <a:pPr lvl="1" eaLnBrk="1" hangingPunct="1">
              <a:lnSpc>
                <a:spcPct val="115000"/>
              </a:lnSpc>
              <a:spcBef>
                <a:spcPct val="0"/>
              </a:spcBef>
              <a:buClr>
                <a:srgbClr val="3333FF"/>
              </a:buClr>
              <a:buSzPct val="60000"/>
              <a:buFont typeface="Wingdings" pitchFamily="2" charset="2"/>
              <a:buChar char="l"/>
            </a:pPr>
            <a:endParaRPr lang="en-GB" dirty="0">
              <a:latin typeface="Arial" charset="0"/>
              <a:cs typeface="Arial" charset="0"/>
            </a:endParaRPr>
          </a:p>
        </p:txBody>
      </p:sp>
    </p:spTree>
    <p:extLst>
      <p:ext uri="{BB962C8B-B14F-4D97-AF65-F5344CB8AC3E}">
        <p14:creationId xmlns:p14="http://schemas.microsoft.com/office/powerpoint/2010/main" val="4034238339"/>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6" name="Rectangle 19"/>
          <p:cNvSpPr>
            <a:spLocks noGrp="1" noChangeArrowheads="1"/>
          </p:cNvSpPr>
          <p:nvPr>
            <p:ph type="title"/>
          </p:nvPr>
        </p:nvSpPr>
        <p:spPr/>
        <p:txBody>
          <a:bodyPr/>
          <a:lstStyle/>
          <a:p>
            <a:pPr eaLnBrk="1" hangingPunct="1"/>
            <a:r>
              <a:rPr lang="en-GB" noProof="0" dirty="0" smtClean="0"/>
              <a:t>Process Capability &amp; Performance</a:t>
            </a:r>
            <a:endParaRPr lang="en-GB" sz="2400" noProof="0" dirty="0" smtClean="0"/>
          </a:p>
        </p:txBody>
      </p:sp>
      <p:sp>
        <p:nvSpPr>
          <p:cNvPr id="5137" name="Rectangle 20"/>
          <p:cNvSpPr>
            <a:spLocks noGrp="1" noChangeArrowheads="1"/>
          </p:cNvSpPr>
          <p:nvPr>
            <p:ph idx="1"/>
          </p:nvPr>
        </p:nvSpPr>
        <p:spPr/>
        <p:txBody>
          <a:bodyPr/>
          <a:lstStyle/>
          <a:p>
            <a:pPr marL="0" indent="0" eaLnBrk="1" hangingPunct="1"/>
            <a:r>
              <a:rPr lang="en-GB" noProof="0" dirty="0" smtClean="0"/>
              <a:t>Short term vs. long term capability</a:t>
            </a:r>
          </a:p>
        </p:txBody>
      </p:sp>
      <p:grpSp>
        <p:nvGrpSpPr>
          <p:cNvPr id="2" name="Groep 1"/>
          <p:cNvGrpSpPr/>
          <p:nvPr/>
        </p:nvGrpSpPr>
        <p:grpSpPr>
          <a:xfrm>
            <a:off x="826889" y="2309962"/>
            <a:ext cx="8627864" cy="4143375"/>
            <a:chOff x="735013" y="1990725"/>
            <a:chExt cx="7669212" cy="4143375"/>
          </a:xfrm>
        </p:grpSpPr>
        <p:sp>
          <p:nvSpPr>
            <p:cNvPr id="5122" name="Line 2"/>
            <p:cNvSpPr>
              <a:spLocks noChangeShapeType="1"/>
            </p:cNvSpPr>
            <p:nvPr/>
          </p:nvSpPr>
          <p:spPr bwMode="auto">
            <a:xfrm flipV="1">
              <a:off x="2813050" y="2316163"/>
              <a:ext cx="0" cy="3817937"/>
            </a:xfrm>
            <a:prstGeom prst="line">
              <a:avLst/>
            </a:prstGeom>
            <a:noFill/>
            <a:ln w="19050">
              <a:solidFill>
                <a:schemeClr val="tx1"/>
              </a:solidFill>
              <a:round/>
              <a:headEnd/>
              <a:tailEnd/>
            </a:ln>
          </p:spPr>
          <p:txBody>
            <a:bodyPr wrap="none" anchor="ctr"/>
            <a:lstStyle/>
            <a:p>
              <a:endParaRPr lang="nl-NL" dirty="0"/>
            </a:p>
          </p:txBody>
        </p:sp>
        <p:sp>
          <p:nvSpPr>
            <p:cNvPr id="5123" name="Line 3"/>
            <p:cNvSpPr>
              <a:spLocks noChangeShapeType="1"/>
            </p:cNvSpPr>
            <p:nvPr/>
          </p:nvSpPr>
          <p:spPr bwMode="auto">
            <a:xfrm flipV="1">
              <a:off x="6316663" y="2316163"/>
              <a:ext cx="0" cy="3817937"/>
            </a:xfrm>
            <a:prstGeom prst="line">
              <a:avLst/>
            </a:prstGeom>
            <a:noFill/>
            <a:ln w="19050">
              <a:solidFill>
                <a:schemeClr val="tx1"/>
              </a:solidFill>
              <a:round/>
              <a:headEnd/>
              <a:tailEnd/>
            </a:ln>
          </p:spPr>
          <p:txBody>
            <a:bodyPr wrap="none" anchor="ctr"/>
            <a:lstStyle/>
            <a:p>
              <a:endParaRPr lang="nl-NL" dirty="0"/>
            </a:p>
          </p:txBody>
        </p:sp>
        <p:sp>
          <p:nvSpPr>
            <p:cNvPr id="5124" name="Freeform 4"/>
            <p:cNvSpPr>
              <a:spLocks/>
            </p:cNvSpPr>
            <p:nvPr/>
          </p:nvSpPr>
          <p:spPr bwMode="auto">
            <a:xfrm>
              <a:off x="4395788" y="1990725"/>
              <a:ext cx="2247900" cy="1143000"/>
            </a:xfrm>
            <a:custGeom>
              <a:avLst/>
              <a:gdLst>
                <a:gd name="T0" fmla="*/ 2147483647 w 2521"/>
                <a:gd name="T1" fmla="*/ 2147483647 h 829"/>
                <a:gd name="T2" fmla="*/ 2147483647 w 2521"/>
                <a:gd name="T3" fmla="*/ 2147483647 h 829"/>
                <a:gd name="T4" fmla="*/ 2147483647 w 2521"/>
                <a:gd name="T5" fmla="*/ 2147483647 h 829"/>
                <a:gd name="T6" fmla="*/ 2147483647 w 2521"/>
                <a:gd name="T7" fmla="*/ 2147483647 h 829"/>
                <a:gd name="T8" fmla="*/ 2147483647 w 2521"/>
                <a:gd name="T9" fmla="*/ 2147483647 h 829"/>
                <a:gd name="T10" fmla="*/ 2147483647 w 2521"/>
                <a:gd name="T11" fmla="*/ 2147483647 h 829"/>
                <a:gd name="T12" fmla="*/ 2147483647 w 2521"/>
                <a:gd name="T13" fmla="*/ 2147483647 h 829"/>
                <a:gd name="T14" fmla="*/ 2147483647 w 2521"/>
                <a:gd name="T15" fmla="*/ 2147483647 h 829"/>
                <a:gd name="T16" fmla="*/ 2147483647 w 2521"/>
                <a:gd name="T17" fmla="*/ 2147483647 h 829"/>
                <a:gd name="T18" fmla="*/ 2147483647 w 2521"/>
                <a:gd name="T19" fmla="*/ 2147483647 h 829"/>
                <a:gd name="T20" fmla="*/ 2147483647 w 2521"/>
                <a:gd name="T21" fmla="*/ 2147483647 h 829"/>
                <a:gd name="T22" fmla="*/ 2147483647 w 2521"/>
                <a:gd name="T23" fmla="*/ 2147483647 h 829"/>
                <a:gd name="T24" fmla="*/ 2147483647 w 2521"/>
                <a:gd name="T25" fmla="*/ 2147483647 h 829"/>
                <a:gd name="T26" fmla="*/ 2147483647 w 2521"/>
                <a:gd name="T27" fmla="*/ 2147483647 h 829"/>
                <a:gd name="T28" fmla="*/ 2147483647 w 2521"/>
                <a:gd name="T29" fmla="*/ 2147483647 h 829"/>
                <a:gd name="T30" fmla="*/ 2147483647 w 2521"/>
                <a:gd name="T31" fmla="*/ 2147483647 h 829"/>
                <a:gd name="T32" fmla="*/ 2147483647 w 2521"/>
                <a:gd name="T33" fmla="*/ 2147483647 h 829"/>
                <a:gd name="T34" fmla="*/ 2147483647 w 2521"/>
                <a:gd name="T35" fmla="*/ 2147483647 h 829"/>
                <a:gd name="T36" fmla="*/ 2147483647 w 2521"/>
                <a:gd name="T37" fmla="*/ 2147483647 h 829"/>
                <a:gd name="T38" fmla="*/ 2147483647 w 2521"/>
                <a:gd name="T39" fmla="*/ 2147483647 h 829"/>
                <a:gd name="T40" fmla="*/ 2147483647 w 2521"/>
                <a:gd name="T41" fmla="*/ 2147483647 h 829"/>
                <a:gd name="T42" fmla="*/ 2147483647 w 2521"/>
                <a:gd name="T43" fmla="*/ 2147483647 h 829"/>
                <a:gd name="T44" fmla="*/ 2147483647 w 2521"/>
                <a:gd name="T45" fmla="*/ 2147483647 h 829"/>
                <a:gd name="T46" fmla="*/ 2147483647 w 2521"/>
                <a:gd name="T47" fmla="*/ 2147483647 h 829"/>
                <a:gd name="T48" fmla="*/ 2147483647 w 2521"/>
                <a:gd name="T49" fmla="*/ 2147483647 h 829"/>
                <a:gd name="T50" fmla="*/ 2147483647 w 2521"/>
                <a:gd name="T51" fmla="*/ 2147483647 h 829"/>
                <a:gd name="T52" fmla="*/ 2147483647 w 2521"/>
                <a:gd name="T53" fmla="*/ 2147483647 h 829"/>
                <a:gd name="T54" fmla="*/ 2147483647 w 2521"/>
                <a:gd name="T55" fmla="*/ 2147483647 h 829"/>
                <a:gd name="T56" fmla="*/ 2147483647 w 2521"/>
                <a:gd name="T57" fmla="*/ 2147483647 h 829"/>
                <a:gd name="T58" fmla="*/ 2147483647 w 2521"/>
                <a:gd name="T59" fmla="*/ 2147483647 h 829"/>
                <a:gd name="T60" fmla="*/ 2147483647 w 2521"/>
                <a:gd name="T61" fmla="*/ 2147483647 h 829"/>
                <a:gd name="T62" fmla="*/ 2147483647 w 2521"/>
                <a:gd name="T63" fmla="*/ 2147483647 h 829"/>
                <a:gd name="T64" fmla="*/ 2147483647 w 2521"/>
                <a:gd name="T65" fmla="*/ 2147483647 h 829"/>
                <a:gd name="T66" fmla="*/ 2147483647 w 2521"/>
                <a:gd name="T67" fmla="*/ 2147483647 h 829"/>
                <a:gd name="T68" fmla="*/ 2147483647 w 2521"/>
                <a:gd name="T69" fmla="*/ 2147483647 h 829"/>
                <a:gd name="T70" fmla="*/ 2147483647 w 2521"/>
                <a:gd name="T71" fmla="*/ 2147483647 h 829"/>
                <a:gd name="T72" fmla="*/ 2147483647 w 2521"/>
                <a:gd name="T73" fmla="*/ 2147483647 h 829"/>
                <a:gd name="T74" fmla="*/ 2147483647 w 2521"/>
                <a:gd name="T75" fmla="*/ 2147483647 h 829"/>
                <a:gd name="T76" fmla="*/ 2147483647 w 2521"/>
                <a:gd name="T77" fmla="*/ 2147483647 h 829"/>
                <a:gd name="T78" fmla="*/ 2147483647 w 2521"/>
                <a:gd name="T79" fmla="*/ 2147483647 h 82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521"/>
                <a:gd name="T121" fmla="*/ 0 h 829"/>
                <a:gd name="T122" fmla="*/ 2521 w 2521"/>
                <a:gd name="T123" fmla="*/ 829 h 82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521" h="829">
                  <a:moveTo>
                    <a:pt x="0" y="828"/>
                  </a:moveTo>
                  <a:lnTo>
                    <a:pt x="30" y="828"/>
                  </a:lnTo>
                  <a:lnTo>
                    <a:pt x="62" y="828"/>
                  </a:lnTo>
                  <a:lnTo>
                    <a:pt x="93" y="828"/>
                  </a:lnTo>
                  <a:lnTo>
                    <a:pt x="123" y="828"/>
                  </a:lnTo>
                  <a:lnTo>
                    <a:pt x="155" y="828"/>
                  </a:lnTo>
                  <a:lnTo>
                    <a:pt x="185" y="828"/>
                  </a:lnTo>
                  <a:lnTo>
                    <a:pt x="216" y="828"/>
                  </a:lnTo>
                  <a:lnTo>
                    <a:pt x="247" y="823"/>
                  </a:lnTo>
                  <a:lnTo>
                    <a:pt x="278" y="823"/>
                  </a:lnTo>
                  <a:lnTo>
                    <a:pt x="308" y="823"/>
                  </a:lnTo>
                  <a:lnTo>
                    <a:pt x="340" y="818"/>
                  </a:lnTo>
                  <a:lnTo>
                    <a:pt x="370" y="813"/>
                  </a:lnTo>
                  <a:lnTo>
                    <a:pt x="412" y="808"/>
                  </a:lnTo>
                  <a:lnTo>
                    <a:pt x="442" y="803"/>
                  </a:lnTo>
                  <a:lnTo>
                    <a:pt x="473" y="793"/>
                  </a:lnTo>
                  <a:lnTo>
                    <a:pt x="504" y="783"/>
                  </a:lnTo>
                  <a:lnTo>
                    <a:pt x="535" y="773"/>
                  </a:lnTo>
                  <a:lnTo>
                    <a:pt x="565" y="757"/>
                  </a:lnTo>
                  <a:lnTo>
                    <a:pt x="597" y="737"/>
                  </a:lnTo>
                  <a:lnTo>
                    <a:pt x="627" y="717"/>
                  </a:lnTo>
                  <a:lnTo>
                    <a:pt x="658" y="692"/>
                  </a:lnTo>
                  <a:lnTo>
                    <a:pt x="689" y="667"/>
                  </a:lnTo>
                  <a:lnTo>
                    <a:pt x="720" y="636"/>
                  </a:lnTo>
                  <a:lnTo>
                    <a:pt x="750" y="601"/>
                  </a:lnTo>
                  <a:lnTo>
                    <a:pt x="782" y="561"/>
                  </a:lnTo>
                  <a:lnTo>
                    <a:pt x="813" y="520"/>
                  </a:lnTo>
                  <a:lnTo>
                    <a:pt x="854" y="475"/>
                  </a:lnTo>
                  <a:lnTo>
                    <a:pt x="884" y="429"/>
                  </a:lnTo>
                  <a:lnTo>
                    <a:pt x="916" y="379"/>
                  </a:lnTo>
                  <a:lnTo>
                    <a:pt x="946" y="328"/>
                  </a:lnTo>
                  <a:lnTo>
                    <a:pt x="977" y="278"/>
                  </a:lnTo>
                  <a:lnTo>
                    <a:pt x="1009" y="227"/>
                  </a:lnTo>
                  <a:lnTo>
                    <a:pt x="1039" y="182"/>
                  </a:lnTo>
                  <a:lnTo>
                    <a:pt x="1070" y="137"/>
                  </a:lnTo>
                  <a:lnTo>
                    <a:pt x="1101" y="101"/>
                  </a:lnTo>
                  <a:lnTo>
                    <a:pt x="1132" y="66"/>
                  </a:lnTo>
                  <a:lnTo>
                    <a:pt x="1162" y="35"/>
                  </a:lnTo>
                  <a:lnTo>
                    <a:pt x="1194" y="20"/>
                  </a:lnTo>
                  <a:lnTo>
                    <a:pt x="1224" y="5"/>
                  </a:lnTo>
                  <a:lnTo>
                    <a:pt x="1266" y="0"/>
                  </a:lnTo>
                  <a:lnTo>
                    <a:pt x="1296" y="5"/>
                  </a:lnTo>
                  <a:lnTo>
                    <a:pt x="1327" y="20"/>
                  </a:lnTo>
                  <a:lnTo>
                    <a:pt x="1358" y="35"/>
                  </a:lnTo>
                  <a:lnTo>
                    <a:pt x="1389" y="66"/>
                  </a:lnTo>
                  <a:lnTo>
                    <a:pt x="1419" y="101"/>
                  </a:lnTo>
                  <a:lnTo>
                    <a:pt x="1451" y="137"/>
                  </a:lnTo>
                  <a:lnTo>
                    <a:pt x="1481" y="182"/>
                  </a:lnTo>
                  <a:lnTo>
                    <a:pt x="1512" y="227"/>
                  </a:lnTo>
                  <a:lnTo>
                    <a:pt x="1543" y="278"/>
                  </a:lnTo>
                  <a:lnTo>
                    <a:pt x="1574" y="328"/>
                  </a:lnTo>
                  <a:lnTo>
                    <a:pt x="1604" y="379"/>
                  </a:lnTo>
                  <a:lnTo>
                    <a:pt x="1636" y="429"/>
                  </a:lnTo>
                  <a:lnTo>
                    <a:pt x="1666" y="475"/>
                  </a:lnTo>
                  <a:lnTo>
                    <a:pt x="1708" y="520"/>
                  </a:lnTo>
                  <a:lnTo>
                    <a:pt x="1738" y="561"/>
                  </a:lnTo>
                  <a:lnTo>
                    <a:pt x="1770" y="601"/>
                  </a:lnTo>
                  <a:lnTo>
                    <a:pt x="1800" y="636"/>
                  </a:lnTo>
                  <a:lnTo>
                    <a:pt x="1831" y="667"/>
                  </a:lnTo>
                  <a:lnTo>
                    <a:pt x="1862" y="692"/>
                  </a:lnTo>
                  <a:lnTo>
                    <a:pt x="1893" y="717"/>
                  </a:lnTo>
                  <a:lnTo>
                    <a:pt x="1923" y="737"/>
                  </a:lnTo>
                  <a:lnTo>
                    <a:pt x="1955" y="757"/>
                  </a:lnTo>
                  <a:lnTo>
                    <a:pt x="1986" y="773"/>
                  </a:lnTo>
                  <a:lnTo>
                    <a:pt x="2016" y="783"/>
                  </a:lnTo>
                  <a:lnTo>
                    <a:pt x="2048" y="793"/>
                  </a:lnTo>
                  <a:lnTo>
                    <a:pt x="2078" y="803"/>
                  </a:lnTo>
                  <a:lnTo>
                    <a:pt x="2109" y="808"/>
                  </a:lnTo>
                  <a:lnTo>
                    <a:pt x="2150" y="813"/>
                  </a:lnTo>
                  <a:lnTo>
                    <a:pt x="2181" y="818"/>
                  </a:lnTo>
                  <a:lnTo>
                    <a:pt x="2212" y="823"/>
                  </a:lnTo>
                  <a:lnTo>
                    <a:pt x="2243" y="823"/>
                  </a:lnTo>
                  <a:lnTo>
                    <a:pt x="2273" y="823"/>
                  </a:lnTo>
                  <a:lnTo>
                    <a:pt x="2305" y="828"/>
                  </a:lnTo>
                  <a:lnTo>
                    <a:pt x="2335" y="828"/>
                  </a:lnTo>
                  <a:lnTo>
                    <a:pt x="2366" y="828"/>
                  </a:lnTo>
                  <a:lnTo>
                    <a:pt x="2397" y="828"/>
                  </a:lnTo>
                  <a:lnTo>
                    <a:pt x="2428" y="828"/>
                  </a:lnTo>
                  <a:lnTo>
                    <a:pt x="2458" y="828"/>
                  </a:lnTo>
                  <a:lnTo>
                    <a:pt x="2490" y="828"/>
                  </a:lnTo>
                  <a:lnTo>
                    <a:pt x="2520" y="828"/>
                  </a:lnTo>
                </a:path>
              </a:pathLst>
            </a:custGeom>
            <a:noFill/>
            <a:ln w="19050" cap="rnd" cmpd="sng">
              <a:solidFill>
                <a:srgbClr val="A00000"/>
              </a:solidFill>
              <a:prstDash val="solid"/>
              <a:round/>
              <a:headEnd type="none" w="med" len="med"/>
              <a:tailEnd type="none" w="med" len="med"/>
            </a:ln>
          </p:spPr>
          <p:txBody>
            <a:bodyPr/>
            <a:lstStyle/>
            <a:p>
              <a:endParaRPr lang="nl-NL" dirty="0"/>
            </a:p>
          </p:txBody>
        </p:sp>
        <p:sp>
          <p:nvSpPr>
            <p:cNvPr id="5125" name="Line 5"/>
            <p:cNvSpPr>
              <a:spLocks noChangeShapeType="1"/>
            </p:cNvSpPr>
            <p:nvPr/>
          </p:nvSpPr>
          <p:spPr bwMode="auto">
            <a:xfrm>
              <a:off x="4295775" y="3182938"/>
              <a:ext cx="2425700" cy="0"/>
            </a:xfrm>
            <a:prstGeom prst="line">
              <a:avLst/>
            </a:prstGeom>
            <a:noFill/>
            <a:ln w="19050">
              <a:solidFill>
                <a:schemeClr val="tx1"/>
              </a:solidFill>
              <a:round/>
              <a:headEnd/>
              <a:tailEnd/>
            </a:ln>
          </p:spPr>
          <p:txBody>
            <a:bodyPr wrap="none" anchor="ctr"/>
            <a:lstStyle/>
            <a:p>
              <a:endParaRPr lang="nl-NL" dirty="0"/>
            </a:p>
          </p:txBody>
        </p:sp>
        <p:sp>
          <p:nvSpPr>
            <p:cNvPr id="5126" name="Line 6"/>
            <p:cNvSpPr>
              <a:spLocks noChangeShapeType="1"/>
            </p:cNvSpPr>
            <p:nvPr/>
          </p:nvSpPr>
          <p:spPr bwMode="auto">
            <a:xfrm flipV="1">
              <a:off x="4525963" y="2278063"/>
              <a:ext cx="0" cy="3795712"/>
            </a:xfrm>
            <a:prstGeom prst="line">
              <a:avLst/>
            </a:prstGeom>
            <a:noFill/>
            <a:ln w="25400">
              <a:solidFill>
                <a:schemeClr val="tx1"/>
              </a:solidFill>
              <a:prstDash val="dash"/>
              <a:round/>
              <a:headEnd/>
              <a:tailEnd/>
            </a:ln>
          </p:spPr>
          <p:txBody>
            <a:bodyPr wrap="none" anchor="ctr"/>
            <a:lstStyle/>
            <a:p>
              <a:endParaRPr lang="nl-NL" dirty="0"/>
            </a:p>
          </p:txBody>
        </p:sp>
        <p:sp>
          <p:nvSpPr>
            <p:cNvPr id="5127" name="Freeform 7"/>
            <p:cNvSpPr>
              <a:spLocks/>
            </p:cNvSpPr>
            <p:nvPr/>
          </p:nvSpPr>
          <p:spPr bwMode="auto">
            <a:xfrm>
              <a:off x="2778125" y="2387600"/>
              <a:ext cx="2249488" cy="1143000"/>
            </a:xfrm>
            <a:custGeom>
              <a:avLst/>
              <a:gdLst>
                <a:gd name="T0" fmla="*/ 2147483647 w 2521"/>
                <a:gd name="T1" fmla="*/ 2147483647 h 829"/>
                <a:gd name="T2" fmla="*/ 2147483647 w 2521"/>
                <a:gd name="T3" fmla="*/ 2147483647 h 829"/>
                <a:gd name="T4" fmla="*/ 2147483647 w 2521"/>
                <a:gd name="T5" fmla="*/ 2147483647 h 829"/>
                <a:gd name="T6" fmla="*/ 2147483647 w 2521"/>
                <a:gd name="T7" fmla="*/ 2147483647 h 829"/>
                <a:gd name="T8" fmla="*/ 2147483647 w 2521"/>
                <a:gd name="T9" fmla="*/ 2147483647 h 829"/>
                <a:gd name="T10" fmla="*/ 2147483647 w 2521"/>
                <a:gd name="T11" fmla="*/ 2147483647 h 829"/>
                <a:gd name="T12" fmla="*/ 2147483647 w 2521"/>
                <a:gd name="T13" fmla="*/ 2147483647 h 829"/>
                <a:gd name="T14" fmla="*/ 2147483647 w 2521"/>
                <a:gd name="T15" fmla="*/ 2147483647 h 829"/>
                <a:gd name="T16" fmla="*/ 2147483647 w 2521"/>
                <a:gd name="T17" fmla="*/ 2147483647 h 829"/>
                <a:gd name="T18" fmla="*/ 2147483647 w 2521"/>
                <a:gd name="T19" fmla="*/ 2147483647 h 829"/>
                <a:gd name="T20" fmla="*/ 2147483647 w 2521"/>
                <a:gd name="T21" fmla="*/ 2147483647 h 829"/>
                <a:gd name="T22" fmla="*/ 2147483647 w 2521"/>
                <a:gd name="T23" fmla="*/ 2147483647 h 829"/>
                <a:gd name="T24" fmla="*/ 2147483647 w 2521"/>
                <a:gd name="T25" fmla="*/ 2147483647 h 829"/>
                <a:gd name="T26" fmla="*/ 2147483647 w 2521"/>
                <a:gd name="T27" fmla="*/ 2147483647 h 829"/>
                <a:gd name="T28" fmla="*/ 2147483647 w 2521"/>
                <a:gd name="T29" fmla="*/ 2147483647 h 829"/>
                <a:gd name="T30" fmla="*/ 2147483647 w 2521"/>
                <a:gd name="T31" fmla="*/ 2147483647 h 829"/>
                <a:gd name="T32" fmla="*/ 2147483647 w 2521"/>
                <a:gd name="T33" fmla="*/ 2147483647 h 829"/>
                <a:gd name="T34" fmla="*/ 2147483647 w 2521"/>
                <a:gd name="T35" fmla="*/ 2147483647 h 829"/>
                <a:gd name="T36" fmla="*/ 2147483647 w 2521"/>
                <a:gd name="T37" fmla="*/ 2147483647 h 829"/>
                <a:gd name="T38" fmla="*/ 2147483647 w 2521"/>
                <a:gd name="T39" fmla="*/ 2147483647 h 829"/>
                <a:gd name="T40" fmla="*/ 2147483647 w 2521"/>
                <a:gd name="T41" fmla="*/ 2147483647 h 829"/>
                <a:gd name="T42" fmla="*/ 2147483647 w 2521"/>
                <a:gd name="T43" fmla="*/ 2147483647 h 829"/>
                <a:gd name="T44" fmla="*/ 2147483647 w 2521"/>
                <a:gd name="T45" fmla="*/ 2147483647 h 829"/>
                <a:gd name="T46" fmla="*/ 2147483647 w 2521"/>
                <a:gd name="T47" fmla="*/ 2147483647 h 829"/>
                <a:gd name="T48" fmla="*/ 2147483647 w 2521"/>
                <a:gd name="T49" fmla="*/ 2147483647 h 829"/>
                <a:gd name="T50" fmla="*/ 2147483647 w 2521"/>
                <a:gd name="T51" fmla="*/ 2147483647 h 829"/>
                <a:gd name="T52" fmla="*/ 2147483647 w 2521"/>
                <a:gd name="T53" fmla="*/ 2147483647 h 829"/>
                <a:gd name="T54" fmla="*/ 2147483647 w 2521"/>
                <a:gd name="T55" fmla="*/ 2147483647 h 829"/>
                <a:gd name="T56" fmla="*/ 2147483647 w 2521"/>
                <a:gd name="T57" fmla="*/ 2147483647 h 829"/>
                <a:gd name="T58" fmla="*/ 2147483647 w 2521"/>
                <a:gd name="T59" fmla="*/ 2147483647 h 829"/>
                <a:gd name="T60" fmla="*/ 2147483647 w 2521"/>
                <a:gd name="T61" fmla="*/ 2147483647 h 829"/>
                <a:gd name="T62" fmla="*/ 2147483647 w 2521"/>
                <a:gd name="T63" fmla="*/ 2147483647 h 829"/>
                <a:gd name="T64" fmla="*/ 2147483647 w 2521"/>
                <a:gd name="T65" fmla="*/ 2147483647 h 829"/>
                <a:gd name="T66" fmla="*/ 2147483647 w 2521"/>
                <a:gd name="T67" fmla="*/ 2147483647 h 829"/>
                <a:gd name="T68" fmla="*/ 2147483647 w 2521"/>
                <a:gd name="T69" fmla="*/ 2147483647 h 829"/>
                <a:gd name="T70" fmla="*/ 2147483647 w 2521"/>
                <a:gd name="T71" fmla="*/ 2147483647 h 829"/>
                <a:gd name="T72" fmla="*/ 2147483647 w 2521"/>
                <a:gd name="T73" fmla="*/ 2147483647 h 829"/>
                <a:gd name="T74" fmla="*/ 2147483647 w 2521"/>
                <a:gd name="T75" fmla="*/ 2147483647 h 829"/>
                <a:gd name="T76" fmla="*/ 2147483647 w 2521"/>
                <a:gd name="T77" fmla="*/ 2147483647 h 829"/>
                <a:gd name="T78" fmla="*/ 2147483647 w 2521"/>
                <a:gd name="T79" fmla="*/ 2147483647 h 82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521"/>
                <a:gd name="T121" fmla="*/ 0 h 829"/>
                <a:gd name="T122" fmla="*/ 2521 w 2521"/>
                <a:gd name="T123" fmla="*/ 829 h 82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521" h="829">
                  <a:moveTo>
                    <a:pt x="0" y="828"/>
                  </a:moveTo>
                  <a:lnTo>
                    <a:pt x="30" y="828"/>
                  </a:lnTo>
                  <a:lnTo>
                    <a:pt x="62" y="828"/>
                  </a:lnTo>
                  <a:lnTo>
                    <a:pt x="93" y="828"/>
                  </a:lnTo>
                  <a:lnTo>
                    <a:pt x="123" y="828"/>
                  </a:lnTo>
                  <a:lnTo>
                    <a:pt x="155" y="828"/>
                  </a:lnTo>
                  <a:lnTo>
                    <a:pt x="185" y="828"/>
                  </a:lnTo>
                  <a:lnTo>
                    <a:pt x="216" y="828"/>
                  </a:lnTo>
                  <a:lnTo>
                    <a:pt x="247" y="823"/>
                  </a:lnTo>
                  <a:lnTo>
                    <a:pt x="278" y="823"/>
                  </a:lnTo>
                  <a:lnTo>
                    <a:pt x="308" y="823"/>
                  </a:lnTo>
                  <a:lnTo>
                    <a:pt x="340" y="818"/>
                  </a:lnTo>
                  <a:lnTo>
                    <a:pt x="370" y="813"/>
                  </a:lnTo>
                  <a:lnTo>
                    <a:pt x="412" y="808"/>
                  </a:lnTo>
                  <a:lnTo>
                    <a:pt x="442" y="803"/>
                  </a:lnTo>
                  <a:lnTo>
                    <a:pt x="473" y="793"/>
                  </a:lnTo>
                  <a:lnTo>
                    <a:pt x="504" y="783"/>
                  </a:lnTo>
                  <a:lnTo>
                    <a:pt x="535" y="773"/>
                  </a:lnTo>
                  <a:lnTo>
                    <a:pt x="565" y="757"/>
                  </a:lnTo>
                  <a:lnTo>
                    <a:pt x="597" y="737"/>
                  </a:lnTo>
                  <a:lnTo>
                    <a:pt x="627" y="717"/>
                  </a:lnTo>
                  <a:lnTo>
                    <a:pt x="658" y="692"/>
                  </a:lnTo>
                  <a:lnTo>
                    <a:pt x="689" y="667"/>
                  </a:lnTo>
                  <a:lnTo>
                    <a:pt x="720" y="636"/>
                  </a:lnTo>
                  <a:lnTo>
                    <a:pt x="750" y="601"/>
                  </a:lnTo>
                  <a:lnTo>
                    <a:pt x="782" y="561"/>
                  </a:lnTo>
                  <a:lnTo>
                    <a:pt x="813" y="520"/>
                  </a:lnTo>
                  <a:lnTo>
                    <a:pt x="854" y="475"/>
                  </a:lnTo>
                  <a:lnTo>
                    <a:pt x="884" y="429"/>
                  </a:lnTo>
                  <a:lnTo>
                    <a:pt x="916" y="379"/>
                  </a:lnTo>
                  <a:lnTo>
                    <a:pt x="946" y="328"/>
                  </a:lnTo>
                  <a:lnTo>
                    <a:pt x="977" y="278"/>
                  </a:lnTo>
                  <a:lnTo>
                    <a:pt x="1009" y="227"/>
                  </a:lnTo>
                  <a:lnTo>
                    <a:pt x="1039" y="182"/>
                  </a:lnTo>
                  <a:lnTo>
                    <a:pt x="1070" y="137"/>
                  </a:lnTo>
                  <a:lnTo>
                    <a:pt x="1101" y="101"/>
                  </a:lnTo>
                  <a:lnTo>
                    <a:pt x="1132" y="66"/>
                  </a:lnTo>
                  <a:lnTo>
                    <a:pt x="1162" y="35"/>
                  </a:lnTo>
                  <a:lnTo>
                    <a:pt x="1194" y="20"/>
                  </a:lnTo>
                  <a:lnTo>
                    <a:pt x="1224" y="5"/>
                  </a:lnTo>
                  <a:lnTo>
                    <a:pt x="1266" y="0"/>
                  </a:lnTo>
                  <a:lnTo>
                    <a:pt x="1296" y="5"/>
                  </a:lnTo>
                  <a:lnTo>
                    <a:pt x="1327" y="20"/>
                  </a:lnTo>
                  <a:lnTo>
                    <a:pt x="1358" y="35"/>
                  </a:lnTo>
                  <a:lnTo>
                    <a:pt x="1389" y="66"/>
                  </a:lnTo>
                  <a:lnTo>
                    <a:pt x="1419" y="101"/>
                  </a:lnTo>
                  <a:lnTo>
                    <a:pt x="1451" y="137"/>
                  </a:lnTo>
                  <a:lnTo>
                    <a:pt x="1481" y="182"/>
                  </a:lnTo>
                  <a:lnTo>
                    <a:pt x="1512" y="227"/>
                  </a:lnTo>
                  <a:lnTo>
                    <a:pt x="1543" y="278"/>
                  </a:lnTo>
                  <a:lnTo>
                    <a:pt x="1574" y="328"/>
                  </a:lnTo>
                  <a:lnTo>
                    <a:pt x="1604" y="379"/>
                  </a:lnTo>
                  <a:lnTo>
                    <a:pt x="1636" y="429"/>
                  </a:lnTo>
                  <a:lnTo>
                    <a:pt x="1666" y="475"/>
                  </a:lnTo>
                  <a:lnTo>
                    <a:pt x="1708" y="520"/>
                  </a:lnTo>
                  <a:lnTo>
                    <a:pt x="1738" y="561"/>
                  </a:lnTo>
                  <a:lnTo>
                    <a:pt x="1770" y="601"/>
                  </a:lnTo>
                  <a:lnTo>
                    <a:pt x="1800" y="636"/>
                  </a:lnTo>
                  <a:lnTo>
                    <a:pt x="1831" y="667"/>
                  </a:lnTo>
                  <a:lnTo>
                    <a:pt x="1862" y="692"/>
                  </a:lnTo>
                  <a:lnTo>
                    <a:pt x="1893" y="717"/>
                  </a:lnTo>
                  <a:lnTo>
                    <a:pt x="1923" y="737"/>
                  </a:lnTo>
                  <a:lnTo>
                    <a:pt x="1955" y="757"/>
                  </a:lnTo>
                  <a:lnTo>
                    <a:pt x="1986" y="773"/>
                  </a:lnTo>
                  <a:lnTo>
                    <a:pt x="2016" y="783"/>
                  </a:lnTo>
                  <a:lnTo>
                    <a:pt x="2048" y="793"/>
                  </a:lnTo>
                  <a:lnTo>
                    <a:pt x="2078" y="803"/>
                  </a:lnTo>
                  <a:lnTo>
                    <a:pt x="2109" y="808"/>
                  </a:lnTo>
                  <a:lnTo>
                    <a:pt x="2150" y="813"/>
                  </a:lnTo>
                  <a:lnTo>
                    <a:pt x="2181" y="818"/>
                  </a:lnTo>
                  <a:lnTo>
                    <a:pt x="2212" y="823"/>
                  </a:lnTo>
                  <a:lnTo>
                    <a:pt x="2243" y="823"/>
                  </a:lnTo>
                  <a:lnTo>
                    <a:pt x="2273" y="823"/>
                  </a:lnTo>
                  <a:lnTo>
                    <a:pt x="2305" y="828"/>
                  </a:lnTo>
                  <a:lnTo>
                    <a:pt x="2335" y="828"/>
                  </a:lnTo>
                  <a:lnTo>
                    <a:pt x="2366" y="828"/>
                  </a:lnTo>
                  <a:lnTo>
                    <a:pt x="2397" y="828"/>
                  </a:lnTo>
                  <a:lnTo>
                    <a:pt x="2428" y="828"/>
                  </a:lnTo>
                  <a:lnTo>
                    <a:pt x="2458" y="828"/>
                  </a:lnTo>
                  <a:lnTo>
                    <a:pt x="2490" y="828"/>
                  </a:lnTo>
                  <a:lnTo>
                    <a:pt x="2520" y="828"/>
                  </a:lnTo>
                </a:path>
              </a:pathLst>
            </a:custGeom>
            <a:noFill/>
            <a:ln w="19050" cap="rnd" cmpd="sng">
              <a:solidFill>
                <a:srgbClr val="A00000"/>
              </a:solidFill>
              <a:prstDash val="solid"/>
              <a:round/>
              <a:headEnd type="none" w="med" len="med"/>
              <a:tailEnd type="none" w="med" len="med"/>
            </a:ln>
          </p:spPr>
          <p:txBody>
            <a:bodyPr/>
            <a:lstStyle/>
            <a:p>
              <a:endParaRPr lang="nl-NL" dirty="0"/>
            </a:p>
          </p:txBody>
        </p:sp>
        <p:sp>
          <p:nvSpPr>
            <p:cNvPr id="5128" name="Line 8"/>
            <p:cNvSpPr>
              <a:spLocks noChangeShapeType="1"/>
            </p:cNvSpPr>
            <p:nvPr/>
          </p:nvSpPr>
          <p:spPr bwMode="auto">
            <a:xfrm>
              <a:off x="2678113" y="3579813"/>
              <a:ext cx="2425700" cy="0"/>
            </a:xfrm>
            <a:prstGeom prst="line">
              <a:avLst/>
            </a:prstGeom>
            <a:noFill/>
            <a:ln w="19050">
              <a:solidFill>
                <a:schemeClr val="tx1"/>
              </a:solidFill>
              <a:round/>
              <a:headEnd/>
              <a:tailEnd/>
            </a:ln>
          </p:spPr>
          <p:txBody>
            <a:bodyPr wrap="none" anchor="ctr"/>
            <a:lstStyle/>
            <a:p>
              <a:endParaRPr lang="nl-NL" dirty="0"/>
            </a:p>
          </p:txBody>
        </p:sp>
        <p:sp>
          <p:nvSpPr>
            <p:cNvPr id="5129" name="Freeform 9"/>
            <p:cNvSpPr>
              <a:spLocks/>
            </p:cNvSpPr>
            <p:nvPr/>
          </p:nvSpPr>
          <p:spPr bwMode="auto">
            <a:xfrm>
              <a:off x="3856038" y="2884488"/>
              <a:ext cx="2249487" cy="1143000"/>
            </a:xfrm>
            <a:custGeom>
              <a:avLst/>
              <a:gdLst>
                <a:gd name="T0" fmla="*/ 2147483647 w 2521"/>
                <a:gd name="T1" fmla="*/ 2147483647 h 829"/>
                <a:gd name="T2" fmla="*/ 2147483647 w 2521"/>
                <a:gd name="T3" fmla="*/ 2147483647 h 829"/>
                <a:gd name="T4" fmla="*/ 2147483647 w 2521"/>
                <a:gd name="T5" fmla="*/ 2147483647 h 829"/>
                <a:gd name="T6" fmla="*/ 2147483647 w 2521"/>
                <a:gd name="T7" fmla="*/ 2147483647 h 829"/>
                <a:gd name="T8" fmla="*/ 2147483647 w 2521"/>
                <a:gd name="T9" fmla="*/ 2147483647 h 829"/>
                <a:gd name="T10" fmla="*/ 2147483647 w 2521"/>
                <a:gd name="T11" fmla="*/ 2147483647 h 829"/>
                <a:gd name="T12" fmla="*/ 2147483647 w 2521"/>
                <a:gd name="T13" fmla="*/ 2147483647 h 829"/>
                <a:gd name="T14" fmla="*/ 2147483647 w 2521"/>
                <a:gd name="T15" fmla="*/ 2147483647 h 829"/>
                <a:gd name="T16" fmla="*/ 2147483647 w 2521"/>
                <a:gd name="T17" fmla="*/ 2147483647 h 829"/>
                <a:gd name="T18" fmla="*/ 2147483647 w 2521"/>
                <a:gd name="T19" fmla="*/ 2147483647 h 829"/>
                <a:gd name="T20" fmla="*/ 2147483647 w 2521"/>
                <a:gd name="T21" fmla="*/ 2147483647 h 829"/>
                <a:gd name="T22" fmla="*/ 2147483647 w 2521"/>
                <a:gd name="T23" fmla="*/ 2147483647 h 829"/>
                <a:gd name="T24" fmla="*/ 2147483647 w 2521"/>
                <a:gd name="T25" fmla="*/ 2147483647 h 829"/>
                <a:gd name="T26" fmla="*/ 2147483647 w 2521"/>
                <a:gd name="T27" fmla="*/ 2147483647 h 829"/>
                <a:gd name="T28" fmla="*/ 2147483647 w 2521"/>
                <a:gd name="T29" fmla="*/ 2147483647 h 829"/>
                <a:gd name="T30" fmla="*/ 2147483647 w 2521"/>
                <a:gd name="T31" fmla="*/ 2147483647 h 829"/>
                <a:gd name="T32" fmla="*/ 2147483647 w 2521"/>
                <a:gd name="T33" fmla="*/ 2147483647 h 829"/>
                <a:gd name="T34" fmla="*/ 2147483647 w 2521"/>
                <a:gd name="T35" fmla="*/ 2147483647 h 829"/>
                <a:gd name="T36" fmla="*/ 2147483647 w 2521"/>
                <a:gd name="T37" fmla="*/ 2147483647 h 829"/>
                <a:gd name="T38" fmla="*/ 2147483647 w 2521"/>
                <a:gd name="T39" fmla="*/ 2147483647 h 829"/>
                <a:gd name="T40" fmla="*/ 2147483647 w 2521"/>
                <a:gd name="T41" fmla="*/ 2147483647 h 829"/>
                <a:gd name="T42" fmla="*/ 2147483647 w 2521"/>
                <a:gd name="T43" fmla="*/ 2147483647 h 829"/>
                <a:gd name="T44" fmla="*/ 2147483647 w 2521"/>
                <a:gd name="T45" fmla="*/ 2147483647 h 829"/>
                <a:gd name="T46" fmla="*/ 2147483647 w 2521"/>
                <a:gd name="T47" fmla="*/ 2147483647 h 829"/>
                <a:gd name="T48" fmla="*/ 2147483647 w 2521"/>
                <a:gd name="T49" fmla="*/ 2147483647 h 829"/>
                <a:gd name="T50" fmla="*/ 2147483647 w 2521"/>
                <a:gd name="T51" fmla="*/ 2147483647 h 829"/>
                <a:gd name="T52" fmla="*/ 2147483647 w 2521"/>
                <a:gd name="T53" fmla="*/ 2147483647 h 829"/>
                <a:gd name="T54" fmla="*/ 2147483647 w 2521"/>
                <a:gd name="T55" fmla="*/ 2147483647 h 829"/>
                <a:gd name="T56" fmla="*/ 2147483647 w 2521"/>
                <a:gd name="T57" fmla="*/ 2147483647 h 829"/>
                <a:gd name="T58" fmla="*/ 2147483647 w 2521"/>
                <a:gd name="T59" fmla="*/ 2147483647 h 829"/>
                <a:gd name="T60" fmla="*/ 2147483647 w 2521"/>
                <a:gd name="T61" fmla="*/ 2147483647 h 829"/>
                <a:gd name="T62" fmla="*/ 2147483647 w 2521"/>
                <a:gd name="T63" fmla="*/ 2147483647 h 829"/>
                <a:gd name="T64" fmla="*/ 2147483647 w 2521"/>
                <a:gd name="T65" fmla="*/ 2147483647 h 829"/>
                <a:gd name="T66" fmla="*/ 2147483647 w 2521"/>
                <a:gd name="T67" fmla="*/ 2147483647 h 829"/>
                <a:gd name="T68" fmla="*/ 2147483647 w 2521"/>
                <a:gd name="T69" fmla="*/ 2147483647 h 829"/>
                <a:gd name="T70" fmla="*/ 2147483647 w 2521"/>
                <a:gd name="T71" fmla="*/ 2147483647 h 829"/>
                <a:gd name="T72" fmla="*/ 2147483647 w 2521"/>
                <a:gd name="T73" fmla="*/ 2147483647 h 829"/>
                <a:gd name="T74" fmla="*/ 2147483647 w 2521"/>
                <a:gd name="T75" fmla="*/ 2147483647 h 829"/>
                <a:gd name="T76" fmla="*/ 2147483647 w 2521"/>
                <a:gd name="T77" fmla="*/ 2147483647 h 829"/>
                <a:gd name="T78" fmla="*/ 2147483647 w 2521"/>
                <a:gd name="T79" fmla="*/ 2147483647 h 82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521"/>
                <a:gd name="T121" fmla="*/ 0 h 829"/>
                <a:gd name="T122" fmla="*/ 2521 w 2521"/>
                <a:gd name="T123" fmla="*/ 829 h 82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521" h="829">
                  <a:moveTo>
                    <a:pt x="0" y="828"/>
                  </a:moveTo>
                  <a:lnTo>
                    <a:pt x="30" y="828"/>
                  </a:lnTo>
                  <a:lnTo>
                    <a:pt x="62" y="828"/>
                  </a:lnTo>
                  <a:lnTo>
                    <a:pt x="93" y="828"/>
                  </a:lnTo>
                  <a:lnTo>
                    <a:pt x="123" y="828"/>
                  </a:lnTo>
                  <a:lnTo>
                    <a:pt x="155" y="828"/>
                  </a:lnTo>
                  <a:lnTo>
                    <a:pt x="185" y="828"/>
                  </a:lnTo>
                  <a:lnTo>
                    <a:pt x="216" y="828"/>
                  </a:lnTo>
                  <a:lnTo>
                    <a:pt x="247" y="823"/>
                  </a:lnTo>
                  <a:lnTo>
                    <a:pt x="278" y="823"/>
                  </a:lnTo>
                  <a:lnTo>
                    <a:pt x="308" y="823"/>
                  </a:lnTo>
                  <a:lnTo>
                    <a:pt x="340" y="818"/>
                  </a:lnTo>
                  <a:lnTo>
                    <a:pt x="370" y="813"/>
                  </a:lnTo>
                  <a:lnTo>
                    <a:pt x="412" y="808"/>
                  </a:lnTo>
                  <a:lnTo>
                    <a:pt x="442" y="803"/>
                  </a:lnTo>
                  <a:lnTo>
                    <a:pt x="473" y="793"/>
                  </a:lnTo>
                  <a:lnTo>
                    <a:pt x="504" y="783"/>
                  </a:lnTo>
                  <a:lnTo>
                    <a:pt x="535" y="773"/>
                  </a:lnTo>
                  <a:lnTo>
                    <a:pt x="565" y="757"/>
                  </a:lnTo>
                  <a:lnTo>
                    <a:pt x="597" y="737"/>
                  </a:lnTo>
                  <a:lnTo>
                    <a:pt x="627" y="717"/>
                  </a:lnTo>
                  <a:lnTo>
                    <a:pt x="658" y="692"/>
                  </a:lnTo>
                  <a:lnTo>
                    <a:pt x="689" y="667"/>
                  </a:lnTo>
                  <a:lnTo>
                    <a:pt x="720" y="636"/>
                  </a:lnTo>
                  <a:lnTo>
                    <a:pt x="750" y="601"/>
                  </a:lnTo>
                  <a:lnTo>
                    <a:pt x="782" y="561"/>
                  </a:lnTo>
                  <a:lnTo>
                    <a:pt x="813" y="520"/>
                  </a:lnTo>
                  <a:lnTo>
                    <a:pt x="854" y="475"/>
                  </a:lnTo>
                  <a:lnTo>
                    <a:pt x="884" y="429"/>
                  </a:lnTo>
                  <a:lnTo>
                    <a:pt x="916" y="379"/>
                  </a:lnTo>
                  <a:lnTo>
                    <a:pt x="946" y="328"/>
                  </a:lnTo>
                  <a:lnTo>
                    <a:pt x="977" y="278"/>
                  </a:lnTo>
                  <a:lnTo>
                    <a:pt x="1009" y="227"/>
                  </a:lnTo>
                  <a:lnTo>
                    <a:pt x="1039" y="182"/>
                  </a:lnTo>
                  <a:lnTo>
                    <a:pt x="1070" y="137"/>
                  </a:lnTo>
                  <a:lnTo>
                    <a:pt x="1101" y="101"/>
                  </a:lnTo>
                  <a:lnTo>
                    <a:pt x="1132" y="66"/>
                  </a:lnTo>
                  <a:lnTo>
                    <a:pt x="1162" y="35"/>
                  </a:lnTo>
                  <a:lnTo>
                    <a:pt x="1194" y="20"/>
                  </a:lnTo>
                  <a:lnTo>
                    <a:pt x="1224" y="5"/>
                  </a:lnTo>
                  <a:lnTo>
                    <a:pt x="1266" y="0"/>
                  </a:lnTo>
                  <a:lnTo>
                    <a:pt x="1296" y="5"/>
                  </a:lnTo>
                  <a:lnTo>
                    <a:pt x="1327" y="20"/>
                  </a:lnTo>
                  <a:lnTo>
                    <a:pt x="1358" y="35"/>
                  </a:lnTo>
                  <a:lnTo>
                    <a:pt x="1389" y="66"/>
                  </a:lnTo>
                  <a:lnTo>
                    <a:pt x="1419" y="101"/>
                  </a:lnTo>
                  <a:lnTo>
                    <a:pt x="1451" y="137"/>
                  </a:lnTo>
                  <a:lnTo>
                    <a:pt x="1481" y="182"/>
                  </a:lnTo>
                  <a:lnTo>
                    <a:pt x="1512" y="227"/>
                  </a:lnTo>
                  <a:lnTo>
                    <a:pt x="1543" y="278"/>
                  </a:lnTo>
                  <a:lnTo>
                    <a:pt x="1574" y="328"/>
                  </a:lnTo>
                  <a:lnTo>
                    <a:pt x="1604" y="379"/>
                  </a:lnTo>
                  <a:lnTo>
                    <a:pt x="1636" y="429"/>
                  </a:lnTo>
                  <a:lnTo>
                    <a:pt x="1666" y="475"/>
                  </a:lnTo>
                  <a:lnTo>
                    <a:pt x="1708" y="520"/>
                  </a:lnTo>
                  <a:lnTo>
                    <a:pt x="1738" y="561"/>
                  </a:lnTo>
                  <a:lnTo>
                    <a:pt x="1770" y="601"/>
                  </a:lnTo>
                  <a:lnTo>
                    <a:pt x="1800" y="636"/>
                  </a:lnTo>
                  <a:lnTo>
                    <a:pt x="1831" y="667"/>
                  </a:lnTo>
                  <a:lnTo>
                    <a:pt x="1862" y="692"/>
                  </a:lnTo>
                  <a:lnTo>
                    <a:pt x="1893" y="717"/>
                  </a:lnTo>
                  <a:lnTo>
                    <a:pt x="1923" y="737"/>
                  </a:lnTo>
                  <a:lnTo>
                    <a:pt x="1955" y="757"/>
                  </a:lnTo>
                  <a:lnTo>
                    <a:pt x="1986" y="773"/>
                  </a:lnTo>
                  <a:lnTo>
                    <a:pt x="2016" y="783"/>
                  </a:lnTo>
                  <a:lnTo>
                    <a:pt x="2048" y="793"/>
                  </a:lnTo>
                  <a:lnTo>
                    <a:pt x="2078" y="803"/>
                  </a:lnTo>
                  <a:lnTo>
                    <a:pt x="2109" y="808"/>
                  </a:lnTo>
                  <a:lnTo>
                    <a:pt x="2150" y="813"/>
                  </a:lnTo>
                  <a:lnTo>
                    <a:pt x="2181" y="818"/>
                  </a:lnTo>
                  <a:lnTo>
                    <a:pt x="2212" y="823"/>
                  </a:lnTo>
                  <a:lnTo>
                    <a:pt x="2243" y="823"/>
                  </a:lnTo>
                  <a:lnTo>
                    <a:pt x="2273" y="823"/>
                  </a:lnTo>
                  <a:lnTo>
                    <a:pt x="2305" y="828"/>
                  </a:lnTo>
                  <a:lnTo>
                    <a:pt x="2335" y="828"/>
                  </a:lnTo>
                  <a:lnTo>
                    <a:pt x="2366" y="828"/>
                  </a:lnTo>
                  <a:lnTo>
                    <a:pt x="2397" y="828"/>
                  </a:lnTo>
                  <a:lnTo>
                    <a:pt x="2428" y="828"/>
                  </a:lnTo>
                  <a:lnTo>
                    <a:pt x="2458" y="828"/>
                  </a:lnTo>
                  <a:lnTo>
                    <a:pt x="2490" y="828"/>
                  </a:lnTo>
                  <a:lnTo>
                    <a:pt x="2520" y="828"/>
                  </a:lnTo>
                </a:path>
              </a:pathLst>
            </a:custGeom>
            <a:noFill/>
            <a:ln w="19050" cap="rnd" cmpd="sng">
              <a:solidFill>
                <a:srgbClr val="A00000"/>
              </a:solidFill>
              <a:prstDash val="solid"/>
              <a:round/>
              <a:headEnd type="none" w="med" len="med"/>
              <a:tailEnd type="none" w="med" len="med"/>
            </a:ln>
          </p:spPr>
          <p:txBody>
            <a:bodyPr/>
            <a:lstStyle/>
            <a:p>
              <a:endParaRPr lang="nl-NL" dirty="0"/>
            </a:p>
          </p:txBody>
        </p:sp>
        <p:sp>
          <p:nvSpPr>
            <p:cNvPr id="5130" name="Line 10"/>
            <p:cNvSpPr>
              <a:spLocks noChangeShapeType="1"/>
            </p:cNvSpPr>
            <p:nvPr/>
          </p:nvSpPr>
          <p:spPr bwMode="auto">
            <a:xfrm>
              <a:off x="3756025" y="4076700"/>
              <a:ext cx="2427288" cy="0"/>
            </a:xfrm>
            <a:prstGeom prst="line">
              <a:avLst/>
            </a:prstGeom>
            <a:noFill/>
            <a:ln w="19050">
              <a:solidFill>
                <a:schemeClr val="tx1"/>
              </a:solidFill>
              <a:round/>
              <a:headEnd/>
              <a:tailEnd/>
            </a:ln>
          </p:spPr>
          <p:txBody>
            <a:bodyPr wrap="none" anchor="ctr"/>
            <a:lstStyle/>
            <a:p>
              <a:endParaRPr lang="nl-NL" dirty="0"/>
            </a:p>
          </p:txBody>
        </p:sp>
        <p:sp>
          <p:nvSpPr>
            <p:cNvPr id="5131" name="Freeform 11"/>
            <p:cNvSpPr>
              <a:spLocks/>
            </p:cNvSpPr>
            <p:nvPr/>
          </p:nvSpPr>
          <p:spPr bwMode="auto">
            <a:xfrm>
              <a:off x="2508250" y="3629025"/>
              <a:ext cx="2249488" cy="1143000"/>
            </a:xfrm>
            <a:custGeom>
              <a:avLst/>
              <a:gdLst>
                <a:gd name="T0" fmla="*/ 2147483647 w 2521"/>
                <a:gd name="T1" fmla="*/ 2147483647 h 829"/>
                <a:gd name="T2" fmla="*/ 2147483647 w 2521"/>
                <a:gd name="T3" fmla="*/ 2147483647 h 829"/>
                <a:gd name="T4" fmla="*/ 2147483647 w 2521"/>
                <a:gd name="T5" fmla="*/ 2147483647 h 829"/>
                <a:gd name="T6" fmla="*/ 2147483647 w 2521"/>
                <a:gd name="T7" fmla="*/ 2147483647 h 829"/>
                <a:gd name="T8" fmla="*/ 2147483647 w 2521"/>
                <a:gd name="T9" fmla="*/ 2147483647 h 829"/>
                <a:gd name="T10" fmla="*/ 2147483647 w 2521"/>
                <a:gd name="T11" fmla="*/ 2147483647 h 829"/>
                <a:gd name="T12" fmla="*/ 2147483647 w 2521"/>
                <a:gd name="T13" fmla="*/ 2147483647 h 829"/>
                <a:gd name="T14" fmla="*/ 2147483647 w 2521"/>
                <a:gd name="T15" fmla="*/ 2147483647 h 829"/>
                <a:gd name="T16" fmla="*/ 2147483647 w 2521"/>
                <a:gd name="T17" fmla="*/ 2147483647 h 829"/>
                <a:gd name="T18" fmla="*/ 2147483647 w 2521"/>
                <a:gd name="T19" fmla="*/ 2147483647 h 829"/>
                <a:gd name="T20" fmla="*/ 2147483647 w 2521"/>
                <a:gd name="T21" fmla="*/ 2147483647 h 829"/>
                <a:gd name="T22" fmla="*/ 2147483647 w 2521"/>
                <a:gd name="T23" fmla="*/ 2147483647 h 829"/>
                <a:gd name="T24" fmla="*/ 2147483647 w 2521"/>
                <a:gd name="T25" fmla="*/ 2147483647 h 829"/>
                <a:gd name="T26" fmla="*/ 2147483647 w 2521"/>
                <a:gd name="T27" fmla="*/ 2147483647 h 829"/>
                <a:gd name="T28" fmla="*/ 2147483647 w 2521"/>
                <a:gd name="T29" fmla="*/ 2147483647 h 829"/>
                <a:gd name="T30" fmla="*/ 2147483647 w 2521"/>
                <a:gd name="T31" fmla="*/ 2147483647 h 829"/>
                <a:gd name="T32" fmla="*/ 2147483647 w 2521"/>
                <a:gd name="T33" fmla="*/ 2147483647 h 829"/>
                <a:gd name="T34" fmla="*/ 2147483647 w 2521"/>
                <a:gd name="T35" fmla="*/ 2147483647 h 829"/>
                <a:gd name="T36" fmla="*/ 2147483647 w 2521"/>
                <a:gd name="T37" fmla="*/ 2147483647 h 829"/>
                <a:gd name="T38" fmla="*/ 2147483647 w 2521"/>
                <a:gd name="T39" fmla="*/ 2147483647 h 829"/>
                <a:gd name="T40" fmla="*/ 2147483647 w 2521"/>
                <a:gd name="T41" fmla="*/ 2147483647 h 829"/>
                <a:gd name="T42" fmla="*/ 2147483647 w 2521"/>
                <a:gd name="T43" fmla="*/ 2147483647 h 829"/>
                <a:gd name="T44" fmla="*/ 2147483647 w 2521"/>
                <a:gd name="T45" fmla="*/ 2147483647 h 829"/>
                <a:gd name="T46" fmla="*/ 2147483647 w 2521"/>
                <a:gd name="T47" fmla="*/ 2147483647 h 829"/>
                <a:gd name="T48" fmla="*/ 2147483647 w 2521"/>
                <a:gd name="T49" fmla="*/ 2147483647 h 829"/>
                <a:gd name="T50" fmla="*/ 2147483647 w 2521"/>
                <a:gd name="T51" fmla="*/ 2147483647 h 829"/>
                <a:gd name="T52" fmla="*/ 2147483647 w 2521"/>
                <a:gd name="T53" fmla="*/ 2147483647 h 829"/>
                <a:gd name="T54" fmla="*/ 2147483647 w 2521"/>
                <a:gd name="T55" fmla="*/ 2147483647 h 829"/>
                <a:gd name="T56" fmla="*/ 2147483647 w 2521"/>
                <a:gd name="T57" fmla="*/ 2147483647 h 829"/>
                <a:gd name="T58" fmla="*/ 2147483647 w 2521"/>
                <a:gd name="T59" fmla="*/ 2147483647 h 829"/>
                <a:gd name="T60" fmla="*/ 2147483647 w 2521"/>
                <a:gd name="T61" fmla="*/ 2147483647 h 829"/>
                <a:gd name="T62" fmla="*/ 2147483647 w 2521"/>
                <a:gd name="T63" fmla="*/ 2147483647 h 829"/>
                <a:gd name="T64" fmla="*/ 2147483647 w 2521"/>
                <a:gd name="T65" fmla="*/ 2147483647 h 829"/>
                <a:gd name="T66" fmla="*/ 2147483647 w 2521"/>
                <a:gd name="T67" fmla="*/ 2147483647 h 829"/>
                <a:gd name="T68" fmla="*/ 2147483647 w 2521"/>
                <a:gd name="T69" fmla="*/ 2147483647 h 829"/>
                <a:gd name="T70" fmla="*/ 2147483647 w 2521"/>
                <a:gd name="T71" fmla="*/ 2147483647 h 829"/>
                <a:gd name="T72" fmla="*/ 2147483647 w 2521"/>
                <a:gd name="T73" fmla="*/ 2147483647 h 829"/>
                <a:gd name="T74" fmla="*/ 2147483647 w 2521"/>
                <a:gd name="T75" fmla="*/ 2147483647 h 829"/>
                <a:gd name="T76" fmla="*/ 2147483647 w 2521"/>
                <a:gd name="T77" fmla="*/ 2147483647 h 829"/>
                <a:gd name="T78" fmla="*/ 2147483647 w 2521"/>
                <a:gd name="T79" fmla="*/ 2147483647 h 82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521"/>
                <a:gd name="T121" fmla="*/ 0 h 829"/>
                <a:gd name="T122" fmla="*/ 2521 w 2521"/>
                <a:gd name="T123" fmla="*/ 829 h 82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521" h="829">
                  <a:moveTo>
                    <a:pt x="0" y="828"/>
                  </a:moveTo>
                  <a:lnTo>
                    <a:pt x="30" y="828"/>
                  </a:lnTo>
                  <a:lnTo>
                    <a:pt x="62" y="828"/>
                  </a:lnTo>
                  <a:lnTo>
                    <a:pt x="93" y="828"/>
                  </a:lnTo>
                  <a:lnTo>
                    <a:pt x="123" y="828"/>
                  </a:lnTo>
                  <a:lnTo>
                    <a:pt x="155" y="828"/>
                  </a:lnTo>
                  <a:lnTo>
                    <a:pt x="185" y="828"/>
                  </a:lnTo>
                  <a:lnTo>
                    <a:pt x="216" y="828"/>
                  </a:lnTo>
                  <a:lnTo>
                    <a:pt x="247" y="823"/>
                  </a:lnTo>
                  <a:lnTo>
                    <a:pt x="278" y="823"/>
                  </a:lnTo>
                  <a:lnTo>
                    <a:pt x="308" y="823"/>
                  </a:lnTo>
                  <a:lnTo>
                    <a:pt x="340" y="818"/>
                  </a:lnTo>
                  <a:lnTo>
                    <a:pt x="370" y="813"/>
                  </a:lnTo>
                  <a:lnTo>
                    <a:pt x="412" y="808"/>
                  </a:lnTo>
                  <a:lnTo>
                    <a:pt x="442" y="803"/>
                  </a:lnTo>
                  <a:lnTo>
                    <a:pt x="473" y="793"/>
                  </a:lnTo>
                  <a:lnTo>
                    <a:pt x="504" y="783"/>
                  </a:lnTo>
                  <a:lnTo>
                    <a:pt x="535" y="773"/>
                  </a:lnTo>
                  <a:lnTo>
                    <a:pt x="565" y="757"/>
                  </a:lnTo>
                  <a:lnTo>
                    <a:pt x="597" y="737"/>
                  </a:lnTo>
                  <a:lnTo>
                    <a:pt x="627" y="717"/>
                  </a:lnTo>
                  <a:lnTo>
                    <a:pt x="658" y="692"/>
                  </a:lnTo>
                  <a:lnTo>
                    <a:pt x="689" y="667"/>
                  </a:lnTo>
                  <a:lnTo>
                    <a:pt x="720" y="636"/>
                  </a:lnTo>
                  <a:lnTo>
                    <a:pt x="750" y="601"/>
                  </a:lnTo>
                  <a:lnTo>
                    <a:pt x="782" y="561"/>
                  </a:lnTo>
                  <a:lnTo>
                    <a:pt x="813" y="520"/>
                  </a:lnTo>
                  <a:lnTo>
                    <a:pt x="854" y="475"/>
                  </a:lnTo>
                  <a:lnTo>
                    <a:pt x="884" y="429"/>
                  </a:lnTo>
                  <a:lnTo>
                    <a:pt x="916" y="379"/>
                  </a:lnTo>
                  <a:lnTo>
                    <a:pt x="946" y="328"/>
                  </a:lnTo>
                  <a:lnTo>
                    <a:pt x="977" y="278"/>
                  </a:lnTo>
                  <a:lnTo>
                    <a:pt x="1009" y="227"/>
                  </a:lnTo>
                  <a:lnTo>
                    <a:pt x="1039" y="182"/>
                  </a:lnTo>
                  <a:lnTo>
                    <a:pt x="1070" y="137"/>
                  </a:lnTo>
                  <a:lnTo>
                    <a:pt x="1101" y="101"/>
                  </a:lnTo>
                  <a:lnTo>
                    <a:pt x="1132" y="66"/>
                  </a:lnTo>
                  <a:lnTo>
                    <a:pt x="1162" y="35"/>
                  </a:lnTo>
                  <a:lnTo>
                    <a:pt x="1194" y="20"/>
                  </a:lnTo>
                  <a:lnTo>
                    <a:pt x="1224" y="5"/>
                  </a:lnTo>
                  <a:lnTo>
                    <a:pt x="1266" y="0"/>
                  </a:lnTo>
                  <a:lnTo>
                    <a:pt x="1296" y="5"/>
                  </a:lnTo>
                  <a:lnTo>
                    <a:pt x="1327" y="20"/>
                  </a:lnTo>
                  <a:lnTo>
                    <a:pt x="1358" y="35"/>
                  </a:lnTo>
                  <a:lnTo>
                    <a:pt x="1389" y="66"/>
                  </a:lnTo>
                  <a:lnTo>
                    <a:pt x="1419" y="101"/>
                  </a:lnTo>
                  <a:lnTo>
                    <a:pt x="1451" y="137"/>
                  </a:lnTo>
                  <a:lnTo>
                    <a:pt x="1481" y="182"/>
                  </a:lnTo>
                  <a:lnTo>
                    <a:pt x="1512" y="227"/>
                  </a:lnTo>
                  <a:lnTo>
                    <a:pt x="1543" y="278"/>
                  </a:lnTo>
                  <a:lnTo>
                    <a:pt x="1574" y="328"/>
                  </a:lnTo>
                  <a:lnTo>
                    <a:pt x="1604" y="379"/>
                  </a:lnTo>
                  <a:lnTo>
                    <a:pt x="1636" y="429"/>
                  </a:lnTo>
                  <a:lnTo>
                    <a:pt x="1666" y="475"/>
                  </a:lnTo>
                  <a:lnTo>
                    <a:pt x="1708" y="520"/>
                  </a:lnTo>
                  <a:lnTo>
                    <a:pt x="1738" y="561"/>
                  </a:lnTo>
                  <a:lnTo>
                    <a:pt x="1770" y="601"/>
                  </a:lnTo>
                  <a:lnTo>
                    <a:pt x="1800" y="636"/>
                  </a:lnTo>
                  <a:lnTo>
                    <a:pt x="1831" y="667"/>
                  </a:lnTo>
                  <a:lnTo>
                    <a:pt x="1862" y="692"/>
                  </a:lnTo>
                  <a:lnTo>
                    <a:pt x="1893" y="717"/>
                  </a:lnTo>
                  <a:lnTo>
                    <a:pt x="1923" y="737"/>
                  </a:lnTo>
                  <a:lnTo>
                    <a:pt x="1955" y="757"/>
                  </a:lnTo>
                  <a:lnTo>
                    <a:pt x="1986" y="773"/>
                  </a:lnTo>
                  <a:lnTo>
                    <a:pt x="2016" y="783"/>
                  </a:lnTo>
                  <a:lnTo>
                    <a:pt x="2048" y="793"/>
                  </a:lnTo>
                  <a:lnTo>
                    <a:pt x="2078" y="803"/>
                  </a:lnTo>
                  <a:lnTo>
                    <a:pt x="2109" y="808"/>
                  </a:lnTo>
                  <a:lnTo>
                    <a:pt x="2150" y="813"/>
                  </a:lnTo>
                  <a:lnTo>
                    <a:pt x="2181" y="818"/>
                  </a:lnTo>
                  <a:lnTo>
                    <a:pt x="2212" y="823"/>
                  </a:lnTo>
                  <a:lnTo>
                    <a:pt x="2243" y="823"/>
                  </a:lnTo>
                  <a:lnTo>
                    <a:pt x="2273" y="823"/>
                  </a:lnTo>
                  <a:lnTo>
                    <a:pt x="2305" y="828"/>
                  </a:lnTo>
                  <a:lnTo>
                    <a:pt x="2335" y="828"/>
                  </a:lnTo>
                  <a:lnTo>
                    <a:pt x="2366" y="828"/>
                  </a:lnTo>
                  <a:lnTo>
                    <a:pt x="2397" y="828"/>
                  </a:lnTo>
                  <a:lnTo>
                    <a:pt x="2428" y="828"/>
                  </a:lnTo>
                  <a:lnTo>
                    <a:pt x="2458" y="828"/>
                  </a:lnTo>
                  <a:lnTo>
                    <a:pt x="2490" y="828"/>
                  </a:lnTo>
                  <a:lnTo>
                    <a:pt x="2520" y="828"/>
                  </a:lnTo>
                </a:path>
              </a:pathLst>
            </a:custGeom>
            <a:noFill/>
            <a:ln w="19050" cap="rnd" cmpd="sng">
              <a:solidFill>
                <a:srgbClr val="A00000"/>
              </a:solidFill>
              <a:prstDash val="solid"/>
              <a:round/>
              <a:headEnd type="none" w="med" len="med"/>
              <a:tailEnd type="none" w="med" len="med"/>
            </a:ln>
          </p:spPr>
          <p:txBody>
            <a:bodyPr/>
            <a:lstStyle/>
            <a:p>
              <a:endParaRPr lang="nl-NL" dirty="0"/>
            </a:p>
          </p:txBody>
        </p:sp>
        <p:sp>
          <p:nvSpPr>
            <p:cNvPr id="5132" name="Line 12"/>
            <p:cNvSpPr>
              <a:spLocks noChangeShapeType="1"/>
            </p:cNvSpPr>
            <p:nvPr/>
          </p:nvSpPr>
          <p:spPr bwMode="auto">
            <a:xfrm>
              <a:off x="2408238" y="4821238"/>
              <a:ext cx="2427287" cy="0"/>
            </a:xfrm>
            <a:prstGeom prst="line">
              <a:avLst/>
            </a:prstGeom>
            <a:noFill/>
            <a:ln w="19050">
              <a:solidFill>
                <a:schemeClr val="tx1"/>
              </a:solidFill>
              <a:round/>
              <a:headEnd/>
              <a:tailEnd/>
            </a:ln>
          </p:spPr>
          <p:txBody>
            <a:bodyPr wrap="none" anchor="ctr"/>
            <a:lstStyle/>
            <a:p>
              <a:endParaRPr lang="nl-NL" dirty="0"/>
            </a:p>
          </p:txBody>
        </p:sp>
        <p:sp>
          <p:nvSpPr>
            <p:cNvPr id="5133" name="Freeform 13"/>
            <p:cNvSpPr>
              <a:spLocks/>
            </p:cNvSpPr>
            <p:nvPr/>
          </p:nvSpPr>
          <p:spPr bwMode="auto">
            <a:xfrm>
              <a:off x="2732088" y="4962525"/>
              <a:ext cx="4044950" cy="1055688"/>
            </a:xfrm>
            <a:custGeom>
              <a:avLst/>
              <a:gdLst>
                <a:gd name="T0" fmla="*/ 2147483647 w 5042"/>
                <a:gd name="T1" fmla="*/ 2147483647 h 765"/>
                <a:gd name="T2" fmla="*/ 2147483647 w 5042"/>
                <a:gd name="T3" fmla="*/ 2147483647 h 765"/>
                <a:gd name="T4" fmla="*/ 2147483647 w 5042"/>
                <a:gd name="T5" fmla="*/ 2147483647 h 765"/>
                <a:gd name="T6" fmla="*/ 2147483647 w 5042"/>
                <a:gd name="T7" fmla="*/ 2147483647 h 765"/>
                <a:gd name="T8" fmla="*/ 2147483647 w 5042"/>
                <a:gd name="T9" fmla="*/ 2147483647 h 765"/>
                <a:gd name="T10" fmla="*/ 2147483647 w 5042"/>
                <a:gd name="T11" fmla="*/ 2147483647 h 765"/>
                <a:gd name="T12" fmla="*/ 2147483647 w 5042"/>
                <a:gd name="T13" fmla="*/ 2147483647 h 765"/>
                <a:gd name="T14" fmla="*/ 2147483647 w 5042"/>
                <a:gd name="T15" fmla="*/ 2147483647 h 765"/>
                <a:gd name="T16" fmla="*/ 2147483647 w 5042"/>
                <a:gd name="T17" fmla="*/ 2147483647 h 765"/>
                <a:gd name="T18" fmla="*/ 2147483647 w 5042"/>
                <a:gd name="T19" fmla="*/ 2147483647 h 765"/>
                <a:gd name="T20" fmla="*/ 2147483647 w 5042"/>
                <a:gd name="T21" fmla="*/ 2147483647 h 765"/>
                <a:gd name="T22" fmla="*/ 2147483647 w 5042"/>
                <a:gd name="T23" fmla="*/ 2147483647 h 765"/>
                <a:gd name="T24" fmla="*/ 2147483647 w 5042"/>
                <a:gd name="T25" fmla="*/ 2147483647 h 765"/>
                <a:gd name="T26" fmla="*/ 2147483647 w 5042"/>
                <a:gd name="T27" fmla="*/ 2147483647 h 765"/>
                <a:gd name="T28" fmla="*/ 2147483647 w 5042"/>
                <a:gd name="T29" fmla="*/ 2147483647 h 765"/>
                <a:gd name="T30" fmla="*/ 2147483647 w 5042"/>
                <a:gd name="T31" fmla="*/ 2147483647 h 765"/>
                <a:gd name="T32" fmla="*/ 2147483647 w 5042"/>
                <a:gd name="T33" fmla="*/ 2147483647 h 765"/>
                <a:gd name="T34" fmla="*/ 2147483647 w 5042"/>
                <a:gd name="T35" fmla="*/ 2147483647 h 765"/>
                <a:gd name="T36" fmla="*/ 2147483647 w 5042"/>
                <a:gd name="T37" fmla="*/ 2147483647 h 765"/>
                <a:gd name="T38" fmla="*/ 2147483647 w 5042"/>
                <a:gd name="T39" fmla="*/ 2147483647 h 765"/>
                <a:gd name="T40" fmla="*/ 2147483647 w 5042"/>
                <a:gd name="T41" fmla="*/ 2147483647 h 765"/>
                <a:gd name="T42" fmla="*/ 2147483647 w 5042"/>
                <a:gd name="T43" fmla="*/ 2147483647 h 765"/>
                <a:gd name="T44" fmla="*/ 2147483647 w 5042"/>
                <a:gd name="T45" fmla="*/ 2147483647 h 765"/>
                <a:gd name="T46" fmla="*/ 2147483647 w 5042"/>
                <a:gd name="T47" fmla="*/ 2147483647 h 765"/>
                <a:gd name="T48" fmla="*/ 2147483647 w 5042"/>
                <a:gd name="T49" fmla="*/ 2147483647 h 765"/>
                <a:gd name="T50" fmla="*/ 2147483647 w 5042"/>
                <a:gd name="T51" fmla="*/ 2147483647 h 765"/>
                <a:gd name="T52" fmla="*/ 2147483647 w 5042"/>
                <a:gd name="T53" fmla="*/ 2147483647 h 765"/>
                <a:gd name="T54" fmla="*/ 2147483647 w 5042"/>
                <a:gd name="T55" fmla="*/ 2147483647 h 765"/>
                <a:gd name="T56" fmla="*/ 2147483647 w 5042"/>
                <a:gd name="T57" fmla="*/ 2147483647 h 765"/>
                <a:gd name="T58" fmla="*/ 2147483647 w 5042"/>
                <a:gd name="T59" fmla="*/ 2147483647 h 765"/>
                <a:gd name="T60" fmla="*/ 2147483647 w 5042"/>
                <a:gd name="T61" fmla="*/ 2147483647 h 765"/>
                <a:gd name="T62" fmla="*/ 2147483647 w 5042"/>
                <a:gd name="T63" fmla="*/ 2147483647 h 765"/>
                <a:gd name="T64" fmla="*/ 2147483647 w 5042"/>
                <a:gd name="T65" fmla="*/ 2147483647 h 765"/>
                <a:gd name="T66" fmla="*/ 2147483647 w 5042"/>
                <a:gd name="T67" fmla="*/ 2147483647 h 765"/>
                <a:gd name="T68" fmla="*/ 2147483647 w 5042"/>
                <a:gd name="T69" fmla="*/ 2147483647 h 765"/>
                <a:gd name="T70" fmla="*/ 2147483647 w 5042"/>
                <a:gd name="T71" fmla="*/ 2147483647 h 765"/>
                <a:gd name="T72" fmla="*/ 2147483647 w 5042"/>
                <a:gd name="T73" fmla="*/ 2147483647 h 765"/>
                <a:gd name="T74" fmla="*/ 2147483647 w 5042"/>
                <a:gd name="T75" fmla="*/ 2147483647 h 765"/>
                <a:gd name="T76" fmla="*/ 2147483647 w 5042"/>
                <a:gd name="T77" fmla="*/ 2147483647 h 765"/>
                <a:gd name="T78" fmla="*/ 2147483647 w 5042"/>
                <a:gd name="T79" fmla="*/ 2147483647 h 76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042"/>
                <a:gd name="T121" fmla="*/ 0 h 765"/>
                <a:gd name="T122" fmla="*/ 5042 w 5042"/>
                <a:gd name="T123" fmla="*/ 765 h 76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042" h="765">
                  <a:moveTo>
                    <a:pt x="0" y="764"/>
                  </a:moveTo>
                  <a:lnTo>
                    <a:pt x="61" y="764"/>
                  </a:lnTo>
                  <a:lnTo>
                    <a:pt x="123" y="764"/>
                  </a:lnTo>
                  <a:lnTo>
                    <a:pt x="186" y="764"/>
                  </a:lnTo>
                  <a:lnTo>
                    <a:pt x="247" y="764"/>
                  </a:lnTo>
                  <a:lnTo>
                    <a:pt x="309" y="764"/>
                  </a:lnTo>
                  <a:lnTo>
                    <a:pt x="370" y="764"/>
                  </a:lnTo>
                  <a:lnTo>
                    <a:pt x="433" y="764"/>
                  </a:lnTo>
                  <a:lnTo>
                    <a:pt x="493" y="760"/>
                  </a:lnTo>
                  <a:lnTo>
                    <a:pt x="556" y="760"/>
                  </a:lnTo>
                  <a:lnTo>
                    <a:pt x="617" y="760"/>
                  </a:lnTo>
                  <a:lnTo>
                    <a:pt x="679" y="755"/>
                  </a:lnTo>
                  <a:lnTo>
                    <a:pt x="740" y="750"/>
                  </a:lnTo>
                  <a:lnTo>
                    <a:pt x="824" y="746"/>
                  </a:lnTo>
                  <a:lnTo>
                    <a:pt x="884" y="741"/>
                  </a:lnTo>
                  <a:lnTo>
                    <a:pt x="947" y="731"/>
                  </a:lnTo>
                  <a:lnTo>
                    <a:pt x="1008" y="722"/>
                  </a:lnTo>
                  <a:lnTo>
                    <a:pt x="1070" y="713"/>
                  </a:lnTo>
                  <a:lnTo>
                    <a:pt x="1131" y="699"/>
                  </a:lnTo>
                  <a:lnTo>
                    <a:pt x="1194" y="680"/>
                  </a:lnTo>
                  <a:lnTo>
                    <a:pt x="1255" y="662"/>
                  </a:lnTo>
                  <a:lnTo>
                    <a:pt x="1317" y="638"/>
                  </a:lnTo>
                  <a:lnTo>
                    <a:pt x="1378" y="615"/>
                  </a:lnTo>
                  <a:lnTo>
                    <a:pt x="1441" y="587"/>
                  </a:lnTo>
                  <a:lnTo>
                    <a:pt x="1501" y="554"/>
                  </a:lnTo>
                  <a:lnTo>
                    <a:pt x="1564" y="517"/>
                  </a:lnTo>
                  <a:lnTo>
                    <a:pt x="1627" y="480"/>
                  </a:lnTo>
                  <a:lnTo>
                    <a:pt x="1708" y="438"/>
                  </a:lnTo>
                  <a:lnTo>
                    <a:pt x="1769" y="396"/>
                  </a:lnTo>
                  <a:lnTo>
                    <a:pt x="1832" y="350"/>
                  </a:lnTo>
                  <a:lnTo>
                    <a:pt x="1892" y="303"/>
                  </a:lnTo>
                  <a:lnTo>
                    <a:pt x="1955" y="256"/>
                  </a:lnTo>
                  <a:lnTo>
                    <a:pt x="2018" y="210"/>
                  </a:lnTo>
                  <a:lnTo>
                    <a:pt x="2078" y="168"/>
                  </a:lnTo>
                  <a:lnTo>
                    <a:pt x="2141" y="126"/>
                  </a:lnTo>
                  <a:lnTo>
                    <a:pt x="2202" y="93"/>
                  </a:lnTo>
                  <a:lnTo>
                    <a:pt x="2264" y="61"/>
                  </a:lnTo>
                  <a:lnTo>
                    <a:pt x="2325" y="33"/>
                  </a:lnTo>
                  <a:lnTo>
                    <a:pt x="2388" y="19"/>
                  </a:lnTo>
                  <a:lnTo>
                    <a:pt x="2448" y="5"/>
                  </a:lnTo>
                  <a:lnTo>
                    <a:pt x="2532" y="0"/>
                  </a:lnTo>
                  <a:lnTo>
                    <a:pt x="2593" y="5"/>
                  </a:lnTo>
                  <a:lnTo>
                    <a:pt x="2655" y="19"/>
                  </a:lnTo>
                  <a:lnTo>
                    <a:pt x="2716" y="33"/>
                  </a:lnTo>
                  <a:lnTo>
                    <a:pt x="2779" y="61"/>
                  </a:lnTo>
                  <a:lnTo>
                    <a:pt x="2839" y="93"/>
                  </a:lnTo>
                  <a:lnTo>
                    <a:pt x="2902" y="126"/>
                  </a:lnTo>
                  <a:lnTo>
                    <a:pt x="2963" y="168"/>
                  </a:lnTo>
                  <a:lnTo>
                    <a:pt x="3025" y="210"/>
                  </a:lnTo>
                  <a:lnTo>
                    <a:pt x="3086" y="256"/>
                  </a:lnTo>
                  <a:lnTo>
                    <a:pt x="3149" y="303"/>
                  </a:lnTo>
                  <a:lnTo>
                    <a:pt x="3209" y="350"/>
                  </a:lnTo>
                  <a:lnTo>
                    <a:pt x="3272" y="396"/>
                  </a:lnTo>
                  <a:lnTo>
                    <a:pt x="3333" y="438"/>
                  </a:lnTo>
                  <a:lnTo>
                    <a:pt x="3416" y="480"/>
                  </a:lnTo>
                  <a:lnTo>
                    <a:pt x="3477" y="517"/>
                  </a:lnTo>
                  <a:lnTo>
                    <a:pt x="3540" y="554"/>
                  </a:lnTo>
                  <a:lnTo>
                    <a:pt x="3600" y="587"/>
                  </a:lnTo>
                  <a:lnTo>
                    <a:pt x="3663" y="615"/>
                  </a:lnTo>
                  <a:lnTo>
                    <a:pt x="3724" y="638"/>
                  </a:lnTo>
                  <a:lnTo>
                    <a:pt x="3786" y="662"/>
                  </a:lnTo>
                  <a:lnTo>
                    <a:pt x="3847" y="680"/>
                  </a:lnTo>
                  <a:lnTo>
                    <a:pt x="3910" y="699"/>
                  </a:lnTo>
                  <a:lnTo>
                    <a:pt x="3972" y="713"/>
                  </a:lnTo>
                  <a:lnTo>
                    <a:pt x="4033" y="722"/>
                  </a:lnTo>
                  <a:lnTo>
                    <a:pt x="4096" y="731"/>
                  </a:lnTo>
                  <a:lnTo>
                    <a:pt x="4157" y="741"/>
                  </a:lnTo>
                  <a:lnTo>
                    <a:pt x="4219" y="746"/>
                  </a:lnTo>
                  <a:lnTo>
                    <a:pt x="4301" y="750"/>
                  </a:lnTo>
                  <a:lnTo>
                    <a:pt x="4363" y="755"/>
                  </a:lnTo>
                  <a:lnTo>
                    <a:pt x="4424" y="760"/>
                  </a:lnTo>
                  <a:lnTo>
                    <a:pt x="4487" y="760"/>
                  </a:lnTo>
                  <a:lnTo>
                    <a:pt x="4548" y="760"/>
                  </a:lnTo>
                  <a:lnTo>
                    <a:pt x="4610" y="764"/>
                  </a:lnTo>
                  <a:lnTo>
                    <a:pt x="4671" y="764"/>
                  </a:lnTo>
                  <a:lnTo>
                    <a:pt x="4734" y="764"/>
                  </a:lnTo>
                  <a:lnTo>
                    <a:pt x="4794" y="764"/>
                  </a:lnTo>
                  <a:lnTo>
                    <a:pt x="4857" y="764"/>
                  </a:lnTo>
                  <a:lnTo>
                    <a:pt x="4918" y="764"/>
                  </a:lnTo>
                  <a:lnTo>
                    <a:pt x="4980" y="764"/>
                  </a:lnTo>
                  <a:lnTo>
                    <a:pt x="5041" y="764"/>
                  </a:lnTo>
                </a:path>
              </a:pathLst>
            </a:custGeom>
            <a:noFill/>
            <a:ln w="19050" cap="rnd" cmpd="sng">
              <a:solidFill>
                <a:schemeClr val="accent2"/>
              </a:solidFill>
              <a:prstDash val="solid"/>
              <a:round/>
              <a:headEnd type="none" w="med" len="med"/>
              <a:tailEnd type="none" w="med" len="med"/>
            </a:ln>
          </p:spPr>
          <p:txBody>
            <a:bodyPr/>
            <a:lstStyle/>
            <a:p>
              <a:endParaRPr lang="nl-NL" dirty="0"/>
            </a:p>
          </p:txBody>
        </p:sp>
        <p:sp>
          <p:nvSpPr>
            <p:cNvPr id="5134" name="Line 14"/>
            <p:cNvSpPr>
              <a:spLocks noChangeShapeType="1"/>
            </p:cNvSpPr>
            <p:nvPr/>
          </p:nvSpPr>
          <p:spPr bwMode="auto">
            <a:xfrm>
              <a:off x="2085975" y="6062663"/>
              <a:ext cx="4879975" cy="0"/>
            </a:xfrm>
            <a:prstGeom prst="line">
              <a:avLst/>
            </a:prstGeom>
            <a:noFill/>
            <a:ln w="19050">
              <a:solidFill>
                <a:schemeClr val="tx1"/>
              </a:solidFill>
              <a:round/>
              <a:headEnd/>
              <a:tailEnd/>
            </a:ln>
          </p:spPr>
          <p:txBody>
            <a:bodyPr wrap="none" anchor="ctr"/>
            <a:lstStyle/>
            <a:p>
              <a:endParaRPr lang="nl-NL" dirty="0"/>
            </a:p>
          </p:txBody>
        </p:sp>
        <p:sp>
          <p:nvSpPr>
            <p:cNvPr id="5135" name="Line 18"/>
            <p:cNvSpPr>
              <a:spLocks noChangeShapeType="1"/>
            </p:cNvSpPr>
            <p:nvPr/>
          </p:nvSpPr>
          <p:spPr bwMode="auto">
            <a:xfrm flipV="1">
              <a:off x="4765675" y="4884738"/>
              <a:ext cx="0" cy="1160462"/>
            </a:xfrm>
            <a:prstGeom prst="line">
              <a:avLst/>
            </a:prstGeom>
            <a:noFill/>
            <a:ln w="9525">
              <a:solidFill>
                <a:schemeClr val="tx1"/>
              </a:solidFill>
              <a:prstDash val="dashDot"/>
              <a:round/>
              <a:headEnd/>
              <a:tailEnd/>
            </a:ln>
          </p:spPr>
          <p:txBody>
            <a:bodyPr wrap="none" anchor="ctr"/>
            <a:lstStyle/>
            <a:p>
              <a:endParaRPr lang="nl-NL" dirty="0"/>
            </a:p>
          </p:txBody>
        </p:sp>
        <p:sp>
          <p:nvSpPr>
            <p:cNvPr id="5138" name="Text Box 25"/>
            <p:cNvSpPr txBox="1">
              <a:spLocks noChangeArrowheads="1"/>
            </p:cNvSpPr>
            <p:nvPr/>
          </p:nvSpPr>
          <p:spPr bwMode="auto">
            <a:xfrm>
              <a:off x="6994525" y="2438400"/>
              <a:ext cx="1196975" cy="366713"/>
            </a:xfrm>
            <a:prstGeom prst="rect">
              <a:avLst/>
            </a:prstGeom>
            <a:solidFill>
              <a:srgbClr val="FEF6D6"/>
            </a:solidFill>
            <a:ln w="9525">
              <a:noFill/>
              <a:miter lim="800000"/>
              <a:headEnd/>
              <a:tailEnd/>
            </a:ln>
            <a:effectLst>
              <a:outerShdw dist="107763" dir="2700000" algn="ctr" rotWithShape="0">
                <a:schemeClr val="bg2">
                  <a:alpha val="50000"/>
                </a:schemeClr>
              </a:outerShdw>
            </a:effectLst>
          </p:spPr>
          <p:txBody>
            <a:bodyPr anchor="ctr"/>
            <a:lstStyle/>
            <a:p>
              <a:pPr algn="ctr" eaLnBrk="0" hangingPunct="0">
                <a:defRPr/>
              </a:pPr>
              <a:r>
                <a:rPr lang="en-US" sz="1600" i="1" dirty="0">
                  <a:latin typeface="Arial" panose="020B0604020202020204" pitchFamily="34" charset="0"/>
                  <a:cs typeface="Arial" panose="020B0604020202020204" pitchFamily="34" charset="0"/>
                </a:rPr>
                <a:t>Capability</a:t>
              </a:r>
              <a:endParaRPr lang="nl-NL" sz="1600" i="1" dirty="0">
                <a:latin typeface="Arial" panose="020B0604020202020204" pitchFamily="34" charset="0"/>
                <a:cs typeface="Arial" panose="020B0604020202020204" pitchFamily="34" charset="0"/>
              </a:endParaRPr>
            </a:p>
          </p:txBody>
        </p:sp>
        <p:sp>
          <p:nvSpPr>
            <p:cNvPr id="5139" name="Text Box 26"/>
            <p:cNvSpPr txBox="1">
              <a:spLocks noChangeArrowheads="1"/>
            </p:cNvSpPr>
            <p:nvPr/>
          </p:nvSpPr>
          <p:spPr bwMode="auto">
            <a:xfrm>
              <a:off x="6899275" y="5334000"/>
              <a:ext cx="1504950" cy="366713"/>
            </a:xfrm>
            <a:prstGeom prst="rect">
              <a:avLst/>
            </a:prstGeom>
            <a:solidFill>
              <a:srgbClr val="FEF6D6"/>
            </a:solidFill>
            <a:ln w="9525">
              <a:noFill/>
              <a:miter lim="800000"/>
              <a:headEnd/>
              <a:tailEnd/>
            </a:ln>
            <a:effectLst>
              <a:outerShdw dist="107763" dir="2700000" algn="ctr" rotWithShape="0">
                <a:schemeClr val="bg2">
                  <a:alpha val="50000"/>
                </a:schemeClr>
              </a:outerShdw>
            </a:effectLst>
          </p:spPr>
          <p:txBody>
            <a:bodyPr anchor="ctr"/>
            <a:lstStyle/>
            <a:p>
              <a:pPr algn="ctr" eaLnBrk="0" hangingPunct="0">
                <a:defRPr/>
              </a:pPr>
              <a:r>
                <a:rPr lang="nl-NL" sz="1600" i="1" dirty="0">
                  <a:latin typeface="Arial" panose="020B0604020202020204" pitchFamily="34" charset="0"/>
                  <a:cs typeface="Arial" panose="020B0604020202020204" pitchFamily="34" charset="0"/>
                </a:rPr>
                <a:t>Performance</a:t>
              </a:r>
            </a:p>
          </p:txBody>
        </p:sp>
        <p:sp>
          <p:nvSpPr>
            <p:cNvPr id="5140" name="Text Box 27"/>
            <p:cNvSpPr txBox="1">
              <a:spLocks noChangeArrowheads="1"/>
            </p:cNvSpPr>
            <p:nvPr/>
          </p:nvSpPr>
          <p:spPr bwMode="auto">
            <a:xfrm>
              <a:off x="898525" y="2514600"/>
              <a:ext cx="1492250" cy="366713"/>
            </a:xfrm>
            <a:prstGeom prst="rect">
              <a:avLst/>
            </a:prstGeom>
            <a:solidFill>
              <a:srgbClr val="FEF6D6"/>
            </a:solidFill>
            <a:ln w="9525">
              <a:noFill/>
              <a:miter lim="800000"/>
              <a:headEnd/>
              <a:tailEnd/>
            </a:ln>
            <a:effectLst>
              <a:outerShdw dist="107763" dir="2700000" algn="ctr" rotWithShape="0">
                <a:schemeClr val="bg2">
                  <a:alpha val="50000"/>
                </a:schemeClr>
              </a:outerShdw>
            </a:effectLst>
          </p:spPr>
          <p:txBody>
            <a:bodyPr anchor="ctr"/>
            <a:lstStyle/>
            <a:p>
              <a:pPr algn="ctr" eaLnBrk="0" hangingPunct="0">
                <a:defRPr/>
              </a:pPr>
              <a:r>
                <a:rPr lang="en-US" sz="1600" i="1" dirty="0">
                  <a:latin typeface="Arial" panose="020B0604020202020204" pitchFamily="34" charset="0"/>
                  <a:cs typeface="Arial" panose="020B0604020202020204" pitchFamily="34" charset="0"/>
                </a:rPr>
                <a:t>Short term</a:t>
              </a:r>
              <a:endParaRPr lang="nl-NL" sz="1600" i="1" dirty="0">
                <a:latin typeface="Arial" panose="020B0604020202020204" pitchFamily="34" charset="0"/>
                <a:cs typeface="Arial" panose="020B0604020202020204" pitchFamily="34" charset="0"/>
              </a:endParaRPr>
            </a:p>
          </p:txBody>
        </p:sp>
        <p:sp>
          <p:nvSpPr>
            <p:cNvPr id="5141" name="Text Box 28"/>
            <p:cNvSpPr txBox="1">
              <a:spLocks noChangeArrowheads="1"/>
            </p:cNvSpPr>
            <p:nvPr/>
          </p:nvSpPr>
          <p:spPr bwMode="auto">
            <a:xfrm>
              <a:off x="735013" y="5334000"/>
              <a:ext cx="1581150" cy="366713"/>
            </a:xfrm>
            <a:prstGeom prst="rect">
              <a:avLst/>
            </a:prstGeom>
            <a:solidFill>
              <a:srgbClr val="FEF6D6"/>
            </a:solidFill>
            <a:ln w="9525">
              <a:noFill/>
              <a:miter lim="800000"/>
              <a:headEnd/>
              <a:tailEnd/>
            </a:ln>
            <a:effectLst>
              <a:outerShdw dist="107763" dir="2700000" algn="ctr" rotWithShape="0">
                <a:schemeClr val="bg2">
                  <a:alpha val="50000"/>
                </a:schemeClr>
              </a:outerShdw>
            </a:effectLst>
          </p:spPr>
          <p:txBody>
            <a:bodyPr anchor="ctr"/>
            <a:lstStyle/>
            <a:p>
              <a:pPr algn="ctr" eaLnBrk="0" hangingPunct="0">
                <a:defRPr/>
              </a:pPr>
              <a:r>
                <a:rPr lang="en-US" sz="1600" i="1" dirty="0">
                  <a:latin typeface="Arial" panose="020B0604020202020204" pitchFamily="34" charset="0"/>
                  <a:cs typeface="Arial" panose="020B0604020202020204" pitchFamily="34" charset="0"/>
                </a:rPr>
                <a:t>Long term</a:t>
              </a:r>
              <a:endParaRPr lang="nl-NL" sz="1600" i="1" dirty="0">
                <a:latin typeface="Arial" panose="020B0604020202020204" pitchFamily="34" charset="0"/>
                <a:cs typeface="Arial" panose="020B0604020202020204" pitchFamily="34" charset="0"/>
              </a:endParaRPr>
            </a:p>
          </p:txBody>
        </p:sp>
        <p:sp>
          <p:nvSpPr>
            <p:cNvPr id="5142" name="Line 29"/>
            <p:cNvSpPr>
              <a:spLocks noChangeShapeType="1"/>
            </p:cNvSpPr>
            <p:nvPr/>
          </p:nvSpPr>
          <p:spPr bwMode="auto">
            <a:xfrm flipH="1">
              <a:off x="5945188" y="2590800"/>
              <a:ext cx="1065212" cy="76200"/>
            </a:xfrm>
            <a:prstGeom prst="line">
              <a:avLst/>
            </a:prstGeom>
            <a:noFill/>
            <a:ln w="12700">
              <a:solidFill>
                <a:schemeClr val="tx1"/>
              </a:solidFill>
              <a:round/>
              <a:headEnd/>
              <a:tailEnd type="triangle" w="med" len="med"/>
            </a:ln>
          </p:spPr>
          <p:txBody>
            <a:bodyPr lIns="90488" tIns="44450" rIns="90488" bIns="44450"/>
            <a:lstStyle/>
            <a:p>
              <a:endParaRPr lang="nl-NL" dirty="0"/>
            </a:p>
          </p:txBody>
        </p:sp>
        <p:sp>
          <p:nvSpPr>
            <p:cNvPr id="5143" name="Line 30"/>
            <p:cNvSpPr>
              <a:spLocks noChangeShapeType="1"/>
            </p:cNvSpPr>
            <p:nvPr/>
          </p:nvSpPr>
          <p:spPr bwMode="auto">
            <a:xfrm>
              <a:off x="2362200" y="2667000"/>
              <a:ext cx="1219200" cy="228600"/>
            </a:xfrm>
            <a:prstGeom prst="line">
              <a:avLst/>
            </a:prstGeom>
            <a:noFill/>
            <a:ln w="12700">
              <a:solidFill>
                <a:schemeClr val="tx1"/>
              </a:solidFill>
              <a:round/>
              <a:headEnd/>
              <a:tailEnd type="triangle" w="med" len="med"/>
            </a:ln>
          </p:spPr>
          <p:txBody>
            <a:bodyPr lIns="90488" tIns="44450" rIns="90488" bIns="44450"/>
            <a:lstStyle/>
            <a:p>
              <a:endParaRPr lang="nl-NL" dirty="0"/>
            </a:p>
          </p:txBody>
        </p:sp>
        <p:sp>
          <p:nvSpPr>
            <p:cNvPr id="5144" name="Line 31"/>
            <p:cNvSpPr>
              <a:spLocks noChangeShapeType="1"/>
            </p:cNvSpPr>
            <p:nvPr/>
          </p:nvSpPr>
          <p:spPr bwMode="auto">
            <a:xfrm>
              <a:off x="2286000" y="5486400"/>
              <a:ext cx="1676400" cy="76200"/>
            </a:xfrm>
            <a:prstGeom prst="line">
              <a:avLst/>
            </a:prstGeom>
            <a:noFill/>
            <a:ln w="12700">
              <a:solidFill>
                <a:schemeClr val="tx1"/>
              </a:solidFill>
              <a:round/>
              <a:headEnd/>
              <a:tailEnd type="triangle" w="med" len="med"/>
            </a:ln>
          </p:spPr>
          <p:txBody>
            <a:bodyPr lIns="90488" tIns="44450" rIns="90488" bIns="44450"/>
            <a:lstStyle/>
            <a:p>
              <a:endParaRPr lang="nl-NL" dirty="0"/>
            </a:p>
          </p:txBody>
        </p:sp>
        <p:sp>
          <p:nvSpPr>
            <p:cNvPr id="5145" name="Line 32"/>
            <p:cNvSpPr>
              <a:spLocks noChangeShapeType="1"/>
            </p:cNvSpPr>
            <p:nvPr/>
          </p:nvSpPr>
          <p:spPr bwMode="auto">
            <a:xfrm flipH="1">
              <a:off x="5562600" y="5486400"/>
              <a:ext cx="1371600" cy="228600"/>
            </a:xfrm>
            <a:prstGeom prst="line">
              <a:avLst/>
            </a:prstGeom>
            <a:noFill/>
            <a:ln w="12700">
              <a:solidFill>
                <a:schemeClr val="tx1"/>
              </a:solidFill>
              <a:round/>
              <a:headEnd/>
              <a:tailEnd type="triangle" w="med" len="med"/>
            </a:ln>
          </p:spPr>
          <p:txBody>
            <a:bodyPr lIns="90488" tIns="44450" rIns="90488" bIns="44450"/>
            <a:lstStyle/>
            <a:p>
              <a:endParaRPr lang="nl-NL" dirty="0"/>
            </a:p>
          </p:txBody>
        </p:sp>
      </p:grpSp>
      <p:sp>
        <p:nvSpPr>
          <p:cNvPr id="3" name="Tekstvak 2"/>
          <p:cNvSpPr txBox="1"/>
          <p:nvPr/>
        </p:nvSpPr>
        <p:spPr>
          <a:xfrm>
            <a:off x="112656" y="3200549"/>
            <a:ext cx="2487671" cy="523220"/>
          </a:xfrm>
          <a:prstGeom prst="rect">
            <a:avLst/>
          </a:prstGeom>
          <a:noFill/>
        </p:spPr>
        <p:txBody>
          <a:bodyPr wrap="square" rtlCol="0">
            <a:spAutoFit/>
          </a:bodyPr>
          <a:lstStyle/>
          <a:p>
            <a:r>
              <a:rPr lang="nl-NL" sz="1400" dirty="0" err="1" smtClean="0">
                <a:latin typeface="Arial" panose="020B0604020202020204" pitchFamily="34" charset="0"/>
                <a:cs typeface="Arial" panose="020B0604020202020204" pitchFamily="34" charset="0"/>
              </a:rPr>
              <a:t>Temperature</a:t>
            </a:r>
            <a:r>
              <a:rPr lang="nl-NL" sz="1400" dirty="0" smtClean="0">
                <a:latin typeface="Arial" panose="020B0604020202020204" pitchFamily="34" charset="0"/>
                <a:cs typeface="Arial" panose="020B0604020202020204" pitchFamily="34" charset="0"/>
              </a:rPr>
              <a:t> of hot </a:t>
            </a:r>
            <a:r>
              <a:rPr lang="nl-NL" sz="1400" dirty="0" err="1" smtClean="0">
                <a:latin typeface="Arial" panose="020B0604020202020204" pitchFamily="34" charset="0"/>
                <a:cs typeface="Arial" panose="020B0604020202020204" pitchFamily="34" charset="0"/>
              </a:rPr>
              <a:t>meal</a:t>
            </a:r>
            <a:r>
              <a:rPr lang="nl-NL" sz="1400" dirty="0" smtClean="0">
                <a:latin typeface="Arial" panose="020B0604020202020204" pitchFamily="34" charset="0"/>
                <a:cs typeface="Arial" panose="020B0604020202020204" pitchFamily="34" charset="0"/>
              </a:rPr>
              <a:t> </a:t>
            </a:r>
            <a:r>
              <a:rPr lang="nl-NL" sz="1400" dirty="0" err="1" smtClean="0">
                <a:latin typeface="Arial" panose="020B0604020202020204" pitchFamily="34" charset="0"/>
                <a:cs typeface="Arial" panose="020B0604020202020204" pitchFamily="34" charset="0"/>
              </a:rPr>
              <a:t>measured</a:t>
            </a:r>
            <a:r>
              <a:rPr lang="nl-NL" sz="1400" dirty="0" smtClean="0">
                <a:latin typeface="Arial" panose="020B0604020202020204" pitchFamily="34" charset="0"/>
                <a:cs typeface="Arial" panose="020B0604020202020204" pitchFamily="34" charset="0"/>
              </a:rPr>
              <a:t> per </a:t>
            </a:r>
            <a:r>
              <a:rPr lang="nl-NL" sz="1400" dirty="0" err="1" smtClean="0">
                <a:latin typeface="Arial" panose="020B0604020202020204" pitchFamily="34" charset="0"/>
                <a:cs typeface="Arial" panose="020B0604020202020204" pitchFamily="34" charset="0"/>
              </a:rPr>
              <a:t>day</a:t>
            </a:r>
            <a:endParaRPr lang="nl-NL" sz="1400" dirty="0">
              <a:latin typeface="Arial" panose="020B0604020202020204" pitchFamily="34" charset="0"/>
              <a:cs typeface="Arial" panose="020B0604020202020204" pitchFamily="34" charset="0"/>
            </a:endParaRPr>
          </a:p>
        </p:txBody>
      </p:sp>
      <p:sp>
        <p:nvSpPr>
          <p:cNvPr id="29" name="Tekstvak 28"/>
          <p:cNvSpPr txBox="1"/>
          <p:nvPr/>
        </p:nvSpPr>
        <p:spPr>
          <a:xfrm>
            <a:off x="175985" y="6062057"/>
            <a:ext cx="2487671" cy="523220"/>
          </a:xfrm>
          <a:prstGeom prst="rect">
            <a:avLst/>
          </a:prstGeom>
          <a:noFill/>
        </p:spPr>
        <p:txBody>
          <a:bodyPr wrap="square" rtlCol="0">
            <a:spAutoFit/>
          </a:bodyPr>
          <a:lstStyle/>
          <a:p>
            <a:r>
              <a:rPr lang="nl-NL" sz="1400" dirty="0" err="1" smtClean="0">
                <a:latin typeface="Arial" panose="020B0604020202020204" pitchFamily="34" charset="0"/>
                <a:cs typeface="Arial" panose="020B0604020202020204" pitchFamily="34" charset="0"/>
              </a:rPr>
              <a:t>Temperature</a:t>
            </a:r>
            <a:r>
              <a:rPr lang="nl-NL" sz="1400" dirty="0" smtClean="0">
                <a:latin typeface="Arial" panose="020B0604020202020204" pitchFamily="34" charset="0"/>
                <a:cs typeface="Arial" panose="020B0604020202020204" pitchFamily="34" charset="0"/>
              </a:rPr>
              <a:t> of hot </a:t>
            </a:r>
            <a:r>
              <a:rPr lang="nl-NL" sz="1400" dirty="0" err="1" smtClean="0">
                <a:latin typeface="Arial" panose="020B0604020202020204" pitchFamily="34" charset="0"/>
                <a:cs typeface="Arial" panose="020B0604020202020204" pitchFamily="34" charset="0"/>
              </a:rPr>
              <a:t>meal</a:t>
            </a:r>
            <a:r>
              <a:rPr lang="nl-NL" sz="1400" dirty="0" smtClean="0">
                <a:latin typeface="Arial" panose="020B0604020202020204" pitchFamily="34" charset="0"/>
                <a:cs typeface="Arial" panose="020B0604020202020204" pitchFamily="34" charset="0"/>
              </a:rPr>
              <a:t> </a:t>
            </a:r>
            <a:r>
              <a:rPr lang="nl-NL" sz="1400" dirty="0" err="1" smtClean="0">
                <a:latin typeface="Arial" panose="020B0604020202020204" pitchFamily="34" charset="0"/>
                <a:cs typeface="Arial" panose="020B0604020202020204" pitchFamily="34" charset="0"/>
              </a:rPr>
              <a:t>measured</a:t>
            </a:r>
            <a:r>
              <a:rPr lang="nl-NL" sz="1400" dirty="0" smtClean="0">
                <a:latin typeface="Arial" panose="020B0604020202020204" pitchFamily="34" charset="0"/>
                <a:cs typeface="Arial" panose="020B0604020202020204" pitchFamily="34" charset="0"/>
              </a:rPr>
              <a:t> per week</a:t>
            </a:r>
            <a:endParaRPr lang="nl-NL" sz="1400" dirty="0">
              <a:latin typeface="Arial" panose="020B0604020202020204" pitchFamily="34" charset="0"/>
              <a:cs typeface="Arial" panose="020B0604020202020204" pitchFamily="34" charset="0"/>
            </a:endParaRP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LSSH">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rgbClr val="C4172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534</TotalTime>
  <Words>2638</Words>
  <Application>Microsoft Office PowerPoint</Application>
  <PresentationFormat>35mm Slides</PresentationFormat>
  <Paragraphs>444</Paragraphs>
  <Slides>24</Slides>
  <Notes>24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1" baseType="lpstr">
      <vt:lpstr>Arial</vt:lpstr>
      <vt:lpstr>Calibri</vt:lpstr>
      <vt:lpstr>Wingdings</vt:lpstr>
      <vt:lpstr>Cambria Math</vt:lpstr>
      <vt:lpstr>Arial Black</vt:lpstr>
      <vt:lpstr>LSSH</vt:lpstr>
      <vt:lpstr>Vergelijking</vt:lpstr>
      <vt:lpstr>Process Performance Metrics  </vt:lpstr>
      <vt:lpstr>Process Performance Metrics</vt:lpstr>
      <vt:lpstr>Process Performance Metrics</vt:lpstr>
      <vt:lpstr>Process Performance Metrics</vt:lpstr>
      <vt:lpstr>Process Performance Metrics</vt:lpstr>
      <vt:lpstr>Process Performance Metrics</vt:lpstr>
      <vt:lpstr>Process Performance Metrics</vt:lpstr>
      <vt:lpstr>Process Performance Metrics</vt:lpstr>
      <vt:lpstr>Process Performance Metrics</vt:lpstr>
      <vt:lpstr>Process Performance Metrics</vt:lpstr>
      <vt:lpstr>Process Performance Metrics</vt:lpstr>
      <vt:lpstr>Process Performance Metrics</vt:lpstr>
      <vt:lpstr>Process Performance Metrics</vt:lpstr>
      <vt:lpstr>Process Performance Metrics</vt:lpstr>
      <vt:lpstr>Process Performance Metrics</vt:lpstr>
      <vt:lpstr>Process Capability &amp; Performance  </vt:lpstr>
      <vt:lpstr>Process Capability &amp; Performance</vt:lpstr>
      <vt:lpstr>Process Capability &amp; Performance</vt:lpstr>
      <vt:lpstr>Process Capability &amp; Performance</vt:lpstr>
      <vt:lpstr>Process Capability &amp; Performance</vt:lpstr>
      <vt:lpstr>Process Capability &amp; Performance</vt:lpstr>
      <vt:lpstr>Process Capability &amp; Performance</vt:lpstr>
      <vt:lpstr>Process Capability &amp; Performance</vt:lpstr>
      <vt:lpstr>Process Capability &amp; Performance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25.YB.UH.U4.E4 Process Performance Metrics and Process Capability &amp; Performance</dc:title>
  <dc:subject/>
  <dc:creator>Paulien</dc:creator>
  <cp:lastModifiedBy>Olivia.McDermott</cp:lastModifiedBy>
  <cp:revision>28</cp:revision>
  <dcterms:created xsi:type="dcterms:W3CDTF">2014-02-17T10:18:21Z</dcterms:created>
  <dcterms:modified xsi:type="dcterms:W3CDTF">2014-05-13T11:27:15Z</dcterms:modified>
</cp:coreProperties>
</file>