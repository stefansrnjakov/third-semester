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0"/>
  </p:notesMasterIdLst>
  <p:handoutMasterIdLst>
    <p:handoutMasterId r:id="rId21"/>
  </p:handoutMasterIdLst>
  <p:sldIdLst>
    <p:sldId id="256" r:id="rId2"/>
    <p:sldId id="257" r:id="rId3"/>
    <p:sldId id="261" r:id="rId4"/>
    <p:sldId id="262"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Lst>
  <p:sldSz cx="10287000" cy="6858000" type="35mm"/>
  <p:notesSz cx="6858000" cy="9144000"/>
  <p:embeddedFontLst>
    <p:embeddedFont>
      <p:font typeface="Arial Black" panose="020B0A04020102020204" pitchFamily="34" charset="0"/>
      <p:bold r:id="rId22"/>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46" autoAdjust="0"/>
    <p:restoredTop sz="59927" autoAdjust="0"/>
  </p:normalViewPr>
  <p:slideViewPr>
    <p:cSldViewPr>
      <p:cViewPr varScale="1">
        <p:scale>
          <a:sx n="66" d="100"/>
          <a:sy n="66" d="100"/>
        </p:scale>
        <p:origin x="2202" y="48"/>
      </p:cViewPr>
      <p:guideLst>
        <p:guide orient="horz" pos="2160"/>
        <p:guide pos="324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503A31C-1352-4AEC-9069-054237A6A73E}" type="datetimeFigureOut">
              <a:rPr lang="nl-NL"/>
              <a:pPr>
                <a:defRPr/>
              </a:pPr>
              <a:t>27-10-2024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C28F12F-3F75-4A8E-A8E5-25F940BE6D1B}" type="slidenum">
              <a:rPr lang="nl-NL"/>
              <a:pPr>
                <a:defRPr/>
              </a:pPr>
              <a:t>‹#›</a:t>
            </a:fld>
            <a:endParaRPr lang="nl-NL"/>
          </a:p>
        </p:txBody>
      </p:sp>
    </p:spTree>
    <p:extLst>
      <p:ext uri="{BB962C8B-B14F-4D97-AF65-F5344CB8AC3E}">
        <p14:creationId xmlns:p14="http://schemas.microsoft.com/office/powerpoint/2010/main" val="23987722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2C66217-3D4D-4E03-8A41-0DEBE104EDE8}" type="datetimeFigureOut">
              <a:rPr lang="nl-NL"/>
              <a:pPr>
                <a:defRPr/>
              </a:pPr>
              <a:t>27-10-2024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53E24C00-411A-49A4-88D3-810CD5E4A63E}" type="slidenum">
              <a:rPr lang="nl-NL"/>
              <a:pPr>
                <a:defRPr/>
              </a:pPr>
              <a:t>‹#›</a:t>
            </a:fld>
            <a:endParaRPr lang="nl-NL"/>
          </a:p>
        </p:txBody>
      </p:sp>
    </p:spTree>
    <p:extLst>
      <p:ext uri="{BB962C8B-B14F-4D97-AF65-F5344CB8AC3E}">
        <p14:creationId xmlns:p14="http://schemas.microsoft.com/office/powerpoint/2010/main" val="765423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to this Lean Six Sigma Academy Yellow Belt training module.</a:t>
            </a:r>
          </a:p>
          <a:p>
            <a:endParaRPr lang="en-GB" dirty="0"/>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1</a:t>
            </a:fld>
            <a:endParaRPr lang="nl-NL"/>
          </a:p>
        </p:txBody>
      </p:sp>
    </p:spTree>
    <p:extLst>
      <p:ext uri="{BB962C8B-B14F-4D97-AF65-F5344CB8AC3E}">
        <p14:creationId xmlns:p14="http://schemas.microsoft.com/office/powerpoint/2010/main" val="3007759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800" dirty="0"/>
              <a:t>We will start by discussing four types of data: categorical, ordinal, interval and ratio data. Categorical data has no natural order within the data. For example, think of the colours of cars on the road. When there is a natural order within the data, but the differences cannot be quantified or compared, the data is ordinal. An example of this is the ‘pecking order’ within a group - we know who the boss is, but we cannot define by how much. The next type of data belongs on the interval scale. Here, there is a natural order and the differences can be quantified and compared. This could be for example the temperature of an oven: 100 °C is 80 °C hotter than room temperature. The last scale is the ratio scale, this means that besides being interval data, a meaningful zero also exists. Think of the height of an object, such as the Eiffel tower. This can be compared to an another building like the church of Utrecht with a height of zero meaning the ground level.</a:t>
            </a:r>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2</a:t>
            </a:fld>
            <a:endParaRPr lang="nl-NL"/>
          </a:p>
        </p:txBody>
      </p:sp>
    </p:spTree>
    <p:extLst>
      <p:ext uri="{BB962C8B-B14F-4D97-AF65-F5344CB8AC3E}">
        <p14:creationId xmlns:p14="http://schemas.microsoft.com/office/powerpoint/2010/main" val="2424302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pPr defTabSz="889511"/>
            <a:fld id="{AB31B89A-A9AD-478F-AB47-332E7D226A98}" type="slidenum">
              <a:rPr lang="en-US" smtClean="0"/>
              <a:pPr defTabSz="889511"/>
              <a:t>3</a:t>
            </a:fld>
            <a:endParaRPr lang="en-US" dirty="0"/>
          </a:p>
        </p:txBody>
      </p:sp>
      <p:sp>
        <p:nvSpPr>
          <p:cNvPr id="11267" name="Rectangle 2"/>
          <p:cNvSpPr>
            <a:spLocks noGrp="1" noRot="1" noChangeAspect="1" noChangeArrowheads="1" noTextEdit="1"/>
          </p:cNvSpPr>
          <p:nvPr>
            <p:ph type="sldImg"/>
          </p:nvPr>
        </p:nvSpPr>
        <p:spPr>
          <a:xfrm>
            <a:off x="858838" y="685800"/>
            <a:ext cx="5149850" cy="3433763"/>
          </a:xfrm>
          <a:ln/>
        </p:spPr>
      </p:sp>
      <p:sp>
        <p:nvSpPr>
          <p:cNvPr id="11268" name="Rectangle 3"/>
          <p:cNvSpPr>
            <a:spLocks noGrp="1" noChangeArrowheads="1"/>
          </p:cNvSpPr>
          <p:nvPr>
            <p:ph type="body" idx="1"/>
          </p:nvPr>
        </p:nvSpPr>
        <p:spPr>
          <a:xfrm>
            <a:off x="685494" y="4341522"/>
            <a:ext cx="5487013" cy="4116005"/>
          </a:xfrm>
          <a:noFill/>
          <a:ln/>
        </p:spPr>
        <p:txBody>
          <a:bodyPr/>
          <a:lstStyle/>
          <a:p>
            <a:pPr eaLnBrk="1" hangingPunct="1"/>
            <a:r>
              <a:rPr lang="en-GB" dirty="0"/>
              <a:t>Next to quantitative data, there is also a type of data which we call qualitative or attributive data. The attribute or qualitative data can be categorical or ordinal. Categorical data has no natural order in the data and a fixed or countable number of possible outcomes. An example of categorical data is the name of the town or province in which we live. </a:t>
            </a:r>
          </a:p>
          <a:p>
            <a:pPr eaLnBrk="1" hangingPunct="1"/>
            <a:endParaRPr lang="en-GB" dirty="0"/>
          </a:p>
          <a:p>
            <a:pPr eaLnBrk="1" hangingPunct="1"/>
            <a:r>
              <a:rPr lang="en-GB" dirty="0"/>
              <a:t>The other type of attribute or qualitative data is the ordinal data type. With this type there is a natural order in the possible outcomes, but the data has no interval scale. An example is when we judge music, the 5 is better than the 4, but we don’t know how much better. This type of data is used in many questionnaires, such as those used when companies try to evaluate how satisfied we are with their service.</a:t>
            </a:r>
          </a:p>
          <a:p>
            <a:pPr eaLnBrk="1" hangingPunct="1"/>
            <a:endParaRPr lang="en-GB" dirty="0"/>
          </a:p>
          <a:p>
            <a:pPr eaLnBrk="1" hangingPunct="1"/>
            <a:endParaRPr lang="en-US" dirty="0"/>
          </a:p>
        </p:txBody>
      </p:sp>
    </p:spTree>
    <p:extLst>
      <p:ext uri="{BB962C8B-B14F-4D97-AF65-F5344CB8AC3E}">
        <p14:creationId xmlns:p14="http://schemas.microsoft.com/office/powerpoint/2010/main" val="150891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example of categorical data is given in the table of nominal data. Here, the colour of a pill is shown. There is no order in this type of data: green is not better or worse than red. In the pie chart, the proportion of each colour as a percentage of the total measurement is given. On the bottom, the count of each pill colour is given in a bar chart.</a:t>
            </a:r>
          </a:p>
          <a:p>
            <a:endParaRPr lang="en-GB" dirty="0"/>
          </a:p>
          <a:p>
            <a:endParaRPr lang="en-GB" dirty="0"/>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4</a:t>
            </a:fld>
            <a:endParaRPr lang="nl-NL"/>
          </a:p>
        </p:txBody>
      </p:sp>
    </p:spTree>
    <p:extLst>
      <p:ext uri="{BB962C8B-B14F-4D97-AF65-F5344CB8AC3E}">
        <p14:creationId xmlns:p14="http://schemas.microsoft.com/office/powerpoint/2010/main" val="102111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also another way of looking at data. When we measure data or count objects, we talk about ‘variable data’ or ‘quantitative data’. The countable type of data is called discrete and is based on a number of events. Because there is a meaningful zero here and the differences can be quantified and compared, the quantitative data is based on a ratio scale. An example of discrete data is the number of defects in production per shift or day. </a:t>
            </a:r>
          </a:p>
          <a:p>
            <a:endParaRPr lang="en-GB" dirty="0"/>
          </a:p>
          <a:p>
            <a:r>
              <a:rPr lang="en-GB" dirty="0"/>
              <a:t>The second type of quantitative data is ‘continuous’ or ‘measurable data’. This means that the possible outcomes of the measurement lie on a continuous scale. An example of this is the length or weight of a product. The data here can be interval as well as ratio data because there is a natural order and differences can be quantified and compared. </a:t>
            </a:r>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5</a:t>
            </a:fld>
            <a:endParaRPr lang="nl-NL"/>
          </a:p>
        </p:txBody>
      </p:sp>
    </p:spTree>
    <p:extLst>
      <p:ext uri="{BB962C8B-B14F-4D97-AF65-F5344CB8AC3E}">
        <p14:creationId xmlns:p14="http://schemas.microsoft.com/office/powerpoint/2010/main" val="1924020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jdelijke aanduiding voor dia-afbeelding 1"/>
          <p:cNvSpPr>
            <a:spLocks noGrp="1" noRot="1" noChangeAspect="1" noTextEdit="1"/>
          </p:cNvSpPr>
          <p:nvPr>
            <p:ph type="sldImg"/>
          </p:nvPr>
        </p:nvSpPr>
        <p:spPr>
          <a:xfrm>
            <a:off x="857250" y="685800"/>
            <a:ext cx="5143500" cy="3429000"/>
          </a:xfrm>
          <a:ln/>
        </p:spPr>
      </p:sp>
      <p:sp>
        <p:nvSpPr>
          <p:cNvPr id="10243" name="Tijdelijke aanduiding voor notities 2"/>
          <p:cNvSpPr>
            <a:spLocks noGrp="1"/>
          </p:cNvSpPr>
          <p:nvPr>
            <p:ph type="body" idx="1"/>
          </p:nvPr>
        </p:nvSpPr>
        <p:spPr>
          <a:noFill/>
          <a:ln/>
        </p:spPr>
        <p:txBody>
          <a:bodyPr/>
          <a:lstStyle/>
          <a:p>
            <a:r>
              <a:rPr lang="en-GB" dirty="0"/>
              <a:t>An example of discrete data and a visualisation of this data are given here. The data is the number of breakages seen in an orthopaedic clinic. On the top right we can see an overview of one year of data in a time series plot. In this graph, the number of breakages are plotted each month.. </a:t>
            </a:r>
            <a:endParaRPr lang="nl-NL" dirty="0"/>
          </a:p>
        </p:txBody>
      </p:sp>
      <p:sp>
        <p:nvSpPr>
          <p:cNvPr id="10244" name="Tijdelijke aanduiding voor dianummer 3"/>
          <p:cNvSpPr>
            <a:spLocks noGrp="1"/>
          </p:cNvSpPr>
          <p:nvPr>
            <p:ph type="sldNum" sz="quarter" idx="5"/>
          </p:nvPr>
        </p:nvSpPr>
        <p:spPr>
          <a:noFill/>
        </p:spPr>
        <p:txBody>
          <a:bodyPr/>
          <a:lstStyle/>
          <a:p>
            <a:pPr defTabSz="889511"/>
            <a:fld id="{438FB0F8-395D-489D-A57F-C750A2A7EB86}" type="slidenum">
              <a:rPr lang="en-US" smtClean="0"/>
              <a:pPr defTabSz="889511"/>
              <a:t>6</a:t>
            </a:fld>
            <a:endParaRPr lang="en-US" dirty="0"/>
          </a:p>
        </p:txBody>
      </p:sp>
    </p:spTree>
    <p:extLst>
      <p:ext uri="{BB962C8B-B14F-4D97-AF65-F5344CB8AC3E}">
        <p14:creationId xmlns:p14="http://schemas.microsoft.com/office/powerpoint/2010/main" val="2134635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can study a process which generates continuous data. In this case, we have negative as well as positive values.  The frequency of each value is plotted against the data value. The histogram shows the frequency of measurements in a certain interval or bin.</a:t>
            </a:r>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7</a:t>
            </a:fld>
            <a:endParaRPr lang="nl-NL"/>
          </a:p>
        </p:txBody>
      </p:sp>
    </p:spTree>
    <p:extLst>
      <p:ext uri="{BB962C8B-B14F-4D97-AF65-F5344CB8AC3E}">
        <p14:creationId xmlns:p14="http://schemas.microsoft.com/office/powerpoint/2010/main" val="316101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discussing these different types of data, we will now address the way to obtain information from a collection of data. Sampling is a method of drawing conclusions about a process.</a:t>
            </a:r>
          </a:p>
          <a:p>
            <a:endParaRPr lang="en-GB" dirty="0"/>
          </a:p>
          <a:p>
            <a:endParaRPr lang="en-GB" dirty="0"/>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8</a:t>
            </a:fld>
            <a:endParaRPr lang="nl-NL"/>
          </a:p>
        </p:txBody>
      </p:sp>
    </p:spTree>
    <p:extLst>
      <p:ext uri="{BB962C8B-B14F-4D97-AF65-F5344CB8AC3E}">
        <p14:creationId xmlns:p14="http://schemas.microsoft.com/office/powerpoint/2010/main" val="908118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discussing these different types of data, we will now address the way to obtain information from a collection of data. The total collection of a data set is called a population. To draw conclusions about these populations, we need to determine the centre (or mean) and spread (or standard deviation).</a:t>
            </a:r>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9</a:t>
            </a:fld>
            <a:endParaRPr lang="nl-NL"/>
          </a:p>
        </p:txBody>
      </p:sp>
    </p:spTree>
    <p:extLst>
      <p:ext uri="{BB962C8B-B14F-4D97-AF65-F5344CB8AC3E}">
        <p14:creationId xmlns:p14="http://schemas.microsoft.com/office/powerpoint/2010/main" val="1523738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different definitions involved in sampling methods – the sampling process, observation  and population.</a:t>
            </a:r>
          </a:p>
        </p:txBody>
      </p:sp>
      <p:sp>
        <p:nvSpPr>
          <p:cNvPr id="4" name="Slide Number Placeholder 3"/>
          <p:cNvSpPr>
            <a:spLocks noGrp="1"/>
          </p:cNvSpPr>
          <p:nvPr>
            <p:ph type="sldNum" sz="quarter" idx="10"/>
          </p:nvPr>
        </p:nvSpPr>
        <p:spPr/>
        <p:txBody>
          <a:bodyPr/>
          <a:lstStyle/>
          <a:p>
            <a:pPr>
              <a:defRPr/>
            </a:pPr>
            <a:fld id="{53E24C00-411A-49A4-88D3-810CD5E4A63E}" type="slidenum">
              <a:rPr lang="nl-NL" smtClean="0"/>
              <a:pPr>
                <a:defRPr/>
              </a:pPr>
              <a:t>10</a:t>
            </a:fld>
            <a:endParaRPr lang="nl-NL"/>
          </a:p>
        </p:txBody>
      </p:sp>
    </p:spTree>
    <p:extLst>
      <p:ext uri="{BB962C8B-B14F-4D97-AF65-F5344CB8AC3E}">
        <p14:creationId xmlns:p14="http://schemas.microsoft.com/office/powerpoint/2010/main" val="2637786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pPr defTabSz="889511"/>
            <a:fld id="{D19D1D19-9129-45C3-BE8D-62C3B9D53063}" type="slidenum">
              <a:rPr lang="en-US" smtClean="0"/>
              <a:pPr defTabSz="889511"/>
              <a:t>11</a:t>
            </a:fld>
            <a:endParaRPr lang="en-US" dirty="0"/>
          </a:p>
        </p:txBody>
      </p:sp>
      <p:sp>
        <p:nvSpPr>
          <p:cNvPr id="19459" name="Rectangle 2"/>
          <p:cNvSpPr>
            <a:spLocks noGrp="1" noChangeArrowheads="1"/>
          </p:cNvSpPr>
          <p:nvPr>
            <p:ph type="body" idx="1"/>
          </p:nvPr>
        </p:nvSpPr>
        <p:spPr>
          <a:xfrm>
            <a:off x="915525" y="4344357"/>
            <a:ext cx="5026951" cy="4113169"/>
          </a:xfrm>
          <a:noFill/>
          <a:ln/>
        </p:spPr>
        <p:txBody>
          <a:bodyPr lIns="85056" tIns="41783" rIns="85056" bIns="41783"/>
          <a:lstStyle/>
          <a:p>
            <a:pPr eaLnBrk="1" hangingPunct="1"/>
            <a:r>
              <a:rPr lang="en-US" dirty="0"/>
              <a:t>Variation is natural.</a:t>
            </a:r>
          </a:p>
          <a:p>
            <a:pPr eaLnBrk="1" hangingPunct="1"/>
            <a:r>
              <a:rPr lang="en-US" dirty="0"/>
              <a:t>Controlled variation is what we are after.  Predictable. controlled variation can be tolerated and monitored / compensated for.  Random uncontrolled variation is deadly.</a:t>
            </a:r>
          </a:p>
          <a:p>
            <a:pPr eaLnBrk="1" hangingPunct="1"/>
            <a:r>
              <a:rPr lang="en-GB" dirty="0"/>
              <a:t>Process B is not in control: several data points are outside the control limits. These points are called ‘outliers’ or special causes. Our goal is to discover the cause of these outlying data points so that we can prevent them from re-occurring. </a:t>
            </a:r>
          </a:p>
          <a:p>
            <a:pPr eaLnBrk="1" hangingPunct="1"/>
            <a:endParaRPr lang="en-US" dirty="0"/>
          </a:p>
        </p:txBody>
      </p:sp>
      <p:sp>
        <p:nvSpPr>
          <p:cNvPr id="19460" name="Rectangle 3"/>
          <p:cNvSpPr>
            <a:spLocks noGrp="1" noRot="1" noChangeAspect="1" noChangeArrowheads="1" noTextEdit="1"/>
          </p:cNvSpPr>
          <p:nvPr>
            <p:ph type="sldImg"/>
          </p:nvPr>
        </p:nvSpPr>
        <p:spPr>
          <a:xfrm>
            <a:off x="868363" y="692150"/>
            <a:ext cx="5119687" cy="3414713"/>
          </a:xfrm>
          <a:ln w="12700" cap="flat">
            <a:solidFill>
              <a:schemeClr val="tx1"/>
            </a:solidFill>
          </a:ln>
        </p:spPr>
      </p:sp>
    </p:spTree>
    <p:extLst>
      <p:ext uri="{BB962C8B-B14F-4D97-AF65-F5344CB8AC3E}">
        <p14:creationId xmlns:p14="http://schemas.microsoft.com/office/powerpoint/2010/main" val="48653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pPr defTabSz="889511"/>
            <a:fld id="{2C5F773F-4848-4C2E-9AE3-162020596269}" type="slidenum">
              <a:rPr lang="en-US" smtClean="0"/>
              <a:pPr defTabSz="889511"/>
              <a:t>12</a:t>
            </a:fld>
            <a:endParaRPr lang="en-US" dirty="0"/>
          </a:p>
        </p:txBody>
      </p:sp>
      <p:sp>
        <p:nvSpPr>
          <p:cNvPr id="20483" name="Rectangle 2"/>
          <p:cNvSpPr>
            <a:spLocks noGrp="1" noChangeArrowheads="1"/>
          </p:cNvSpPr>
          <p:nvPr>
            <p:ph type="body" idx="1"/>
          </p:nvPr>
        </p:nvSpPr>
        <p:spPr>
          <a:xfrm>
            <a:off x="915525" y="4344357"/>
            <a:ext cx="5026951" cy="4113169"/>
          </a:xfrm>
          <a:noFill/>
          <a:ln/>
        </p:spPr>
        <p:txBody>
          <a:bodyPr lIns="85056" tIns="41783" rIns="85056" bIns="41783"/>
          <a:lstStyle/>
          <a:p>
            <a:pPr eaLnBrk="1" hangingPunct="1"/>
            <a:r>
              <a:rPr lang="en-GB" dirty="0"/>
              <a:t>The main question we should ask ourselves when we study the variation in a process, is whether this variation is acceptable or not. Because variation is present in every process, we can only try to reduce variation. A basic condition of an acceptable process is a process with a mean that is “on target”. </a:t>
            </a:r>
            <a:r>
              <a:rPr lang="en-GB" dirty="0" err="1"/>
              <a:t>Eg</a:t>
            </a:r>
            <a:r>
              <a:rPr lang="en-GB" dirty="0"/>
              <a:t> the average number of patients seen in the emergency unit.  We will accept the variation, if the process is stable over time and if the variation is small as compared to the specification or tolerance of the customer. </a:t>
            </a:r>
            <a:endParaRPr lang="en-US" dirty="0"/>
          </a:p>
        </p:txBody>
      </p:sp>
      <p:sp>
        <p:nvSpPr>
          <p:cNvPr id="20484" name="Rectangle 3"/>
          <p:cNvSpPr>
            <a:spLocks noGrp="1" noRot="1" noChangeAspect="1" noChangeArrowheads="1" noTextEdit="1"/>
          </p:cNvSpPr>
          <p:nvPr>
            <p:ph type="sldImg"/>
          </p:nvPr>
        </p:nvSpPr>
        <p:spPr>
          <a:xfrm>
            <a:off x="868363" y="692150"/>
            <a:ext cx="5119687" cy="3414713"/>
          </a:xfrm>
          <a:ln w="12700" cap="flat">
            <a:solidFill>
              <a:schemeClr val="tx1"/>
            </a:solidFill>
          </a:ln>
        </p:spPr>
      </p:sp>
    </p:spTree>
    <p:extLst>
      <p:ext uri="{BB962C8B-B14F-4D97-AF65-F5344CB8AC3E}">
        <p14:creationId xmlns:p14="http://schemas.microsoft.com/office/powerpoint/2010/main" val="3403158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jdelijke aanduiding voor dia-afbeelding 1"/>
          <p:cNvSpPr>
            <a:spLocks noGrp="1" noRot="1" noChangeAspect="1" noTextEdit="1"/>
          </p:cNvSpPr>
          <p:nvPr>
            <p:ph type="sldImg"/>
          </p:nvPr>
        </p:nvSpPr>
        <p:spPr>
          <a:xfrm>
            <a:off x="857250" y="685800"/>
            <a:ext cx="5143500" cy="3429000"/>
          </a:xfrm>
          <a:ln/>
        </p:spPr>
      </p:sp>
      <p:sp>
        <p:nvSpPr>
          <p:cNvPr id="23555" name="Tijdelijke aanduiding voor notities 2"/>
          <p:cNvSpPr>
            <a:spLocks noGrp="1"/>
          </p:cNvSpPr>
          <p:nvPr>
            <p:ph type="body" idx="1"/>
          </p:nvPr>
        </p:nvSpPr>
        <p:spPr>
          <a:noFill/>
          <a:ln/>
        </p:spPr>
        <p:txBody>
          <a:bodyPr/>
          <a:lstStyle/>
          <a:p>
            <a:r>
              <a:rPr lang="en-GB" dirty="0"/>
              <a:t>If we want to reduce variation, we need to understand the process. To understand the process, we must look at two parameters: the first one is the mean value or the average outcome of the process. The second one is the spread of the results around this target. If we have a wide process spread, it is more likely that points are located outside the specification limits. It is very important to use graphs and statistics to visualise the process.</a:t>
            </a:r>
          </a:p>
          <a:p>
            <a:endParaRPr lang="nl-NL" dirty="0"/>
          </a:p>
        </p:txBody>
      </p:sp>
      <p:sp>
        <p:nvSpPr>
          <p:cNvPr id="23556" name="Tijdelijke aanduiding voor dianummer 3"/>
          <p:cNvSpPr>
            <a:spLocks noGrp="1"/>
          </p:cNvSpPr>
          <p:nvPr>
            <p:ph type="sldNum" sz="quarter" idx="5"/>
          </p:nvPr>
        </p:nvSpPr>
        <p:spPr>
          <a:noFill/>
        </p:spPr>
        <p:txBody>
          <a:bodyPr/>
          <a:lstStyle/>
          <a:p>
            <a:pPr defTabSz="889511"/>
            <a:fld id="{1F9AA8EF-3988-4217-BC9F-13A5BAA140AB}" type="slidenum">
              <a:rPr lang="en-US" smtClean="0"/>
              <a:pPr defTabSz="889511"/>
              <a:t>13</a:t>
            </a:fld>
            <a:endParaRPr lang="en-US" dirty="0"/>
          </a:p>
        </p:txBody>
      </p:sp>
    </p:spTree>
    <p:extLst>
      <p:ext uri="{BB962C8B-B14F-4D97-AF65-F5344CB8AC3E}">
        <p14:creationId xmlns:p14="http://schemas.microsoft.com/office/powerpoint/2010/main" val="2163476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jdelijke aanduiding voor dia-afbeelding 1"/>
          <p:cNvSpPr>
            <a:spLocks noGrp="1" noRot="1" noChangeAspect="1" noTextEdit="1"/>
          </p:cNvSpPr>
          <p:nvPr>
            <p:ph type="sldImg"/>
          </p:nvPr>
        </p:nvSpPr>
        <p:spPr>
          <a:xfrm>
            <a:off x="857250" y="685800"/>
            <a:ext cx="5143500" cy="3429000"/>
          </a:xfrm>
          <a:ln/>
        </p:spPr>
      </p:sp>
      <p:sp>
        <p:nvSpPr>
          <p:cNvPr id="24579" name="Tijdelijke aanduiding voor notities 2"/>
          <p:cNvSpPr>
            <a:spLocks noGrp="1"/>
          </p:cNvSpPr>
          <p:nvPr>
            <p:ph type="body" idx="1"/>
          </p:nvPr>
        </p:nvSpPr>
        <p:spPr>
          <a:noFill/>
          <a:ln/>
        </p:spPr>
        <p:txBody>
          <a:bodyPr/>
          <a:lstStyle/>
          <a:p>
            <a:r>
              <a:rPr lang="en-GB" dirty="0"/>
              <a:t>The most commonly used statistics for central tendency are the ‘mean’ and the ‘median’. The mean or average is calculated by the sum of the data points divided by the number of points. </a:t>
            </a:r>
          </a:p>
          <a:p>
            <a:r>
              <a:rPr lang="en-GB" dirty="0"/>
              <a:t>The median is the middle value of the data</a:t>
            </a:r>
          </a:p>
          <a:p>
            <a:endParaRPr lang="nl-NL" dirty="0"/>
          </a:p>
        </p:txBody>
      </p:sp>
      <p:sp>
        <p:nvSpPr>
          <p:cNvPr id="24580" name="Tijdelijke aanduiding voor dianummer 3"/>
          <p:cNvSpPr>
            <a:spLocks noGrp="1"/>
          </p:cNvSpPr>
          <p:nvPr>
            <p:ph type="sldNum" sz="quarter" idx="5"/>
          </p:nvPr>
        </p:nvSpPr>
        <p:spPr>
          <a:noFill/>
        </p:spPr>
        <p:txBody>
          <a:bodyPr/>
          <a:lstStyle/>
          <a:p>
            <a:pPr defTabSz="889511"/>
            <a:fld id="{CD9F0DE6-0B8D-4004-835D-7D3E1C75F5E1}" type="slidenum">
              <a:rPr lang="en-US" smtClean="0"/>
              <a:pPr defTabSz="889511"/>
              <a:t>14</a:t>
            </a:fld>
            <a:endParaRPr lang="en-US" dirty="0"/>
          </a:p>
        </p:txBody>
      </p:sp>
    </p:spTree>
    <p:extLst>
      <p:ext uri="{BB962C8B-B14F-4D97-AF65-F5344CB8AC3E}">
        <p14:creationId xmlns:p14="http://schemas.microsoft.com/office/powerpoint/2010/main" val="3603002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jdelijke aanduiding voor dia-afbeelding 1"/>
          <p:cNvSpPr>
            <a:spLocks noGrp="1" noRot="1" noChangeAspect="1" noTextEdit="1"/>
          </p:cNvSpPr>
          <p:nvPr>
            <p:ph type="sldImg"/>
          </p:nvPr>
        </p:nvSpPr>
        <p:spPr>
          <a:xfrm>
            <a:off x="857250" y="685800"/>
            <a:ext cx="5143500" cy="3429000"/>
          </a:xfrm>
          <a:ln/>
        </p:spPr>
      </p:sp>
      <p:sp>
        <p:nvSpPr>
          <p:cNvPr id="25603" name="Tijdelijke aanduiding voor notities 2"/>
          <p:cNvSpPr>
            <a:spLocks noGrp="1"/>
          </p:cNvSpPr>
          <p:nvPr>
            <p:ph type="body" idx="1"/>
          </p:nvPr>
        </p:nvSpPr>
        <p:spPr>
          <a:noFill/>
          <a:ln/>
        </p:spPr>
        <p:txBody>
          <a:bodyPr/>
          <a:lstStyle/>
          <a:p>
            <a:r>
              <a:rPr lang="en-GB" dirty="0"/>
              <a:t>The most commonly used statistics for central tendency are the ‘mean’ and the ‘median’. The mean or average is calculated by the sum of the data points divided by the number of points. </a:t>
            </a:r>
          </a:p>
        </p:txBody>
      </p:sp>
      <p:sp>
        <p:nvSpPr>
          <p:cNvPr id="25604" name="Tijdelijke aanduiding voor dianummer 3"/>
          <p:cNvSpPr>
            <a:spLocks noGrp="1"/>
          </p:cNvSpPr>
          <p:nvPr>
            <p:ph type="sldNum" sz="quarter" idx="5"/>
          </p:nvPr>
        </p:nvSpPr>
        <p:spPr>
          <a:noFill/>
        </p:spPr>
        <p:txBody>
          <a:bodyPr/>
          <a:lstStyle/>
          <a:p>
            <a:pPr defTabSz="889511"/>
            <a:fld id="{53EB753D-9A8D-4C30-8064-A7D651E4BC7F}" type="slidenum">
              <a:rPr lang="en-US" smtClean="0"/>
              <a:pPr defTabSz="889511"/>
              <a:t>15</a:t>
            </a:fld>
            <a:endParaRPr lang="en-US" dirty="0"/>
          </a:p>
        </p:txBody>
      </p:sp>
    </p:spTree>
    <p:extLst>
      <p:ext uri="{BB962C8B-B14F-4D97-AF65-F5344CB8AC3E}">
        <p14:creationId xmlns:p14="http://schemas.microsoft.com/office/powerpoint/2010/main" val="1063741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jdelijke aanduiding voor dia-afbeelding 1"/>
          <p:cNvSpPr>
            <a:spLocks noGrp="1" noRot="1" noChangeAspect="1" noTextEdit="1"/>
          </p:cNvSpPr>
          <p:nvPr>
            <p:ph type="sldImg"/>
          </p:nvPr>
        </p:nvSpPr>
        <p:spPr>
          <a:xfrm>
            <a:off x="857250" y="685800"/>
            <a:ext cx="5143500" cy="3429000"/>
          </a:xfrm>
          <a:ln/>
        </p:spPr>
      </p:sp>
      <p:sp>
        <p:nvSpPr>
          <p:cNvPr id="26627" name="Tijdelijke aanduiding voor notities 2"/>
          <p:cNvSpPr>
            <a:spLocks noGrp="1"/>
          </p:cNvSpPr>
          <p:nvPr>
            <p:ph type="body" idx="1"/>
          </p:nvPr>
        </p:nvSpPr>
        <p:spPr>
          <a:noFill/>
          <a:ln/>
        </p:spPr>
        <p:txBody>
          <a:bodyPr/>
          <a:lstStyle/>
          <a:p>
            <a:r>
              <a:rPr lang="en-GB" dirty="0"/>
              <a:t>There are several measures used for the spread of a sample. A selection of these are shown here. The most simple measure is ‘range’ which is the difference between the highest and the lowest value within the data set. </a:t>
            </a:r>
          </a:p>
          <a:p>
            <a:r>
              <a:rPr lang="en-GB" dirty="0"/>
              <a:t>The most commonly used expression for variability however is ‘standard deviation’. Standard deviation shows how much variation there is from the mean or average of the data set. It is calculated by taking the square root of the variance.</a:t>
            </a:r>
          </a:p>
          <a:p>
            <a:endParaRPr lang="nl-NL" dirty="0"/>
          </a:p>
        </p:txBody>
      </p:sp>
      <p:sp>
        <p:nvSpPr>
          <p:cNvPr id="26628" name="Tijdelijke aanduiding voor dianummer 3"/>
          <p:cNvSpPr>
            <a:spLocks noGrp="1"/>
          </p:cNvSpPr>
          <p:nvPr>
            <p:ph type="sldNum" sz="quarter" idx="5"/>
          </p:nvPr>
        </p:nvSpPr>
        <p:spPr>
          <a:noFill/>
        </p:spPr>
        <p:txBody>
          <a:bodyPr/>
          <a:lstStyle/>
          <a:p>
            <a:fld id="{A225156E-1ACE-455D-91A4-6FD9F78ABE06}" type="slidenum">
              <a:rPr lang="en-US" smtClean="0"/>
              <a:pPr/>
              <a:t>16</a:t>
            </a:fld>
            <a:endParaRPr lang="en-US"/>
          </a:p>
        </p:txBody>
      </p:sp>
    </p:spTree>
    <p:extLst>
      <p:ext uri="{BB962C8B-B14F-4D97-AF65-F5344CB8AC3E}">
        <p14:creationId xmlns:p14="http://schemas.microsoft.com/office/powerpoint/2010/main" val="1762797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jdelijke aanduiding voor dia-afbeelding 1"/>
          <p:cNvSpPr>
            <a:spLocks noGrp="1" noRot="1" noChangeAspect="1" noTextEdit="1"/>
          </p:cNvSpPr>
          <p:nvPr>
            <p:ph type="sldImg"/>
          </p:nvPr>
        </p:nvSpPr>
        <p:spPr>
          <a:xfrm>
            <a:off x="857250" y="685800"/>
            <a:ext cx="5143500" cy="3429000"/>
          </a:xfrm>
          <a:ln/>
        </p:spPr>
      </p:sp>
      <p:sp>
        <p:nvSpPr>
          <p:cNvPr id="27651" name="Tijdelijke aanduiding voor notities 2"/>
          <p:cNvSpPr>
            <a:spLocks noGrp="1"/>
          </p:cNvSpPr>
          <p:nvPr>
            <p:ph type="body" idx="1"/>
          </p:nvPr>
        </p:nvSpPr>
        <p:spPr>
          <a:noFill/>
          <a:ln/>
        </p:spPr>
        <p:txBody>
          <a:bodyPr/>
          <a:lstStyle/>
          <a:p>
            <a:r>
              <a:rPr lang="en-GB" dirty="0"/>
              <a:t>Exercise </a:t>
            </a:r>
          </a:p>
        </p:txBody>
      </p:sp>
      <p:sp>
        <p:nvSpPr>
          <p:cNvPr id="27652" name="Tijdelijke aanduiding voor dianummer 3"/>
          <p:cNvSpPr>
            <a:spLocks noGrp="1"/>
          </p:cNvSpPr>
          <p:nvPr>
            <p:ph type="sldNum" sz="quarter" idx="5"/>
          </p:nvPr>
        </p:nvSpPr>
        <p:spPr>
          <a:noFill/>
        </p:spPr>
        <p:txBody>
          <a:bodyPr/>
          <a:lstStyle/>
          <a:p>
            <a:fld id="{1C203C45-6AA5-4969-87AC-C67A3E505BA4}" type="slidenum">
              <a:rPr lang="en-US" smtClean="0"/>
              <a:pPr/>
              <a:t>17</a:t>
            </a:fld>
            <a:endParaRPr lang="en-US"/>
          </a:p>
        </p:txBody>
      </p:sp>
    </p:spTree>
    <p:extLst>
      <p:ext uri="{BB962C8B-B14F-4D97-AF65-F5344CB8AC3E}">
        <p14:creationId xmlns:p14="http://schemas.microsoft.com/office/powerpoint/2010/main" val="3409122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algn="r" defTabSz="963613"/>
            <a:fld id="{D4B3E958-92B4-4BFF-9BD4-648C118C4F0A}" type="slidenum">
              <a:rPr lang="en-US" sz="1300"/>
              <a:pPr algn="r" defTabSz="963613"/>
              <a:t>18</a:t>
            </a:fld>
            <a:endParaRPr lang="en-US" sz="1300"/>
          </a:p>
        </p:txBody>
      </p:sp>
      <p:sp>
        <p:nvSpPr>
          <p:cNvPr id="59395" name="Rectangle 2"/>
          <p:cNvSpPr>
            <a:spLocks noGrp="1" noRot="1" noChangeAspect="1" noChangeArrowheads="1" noTextEdit="1"/>
          </p:cNvSpPr>
          <p:nvPr>
            <p:ph type="sldImg"/>
          </p:nvPr>
        </p:nvSpPr>
        <p:spPr>
          <a:xfrm>
            <a:off x="673100" y="768350"/>
            <a:ext cx="5762625" cy="3843338"/>
          </a:xfrm>
          <a:ln/>
        </p:spPr>
      </p:sp>
      <p:sp>
        <p:nvSpPr>
          <p:cNvPr id="59396" name="Rectangle 3"/>
          <p:cNvSpPr>
            <a:spLocks noGrp="1" noChangeArrowheads="1"/>
          </p:cNvSpPr>
          <p:nvPr>
            <p:ph type="body" idx="1"/>
          </p:nvPr>
        </p:nvSpPr>
        <p:spPr>
          <a:xfrm>
            <a:off x="709613" y="4859338"/>
            <a:ext cx="5680075" cy="4606925"/>
          </a:xfrm>
          <a:noFill/>
          <a:ln/>
        </p:spPr>
        <p:txBody>
          <a:bodyPr/>
          <a:lstStyle/>
          <a:p>
            <a:pPr eaLnBrk="1" hangingPunct="1"/>
            <a:r>
              <a:rPr lang="en-GB" dirty="0"/>
              <a:t>The graph shown here is a bell shaped normal distribution also called the Gauss curve (named after the German Carl Friedrich Gauss). </a:t>
            </a:r>
            <a:r>
              <a:rPr lang="en-GB"/>
              <a:t>The mean of this distribution is represented by the Greek character micron and the standard deviation is represented by the sigma. </a:t>
            </a:r>
            <a:endParaRPr lang="en-GB" dirty="0"/>
          </a:p>
        </p:txBody>
      </p:sp>
    </p:spTree>
    <p:extLst>
      <p:ext uri="{BB962C8B-B14F-4D97-AF65-F5344CB8AC3E}">
        <p14:creationId xmlns:p14="http://schemas.microsoft.com/office/powerpoint/2010/main" val="2132778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ondertitelstijl van het model te bewerken</a:t>
            </a:r>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a:solidFill>
                  <a:srgbClr val="000000"/>
                </a:solidFill>
                <a:latin typeface="Arial" charset="0"/>
              </a:rPr>
              <a:t>Reference to Authors</a:t>
            </a:r>
            <a:endParaRPr lang="en-GB" altLang="nl-NL"/>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Symbol BV		Netherlands		</a:t>
            </a:r>
            <a:r>
              <a:rPr lang="en-US" altLang="nl-NL" sz="1200">
                <a:solidFill>
                  <a:srgbClr val="000000"/>
                </a:solidFill>
                <a:latin typeface="Arial" charset="0"/>
                <a:hlinkClick r:id="rId2"/>
              </a:rPr>
              <a:t>www.symbolbv.nl</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ISCN Ltd./Ges.m.b.H, 	Ireland/Austria	</a:t>
            </a:r>
            <a:r>
              <a:rPr lang="en-US" altLang="nl-NL" sz="1200">
                <a:solidFill>
                  <a:srgbClr val="000000"/>
                </a:solidFill>
                <a:latin typeface="Arial" charset="0"/>
                <a:hlinkClick r:id="rId3"/>
              </a:rPr>
              <a:t>www.iscn.com</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ROC of Twente	Netherlands		</a:t>
            </a:r>
            <a:r>
              <a:rPr lang="en-US" altLang="nl-NL" sz="1200">
                <a:solidFill>
                  <a:srgbClr val="000000"/>
                </a:solidFill>
                <a:latin typeface="Arial" charset="0"/>
                <a:hlinkClick r:id="rId4"/>
              </a:rPr>
              <a:t>www.rocvantwente.nl</a:t>
            </a:r>
            <a:r>
              <a:rPr lang="en-US" altLang="nl-NL" sz="120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LSSA BV		Netherlands		</a:t>
            </a:r>
            <a:r>
              <a:rPr lang="en-US" altLang="nl-NL" sz="1200">
                <a:solidFill>
                  <a:srgbClr val="000000"/>
                </a:solidFill>
                <a:latin typeface="Arial" charset="0"/>
                <a:hlinkClick r:id="rId5"/>
              </a:rPr>
              <a:t>www.lssa.eu</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University of Limerick	Ireland		</a:t>
            </a:r>
            <a:r>
              <a:rPr lang="en-US" altLang="nl-NL" sz="1200">
                <a:solidFill>
                  <a:srgbClr val="000000"/>
                </a:solidFill>
                <a:latin typeface="Arial" charset="0"/>
                <a:hlinkClick r:id="rId6"/>
              </a:rPr>
              <a:t>www.ul.ie</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University of Twente	Netherlands		</a:t>
            </a:r>
            <a:r>
              <a:rPr lang="en-US" altLang="nl-NL" sz="1200">
                <a:solidFill>
                  <a:srgbClr val="000000"/>
                </a:solidFill>
                <a:latin typeface="Arial" charset="0"/>
                <a:hlinkClick r:id="rId7"/>
              </a:rPr>
              <a:t>www.utwente.nl</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WGV Oost		Netherlands		</a:t>
            </a:r>
            <a:r>
              <a:rPr lang="en-US" altLang="nl-NL" sz="1200">
                <a:solidFill>
                  <a:srgbClr val="000000"/>
                </a:solidFill>
                <a:latin typeface="Arial" charset="0"/>
                <a:hlinkClick r:id="rId8"/>
              </a:rPr>
              <a:t>www.wgvoost.nl</a:t>
            </a:r>
            <a:endParaRPr lang="en-US" altLang="nl-NL" sz="120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a:p>
          <a:p>
            <a:pPr eaLnBrk="1" hangingPunct="1">
              <a:defRPr/>
            </a:pPr>
            <a:r>
              <a:rPr lang="en-US" altLang="nl-NL" sz="1200"/>
              <a:t>This publication reflects the views only of the author</a:t>
            </a:r>
            <a:r>
              <a:rPr lang="sl-SI" altLang="nl-NL" sz="1200"/>
              <a:t>s</a:t>
            </a:r>
            <a:r>
              <a:rPr lang="en-US" altLang="nl-NL" sz="120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8" name="Tijdelijke aanduiding voor tekst 7"/>
          <p:cNvSpPr>
            <a:spLocks noGrp="1"/>
          </p:cNvSpPr>
          <p:nvPr>
            <p:ph type="body" sz="quarter" idx="13"/>
          </p:nvPr>
        </p:nvSpPr>
        <p:spPr>
          <a:xfrm>
            <a:off x="1458000" y="6669360"/>
            <a:ext cx="1498257" cy="203040"/>
          </a:xfrm>
        </p:spPr>
        <p:txBody>
          <a:bodyPr tIns="36000" bIns="36000"/>
          <a:lstStyle>
            <a:lvl1pPr algn="l">
              <a:defRPr sz="1000" b="0">
                <a:solidFill>
                  <a:schemeClr val="bg1"/>
                </a:solidFill>
              </a:defRPr>
            </a:lvl1pPr>
          </a:lstStyle>
          <a:p>
            <a:pPr lvl="0"/>
            <a:r>
              <a:rPr lang="nl-NL"/>
              <a:t>Klik om de modelstijlen te bewerken</a:t>
            </a:r>
          </a:p>
        </p:txBody>
      </p:sp>
      <p:sp>
        <p:nvSpPr>
          <p:cNvPr id="5" name="Tijdelijke aanduiding voor datum 3"/>
          <p:cNvSpPr>
            <a:spLocks noGrp="1"/>
          </p:cNvSpPr>
          <p:nvPr>
            <p:ph type="dt" sz="half" idx="14"/>
          </p:nvPr>
        </p:nvSpPr>
        <p:spPr>
          <a:xfrm>
            <a:off x="514350" y="6356351"/>
            <a:ext cx="2400300" cy="365125"/>
          </a:xfrm>
          <a:prstGeom prst="rect">
            <a:avLst/>
          </a:prstGeom>
        </p:spPr>
        <p:txBody>
          <a:bodyPr/>
          <a:lstStyle>
            <a:lvl1pPr>
              <a:defRPr/>
            </a:lvl1pPr>
          </a:lstStyle>
          <a:p>
            <a:pPr>
              <a:defRPr/>
            </a:pPr>
            <a:fld id="{5694939C-5E1B-4064-96A6-5F5164557037}" type="datetime1">
              <a:rPr lang="nl-NL"/>
              <a:pPr>
                <a:defRPr/>
              </a:pPr>
              <a:t>27-10-2024</a:t>
            </a:fld>
            <a:endParaRPr lang="nl-NL" dirty="0"/>
          </a:p>
        </p:txBody>
      </p:sp>
      <p:sp>
        <p:nvSpPr>
          <p:cNvPr id="6" name="Tijdelijke aanduiding voor voettekst 4"/>
          <p:cNvSpPr>
            <a:spLocks noGrp="1"/>
          </p:cNvSpPr>
          <p:nvPr>
            <p:ph type="ftr" sz="quarter" idx="15"/>
          </p:nvPr>
        </p:nvSpPr>
        <p:spPr/>
        <p:txBody>
          <a:bodyPr/>
          <a:lstStyle>
            <a:lvl1pPr>
              <a:defRPr/>
            </a:lvl1pPr>
          </a:lstStyle>
          <a:p>
            <a:pPr>
              <a:defRPr/>
            </a:pPr>
            <a:endParaRPr lang="nl-NL" dirty="0"/>
          </a:p>
        </p:txBody>
      </p:sp>
      <p:sp>
        <p:nvSpPr>
          <p:cNvPr id="7" name="Tijdelijke aanduiding voor dianummer 5"/>
          <p:cNvSpPr>
            <a:spLocks noGrp="1"/>
          </p:cNvSpPr>
          <p:nvPr>
            <p:ph type="sldNum" sz="quarter" idx="16"/>
          </p:nvPr>
        </p:nvSpPr>
        <p:spPr>
          <a:xfrm>
            <a:off x="7372350" y="6356351"/>
            <a:ext cx="2400300" cy="365125"/>
          </a:xfrm>
          <a:prstGeom prst="rect">
            <a:avLst/>
          </a:prstGeom>
        </p:spPr>
        <p:txBody>
          <a:bodyPr/>
          <a:lstStyle>
            <a:lvl1pPr>
              <a:defRPr/>
            </a:lvl1pPr>
          </a:lstStyle>
          <a:p>
            <a:pPr>
              <a:defRPr/>
            </a:pPr>
            <a:fld id="{34D9FD07-14CA-4458-A8C8-D84CF7EDFDCE}" type="slidenum">
              <a:rPr lang="nl-NL"/>
              <a:pPr>
                <a:defRPr/>
              </a:pPr>
              <a:t>‹#›</a:t>
            </a:fld>
            <a:endParaRPr lang="nl-NL" dirty="0"/>
          </a:p>
        </p:txBody>
      </p:sp>
    </p:spTree>
    <p:extLst>
      <p:ext uri="{BB962C8B-B14F-4D97-AF65-F5344CB8AC3E}">
        <p14:creationId xmlns:p14="http://schemas.microsoft.com/office/powerpoint/2010/main" val="11577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a:t>Klik om de modelstijlen te bewerken</a:t>
            </a:r>
          </a:p>
          <a:p>
            <a:pPr lvl="1"/>
            <a:r>
              <a:rPr lang="nl-NL" altLang="nl-NL"/>
              <a:t>Tweede niveau</a:t>
            </a:r>
          </a:p>
          <a:p>
            <a:pPr lvl="2"/>
            <a:r>
              <a:rPr lang="nl-NL" altLang="nl-NL"/>
              <a:t>Derde niveau</a:t>
            </a:r>
          </a:p>
          <a:p>
            <a:pPr lvl="3"/>
            <a:r>
              <a:rPr lang="nl-NL" altLang="nl-NL"/>
              <a:t>Vierde niveau</a:t>
            </a:r>
          </a:p>
          <a:p>
            <a:pPr lvl="4"/>
            <a:r>
              <a:rPr lang="nl-NL" altLang="nl-NL"/>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43F0A26C-BA10-476C-9EAD-CDBC11413246}" type="slidenum">
              <a:rPr lang="nl-NL" altLang="nl-NL" sz="1000" smtClean="0"/>
              <a:pPr algn="ctr" eaLnBrk="1" hangingPunct="1">
                <a:defRPr/>
              </a:pPr>
              <a:t>‹#›</a:t>
            </a:fld>
            <a:endParaRPr lang="nl-NL" altLang="nl-NL" sz="100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1"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 id="2147483709" r:id="rId9"/>
  </p:sldLayoutIdLst>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2.bin"/><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4.bin"/><Relationship Id="rId4" Type="http://schemas.openxmlformats.org/officeDocument/2006/relationships/image" Target="../media/image16.wmf"/></Relationships>
</file>

<file path=ppt/slides/_rels/slide1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7.bin"/><Relationship Id="rId4" Type="http://schemas.openxmlformats.org/officeDocument/2006/relationships/image" Target="../media/image19.wmf"/></Relationships>
</file>

<file path=ppt/slides/_rels/slide17.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2.wmf"/></Relationships>
</file>

<file path=ppt/slides/_rels/slide1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a:t>Basic Statistics</a:t>
            </a:r>
            <a:endParaRPr lang="nl-NL" dirty="0"/>
          </a:p>
        </p:txBody>
      </p:sp>
      <p:sp>
        <p:nvSpPr>
          <p:cNvPr id="4" name="Tijdelijke aanduiding voor tekst 3"/>
          <p:cNvSpPr>
            <a:spLocks noGrp="1"/>
          </p:cNvSpPr>
          <p:nvPr>
            <p:ph type="subTitle" idx="1"/>
          </p:nvPr>
        </p:nvSpPr>
        <p:spPr/>
        <p:txBody>
          <a:bodyPr/>
          <a:lstStyle/>
          <a:p>
            <a:r>
              <a:rPr lang="en-US"/>
              <a:t>The element ‘Statistics’ reviews the basics of statistics such as mean, deviation and probability. This element reviews a range of graphs that can be used to visualize data as well.</a:t>
            </a:r>
            <a:endParaRPr lang="en-US" dirty="0"/>
          </a:p>
        </p:txBody>
      </p:sp>
      <p:sp>
        <p:nvSpPr>
          <p:cNvPr id="3" name="Tijdelijke aanduiding voor tekst 2"/>
          <p:cNvSpPr>
            <a:spLocks noGrp="1"/>
          </p:cNvSpPr>
          <p:nvPr>
            <p:ph type="body" sz="quarter" idx="13"/>
          </p:nvPr>
        </p:nvSpPr>
        <p:spPr/>
        <p:txBody>
          <a:bodyPr/>
          <a:lstStyle/>
          <a:p>
            <a:r>
              <a:rPr lang="nl-NL"/>
              <a:t>Yellow Belt</a:t>
            </a:r>
            <a:endParaRPr lang="nl-NL" dirty="0"/>
          </a:p>
        </p:txBody>
      </p:sp>
      <p:sp>
        <p:nvSpPr>
          <p:cNvPr id="2" name="Tijdelijke aanduiding voor inhoud 1"/>
          <p:cNvSpPr>
            <a:spLocks noGrp="1"/>
          </p:cNvSpPr>
          <p:nvPr>
            <p:ph sz="quarter" idx="17"/>
          </p:nvPr>
        </p:nvSpPr>
        <p:spPr/>
        <p:txBody>
          <a:bodyPr/>
          <a:lstStyle/>
          <a:p>
            <a:r>
              <a:rPr lang="nl-NL" dirty="0"/>
              <a:t>U4 – </a:t>
            </a:r>
            <a:r>
              <a:rPr lang="nl-NL" dirty="0" err="1"/>
              <a:t>Measure</a:t>
            </a:r>
            <a:endParaRPr lang="nl-NL" dirty="0"/>
          </a:p>
          <a:p>
            <a:r>
              <a:rPr lang="nl-NL" dirty="0"/>
              <a:t>E2 – </a:t>
            </a:r>
            <a:r>
              <a:rPr lang="nl-NL" dirty="0" err="1"/>
              <a:t>Statistics</a:t>
            </a:r>
            <a:endParaRPr lang="nl-N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0869" y="1124744"/>
            <a:ext cx="1754543"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4" name="Rectangle 2"/>
          <p:cNvSpPr>
            <a:spLocks noGrp="1" noChangeArrowheads="1"/>
          </p:cNvSpPr>
          <p:nvPr>
            <p:ph type="title"/>
          </p:nvPr>
        </p:nvSpPr>
        <p:spPr/>
        <p:txBody>
          <a:bodyPr/>
          <a:lstStyle/>
          <a:p>
            <a:r>
              <a:rPr lang="en-GB" dirty="0"/>
              <a:t>Types of Data</a:t>
            </a:r>
          </a:p>
        </p:txBody>
      </p:sp>
      <p:sp>
        <p:nvSpPr>
          <p:cNvPr id="3075" name="Tijdelijke aanduiding voor inhoud 6"/>
          <p:cNvSpPr>
            <a:spLocks noGrp="1"/>
          </p:cNvSpPr>
          <p:nvPr>
            <p:ph idx="1"/>
          </p:nvPr>
        </p:nvSpPr>
        <p:spPr>
          <a:xfrm>
            <a:off x="246956" y="1124744"/>
            <a:ext cx="9865096" cy="5733256"/>
          </a:xfrm>
        </p:spPr>
        <p:txBody>
          <a:bodyPr/>
          <a:lstStyle/>
          <a:p>
            <a:r>
              <a:rPr lang="en-GB" dirty="0"/>
              <a:t>Scale types</a:t>
            </a:r>
            <a:endParaRPr lang="sl-SI" dirty="0"/>
          </a:p>
          <a:p>
            <a:endParaRPr lang="en-GB" sz="1050" dirty="0"/>
          </a:p>
          <a:p>
            <a:r>
              <a:rPr lang="en-US" sz="2000" dirty="0">
                <a:solidFill>
                  <a:srgbClr val="C00000"/>
                </a:solidFill>
              </a:rPr>
              <a:t>Attributive data – Qualitative</a:t>
            </a:r>
            <a:endParaRPr lang="en-GB" sz="2000" dirty="0">
              <a:solidFill>
                <a:srgbClr val="C00000"/>
              </a:solidFill>
            </a:endParaRPr>
          </a:p>
          <a:p>
            <a:pPr lvl="1" indent="-160338"/>
            <a:r>
              <a:rPr lang="en-GB" sz="1800" dirty="0">
                <a:solidFill>
                  <a:srgbClr val="C00000"/>
                </a:solidFill>
              </a:rPr>
              <a:t>Categorical / Nominal </a:t>
            </a:r>
          </a:p>
          <a:p>
            <a:pPr lvl="2">
              <a:buClrTx/>
            </a:pPr>
            <a:r>
              <a:rPr lang="en-GB" b="0" dirty="0"/>
              <a:t>Objects have </a:t>
            </a:r>
            <a:r>
              <a:rPr lang="en-GB" b="1" dirty="0"/>
              <a:t>no natural order </a:t>
            </a:r>
            <a:r>
              <a:rPr lang="en-GB" b="0" dirty="0"/>
              <a:t>(example: gender man/ woman)</a:t>
            </a:r>
          </a:p>
          <a:p>
            <a:pPr lvl="2">
              <a:buClrTx/>
            </a:pPr>
            <a:endParaRPr lang="en-GB" sz="1000" dirty="0"/>
          </a:p>
          <a:p>
            <a:pPr lvl="1" indent="-160338"/>
            <a:r>
              <a:rPr lang="en-GB" sz="1800" dirty="0">
                <a:solidFill>
                  <a:srgbClr val="C00000"/>
                </a:solidFill>
              </a:rPr>
              <a:t>Ordinal</a:t>
            </a:r>
            <a:endParaRPr lang="en-GB" sz="800" dirty="0">
              <a:solidFill>
                <a:srgbClr val="C00000"/>
              </a:solidFill>
            </a:endParaRPr>
          </a:p>
          <a:p>
            <a:pPr lvl="2">
              <a:buClrTx/>
            </a:pPr>
            <a:r>
              <a:rPr lang="en-GB" b="0" dirty="0"/>
              <a:t>Objects have </a:t>
            </a:r>
            <a:r>
              <a:rPr lang="en-GB" dirty="0"/>
              <a:t>a </a:t>
            </a:r>
            <a:r>
              <a:rPr lang="en-GB" b="1" dirty="0"/>
              <a:t>natural order</a:t>
            </a:r>
            <a:r>
              <a:rPr lang="en-GB" b="0" dirty="0"/>
              <a:t>, but the </a:t>
            </a:r>
            <a:r>
              <a:rPr lang="en-GB" b="1" dirty="0"/>
              <a:t>differences cannot</a:t>
            </a:r>
            <a:br>
              <a:rPr lang="en-GB" b="1" dirty="0"/>
            </a:br>
            <a:r>
              <a:rPr lang="en-GB" b="1" dirty="0"/>
              <a:t>be quantified and compared </a:t>
            </a:r>
            <a:r>
              <a:rPr lang="en-GB" b="0" dirty="0"/>
              <a:t>(example: seniority in a nursing team)</a:t>
            </a:r>
          </a:p>
          <a:p>
            <a:pPr lvl="1">
              <a:buClrTx/>
            </a:pPr>
            <a:endParaRPr lang="en-GB" sz="1000" dirty="0"/>
          </a:p>
          <a:p>
            <a:pPr indent="-160338"/>
            <a:r>
              <a:rPr lang="en-US" sz="2000" dirty="0">
                <a:solidFill>
                  <a:schemeClr val="accent1">
                    <a:lumMod val="75000"/>
                  </a:schemeClr>
                </a:solidFill>
              </a:rPr>
              <a:t>Variable data – Quantitative</a:t>
            </a:r>
            <a:endParaRPr lang="sl-SI" sz="2000" dirty="0">
              <a:solidFill>
                <a:schemeClr val="accent1">
                  <a:lumMod val="75000"/>
                </a:schemeClr>
              </a:solidFill>
            </a:endParaRPr>
          </a:p>
          <a:p>
            <a:pPr lvl="1" indent="-160338"/>
            <a:r>
              <a:rPr lang="en-GB" sz="1800" dirty="0">
                <a:solidFill>
                  <a:schemeClr val="accent1">
                    <a:lumMod val="75000"/>
                  </a:schemeClr>
                </a:solidFill>
              </a:rPr>
              <a:t>Interval</a:t>
            </a:r>
            <a:endParaRPr lang="en-GB" sz="800" dirty="0">
              <a:solidFill>
                <a:schemeClr val="accent1">
                  <a:lumMod val="75000"/>
                </a:schemeClr>
              </a:solidFill>
            </a:endParaRPr>
          </a:p>
          <a:p>
            <a:pPr lvl="2">
              <a:buClrTx/>
            </a:pPr>
            <a:r>
              <a:rPr lang="en-GB" b="0" dirty="0"/>
              <a:t>Objects have a </a:t>
            </a:r>
            <a:r>
              <a:rPr lang="en-GB" b="1" dirty="0"/>
              <a:t>natural order </a:t>
            </a:r>
            <a:r>
              <a:rPr lang="en-GB" b="0" dirty="0"/>
              <a:t>and </a:t>
            </a:r>
            <a:r>
              <a:rPr lang="en-GB" b="1" dirty="0"/>
              <a:t>differences can be quantified and compared </a:t>
            </a:r>
            <a:r>
              <a:rPr lang="en-GB" b="0" dirty="0"/>
              <a:t>(example: Temperature in an operating theatre)</a:t>
            </a:r>
          </a:p>
          <a:p>
            <a:pPr lvl="2">
              <a:buClrTx/>
            </a:pPr>
            <a:endParaRPr lang="en-GB" sz="1000" dirty="0"/>
          </a:p>
          <a:p>
            <a:pPr lvl="1" indent="-160338"/>
            <a:r>
              <a:rPr lang="en-GB" sz="1800" dirty="0">
                <a:solidFill>
                  <a:schemeClr val="accent1">
                    <a:lumMod val="75000"/>
                  </a:schemeClr>
                </a:solidFill>
              </a:rPr>
              <a:t>Ratio</a:t>
            </a:r>
            <a:endParaRPr lang="en-GB" sz="800" dirty="0">
              <a:solidFill>
                <a:schemeClr val="accent1">
                  <a:lumMod val="75000"/>
                </a:schemeClr>
              </a:solidFill>
            </a:endParaRPr>
          </a:p>
          <a:p>
            <a:pPr lvl="2">
              <a:buClrTx/>
            </a:pPr>
            <a:r>
              <a:rPr lang="en-GB" b="0" dirty="0"/>
              <a:t>Objects have a </a:t>
            </a:r>
            <a:r>
              <a:rPr lang="en-GB" b="1" dirty="0"/>
              <a:t>natural order</a:t>
            </a:r>
            <a:r>
              <a:rPr lang="en-GB" b="0" dirty="0"/>
              <a:t>, </a:t>
            </a:r>
            <a:r>
              <a:rPr lang="en-GB" b="1" dirty="0"/>
              <a:t>differences can be quantified</a:t>
            </a:r>
            <a:br>
              <a:rPr lang="en-GB" b="1" dirty="0"/>
            </a:br>
            <a:r>
              <a:rPr lang="en-GB" b="1" dirty="0"/>
              <a:t>and compared</a:t>
            </a:r>
            <a:r>
              <a:rPr lang="en-GB" b="0" dirty="0"/>
              <a:t> and </a:t>
            </a:r>
            <a:r>
              <a:rPr lang="en-GB" b="1" dirty="0"/>
              <a:t>there is a zero </a:t>
            </a:r>
            <a:r>
              <a:rPr lang="en-GB" b="0" dirty="0"/>
              <a:t>(example: one patient (140 kg) is 2 times heavier than another patient (69 kg))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6" end="6"/>
                                            </p:txEl>
                                          </p:spTgt>
                                        </p:tgtEl>
                                        <p:attrNameLst>
                                          <p:attrName>style.visibility</p:attrName>
                                        </p:attrNameLst>
                                      </p:cBhvr>
                                      <p:to>
                                        <p:strVal val="visible"/>
                                      </p:to>
                                    </p:set>
                                    <p:anim calcmode="lin" valueType="num">
                                      <p:cBhvr additive="base">
                                        <p:cTn id="7" dur="500" fill="hold"/>
                                        <p:tgtEl>
                                          <p:spTgt spid="307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5">
                                            <p:txEl>
                                              <p:pRg st="7" end="7"/>
                                            </p:txEl>
                                          </p:spTgt>
                                        </p:tgtEl>
                                        <p:attrNameLst>
                                          <p:attrName>style.visibility</p:attrName>
                                        </p:attrNameLst>
                                      </p:cBhvr>
                                      <p:to>
                                        <p:strVal val="visible"/>
                                      </p:to>
                                    </p:set>
                                    <p:anim calcmode="lin" valueType="num">
                                      <p:cBhvr additive="base">
                                        <p:cTn id="11" dur="500" fill="hold"/>
                                        <p:tgtEl>
                                          <p:spTgt spid="3075">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5">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75">
                                            <p:txEl>
                                              <p:pRg st="9" end="9"/>
                                            </p:txEl>
                                          </p:spTgt>
                                        </p:tgtEl>
                                        <p:attrNameLst>
                                          <p:attrName>style.visibility</p:attrName>
                                        </p:attrNameLst>
                                      </p:cBhvr>
                                      <p:to>
                                        <p:strVal val="visible"/>
                                      </p:to>
                                    </p:set>
                                    <p:anim calcmode="lin" valueType="num">
                                      <p:cBhvr additive="base">
                                        <p:cTn id="15" dur="500" fill="hold"/>
                                        <p:tgtEl>
                                          <p:spTgt spid="3075">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07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075">
                                            <p:txEl>
                                              <p:pRg st="10" end="10"/>
                                            </p:txEl>
                                          </p:spTgt>
                                        </p:tgtEl>
                                        <p:attrNameLst>
                                          <p:attrName>style.visibility</p:attrName>
                                        </p:attrNameLst>
                                      </p:cBhvr>
                                      <p:to>
                                        <p:strVal val="visible"/>
                                      </p:to>
                                    </p:set>
                                    <p:anim calcmode="lin" valueType="num">
                                      <p:cBhvr additive="base">
                                        <p:cTn id="21" dur="500" fill="hold"/>
                                        <p:tgtEl>
                                          <p:spTgt spid="3075">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075">
                                            <p:txEl>
                                              <p:pRg st="10" end="1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75">
                                            <p:txEl>
                                              <p:pRg st="11" end="11"/>
                                            </p:txEl>
                                          </p:spTgt>
                                        </p:tgtEl>
                                        <p:attrNameLst>
                                          <p:attrName>style.visibility</p:attrName>
                                        </p:attrNameLst>
                                      </p:cBhvr>
                                      <p:to>
                                        <p:strVal val="visible"/>
                                      </p:to>
                                    </p:set>
                                    <p:anim calcmode="lin" valueType="num">
                                      <p:cBhvr additive="base">
                                        <p:cTn id="25" dur="500" fill="hold"/>
                                        <p:tgtEl>
                                          <p:spTgt spid="3075">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5">
                                            <p:txEl>
                                              <p:pRg st="13" end="13"/>
                                            </p:txEl>
                                          </p:spTgt>
                                        </p:tgtEl>
                                        <p:attrNameLst>
                                          <p:attrName>style.visibility</p:attrName>
                                        </p:attrNameLst>
                                      </p:cBhvr>
                                      <p:to>
                                        <p:strVal val="visible"/>
                                      </p:to>
                                    </p:set>
                                    <p:anim calcmode="lin" valueType="num">
                                      <p:cBhvr additive="base">
                                        <p:cTn id="31" dur="500" fill="hold"/>
                                        <p:tgtEl>
                                          <p:spTgt spid="3075">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75">
                                            <p:txEl>
                                              <p:pRg st="14" end="14"/>
                                            </p:txEl>
                                          </p:spTgt>
                                        </p:tgtEl>
                                        <p:attrNameLst>
                                          <p:attrName>style.visibility</p:attrName>
                                        </p:attrNameLst>
                                      </p:cBhvr>
                                      <p:to>
                                        <p:strVal val="visible"/>
                                      </p:to>
                                    </p:set>
                                    <p:anim calcmode="lin" valueType="num">
                                      <p:cBhvr additive="base">
                                        <p:cTn id="35" dur="500" fill="hold"/>
                                        <p:tgtEl>
                                          <p:spTgt spid="3075">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07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dirty="0"/>
              <a:t>Types of Data</a:t>
            </a:r>
          </a:p>
        </p:txBody>
      </p:sp>
      <p:sp>
        <p:nvSpPr>
          <p:cNvPr id="7171" name="Rectangle 3"/>
          <p:cNvSpPr>
            <a:spLocks noGrp="1" noChangeArrowheads="1"/>
          </p:cNvSpPr>
          <p:nvPr>
            <p:ph idx="1"/>
          </p:nvPr>
        </p:nvSpPr>
        <p:spPr>
          <a:xfrm>
            <a:off x="810815" y="1439863"/>
            <a:ext cx="9274233" cy="5040312"/>
          </a:xfrm>
        </p:spPr>
        <p:txBody>
          <a:bodyPr/>
          <a:lstStyle/>
          <a:p>
            <a:r>
              <a:rPr lang="en-US" dirty="0">
                <a:solidFill>
                  <a:srgbClr val="C00000"/>
                </a:solidFill>
              </a:rPr>
              <a:t>Attributive data – Qualitative</a:t>
            </a:r>
            <a:r>
              <a:rPr lang="en-US" dirty="0"/>
              <a:t> (</a:t>
            </a:r>
            <a:r>
              <a:rPr lang="en-US" dirty="0">
                <a:solidFill>
                  <a:srgbClr val="C00000"/>
                </a:solidFill>
              </a:rPr>
              <a:t>categorical</a:t>
            </a:r>
            <a:r>
              <a:rPr lang="en-US" dirty="0"/>
              <a:t> and </a:t>
            </a:r>
            <a:r>
              <a:rPr lang="en-US" dirty="0">
                <a:solidFill>
                  <a:srgbClr val="C00000"/>
                </a:solidFill>
              </a:rPr>
              <a:t>ordinal</a:t>
            </a:r>
            <a:r>
              <a:rPr lang="en-US" dirty="0"/>
              <a:t>)</a:t>
            </a:r>
            <a:endParaRPr lang="nl-NL" dirty="0"/>
          </a:p>
          <a:p>
            <a:pPr lvl="1"/>
            <a:endParaRPr lang="nl-NL" dirty="0"/>
          </a:p>
          <a:p>
            <a:r>
              <a:rPr lang="en-US" sz="2000" dirty="0"/>
              <a:t>Based on categories</a:t>
            </a:r>
            <a:endParaRPr lang="nl-NL" sz="2000" dirty="0"/>
          </a:p>
          <a:p>
            <a:pPr lvl="1"/>
            <a:endParaRPr lang="nl-NL" dirty="0"/>
          </a:p>
          <a:p>
            <a:pPr marL="180975" lvl="1" indent="0">
              <a:buNone/>
            </a:pPr>
            <a:r>
              <a:rPr lang="en-US" dirty="0">
                <a:solidFill>
                  <a:srgbClr val="C00000"/>
                </a:solidFill>
              </a:rPr>
              <a:t>Categorical</a:t>
            </a:r>
            <a:r>
              <a:rPr lang="en-US" dirty="0"/>
              <a:t> variables</a:t>
            </a:r>
            <a:endParaRPr lang="nl-NL" dirty="0"/>
          </a:p>
          <a:p>
            <a:pPr marL="441325" lvl="2" indent="-258763">
              <a:buClrTx/>
            </a:pPr>
            <a:r>
              <a:rPr lang="en-US" dirty="0">
                <a:solidFill>
                  <a:srgbClr val="C00000"/>
                </a:solidFill>
              </a:rPr>
              <a:t>Countable</a:t>
            </a:r>
            <a:r>
              <a:rPr lang="en-US" dirty="0"/>
              <a:t> number of possible outcomes/ </a:t>
            </a:r>
            <a:r>
              <a:rPr lang="en-US" dirty="0">
                <a:solidFill>
                  <a:srgbClr val="C00000"/>
                </a:solidFill>
              </a:rPr>
              <a:t>no natural </a:t>
            </a:r>
            <a:r>
              <a:rPr lang="nl-NL" dirty="0">
                <a:solidFill>
                  <a:srgbClr val="C00000"/>
                </a:solidFill>
              </a:rPr>
              <a:t>order </a:t>
            </a:r>
            <a:endParaRPr lang="sl-SI" dirty="0">
              <a:solidFill>
                <a:srgbClr val="C00000"/>
              </a:solidFill>
            </a:endParaRPr>
          </a:p>
          <a:p>
            <a:pPr marL="182562" lvl="2" indent="0" algn="ctr">
              <a:buClrTx/>
              <a:buNone/>
            </a:pPr>
            <a:r>
              <a:rPr lang="nl-NL" dirty="0"/>
              <a:t>(e</a:t>
            </a:r>
            <a:r>
              <a:rPr lang="en-US" dirty="0" err="1"/>
              <a:t>xample</a:t>
            </a:r>
            <a:r>
              <a:rPr lang="en-US" dirty="0"/>
              <a:t>: ‘months in a year’ has 12 possible outcomes</a:t>
            </a:r>
            <a:endParaRPr lang="nl-NL" dirty="0"/>
          </a:p>
          <a:p>
            <a:pPr lvl="2">
              <a:buClrTx/>
            </a:pPr>
            <a:endParaRPr lang="nl-NL" dirty="0"/>
          </a:p>
          <a:p>
            <a:pPr lvl="2">
              <a:buClrTx/>
            </a:pPr>
            <a:endParaRPr lang="nl-NL" dirty="0"/>
          </a:p>
          <a:p>
            <a:pPr marL="180975" lvl="1" indent="0">
              <a:buClrTx/>
              <a:buNone/>
            </a:pPr>
            <a:r>
              <a:rPr lang="en-US" dirty="0">
                <a:solidFill>
                  <a:srgbClr val="C00000"/>
                </a:solidFill>
              </a:rPr>
              <a:t>Ordinal</a:t>
            </a:r>
            <a:r>
              <a:rPr lang="en-US" dirty="0"/>
              <a:t> variables</a:t>
            </a:r>
            <a:endParaRPr lang="nl-NL" dirty="0"/>
          </a:p>
          <a:p>
            <a:pPr marL="441325" lvl="2" indent="-258763">
              <a:buClrTx/>
            </a:pPr>
            <a:r>
              <a:rPr lang="en-US" dirty="0">
                <a:solidFill>
                  <a:srgbClr val="C00000"/>
                </a:solidFill>
              </a:rPr>
              <a:t>Countable</a:t>
            </a:r>
            <a:r>
              <a:rPr lang="en-US" dirty="0"/>
              <a:t> number of possible outcomes/ </a:t>
            </a:r>
            <a:r>
              <a:rPr lang="en-US" dirty="0">
                <a:solidFill>
                  <a:srgbClr val="C00000"/>
                </a:solidFill>
              </a:rPr>
              <a:t>natural order </a:t>
            </a:r>
            <a:endParaRPr lang="sl-SI" dirty="0">
              <a:solidFill>
                <a:srgbClr val="C00000"/>
              </a:solidFill>
            </a:endParaRPr>
          </a:p>
          <a:p>
            <a:pPr marL="182562" lvl="2" indent="0" algn="ctr">
              <a:buClrTx/>
              <a:buNone/>
            </a:pPr>
            <a:r>
              <a:rPr lang="en-US" dirty="0"/>
              <a:t>(example : ‘I find this hospital service’: 1-very bad;    2-bad;    3-moderate;    4-good;    5-excellent)</a:t>
            </a:r>
            <a:endParaRPr lang="nl-NL"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r>
              <a:rPr lang="en-US" dirty="0"/>
              <a:t>Types of Data</a:t>
            </a:r>
          </a:p>
        </p:txBody>
      </p:sp>
      <p:sp>
        <p:nvSpPr>
          <p:cNvPr id="8195" name="Tijdelijke aanduiding voor inhoud 2"/>
          <p:cNvSpPr>
            <a:spLocks noGrp="1"/>
          </p:cNvSpPr>
          <p:nvPr>
            <p:ph idx="1"/>
          </p:nvPr>
        </p:nvSpPr>
        <p:spPr/>
        <p:txBody>
          <a:bodyPr/>
          <a:lstStyle/>
          <a:p>
            <a:r>
              <a:rPr lang="en-US" dirty="0"/>
              <a:t>Example </a:t>
            </a:r>
            <a:r>
              <a:rPr lang="en-US" dirty="0">
                <a:solidFill>
                  <a:srgbClr val="C00000"/>
                </a:solidFill>
              </a:rPr>
              <a:t>Categorical</a:t>
            </a:r>
            <a:r>
              <a:rPr lang="en-US" dirty="0"/>
              <a:t> data</a:t>
            </a:r>
            <a:endParaRPr lang="nl-NL" dirty="0"/>
          </a:p>
        </p:txBody>
      </p:sp>
      <p:sp>
        <p:nvSpPr>
          <p:cNvPr id="8196" name="Rectangle 9"/>
          <p:cNvSpPr>
            <a:spLocks noChangeArrowheads="1"/>
          </p:cNvSpPr>
          <p:nvPr/>
        </p:nvSpPr>
        <p:spPr bwMode="auto">
          <a:xfrm>
            <a:off x="444978" y="2307319"/>
            <a:ext cx="5548545" cy="3407353"/>
          </a:xfrm>
          <a:prstGeom prst="rect">
            <a:avLst/>
          </a:prstGeom>
          <a:noFill/>
          <a:ln w="9525" algn="ctr">
            <a:noFill/>
            <a:miter lim="800000"/>
            <a:headEnd/>
            <a:tailEnd/>
          </a:ln>
        </p:spPr>
        <p:txBody>
          <a:bodyPr wrap="square" tIns="10800" bIns="10800">
            <a:spAutoFit/>
          </a:bodyPr>
          <a:lstStyle/>
          <a:p>
            <a:pPr algn="ctr"/>
            <a:r>
              <a:rPr lang="en-US" sz="1600" b="1" dirty="0">
                <a:latin typeface="Arial" panose="020B0604020202020204" pitchFamily="34" charset="0"/>
                <a:cs typeface="Arial" panose="020B0604020202020204" pitchFamily="34" charset="0"/>
              </a:rPr>
              <a:t>Nominal Data</a:t>
            </a:r>
          </a:p>
          <a:p>
            <a:pPr algn="ctr"/>
            <a:r>
              <a:rPr lang="en-GB" sz="1400" b="1" dirty="0">
                <a:latin typeface="Arial" panose="020B0604020202020204" pitchFamily="34" charset="0"/>
                <a:cs typeface="Arial" panose="020B0604020202020204" pitchFamily="34" charset="0"/>
              </a:rPr>
              <a:t>Patients were given different pills during a clinical trial </a:t>
            </a:r>
            <a:br>
              <a:rPr lang="en-GB" sz="1400" b="1" dirty="0">
                <a:latin typeface="Arial" panose="020B0604020202020204" pitchFamily="34" charset="0"/>
                <a:cs typeface="Arial" panose="020B0604020202020204" pitchFamily="34" charset="0"/>
              </a:rPr>
            </a:br>
            <a:r>
              <a:rPr lang="en-GB" sz="1400" b="1" dirty="0">
                <a:latin typeface="Arial" panose="020B0604020202020204" pitchFamily="34" charset="0"/>
                <a:cs typeface="Arial" panose="020B0604020202020204" pitchFamily="34" charset="0"/>
              </a:rPr>
              <a:t>each pill was identified by its colour</a:t>
            </a:r>
          </a:p>
          <a:p>
            <a:pPr algn="ctr"/>
            <a:endParaRPr lang="nl-NL" sz="1600" b="1" u="sng" dirty="0">
              <a:latin typeface="Arial" panose="020B0604020202020204" pitchFamily="34" charset="0"/>
              <a:cs typeface="Arial" panose="020B0604020202020204" pitchFamily="34" charset="0"/>
            </a:endParaRPr>
          </a:p>
          <a:p>
            <a:pPr marL="271463" lvl="1" algn="ctr"/>
            <a:r>
              <a:rPr lang="nl-NL" sz="1600" dirty="0">
                <a:latin typeface="Arial" panose="020B0604020202020204" pitchFamily="34" charset="0"/>
                <a:cs typeface="Arial" panose="020B0604020202020204" pitchFamily="34" charset="0"/>
              </a:rPr>
              <a:t>red</a:t>
            </a:r>
          </a:p>
          <a:p>
            <a:pPr marL="271463" lvl="1" algn="ctr"/>
            <a:r>
              <a:rPr lang="nl-NL" sz="1600" dirty="0">
                <a:latin typeface="Arial" panose="020B0604020202020204" pitchFamily="34" charset="0"/>
                <a:cs typeface="Arial" panose="020B0604020202020204" pitchFamily="34" charset="0"/>
              </a:rPr>
              <a:t>green</a:t>
            </a:r>
          </a:p>
          <a:p>
            <a:pPr marL="271463" lvl="1" algn="ctr"/>
            <a:r>
              <a:rPr lang="nl-NL" sz="1600" dirty="0">
                <a:latin typeface="Arial" panose="020B0604020202020204" pitchFamily="34" charset="0"/>
                <a:cs typeface="Arial" panose="020B0604020202020204" pitchFamily="34" charset="0"/>
              </a:rPr>
              <a:t>blue</a:t>
            </a:r>
          </a:p>
          <a:p>
            <a:pPr marL="271463" lvl="1" algn="ctr"/>
            <a:r>
              <a:rPr lang="nl-NL" sz="1600" dirty="0">
                <a:latin typeface="Arial" panose="020B0604020202020204" pitchFamily="34" charset="0"/>
                <a:cs typeface="Arial" panose="020B0604020202020204" pitchFamily="34" charset="0"/>
              </a:rPr>
              <a:t>red</a:t>
            </a:r>
          </a:p>
          <a:p>
            <a:pPr marL="271463" lvl="1" algn="ctr"/>
            <a:r>
              <a:rPr lang="nl-NL" sz="1600" dirty="0">
                <a:latin typeface="Arial" panose="020B0604020202020204" pitchFamily="34" charset="0"/>
                <a:cs typeface="Arial" panose="020B0604020202020204" pitchFamily="34" charset="0"/>
              </a:rPr>
              <a:t>red</a:t>
            </a:r>
          </a:p>
          <a:p>
            <a:pPr marL="271463" lvl="1" algn="ctr"/>
            <a:r>
              <a:rPr lang="nl-NL" sz="1600" dirty="0">
                <a:latin typeface="Arial" panose="020B0604020202020204" pitchFamily="34" charset="0"/>
                <a:cs typeface="Arial" panose="020B0604020202020204" pitchFamily="34" charset="0"/>
              </a:rPr>
              <a:t>green</a:t>
            </a:r>
          </a:p>
          <a:p>
            <a:pPr marL="271463" lvl="1" algn="ctr"/>
            <a:r>
              <a:rPr lang="nl-NL" sz="1600" dirty="0">
                <a:latin typeface="Arial" panose="020B0604020202020204" pitchFamily="34" charset="0"/>
                <a:cs typeface="Arial" panose="020B0604020202020204" pitchFamily="34" charset="0"/>
              </a:rPr>
              <a:t>green</a:t>
            </a:r>
          </a:p>
          <a:p>
            <a:pPr marL="271463" lvl="1" algn="ctr"/>
            <a:r>
              <a:rPr lang="nl-NL" sz="1600" dirty="0">
                <a:latin typeface="Arial" panose="020B0604020202020204" pitchFamily="34" charset="0"/>
                <a:cs typeface="Arial" panose="020B0604020202020204" pitchFamily="34" charset="0"/>
              </a:rPr>
              <a:t>green</a:t>
            </a:r>
          </a:p>
          <a:p>
            <a:pPr marL="271463" lvl="1" algn="ctr"/>
            <a:r>
              <a:rPr lang="nl-NL" sz="1600" dirty="0">
                <a:latin typeface="Arial" panose="020B0604020202020204" pitchFamily="34" charset="0"/>
                <a:cs typeface="Arial" panose="020B0604020202020204" pitchFamily="34" charset="0"/>
              </a:rPr>
              <a:t>green</a:t>
            </a:r>
          </a:p>
          <a:p>
            <a:pPr marL="271463" lvl="1" algn="ctr"/>
            <a:r>
              <a:rPr lang="nl-NL" sz="1600" dirty="0">
                <a:latin typeface="Arial" panose="020B0604020202020204" pitchFamily="34" charset="0"/>
                <a:cs typeface="Arial" panose="020B0604020202020204" pitchFamily="34" charset="0"/>
              </a:rPr>
              <a:t>blue</a:t>
            </a:r>
          </a:p>
        </p:txBody>
      </p:sp>
      <p:pic>
        <p:nvPicPr>
          <p:cNvPr id="2" name="Afbeelding 1"/>
          <p:cNvPicPr>
            <a:picLocks noChangeAspect="1"/>
          </p:cNvPicPr>
          <p:nvPr/>
        </p:nvPicPr>
        <p:blipFill>
          <a:blip r:embed="rId3" cstate="print"/>
          <a:stretch>
            <a:fillRect/>
          </a:stretch>
        </p:blipFill>
        <p:spPr>
          <a:xfrm>
            <a:off x="6059645" y="1326003"/>
            <a:ext cx="3951025" cy="2634016"/>
          </a:xfrm>
          <a:prstGeom prst="rect">
            <a:avLst/>
          </a:prstGeom>
        </p:spPr>
      </p:pic>
      <p:pic>
        <p:nvPicPr>
          <p:cNvPr id="3" name="Afbeelding 2"/>
          <p:cNvPicPr>
            <a:picLocks noChangeAspect="1"/>
          </p:cNvPicPr>
          <p:nvPr/>
        </p:nvPicPr>
        <p:blipFill>
          <a:blip r:embed="rId4" cstate="print"/>
          <a:stretch>
            <a:fillRect/>
          </a:stretch>
        </p:blipFill>
        <p:spPr>
          <a:xfrm>
            <a:off x="6059646" y="3987395"/>
            <a:ext cx="4030003" cy="2635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el 1"/>
          <p:cNvSpPr>
            <a:spLocks noGrp="1"/>
          </p:cNvSpPr>
          <p:nvPr>
            <p:ph type="title"/>
          </p:nvPr>
        </p:nvSpPr>
        <p:spPr/>
        <p:txBody>
          <a:bodyPr/>
          <a:lstStyle/>
          <a:p>
            <a:r>
              <a:rPr lang="en-US" dirty="0"/>
              <a:t>Types of Data</a:t>
            </a:r>
          </a:p>
        </p:txBody>
      </p:sp>
      <p:sp>
        <p:nvSpPr>
          <p:cNvPr id="4099" name="Tijdelijke aanduiding voor inhoud 2"/>
          <p:cNvSpPr>
            <a:spLocks noGrp="1"/>
          </p:cNvSpPr>
          <p:nvPr>
            <p:ph idx="1"/>
          </p:nvPr>
        </p:nvSpPr>
        <p:spPr/>
        <p:txBody>
          <a:bodyPr/>
          <a:lstStyle/>
          <a:p>
            <a:r>
              <a:rPr lang="en-US" dirty="0">
                <a:solidFill>
                  <a:schemeClr val="accent1">
                    <a:lumMod val="75000"/>
                  </a:schemeClr>
                </a:solidFill>
              </a:rPr>
              <a:t>Variable data – Quantitative </a:t>
            </a:r>
            <a:r>
              <a:rPr lang="en-US" dirty="0"/>
              <a:t>(</a:t>
            </a:r>
            <a:r>
              <a:rPr lang="en-US" dirty="0">
                <a:solidFill>
                  <a:schemeClr val="accent1">
                    <a:lumMod val="75000"/>
                  </a:schemeClr>
                </a:solidFill>
              </a:rPr>
              <a:t>interval</a:t>
            </a:r>
            <a:r>
              <a:rPr lang="en-US" dirty="0"/>
              <a:t> and </a:t>
            </a:r>
            <a:r>
              <a:rPr lang="en-US" dirty="0">
                <a:solidFill>
                  <a:schemeClr val="accent1">
                    <a:lumMod val="75000"/>
                  </a:schemeClr>
                </a:solidFill>
              </a:rPr>
              <a:t>ratio</a:t>
            </a:r>
            <a:r>
              <a:rPr lang="en-US" dirty="0"/>
              <a:t>)</a:t>
            </a:r>
            <a:endParaRPr lang="nl-NL" dirty="0"/>
          </a:p>
          <a:p>
            <a:pPr lvl="1"/>
            <a:endParaRPr lang="nl-NL" dirty="0"/>
          </a:p>
          <a:p>
            <a:pPr indent="-250825"/>
            <a:r>
              <a:rPr lang="en-US" sz="2000" dirty="0"/>
              <a:t>Based on measurements and/ or counts</a:t>
            </a:r>
            <a:endParaRPr lang="nl-NL" sz="2000" dirty="0"/>
          </a:p>
          <a:p>
            <a:pPr lvl="1">
              <a:buClrTx/>
            </a:pPr>
            <a:endParaRPr lang="nl-NL" dirty="0"/>
          </a:p>
          <a:p>
            <a:pPr marL="180975" lvl="1" indent="0">
              <a:buClrTx/>
              <a:buNone/>
            </a:pPr>
            <a:r>
              <a:rPr lang="en-US" sz="2400" dirty="0">
                <a:solidFill>
                  <a:schemeClr val="accent1">
                    <a:lumMod val="75000"/>
                  </a:schemeClr>
                </a:solidFill>
              </a:rPr>
              <a:t>Discrete</a:t>
            </a:r>
            <a:r>
              <a:rPr lang="en-US" dirty="0"/>
              <a:t> - </a:t>
            </a:r>
            <a:r>
              <a:rPr lang="en-US" dirty="0">
                <a:solidFill>
                  <a:schemeClr val="accent1">
                    <a:lumMod val="75000"/>
                  </a:schemeClr>
                </a:solidFill>
              </a:rPr>
              <a:t>Countable</a:t>
            </a:r>
            <a:endParaRPr lang="nl-NL" dirty="0">
              <a:solidFill>
                <a:schemeClr val="accent1">
                  <a:lumMod val="75000"/>
                </a:schemeClr>
              </a:solidFill>
            </a:endParaRPr>
          </a:p>
          <a:p>
            <a:pPr marL="441325" lvl="2" indent="-258763">
              <a:buClrTx/>
            </a:pPr>
            <a:r>
              <a:rPr lang="en-US" dirty="0"/>
              <a:t>Can be counted: a discrete (whole) number of events</a:t>
            </a:r>
          </a:p>
          <a:p>
            <a:pPr marL="441325" lvl="2" indent="-258763">
              <a:buClrTx/>
            </a:pPr>
            <a:r>
              <a:rPr lang="en-US" dirty="0"/>
              <a:t>Scale is a ratio scale</a:t>
            </a:r>
          </a:p>
          <a:p>
            <a:pPr marL="441325" lvl="2" indent="-258763">
              <a:buClrTx/>
            </a:pPr>
            <a:r>
              <a:rPr lang="en-US" dirty="0"/>
              <a:t>Number of patients</a:t>
            </a:r>
            <a:endParaRPr lang="nl-NL" dirty="0"/>
          </a:p>
          <a:p>
            <a:pPr lvl="1">
              <a:buClrTx/>
            </a:pPr>
            <a:endParaRPr lang="nl-NL" dirty="0"/>
          </a:p>
          <a:p>
            <a:pPr lvl="1">
              <a:buClrTx/>
            </a:pPr>
            <a:endParaRPr lang="nl-NL" dirty="0"/>
          </a:p>
          <a:p>
            <a:pPr marL="180975" lvl="1" indent="0">
              <a:buClrTx/>
              <a:buNone/>
            </a:pPr>
            <a:r>
              <a:rPr lang="en-US" sz="2400" dirty="0">
                <a:solidFill>
                  <a:schemeClr val="accent1">
                    <a:lumMod val="75000"/>
                  </a:schemeClr>
                </a:solidFill>
              </a:rPr>
              <a:t>Continuous</a:t>
            </a:r>
            <a:r>
              <a:rPr lang="en-US" dirty="0"/>
              <a:t> - </a:t>
            </a:r>
            <a:r>
              <a:rPr lang="en-US" dirty="0">
                <a:solidFill>
                  <a:schemeClr val="accent1">
                    <a:lumMod val="75000"/>
                  </a:schemeClr>
                </a:solidFill>
              </a:rPr>
              <a:t>Measurable</a:t>
            </a:r>
            <a:endParaRPr lang="nl-NL" dirty="0">
              <a:solidFill>
                <a:schemeClr val="accent1">
                  <a:lumMod val="75000"/>
                </a:schemeClr>
              </a:solidFill>
            </a:endParaRPr>
          </a:p>
          <a:p>
            <a:pPr marL="441325" lvl="2" indent="-258763">
              <a:buClrTx/>
            </a:pPr>
            <a:r>
              <a:rPr lang="en-US" dirty="0"/>
              <a:t>Can be measured on a continuous (interval or ratio) scale</a:t>
            </a:r>
          </a:p>
          <a:p>
            <a:pPr marL="441325" lvl="2" indent="-258763">
              <a:buClrTx/>
            </a:pPr>
            <a:r>
              <a:rPr lang="en-US" dirty="0"/>
              <a:t>Length, time, weight</a:t>
            </a:r>
            <a:endParaRPr lang="nl-NL" dirty="0"/>
          </a:p>
          <a:p>
            <a:endParaRPr lang="nl-N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931032" y="2325169"/>
            <a:ext cx="2899665" cy="3468908"/>
          </a:xfrm>
          <a:prstGeom prst="rect">
            <a:avLst/>
          </a:prstGeom>
          <a:noFill/>
          <a:ln w="9525" algn="ctr">
            <a:noFill/>
            <a:miter lim="800000"/>
            <a:headEnd/>
            <a:tailEnd/>
          </a:ln>
        </p:spPr>
        <p:txBody>
          <a:bodyPr wrap="square" tIns="10800" bIns="10800">
            <a:spAutoFit/>
          </a:bodyPr>
          <a:lstStyle/>
          <a:p>
            <a:pPr algn="ctr"/>
            <a:r>
              <a:rPr lang="en-GB" sz="1600" b="1" dirty="0">
                <a:latin typeface="Arial" panose="020B0604020202020204" pitchFamily="34" charset="0"/>
                <a:cs typeface="Arial" panose="020B0604020202020204" pitchFamily="34" charset="0"/>
              </a:rPr>
              <a:t>Number of breakages in an orthopaedic clinic </a:t>
            </a:r>
          </a:p>
          <a:p>
            <a:pPr algn="ctr"/>
            <a:r>
              <a:rPr lang="en-GB" sz="1600" b="1" dirty="0">
                <a:latin typeface="Arial" panose="020B0604020202020204" pitchFamily="34" charset="0"/>
                <a:cs typeface="Arial" panose="020B0604020202020204" pitchFamily="34" charset="0"/>
              </a:rPr>
              <a:t>21</a:t>
            </a:r>
          </a:p>
          <a:p>
            <a:pPr algn="ctr"/>
            <a:r>
              <a:rPr lang="en-GB" sz="1600" b="1" dirty="0">
                <a:latin typeface="Arial" panose="020B0604020202020204" pitchFamily="34" charset="0"/>
                <a:cs typeface="Arial" panose="020B0604020202020204" pitchFamily="34" charset="0"/>
              </a:rPr>
              <a:t>25</a:t>
            </a:r>
          </a:p>
          <a:p>
            <a:pPr algn="ctr"/>
            <a:r>
              <a:rPr lang="en-GB" sz="1600" b="1" dirty="0">
                <a:latin typeface="Arial" panose="020B0604020202020204" pitchFamily="34" charset="0"/>
                <a:cs typeface="Arial" panose="020B0604020202020204" pitchFamily="34" charset="0"/>
              </a:rPr>
              <a:t>26</a:t>
            </a:r>
          </a:p>
          <a:p>
            <a:pPr algn="ctr"/>
            <a:r>
              <a:rPr lang="en-GB" sz="1600" b="1" dirty="0">
                <a:latin typeface="Arial" panose="020B0604020202020204" pitchFamily="34" charset="0"/>
                <a:cs typeface="Arial" panose="020B0604020202020204" pitchFamily="34" charset="0"/>
              </a:rPr>
              <a:t>18</a:t>
            </a:r>
          </a:p>
          <a:p>
            <a:pPr algn="ctr"/>
            <a:r>
              <a:rPr lang="en-GB" sz="1600" b="1" dirty="0">
                <a:latin typeface="Arial" panose="020B0604020202020204" pitchFamily="34" charset="0"/>
                <a:cs typeface="Arial" panose="020B0604020202020204" pitchFamily="34" charset="0"/>
              </a:rPr>
              <a:t>27</a:t>
            </a:r>
          </a:p>
          <a:p>
            <a:pPr algn="ctr"/>
            <a:r>
              <a:rPr lang="en-GB" sz="1600" b="1" dirty="0">
                <a:latin typeface="Arial" panose="020B0604020202020204" pitchFamily="34" charset="0"/>
                <a:cs typeface="Arial" panose="020B0604020202020204" pitchFamily="34" charset="0"/>
              </a:rPr>
              <a:t>27</a:t>
            </a:r>
          </a:p>
          <a:p>
            <a:pPr algn="ctr"/>
            <a:r>
              <a:rPr lang="en-GB" sz="1600" b="1" dirty="0">
                <a:latin typeface="Arial" panose="020B0604020202020204" pitchFamily="34" charset="0"/>
                <a:cs typeface="Arial" panose="020B0604020202020204" pitchFamily="34" charset="0"/>
              </a:rPr>
              <a:t>23</a:t>
            </a:r>
          </a:p>
          <a:p>
            <a:pPr algn="ctr"/>
            <a:r>
              <a:rPr lang="en-GB" sz="1600" b="1" dirty="0">
                <a:latin typeface="Arial" panose="020B0604020202020204" pitchFamily="34" charset="0"/>
                <a:cs typeface="Arial" panose="020B0604020202020204" pitchFamily="34" charset="0"/>
              </a:rPr>
              <a:t>28</a:t>
            </a:r>
          </a:p>
          <a:p>
            <a:pPr algn="ctr"/>
            <a:r>
              <a:rPr lang="en-GB" sz="1600" b="1" dirty="0">
                <a:latin typeface="Arial" panose="020B0604020202020204" pitchFamily="34" charset="0"/>
                <a:cs typeface="Arial" panose="020B0604020202020204" pitchFamily="34" charset="0"/>
              </a:rPr>
              <a:t>26</a:t>
            </a:r>
          </a:p>
          <a:p>
            <a:pPr algn="ctr"/>
            <a:r>
              <a:rPr lang="en-GB" sz="1600" b="1" dirty="0">
                <a:latin typeface="Arial" panose="020B0604020202020204" pitchFamily="34" charset="0"/>
                <a:cs typeface="Arial" panose="020B0604020202020204" pitchFamily="34" charset="0"/>
              </a:rPr>
              <a:t>29</a:t>
            </a:r>
          </a:p>
          <a:p>
            <a:pPr algn="ctr"/>
            <a:r>
              <a:rPr lang="en-GB" sz="1600" b="1" dirty="0">
                <a:latin typeface="Arial" panose="020B0604020202020204" pitchFamily="34" charset="0"/>
                <a:cs typeface="Arial" panose="020B0604020202020204" pitchFamily="34" charset="0"/>
              </a:rPr>
              <a:t>33</a:t>
            </a:r>
          </a:p>
          <a:p>
            <a:pPr algn="ctr"/>
            <a:r>
              <a:rPr lang="en-GB" sz="1600" b="1" dirty="0">
                <a:latin typeface="Arial" panose="020B0604020202020204" pitchFamily="34" charset="0"/>
                <a:cs typeface="Arial" panose="020B0604020202020204" pitchFamily="34" charset="0"/>
              </a:rPr>
              <a:t>37</a:t>
            </a:r>
          </a:p>
        </p:txBody>
      </p:sp>
      <p:sp>
        <p:nvSpPr>
          <p:cNvPr id="5125" name="Rectangle 11"/>
          <p:cNvSpPr>
            <a:spLocks noGrp="1" noChangeArrowheads="1"/>
          </p:cNvSpPr>
          <p:nvPr>
            <p:ph type="title"/>
          </p:nvPr>
        </p:nvSpPr>
        <p:spPr/>
        <p:txBody>
          <a:bodyPr/>
          <a:lstStyle/>
          <a:p>
            <a:pPr eaLnBrk="1" hangingPunct="1"/>
            <a:r>
              <a:rPr lang="en-GB" dirty="0">
                <a:latin typeface="Arial" charset="0"/>
                <a:cs typeface="Arial" charset="0"/>
              </a:rPr>
              <a:t>Types of Data</a:t>
            </a:r>
            <a:endParaRPr lang="en-GB" sz="2400" dirty="0">
              <a:latin typeface="Arial" charset="0"/>
              <a:cs typeface="Arial" charset="0"/>
            </a:endParaRPr>
          </a:p>
        </p:txBody>
      </p:sp>
      <p:sp>
        <p:nvSpPr>
          <p:cNvPr id="5126" name="Tijdelijke aanduiding voor inhoud 7"/>
          <p:cNvSpPr>
            <a:spLocks noGrp="1"/>
          </p:cNvSpPr>
          <p:nvPr>
            <p:ph idx="1"/>
          </p:nvPr>
        </p:nvSpPr>
        <p:spPr>
          <a:xfrm>
            <a:off x="810000" y="1440001"/>
            <a:ext cx="8464959" cy="5157787"/>
          </a:xfrm>
        </p:spPr>
        <p:txBody>
          <a:bodyPr/>
          <a:lstStyle/>
          <a:p>
            <a:pPr eaLnBrk="1" hangingPunct="1"/>
            <a:r>
              <a:rPr lang="en-GB" dirty="0">
                <a:latin typeface="Arial" charset="0"/>
                <a:cs typeface="Arial" charset="0"/>
              </a:rPr>
              <a:t>Example </a:t>
            </a:r>
            <a:r>
              <a:rPr lang="en-GB" dirty="0">
                <a:solidFill>
                  <a:schemeClr val="accent1">
                    <a:lumMod val="75000"/>
                  </a:schemeClr>
                </a:solidFill>
                <a:latin typeface="Arial" charset="0"/>
                <a:cs typeface="Arial" charset="0"/>
              </a:rPr>
              <a:t>Discrete</a:t>
            </a:r>
            <a:r>
              <a:rPr lang="en-GB" dirty="0">
                <a:latin typeface="Arial" charset="0"/>
                <a:cs typeface="Arial" charset="0"/>
              </a:rPr>
              <a:t> data</a:t>
            </a:r>
          </a:p>
        </p:txBody>
      </p:sp>
      <p:pic>
        <p:nvPicPr>
          <p:cNvPr id="2" name="Afbeelding 1"/>
          <p:cNvPicPr>
            <a:picLocks noChangeAspect="1"/>
          </p:cNvPicPr>
          <p:nvPr/>
        </p:nvPicPr>
        <p:blipFill>
          <a:blip r:embed="rId3" cstate="print"/>
          <a:stretch>
            <a:fillRect/>
          </a:stretch>
        </p:blipFill>
        <p:spPr>
          <a:xfrm>
            <a:off x="4857430" y="2914077"/>
            <a:ext cx="4540458" cy="288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4"/>
          <p:cNvSpPr>
            <a:spLocks noGrp="1"/>
          </p:cNvSpPr>
          <p:nvPr>
            <p:ph type="title"/>
          </p:nvPr>
        </p:nvSpPr>
        <p:spPr/>
        <p:txBody>
          <a:bodyPr/>
          <a:lstStyle/>
          <a:p>
            <a:pPr eaLnBrk="1" hangingPunct="1"/>
            <a:r>
              <a:rPr lang="en-US" dirty="0">
                <a:latin typeface="Arial" charset="0"/>
                <a:cs typeface="Arial" charset="0"/>
              </a:rPr>
              <a:t>Types of Data</a:t>
            </a:r>
            <a:endParaRPr dirty="0">
              <a:latin typeface="Arial" charset="0"/>
              <a:cs typeface="Arial" charset="0"/>
            </a:endParaRPr>
          </a:p>
        </p:txBody>
      </p:sp>
      <p:sp>
        <p:nvSpPr>
          <p:cNvPr id="6147" name="Tijdelijke aanduiding voor inhoud 5"/>
          <p:cNvSpPr>
            <a:spLocks noGrp="1"/>
          </p:cNvSpPr>
          <p:nvPr>
            <p:ph idx="1"/>
          </p:nvPr>
        </p:nvSpPr>
        <p:spPr/>
        <p:txBody>
          <a:bodyPr/>
          <a:lstStyle/>
          <a:p>
            <a:pPr eaLnBrk="1" hangingPunct="1"/>
            <a:r>
              <a:rPr lang="en-US" dirty="0">
                <a:latin typeface="Arial" charset="0"/>
                <a:cs typeface="Arial" charset="0"/>
              </a:rPr>
              <a:t>Example </a:t>
            </a:r>
            <a:r>
              <a:rPr lang="en-US" dirty="0">
                <a:solidFill>
                  <a:schemeClr val="accent1">
                    <a:lumMod val="75000"/>
                  </a:schemeClr>
                </a:solidFill>
                <a:latin typeface="Arial" charset="0"/>
                <a:cs typeface="Arial" charset="0"/>
              </a:rPr>
              <a:t>Continuous</a:t>
            </a:r>
            <a:r>
              <a:rPr lang="en-US" dirty="0">
                <a:latin typeface="Arial" charset="0"/>
                <a:cs typeface="Arial" charset="0"/>
              </a:rPr>
              <a:t> data</a:t>
            </a:r>
            <a:endParaRPr lang="nl-NL" dirty="0">
              <a:latin typeface="Arial" charset="0"/>
              <a:cs typeface="Arial" charset="0"/>
            </a:endParaRPr>
          </a:p>
        </p:txBody>
      </p:sp>
      <p:graphicFrame>
        <p:nvGraphicFramePr>
          <p:cNvPr id="9" name="Group 115"/>
          <p:cNvGraphicFramePr>
            <a:graphicFrameLocks/>
          </p:cNvGraphicFramePr>
          <p:nvPr>
            <p:extLst>
              <p:ext uri="{D42A27DB-BD31-4B8C-83A1-F6EECF244321}">
                <p14:modId xmlns:p14="http://schemas.microsoft.com/office/powerpoint/2010/main" val="3161669978"/>
              </p:ext>
            </p:extLst>
          </p:nvPr>
        </p:nvGraphicFramePr>
        <p:xfrm>
          <a:off x="771525" y="2057400"/>
          <a:ext cx="3343276" cy="4498978"/>
        </p:xfrm>
        <a:graphic>
          <a:graphicData uri="http://schemas.openxmlformats.org/drawingml/2006/table">
            <a:tbl>
              <a:tblPr/>
              <a:tblGrid>
                <a:gridCol w="835819">
                  <a:extLst>
                    <a:ext uri="{9D8B030D-6E8A-4147-A177-3AD203B41FA5}">
                      <a16:colId xmlns:a16="http://schemas.microsoft.com/office/drawing/2014/main" val="20000"/>
                    </a:ext>
                  </a:extLst>
                </a:gridCol>
                <a:gridCol w="835819">
                  <a:extLst>
                    <a:ext uri="{9D8B030D-6E8A-4147-A177-3AD203B41FA5}">
                      <a16:colId xmlns:a16="http://schemas.microsoft.com/office/drawing/2014/main" val="20001"/>
                    </a:ext>
                  </a:extLst>
                </a:gridCol>
                <a:gridCol w="835819">
                  <a:extLst>
                    <a:ext uri="{9D8B030D-6E8A-4147-A177-3AD203B41FA5}">
                      <a16:colId xmlns:a16="http://schemas.microsoft.com/office/drawing/2014/main" val="20002"/>
                    </a:ext>
                  </a:extLst>
                </a:gridCol>
                <a:gridCol w="835819">
                  <a:extLst>
                    <a:ext uri="{9D8B030D-6E8A-4147-A177-3AD203B41FA5}">
                      <a16:colId xmlns:a16="http://schemas.microsoft.com/office/drawing/2014/main" val="20003"/>
                    </a:ext>
                  </a:extLst>
                </a:gridCol>
              </a:tblGrid>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0.73</a:t>
                      </a:r>
                    </a:p>
                  </a:txBody>
                  <a:tcPr marL="102870" marR="102870" marT="10801" marB="10801"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2.46</a:t>
                      </a:r>
                    </a:p>
                  </a:txBody>
                  <a:tcPr marL="102870" marR="102870" marT="10801" marB="10801"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2.15</a:t>
                      </a:r>
                    </a:p>
                  </a:txBody>
                  <a:tcPr marL="102870" marR="102870" marT="10801" marB="10801"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1.47</a:t>
                      </a:r>
                    </a:p>
                  </a:txBody>
                  <a:tcPr marL="102870" marR="102870" marT="10801" marB="10801"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1.96</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1.33</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1.45</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0.49</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2.05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-0.02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-0.08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0.87</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4.15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0.29</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0.91</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0.59</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1.78</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-0.12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0.58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1.83</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-0.08</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-0.78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2.22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-0.49</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1.21</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0.10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-2.00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1.80</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1.48</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-1.25</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3.09</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1.19</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0.95</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1.14</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0.72</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2.91</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2.29</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1.14</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-1.39</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2.85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-0.34</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1.52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0.80</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-0.11</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5.48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2.06</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0.07</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2.25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-0.05</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0.57</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1.33</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2"/>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-0.45</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1.47</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-1.04</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5.91</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3"/>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2.69</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2.06</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-0.18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1.84</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4"/>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1.69</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1.32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0.50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0.60</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5"/>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-0.42</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2.62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3.40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1.93</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6"/>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1.06</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-0.88</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2.47</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0.97</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7"/>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0.93</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1.69</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-0.32</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0.38</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8"/>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2.00</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1.30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0.30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1.40</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9"/>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0.42</a:t>
                      </a:r>
                    </a:p>
                  </a:txBody>
                  <a:tcPr marL="102870" marR="102870" marT="10801" marB="10801"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1.79</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1.80</a:t>
                      </a:r>
                    </a:p>
                  </a:txBody>
                  <a:tcPr marL="102870" marR="102870" marT="10801" marB="10801"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0.46</a:t>
                      </a:r>
                    </a:p>
                  </a:txBody>
                  <a:tcPr marL="102870" marR="102870" marT="10801" marB="10801"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20"/>
                  </a:ext>
                </a:extLst>
              </a:tr>
              <a:tr h="204499">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-1.49</a:t>
                      </a:r>
                    </a:p>
                  </a:txBody>
                  <a:tcPr marL="102870" marR="102870" marT="10801" marB="10801" anchor="b"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0.68</a:t>
                      </a:r>
                    </a:p>
                  </a:txBody>
                  <a:tcPr marL="102870" marR="102870" marT="10801" marB="10801"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3.16</a:t>
                      </a:r>
                    </a:p>
                  </a:txBody>
                  <a:tcPr marL="102870" marR="102870" marT="10801" marB="10801"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Pct val="120000"/>
                        <a:buFontTx/>
                        <a:buNone/>
                        <a:tabLst/>
                      </a:pPr>
                      <a:r>
                        <a:rPr kumimoji="0" lang="nl-NL" sz="1200" b="1" i="0" u="none" strike="noStrike" cap="none" normalizeH="0" baseline="0" dirty="0">
                          <a:ln>
                            <a:noFill/>
                          </a:ln>
                          <a:solidFill>
                            <a:schemeClr val="tx1"/>
                          </a:solidFill>
                          <a:effectLst/>
                          <a:latin typeface="Arial" charset="0"/>
                          <a:cs typeface="Arial" charset="0"/>
                        </a:rPr>
                        <a:t>4.04</a:t>
                      </a:r>
                    </a:p>
                  </a:txBody>
                  <a:tcPr marL="102870" marR="102870" marT="10801" marB="10801" anchor="b"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21"/>
                  </a:ext>
                </a:extLst>
              </a:tr>
            </a:tbl>
          </a:graphicData>
        </a:graphic>
      </p:graphicFrame>
      <p:pic>
        <p:nvPicPr>
          <p:cNvPr id="2" name="Afbeelding 1"/>
          <p:cNvPicPr>
            <a:picLocks noChangeAspect="1"/>
          </p:cNvPicPr>
          <p:nvPr/>
        </p:nvPicPr>
        <p:blipFill>
          <a:blip r:embed="rId3" cstate="print"/>
          <a:stretch>
            <a:fillRect/>
          </a:stretch>
        </p:blipFill>
        <p:spPr>
          <a:xfrm>
            <a:off x="4979778" y="2924944"/>
            <a:ext cx="4537484" cy="288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370"/>
          <a:stretch/>
        </p:blipFill>
        <p:spPr bwMode="auto">
          <a:xfrm>
            <a:off x="6641930" y="4149081"/>
            <a:ext cx="2795048" cy="2332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el 1"/>
          <p:cNvSpPr>
            <a:spLocks noGrp="1"/>
          </p:cNvSpPr>
          <p:nvPr>
            <p:ph type="title"/>
          </p:nvPr>
        </p:nvSpPr>
        <p:spPr/>
        <p:txBody>
          <a:bodyPr/>
          <a:lstStyle/>
          <a:p>
            <a:r>
              <a:rPr lang="en-GB" dirty="0"/>
              <a:t>  Sampling methods</a:t>
            </a:r>
          </a:p>
        </p:txBody>
      </p:sp>
      <p:sp>
        <p:nvSpPr>
          <p:cNvPr id="3" name="Tijdelijke aanduiding voor inhoud 2"/>
          <p:cNvSpPr>
            <a:spLocks noGrp="1"/>
          </p:cNvSpPr>
          <p:nvPr>
            <p:ph idx="1"/>
          </p:nvPr>
        </p:nvSpPr>
        <p:spPr/>
        <p:txBody>
          <a:bodyPr/>
          <a:lstStyle/>
          <a:p>
            <a:pPr marL="0" indent="0"/>
            <a:r>
              <a:rPr lang="en-GB" dirty="0"/>
              <a:t>Introduction into sampling</a:t>
            </a:r>
          </a:p>
          <a:p>
            <a:pPr marL="0" indent="0"/>
            <a:endParaRPr lang="en-GB" sz="1800" dirty="0"/>
          </a:p>
          <a:p>
            <a:pPr marL="92075" indent="0"/>
            <a:r>
              <a:rPr lang="en-GB" sz="1800" dirty="0"/>
              <a:t>If you want to say something about a large group, you first have to do some sort of measurements</a:t>
            </a:r>
          </a:p>
          <a:p>
            <a:endParaRPr lang="en-GB" dirty="0"/>
          </a:p>
          <a:p>
            <a:pPr marL="92075" indent="0"/>
            <a:r>
              <a:rPr lang="en-GB" sz="1800" dirty="0"/>
              <a:t>For example If we would like to say something about the length of </a:t>
            </a:r>
            <a:br>
              <a:rPr lang="en-GB" sz="1800" dirty="0"/>
            </a:br>
            <a:r>
              <a:rPr lang="en-GB" sz="1800" dirty="0"/>
              <a:t>people, basically we should measure everybody, and average that data</a:t>
            </a:r>
          </a:p>
          <a:p>
            <a:endParaRPr lang="en-GB" dirty="0"/>
          </a:p>
          <a:p>
            <a:pPr indent="-250825"/>
            <a:r>
              <a:rPr lang="en-GB" sz="1800" dirty="0"/>
              <a:t>Obviously that would be a lot of work…</a:t>
            </a:r>
          </a:p>
        </p:txBody>
      </p:sp>
      <p:sp>
        <p:nvSpPr>
          <p:cNvPr id="4" name="Tijdelijke aanduiding voor voettekst 3"/>
          <p:cNvSpPr>
            <a:spLocks noGrp="1"/>
          </p:cNvSpPr>
          <p:nvPr>
            <p:ph type="ftr" sz="quarter" idx="10"/>
          </p:nvPr>
        </p:nvSpPr>
        <p:spPr/>
        <p:txBody>
          <a:bodyPr/>
          <a:lstStyle/>
          <a:p>
            <a:endParaRPr lang="nl-NL">
              <a:solidFill>
                <a:prstClr val="white"/>
              </a:solidFill>
            </a:endParaRPr>
          </a:p>
        </p:txBody>
      </p:sp>
    </p:spTree>
    <p:extLst>
      <p:ext uri="{BB962C8B-B14F-4D97-AF65-F5344CB8AC3E}">
        <p14:creationId xmlns:p14="http://schemas.microsoft.com/office/powerpoint/2010/main" val="3284169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810815" y="1439863"/>
            <a:ext cx="9112215" cy="5040312"/>
          </a:xfrm>
        </p:spPr>
        <p:txBody>
          <a:bodyPr/>
          <a:lstStyle/>
          <a:p>
            <a:r>
              <a:rPr lang="en-GB" dirty="0"/>
              <a:t>Introduction into sampling</a:t>
            </a:r>
          </a:p>
          <a:p>
            <a:endParaRPr lang="en-GB" sz="1800" dirty="0"/>
          </a:p>
          <a:p>
            <a:pPr marL="92075" indent="0"/>
            <a:r>
              <a:rPr lang="en-GB" sz="1800" dirty="0"/>
              <a:t>If we choose the right sample the average of the group will be pretty accurate</a:t>
            </a:r>
          </a:p>
          <a:p>
            <a:pPr marL="92075" indent="0"/>
            <a:endParaRPr lang="en-GB" sz="1800" dirty="0"/>
          </a:p>
        </p:txBody>
      </p:sp>
      <p:sp>
        <p:nvSpPr>
          <p:cNvPr id="4" name="Tijdelijke aanduiding voor voettekst 3"/>
          <p:cNvSpPr>
            <a:spLocks noGrp="1"/>
          </p:cNvSpPr>
          <p:nvPr>
            <p:ph type="ftr" sz="quarter" idx="10"/>
          </p:nvPr>
        </p:nvSpPr>
        <p:spPr/>
        <p:txBody>
          <a:bodyPr/>
          <a:lstStyle/>
          <a:p>
            <a:pPr>
              <a:defRPr/>
            </a:pPr>
            <a:endParaRPr lang="nl-NL">
              <a:solidFill>
                <a:prstClr val="white"/>
              </a:solidFill>
            </a:endParaRPr>
          </a:p>
        </p:txBody>
      </p:sp>
      <p:pic>
        <p:nvPicPr>
          <p:cNvPr id="25603"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121"/>
          <a:stretch/>
        </p:blipFill>
        <p:spPr bwMode="auto">
          <a:xfrm>
            <a:off x="7855433" y="4341020"/>
            <a:ext cx="2268824" cy="23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Group 11"/>
          <p:cNvGrpSpPr>
            <a:grpSpLocks/>
          </p:cNvGrpSpPr>
          <p:nvPr/>
        </p:nvGrpSpPr>
        <p:grpSpPr bwMode="auto">
          <a:xfrm>
            <a:off x="1012041" y="3121819"/>
            <a:ext cx="7372350" cy="1676400"/>
            <a:chOff x="576" y="1200"/>
            <a:chExt cx="4128" cy="1056"/>
          </a:xfrm>
        </p:grpSpPr>
        <p:sp>
          <p:nvSpPr>
            <p:cNvPr id="7" name="Rectangle 12"/>
            <p:cNvSpPr>
              <a:spLocks noChangeArrowheads="1"/>
            </p:cNvSpPr>
            <p:nvPr/>
          </p:nvSpPr>
          <p:spPr bwMode="auto">
            <a:xfrm>
              <a:off x="576" y="1200"/>
              <a:ext cx="1680" cy="1056"/>
            </a:xfrm>
            <a:prstGeom prst="rect">
              <a:avLst/>
            </a:prstGeom>
            <a:solidFill>
              <a:schemeClr val="accent1"/>
            </a:solidFill>
            <a:ln w="9525">
              <a:solidFill>
                <a:schemeClr val="tx1"/>
              </a:solidFill>
              <a:miter lim="800000"/>
              <a:headEnd/>
              <a:tailEnd/>
            </a:ln>
          </p:spPr>
          <p:txBody>
            <a:bodyPr wrap="none" anchor="ctr"/>
            <a:lstStyle/>
            <a:p>
              <a:pPr algn="ctr"/>
              <a:r>
                <a:rPr lang="en-GB" b="1"/>
                <a:t>Population</a:t>
              </a:r>
            </a:p>
          </p:txBody>
        </p:sp>
        <p:sp>
          <p:nvSpPr>
            <p:cNvPr id="8" name="Rectangle 13"/>
            <p:cNvSpPr>
              <a:spLocks noChangeArrowheads="1"/>
            </p:cNvSpPr>
            <p:nvPr/>
          </p:nvSpPr>
          <p:spPr bwMode="auto">
            <a:xfrm>
              <a:off x="1536" y="1968"/>
              <a:ext cx="528" cy="192"/>
            </a:xfrm>
            <a:prstGeom prst="rect">
              <a:avLst/>
            </a:prstGeom>
            <a:solidFill>
              <a:schemeClr val="accent1"/>
            </a:solidFill>
            <a:ln w="9525">
              <a:solidFill>
                <a:schemeClr val="tx1"/>
              </a:solidFill>
              <a:miter lim="800000"/>
              <a:headEnd/>
              <a:tailEnd/>
            </a:ln>
          </p:spPr>
          <p:txBody>
            <a:bodyPr wrap="none" anchor="ctr"/>
            <a:lstStyle/>
            <a:p>
              <a:pPr algn="ctr"/>
              <a:r>
                <a:rPr lang="en-GB" sz="1200" b="1"/>
                <a:t>Sample</a:t>
              </a:r>
            </a:p>
          </p:txBody>
        </p:sp>
        <p:sp>
          <p:nvSpPr>
            <p:cNvPr id="9" name="Line 14"/>
            <p:cNvSpPr>
              <a:spLocks noChangeShapeType="1"/>
            </p:cNvSpPr>
            <p:nvPr/>
          </p:nvSpPr>
          <p:spPr bwMode="auto">
            <a:xfrm flipV="1">
              <a:off x="1536" y="1200"/>
              <a:ext cx="2064" cy="768"/>
            </a:xfrm>
            <a:prstGeom prst="line">
              <a:avLst/>
            </a:prstGeom>
            <a:noFill/>
            <a:ln w="9525">
              <a:solidFill>
                <a:schemeClr val="tx1"/>
              </a:solidFill>
              <a:round/>
              <a:headEnd/>
              <a:tailEnd/>
            </a:ln>
          </p:spPr>
          <p:txBody>
            <a:bodyPr/>
            <a:lstStyle/>
            <a:p>
              <a:endParaRPr lang="nl-NL"/>
            </a:p>
          </p:txBody>
        </p:sp>
        <p:sp>
          <p:nvSpPr>
            <p:cNvPr id="10" name="Line 15"/>
            <p:cNvSpPr>
              <a:spLocks noChangeShapeType="1"/>
            </p:cNvSpPr>
            <p:nvPr/>
          </p:nvSpPr>
          <p:spPr bwMode="auto">
            <a:xfrm flipV="1">
              <a:off x="2064" y="1515"/>
              <a:ext cx="1542" cy="453"/>
            </a:xfrm>
            <a:prstGeom prst="line">
              <a:avLst/>
            </a:prstGeom>
            <a:noFill/>
            <a:ln w="9525">
              <a:solidFill>
                <a:schemeClr val="tx1"/>
              </a:solidFill>
              <a:round/>
              <a:headEnd/>
              <a:tailEnd/>
            </a:ln>
          </p:spPr>
          <p:txBody>
            <a:bodyPr/>
            <a:lstStyle/>
            <a:p>
              <a:endParaRPr lang="nl-NL"/>
            </a:p>
          </p:txBody>
        </p:sp>
        <p:sp>
          <p:nvSpPr>
            <p:cNvPr id="11" name="Line 16"/>
            <p:cNvSpPr>
              <a:spLocks noChangeShapeType="1"/>
            </p:cNvSpPr>
            <p:nvPr/>
          </p:nvSpPr>
          <p:spPr bwMode="auto">
            <a:xfrm flipV="1">
              <a:off x="2064" y="1824"/>
              <a:ext cx="2640" cy="336"/>
            </a:xfrm>
            <a:prstGeom prst="line">
              <a:avLst/>
            </a:prstGeom>
            <a:noFill/>
            <a:ln w="9525">
              <a:solidFill>
                <a:schemeClr val="tx1"/>
              </a:solidFill>
              <a:round/>
              <a:headEnd/>
              <a:tailEnd/>
            </a:ln>
          </p:spPr>
          <p:txBody>
            <a:bodyPr/>
            <a:lstStyle/>
            <a:p>
              <a:endParaRPr lang="nl-NL"/>
            </a:p>
          </p:txBody>
        </p:sp>
        <p:sp>
          <p:nvSpPr>
            <p:cNvPr id="12" name="Line 17"/>
            <p:cNvSpPr>
              <a:spLocks noChangeShapeType="1"/>
            </p:cNvSpPr>
            <p:nvPr/>
          </p:nvSpPr>
          <p:spPr bwMode="auto">
            <a:xfrm flipV="1">
              <a:off x="1536" y="1824"/>
              <a:ext cx="2064" cy="336"/>
            </a:xfrm>
            <a:prstGeom prst="line">
              <a:avLst/>
            </a:prstGeom>
            <a:noFill/>
            <a:ln w="9525">
              <a:solidFill>
                <a:schemeClr val="tx1"/>
              </a:solidFill>
              <a:round/>
              <a:headEnd/>
              <a:tailEnd/>
            </a:ln>
          </p:spPr>
          <p:txBody>
            <a:bodyPr/>
            <a:lstStyle/>
            <a:p>
              <a:endParaRPr lang="nl-NL"/>
            </a:p>
          </p:txBody>
        </p:sp>
        <p:sp>
          <p:nvSpPr>
            <p:cNvPr id="13" name="Rectangle 18"/>
            <p:cNvSpPr>
              <a:spLocks noChangeArrowheads="1"/>
            </p:cNvSpPr>
            <p:nvPr/>
          </p:nvSpPr>
          <p:spPr bwMode="auto">
            <a:xfrm>
              <a:off x="3600" y="1200"/>
              <a:ext cx="1104" cy="624"/>
            </a:xfrm>
            <a:prstGeom prst="rect">
              <a:avLst/>
            </a:prstGeom>
            <a:solidFill>
              <a:schemeClr val="accent1">
                <a:alpha val="59999"/>
              </a:schemeClr>
            </a:solidFill>
            <a:ln w="9525">
              <a:solidFill>
                <a:schemeClr val="tx1"/>
              </a:solidFill>
              <a:miter lim="800000"/>
              <a:headEnd/>
              <a:tailEnd/>
            </a:ln>
          </p:spPr>
          <p:txBody>
            <a:bodyPr wrap="none" anchor="ctr"/>
            <a:lstStyle/>
            <a:p>
              <a:pPr algn="ctr"/>
              <a:r>
                <a:rPr lang="en-GB" b="1"/>
                <a:t>Sample</a:t>
              </a:r>
            </a:p>
          </p:txBody>
        </p:sp>
      </p:grpSp>
      <p:sp>
        <p:nvSpPr>
          <p:cNvPr id="16" name="Titel 1"/>
          <p:cNvSpPr>
            <a:spLocks noGrp="1"/>
          </p:cNvSpPr>
          <p:nvPr>
            <p:ph type="title"/>
          </p:nvPr>
        </p:nvSpPr>
        <p:spPr>
          <a:xfrm>
            <a:off x="687587" y="238126"/>
            <a:ext cx="7290197" cy="600075"/>
          </a:xfrm>
        </p:spPr>
        <p:txBody>
          <a:bodyPr/>
          <a:lstStyle/>
          <a:p>
            <a:r>
              <a:rPr lang="en-GB" dirty="0"/>
              <a:t>  Sampling methods</a:t>
            </a:r>
          </a:p>
        </p:txBody>
      </p:sp>
    </p:spTree>
    <p:extLst>
      <p:ext uri="{BB962C8B-B14F-4D97-AF65-F5344CB8AC3E}">
        <p14:creationId xmlns:p14="http://schemas.microsoft.com/office/powerpoint/2010/main" val="3247332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r>
              <a:rPr lang="en-GB" dirty="0"/>
              <a:t>Important definitions</a:t>
            </a:r>
          </a:p>
          <a:p>
            <a:endParaRPr lang="en-GB" sz="1800" dirty="0"/>
          </a:p>
          <a:p>
            <a:pPr indent="-250825"/>
            <a:r>
              <a:rPr lang="en-GB" sz="1800" dirty="0"/>
              <a:t>Sampling</a:t>
            </a:r>
          </a:p>
          <a:p>
            <a:pPr lvl="1">
              <a:buClrTx/>
            </a:pPr>
            <a:r>
              <a:rPr lang="en-GB" dirty="0"/>
              <a:t>The process of selecting  a subset of items from a population</a:t>
            </a:r>
          </a:p>
          <a:p>
            <a:pPr lvl="1">
              <a:buClrTx/>
            </a:pPr>
            <a:r>
              <a:rPr lang="en-GB" dirty="0"/>
              <a:t>This subset should give information about the population</a:t>
            </a:r>
          </a:p>
          <a:p>
            <a:pPr lvl="1">
              <a:buClrTx/>
            </a:pPr>
            <a:endParaRPr lang="en-GB" dirty="0"/>
          </a:p>
          <a:p>
            <a:pPr indent="-250825"/>
            <a:r>
              <a:rPr lang="en-GB" sz="1800" dirty="0"/>
              <a:t>Observation</a:t>
            </a:r>
          </a:p>
          <a:p>
            <a:pPr lvl="1">
              <a:buClrTx/>
            </a:pPr>
            <a:r>
              <a:rPr lang="en-GB" dirty="0"/>
              <a:t>Measures one or more properties of an item selected from a population</a:t>
            </a:r>
          </a:p>
          <a:p>
            <a:pPr lvl="1">
              <a:buClrTx/>
            </a:pPr>
            <a:endParaRPr lang="en-GB" dirty="0"/>
          </a:p>
          <a:p>
            <a:pPr indent="-250825"/>
            <a:r>
              <a:rPr lang="en-GB" sz="1800" dirty="0"/>
              <a:t>Population</a:t>
            </a:r>
          </a:p>
          <a:p>
            <a:pPr lvl="1">
              <a:buClrTx/>
            </a:pPr>
            <a:r>
              <a:rPr lang="en-GB" dirty="0"/>
              <a:t>The complete set of items whose characteristics one wishes to investigate</a:t>
            </a:r>
          </a:p>
          <a:p>
            <a:pPr lvl="1">
              <a:buClrTx/>
            </a:pPr>
            <a:endParaRPr lang="en-GB" dirty="0"/>
          </a:p>
          <a:p>
            <a:endParaRPr lang="en-GB" dirty="0"/>
          </a:p>
        </p:txBody>
      </p:sp>
      <p:sp>
        <p:nvSpPr>
          <p:cNvPr id="7" name="Tijdelijke aanduiding voor tekst 6"/>
          <p:cNvSpPr>
            <a:spLocks noGrp="1"/>
          </p:cNvSpPr>
          <p:nvPr>
            <p:ph type="body" sz="quarter" idx="13"/>
          </p:nvPr>
        </p:nvSpPr>
        <p:spPr/>
        <p:txBody>
          <a:bodyPr/>
          <a:lstStyle/>
          <a:p>
            <a:endParaRPr lang="nl-NL"/>
          </a:p>
        </p:txBody>
      </p:sp>
      <p:sp>
        <p:nvSpPr>
          <p:cNvPr id="6" name="Titel 1"/>
          <p:cNvSpPr>
            <a:spLocks noGrp="1"/>
          </p:cNvSpPr>
          <p:nvPr>
            <p:ph type="title"/>
          </p:nvPr>
        </p:nvSpPr>
        <p:spPr>
          <a:xfrm>
            <a:off x="687587" y="238126"/>
            <a:ext cx="7290197" cy="600075"/>
          </a:xfrm>
        </p:spPr>
        <p:txBody>
          <a:bodyPr/>
          <a:lstStyle/>
          <a:p>
            <a:r>
              <a:rPr lang="en-GB" dirty="0"/>
              <a:t>  Sampling methods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el 4"/>
          <p:cNvSpPr>
            <a:spLocks noGrp="1"/>
          </p:cNvSpPr>
          <p:nvPr>
            <p:ph type="title"/>
          </p:nvPr>
        </p:nvSpPr>
        <p:spPr/>
        <p:txBody>
          <a:bodyPr/>
          <a:lstStyle/>
          <a:p>
            <a:r>
              <a:rPr lang="en-GB" dirty="0"/>
              <a:t>  Variation</a:t>
            </a:r>
          </a:p>
        </p:txBody>
      </p:sp>
      <p:sp>
        <p:nvSpPr>
          <p:cNvPr id="5123" name="Tijdelijke aanduiding voor inhoud 12"/>
          <p:cNvSpPr>
            <a:spLocks noGrp="1"/>
          </p:cNvSpPr>
          <p:nvPr>
            <p:ph idx="1"/>
          </p:nvPr>
        </p:nvSpPr>
        <p:spPr/>
        <p:txBody>
          <a:bodyPr/>
          <a:lstStyle/>
          <a:p>
            <a:r>
              <a:rPr lang="en-GB" dirty="0"/>
              <a:t>Variation is everywhere</a:t>
            </a:r>
          </a:p>
          <a:p>
            <a:pPr lvl="1"/>
            <a:endParaRPr lang="en-GB" dirty="0"/>
          </a:p>
          <a:p>
            <a:pPr marL="85725" indent="0"/>
            <a:r>
              <a:rPr lang="en-US" sz="1800" dirty="0"/>
              <a:t>Process A – the waiting time for one hospital clinic has relatively little variation compared to:</a:t>
            </a:r>
          </a:p>
          <a:p>
            <a:pPr marL="85725" indent="0"/>
            <a:endParaRPr lang="en-US" sz="1800" dirty="0"/>
          </a:p>
          <a:p>
            <a:pPr marL="85725" indent="0"/>
            <a:r>
              <a:rPr lang="en-US" sz="1800" dirty="0"/>
              <a:t>Process B – the waiting time for another hospital clinic</a:t>
            </a:r>
            <a:endParaRPr lang="en-GB" sz="1800" dirty="0"/>
          </a:p>
        </p:txBody>
      </p:sp>
      <p:sp>
        <p:nvSpPr>
          <p:cNvPr id="14" name="Text Box 17"/>
          <p:cNvSpPr txBox="1">
            <a:spLocks noChangeArrowheads="1"/>
          </p:cNvSpPr>
          <p:nvPr/>
        </p:nvSpPr>
        <p:spPr bwMode="auto">
          <a:xfrm>
            <a:off x="2865955" y="623279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b="1" dirty="0"/>
              <a:t>A</a:t>
            </a:r>
          </a:p>
        </p:txBody>
      </p:sp>
      <p:sp>
        <p:nvSpPr>
          <p:cNvPr id="15" name="Text Box 18"/>
          <p:cNvSpPr txBox="1">
            <a:spLocks noChangeArrowheads="1"/>
          </p:cNvSpPr>
          <p:nvPr/>
        </p:nvSpPr>
        <p:spPr bwMode="auto">
          <a:xfrm>
            <a:off x="7249734" y="623279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b="1" dirty="0"/>
              <a:t>B</a:t>
            </a:r>
          </a:p>
        </p:txBody>
      </p:sp>
      <p:grpSp>
        <p:nvGrpSpPr>
          <p:cNvPr id="2" name="Groep 5"/>
          <p:cNvGrpSpPr/>
          <p:nvPr/>
        </p:nvGrpSpPr>
        <p:grpSpPr>
          <a:xfrm>
            <a:off x="552756" y="3581821"/>
            <a:ext cx="9168103" cy="2650976"/>
            <a:chOff x="815063" y="2722505"/>
            <a:chExt cx="9345329" cy="3429479"/>
          </a:xfrm>
        </p:grpSpPr>
        <p:pic>
          <p:nvPicPr>
            <p:cNvPr id="3" name="Afbeelding 2"/>
            <p:cNvPicPr>
              <a:picLocks noChangeAspect="1"/>
            </p:cNvPicPr>
            <p:nvPr/>
          </p:nvPicPr>
          <p:blipFill>
            <a:blip r:embed="rId3" cstate="print"/>
            <a:stretch>
              <a:fillRect/>
            </a:stretch>
          </p:blipFill>
          <p:spPr>
            <a:xfrm>
              <a:off x="5463912" y="2722505"/>
              <a:ext cx="4696480" cy="3400900"/>
            </a:xfrm>
            <a:prstGeom prst="rect">
              <a:avLst/>
            </a:prstGeom>
          </p:spPr>
        </p:pic>
        <p:pic>
          <p:nvPicPr>
            <p:cNvPr id="4" name="Afbeelding 3"/>
            <p:cNvPicPr>
              <a:picLocks noChangeAspect="1"/>
            </p:cNvPicPr>
            <p:nvPr/>
          </p:nvPicPr>
          <p:blipFill>
            <a:blip r:embed="rId4" cstate="print"/>
            <a:stretch>
              <a:fillRect/>
            </a:stretch>
          </p:blipFill>
          <p:spPr>
            <a:xfrm>
              <a:off x="815063" y="2722505"/>
              <a:ext cx="4648849" cy="3429479"/>
            </a:xfrm>
            <a:prstGeom prst="rect">
              <a:avLst/>
            </a:prstGeom>
          </p:spPr>
        </p:pic>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GB"/>
              <a:t>  Variation</a:t>
            </a:r>
            <a:endParaRPr lang="en-GB" dirty="0"/>
          </a:p>
        </p:txBody>
      </p:sp>
      <p:sp>
        <p:nvSpPr>
          <p:cNvPr id="6147" name="Tijdelijke aanduiding voor inhoud 3"/>
          <p:cNvSpPr>
            <a:spLocks noGrp="1"/>
          </p:cNvSpPr>
          <p:nvPr>
            <p:ph idx="1"/>
          </p:nvPr>
        </p:nvSpPr>
        <p:spPr/>
        <p:txBody>
          <a:bodyPr/>
          <a:lstStyle/>
          <a:p>
            <a:r>
              <a:rPr lang="en-GB" dirty="0"/>
              <a:t>Is variation acceptable?</a:t>
            </a:r>
          </a:p>
          <a:p>
            <a:pPr lvl="1"/>
            <a:endParaRPr lang="en-GB" dirty="0"/>
          </a:p>
          <a:p>
            <a:pPr indent="-257175"/>
            <a:r>
              <a:rPr lang="en-GB" sz="1800" dirty="0"/>
              <a:t>Variation is present in every process</a:t>
            </a:r>
          </a:p>
          <a:p>
            <a:pPr marL="342900" lvl="1" indent="-257175"/>
            <a:endParaRPr lang="en-GB" dirty="0"/>
          </a:p>
          <a:p>
            <a:pPr indent="-257175"/>
            <a:r>
              <a:rPr lang="en-GB" sz="1800" dirty="0"/>
              <a:t>We may accept variation when:</a:t>
            </a:r>
          </a:p>
          <a:p>
            <a:pPr marL="441325" lvl="2" indent="-258763">
              <a:buClrTx/>
            </a:pPr>
            <a:r>
              <a:rPr lang="en-GB" b="1" dirty="0"/>
              <a:t>The process mean is “on target” e.g. the average number of patients seen in the Emergency Unit</a:t>
            </a:r>
          </a:p>
          <a:p>
            <a:pPr marL="441325" lvl="2" indent="-258763">
              <a:buClrTx/>
            </a:pPr>
            <a:endParaRPr lang="en-GB" b="1" dirty="0"/>
          </a:p>
          <a:p>
            <a:pPr marL="441325" lvl="2" indent="-258763">
              <a:buClrTx/>
            </a:pPr>
            <a:r>
              <a:rPr lang="en-GB" b="1" dirty="0"/>
              <a:t>The total variation is relatively small compared to the specification (expectation)</a:t>
            </a:r>
          </a:p>
          <a:p>
            <a:pPr marL="441325" lvl="2" indent="-258763">
              <a:buClrTx/>
            </a:pPr>
            <a:endParaRPr lang="en-GB" b="1" dirty="0"/>
          </a:p>
          <a:p>
            <a:pPr marL="441325" lvl="2" indent="-258763">
              <a:buClrTx/>
            </a:pPr>
            <a:r>
              <a:rPr lang="en-GB" b="1" dirty="0"/>
              <a:t>The process is stable over time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5"/>
          <p:cNvSpPr>
            <a:spLocks noGrp="1"/>
          </p:cNvSpPr>
          <p:nvPr>
            <p:ph type="title"/>
          </p:nvPr>
        </p:nvSpPr>
        <p:spPr/>
        <p:txBody>
          <a:bodyPr/>
          <a:lstStyle/>
          <a:p>
            <a:r>
              <a:rPr lang="en-GB" dirty="0"/>
              <a:t>  Process Characteristics</a:t>
            </a:r>
          </a:p>
        </p:txBody>
      </p:sp>
      <p:sp>
        <p:nvSpPr>
          <p:cNvPr id="9219" name="Tijdelijke aanduiding voor inhoud 4"/>
          <p:cNvSpPr>
            <a:spLocks noGrp="1"/>
          </p:cNvSpPr>
          <p:nvPr>
            <p:ph idx="1"/>
          </p:nvPr>
        </p:nvSpPr>
        <p:spPr>
          <a:xfrm>
            <a:off x="810815" y="1439863"/>
            <a:ext cx="9274233" cy="5040312"/>
          </a:xfrm>
        </p:spPr>
        <p:txBody>
          <a:bodyPr/>
          <a:lstStyle/>
          <a:p>
            <a:r>
              <a:rPr lang="en-GB" dirty="0"/>
              <a:t>Understand the process to make improvements</a:t>
            </a:r>
          </a:p>
          <a:p>
            <a:pPr lvl="1"/>
            <a:endParaRPr lang="en-GB" dirty="0"/>
          </a:p>
          <a:p>
            <a:pPr indent="-160338"/>
            <a:r>
              <a:rPr lang="en-GB" sz="1800" dirty="0"/>
              <a:t>Process variation has several components</a:t>
            </a:r>
          </a:p>
          <a:p>
            <a:pPr lvl="1">
              <a:buClrTx/>
            </a:pPr>
            <a:r>
              <a:rPr lang="en-GB" dirty="0"/>
              <a:t>Centre:	Is the process on target?</a:t>
            </a:r>
          </a:p>
          <a:p>
            <a:pPr lvl="1">
              <a:buClrTx/>
            </a:pPr>
            <a:r>
              <a:rPr lang="en-GB" dirty="0"/>
              <a:t>Spread:	How much variation is in the data?</a:t>
            </a:r>
          </a:p>
          <a:p>
            <a:pPr lvl="1"/>
            <a:endParaRPr lang="en-GB" sz="1800" dirty="0"/>
          </a:p>
          <a:p>
            <a:pPr lvl="1"/>
            <a:endParaRPr lang="en-GB" sz="1800" dirty="0"/>
          </a:p>
          <a:p>
            <a:pPr indent="-160338"/>
            <a:r>
              <a:rPr lang="en-GB" sz="1800" dirty="0"/>
              <a:t>In all cases</a:t>
            </a:r>
          </a:p>
          <a:p>
            <a:pPr marL="468312" indent="-285750">
              <a:buFont typeface="Arial" panose="020B0604020202020204" pitchFamily="34" charset="0"/>
              <a:buChar char="•"/>
            </a:pPr>
            <a:r>
              <a:rPr lang="en-GB" sz="1600" dirty="0"/>
              <a:t>Use graphs and statistical parameters to visualize the process</a:t>
            </a:r>
          </a:p>
          <a:p>
            <a:pPr lvl="1"/>
            <a:endParaRPr lang="en-GB" dirty="0"/>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jdelijke aanduiding voor inhoud 6"/>
          <p:cNvSpPr>
            <a:spLocks noGrp="1"/>
          </p:cNvSpPr>
          <p:nvPr>
            <p:ph idx="1"/>
          </p:nvPr>
        </p:nvSpPr>
        <p:spPr/>
        <p:txBody>
          <a:bodyPr/>
          <a:lstStyle/>
          <a:p>
            <a:pPr eaLnBrk="1" hangingPunct="1"/>
            <a:r>
              <a:rPr lang="en-GB" dirty="0">
                <a:latin typeface="Arial" charset="0"/>
                <a:cs typeface="Arial" charset="0"/>
              </a:rPr>
              <a:t>Two measures of central tendency</a:t>
            </a:r>
          </a:p>
          <a:p>
            <a:pPr lvl="1" eaLnBrk="1" hangingPunct="1"/>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Arithmetic average: Mean</a:t>
            </a:r>
          </a:p>
          <a:p>
            <a:pPr lvl="1" eaLnBrk="1" hangingPunct="1">
              <a:buClrTx/>
            </a:pPr>
            <a:r>
              <a:rPr lang="en-GB" dirty="0">
                <a:latin typeface="Arial" charset="0"/>
                <a:cs typeface="Arial" charset="0"/>
              </a:rPr>
              <a:t>Arithmetic mean of data</a:t>
            </a:r>
            <a:br>
              <a:rPr lang="en-GB" dirty="0">
                <a:latin typeface="Arial" charset="0"/>
                <a:cs typeface="Arial" charset="0"/>
              </a:rPr>
            </a:b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Median Me: Median</a:t>
            </a:r>
            <a:r>
              <a:rPr lang="en-GB" dirty="0">
                <a:latin typeface="Arial" charset="0"/>
                <a:cs typeface="Arial" charset="0"/>
              </a:rPr>
              <a:t>	</a:t>
            </a:r>
          </a:p>
          <a:p>
            <a:pPr lvl="1" eaLnBrk="1" hangingPunct="1">
              <a:buClrTx/>
            </a:pPr>
            <a:r>
              <a:rPr lang="en-GB" dirty="0">
                <a:latin typeface="Arial" charset="0"/>
                <a:cs typeface="Arial" charset="0"/>
              </a:rPr>
              <a:t>Middle value of sorted data</a:t>
            </a:r>
          </a:p>
          <a:p>
            <a:pPr lvl="1" eaLnBrk="1" hangingPunct="1">
              <a:buClrTx/>
            </a:pPr>
            <a:endParaRPr lang="en-GB" dirty="0">
              <a:latin typeface="Arial" charset="0"/>
              <a:cs typeface="Arial" charset="0"/>
            </a:endParaRPr>
          </a:p>
          <a:p>
            <a:pPr marL="180975" lvl="1" indent="0" eaLnBrk="1" hangingPunct="1">
              <a:buClrTx/>
              <a:buNone/>
            </a:pPr>
            <a:endParaRPr lang="en-GB" dirty="0">
              <a:latin typeface="Arial" charset="0"/>
              <a:cs typeface="Arial" charset="0"/>
            </a:endParaRPr>
          </a:p>
          <a:p>
            <a:pPr marL="180975" lvl="1" indent="0" eaLnBrk="1" hangingPunct="1">
              <a:buClrTx/>
              <a:buNone/>
            </a:pPr>
            <a:r>
              <a:rPr lang="en-GB" sz="1800" dirty="0">
                <a:latin typeface="Arial" charset="0"/>
                <a:cs typeface="Arial" charset="0"/>
              </a:rPr>
              <a:t>Data: {3, 5, 4, 7, 5}</a:t>
            </a:r>
          </a:p>
          <a:p>
            <a:pPr lvl="1" eaLnBrk="1" hangingPunct="1">
              <a:buClrTx/>
            </a:pPr>
            <a:endParaRPr lang="en-GB" dirty="0">
              <a:latin typeface="Arial" charset="0"/>
              <a:cs typeface="Arial" charset="0"/>
            </a:endParaRPr>
          </a:p>
          <a:p>
            <a:pPr lvl="1" eaLnBrk="1" hangingPunct="1"/>
            <a:endParaRPr lang="en-GB" dirty="0">
              <a:latin typeface="Arial" charset="0"/>
              <a:cs typeface="Arial" charset="0"/>
            </a:endParaRPr>
          </a:p>
          <a:p>
            <a:pPr lvl="1" eaLnBrk="1" hangingPunct="1"/>
            <a:endParaRPr lang="en-GB" dirty="0">
              <a:latin typeface="Arial" charset="0"/>
              <a:cs typeface="Arial" charset="0"/>
            </a:endParaRPr>
          </a:p>
        </p:txBody>
      </p:sp>
      <p:graphicFrame>
        <p:nvGraphicFramePr>
          <p:cNvPr id="10244" name="Object 5"/>
          <p:cNvGraphicFramePr>
            <a:graphicFrameLocks noChangeAspect="1"/>
          </p:cNvGraphicFramePr>
          <p:nvPr>
            <p:extLst>
              <p:ext uri="{D42A27DB-BD31-4B8C-83A1-F6EECF244321}">
                <p14:modId xmlns:p14="http://schemas.microsoft.com/office/powerpoint/2010/main" val="283141690"/>
              </p:ext>
            </p:extLst>
          </p:nvPr>
        </p:nvGraphicFramePr>
        <p:xfrm>
          <a:off x="5986463" y="2262386"/>
          <a:ext cx="2891433" cy="590550"/>
        </p:xfrm>
        <a:graphic>
          <a:graphicData uri="http://schemas.openxmlformats.org/presentationml/2006/ole">
            <mc:AlternateContent xmlns:mc="http://schemas.openxmlformats.org/markup-compatibility/2006">
              <mc:Choice xmlns:v="urn:schemas-microsoft-com:vml" Requires="v">
                <p:oleObj name="Vergelijking" r:id="rId3" imgW="1714500" imgH="393700" progId="Equation.3">
                  <p:embed/>
                </p:oleObj>
              </mc:Choice>
              <mc:Fallback>
                <p:oleObj name="Vergelijking" r:id="rId3" imgW="1714500" imgH="3937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463" y="2262386"/>
                        <a:ext cx="2891433"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6"/>
          <p:cNvGraphicFramePr>
            <a:graphicFrameLocks noChangeAspect="1"/>
          </p:cNvGraphicFramePr>
          <p:nvPr>
            <p:extLst>
              <p:ext uri="{D42A27DB-BD31-4B8C-83A1-F6EECF244321}">
                <p14:modId xmlns:p14="http://schemas.microsoft.com/office/powerpoint/2010/main" val="1719817535"/>
              </p:ext>
            </p:extLst>
          </p:nvPr>
        </p:nvGraphicFramePr>
        <p:xfrm>
          <a:off x="5932885" y="3628256"/>
          <a:ext cx="2698552" cy="304800"/>
        </p:xfrm>
        <a:graphic>
          <a:graphicData uri="http://schemas.openxmlformats.org/presentationml/2006/ole">
            <mc:AlternateContent xmlns:mc="http://schemas.openxmlformats.org/markup-compatibility/2006">
              <mc:Choice xmlns:v="urn:schemas-microsoft-com:vml" Requires="v">
                <p:oleObj name="Vergelijking" r:id="rId5" imgW="1600200" imgH="203200" progId="Equation.3">
                  <p:embed/>
                </p:oleObj>
              </mc:Choice>
              <mc:Fallback>
                <p:oleObj name="Vergelijking" r:id="rId5" imgW="1600200" imgH="203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2885" y="3628256"/>
                        <a:ext cx="269855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itel 5"/>
          <p:cNvSpPr>
            <a:spLocks noGrp="1"/>
          </p:cNvSpPr>
          <p:nvPr>
            <p:ph type="title"/>
          </p:nvPr>
        </p:nvSpPr>
        <p:spPr>
          <a:xfrm>
            <a:off x="687587" y="238126"/>
            <a:ext cx="7290197" cy="600075"/>
          </a:xfrm>
        </p:spPr>
        <p:txBody>
          <a:bodyPr/>
          <a:lstStyle/>
          <a:p>
            <a:r>
              <a:rPr lang="en-GB" dirty="0"/>
              <a:t>  Process Characteristics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jdelijke aanduiding voor inhoud 5"/>
          <p:cNvSpPr>
            <a:spLocks noGrp="1"/>
          </p:cNvSpPr>
          <p:nvPr>
            <p:ph idx="1"/>
          </p:nvPr>
        </p:nvSpPr>
        <p:spPr/>
        <p:txBody>
          <a:bodyPr/>
          <a:lstStyle/>
          <a:p>
            <a:pPr eaLnBrk="1" hangingPunct="1"/>
            <a:r>
              <a:rPr lang="en-GB" dirty="0">
                <a:latin typeface="Arial" charset="0"/>
                <a:cs typeface="Arial" charset="0"/>
              </a:rPr>
              <a:t>Exercise: determine mean and median </a:t>
            </a:r>
          </a:p>
          <a:p>
            <a:pPr lvl="1" eaLnBrk="1" hangingPunct="1">
              <a:buClrTx/>
            </a:pPr>
            <a:endParaRPr lang="en-GB" dirty="0">
              <a:latin typeface="Arial" charset="0"/>
              <a:cs typeface="Arial" charset="0"/>
            </a:endParaRPr>
          </a:p>
          <a:p>
            <a:pPr lvl="1" eaLnBrk="1" hangingPunct="1">
              <a:buClrTx/>
              <a:buNone/>
            </a:pPr>
            <a:r>
              <a:rPr lang="en-GB" sz="1800" dirty="0">
                <a:latin typeface="Arial" charset="0"/>
                <a:cs typeface="Arial" charset="0"/>
              </a:rPr>
              <a:t>Arithmetic average: Mean</a:t>
            </a:r>
          </a:p>
          <a:p>
            <a:pPr lvl="1" eaLnBrk="1" hangingPunct="1">
              <a:buClrTx/>
            </a:pPr>
            <a:r>
              <a:rPr lang="en-GB" dirty="0">
                <a:latin typeface="Arial" charset="0"/>
                <a:cs typeface="Arial" charset="0"/>
              </a:rPr>
              <a:t>Arithmetic mean of data</a:t>
            </a:r>
            <a:br>
              <a:rPr lang="en-GB" dirty="0">
                <a:latin typeface="Arial" charset="0"/>
                <a:cs typeface="Arial" charset="0"/>
              </a:rPr>
            </a:b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Median Me: Median	</a:t>
            </a:r>
          </a:p>
          <a:p>
            <a:pPr lvl="1" eaLnBrk="1" hangingPunct="1">
              <a:buClrTx/>
            </a:pPr>
            <a:r>
              <a:rPr lang="en-GB" dirty="0">
                <a:latin typeface="Arial" charset="0"/>
                <a:cs typeface="Arial" charset="0"/>
              </a:rPr>
              <a:t>Middle value of sorted data</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marL="180975" lvl="1" indent="0" eaLnBrk="1" hangingPunct="1">
              <a:buClrTx/>
              <a:buNone/>
            </a:pPr>
            <a:r>
              <a:rPr lang="en-GB" sz="1800" dirty="0">
                <a:latin typeface="Arial" charset="0"/>
                <a:cs typeface="Arial" charset="0"/>
              </a:rPr>
              <a:t>Data : {2, 3, 4, 5, 3, 10}</a:t>
            </a:r>
          </a:p>
          <a:p>
            <a:pPr lvl="1" eaLnBrk="1" hangingPunct="1">
              <a:buClrTx/>
            </a:pPr>
            <a:endParaRPr lang="en-GB" dirty="0">
              <a:latin typeface="Arial" charset="0"/>
              <a:cs typeface="Arial" charset="0"/>
            </a:endParaRPr>
          </a:p>
          <a:p>
            <a:pPr lvl="1" eaLnBrk="1" hangingPunct="1"/>
            <a:endParaRPr lang="en-GB" dirty="0">
              <a:latin typeface="Arial" charset="0"/>
              <a:cs typeface="Arial" charset="0"/>
            </a:endParaRPr>
          </a:p>
          <a:p>
            <a:pPr lvl="1" eaLnBrk="1" hangingPunct="1"/>
            <a:endParaRPr lang="en-GB" dirty="0">
              <a:latin typeface="Arial" charset="0"/>
              <a:cs typeface="Arial" charset="0"/>
            </a:endParaRPr>
          </a:p>
          <a:p>
            <a:pPr lvl="1" eaLnBrk="1" hangingPunct="1"/>
            <a:endParaRPr lang="en-GB" dirty="0">
              <a:latin typeface="Arial" charset="0"/>
              <a:cs typeface="Arial" charset="0"/>
            </a:endParaRPr>
          </a:p>
          <a:p>
            <a:pPr eaLnBrk="1" hangingPunct="1"/>
            <a:endParaRPr lang="en-GB" dirty="0">
              <a:latin typeface="Arial" charset="0"/>
              <a:cs typeface="Arial" charset="0"/>
            </a:endParaRPr>
          </a:p>
        </p:txBody>
      </p:sp>
      <p:graphicFrame>
        <p:nvGraphicFramePr>
          <p:cNvPr id="184324" name="Object 4"/>
          <p:cNvGraphicFramePr>
            <a:graphicFrameLocks noChangeAspect="1"/>
          </p:cNvGraphicFramePr>
          <p:nvPr>
            <p:extLst>
              <p:ext uri="{D42A27DB-BD31-4B8C-83A1-F6EECF244321}">
                <p14:modId xmlns:p14="http://schemas.microsoft.com/office/powerpoint/2010/main" val="4163040431"/>
              </p:ext>
            </p:extLst>
          </p:nvPr>
        </p:nvGraphicFramePr>
        <p:xfrm>
          <a:off x="5834658" y="2348880"/>
          <a:ext cx="3341489" cy="590550"/>
        </p:xfrm>
        <a:graphic>
          <a:graphicData uri="http://schemas.openxmlformats.org/presentationml/2006/ole">
            <mc:AlternateContent xmlns:mc="http://schemas.openxmlformats.org/markup-compatibility/2006">
              <mc:Choice xmlns:v="urn:schemas-microsoft-com:vml" Requires="v">
                <p:oleObj name="Vergelijking" r:id="rId3" imgW="1981200" imgH="393700" progId="Equation.3">
                  <p:embed/>
                </p:oleObj>
              </mc:Choice>
              <mc:Fallback>
                <p:oleObj name="Vergelijking" r:id="rId3" imgW="1981200" imgH="3937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4658" y="2348880"/>
                        <a:ext cx="3341489"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25" name="Object 5"/>
          <p:cNvGraphicFramePr>
            <a:graphicFrameLocks noChangeAspect="1"/>
          </p:cNvGraphicFramePr>
          <p:nvPr>
            <p:extLst>
              <p:ext uri="{D42A27DB-BD31-4B8C-83A1-F6EECF244321}">
                <p14:modId xmlns:p14="http://schemas.microsoft.com/office/powerpoint/2010/main" val="1102629586"/>
              </p:ext>
            </p:extLst>
          </p:nvPr>
        </p:nvGraphicFramePr>
        <p:xfrm>
          <a:off x="5791573" y="3556248"/>
          <a:ext cx="3232547" cy="304800"/>
        </p:xfrm>
        <a:graphic>
          <a:graphicData uri="http://schemas.openxmlformats.org/presentationml/2006/ole">
            <mc:AlternateContent xmlns:mc="http://schemas.openxmlformats.org/markup-compatibility/2006">
              <mc:Choice xmlns:v="urn:schemas-microsoft-com:vml" Requires="v">
                <p:oleObj name="Vergelijking" r:id="rId5" imgW="1916868" imgH="203112" progId="Equation.3">
                  <p:embed/>
                </p:oleObj>
              </mc:Choice>
              <mc:Fallback>
                <p:oleObj name="Vergelijking" r:id="rId5" imgW="1916868" imgH="203112"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573" y="3556248"/>
                        <a:ext cx="3232547"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6086476" y="5445125"/>
          <a:ext cx="2870002" cy="304800"/>
        </p:xfrm>
        <a:graphic>
          <a:graphicData uri="http://schemas.openxmlformats.org/presentationml/2006/ole">
            <mc:AlternateContent xmlns:mc="http://schemas.openxmlformats.org/markup-compatibility/2006">
              <mc:Choice xmlns:v="urn:schemas-microsoft-com:vml" Requires="v">
                <p:oleObj name="Vergelijking" r:id="rId7" imgW="1701800" imgH="203200" progId="Equation.3">
                  <p:embed/>
                </p:oleObj>
              </mc:Choice>
              <mc:Fallback>
                <p:oleObj name="Vergelijking" r:id="rId7" imgW="1701800" imgH="2032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6476" y="5445125"/>
                        <a:ext cx="287000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hoek 2"/>
          <p:cNvSpPr/>
          <p:nvPr/>
        </p:nvSpPr>
        <p:spPr>
          <a:xfrm>
            <a:off x="5143500" y="1988840"/>
            <a:ext cx="3969441"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9" name="Rechthoek 8"/>
          <p:cNvSpPr/>
          <p:nvPr/>
        </p:nvSpPr>
        <p:spPr>
          <a:xfrm>
            <a:off x="5751068" y="3257897"/>
            <a:ext cx="3969441"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Rechthoek 9"/>
          <p:cNvSpPr/>
          <p:nvPr/>
        </p:nvSpPr>
        <p:spPr>
          <a:xfrm>
            <a:off x="5548545" y="5301208"/>
            <a:ext cx="3969441"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itel 5"/>
          <p:cNvSpPr>
            <a:spLocks noGrp="1"/>
          </p:cNvSpPr>
          <p:nvPr>
            <p:ph type="title"/>
          </p:nvPr>
        </p:nvSpPr>
        <p:spPr>
          <a:xfrm>
            <a:off x="687587" y="238126"/>
            <a:ext cx="7290197" cy="600075"/>
          </a:xfrm>
        </p:spPr>
        <p:txBody>
          <a:bodyPr/>
          <a:lstStyle/>
          <a:p>
            <a:r>
              <a:rPr lang="en-GB" dirty="0"/>
              <a:t>  Process Characteristics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7"/>
          <p:cNvGraphicFramePr>
            <a:graphicFrameLocks noChangeAspect="1"/>
          </p:cNvGraphicFramePr>
          <p:nvPr>
            <p:extLst>
              <p:ext uri="{D42A27DB-BD31-4B8C-83A1-F6EECF244321}">
                <p14:modId xmlns:p14="http://schemas.microsoft.com/office/powerpoint/2010/main" val="2975795676"/>
              </p:ext>
            </p:extLst>
          </p:nvPr>
        </p:nvGraphicFramePr>
        <p:xfrm>
          <a:off x="6439644" y="2395736"/>
          <a:ext cx="2027040" cy="457200"/>
        </p:xfrm>
        <a:graphic>
          <a:graphicData uri="http://schemas.openxmlformats.org/presentationml/2006/ole">
            <mc:AlternateContent xmlns:mc="http://schemas.openxmlformats.org/markup-compatibility/2006">
              <mc:Choice xmlns:v="urn:schemas-microsoft-com:vml" Requires="v">
                <p:oleObj name="Vergelijking" r:id="rId3" imgW="901309" imgH="228501" progId="Equation.3">
                  <p:embed/>
                </p:oleObj>
              </mc:Choice>
              <mc:Fallback>
                <p:oleObj name="Vergelijking" r:id="rId3" imgW="901309" imgH="228501"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9644" y="2395736"/>
                        <a:ext cx="202704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11"/>
          <p:cNvGraphicFramePr>
            <a:graphicFrameLocks noChangeAspect="1"/>
          </p:cNvGraphicFramePr>
          <p:nvPr>
            <p:extLst>
              <p:ext uri="{D42A27DB-BD31-4B8C-83A1-F6EECF244321}">
                <p14:modId xmlns:p14="http://schemas.microsoft.com/office/powerpoint/2010/main" val="1848028305"/>
              </p:ext>
            </p:extLst>
          </p:nvPr>
        </p:nvGraphicFramePr>
        <p:xfrm>
          <a:off x="6482505" y="5013176"/>
          <a:ext cx="1171575" cy="508000"/>
        </p:xfrm>
        <a:graphic>
          <a:graphicData uri="http://schemas.openxmlformats.org/presentationml/2006/ole">
            <mc:AlternateContent xmlns:mc="http://schemas.openxmlformats.org/markup-compatibility/2006">
              <mc:Choice xmlns:v="urn:schemas-microsoft-com:vml" Requires="v">
                <p:oleObj name="Vergelijking" r:id="rId5" imgW="520474" imgH="253890" progId="Equation.3">
                  <p:embed/>
                </p:oleObj>
              </mc:Choice>
              <mc:Fallback>
                <p:oleObj name="Vergelijking" r:id="rId5" imgW="520474" imgH="25389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2505" y="5013176"/>
                        <a:ext cx="117157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ChangeAspect="1"/>
          </p:cNvGraphicFramePr>
          <p:nvPr>
            <p:extLst>
              <p:ext uri="{D42A27DB-BD31-4B8C-83A1-F6EECF244321}">
                <p14:modId xmlns:p14="http://schemas.microsoft.com/office/powerpoint/2010/main" val="3188208906"/>
              </p:ext>
            </p:extLst>
          </p:nvPr>
        </p:nvGraphicFramePr>
        <p:xfrm>
          <a:off x="6443104" y="3717032"/>
          <a:ext cx="2912865" cy="863600"/>
        </p:xfrm>
        <a:graphic>
          <a:graphicData uri="http://schemas.openxmlformats.org/presentationml/2006/ole">
            <mc:AlternateContent xmlns:mc="http://schemas.openxmlformats.org/markup-compatibility/2006">
              <mc:Choice xmlns:v="urn:schemas-microsoft-com:vml" Requires="v">
                <p:oleObj name="Vergelijking" r:id="rId7" imgW="1295400" imgH="431800" progId="Equation.3">
                  <p:embed/>
                </p:oleObj>
              </mc:Choice>
              <mc:Fallback>
                <p:oleObj name="Vergelijking" r:id="rId7" imgW="1295400" imgH="4318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104" y="3717032"/>
                        <a:ext cx="291286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Tijdelijke aanduiding voor inhoud 9"/>
          <p:cNvSpPr>
            <a:spLocks noGrp="1"/>
          </p:cNvSpPr>
          <p:nvPr>
            <p:ph idx="1"/>
          </p:nvPr>
        </p:nvSpPr>
        <p:spPr>
          <a:xfrm>
            <a:off x="810000" y="1440000"/>
            <a:ext cx="6439734" cy="5040312"/>
          </a:xfrm>
        </p:spPr>
        <p:txBody>
          <a:bodyPr/>
          <a:lstStyle/>
          <a:p>
            <a:pPr eaLnBrk="1" hangingPunct="1"/>
            <a:r>
              <a:rPr lang="en-GB" dirty="0">
                <a:latin typeface="Arial" charset="0"/>
                <a:cs typeface="Arial" charset="0"/>
              </a:rPr>
              <a:t>Measures for spread of a sample</a:t>
            </a:r>
          </a:p>
          <a:p>
            <a:pPr marL="180975" lvl="1" indent="0" eaLnBrk="1" hangingPunct="1">
              <a:buNone/>
            </a:pPr>
            <a:endParaRPr lang="en-GB" sz="1800" dirty="0">
              <a:latin typeface="Arial" charset="0"/>
              <a:cs typeface="Arial" charset="0"/>
            </a:endParaRPr>
          </a:p>
          <a:p>
            <a:pPr lvl="1" eaLnBrk="1" hangingPunct="1">
              <a:buClrTx/>
              <a:buFont typeface="Arial" charset="0"/>
              <a:buNone/>
            </a:pPr>
            <a:r>
              <a:rPr lang="en-GB" sz="1800" dirty="0">
                <a:latin typeface="Arial" charset="0"/>
                <a:cs typeface="Arial" charset="0"/>
              </a:rPr>
              <a:t>Range (R)</a:t>
            </a:r>
          </a:p>
          <a:p>
            <a:pPr lvl="1" eaLnBrk="1" hangingPunct="1">
              <a:buClrTx/>
            </a:pPr>
            <a:r>
              <a:rPr lang="en-GB" dirty="0">
                <a:latin typeface="Arial" charset="0"/>
                <a:cs typeface="Arial" charset="0"/>
              </a:rPr>
              <a:t>Absolute difference between maximum</a:t>
            </a:r>
            <a:br>
              <a:rPr lang="en-GB" dirty="0">
                <a:latin typeface="Arial" charset="0"/>
                <a:cs typeface="Arial" charset="0"/>
              </a:rPr>
            </a:br>
            <a:r>
              <a:rPr lang="en-GB" dirty="0">
                <a:latin typeface="Arial" charset="0"/>
                <a:cs typeface="Arial" charset="0"/>
              </a:rPr>
              <a:t>and minimum value from the dataset</a:t>
            </a:r>
          </a:p>
          <a:p>
            <a:pPr marL="180975" lvl="1" indent="0" eaLnBrk="1" hangingPunct="1">
              <a:buClrTx/>
              <a:buNone/>
            </a:pPr>
            <a:endParaRPr lang="en-GB" dirty="0">
              <a:latin typeface="Arial" charset="0"/>
              <a:cs typeface="Arial" charset="0"/>
            </a:endParaRPr>
          </a:p>
          <a:p>
            <a:pPr marL="180975" lvl="1" indent="0" eaLnBrk="1" hangingPunct="1">
              <a:buClrTx/>
              <a:buNone/>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Variance (s</a:t>
            </a:r>
            <a:r>
              <a:rPr lang="en-GB" sz="1800" baseline="30000" dirty="0">
                <a:latin typeface="Arial" charset="0"/>
                <a:cs typeface="Arial" charset="0"/>
              </a:rPr>
              <a:t>2</a:t>
            </a:r>
            <a:r>
              <a:rPr lang="en-GB" sz="1800" dirty="0">
                <a:latin typeface="Arial" charset="0"/>
                <a:cs typeface="Arial" charset="0"/>
              </a:rPr>
              <a:t>)</a:t>
            </a:r>
          </a:p>
          <a:p>
            <a:pPr lvl="1" eaLnBrk="1" hangingPunct="1">
              <a:buClrTx/>
            </a:pPr>
            <a:r>
              <a:rPr lang="en-GB" dirty="0">
                <a:latin typeface="Arial" charset="0"/>
                <a:cs typeface="Arial" charset="0"/>
              </a:rPr>
              <a:t>Average squared distance of X</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Standard deviation (s)</a:t>
            </a:r>
          </a:p>
          <a:p>
            <a:pPr lvl="1" eaLnBrk="1" hangingPunct="1">
              <a:buClrTx/>
            </a:pPr>
            <a:r>
              <a:rPr lang="en-GB" dirty="0">
                <a:latin typeface="Arial" charset="0"/>
                <a:cs typeface="Arial" charset="0"/>
              </a:rPr>
              <a:t>Square root of the variance s</a:t>
            </a:r>
            <a:r>
              <a:rPr lang="en-GB" baseline="30000" dirty="0">
                <a:latin typeface="Arial" charset="0"/>
                <a:cs typeface="Arial" charset="0"/>
              </a:rPr>
              <a:t>2</a:t>
            </a:r>
          </a:p>
          <a:p>
            <a:pPr lvl="1" eaLnBrk="1" hangingPunct="1"/>
            <a:endParaRPr lang="en-GB" dirty="0">
              <a:latin typeface="Arial" charset="0"/>
              <a:cs typeface="Arial" charset="0"/>
            </a:endParaRPr>
          </a:p>
          <a:p>
            <a:pPr lvl="1" eaLnBrk="1" hangingPunct="1"/>
            <a:endParaRPr lang="en-GB" dirty="0">
              <a:latin typeface="Arial" charset="0"/>
              <a:cs typeface="Arial" charset="0"/>
            </a:endParaRPr>
          </a:p>
          <a:p>
            <a:pPr eaLnBrk="1" hangingPunct="1"/>
            <a:endParaRPr lang="en-GB" dirty="0">
              <a:latin typeface="Arial" charset="0"/>
              <a:cs typeface="Arial" charset="0"/>
            </a:endParaRPr>
          </a:p>
        </p:txBody>
      </p:sp>
      <p:sp>
        <p:nvSpPr>
          <p:cNvPr id="8" name="Titel 5"/>
          <p:cNvSpPr>
            <a:spLocks noGrp="1"/>
          </p:cNvSpPr>
          <p:nvPr>
            <p:ph type="title"/>
          </p:nvPr>
        </p:nvSpPr>
        <p:spPr>
          <a:xfrm>
            <a:off x="687587" y="238126"/>
            <a:ext cx="7290197" cy="600075"/>
          </a:xfrm>
        </p:spPr>
        <p:txBody>
          <a:bodyPr/>
          <a:lstStyle/>
          <a:p>
            <a:r>
              <a:rPr lang="en-GB" dirty="0"/>
              <a:t>  Process Characteristics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jdelijke aanduiding voor inhoud 9"/>
          <p:cNvSpPr>
            <a:spLocks noGrp="1"/>
          </p:cNvSpPr>
          <p:nvPr>
            <p:ph idx="1"/>
          </p:nvPr>
        </p:nvSpPr>
        <p:spPr/>
        <p:txBody>
          <a:bodyPr/>
          <a:lstStyle/>
          <a:p>
            <a:pPr eaLnBrk="1" hangingPunct="1"/>
            <a:r>
              <a:rPr lang="en-GB" dirty="0">
                <a:latin typeface="Arial" charset="0"/>
                <a:cs typeface="Arial" charset="0"/>
              </a:rPr>
              <a:t>Exercise: determine R, s</a:t>
            </a:r>
            <a:r>
              <a:rPr lang="en-GB" baseline="30000" dirty="0">
                <a:latin typeface="Arial" charset="0"/>
                <a:cs typeface="Arial" charset="0"/>
              </a:rPr>
              <a:t>2</a:t>
            </a:r>
            <a:r>
              <a:rPr lang="en-GB" dirty="0">
                <a:latin typeface="Arial" charset="0"/>
                <a:cs typeface="Arial" charset="0"/>
              </a:rPr>
              <a:t> and s</a:t>
            </a:r>
          </a:p>
          <a:p>
            <a:pPr lvl="1" eaLnBrk="1" hangingPunct="1">
              <a:buFont typeface="Arial" charset="0"/>
              <a:buNone/>
            </a:pPr>
            <a:endParaRPr lang="en-GB" sz="1800" dirty="0">
              <a:latin typeface="Arial" charset="0"/>
              <a:cs typeface="Arial" charset="0"/>
            </a:endParaRPr>
          </a:p>
          <a:p>
            <a:pPr lvl="1" eaLnBrk="1" hangingPunct="1">
              <a:buClrTx/>
              <a:buFont typeface="Arial" charset="0"/>
              <a:buNone/>
            </a:pPr>
            <a:r>
              <a:rPr lang="en-GB" sz="1800" dirty="0">
                <a:latin typeface="Arial" charset="0"/>
                <a:cs typeface="Arial" charset="0"/>
              </a:rPr>
              <a:t>Range (R)</a:t>
            </a:r>
          </a:p>
          <a:p>
            <a:pPr lvl="1" eaLnBrk="1" hangingPunct="1">
              <a:buClrTx/>
            </a:pPr>
            <a:r>
              <a:rPr lang="en-GB" dirty="0">
                <a:latin typeface="Arial" charset="0"/>
                <a:cs typeface="Arial" charset="0"/>
              </a:rPr>
              <a:t>Absolute difference between maximum</a:t>
            </a:r>
            <a:br>
              <a:rPr lang="en-GB" dirty="0">
                <a:latin typeface="Arial" charset="0"/>
                <a:cs typeface="Arial" charset="0"/>
              </a:rPr>
            </a:br>
            <a:r>
              <a:rPr lang="en-GB" dirty="0">
                <a:latin typeface="Arial" charset="0"/>
                <a:cs typeface="Arial" charset="0"/>
              </a:rPr>
              <a:t>and minimum value from the dataset</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Variance (s</a:t>
            </a:r>
            <a:r>
              <a:rPr lang="en-GB" sz="1800" baseline="30000" dirty="0">
                <a:latin typeface="Arial" charset="0"/>
                <a:cs typeface="Arial" charset="0"/>
              </a:rPr>
              <a:t>2</a:t>
            </a:r>
            <a:r>
              <a:rPr lang="en-GB" sz="1800" dirty="0">
                <a:latin typeface="Arial" charset="0"/>
                <a:cs typeface="Arial" charset="0"/>
              </a:rPr>
              <a:t>)</a:t>
            </a:r>
          </a:p>
          <a:p>
            <a:pPr lvl="1" eaLnBrk="1" hangingPunct="1">
              <a:buClrTx/>
            </a:pPr>
            <a:r>
              <a:rPr lang="en-GB" dirty="0">
                <a:latin typeface="Arial" charset="0"/>
                <a:cs typeface="Arial" charset="0"/>
              </a:rPr>
              <a:t>Average squared distance of X</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buFont typeface="Arial" charset="0"/>
              <a:buNone/>
            </a:pPr>
            <a:r>
              <a:rPr lang="en-GB" sz="1800" dirty="0">
                <a:latin typeface="Arial" charset="0"/>
                <a:cs typeface="Arial" charset="0"/>
              </a:rPr>
              <a:t>Standard deviation (s)</a:t>
            </a:r>
          </a:p>
          <a:p>
            <a:pPr lvl="1" eaLnBrk="1" hangingPunct="1">
              <a:buClrTx/>
            </a:pPr>
            <a:r>
              <a:rPr lang="en-GB" dirty="0">
                <a:latin typeface="Arial" charset="0"/>
                <a:cs typeface="Arial" charset="0"/>
              </a:rPr>
              <a:t>Square root of the variance s</a:t>
            </a:r>
            <a:r>
              <a:rPr lang="en-GB" baseline="30000" dirty="0">
                <a:latin typeface="Arial" charset="0"/>
                <a:cs typeface="Arial" charset="0"/>
              </a:rPr>
              <a:t>2</a:t>
            </a:r>
          </a:p>
          <a:p>
            <a:pPr marL="342900" lvl="1" indent="-342900" eaLnBrk="1" hangingPunct="1">
              <a:buClrTx/>
              <a:buSzTx/>
              <a:buNone/>
            </a:pPr>
            <a:endParaRPr lang="en-GB" sz="1800" dirty="0">
              <a:latin typeface="Arial" charset="0"/>
              <a:cs typeface="Arial" charset="0"/>
            </a:endParaRPr>
          </a:p>
          <a:p>
            <a:pPr marL="342900" lvl="1" indent="-160338" eaLnBrk="1" hangingPunct="1">
              <a:buClrTx/>
              <a:buSzTx/>
              <a:buNone/>
            </a:pPr>
            <a:r>
              <a:rPr lang="en-GB" sz="1800" dirty="0">
                <a:latin typeface="Arial" charset="0"/>
                <a:cs typeface="Arial" charset="0"/>
              </a:rPr>
              <a:t>Data: {2, 3, 4, 5, 3, 7}</a:t>
            </a:r>
          </a:p>
          <a:p>
            <a:pPr eaLnBrk="1" hangingPunct="1"/>
            <a:endParaRPr lang="en-GB" dirty="0">
              <a:latin typeface="Arial" charset="0"/>
              <a:cs typeface="Arial" charset="0"/>
            </a:endParaRPr>
          </a:p>
        </p:txBody>
      </p:sp>
      <p:graphicFrame>
        <p:nvGraphicFramePr>
          <p:cNvPr id="13316" name="Object 10"/>
          <p:cNvGraphicFramePr>
            <a:graphicFrameLocks noChangeAspect="1"/>
          </p:cNvGraphicFramePr>
          <p:nvPr>
            <p:extLst>
              <p:ext uri="{D42A27DB-BD31-4B8C-83A1-F6EECF244321}">
                <p14:modId xmlns:p14="http://schemas.microsoft.com/office/powerpoint/2010/main" val="1843654541"/>
              </p:ext>
            </p:extLst>
          </p:nvPr>
        </p:nvGraphicFramePr>
        <p:xfrm>
          <a:off x="5966817" y="3630613"/>
          <a:ext cx="4361259" cy="1166812"/>
        </p:xfrm>
        <a:graphic>
          <a:graphicData uri="http://schemas.openxmlformats.org/presentationml/2006/ole">
            <mc:AlternateContent xmlns:mc="http://schemas.openxmlformats.org/markup-compatibility/2006">
              <mc:Choice xmlns:v="urn:schemas-microsoft-com:vml" Requires="v">
                <p:oleObj name="Vergelijking" r:id="rId3" imgW="2705100" imgH="812800" progId="Equation.3">
                  <p:embed/>
                </p:oleObj>
              </mc:Choice>
              <mc:Fallback>
                <p:oleObj name="Vergelijking" r:id="rId3" imgW="2705100" imgH="812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6817" y="3630613"/>
                        <a:ext cx="4361259" cy="1166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11"/>
          <p:cNvGraphicFramePr>
            <a:graphicFrameLocks noChangeAspect="1"/>
          </p:cNvGraphicFramePr>
          <p:nvPr/>
        </p:nvGraphicFramePr>
        <p:xfrm>
          <a:off x="5954316" y="5229225"/>
          <a:ext cx="1800225" cy="342900"/>
        </p:xfrm>
        <a:graphic>
          <a:graphicData uri="http://schemas.openxmlformats.org/presentationml/2006/ole">
            <mc:AlternateContent xmlns:mc="http://schemas.openxmlformats.org/markup-compatibility/2006">
              <mc:Choice xmlns:v="urn:schemas-microsoft-com:vml" Requires="v">
                <p:oleObj name="Vergelijking" r:id="rId5" imgW="1066800" imgH="228600" progId="Equation.3">
                  <p:embed/>
                </p:oleObj>
              </mc:Choice>
              <mc:Fallback>
                <p:oleObj name="Vergelijking" r:id="rId5" imgW="106680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4316" y="5229225"/>
                        <a:ext cx="18002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8" name="Object 12"/>
          <p:cNvGraphicFramePr>
            <a:graphicFrameLocks noChangeAspect="1"/>
          </p:cNvGraphicFramePr>
          <p:nvPr/>
        </p:nvGraphicFramePr>
        <p:xfrm>
          <a:off x="5954316" y="2852738"/>
          <a:ext cx="1393031" cy="266700"/>
        </p:xfrm>
        <a:graphic>
          <a:graphicData uri="http://schemas.openxmlformats.org/presentationml/2006/ole">
            <mc:AlternateContent xmlns:mc="http://schemas.openxmlformats.org/markup-compatibility/2006">
              <mc:Choice xmlns:v="urn:schemas-microsoft-com:vml" Requires="v">
                <p:oleObj name="Vergelijking" r:id="rId7" imgW="825142" imgH="177723" progId="Equation.3">
                  <p:embed/>
                </p:oleObj>
              </mc:Choice>
              <mc:Fallback>
                <p:oleObj name="Vergelijking" r:id="rId7" imgW="825142" imgH="177723"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4316" y="2852738"/>
                        <a:ext cx="1393031"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hthoek 1"/>
          <p:cNvSpPr/>
          <p:nvPr/>
        </p:nvSpPr>
        <p:spPr>
          <a:xfrm>
            <a:off x="5953590" y="2708276"/>
            <a:ext cx="1701999" cy="576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3" name="Rechthoek 2"/>
          <p:cNvSpPr/>
          <p:nvPr/>
        </p:nvSpPr>
        <p:spPr>
          <a:xfrm>
            <a:off x="5468541" y="3648395"/>
            <a:ext cx="4859535" cy="1223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4" name="Rechthoek 3"/>
          <p:cNvSpPr/>
          <p:nvPr/>
        </p:nvSpPr>
        <p:spPr>
          <a:xfrm>
            <a:off x="5548909" y="5013325"/>
            <a:ext cx="2916435" cy="719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12" name="Titel 5"/>
          <p:cNvSpPr>
            <a:spLocks noGrp="1"/>
          </p:cNvSpPr>
          <p:nvPr>
            <p:ph type="title"/>
          </p:nvPr>
        </p:nvSpPr>
        <p:spPr>
          <a:xfrm>
            <a:off x="687587" y="238126"/>
            <a:ext cx="7290197" cy="600075"/>
          </a:xfrm>
        </p:spPr>
        <p:txBody>
          <a:bodyPr/>
          <a:lstStyle/>
          <a:p>
            <a:r>
              <a:rPr lang="en-GB" dirty="0"/>
              <a:t>  Process Characteristics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el 20"/>
          <p:cNvSpPr>
            <a:spLocks noGrp="1"/>
          </p:cNvSpPr>
          <p:nvPr>
            <p:ph type="title" idx="4294967295"/>
          </p:nvPr>
        </p:nvSpPr>
        <p:spPr/>
        <p:txBody>
          <a:bodyPr/>
          <a:lstStyle/>
          <a:p>
            <a:pPr eaLnBrk="1" hangingPunct="1"/>
            <a:r>
              <a:rPr lang="en-GB" dirty="0">
                <a:latin typeface="Arial" charset="0"/>
                <a:cs typeface="Arial" charset="0"/>
              </a:rPr>
              <a:t>Normal distribution</a:t>
            </a:r>
          </a:p>
        </p:txBody>
      </p:sp>
      <p:sp>
        <p:nvSpPr>
          <p:cNvPr id="2052" name="Tijdelijke aanduiding voor inhoud 21"/>
          <p:cNvSpPr>
            <a:spLocks noGrp="1"/>
          </p:cNvSpPr>
          <p:nvPr>
            <p:ph idx="4294967295"/>
          </p:nvPr>
        </p:nvSpPr>
        <p:spPr/>
        <p:txBody>
          <a:bodyPr/>
          <a:lstStyle/>
          <a:p>
            <a:pPr eaLnBrk="1" hangingPunct="1"/>
            <a:r>
              <a:rPr lang="en-GB" dirty="0">
                <a:latin typeface="Arial" charset="0"/>
                <a:cs typeface="Arial" charset="0"/>
              </a:rPr>
              <a:t>Normal distribution or Gauss curve</a:t>
            </a:r>
          </a:p>
          <a:p>
            <a:pPr lvl="1" eaLnBrk="1" hangingPunct="1"/>
            <a:endParaRPr lang="en-GB" dirty="0">
              <a:latin typeface="Arial" charset="0"/>
              <a:cs typeface="Arial" charset="0"/>
            </a:endParaRPr>
          </a:p>
          <a:p>
            <a:pPr lvl="1" eaLnBrk="1" hangingPunct="1">
              <a:buClrTx/>
            </a:pPr>
            <a:r>
              <a:rPr lang="en-GB" dirty="0">
                <a:latin typeface="Arial" charset="0"/>
                <a:cs typeface="Arial" charset="0"/>
              </a:rPr>
              <a:t>This bell-shaped, continuous distribution is common and is characterized by the mean μ and standard deviation σ</a:t>
            </a:r>
          </a:p>
        </p:txBody>
      </p:sp>
      <p:grpSp>
        <p:nvGrpSpPr>
          <p:cNvPr id="2" name="Group 2"/>
          <p:cNvGrpSpPr>
            <a:grpSpLocks/>
          </p:cNvGrpSpPr>
          <p:nvPr/>
        </p:nvGrpSpPr>
        <p:grpSpPr bwMode="auto">
          <a:xfrm>
            <a:off x="1714500" y="2743201"/>
            <a:ext cx="6858000" cy="3482975"/>
            <a:chOff x="1624" y="1604"/>
            <a:chExt cx="3352" cy="2323"/>
          </a:xfrm>
        </p:grpSpPr>
        <p:pic>
          <p:nvPicPr>
            <p:cNvPr id="2063" name="Picture 3"/>
            <p:cNvPicPr>
              <a:picLocks noChangeAspect="1" noChangeArrowheads="1"/>
            </p:cNvPicPr>
            <p:nvPr/>
          </p:nvPicPr>
          <p:blipFill>
            <a:blip r:embed="rId3" cstate="print"/>
            <a:srcRect/>
            <a:stretch>
              <a:fillRect/>
            </a:stretch>
          </p:blipFill>
          <p:spPr bwMode="auto">
            <a:xfrm>
              <a:off x="1869" y="1796"/>
              <a:ext cx="2917" cy="1832"/>
            </a:xfrm>
            <a:prstGeom prst="rect">
              <a:avLst/>
            </a:prstGeom>
            <a:noFill/>
            <a:ln w="9525">
              <a:noFill/>
              <a:miter lim="800000"/>
              <a:headEnd/>
              <a:tailEnd/>
            </a:ln>
          </p:spPr>
        </p:pic>
        <p:pic>
          <p:nvPicPr>
            <p:cNvPr id="2064" name="Picture 4"/>
            <p:cNvPicPr>
              <a:picLocks noChangeAspect="1" noChangeArrowheads="1"/>
            </p:cNvPicPr>
            <p:nvPr/>
          </p:nvPicPr>
          <p:blipFill>
            <a:blip r:embed="rId4" cstate="print"/>
            <a:srcRect/>
            <a:stretch>
              <a:fillRect/>
            </a:stretch>
          </p:blipFill>
          <p:spPr bwMode="auto">
            <a:xfrm>
              <a:off x="2070" y="1604"/>
              <a:ext cx="2483" cy="2077"/>
            </a:xfrm>
            <a:prstGeom prst="rect">
              <a:avLst/>
            </a:prstGeom>
            <a:noFill/>
            <a:ln w="9525">
              <a:noFill/>
              <a:miter lim="800000"/>
              <a:headEnd/>
              <a:tailEnd/>
            </a:ln>
          </p:spPr>
        </p:pic>
        <p:sp>
          <p:nvSpPr>
            <p:cNvPr id="2065" name="Text Box 5"/>
            <p:cNvSpPr txBox="1">
              <a:spLocks noChangeArrowheads="1"/>
            </p:cNvSpPr>
            <p:nvPr/>
          </p:nvSpPr>
          <p:spPr bwMode="auto">
            <a:xfrm>
              <a:off x="1737" y="3702"/>
              <a:ext cx="3173" cy="225"/>
            </a:xfrm>
            <a:prstGeom prst="rect">
              <a:avLst/>
            </a:prstGeom>
            <a:noFill/>
            <a:ln w="9525">
              <a:noFill/>
              <a:miter lim="800000"/>
              <a:headEnd/>
              <a:tailEnd/>
            </a:ln>
          </p:spPr>
          <p:txBody>
            <a:bodyPr>
              <a:spAutoFit/>
            </a:bodyPr>
            <a:lstStyle/>
            <a:p>
              <a:pPr>
                <a:tabLst>
                  <a:tab pos="712788" algn="l"/>
                  <a:tab pos="1341438" algn="l"/>
                  <a:tab pos="2066925" algn="l"/>
                  <a:tab pos="2778125" algn="l"/>
                  <a:tab pos="3408363" algn="l"/>
                  <a:tab pos="4037013" algn="l"/>
                  <a:tab pos="4749800" algn="l"/>
                  <a:tab pos="5380038" algn="l"/>
                </a:tabLst>
              </a:pPr>
              <a:r>
                <a:rPr lang="sl-SI" sz="1600"/>
                <a:t> </a:t>
              </a:r>
              <a:r>
                <a:rPr lang="en-GB" sz="1600"/>
                <a:t>-</a:t>
              </a:r>
              <a:r>
                <a:rPr lang="en-GB" sz="1600" dirty="0"/>
                <a:t>4	</a:t>
              </a:r>
              <a:r>
                <a:rPr lang="sl-SI" sz="1600" dirty="0"/>
                <a:t>  </a:t>
              </a:r>
              <a:r>
                <a:rPr lang="en-GB" sz="1600" dirty="0"/>
                <a:t>-3	</a:t>
              </a:r>
              <a:r>
                <a:rPr lang="sl-SI" sz="1600" dirty="0"/>
                <a:t>    </a:t>
              </a:r>
              <a:r>
                <a:rPr lang="en-GB" sz="1600" dirty="0"/>
                <a:t>-2</a:t>
              </a:r>
              <a:r>
                <a:rPr lang="sl-SI" sz="1600" dirty="0"/>
                <a:t> </a:t>
              </a:r>
              <a:r>
                <a:rPr lang="en-GB" sz="1600" dirty="0"/>
                <a:t>	</a:t>
              </a:r>
              <a:r>
                <a:rPr lang="sl-SI" sz="1600" dirty="0"/>
                <a:t>     </a:t>
              </a:r>
              <a:r>
                <a:rPr lang="en-GB" sz="1600" dirty="0"/>
                <a:t>-1	</a:t>
              </a:r>
              <a:r>
                <a:rPr lang="sl-SI" sz="1600" dirty="0"/>
                <a:t>       </a:t>
              </a:r>
              <a:r>
                <a:rPr lang="en-GB" sz="1600" dirty="0"/>
                <a:t>0	</a:t>
              </a:r>
              <a:r>
                <a:rPr lang="sl-SI" sz="1600" dirty="0"/>
                <a:t>         </a:t>
              </a:r>
              <a:r>
                <a:rPr lang="en-GB" sz="1600" dirty="0"/>
                <a:t>1	</a:t>
              </a:r>
              <a:r>
                <a:rPr lang="sl-SI" sz="1600" dirty="0"/>
                <a:t>            </a:t>
              </a:r>
              <a:r>
                <a:rPr lang="en-GB" sz="1600" dirty="0"/>
                <a:t>2	</a:t>
              </a:r>
              <a:r>
                <a:rPr lang="sl-SI" sz="1600" dirty="0"/>
                <a:t>            </a:t>
              </a:r>
              <a:r>
                <a:rPr lang="en-GB" sz="1600" dirty="0"/>
                <a:t>3	</a:t>
              </a:r>
              <a:r>
                <a:rPr lang="sl-SI" sz="1600" dirty="0"/>
                <a:t>            </a:t>
              </a:r>
              <a:r>
                <a:rPr lang="en-GB" sz="1600" dirty="0"/>
                <a:t>4</a:t>
              </a:r>
            </a:p>
          </p:txBody>
        </p:sp>
        <p:sp>
          <p:nvSpPr>
            <p:cNvPr id="2066" name="Line 6"/>
            <p:cNvSpPr>
              <a:spLocks noChangeShapeType="1"/>
            </p:cNvSpPr>
            <p:nvPr/>
          </p:nvSpPr>
          <p:spPr bwMode="auto">
            <a:xfrm>
              <a:off x="2944" y="1872"/>
              <a:ext cx="736" cy="0"/>
            </a:xfrm>
            <a:prstGeom prst="line">
              <a:avLst/>
            </a:prstGeom>
            <a:noFill/>
            <a:ln w="9525">
              <a:solidFill>
                <a:schemeClr val="tx1"/>
              </a:solidFill>
              <a:round/>
              <a:headEnd type="triangle" w="med" len="med"/>
              <a:tailEnd type="triangle" w="med" len="med"/>
            </a:ln>
          </p:spPr>
          <p:txBody>
            <a:bodyPr/>
            <a:lstStyle/>
            <a:p>
              <a:endParaRPr lang="nl-NL"/>
            </a:p>
          </p:txBody>
        </p:sp>
        <p:sp>
          <p:nvSpPr>
            <p:cNvPr id="2067" name="Text Box 7"/>
            <p:cNvSpPr txBox="1">
              <a:spLocks noChangeArrowheads="1"/>
            </p:cNvSpPr>
            <p:nvPr/>
          </p:nvSpPr>
          <p:spPr bwMode="auto">
            <a:xfrm>
              <a:off x="3110" y="1787"/>
              <a:ext cx="281" cy="164"/>
            </a:xfrm>
            <a:prstGeom prst="rect">
              <a:avLst/>
            </a:prstGeom>
            <a:solidFill>
              <a:srgbClr val="FFFF99"/>
            </a:solidFill>
            <a:ln w="9525">
              <a:noFill/>
              <a:miter lim="800000"/>
              <a:headEnd/>
              <a:tailEnd/>
            </a:ln>
          </p:spPr>
          <p:txBody>
            <a:bodyPr wrap="none">
              <a:spAutoFit/>
            </a:bodyPr>
            <a:lstStyle/>
            <a:p>
              <a:r>
                <a:rPr lang="en-GB" sz="1000" b="1"/>
                <a:t>68.26%</a:t>
              </a:r>
            </a:p>
          </p:txBody>
        </p:sp>
        <p:sp>
          <p:nvSpPr>
            <p:cNvPr id="2068" name="Line 8"/>
            <p:cNvSpPr>
              <a:spLocks noChangeShapeType="1"/>
            </p:cNvSpPr>
            <p:nvPr/>
          </p:nvSpPr>
          <p:spPr bwMode="auto">
            <a:xfrm flipV="1">
              <a:off x="2592" y="2464"/>
              <a:ext cx="1456" cy="0"/>
            </a:xfrm>
            <a:prstGeom prst="line">
              <a:avLst/>
            </a:prstGeom>
            <a:noFill/>
            <a:ln w="9525">
              <a:solidFill>
                <a:schemeClr val="tx1"/>
              </a:solidFill>
              <a:round/>
              <a:headEnd type="triangle" w="med" len="med"/>
              <a:tailEnd type="triangle" w="med" len="med"/>
            </a:ln>
          </p:spPr>
          <p:txBody>
            <a:bodyPr/>
            <a:lstStyle/>
            <a:p>
              <a:endParaRPr lang="nl-NL"/>
            </a:p>
          </p:txBody>
        </p:sp>
        <p:sp>
          <p:nvSpPr>
            <p:cNvPr id="2069" name="Text Box 9"/>
            <p:cNvSpPr txBox="1">
              <a:spLocks noChangeArrowheads="1"/>
            </p:cNvSpPr>
            <p:nvPr/>
          </p:nvSpPr>
          <p:spPr bwMode="auto">
            <a:xfrm>
              <a:off x="3110" y="2373"/>
              <a:ext cx="281" cy="164"/>
            </a:xfrm>
            <a:prstGeom prst="rect">
              <a:avLst/>
            </a:prstGeom>
            <a:solidFill>
              <a:srgbClr val="FFFF99"/>
            </a:solidFill>
            <a:ln w="9525">
              <a:noFill/>
              <a:miter lim="800000"/>
              <a:headEnd/>
              <a:tailEnd/>
            </a:ln>
          </p:spPr>
          <p:txBody>
            <a:bodyPr wrap="none">
              <a:spAutoFit/>
            </a:bodyPr>
            <a:lstStyle/>
            <a:p>
              <a:r>
                <a:rPr lang="en-GB" sz="1000" b="1"/>
                <a:t>95.44%</a:t>
              </a:r>
            </a:p>
          </p:txBody>
        </p:sp>
        <p:sp>
          <p:nvSpPr>
            <p:cNvPr id="2070" name="Line 10"/>
            <p:cNvSpPr>
              <a:spLocks noChangeShapeType="1"/>
            </p:cNvSpPr>
            <p:nvPr/>
          </p:nvSpPr>
          <p:spPr bwMode="auto">
            <a:xfrm>
              <a:off x="2208" y="3016"/>
              <a:ext cx="2200" cy="0"/>
            </a:xfrm>
            <a:prstGeom prst="line">
              <a:avLst/>
            </a:prstGeom>
            <a:noFill/>
            <a:ln w="9525">
              <a:solidFill>
                <a:schemeClr val="tx1"/>
              </a:solidFill>
              <a:round/>
              <a:headEnd type="triangle" w="med" len="med"/>
              <a:tailEnd type="triangle" w="med" len="med"/>
            </a:ln>
          </p:spPr>
          <p:txBody>
            <a:bodyPr/>
            <a:lstStyle/>
            <a:p>
              <a:endParaRPr lang="nl-NL"/>
            </a:p>
          </p:txBody>
        </p:sp>
        <p:sp>
          <p:nvSpPr>
            <p:cNvPr id="2071" name="Text Box 11"/>
            <p:cNvSpPr txBox="1">
              <a:spLocks noChangeArrowheads="1"/>
            </p:cNvSpPr>
            <p:nvPr/>
          </p:nvSpPr>
          <p:spPr bwMode="auto">
            <a:xfrm>
              <a:off x="3102" y="2941"/>
              <a:ext cx="281" cy="164"/>
            </a:xfrm>
            <a:prstGeom prst="rect">
              <a:avLst/>
            </a:prstGeom>
            <a:solidFill>
              <a:srgbClr val="FFFF99"/>
            </a:solidFill>
            <a:ln w="9525">
              <a:noFill/>
              <a:miter lim="800000"/>
              <a:headEnd/>
              <a:tailEnd/>
            </a:ln>
          </p:spPr>
          <p:txBody>
            <a:bodyPr wrap="none">
              <a:spAutoFit/>
            </a:bodyPr>
            <a:lstStyle/>
            <a:p>
              <a:r>
                <a:rPr lang="en-GB" sz="1000" b="1"/>
                <a:t>99.73%</a:t>
              </a:r>
            </a:p>
          </p:txBody>
        </p:sp>
        <p:sp>
          <p:nvSpPr>
            <p:cNvPr id="2072" name="Line 12"/>
            <p:cNvSpPr>
              <a:spLocks noChangeShapeType="1"/>
            </p:cNvSpPr>
            <p:nvPr/>
          </p:nvSpPr>
          <p:spPr bwMode="auto">
            <a:xfrm>
              <a:off x="1624" y="3528"/>
              <a:ext cx="3352" cy="0"/>
            </a:xfrm>
            <a:prstGeom prst="line">
              <a:avLst/>
            </a:prstGeom>
            <a:noFill/>
            <a:ln w="28575">
              <a:solidFill>
                <a:schemeClr val="tx1"/>
              </a:solidFill>
              <a:round/>
              <a:headEnd/>
              <a:tailEnd/>
            </a:ln>
          </p:spPr>
          <p:txBody>
            <a:bodyPr/>
            <a:lstStyle/>
            <a:p>
              <a:endParaRPr lang="nl-NL"/>
            </a:p>
          </p:txBody>
        </p:sp>
      </p:grpSp>
      <p:sp>
        <p:nvSpPr>
          <p:cNvPr id="2054" name="Text Box 18"/>
          <p:cNvSpPr txBox="1">
            <a:spLocks noChangeArrowheads="1"/>
          </p:cNvSpPr>
          <p:nvPr/>
        </p:nvSpPr>
        <p:spPr bwMode="auto">
          <a:xfrm>
            <a:off x="7543800" y="3429000"/>
            <a:ext cx="2571750" cy="369888"/>
          </a:xfrm>
          <a:prstGeom prst="rect">
            <a:avLst/>
          </a:prstGeom>
          <a:solidFill>
            <a:srgbClr val="FFFF99">
              <a:alpha val="54901"/>
            </a:srgbClr>
          </a:solidFill>
          <a:ln w="3175">
            <a:solidFill>
              <a:schemeClr val="tx1"/>
            </a:solidFill>
            <a:miter lim="800000"/>
            <a:headEnd/>
            <a:tailEnd/>
          </a:ln>
        </p:spPr>
        <p:txBody>
          <a:bodyPr>
            <a:spAutoFit/>
          </a:bodyPr>
          <a:lstStyle/>
          <a:p>
            <a:pPr>
              <a:spcBef>
                <a:spcPct val="50000"/>
              </a:spcBef>
            </a:pPr>
            <a:r>
              <a:rPr lang="en-GB"/>
              <a:t>% of the population</a:t>
            </a:r>
          </a:p>
        </p:txBody>
      </p:sp>
      <p:sp>
        <p:nvSpPr>
          <p:cNvPr id="2055" name="Line 19"/>
          <p:cNvSpPr>
            <a:spLocks noChangeShapeType="1"/>
          </p:cNvSpPr>
          <p:nvPr/>
        </p:nvSpPr>
        <p:spPr bwMode="auto">
          <a:xfrm flipH="1" flipV="1">
            <a:off x="5359599" y="3194050"/>
            <a:ext cx="2184201" cy="387350"/>
          </a:xfrm>
          <a:prstGeom prst="line">
            <a:avLst/>
          </a:prstGeom>
          <a:noFill/>
          <a:ln w="9525">
            <a:solidFill>
              <a:schemeClr val="tx1"/>
            </a:solidFill>
            <a:prstDash val="dash"/>
            <a:round/>
            <a:headEnd/>
            <a:tailEnd type="triangle" w="med" len="med"/>
          </a:ln>
        </p:spPr>
        <p:txBody>
          <a:bodyPr/>
          <a:lstStyle/>
          <a:p>
            <a:endParaRPr lang="nl-NL"/>
          </a:p>
        </p:txBody>
      </p:sp>
      <p:sp>
        <p:nvSpPr>
          <p:cNvPr id="2056" name="Line 20"/>
          <p:cNvSpPr>
            <a:spLocks noChangeShapeType="1"/>
          </p:cNvSpPr>
          <p:nvPr/>
        </p:nvSpPr>
        <p:spPr bwMode="auto">
          <a:xfrm flipH="1">
            <a:off x="5314950" y="3657600"/>
            <a:ext cx="2228850" cy="304800"/>
          </a:xfrm>
          <a:prstGeom prst="line">
            <a:avLst/>
          </a:prstGeom>
          <a:noFill/>
          <a:ln w="9525">
            <a:solidFill>
              <a:schemeClr val="tx1"/>
            </a:solidFill>
            <a:prstDash val="dash"/>
            <a:round/>
            <a:headEnd/>
            <a:tailEnd type="triangle" w="med" len="med"/>
          </a:ln>
        </p:spPr>
        <p:txBody>
          <a:bodyPr/>
          <a:lstStyle/>
          <a:p>
            <a:endParaRPr lang="nl-NL"/>
          </a:p>
        </p:txBody>
      </p:sp>
      <p:sp>
        <p:nvSpPr>
          <p:cNvPr id="2057" name="Line 21"/>
          <p:cNvSpPr>
            <a:spLocks noChangeShapeType="1"/>
          </p:cNvSpPr>
          <p:nvPr/>
        </p:nvSpPr>
        <p:spPr bwMode="auto">
          <a:xfrm flipH="1">
            <a:off x="5400675" y="3657600"/>
            <a:ext cx="2143125" cy="1143000"/>
          </a:xfrm>
          <a:prstGeom prst="line">
            <a:avLst/>
          </a:prstGeom>
          <a:noFill/>
          <a:ln w="9525">
            <a:solidFill>
              <a:schemeClr val="tx1"/>
            </a:solidFill>
            <a:prstDash val="dash"/>
            <a:round/>
            <a:headEnd/>
            <a:tailEnd type="triangle" w="med" len="med"/>
          </a:ln>
        </p:spPr>
        <p:txBody>
          <a:bodyPr/>
          <a:lstStyle/>
          <a:p>
            <a:endParaRPr lang="nl-NL"/>
          </a:p>
        </p:txBody>
      </p:sp>
      <p:grpSp>
        <p:nvGrpSpPr>
          <p:cNvPr id="3" name="Group 23"/>
          <p:cNvGrpSpPr>
            <a:grpSpLocks noChangeAspect="1"/>
          </p:cNvGrpSpPr>
          <p:nvPr/>
        </p:nvGrpSpPr>
        <p:grpSpPr bwMode="auto">
          <a:xfrm>
            <a:off x="2346722" y="6092826"/>
            <a:ext cx="5593556" cy="390525"/>
            <a:chOff x="1314" y="3838"/>
            <a:chExt cx="3132" cy="246"/>
          </a:xfrm>
        </p:grpSpPr>
        <p:sp>
          <p:nvSpPr>
            <p:cNvPr id="2059" name="AutoShape 22"/>
            <p:cNvSpPr>
              <a:spLocks noChangeAspect="1" noChangeArrowheads="1" noTextEdit="1"/>
            </p:cNvSpPr>
            <p:nvPr/>
          </p:nvSpPr>
          <p:spPr bwMode="auto">
            <a:xfrm>
              <a:off x="1314" y="3838"/>
              <a:ext cx="3132" cy="246"/>
            </a:xfrm>
            <a:prstGeom prst="rect">
              <a:avLst/>
            </a:prstGeom>
            <a:noFill/>
            <a:ln w="9525">
              <a:noFill/>
              <a:miter lim="800000"/>
              <a:headEnd/>
              <a:tailEnd/>
            </a:ln>
          </p:spPr>
          <p:txBody>
            <a:bodyPr/>
            <a:lstStyle/>
            <a:p>
              <a:endParaRPr lang="nl-NL"/>
            </a:p>
          </p:txBody>
        </p:sp>
        <p:sp>
          <p:nvSpPr>
            <p:cNvPr id="2060" name="Rectangle 24"/>
            <p:cNvSpPr>
              <a:spLocks noChangeArrowheads="1"/>
            </p:cNvSpPr>
            <p:nvPr/>
          </p:nvSpPr>
          <p:spPr bwMode="auto">
            <a:xfrm>
              <a:off x="2242" y="3897"/>
              <a:ext cx="1142" cy="174"/>
            </a:xfrm>
            <a:prstGeom prst="rect">
              <a:avLst/>
            </a:prstGeom>
            <a:noFill/>
            <a:ln w="9525">
              <a:noFill/>
              <a:miter lim="800000"/>
              <a:headEnd/>
              <a:tailEnd/>
            </a:ln>
          </p:spPr>
          <p:txBody>
            <a:bodyPr wrap="none" lIns="0" tIns="0" rIns="0" bIns="0">
              <a:spAutoFit/>
            </a:bodyPr>
            <a:lstStyle/>
            <a:p>
              <a:r>
                <a:rPr lang="en-GB" dirty="0">
                  <a:solidFill>
                    <a:srgbClr val="000000"/>
                  </a:solidFill>
                  <a:latin typeface="Arial" panose="020B0604020202020204" pitchFamily="34" charset="0"/>
                  <a:cs typeface="Arial" panose="020B0604020202020204" pitchFamily="34" charset="0"/>
                </a:rPr>
                <a:t>Standard deviations</a:t>
              </a:r>
              <a:endParaRPr lang="en-GB" dirty="0">
                <a:latin typeface="Arial" panose="020B0604020202020204" pitchFamily="34" charset="0"/>
                <a:cs typeface="Arial" panose="020B0604020202020204" pitchFamily="34" charset="0"/>
              </a:endParaRPr>
            </a:p>
          </p:txBody>
        </p:sp>
        <p:sp>
          <p:nvSpPr>
            <p:cNvPr id="2061" name="Freeform 25"/>
            <p:cNvSpPr>
              <a:spLocks noEditPoints="1"/>
            </p:cNvSpPr>
            <p:nvPr/>
          </p:nvSpPr>
          <p:spPr bwMode="auto">
            <a:xfrm>
              <a:off x="1368" y="3934"/>
              <a:ext cx="768" cy="48"/>
            </a:xfrm>
            <a:custGeom>
              <a:avLst/>
              <a:gdLst>
                <a:gd name="T0" fmla="*/ 768 w 768"/>
                <a:gd name="T1" fmla="*/ 27 h 48"/>
                <a:gd name="T2" fmla="*/ 40 w 768"/>
                <a:gd name="T3" fmla="*/ 27 h 48"/>
                <a:gd name="T4" fmla="*/ 40 w 768"/>
                <a:gd name="T5" fmla="*/ 21 h 48"/>
                <a:gd name="T6" fmla="*/ 768 w 768"/>
                <a:gd name="T7" fmla="*/ 21 h 48"/>
                <a:gd name="T8" fmla="*/ 768 w 768"/>
                <a:gd name="T9" fmla="*/ 27 h 48"/>
                <a:gd name="T10" fmla="*/ 48 w 768"/>
                <a:gd name="T11" fmla="*/ 48 h 48"/>
                <a:gd name="T12" fmla="*/ 0 w 768"/>
                <a:gd name="T13" fmla="*/ 24 h 48"/>
                <a:gd name="T14" fmla="*/ 48 w 768"/>
                <a:gd name="T15" fmla="*/ 0 h 48"/>
                <a:gd name="T16" fmla="*/ 48 w 768"/>
                <a:gd name="T17" fmla="*/ 48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48"/>
                <a:gd name="T29" fmla="*/ 768 w 768"/>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48">
                  <a:moveTo>
                    <a:pt x="768" y="27"/>
                  </a:moveTo>
                  <a:lnTo>
                    <a:pt x="40" y="27"/>
                  </a:lnTo>
                  <a:lnTo>
                    <a:pt x="40" y="21"/>
                  </a:lnTo>
                  <a:lnTo>
                    <a:pt x="768" y="21"/>
                  </a:lnTo>
                  <a:lnTo>
                    <a:pt x="768" y="27"/>
                  </a:lnTo>
                  <a:close/>
                  <a:moveTo>
                    <a:pt x="48" y="48"/>
                  </a:moveTo>
                  <a:lnTo>
                    <a:pt x="0" y="24"/>
                  </a:lnTo>
                  <a:lnTo>
                    <a:pt x="48" y="0"/>
                  </a:lnTo>
                  <a:lnTo>
                    <a:pt x="48" y="48"/>
                  </a:lnTo>
                  <a:close/>
                </a:path>
              </a:pathLst>
            </a:custGeom>
            <a:solidFill>
              <a:srgbClr val="000000"/>
            </a:solidFill>
            <a:ln w="0" cap="flat">
              <a:solidFill>
                <a:srgbClr val="000000"/>
              </a:solidFill>
              <a:prstDash val="solid"/>
              <a:round/>
              <a:headEnd/>
              <a:tailEnd/>
            </a:ln>
          </p:spPr>
          <p:txBody>
            <a:bodyPr/>
            <a:lstStyle/>
            <a:p>
              <a:endParaRPr lang="nl-NL"/>
            </a:p>
          </p:txBody>
        </p:sp>
        <p:sp>
          <p:nvSpPr>
            <p:cNvPr id="2062" name="Freeform 26"/>
            <p:cNvSpPr>
              <a:spLocks noEditPoints="1"/>
            </p:cNvSpPr>
            <p:nvPr/>
          </p:nvSpPr>
          <p:spPr bwMode="auto">
            <a:xfrm>
              <a:off x="3576" y="3934"/>
              <a:ext cx="816" cy="48"/>
            </a:xfrm>
            <a:custGeom>
              <a:avLst/>
              <a:gdLst>
                <a:gd name="T0" fmla="*/ 0 w 816"/>
                <a:gd name="T1" fmla="*/ 21 h 48"/>
                <a:gd name="T2" fmla="*/ 776 w 816"/>
                <a:gd name="T3" fmla="*/ 21 h 48"/>
                <a:gd name="T4" fmla="*/ 776 w 816"/>
                <a:gd name="T5" fmla="*/ 27 h 48"/>
                <a:gd name="T6" fmla="*/ 0 w 816"/>
                <a:gd name="T7" fmla="*/ 27 h 48"/>
                <a:gd name="T8" fmla="*/ 0 w 816"/>
                <a:gd name="T9" fmla="*/ 21 h 48"/>
                <a:gd name="T10" fmla="*/ 768 w 816"/>
                <a:gd name="T11" fmla="*/ 0 h 48"/>
                <a:gd name="T12" fmla="*/ 816 w 816"/>
                <a:gd name="T13" fmla="*/ 24 h 48"/>
                <a:gd name="T14" fmla="*/ 768 w 816"/>
                <a:gd name="T15" fmla="*/ 48 h 48"/>
                <a:gd name="T16" fmla="*/ 768 w 816"/>
                <a:gd name="T17" fmla="*/ 0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16"/>
                <a:gd name="T28" fmla="*/ 0 h 48"/>
                <a:gd name="T29" fmla="*/ 816 w 816"/>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16" h="48">
                  <a:moveTo>
                    <a:pt x="0" y="21"/>
                  </a:moveTo>
                  <a:lnTo>
                    <a:pt x="776" y="21"/>
                  </a:lnTo>
                  <a:lnTo>
                    <a:pt x="776" y="27"/>
                  </a:lnTo>
                  <a:lnTo>
                    <a:pt x="0" y="27"/>
                  </a:lnTo>
                  <a:lnTo>
                    <a:pt x="0" y="21"/>
                  </a:lnTo>
                  <a:close/>
                  <a:moveTo>
                    <a:pt x="768" y="0"/>
                  </a:moveTo>
                  <a:lnTo>
                    <a:pt x="816" y="24"/>
                  </a:lnTo>
                  <a:lnTo>
                    <a:pt x="768" y="48"/>
                  </a:lnTo>
                  <a:lnTo>
                    <a:pt x="768" y="0"/>
                  </a:lnTo>
                  <a:close/>
                </a:path>
              </a:pathLst>
            </a:custGeom>
            <a:solidFill>
              <a:srgbClr val="000000"/>
            </a:solidFill>
            <a:ln w="0" cap="flat">
              <a:solidFill>
                <a:srgbClr val="000000"/>
              </a:solidFill>
              <a:prstDash val="solid"/>
              <a:round/>
              <a:headEnd/>
              <a:tailEnd/>
            </a:ln>
          </p:spPr>
          <p:txBody>
            <a:bodyPr/>
            <a:lstStyle/>
            <a:p>
              <a:endParaRPr lang="nl-NL"/>
            </a:p>
          </p:txBody>
        </p:sp>
      </p:grpSp>
    </p:spTree>
    <p:extLst>
      <p:ext uri="{BB962C8B-B14F-4D97-AF65-F5344CB8AC3E}">
        <p14:creationId xmlns:p14="http://schemas.microsoft.com/office/powerpoint/2010/main" val="3934982687"/>
      </p:ext>
    </p:extLst>
  </p:cSld>
  <p:clrMapOvr>
    <a:masterClrMapping/>
  </p:clrMapOvr>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607</TotalTime>
  <Words>2331</Words>
  <Application>Microsoft Office PowerPoint</Application>
  <PresentationFormat>35-mm diapozitivi</PresentationFormat>
  <Paragraphs>337</Paragraphs>
  <Slides>18</Slides>
  <Notes>18</Notes>
  <HiddenSlides>0</HiddenSlides>
  <MMClips>0</MMClips>
  <ScaleCrop>false</ScaleCrop>
  <HeadingPairs>
    <vt:vector size="8" baseType="variant">
      <vt:variant>
        <vt:lpstr>Uporabljene pisave</vt:lpstr>
      </vt:variant>
      <vt:variant>
        <vt:i4>3</vt:i4>
      </vt:variant>
      <vt:variant>
        <vt:lpstr>Tema</vt:lpstr>
      </vt:variant>
      <vt:variant>
        <vt:i4>1</vt:i4>
      </vt:variant>
      <vt:variant>
        <vt:lpstr>Vdelani OLE strežniki</vt:lpstr>
      </vt:variant>
      <vt:variant>
        <vt:i4>1</vt:i4>
      </vt:variant>
      <vt:variant>
        <vt:lpstr>Naslovi diapozitivov</vt:lpstr>
      </vt:variant>
      <vt:variant>
        <vt:i4>18</vt:i4>
      </vt:variant>
    </vt:vector>
  </HeadingPairs>
  <TitlesOfParts>
    <vt:vector size="23" baseType="lpstr">
      <vt:lpstr>Arial</vt:lpstr>
      <vt:lpstr>Calibri</vt:lpstr>
      <vt:lpstr>Arial Black</vt:lpstr>
      <vt:lpstr>LSSH</vt:lpstr>
      <vt:lpstr>Vergelijking</vt:lpstr>
      <vt:lpstr>Basic Statistics</vt:lpstr>
      <vt:lpstr>Types of Data</vt:lpstr>
      <vt:lpstr>Types of Data</vt:lpstr>
      <vt:lpstr>Types of Data</vt:lpstr>
      <vt:lpstr>Types of Data</vt:lpstr>
      <vt:lpstr>Types of Data</vt:lpstr>
      <vt:lpstr>Types of Data</vt:lpstr>
      <vt:lpstr>  Sampling methods</vt:lpstr>
      <vt:lpstr>  Sampling methods</vt:lpstr>
      <vt:lpstr>  Sampling methods</vt:lpstr>
      <vt:lpstr>  Variation</vt:lpstr>
      <vt:lpstr>  Variation</vt:lpstr>
      <vt:lpstr>  Process Characteristics</vt:lpstr>
      <vt:lpstr>  Process Characteristics</vt:lpstr>
      <vt:lpstr>  Process Characteristics</vt:lpstr>
      <vt:lpstr>  Process Characteristics</vt:lpstr>
      <vt:lpstr>  Process Characteristics</vt:lpstr>
      <vt:lpstr>Normal distribution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22.YB.UH.U4.E1 - Basic Statistics (incl. Data Types &amp; Data Collection)</dc:title>
  <dc:subject/>
  <dc:creator>Paulien</dc:creator>
  <cp:lastModifiedBy>Milan Zorman</cp:lastModifiedBy>
  <cp:revision>29</cp:revision>
  <dcterms:created xsi:type="dcterms:W3CDTF">2014-02-17T10:18:21Z</dcterms:created>
  <dcterms:modified xsi:type="dcterms:W3CDTF">2024-10-27T19:58:29Z</dcterms:modified>
</cp:coreProperties>
</file>