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8.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9.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0.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1"/>
  </p:notesMasterIdLst>
  <p:sldIdLst>
    <p:sldId id="499" r:id="rId2"/>
    <p:sldId id="500" r:id="rId3"/>
    <p:sldId id="494" r:id="rId4"/>
    <p:sldId id="495" r:id="rId5"/>
    <p:sldId id="496" r:id="rId6"/>
    <p:sldId id="498" r:id="rId7"/>
    <p:sldId id="501" r:id="rId8"/>
    <p:sldId id="414" r:id="rId9"/>
    <p:sldId id="421" r:id="rId10"/>
    <p:sldId id="419" r:id="rId11"/>
    <p:sldId id="422" r:id="rId12"/>
    <p:sldId id="420" r:id="rId13"/>
    <p:sldId id="256" r:id="rId14"/>
    <p:sldId id="613" r:id="rId15"/>
    <p:sldId id="310" r:id="rId16"/>
    <p:sldId id="328" r:id="rId17"/>
    <p:sldId id="423" r:id="rId18"/>
    <p:sldId id="424" r:id="rId19"/>
    <p:sldId id="425" r:id="rId20"/>
    <p:sldId id="426" r:id="rId21"/>
    <p:sldId id="427" r:id="rId22"/>
    <p:sldId id="428" r:id="rId23"/>
    <p:sldId id="429" r:id="rId24"/>
    <p:sldId id="430" r:id="rId25"/>
    <p:sldId id="431" r:id="rId26"/>
    <p:sldId id="432" r:id="rId27"/>
    <p:sldId id="433" r:id="rId28"/>
    <p:sldId id="434" r:id="rId29"/>
    <p:sldId id="435" r:id="rId30"/>
    <p:sldId id="455" r:id="rId31"/>
    <p:sldId id="454" r:id="rId32"/>
    <p:sldId id="436" r:id="rId33"/>
    <p:sldId id="437" r:id="rId34"/>
    <p:sldId id="438" r:id="rId35"/>
    <p:sldId id="439" r:id="rId36"/>
    <p:sldId id="440" r:id="rId37"/>
    <p:sldId id="441" r:id="rId38"/>
    <p:sldId id="442" r:id="rId39"/>
    <p:sldId id="447" r:id="rId40"/>
    <p:sldId id="443" r:id="rId41"/>
    <p:sldId id="444" r:id="rId42"/>
    <p:sldId id="445" r:id="rId43"/>
    <p:sldId id="446" r:id="rId44"/>
    <p:sldId id="448" r:id="rId45"/>
    <p:sldId id="449" r:id="rId46"/>
    <p:sldId id="450" r:id="rId47"/>
    <p:sldId id="451" r:id="rId48"/>
    <p:sldId id="452" r:id="rId49"/>
    <p:sldId id="456" r:id="rId50"/>
    <p:sldId id="465" r:id="rId51"/>
    <p:sldId id="466" r:id="rId52"/>
    <p:sldId id="467" r:id="rId53"/>
    <p:sldId id="453" r:id="rId54"/>
    <p:sldId id="457" r:id="rId55"/>
    <p:sldId id="458" r:id="rId56"/>
    <p:sldId id="462" r:id="rId57"/>
    <p:sldId id="463" r:id="rId58"/>
    <p:sldId id="464" r:id="rId59"/>
    <p:sldId id="468" r:id="rId60"/>
    <p:sldId id="469" r:id="rId61"/>
    <p:sldId id="481" r:id="rId62"/>
    <p:sldId id="470" r:id="rId63"/>
    <p:sldId id="471" r:id="rId64"/>
    <p:sldId id="472" r:id="rId65"/>
    <p:sldId id="479" r:id="rId66"/>
    <p:sldId id="473" r:id="rId67"/>
    <p:sldId id="474" r:id="rId68"/>
    <p:sldId id="475" r:id="rId69"/>
    <p:sldId id="476" r:id="rId70"/>
    <p:sldId id="477" r:id="rId71"/>
    <p:sldId id="478" r:id="rId72"/>
    <p:sldId id="480" r:id="rId73"/>
    <p:sldId id="488" r:id="rId74"/>
    <p:sldId id="489" r:id="rId75"/>
    <p:sldId id="490" r:id="rId76"/>
    <p:sldId id="491" r:id="rId77"/>
    <p:sldId id="492" r:id="rId78"/>
    <p:sldId id="493" r:id="rId79"/>
    <p:sldId id="502" r:id="rId80"/>
    <p:sldId id="503" r:id="rId81"/>
    <p:sldId id="504" r:id="rId82"/>
    <p:sldId id="505" r:id="rId83"/>
    <p:sldId id="506" r:id="rId84"/>
    <p:sldId id="507" r:id="rId85"/>
    <p:sldId id="508" r:id="rId86"/>
    <p:sldId id="509" r:id="rId87"/>
    <p:sldId id="510" r:id="rId88"/>
    <p:sldId id="511" r:id="rId89"/>
    <p:sldId id="512" r:id="rId90"/>
    <p:sldId id="513" r:id="rId91"/>
    <p:sldId id="514" r:id="rId92"/>
    <p:sldId id="515" r:id="rId93"/>
    <p:sldId id="516" r:id="rId94"/>
    <p:sldId id="517" r:id="rId95"/>
    <p:sldId id="518" r:id="rId96"/>
    <p:sldId id="519" r:id="rId97"/>
    <p:sldId id="520" r:id="rId98"/>
    <p:sldId id="521" r:id="rId99"/>
    <p:sldId id="522" r:id="rId100"/>
    <p:sldId id="523" r:id="rId101"/>
    <p:sldId id="524" r:id="rId102"/>
    <p:sldId id="525" r:id="rId103"/>
    <p:sldId id="526" r:id="rId104"/>
    <p:sldId id="527" r:id="rId105"/>
    <p:sldId id="528" r:id="rId106"/>
    <p:sldId id="529" r:id="rId107"/>
    <p:sldId id="530" r:id="rId108"/>
    <p:sldId id="531" r:id="rId109"/>
    <p:sldId id="532" r:id="rId110"/>
    <p:sldId id="533" r:id="rId111"/>
    <p:sldId id="534" r:id="rId112"/>
    <p:sldId id="535" r:id="rId113"/>
    <p:sldId id="536" r:id="rId114"/>
    <p:sldId id="537" r:id="rId115"/>
    <p:sldId id="538" r:id="rId116"/>
    <p:sldId id="539" r:id="rId117"/>
    <p:sldId id="540" r:id="rId118"/>
    <p:sldId id="541" r:id="rId119"/>
    <p:sldId id="542" r:id="rId120"/>
    <p:sldId id="543" r:id="rId121"/>
    <p:sldId id="544" r:id="rId122"/>
    <p:sldId id="545" r:id="rId123"/>
    <p:sldId id="546" r:id="rId124"/>
    <p:sldId id="547" r:id="rId125"/>
    <p:sldId id="548" r:id="rId126"/>
    <p:sldId id="549" r:id="rId127"/>
    <p:sldId id="550" r:id="rId128"/>
    <p:sldId id="551" r:id="rId129"/>
    <p:sldId id="552" r:id="rId130"/>
    <p:sldId id="553" r:id="rId131"/>
    <p:sldId id="554" r:id="rId132"/>
    <p:sldId id="555" r:id="rId133"/>
    <p:sldId id="556" r:id="rId134"/>
    <p:sldId id="557" r:id="rId135"/>
    <p:sldId id="558" r:id="rId136"/>
    <p:sldId id="559" r:id="rId137"/>
    <p:sldId id="560" r:id="rId138"/>
    <p:sldId id="561" r:id="rId139"/>
    <p:sldId id="562" r:id="rId140"/>
    <p:sldId id="563" r:id="rId141"/>
    <p:sldId id="564" r:id="rId142"/>
    <p:sldId id="565" r:id="rId143"/>
    <p:sldId id="566" r:id="rId144"/>
    <p:sldId id="567" r:id="rId145"/>
    <p:sldId id="568" r:id="rId146"/>
    <p:sldId id="569" r:id="rId147"/>
    <p:sldId id="570" r:id="rId148"/>
    <p:sldId id="571" r:id="rId149"/>
    <p:sldId id="572" r:id="rId150"/>
    <p:sldId id="573" r:id="rId151"/>
    <p:sldId id="574" r:id="rId152"/>
    <p:sldId id="575" r:id="rId153"/>
    <p:sldId id="576" r:id="rId154"/>
    <p:sldId id="577" r:id="rId155"/>
    <p:sldId id="578" r:id="rId156"/>
    <p:sldId id="579" r:id="rId157"/>
    <p:sldId id="580" r:id="rId158"/>
    <p:sldId id="581" r:id="rId159"/>
    <p:sldId id="582" r:id="rId160"/>
    <p:sldId id="583" r:id="rId161"/>
    <p:sldId id="584" r:id="rId162"/>
    <p:sldId id="585" r:id="rId163"/>
    <p:sldId id="586" r:id="rId164"/>
    <p:sldId id="587" r:id="rId165"/>
    <p:sldId id="588" r:id="rId166"/>
    <p:sldId id="589" r:id="rId167"/>
    <p:sldId id="590" r:id="rId168"/>
    <p:sldId id="591" r:id="rId169"/>
    <p:sldId id="592" r:id="rId170"/>
    <p:sldId id="593" r:id="rId171"/>
    <p:sldId id="594" r:id="rId172"/>
    <p:sldId id="595" r:id="rId173"/>
    <p:sldId id="596" r:id="rId174"/>
    <p:sldId id="597" r:id="rId175"/>
    <p:sldId id="598" r:id="rId176"/>
    <p:sldId id="599" r:id="rId177"/>
    <p:sldId id="600" r:id="rId178"/>
    <p:sldId id="601" r:id="rId179"/>
    <p:sldId id="602" r:id="rId180"/>
    <p:sldId id="603" r:id="rId181"/>
    <p:sldId id="604" r:id="rId182"/>
    <p:sldId id="605" r:id="rId183"/>
    <p:sldId id="606" r:id="rId184"/>
    <p:sldId id="607" r:id="rId185"/>
    <p:sldId id="608" r:id="rId186"/>
    <p:sldId id="609" r:id="rId187"/>
    <p:sldId id="610" r:id="rId188"/>
    <p:sldId id="611" r:id="rId189"/>
    <p:sldId id="612" r:id="rId190"/>
  </p:sldIdLst>
  <p:sldSz cx="9144000" cy="6858000" type="screen4x3"/>
  <p:notesSz cx="7099300" cy="10234613"/>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22" autoAdjust="0"/>
  </p:normalViewPr>
  <p:slideViewPr>
    <p:cSldViewPr>
      <p:cViewPr varScale="1">
        <p:scale>
          <a:sx n="155" d="100"/>
          <a:sy n="155" d="100"/>
        </p:scale>
        <p:origin x="1956"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0" d="100"/>
          <a:sy n="80" d="100"/>
        </p:scale>
        <p:origin x="-1974" y="-90"/>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viewProps" Target="view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tableStyles" Target="tableStyle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4" Type="http://schemas.openxmlformats.org/officeDocument/2006/relationships/image" Target="../media/image4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 Id="rId4" Type="http://schemas.openxmlformats.org/officeDocument/2006/relationships/image" Target="../media/image8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image" Target="../media/image132.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80.wmf"/><Relationship Id="rId2" Type="http://schemas.openxmlformats.org/officeDocument/2006/relationships/image" Target="../media/image179.wmf"/><Relationship Id="rId1" Type="http://schemas.openxmlformats.org/officeDocument/2006/relationships/image" Target="../media/image17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emf"/><Relationship Id="rId1" Type="http://schemas.openxmlformats.org/officeDocument/2006/relationships/image" Target="../media/image174.wmf"/><Relationship Id="rId4" Type="http://schemas.openxmlformats.org/officeDocument/2006/relationships/image" Target="../media/image183.png"/></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85.emf"/><Relationship Id="rId2" Type="http://schemas.openxmlformats.org/officeDocument/2006/relationships/image" Target="../media/image184.emf"/><Relationship Id="rId1" Type="http://schemas.openxmlformats.org/officeDocument/2006/relationships/image" Target="../media/image174.wmf"/><Relationship Id="rId5" Type="http://schemas.openxmlformats.org/officeDocument/2006/relationships/image" Target="../media/image187.png"/><Relationship Id="rId4" Type="http://schemas.openxmlformats.org/officeDocument/2006/relationships/image" Target="../media/image186.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90.emf"/><Relationship Id="rId2" Type="http://schemas.openxmlformats.org/officeDocument/2006/relationships/image" Target="../media/image189.emf"/><Relationship Id="rId1" Type="http://schemas.openxmlformats.org/officeDocument/2006/relationships/image" Target="../media/image188.emf"/><Relationship Id="rId5" Type="http://schemas.openxmlformats.org/officeDocument/2006/relationships/image" Target="../media/image192.png"/><Relationship Id="rId4" Type="http://schemas.openxmlformats.org/officeDocument/2006/relationships/image" Target="../media/image191.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74.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96.wmf"/><Relationship Id="rId1" Type="http://schemas.openxmlformats.org/officeDocument/2006/relationships/image" Target="../media/image174.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200.wmf"/><Relationship Id="rId1" Type="http://schemas.openxmlformats.org/officeDocument/2006/relationships/image" Target="../media/image174.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20.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224.wmf"/><Relationship Id="rId1" Type="http://schemas.openxmlformats.org/officeDocument/2006/relationships/image" Target="../media/image174.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26.wmf"/><Relationship Id="rId2" Type="http://schemas.openxmlformats.org/officeDocument/2006/relationships/image" Target="../media/image225.wmf"/><Relationship Id="rId1" Type="http://schemas.openxmlformats.org/officeDocument/2006/relationships/image" Target="../media/image174.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230.wmf"/><Relationship Id="rId1" Type="http://schemas.openxmlformats.org/officeDocument/2006/relationships/image" Target="../media/image174.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33.wmf"/><Relationship Id="rId2" Type="http://schemas.openxmlformats.org/officeDocument/2006/relationships/image" Target="../media/image232.wmf"/><Relationship Id="rId1" Type="http://schemas.openxmlformats.org/officeDocument/2006/relationships/image" Target="../media/image174.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234.wmf"/><Relationship Id="rId1" Type="http://schemas.openxmlformats.org/officeDocument/2006/relationships/image" Target="../media/image174.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40.wmf"/><Relationship Id="rId2" Type="http://schemas.openxmlformats.org/officeDocument/2006/relationships/image" Target="../media/image239.wmf"/><Relationship Id="rId1" Type="http://schemas.openxmlformats.org/officeDocument/2006/relationships/image" Target="../media/image174.wmf"/><Relationship Id="rId4" Type="http://schemas.openxmlformats.org/officeDocument/2006/relationships/image" Target="../media/image241.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43.wmf"/><Relationship Id="rId2" Type="http://schemas.openxmlformats.org/officeDocument/2006/relationships/image" Target="../media/image242.wmf"/><Relationship Id="rId1" Type="http://schemas.openxmlformats.org/officeDocument/2006/relationships/image" Target="../media/image174.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246.wmf"/><Relationship Id="rId1" Type="http://schemas.openxmlformats.org/officeDocument/2006/relationships/image" Target="../media/image174.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251.wmf"/><Relationship Id="rId2" Type="http://schemas.openxmlformats.org/officeDocument/2006/relationships/image" Target="../media/image250.wmf"/><Relationship Id="rId1" Type="http://schemas.openxmlformats.org/officeDocument/2006/relationships/image" Target="../media/image174.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277.wmf"/><Relationship Id="rId2" Type="http://schemas.openxmlformats.org/officeDocument/2006/relationships/image" Target="../media/image276.wmf"/><Relationship Id="rId1" Type="http://schemas.openxmlformats.org/officeDocument/2006/relationships/image" Target="../media/image27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cs typeface="Arial" charset="0"/>
              </a:defRPr>
            </a:lvl1pPr>
          </a:lstStyle>
          <a:p>
            <a:pPr>
              <a:defRPr/>
            </a:pPr>
            <a:endParaRPr lang="en-GB"/>
          </a:p>
        </p:txBody>
      </p:sp>
      <p:sp>
        <p:nvSpPr>
          <p:cNvPr id="13315"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cs typeface="Arial" charset="0"/>
              </a:defRPr>
            </a:lvl1pPr>
          </a:lstStyle>
          <a:p>
            <a:pPr>
              <a:defRPr/>
            </a:pPr>
            <a:endParaRPr lang="en-GB"/>
          </a:p>
        </p:txBody>
      </p:sp>
      <p:sp>
        <p:nvSpPr>
          <p:cNvPr id="205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GB" noProof="0"/>
              <a:t>Kliknite, če želite urediti sloge besedila matrice</a:t>
            </a:r>
          </a:p>
          <a:p>
            <a:pPr lvl="1"/>
            <a:r>
              <a:rPr lang="en-GB" noProof="0"/>
              <a:t>Druga raven</a:t>
            </a:r>
          </a:p>
          <a:p>
            <a:pPr lvl="2"/>
            <a:r>
              <a:rPr lang="en-GB" noProof="0"/>
              <a:t>Tretja raven</a:t>
            </a:r>
          </a:p>
          <a:p>
            <a:pPr lvl="3"/>
            <a:r>
              <a:rPr lang="en-GB" noProof="0"/>
              <a:t>Četrta raven</a:t>
            </a:r>
          </a:p>
          <a:p>
            <a:pPr lvl="4"/>
            <a:r>
              <a:rPr lang="en-GB" noProof="0"/>
              <a:t>Peta raven</a:t>
            </a:r>
          </a:p>
        </p:txBody>
      </p:sp>
      <p:sp>
        <p:nvSpPr>
          <p:cNvPr id="13318"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cs typeface="Arial" charset="0"/>
              </a:defRPr>
            </a:lvl1pPr>
          </a:lstStyle>
          <a:p>
            <a:pPr>
              <a:defRPr/>
            </a:pPr>
            <a:endParaRPr lang="en-GB"/>
          </a:p>
        </p:txBody>
      </p:sp>
      <p:sp>
        <p:nvSpPr>
          <p:cNvPr id="13319"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7A2DDE5F-9EF8-465E-B5EA-BEF3DB2C54A8}" type="slidenum">
              <a:rPr lang="en-GB" altLang="sl-SI"/>
              <a:pPr>
                <a:defRPr/>
              </a:pPr>
              <a:t>‹#›</a:t>
            </a:fld>
            <a:endParaRPr lang="en-GB" altLang="sl-SI"/>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6997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1069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106997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106997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106997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10699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10699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10699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10699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859F73E-926B-4863-9905-608580BAB41F}" type="slidenum">
              <a:rPr lang="en-GB" altLang="sl-SI" sz="1400" smtClean="0"/>
              <a:pPr>
                <a:spcBef>
                  <a:spcPct val="0"/>
                </a:spcBef>
              </a:pPr>
              <a:t>1</a:t>
            </a:fld>
            <a:endParaRPr lang="en-GB" altLang="sl-SI" sz="1400"/>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sl-SI">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6997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1069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106997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106997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106997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10699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10699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10699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10699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F847ADE-4AEB-49A6-BBB8-3F17C362A0F9}" type="slidenum">
              <a:rPr lang="en-GB" altLang="sl-SI" sz="1400" smtClean="0"/>
              <a:pPr>
                <a:spcBef>
                  <a:spcPct val="0"/>
                </a:spcBef>
              </a:pPr>
              <a:t>7</a:t>
            </a:fld>
            <a:endParaRPr lang="en-GB" altLang="sl-SI" sz="1400"/>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sl-SI">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a:ln/>
        </p:spPr>
      </p:sp>
      <p:sp>
        <p:nvSpPr>
          <p:cNvPr id="13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3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A28116C-8108-46B5-A53F-5EC33C62AC34}" type="slidenum">
              <a:rPr lang="en-GB" altLang="en-US" sz="1300" smtClean="0"/>
              <a:pPr>
                <a:spcBef>
                  <a:spcPct val="0"/>
                </a:spcBef>
              </a:pPr>
              <a:t>8</a:t>
            </a:fld>
            <a:endParaRPr lang="en-GB" altLang="en-US"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p:spPr>
      </p:sp>
      <p:sp>
        <p:nvSpPr>
          <p:cNvPr id="15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5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435C988-32B9-48EE-AD4C-3E2B9C5A26D4}" type="slidenum">
              <a:rPr lang="en-GB" altLang="en-US" sz="1300" smtClean="0"/>
              <a:pPr>
                <a:spcBef>
                  <a:spcPct val="0"/>
                </a:spcBef>
              </a:pPr>
              <a:t>9</a:t>
            </a:fld>
            <a:endParaRPr lang="en-GB" altLang="en-US"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74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5F90B64-F696-4E76-9DD2-20BDDEF4AFE0}" type="slidenum">
              <a:rPr lang="en-GB" altLang="en-US" sz="1300" smtClean="0"/>
              <a:pPr>
                <a:spcBef>
                  <a:spcPct val="0"/>
                </a:spcBef>
              </a:pPr>
              <a:t>10</a:t>
            </a:fld>
            <a:endParaRPr lang="en-GB" altLang="en-US"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9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BAE7D9B-DEFF-45E7-9CB9-2855A4DE502E}" type="slidenum">
              <a:rPr lang="en-GB" altLang="en-US" sz="1300" smtClean="0"/>
              <a:pPr>
                <a:spcBef>
                  <a:spcPct val="0"/>
                </a:spcBef>
              </a:pPr>
              <a:t>11</a:t>
            </a:fld>
            <a:endParaRPr lang="en-GB" altLang="en-US"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386A37D-7BC3-4712-A079-B93437849E0E}" type="slidenum">
              <a:rPr lang="en-GB" altLang="en-US" sz="1300" smtClean="0"/>
              <a:pPr>
                <a:spcBef>
                  <a:spcPct val="0"/>
                </a:spcBef>
              </a:pPr>
              <a:t>12</a:t>
            </a:fld>
            <a:endParaRPr lang="en-GB" altLang="en-US"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7B2C88-A105-4AA5-BCAF-7DBC65763CF8}" type="slidenum">
              <a:rPr lang="en-GB" altLang="en-US" sz="1300" smtClean="0"/>
              <a:pPr>
                <a:spcBef>
                  <a:spcPct val="0"/>
                </a:spcBef>
              </a:pPr>
              <a:t>13</a:t>
            </a:fld>
            <a:endParaRPr lang="en-GB" altLang="en-US"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7817A35-8E02-420E-9F6D-8E83E15C10B0}" type="slidenum">
              <a:rPr lang="en-GB" altLang="en-US" sz="1300" smtClean="0"/>
              <a:pPr>
                <a:spcBef>
                  <a:spcPct val="0"/>
                </a:spcBef>
              </a:pPr>
              <a:t>15</a:t>
            </a:fld>
            <a:endParaRPr lang="en-GB" altLang="en-US"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BB77DF7-194D-47B5-BD72-7E481D177DE7}" type="slidenum">
              <a:rPr lang="en-GB" altLang="en-US" sz="1300" smtClean="0"/>
              <a:pPr>
                <a:spcBef>
                  <a:spcPct val="0"/>
                </a:spcBef>
              </a:pPr>
              <a:t>16</a:t>
            </a:fld>
            <a:endParaRPr lang="en-GB" altLang="en-US"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69C6EA5-8A84-456A-A468-50BB7ECDCA64}" type="slidenum">
              <a:rPr lang="en-GB" altLang="en-US" sz="1300" smtClean="0"/>
              <a:pPr>
                <a:spcBef>
                  <a:spcPct val="0"/>
                </a:spcBef>
              </a:pPr>
              <a:t>17</a:t>
            </a:fld>
            <a:endParaRPr lang="en-GB" altLang="en-US"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4392977-BFA3-4291-9486-F99752B3BC8E}" type="slidenum">
              <a:rPr lang="en-GB" altLang="en-US" sz="1300" smtClean="0"/>
              <a:pPr>
                <a:spcBef>
                  <a:spcPct val="0"/>
                </a:spcBef>
              </a:pPr>
              <a:t>18</a:t>
            </a:fld>
            <a:endParaRPr lang="en-GB" altLang="en-US"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2E6F596-82EC-4245-A4FA-0B7764884DD1}" type="slidenum">
              <a:rPr lang="en-GB" altLang="en-US" sz="1300" smtClean="0"/>
              <a:pPr>
                <a:spcBef>
                  <a:spcPct val="0"/>
                </a:spcBef>
              </a:pPr>
              <a:t>19</a:t>
            </a:fld>
            <a:endParaRPr lang="en-GB" altLang="en-US"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DD1D0A2-3FA2-4265-9BD6-0FF8309C80A8}" type="slidenum">
              <a:rPr lang="en-GB" altLang="en-US" sz="1300" smtClean="0"/>
              <a:pPr>
                <a:spcBef>
                  <a:spcPct val="0"/>
                </a:spcBef>
              </a:pPr>
              <a:t>20</a:t>
            </a:fld>
            <a:endParaRPr lang="en-GB" altLang="en-US"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77A07E0-A8B8-4773-B93C-E44539DEECB7}" type="slidenum">
              <a:rPr lang="en-GB" altLang="en-US" sz="1300" smtClean="0"/>
              <a:pPr>
                <a:spcBef>
                  <a:spcPct val="0"/>
                </a:spcBef>
              </a:pPr>
              <a:t>21</a:t>
            </a:fld>
            <a:endParaRPr lang="en-GB" altLang="en-US" sz="13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69875B5-E032-49B5-9CB2-54706A441A89}" type="slidenum">
              <a:rPr lang="en-GB" altLang="en-US" sz="1300" smtClean="0"/>
              <a:pPr>
                <a:spcBef>
                  <a:spcPct val="0"/>
                </a:spcBef>
              </a:pPr>
              <a:t>22</a:t>
            </a:fld>
            <a:endParaRPr lang="en-GB" altLang="en-US" sz="13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62CB61C-4DB9-4053-B660-FF1B50700F39}" type="slidenum">
              <a:rPr lang="en-GB" altLang="en-US" sz="1300" smtClean="0"/>
              <a:pPr>
                <a:spcBef>
                  <a:spcPct val="0"/>
                </a:spcBef>
              </a:pPr>
              <a:t>23</a:t>
            </a:fld>
            <a:endParaRPr lang="en-GB" altLang="en-US" sz="13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C50EE4C-0C14-42ED-8350-936733D83EAF}" type="slidenum">
              <a:rPr lang="en-GB" altLang="en-US" sz="1300" smtClean="0"/>
              <a:pPr>
                <a:spcBef>
                  <a:spcPct val="0"/>
                </a:spcBef>
              </a:pPr>
              <a:t>24</a:t>
            </a:fld>
            <a:endParaRPr lang="en-GB" altLang="en-US" sz="13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2FB9709-B031-4E32-9010-3EEE903ECA8F}" type="slidenum">
              <a:rPr lang="en-GB" altLang="en-US" sz="1300" smtClean="0"/>
              <a:pPr>
                <a:spcBef>
                  <a:spcPct val="0"/>
                </a:spcBef>
              </a:pPr>
              <a:t>25</a:t>
            </a:fld>
            <a:endParaRPr lang="en-GB" altLang="en-US" sz="13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6AF16B4-1A9B-4F74-A550-A3907F945EA4}" type="slidenum">
              <a:rPr lang="en-GB" altLang="en-US" sz="1300" smtClean="0"/>
              <a:pPr>
                <a:spcBef>
                  <a:spcPct val="0"/>
                </a:spcBef>
              </a:pPr>
              <a:t>26</a:t>
            </a:fld>
            <a:endParaRPr lang="en-GB" altLang="en-US" sz="1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0A2D94F-1E3A-4ECF-8E1A-044C64F6E0C7}" type="slidenum">
              <a:rPr lang="en-GB" altLang="en-US" sz="1300" smtClean="0"/>
              <a:pPr>
                <a:spcBef>
                  <a:spcPct val="0"/>
                </a:spcBef>
              </a:pPr>
              <a:t>27</a:t>
            </a:fld>
            <a:endParaRPr lang="en-GB" altLang="en-US" sz="13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581A91B-1C90-4591-8A7A-735C343372D9}" type="slidenum">
              <a:rPr lang="en-GB" altLang="en-US" sz="1300" smtClean="0"/>
              <a:pPr>
                <a:spcBef>
                  <a:spcPct val="0"/>
                </a:spcBef>
              </a:pPr>
              <a:t>28</a:t>
            </a:fld>
            <a:endParaRPr lang="en-GB" altLang="en-US" sz="13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3DC8EF4-CA5E-4A58-962D-0CBFA33F7C2F}" type="slidenum">
              <a:rPr lang="en-GB" altLang="en-US" sz="1300" smtClean="0"/>
              <a:pPr>
                <a:spcBef>
                  <a:spcPct val="0"/>
                </a:spcBef>
              </a:pPr>
              <a:t>29</a:t>
            </a:fld>
            <a:endParaRPr lang="en-GB" altLang="en-US" sz="13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49D016F-DD81-4BF0-824D-677A1AB4315D}" type="slidenum">
              <a:rPr lang="en-GB" altLang="en-US" sz="1300" smtClean="0"/>
              <a:pPr>
                <a:spcBef>
                  <a:spcPct val="0"/>
                </a:spcBef>
              </a:pPr>
              <a:t>30</a:t>
            </a:fld>
            <a:endParaRPr lang="en-GB" altLang="en-US" sz="13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3E16898-4781-4E1C-A9A9-654A477353CB}" type="slidenum">
              <a:rPr lang="en-GB" altLang="en-US" sz="1300" smtClean="0"/>
              <a:pPr>
                <a:spcBef>
                  <a:spcPct val="0"/>
                </a:spcBef>
              </a:pPr>
              <a:t>31</a:t>
            </a:fld>
            <a:endParaRPr lang="en-GB" altLang="en-US" sz="13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7AA1E1B-6343-4678-AA81-8286BB436656}" type="slidenum">
              <a:rPr lang="en-GB" altLang="en-US" sz="1300" smtClean="0"/>
              <a:pPr>
                <a:spcBef>
                  <a:spcPct val="0"/>
                </a:spcBef>
              </a:pPr>
              <a:t>32</a:t>
            </a:fld>
            <a:endParaRPr lang="en-GB" altLang="en-US" sz="13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56B0091-BB8B-4A40-8B7C-FDE34B9FE4E1}" type="slidenum">
              <a:rPr lang="en-GB" altLang="en-US" sz="1300" smtClean="0"/>
              <a:pPr>
                <a:spcBef>
                  <a:spcPct val="0"/>
                </a:spcBef>
              </a:pPr>
              <a:t>33</a:t>
            </a:fld>
            <a:endParaRPr lang="en-GB" altLang="en-US" sz="13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DC28ADA-789B-4783-97E7-6AB845A9086A}" type="slidenum">
              <a:rPr lang="en-GB" altLang="en-US" sz="1300" smtClean="0"/>
              <a:pPr>
                <a:spcBef>
                  <a:spcPct val="0"/>
                </a:spcBef>
              </a:pPr>
              <a:t>34</a:t>
            </a:fld>
            <a:endParaRPr lang="en-GB" altLang="en-US" sz="13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E982008-44CA-44CA-96A7-D1065B1CC40F}" type="slidenum">
              <a:rPr lang="en-GB" altLang="en-US" sz="1300" smtClean="0"/>
              <a:pPr>
                <a:spcBef>
                  <a:spcPct val="0"/>
                </a:spcBef>
              </a:pPr>
              <a:t>35</a:t>
            </a:fld>
            <a:endParaRPr lang="en-GB" altLang="en-US" sz="13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B50C47F-2FC3-4C9E-9D02-D8576118EA79}" type="slidenum">
              <a:rPr lang="en-GB" altLang="en-US" sz="1300" smtClean="0"/>
              <a:pPr>
                <a:spcBef>
                  <a:spcPct val="0"/>
                </a:spcBef>
              </a:pPr>
              <a:t>36</a:t>
            </a:fld>
            <a:endParaRPr lang="en-GB" altLang="en-US" sz="13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C5C33F2-56FF-4DEA-855E-43256DA5A4E3}" type="slidenum">
              <a:rPr lang="en-GB" altLang="en-US" sz="1300" smtClean="0"/>
              <a:pPr>
                <a:spcBef>
                  <a:spcPct val="0"/>
                </a:spcBef>
              </a:pPr>
              <a:t>37</a:t>
            </a:fld>
            <a:endParaRPr lang="en-GB" altLang="en-US" sz="13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EDDD3B8-051F-48CC-BC40-CE89ACC06F6B}" type="slidenum">
              <a:rPr lang="en-GB" altLang="en-US" sz="1300" smtClean="0"/>
              <a:pPr>
                <a:spcBef>
                  <a:spcPct val="0"/>
                </a:spcBef>
              </a:pPr>
              <a:t>38</a:t>
            </a:fld>
            <a:endParaRPr lang="en-GB" altLang="en-US" sz="13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1AEDA02-A87E-43FA-A68F-707963D826BE}" type="slidenum">
              <a:rPr lang="en-GB" altLang="en-US" sz="1300" smtClean="0"/>
              <a:pPr>
                <a:spcBef>
                  <a:spcPct val="0"/>
                </a:spcBef>
              </a:pPr>
              <a:t>39</a:t>
            </a:fld>
            <a:endParaRPr lang="en-GB" altLang="en-US" sz="13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249AB2C-1704-4BAA-9D51-D9DF417C95A2}" type="slidenum">
              <a:rPr lang="en-GB" altLang="en-US" sz="1300" smtClean="0"/>
              <a:pPr>
                <a:spcBef>
                  <a:spcPct val="0"/>
                </a:spcBef>
              </a:pPr>
              <a:t>40</a:t>
            </a:fld>
            <a:endParaRPr lang="en-GB" altLang="en-US" sz="13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5AE96B9-F6B2-4BA4-9024-3DB96A2ABA24}" type="slidenum">
              <a:rPr lang="en-GB" altLang="en-US" sz="1300" smtClean="0"/>
              <a:pPr>
                <a:spcBef>
                  <a:spcPct val="0"/>
                </a:spcBef>
              </a:pPr>
              <a:t>41</a:t>
            </a:fld>
            <a:endParaRPr lang="en-GB" altLang="en-US" sz="13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935856C-6B1C-4487-B9D3-27553FA02F1E}" type="slidenum">
              <a:rPr lang="en-GB" altLang="en-US" sz="1300" smtClean="0"/>
              <a:pPr>
                <a:spcBef>
                  <a:spcPct val="0"/>
                </a:spcBef>
              </a:pPr>
              <a:t>42</a:t>
            </a:fld>
            <a:endParaRPr lang="en-GB" altLang="en-US" sz="13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1B3CF22-1451-43DC-A30C-9E96335F1BA6}" type="slidenum">
              <a:rPr lang="en-GB" altLang="en-US" sz="1300" smtClean="0"/>
              <a:pPr>
                <a:spcBef>
                  <a:spcPct val="0"/>
                </a:spcBef>
              </a:pPr>
              <a:t>43</a:t>
            </a:fld>
            <a:endParaRPr lang="en-GB" altLang="en-US" sz="13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DB418FA-43E5-449B-9C67-CFE6EE6088DA}" type="slidenum">
              <a:rPr lang="en-GB" altLang="en-US" sz="1300" smtClean="0"/>
              <a:pPr>
                <a:spcBef>
                  <a:spcPct val="0"/>
                </a:spcBef>
              </a:pPr>
              <a:t>44</a:t>
            </a:fld>
            <a:endParaRPr lang="en-GB" altLang="en-US" sz="13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53F0121-FA40-4002-A065-D97C6AE69414}" type="slidenum">
              <a:rPr lang="en-GB" altLang="en-US" sz="1300" smtClean="0"/>
              <a:pPr>
                <a:spcBef>
                  <a:spcPct val="0"/>
                </a:spcBef>
              </a:pPr>
              <a:t>45</a:t>
            </a:fld>
            <a:endParaRPr lang="en-GB" altLang="en-US" sz="13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F6DF4C5-B4A0-4763-B238-1810A93E6731}" type="slidenum">
              <a:rPr lang="en-GB" altLang="en-US" sz="1300" smtClean="0"/>
              <a:pPr>
                <a:spcBef>
                  <a:spcPct val="0"/>
                </a:spcBef>
              </a:pPr>
              <a:t>46</a:t>
            </a:fld>
            <a:endParaRPr lang="en-GB" altLang="en-US" sz="13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921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870C8AA-DF36-46C2-8937-B0716002D6E4}" type="slidenum">
              <a:rPr lang="en-GB" altLang="en-US" sz="1300" smtClean="0"/>
              <a:pPr>
                <a:spcBef>
                  <a:spcPct val="0"/>
                </a:spcBef>
              </a:pPr>
              <a:t>47</a:t>
            </a:fld>
            <a:endParaRPr lang="en-GB" altLang="en-US" sz="13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942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F9E09B3-AE53-4276-A095-E591FB897F4F}" type="slidenum">
              <a:rPr lang="en-GB" altLang="en-US" sz="1300" smtClean="0"/>
              <a:pPr>
                <a:spcBef>
                  <a:spcPct val="0"/>
                </a:spcBef>
              </a:pPr>
              <a:t>48</a:t>
            </a:fld>
            <a:endParaRPr lang="en-GB" altLang="en-US" sz="13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BFD729F-A51C-4209-84A4-1EBAC900682C}" type="slidenum">
              <a:rPr lang="en-GB" altLang="en-US" sz="1300" smtClean="0"/>
              <a:pPr>
                <a:spcBef>
                  <a:spcPct val="0"/>
                </a:spcBef>
              </a:pPr>
              <a:t>49</a:t>
            </a:fld>
            <a:endParaRPr lang="en-GB" altLang="en-US" sz="13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5C6CF1D-7BF4-4CB7-9E35-229A33157F54}" type="slidenum">
              <a:rPr lang="en-GB" altLang="en-US" sz="1300" smtClean="0"/>
              <a:pPr>
                <a:spcBef>
                  <a:spcPct val="0"/>
                </a:spcBef>
              </a:pPr>
              <a:t>50</a:t>
            </a:fld>
            <a:endParaRPr lang="en-GB" altLang="en-US" sz="13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382A71F-89AE-4BE0-A53C-007B40A0C36E}" type="slidenum">
              <a:rPr lang="en-GB" altLang="en-US" sz="1300" smtClean="0"/>
              <a:pPr>
                <a:spcBef>
                  <a:spcPct val="0"/>
                </a:spcBef>
              </a:pPr>
              <a:t>51</a:t>
            </a:fld>
            <a:endParaRPr lang="en-GB" altLang="en-US" sz="13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6E9871A-B355-408C-A662-35CC20FE7B07}" type="slidenum">
              <a:rPr lang="en-GB" altLang="en-US" sz="1300" smtClean="0"/>
              <a:pPr>
                <a:spcBef>
                  <a:spcPct val="0"/>
                </a:spcBef>
              </a:pPr>
              <a:t>52</a:t>
            </a:fld>
            <a:endParaRPr lang="en-GB" altLang="en-US" sz="13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044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62A7521-DD42-483A-B52D-835FCBE25268}" type="slidenum">
              <a:rPr lang="en-GB" altLang="en-US" sz="1300" smtClean="0"/>
              <a:pPr>
                <a:spcBef>
                  <a:spcPct val="0"/>
                </a:spcBef>
              </a:pPr>
              <a:t>53</a:t>
            </a:fld>
            <a:endParaRPr lang="en-GB" altLang="en-US" sz="13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065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5E3BF71-E182-40A5-8062-D92A734B9B54}" type="slidenum">
              <a:rPr lang="en-GB" altLang="en-US" sz="1300" smtClean="0"/>
              <a:pPr>
                <a:spcBef>
                  <a:spcPct val="0"/>
                </a:spcBef>
              </a:pPr>
              <a:t>54</a:t>
            </a:fld>
            <a:endParaRPr lang="en-GB" altLang="en-US" sz="13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91181AB-6E2E-4B39-B0E3-4F0CB65B4C1A}" type="slidenum">
              <a:rPr lang="en-GB" altLang="en-US" sz="1300" smtClean="0"/>
              <a:pPr>
                <a:spcBef>
                  <a:spcPct val="0"/>
                </a:spcBef>
              </a:pPr>
              <a:t>55</a:t>
            </a:fld>
            <a:endParaRPr lang="en-GB" altLang="en-US" sz="13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ln/>
        </p:spPr>
      </p:sp>
      <p:sp>
        <p:nvSpPr>
          <p:cNvPr id="1105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105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8FF7B18-4AA1-4633-B2E8-C07D9C21BD97}" type="slidenum">
              <a:rPr lang="en-GB" altLang="en-US" sz="1300" smtClean="0"/>
              <a:pPr>
                <a:spcBef>
                  <a:spcPct val="0"/>
                </a:spcBef>
              </a:pPr>
              <a:t>56</a:t>
            </a:fld>
            <a:endParaRPr lang="en-GB" altLang="en-US" sz="13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D05776D-E6CE-4CD4-AB1F-19001687F5EE}" type="slidenum">
              <a:rPr lang="en-GB" altLang="en-US" sz="1300" smtClean="0"/>
              <a:pPr>
                <a:spcBef>
                  <a:spcPct val="0"/>
                </a:spcBef>
              </a:pPr>
              <a:t>57</a:t>
            </a:fld>
            <a:endParaRPr lang="en-GB" altLang="en-US" sz="130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146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D755E26-4843-44A5-BCE8-179218320BE4}" type="slidenum">
              <a:rPr lang="en-GB" altLang="en-US" sz="1300" smtClean="0"/>
              <a:pPr>
                <a:spcBef>
                  <a:spcPct val="0"/>
                </a:spcBef>
              </a:pPr>
              <a:t>58</a:t>
            </a:fld>
            <a:endParaRPr lang="en-GB" altLang="en-US" sz="13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167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487B7E2-FBA4-43ED-B567-63AF19FED252}" type="slidenum">
              <a:rPr lang="en-GB" altLang="en-US" sz="1300" smtClean="0"/>
              <a:pPr>
                <a:spcBef>
                  <a:spcPct val="0"/>
                </a:spcBef>
              </a:pPr>
              <a:t>59</a:t>
            </a:fld>
            <a:endParaRPr lang="en-GB" altLang="en-US" sz="130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530ED75-FE73-4C7A-A33B-18B26B458C4F}" type="slidenum">
              <a:rPr lang="en-GB" altLang="en-US" sz="1300" smtClean="0"/>
              <a:pPr>
                <a:spcBef>
                  <a:spcPct val="0"/>
                </a:spcBef>
              </a:pPr>
              <a:t>60</a:t>
            </a:fld>
            <a:endParaRPr lang="en-GB" altLang="en-US" sz="130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a:ln/>
        </p:spPr>
      </p:sp>
      <p:sp>
        <p:nvSpPr>
          <p:cNvPr id="1208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208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9DB8629-1E48-4113-BB1F-05C11E7CBED3}" type="slidenum">
              <a:rPr lang="en-GB" altLang="en-US" sz="1300" smtClean="0"/>
              <a:pPr>
                <a:spcBef>
                  <a:spcPct val="0"/>
                </a:spcBef>
              </a:pPr>
              <a:t>61</a:t>
            </a:fld>
            <a:endParaRPr lang="en-GB" altLang="en-US" sz="130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a:ln/>
        </p:spPr>
      </p:sp>
      <p:sp>
        <p:nvSpPr>
          <p:cNvPr id="1228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228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33F9C8F-47A6-4966-BB53-4F1FAA955743}" type="slidenum">
              <a:rPr lang="en-GB" altLang="en-US" sz="1300" smtClean="0"/>
              <a:pPr>
                <a:spcBef>
                  <a:spcPct val="0"/>
                </a:spcBef>
              </a:pPr>
              <a:t>62</a:t>
            </a:fld>
            <a:endParaRPr lang="en-GB" altLang="en-US" sz="130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249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A7C19C0-B5C1-427B-B42E-E4FCA5B1D097}" type="slidenum">
              <a:rPr lang="en-GB" altLang="en-US" sz="1300" smtClean="0"/>
              <a:pPr>
                <a:spcBef>
                  <a:spcPct val="0"/>
                </a:spcBef>
              </a:pPr>
              <a:t>63</a:t>
            </a:fld>
            <a:endParaRPr lang="en-GB" altLang="en-US" sz="130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a:ln/>
        </p:spPr>
      </p:sp>
      <p:sp>
        <p:nvSpPr>
          <p:cNvPr id="1269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269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DF695DA-DCDF-4A62-AF78-2E67DFDC820B}" type="slidenum">
              <a:rPr lang="en-GB" altLang="en-US" sz="1300" smtClean="0"/>
              <a:pPr>
                <a:spcBef>
                  <a:spcPct val="0"/>
                </a:spcBef>
              </a:pPr>
              <a:t>64</a:t>
            </a:fld>
            <a:endParaRPr lang="en-GB" altLang="en-US" sz="130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a:ln/>
        </p:spPr>
      </p:sp>
      <p:sp>
        <p:nvSpPr>
          <p:cNvPr id="1290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290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4928EFA-69A1-40C6-B537-085E1FDFF7DD}" type="slidenum">
              <a:rPr lang="en-GB" altLang="en-US" sz="1300" smtClean="0"/>
              <a:pPr>
                <a:spcBef>
                  <a:spcPct val="0"/>
                </a:spcBef>
              </a:pPr>
              <a:t>65</a:t>
            </a:fld>
            <a:endParaRPr lang="en-GB" altLang="en-US" sz="130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9F1F1ED-1294-4D99-8B7F-9EAE86B5E121}" type="slidenum">
              <a:rPr lang="en-GB" altLang="en-US" sz="1300" smtClean="0"/>
              <a:pPr>
                <a:spcBef>
                  <a:spcPct val="0"/>
                </a:spcBef>
              </a:pPr>
              <a:t>66</a:t>
            </a:fld>
            <a:endParaRPr lang="en-GB" altLang="en-US" sz="130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a:ln/>
        </p:spPr>
      </p:sp>
      <p:sp>
        <p:nvSpPr>
          <p:cNvPr id="1331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331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35DA101-68D8-4867-95E2-B24113C2DEA0}" type="slidenum">
              <a:rPr lang="en-GB" altLang="en-US" sz="1300" smtClean="0"/>
              <a:pPr>
                <a:spcBef>
                  <a:spcPct val="0"/>
                </a:spcBef>
              </a:pPr>
              <a:t>67</a:t>
            </a:fld>
            <a:endParaRPr lang="en-GB" altLang="en-US" sz="130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a:ln/>
        </p:spPr>
      </p:sp>
      <p:sp>
        <p:nvSpPr>
          <p:cNvPr id="135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35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164E4AC-05B3-422A-8F2D-7C79D54AC86D}" type="slidenum">
              <a:rPr lang="en-GB" altLang="en-US" sz="1300" smtClean="0"/>
              <a:pPr>
                <a:spcBef>
                  <a:spcPct val="0"/>
                </a:spcBef>
              </a:pPr>
              <a:t>68</a:t>
            </a:fld>
            <a:endParaRPr lang="en-GB" altLang="en-US" sz="130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a:ln/>
        </p:spPr>
      </p:sp>
      <p:sp>
        <p:nvSpPr>
          <p:cNvPr id="1372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372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F7837FB-14B4-401A-AD09-E6326F31F35A}" type="slidenum">
              <a:rPr lang="en-GB" altLang="en-US" sz="1300" smtClean="0"/>
              <a:pPr>
                <a:spcBef>
                  <a:spcPct val="0"/>
                </a:spcBef>
              </a:pPr>
              <a:t>69</a:t>
            </a:fld>
            <a:endParaRPr lang="en-GB" altLang="en-US" sz="130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39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1D34435-49B3-4F3D-9538-A0CA0A9D6825}" type="slidenum">
              <a:rPr lang="en-GB" altLang="en-US" sz="1300" smtClean="0"/>
              <a:pPr>
                <a:spcBef>
                  <a:spcPct val="0"/>
                </a:spcBef>
              </a:pPr>
              <a:t>70</a:t>
            </a:fld>
            <a:endParaRPr lang="en-GB" altLang="en-US" sz="130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a:ln/>
        </p:spPr>
      </p:sp>
      <p:sp>
        <p:nvSpPr>
          <p:cNvPr id="141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41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C55DAB1-8051-4CFF-85EE-AB8C55FE7ACF}" type="slidenum">
              <a:rPr lang="en-GB" altLang="en-US" sz="1300" smtClean="0"/>
              <a:pPr>
                <a:spcBef>
                  <a:spcPct val="0"/>
                </a:spcBef>
              </a:pPr>
              <a:t>71</a:t>
            </a:fld>
            <a:endParaRPr lang="en-GB" altLang="en-US" sz="130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43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88DAE98-8BBA-4655-9168-0F234E835D82}" type="slidenum">
              <a:rPr lang="en-GB" altLang="en-US" sz="1300" smtClean="0"/>
              <a:pPr>
                <a:spcBef>
                  <a:spcPct val="0"/>
                </a:spcBef>
              </a:pPr>
              <a:t>72</a:t>
            </a:fld>
            <a:endParaRPr lang="en-GB" altLang="en-US" sz="130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a:ln/>
        </p:spPr>
      </p:sp>
      <p:sp>
        <p:nvSpPr>
          <p:cNvPr id="145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454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60EA3E0-03EE-4F74-BEC1-A4BCAE3D3E45}" type="slidenum">
              <a:rPr lang="en-GB" altLang="en-US" sz="1300" smtClean="0"/>
              <a:pPr>
                <a:spcBef>
                  <a:spcPct val="0"/>
                </a:spcBef>
              </a:pPr>
              <a:t>73</a:t>
            </a:fld>
            <a:endParaRPr lang="en-GB" altLang="en-US" sz="130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47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014FF43-E19E-4BD0-AD9A-F8F5DE6FAECE}" type="slidenum">
              <a:rPr lang="en-GB" altLang="en-US" sz="1300" smtClean="0"/>
              <a:pPr>
                <a:spcBef>
                  <a:spcPct val="0"/>
                </a:spcBef>
              </a:pPr>
              <a:t>74</a:t>
            </a:fld>
            <a:endParaRPr lang="en-GB" altLang="en-US" sz="130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a:ln/>
        </p:spPr>
      </p:sp>
      <p:sp>
        <p:nvSpPr>
          <p:cNvPr id="149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49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A197580-9DE8-4EED-AC11-9D84BF79F72F}" type="slidenum">
              <a:rPr lang="en-GB" altLang="en-US" sz="1300" smtClean="0"/>
              <a:pPr>
                <a:spcBef>
                  <a:spcPct val="0"/>
                </a:spcBef>
              </a:pPr>
              <a:t>75</a:t>
            </a:fld>
            <a:endParaRPr lang="en-GB" altLang="en-US" sz="130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a:ln/>
        </p:spPr>
      </p:sp>
      <p:sp>
        <p:nvSpPr>
          <p:cNvPr id="151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51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D23FB8B-C483-49F6-A20D-3184262C7C51}" type="slidenum">
              <a:rPr lang="en-GB" altLang="en-US" sz="1300" smtClean="0"/>
              <a:pPr>
                <a:spcBef>
                  <a:spcPct val="0"/>
                </a:spcBef>
              </a:pPr>
              <a:t>76</a:t>
            </a:fld>
            <a:endParaRPr lang="en-GB" altLang="en-US" sz="130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p:cNvSpPr>
            <a:spLocks noGrp="1" noRot="1" noChangeAspect="1" noTextEdit="1"/>
          </p:cNvSpPr>
          <p:nvPr>
            <p:ph type="sldImg"/>
          </p:nvPr>
        </p:nvSpPr>
        <p:spPr>
          <a:ln/>
        </p:spPr>
      </p:sp>
      <p:sp>
        <p:nvSpPr>
          <p:cNvPr id="153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53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1762D6A-C1FD-4A41-B102-1878E10402C0}" type="slidenum">
              <a:rPr lang="en-GB" altLang="en-US" sz="1300" smtClean="0"/>
              <a:pPr>
                <a:spcBef>
                  <a:spcPct val="0"/>
                </a:spcBef>
              </a:pPr>
              <a:t>77</a:t>
            </a:fld>
            <a:endParaRPr lang="en-GB" altLang="en-US" sz="130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a:ln/>
        </p:spPr>
      </p:sp>
      <p:sp>
        <p:nvSpPr>
          <p:cNvPr id="155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55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803275" indent="-30797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a:spcBef>
                <a:spcPct val="30000"/>
              </a:spcBef>
              <a:defRPr sz="1200">
                <a:solidFill>
                  <a:schemeClr val="tx1"/>
                </a:solidFill>
                <a:latin typeface="Arial" panose="020B0604020202020204" pitchFamily="34" charset="0"/>
                <a:cs typeface="Arial" panose="020B0604020202020204" pitchFamily="34" charset="0"/>
              </a:defRPr>
            </a:lvl3pPr>
            <a:lvl4pPr marL="1731963" indent="-246063">
              <a:spcBef>
                <a:spcPct val="30000"/>
              </a:spcBef>
              <a:defRPr sz="1200">
                <a:solidFill>
                  <a:schemeClr val="tx1"/>
                </a:solidFill>
                <a:latin typeface="Arial" panose="020B0604020202020204" pitchFamily="34" charset="0"/>
                <a:cs typeface="Arial" panose="020B0604020202020204" pitchFamily="34" charset="0"/>
              </a:defRPr>
            </a:lvl4pPr>
            <a:lvl5pPr marL="2227263" indent="-246063">
              <a:spcBef>
                <a:spcPct val="30000"/>
              </a:spcBef>
              <a:defRPr sz="1200">
                <a:solidFill>
                  <a:schemeClr val="tx1"/>
                </a:solidFill>
                <a:latin typeface="Arial" panose="020B0604020202020204" pitchFamily="34" charset="0"/>
                <a:cs typeface="Arial" panose="020B0604020202020204" pitchFamily="34" charset="0"/>
              </a:defRPr>
            </a:lvl5pPr>
            <a:lvl6pPr marL="26844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76E7DFD-372C-42E8-8E15-80F2A139977B}" type="slidenum">
              <a:rPr lang="en-GB" altLang="en-US" sz="1300" smtClean="0"/>
              <a:pPr>
                <a:spcBef>
                  <a:spcPct val="0"/>
                </a:spcBef>
              </a:pPr>
              <a:t>78</a:t>
            </a:fld>
            <a:endParaRPr lang="en-GB" altLang="en-US" sz="130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57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2296502-BDFA-4568-8898-0F6DBC7EF708}" type="slidenum">
              <a:rPr lang="en-GB" altLang="en-US" sz="1300" smtClean="0"/>
              <a:pPr>
                <a:spcBef>
                  <a:spcPct val="0"/>
                </a:spcBef>
              </a:pPr>
              <a:t>79</a:t>
            </a:fld>
            <a:endParaRPr lang="en-GB" altLang="en-US" sz="130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59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1393D5-DE8D-4B0A-B66E-7349F23CC239}" type="slidenum">
              <a:rPr lang="en-GB" altLang="en-US" sz="1300" smtClean="0"/>
              <a:pPr>
                <a:spcBef>
                  <a:spcPct val="0"/>
                </a:spcBef>
              </a:pPr>
              <a:t>80</a:t>
            </a:fld>
            <a:endParaRPr lang="en-GB" altLang="en-US" sz="130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a:ln/>
        </p:spPr>
      </p:sp>
      <p:sp>
        <p:nvSpPr>
          <p:cNvPr id="161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61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B922AA0-1B37-4B92-8139-E296EE39409E}" type="slidenum">
              <a:rPr lang="en-GB" altLang="en-US" sz="1300" smtClean="0"/>
              <a:pPr>
                <a:spcBef>
                  <a:spcPct val="0"/>
                </a:spcBef>
              </a:pPr>
              <a:t>81</a:t>
            </a:fld>
            <a:endParaRPr lang="en-GB" altLang="en-US" sz="130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63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BFE72CC-32B2-41F5-AEEE-AA8CB13C1512}" type="slidenum">
              <a:rPr lang="en-GB" altLang="en-US" sz="1300" smtClean="0"/>
              <a:pPr>
                <a:spcBef>
                  <a:spcPct val="0"/>
                </a:spcBef>
              </a:pPr>
              <a:t>82</a:t>
            </a:fld>
            <a:endParaRPr lang="en-GB" altLang="en-US" sz="130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a:ln/>
        </p:spPr>
      </p:sp>
      <p:sp>
        <p:nvSpPr>
          <p:cNvPr id="165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65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35B46BF-8EC2-486A-8AEE-69DB220A45C8}" type="slidenum">
              <a:rPr lang="en-GB" altLang="en-US" sz="1300" smtClean="0"/>
              <a:pPr>
                <a:spcBef>
                  <a:spcPct val="0"/>
                </a:spcBef>
              </a:pPr>
              <a:t>83</a:t>
            </a:fld>
            <a:endParaRPr lang="en-GB" altLang="en-US" sz="130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a:ln/>
        </p:spPr>
      </p:sp>
      <p:sp>
        <p:nvSpPr>
          <p:cNvPr id="167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67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16B452C-F5B3-4A1D-9265-44E9823325F5}" type="slidenum">
              <a:rPr lang="en-GB" altLang="en-US" sz="1300" smtClean="0"/>
              <a:pPr>
                <a:spcBef>
                  <a:spcPct val="0"/>
                </a:spcBef>
              </a:pPr>
              <a:t>84</a:t>
            </a:fld>
            <a:endParaRPr lang="en-GB" altLang="en-US" sz="130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a:ln/>
        </p:spPr>
      </p:sp>
      <p:sp>
        <p:nvSpPr>
          <p:cNvPr id="169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69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3491E39-92E6-4E6A-8018-9E16E8C7BCD1}" type="slidenum">
              <a:rPr lang="en-GB" altLang="en-US" sz="1300" smtClean="0"/>
              <a:pPr>
                <a:spcBef>
                  <a:spcPct val="0"/>
                </a:spcBef>
              </a:pPr>
              <a:t>85</a:t>
            </a:fld>
            <a:endParaRPr lang="en-GB" altLang="en-US" sz="130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a:ln/>
        </p:spPr>
      </p:sp>
      <p:sp>
        <p:nvSpPr>
          <p:cNvPr id="172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72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0B6C949-07BF-42FA-9633-03150984408A}" type="slidenum">
              <a:rPr lang="en-GB" altLang="en-US" sz="1300" smtClean="0"/>
              <a:pPr>
                <a:spcBef>
                  <a:spcPct val="0"/>
                </a:spcBef>
              </a:pPr>
              <a:t>86</a:t>
            </a:fld>
            <a:endParaRPr lang="en-GB" altLang="en-US" sz="130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a:ln/>
        </p:spPr>
      </p:sp>
      <p:sp>
        <p:nvSpPr>
          <p:cNvPr id="174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74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9E64525-E435-4FDB-88A3-94FD59CED845}" type="slidenum">
              <a:rPr lang="en-GB" altLang="en-US" sz="1300" smtClean="0"/>
              <a:pPr>
                <a:spcBef>
                  <a:spcPct val="0"/>
                </a:spcBef>
              </a:pPr>
              <a:t>87</a:t>
            </a:fld>
            <a:endParaRPr lang="en-GB" altLang="en-US" sz="130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a:ln/>
        </p:spPr>
      </p:sp>
      <p:sp>
        <p:nvSpPr>
          <p:cNvPr id="176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76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D6B9C51-0700-4F93-8C53-84BD7D98A2C4}" type="slidenum">
              <a:rPr lang="en-GB" altLang="en-US" sz="1300" smtClean="0"/>
              <a:pPr>
                <a:spcBef>
                  <a:spcPct val="0"/>
                </a:spcBef>
              </a:pPr>
              <a:t>88</a:t>
            </a:fld>
            <a:endParaRPr lang="en-GB" altLang="en-US" sz="130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a:ln/>
        </p:spPr>
      </p:sp>
      <p:sp>
        <p:nvSpPr>
          <p:cNvPr id="178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78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D4DEA77-1D99-4B51-9820-D4343894BDE2}" type="slidenum">
              <a:rPr lang="en-GB" altLang="en-US" sz="1300" smtClean="0"/>
              <a:pPr>
                <a:spcBef>
                  <a:spcPct val="0"/>
                </a:spcBef>
              </a:pPr>
              <a:t>89</a:t>
            </a:fld>
            <a:endParaRPr lang="en-GB" altLang="en-US" sz="130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p:cNvSpPr>
            <a:spLocks noGrp="1" noRot="1" noChangeAspect="1" noTextEdit="1"/>
          </p:cNvSpPr>
          <p:nvPr>
            <p:ph type="sldImg"/>
          </p:nvPr>
        </p:nvSpPr>
        <p:spPr>
          <a:ln/>
        </p:spPr>
      </p:sp>
      <p:sp>
        <p:nvSpPr>
          <p:cNvPr id="180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80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C3A74C5-97D7-40F1-93CF-68804E106992}" type="slidenum">
              <a:rPr lang="en-GB" altLang="en-US" sz="1300" smtClean="0"/>
              <a:pPr>
                <a:spcBef>
                  <a:spcPct val="0"/>
                </a:spcBef>
              </a:pPr>
              <a:t>90</a:t>
            </a:fld>
            <a:endParaRPr lang="en-GB" altLang="en-US" sz="130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a:ln/>
        </p:spPr>
      </p:sp>
      <p:sp>
        <p:nvSpPr>
          <p:cNvPr id="182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82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7AEB82E-E088-437E-9C03-F87DB69DF775}" type="slidenum">
              <a:rPr lang="en-GB" altLang="en-US" sz="1300" smtClean="0"/>
              <a:pPr>
                <a:spcBef>
                  <a:spcPct val="0"/>
                </a:spcBef>
              </a:pPr>
              <a:t>91</a:t>
            </a:fld>
            <a:endParaRPr lang="en-GB" altLang="en-US" sz="130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a:ln/>
        </p:spPr>
      </p:sp>
      <p:sp>
        <p:nvSpPr>
          <p:cNvPr id="184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84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9C0AA4D-5BE9-49D5-BCC0-E521771BBC7E}" type="slidenum">
              <a:rPr lang="en-GB" altLang="en-US" sz="1300" smtClean="0"/>
              <a:pPr>
                <a:spcBef>
                  <a:spcPct val="0"/>
                </a:spcBef>
              </a:pPr>
              <a:t>92</a:t>
            </a:fld>
            <a:endParaRPr lang="en-GB" altLang="en-US" sz="130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p:cNvSpPr>
            <a:spLocks noGrp="1" noRot="1" noChangeAspect="1" noTextEdit="1"/>
          </p:cNvSpPr>
          <p:nvPr>
            <p:ph type="sldImg"/>
          </p:nvPr>
        </p:nvSpPr>
        <p:spPr>
          <a:ln/>
        </p:spPr>
      </p:sp>
      <p:sp>
        <p:nvSpPr>
          <p:cNvPr id="186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86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482E03C-308F-4AD3-B271-9E9C7DE46F48}" type="slidenum">
              <a:rPr lang="en-GB" altLang="en-US" sz="1300" smtClean="0"/>
              <a:pPr>
                <a:spcBef>
                  <a:spcPct val="0"/>
                </a:spcBef>
              </a:pPr>
              <a:t>93</a:t>
            </a:fld>
            <a:endParaRPr lang="en-GB" altLang="en-US" sz="130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Image Placeholder 1"/>
          <p:cNvSpPr>
            <a:spLocks noGrp="1" noRot="1" noChangeAspect="1" noTextEdit="1"/>
          </p:cNvSpPr>
          <p:nvPr>
            <p:ph type="sldImg"/>
          </p:nvPr>
        </p:nvSpPr>
        <p:spPr>
          <a:ln/>
        </p:spPr>
      </p:sp>
      <p:sp>
        <p:nvSpPr>
          <p:cNvPr id="188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88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B5EF932-6138-4309-BADB-F9D4288F71F4}" type="slidenum">
              <a:rPr lang="en-GB" altLang="en-US" sz="1300" smtClean="0"/>
              <a:pPr>
                <a:spcBef>
                  <a:spcPct val="0"/>
                </a:spcBef>
              </a:pPr>
              <a:t>94</a:t>
            </a:fld>
            <a:endParaRPr lang="en-GB" altLang="en-US" sz="130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90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8E8984B-626B-4EB0-8313-9363768C1F62}" type="slidenum">
              <a:rPr lang="en-GB" altLang="en-US" sz="1300" smtClean="0"/>
              <a:pPr>
                <a:spcBef>
                  <a:spcPct val="0"/>
                </a:spcBef>
              </a:pPr>
              <a:t>95</a:t>
            </a:fld>
            <a:endParaRPr lang="en-GB" altLang="en-US" sz="130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p:cNvSpPr>
            <a:spLocks noGrp="1" noRot="1" noChangeAspect="1" noTextEdit="1"/>
          </p:cNvSpPr>
          <p:nvPr>
            <p:ph type="sldImg"/>
          </p:nvPr>
        </p:nvSpPr>
        <p:spPr>
          <a:ln/>
        </p:spPr>
      </p:sp>
      <p:sp>
        <p:nvSpPr>
          <p:cNvPr id="192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92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1B510D4-3C89-4D95-BF79-2293D395068F}" type="slidenum">
              <a:rPr lang="en-GB" altLang="en-US" sz="1300" smtClean="0"/>
              <a:pPr>
                <a:spcBef>
                  <a:spcPct val="0"/>
                </a:spcBef>
              </a:pPr>
              <a:t>96</a:t>
            </a:fld>
            <a:endParaRPr lang="en-GB" altLang="en-US" sz="130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p:cNvSpPr>
            <a:spLocks noGrp="1" noRot="1" noChangeAspect="1" noTextEdit="1"/>
          </p:cNvSpPr>
          <p:nvPr>
            <p:ph type="sldImg"/>
          </p:nvPr>
        </p:nvSpPr>
        <p:spPr>
          <a:ln/>
        </p:spPr>
      </p:sp>
      <p:sp>
        <p:nvSpPr>
          <p:cNvPr id="194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94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F82AFAE-2465-4352-9B77-7705027139D7}" type="slidenum">
              <a:rPr lang="en-GB" altLang="en-US" sz="1300" smtClean="0"/>
              <a:pPr>
                <a:spcBef>
                  <a:spcPct val="0"/>
                </a:spcBef>
              </a:pPr>
              <a:t>97</a:t>
            </a:fld>
            <a:endParaRPr lang="en-GB" altLang="en-US" sz="130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Slide Image Placeholder 1"/>
          <p:cNvSpPr>
            <a:spLocks noGrp="1" noRot="1" noChangeAspect="1" noTextEdit="1"/>
          </p:cNvSpPr>
          <p:nvPr>
            <p:ph type="sldImg"/>
          </p:nvPr>
        </p:nvSpPr>
        <p:spPr>
          <a:ln/>
        </p:spPr>
      </p:sp>
      <p:sp>
        <p:nvSpPr>
          <p:cNvPr id="196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96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3E1A3CA-670B-4251-9B51-191E4D7BB610}" type="slidenum">
              <a:rPr lang="en-GB" altLang="en-US" sz="1300" smtClean="0"/>
              <a:pPr>
                <a:spcBef>
                  <a:spcPct val="0"/>
                </a:spcBef>
              </a:pPr>
              <a:t>98</a:t>
            </a:fld>
            <a:endParaRPr lang="en-GB" altLang="en-US" sz="130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Slide Image Placeholder 1"/>
          <p:cNvSpPr>
            <a:spLocks noGrp="1" noRot="1" noChangeAspect="1" noTextEdit="1"/>
          </p:cNvSpPr>
          <p:nvPr>
            <p:ph type="sldImg"/>
          </p:nvPr>
        </p:nvSpPr>
        <p:spPr>
          <a:ln/>
        </p:spPr>
      </p:sp>
      <p:sp>
        <p:nvSpPr>
          <p:cNvPr id="198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198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FFFF1F1-2092-40DB-945D-E9F1618E2896}" type="slidenum">
              <a:rPr lang="en-GB" altLang="en-US" sz="1300" smtClean="0"/>
              <a:pPr>
                <a:spcBef>
                  <a:spcPct val="0"/>
                </a:spcBef>
              </a:pPr>
              <a:t>99</a:t>
            </a:fld>
            <a:endParaRPr lang="en-GB" altLang="en-US" sz="130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p:cNvSpPr>
            <a:spLocks noGrp="1" noRot="1" noChangeAspect="1" noTextEdit="1"/>
          </p:cNvSpPr>
          <p:nvPr>
            <p:ph type="sldImg"/>
          </p:nvPr>
        </p:nvSpPr>
        <p:spPr>
          <a:ln/>
        </p:spPr>
      </p:sp>
      <p:sp>
        <p:nvSpPr>
          <p:cNvPr id="200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00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05E488D-2DDF-4C2E-95B2-67FAF66B96F1}" type="slidenum">
              <a:rPr lang="en-GB" altLang="en-US" sz="1300" smtClean="0"/>
              <a:pPr>
                <a:spcBef>
                  <a:spcPct val="0"/>
                </a:spcBef>
              </a:pPr>
              <a:t>100</a:t>
            </a:fld>
            <a:endParaRPr lang="en-GB" altLang="en-US" sz="130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p:cNvSpPr>
            <a:spLocks noGrp="1" noRot="1" noChangeAspect="1" noTextEdit="1"/>
          </p:cNvSpPr>
          <p:nvPr>
            <p:ph type="sldImg"/>
          </p:nvPr>
        </p:nvSpPr>
        <p:spPr>
          <a:ln/>
        </p:spPr>
      </p:sp>
      <p:sp>
        <p:nvSpPr>
          <p:cNvPr id="202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02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550B110-FD6A-4B82-B872-ED1CED3256A4}" type="slidenum">
              <a:rPr lang="en-GB" altLang="en-US" sz="1300" smtClean="0"/>
              <a:pPr>
                <a:spcBef>
                  <a:spcPct val="0"/>
                </a:spcBef>
              </a:pPr>
              <a:t>101</a:t>
            </a:fld>
            <a:endParaRPr lang="en-GB" altLang="en-US" sz="130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p:cNvSpPr>
            <a:spLocks noGrp="1" noRot="1" noChangeAspect="1" noTextEdit="1"/>
          </p:cNvSpPr>
          <p:nvPr>
            <p:ph type="sldImg"/>
          </p:nvPr>
        </p:nvSpPr>
        <p:spPr>
          <a:ln/>
        </p:spPr>
      </p:sp>
      <p:sp>
        <p:nvSpPr>
          <p:cNvPr id="204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04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CA6C44B-F365-4E9E-9A1D-EFEE8E74051E}" type="slidenum">
              <a:rPr lang="en-GB" altLang="en-US" sz="1300" smtClean="0"/>
              <a:pPr>
                <a:spcBef>
                  <a:spcPct val="0"/>
                </a:spcBef>
              </a:pPr>
              <a:t>102</a:t>
            </a:fld>
            <a:endParaRPr lang="en-GB" altLang="en-US" sz="130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Slide Image Placeholder 1"/>
          <p:cNvSpPr>
            <a:spLocks noGrp="1" noRot="1" noChangeAspect="1" noTextEdit="1"/>
          </p:cNvSpPr>
          <p:nvPr>
            <p:ph type="sldImg"/>
          </p:nvPr>
        </p:nvSpPr>
        <p:spPr>
          <a:ln/>
        </p:spPr>
      </p:sp>
      <p:sp>
        <p:nvSpPr>
          <p:cNvPr id="206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06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621C232-0B19-438B-859B-387FC9E0AD95}" type="slidenum">
              <a:rPr lang="en-GB" altLang="en-US" sz="1300" smtClean="0"/>
              <a:pPr>
                <a:spcBef>
                  <a:spcPct val="0"/>
                </a:spcBef>
              </a:pPr>
              <a:t>103</a:t>
            </a:fld>
            <a:endParaRPr lang="en-GB" altLang="en-US" sz="130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Slide Image Placeholder 1"/>
          <p:cNvSpPr>
            <a:spLocks noGrp="1" noRot="1" noChangeAspect="1" noTextEdit="1"/>
          </p:cNvSpPr>
          <p:nvPr>
            <p:ph type="sldImg"/>
          </p:nvPr>
        </p:nvSpPr>
        <p:spPr>
          <a:ln/>
        </p:spPr>
      </p:sp>
      <p:sp>
        <p:nvSpPr>
          <p:cNvPr id="208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08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AB91CF6-147C-46E7-91B7-3477CF90F971}" type="slidenum">
              <a:rPr lang="en-GB" altLang="en-US" sz="1300" smtClean="0"/>
              <a:pPr>
                <a:spcBef>
                  <a:spcPct val="0"/>
                </a:spcBef>
              </a:pPr>
              <a:t>104</a:t>
            </a:fld>
            <a:endParaRPr lang="en-GB" altLang="en-US" sz="130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Slide Image Placeholder 1"/>
          <p:cNvSpPr>
            <a:spLocks noGrp="1" noRot="1" noChangeAspect="1" noTextEdit="1"/>
          </p:cNvSpPr>
          <p:nvPr>
            <p:ph type="sldImg"/>
          </p:nvPr>
        </p:nvSpPr>
        <p:spPr>
          <a:ln/>
        </p:spPr>
      </p:sp>
      <p:sp>
        <p:nvSpPr>
          <p:cNvPr id="210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109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234307A-062F-4346-978F-5C3830CEDF85}" type="slidenum">
              <a:rPr lang="en-GB" altLang="en-US" sz="1300" smtClean="0"/>
              <a:pPr>
                <a:spcBef>
                  <a:spcPct val="0"/>
                </a:spcBef>
              </a:pPr>
              <a:t>105</a:t>
            </a:fld>
            <a:endParaRPr lang="en-GB" altLang="en-US" sz="130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Slide Image Placeholder 1"/>
          <p:cNvSpPr>
            <a:spLocks noGrp="1" noRot="1" noChangeAspect="1" noTextEdit="1"/>
          </p:cNvSpPr>
          <p:nvPr>
            <p:ph type="sldImg"/>
          </p:nvPr>
        </p:nvSpPr>
        <p:spPr>
          <a:ln/>
        </p:spPr>
      </p:sp>
      <p:sp>
        <p:nvSpPr>
          <p:cNvPr id="212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12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9E65084-4EAE-4B7E-857A-A9651B239B9B}" type="slidenum">
              <a:rPr lang="en-GB" altLang="en-US" sz="1300" smtClean="0"/>
              <a:pPr>
                <a:spcBef>
                  <a:spcPct val="0"/>
                </a:spcBef>
              </a:pPr>
              <a:t>106</a:t>
            </a:fld>
            <a:endParaRPr lang="en-GB" altLang="en-US" sz="130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Slide Image Placeholder 1"/>
          <p:cNvSpPr>
            <a:spLocks noGrp="1" noRot="1" noChangeAspect="1" noTextEdit="1"/>
          </p:cNvSpPr>
          <p:nvPr>
            <p:ph type="sldImg"/>
          </p:nvPr>
        </p:nvSpPr>
        <p:spPr>
          <a:ln/>
        </p:spPr>
      </p:sp>
      <p:sp>
        <p:nvSpPr>
          <p:cNvPr id="215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15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CD9909E-8FDF-4863-9735-021F4FF75911}" type="slidenum">
              <a:rPr lang="en-GB" altLang="en-US" sz="1300" smtClean="0"/>
              <a:pPr>
                <a:spcBef>
                  <a:spcPct val="0"/>
                </a:spcBef>
              </a:pPr>
              <a:t>107</a:t>
            </a:fld>
            <a:endParaRPr lang="en-GB" altLang="en-US" sz="130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a:ln/>
        </p:spPr>
      </p:sp>
      <p:sp>
        <p:nvSpPr>
          <p:cNvPr id="2170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170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4B0D4D0-A7C5-4C98-AE5A-FED76F297885}" type="slidenum">
              <a:rPr lang="en-GB" altLang="en-US" sz="1300" smtClean="0"/>
              <a:pPr>
                <a:spcBef>
                  <a:spcPct val="0"/>
                </a:spcBef>
              </a:pPr>
              <a:t>108</a:t>
            </a:fld>
            <a:endParaRPr lang="en-GB" altLang="en-US" sz="130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Image Placeholder 1"/>
          <p:cNvSpPr>
            <a:spLocks noGrp="1" noRot="1" noChangeAspect="1" noTextEdit="1"/>
          </p:cNvSpPr>
          <p:nvPr>
            <p:ph type="sldImg"/>
          </p:nvPr>
        </p:nvSpPr>
        <p:spPr>
          <a:ln/>
        </p:spPr>
      </p:sp>
      <p:sp>
        <p:nvSpPr>
          <p:cNvPr id="219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19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4CA2880-9B20-4A57-8FBE-607A7431DBB2}" type="slidenum">
              <a:rPr lang="en-GB" altLang="en-US" sz="1300" smtClean="0"/>
              <a:pPr>
                <a:spcBef>
                  <a:spcPct val="0"/>
                </a:spcBef>
              </a:pPr>
              <a:t>109</a:t>
            </a:fld>
            <a:endParaRPr lang="en-GB" altLang="en-US" sz="130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Slide Image Placeholder 1"/>
          <p:cNvSpPr>
            <a:spLocks noGrp="1" noRot="1" noChangeAspect="1" noTextEdit="1"/>
          </p:cNvSpPr>
          <p:nvPr>
            <p:ph type="sldImg"/>
          </p:nvPr>
        </p:nvSpPr>
        <p:spPr>
          <a:ln/>
        </p:spPr>
      </p:sp>
      <p:sp>
        <p:nvSpPr>
          <p:cNvPr id="2211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211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5666376-200F-4AC9-9A64-AF1624DC1BED}" type="slidenum">
              <a:rPr lang="en-GB" altLang="en-US" sz="1300" smtClean="0"/>
              <a:pPr>
                <a:spcBef>
                  <a:spcPct val="0"/>
                </a:spcBef>
              </a:pPr>
              <a:t>110</a:t>
            </a:fld>
            <a:endParaRPr lang="en-GB" altLang="en-US" sz="130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Slide Image Placeholder 1"/>
          <p:cNvSpPr>
            <a:spLocks noGrp="1" noRot="1" noChangeAspect="1" noTextEdit="1"/>
          </p:cNvSpPr>
          <p:nvPr>
            <p:ph type="sldImg"/>
          </p:nvPr>
        </p:nvSpPr>
        <p:spPr>
          <a:ln/>
        </p:spPr>
      </p:sp>
      <p:sp>
        <p:nvSpPr>
          <p:cNvPr id="2232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232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93FFE4A-C526-441C-8261-4971DC5572E3}" type="slidenum">
              <a:rPr lang="en-GB" altLang="en-US" sz="1300" smtClean="0"/>
              <a:pPr>
                <a:spcBef>
                  <a:spcPct val="0"/>
                </a:spcBef>
              </a:pPr>
              <a:t>111</a:t>
            </a:fld>
            <a:endParaRPr lang="en-GB" altLang="en-US" sz="130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Slide Image Placeholder 1"/>
          <p:cNvSpPr>
            <a:spLocks noGrp="1" noRot="1" noChangeAspect="1" noTextEdit="1"/>
          </p:cNvSpPr>
          <p:nvPr>
            <p:ph type="sldImg"/>
          </p:nvPr>
        </p:nvSpPr>
        <p:spPr>
          <a:ln/>
        </p:spPr>
      </p:sp>
      <p:sp>
        <p:nvSpPr>
          <p:cNvPr id="2252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252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60F9B10-FE34-4C44-BF2F-48820F4BFBC4}" type="slidenum">
              <a:rPr lang="en-GB" altLang="en-US" sz="1300" smtClean="0"/>
              <a:pPr>
                <a:spcBef>
                  <a:spcPct val="0"/>
                </a:spcBef>
              </a:pPr>
              <a:t>112</a:t>
            </a:fld>
            <a:endParaRPr lang="en-GB" altLang="en-US" sz="130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Slide Image Placeholder 1"/>
          <p:cNvSpPr>
            <a:spLocks noGrp="1" noRot="1" noChangeAspect="1" noTextEdit="1"/>
          </p:cNvSpPr>
          <p:nvPr>
            <p:ph type="sldImg"/>
          </p:nvPr>
        </p:nvSpPr>
        <p:spPr>
          <a:ln/>
        </p:spPr>
      </p:sp>
      <p:sp>
        <p:nvSpPr>
          <p:cNvPr id="227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27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1A818D0-C4FA-4C44-99AB-874014FD1BE3}" type="slidenum">
              <a:rPr lang="en-GB" altLang="en-US" sz="1300" smtClean="0"/>
              <a:pPr>
                <a:spcBef>
                  <a:spcPct val="0"/>
                </a:spcBef>
              </a:pPr>
              <a:t>113</a:t>
            </a:fld>
            <a:endParaRPr lang="en-GB" altLang="en-US" sz="130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Slide Image Placeholder 1"/>
          <p:cNvSpPr>
            <a:spLocks noGrp="1" noRot="1" noChangeAspect="1" noTextEdit="1"/>
          </p:cNvSpPr>
          <p:nvPr>
            <p:ph type="sldImg"/>
          </p:nvPr>
        </p:nvSpPr>
        <p:spPr>
          <a:ln/>
        </p:spPr>
      </p:sp>
      <p:sp>
        <p:nvSpPr>
          <p:cNvPr id="229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29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B7CBE5E-7714-4FDF-A36F-7BE8045D9AB5}" type="slidenum">
              <a:rPr lang="en-GB" altLang="en-US" sz="1300" smtClean="0"/>
              <a:pPr>
                <a:spcBef>
                  <a:spcPct val="0"/>
                </a:spcBef>
              </a:pPr>
              <a:t>114</a:t>
            </a:fld>
            <a:endParaRPr lang="en-GB" altLang="en-US" sz="130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a:ln/>
        </p:spPr>
      </p:sp>
      <p:sp>
        <p:nvSpPr>
          <p:cNvPr id="231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31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4F17259-B075-4B08-A9E9-4E771105C63D}" type="slidenum">
              <a:rPr lang="en-GB" altLang="en-US" sz="1300" smtClean="0"/>
              <a:pPr>
                <a:spcBef>
                  <a:spcPct val="0"/>
                </a:spcBef>
              </a:pPr>
              <a:t>115</a:t>
            </a:fld>
            <a:endParaRPr lang="en-GB" altLang="en-US" sz="130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Slide Image Placeholder 1"/>
          <p:cNvSpPr>
            <a:spLocks noGrp="1" noRot="1" noChangeAspect="1" noTextEdit="1"/>
          </p:cNvSpPr>
          <p:nvPr>
            <p:ph type="sldImg"/>
          </p:nvPr>
        </p:nvSpPr>
        <p:spPr>
          <a:ln/>
        </p:spPr>
      </p:sp>
      <p:sp>
        <p:nvSpPr>
          <p:cNvPr id="2334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334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F263871-9C38-433D-A229-5CCCE31D122C}" type="slidenum">
              <a:rPr lang="en-GB" altLang="en-US" sz="1300" smtClean="0"/>
              <a:pPr>
                <a:spcBef>
                  <a:spcPct val="0"/>
                </a:spcBef>
              </a:pPr>
              <a:t>116</a:t>
            </a:fld>
            <a:endParaRPr lang="en-GB" altLang="en-US" sz="130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Slide Image Placeholder 1"/>
          <p:cNvSpPr>
            <a:spLocks noGrp="1" noRot="1" noChangeAspect="1" noTextEdit="1"/>
          </p:cNvSpPr>
          <p:nvPr>
            <p:ph type="sldImg"/>
          </p:nvPr>
        </p:nvSpPr>
        <p:spPr>
          <a:ln/>
        </p:spPr>
      </p:sp>
      <p:sp>
        <p:nvSpPr>
          <p:cNvPr id="235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355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2DD8173-62C0-478E-B92A-AF3A38321D4D}" type="slidenum">
              <a:rPr lang="en-GB" altLang="en-US" sz="1300" smtClean="0"/>
              <a:pPr>
                <a:spcBef>
                  <a:spcPct val="0"/>
                </a:spcBef>
              </a:pPr>
              <a:t>117</a:t>
            </a:fld>
            <a:endParaRPr lang="en-GB" altLang="en-US" sz="130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Slide Image Placeholder 1"/>
          <p:cNvSpPr>
            <a:spLocks noGrp="1" noRot="1" noChangeAspect="1" noTextEdit="1"/>
          </p:cNvSpPr>
          <p:nvPr>
            <p:ph type="sldImg"/>
          </p:nvPr>
        </p:nvSpPr>
        <p:spPr>
          <a:ln/>
        </p:spPr>
      </p:sp>
      <p:sp>
        <p:nvSpPr>
          <p:cNvPr id="2375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375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FAA058C-851E-47DC-A2F9-12E15CECC7B6}" type="slidenum">
              <a:rPr lang="en-GB" altLang="en-US" sz="1300" smtClean="0"/>
              <a:pPr>
                <a:spcBef>
                  <a:spcPct val="0"/>
                </a:spcBef>
              </a:pPr>
              <a:t>118</a:t>
            </a:fld>
            <a:endParaRPr lang="en-GB" altLang="en-US" sz="130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Slide Image Placeholder 1"/>
          <p:cNvSpPr>
            <a:spLocks noGrp="1" noRot="1" noChangeAspect="1" noTextEdit="1"/>
          </p:cNvSpPr>
          <p:nvPr>
            <p:ph type="sldImg"/>
          </p:nvPr>
        </p:nvSpPr>
        <p:spPr>
          <a:ln/>
        </p:spPr>
      </p:sp>
      <p:sp>
        <p:nvSpPr>
          <p:cNvPr id="2396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396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8626432-453B-4EDC-8175-9BB87BF2DCE6}" type="slidenum">
              <a:rPr lang="en-GB" altLang="en-US" sz="1300" smtClean="0"/>
              <a:pPr>
                <a:spcBef>
                  <a:spcPct val="0"/>
                </a:spcBef>
              </a:pPr>
              <a:t>119</a:t>
            </a:fld>
            <a:endParaRPr lang="en-GB" altLang="en-US" sz="130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Slide Image Placeholder 1"/>
          <p:cNvSpPr>
            <a:spLocks noGrp="1" noRot="1" noChangeAspect="1" noTextEdit="1"/>
          </p:cNvSpPr>
          <p:nvPr>
            <p:ph type="sldImg"/>
          </p:nvPr>
        </p:nvSpPr>
        <p:spPr>
          <a:ln/>
        </p:spPr>
      </p:sp>
      <p:sp>
        <p:nvSpPr>
          <p:cNvPr id="2416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416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C4415C9-067A-425C-A508-FD385F1BF555}" type="slidenum">
              <a:rPr lang="en-GB" altLang="en-US" sz="1300" smtClean="0"/>
              <a:pPr>
                <a:spcBef>
                  <a:spcPct val="0"/>
                </a:spcBef>
              </a:pPr>
              <a:t>120</a:t>
            </a:fld>
            <a:endParaRPr lang="en-GB" altLang="en-US" sz="130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Slide Image Placeholder 1"/>
          <p:cNvSpPr>
            <a:spLocks noGrp="1" noRot="1" noChangeAspect="1" noTextEdit="1"/>
          </p:cNvSpPr>
          <p:nvPr>
            <p:ph type="sldImg"/>
          </p:nvPr>
        </p:nvSpPr>
        <p:spPr>
          <a:ln/>
        </p:spPr>
      </p:sp>
      <p:sp>
        <p:nvSpPr>
          <p:cNvPr id="2437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437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578DA90-0AA9-412E-82F7-FBAA8CFA3992}" type="slidenum">
              <a:rPr lang="en-GB" altLang="en-US" sz="1300" smtClean="0"/>
              <a:pPr>
                <a:spcBef>
                  <a:spcPct val="0"/>
                </a:spcBef>
              </a:pPr>
              <a:t>121</a:t>
            </a:fld>
            <a:endParaRPr lang="en-GB" altLang="en-US" sz="130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Slide Image Placeholder 1"/>
          <p:cNvSpPr>
            <a:spLocks noGrp="1" noRot="1" noChangeAspect="1" noTextEdit="1"/>
          </p:cNvSpPr>
          <p:nvPr>
            <p:ph type="sldImg"/>
          </p:nvPr>
        </p:nvSpPr>
        <p:spPr>
          <a:ln/>
        </p:spPr>
      </p:sp>
      <p:sp>
        <p:nvSpPr>
          <p:cNvPr id="2457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457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A0BB57A-39DF-4218-9737-7CDD3713B88F}" type="slidenum">
              <a:rPr lang="en-GB" altLang="en-US" sz="1300" smtClean="0"/>
              <a:pPr>
                <a:spcBef>
                  <a:spcPct val="0"/>
                </a:spcBef>
              </a:pPr>
              <a:t>122</a:t>
            </a:fld>
            <a:endParaRPr lang="en-GB" altLang="en-US" sz="130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Image Placeholder 1"/>
          <p:cNvSpPr>
            <a:spLocks noGrp="1" noRot="1" noChangeAspect="1" noTextEdit="1"/>
          </p:cNvSpPr>
          <p:nvPr>
            <p:ph type="sldImg"/>
          </p:nvPr>
        </p:nvSpPr>
        <p:spPr>
          <a:ln/>
        </p:spPr>
      </p:sp>
      <p:sp>
        <p:nvSpPr>
          <p:cNvPr id="2478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478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AFE14B6-016F-47D1-9EB2-3ED8B135FE21}" type="slidenum">
              <a:rPr lang="en-GB" altLang="en-US" sz="1300" smtClean="0"/>
              <a:pPr>
                <a:spcBef>
                  <a:spcPct val="0"/>
                </a:spcBef>
              </a:pPr>
              <a:t>123</a:t>
            </a:fld>
            <a:endParaRPr lang="en-GB" altLang="en-US" sz="130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Slide Image Placeholder 1"/>
          <p:cNvSpPr>
            <a:spLocks noGrp="1" noRot="1" noChangeAspect="1" noTextEdit="1"/>
          </p:cNvSpPr>
          <p:nvPr>
            <p:ph type="sldImg"/>
          </p:nvPr>
        </p:nvSpPr>
        <p:spPr>
          <a:ln/>
        </p:spPr>
      </p:sp>
      <p:sp>
        <p:nvSpPr>
          <p:cNvPr id="2498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498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33A8992-9B62-42C1-BFDA-75F7C5554BF4}" type="slidenum">
              <a:rPr lang="en-GB" altLang="en-US" sz="1300" smtClean="0"/>
              <a:pPr>
                <a:spcBef>
                  <a:spcPct val="0"/>
                </a:spcBef>
              </a:pPr>
              <a:t>124</a:t>
            </a:fld>
            <a:endParaRPr lang="en-GB" altLang="en-US" sz="130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Slide Image Placeholder 1"/>
          <p:cNvSpPr>
            <a:spLocks noGrp="1" noRot="1" noChangeAspect="1" noTextEdit="1"/>
          </p:cNvSpPr>
          <p:nvPr>
            <p:ph type="sldImg"/>
          </p:nvPr>
        </p:nvSpPr>
        <p:spPr>
          <a:ln/>
        </p:spPr>
      </p:sp>
      <p:sp>
        <p:nvSpPr>
          <p:cNvPr id="2519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519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9D3923F-0771-4BD9-8AAE-BA7BBEC89EC6}" type="slidenum">
              <a:rPr lang="en-GB" altLang="en-US" sz="1300" smtClean="0"/>
              <a:pPr>
                <a:spcBef>
                  <a:spcPct val="0"/>
                </a:spcBef>
              </a:pPr>
              <a:t>125</a:t>
            </a:fld>
            <a:endParaRPr lang="en-GB" altLang="en-US" sz="130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Slide Image Placeholder 1"/>
          <p:cNvSpPr>
            <a:spLocks noGrp="1" noRot="1" noChangeAspect="1" noTextEdit="1"/>
          </p:cNvSpPr>
          <p:nvPr>
            <p:ph type="sldImg"/>
          </p:nvPr>
        </p:nvSpPr>
        <p:spPr>
          <a:ln/>
        </p:spPr>
      </p:sp>
      <p:sp>
        <p:nvSpPr>
          <p:cNvPr id="2539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539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9FF7C97-CBBB-4DEA-9184-A66DB0EED52A}" type="slidenum">
              <a:rPr lang="en-GB" altLang="en-US" sz="1300" smtClean="0"/>
              <a:pPr>
                <a:spcBef>
                  <a:spcPct val="0"/>
                </a:spcBef>
              </a:pPr>
              <a:t>126</a:t>
            </a:fld>
            <a:endParaRPr lang="en-GB" altLang="en-US" sz="130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Slide Image Placeholder 1"/>
          <p:cNvSpPr>
            <a:spLocks noGrp="1" noRot="1" noChangeAspect="1" noTextEdit="1"/>
          </p:cNvSpPr>
          <p:nvPr>
            <p:ph type="sldImg"/>
          </p:nvPr>
        </p:nvSpPr>
        <p:spPr>
          <a:ln/>
        </p:spPr>
      </p:sp>
      <p:sp>
        <p:nvSpPr>
          <p:cNvPr id="2560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560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5F510C2-4CCC-4FFA-A6E8-5988D058FC22}" type="slidenum">
              <a:rPr lang="en-GB" altLang="en-US" sz="1300" smtClean="0"/>
              <a:pPr>
                <a:spcBef>
                  <a:spcPct val="0"/>
                </a:spcBef>
              </a:pPr>
              <a:t>127</a:t>
            </a:fld>
            <a:endParaRPr lang="en-GB" altLang="en-US" sz="130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Slide Image Placeholder 1"/>
          <p:cNvSpPr>
            <a:spLocks noGrp="1" noRot="1" noChangeAspect="1" noTextEdit="1"/>
          </p:cNvSpPr>
          <p:nvPr>
            <p:ph type="sldImg"/>
          </p:nvPr>
        </p:nvSpPr>
        <p:spPr>
          <a:ln/>
        </p:spPr>
      </p:sp>
      <p:sp>
        <p:nvSpPr>
          <p:cNvPr id="2580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580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B6119D5-3705-4AF9-8296-B9EBD21B1B23}" type="slidenum">
              <a:rPr lang="en-GB" altLang="en-US" sz="1300" smtClean="0"/>
              <a:pPr>
                <a:spcBef>
                  <a:spcPct val="0"/>
                </a:spcBef>
              </a:pPr>
              <a:t>128</a:t>
            </a:fld>
            <a:endParaRPr lang="en-GB" altLang="en-US" sz="130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Slide Image Placeholder 1"/>
          <p:cNvSpPr>
            <a:spLocks noGrp="1" noRot="1" noChangeAspect="1" noTextEdit="1"/>
          </p:cNvSpPr>
          <p:nvPr>
            <p:ph type="sldImg"/>
          </p:nvPr>
        </p:nvSpPr>
        <p:spPr>
          <a:ln/>
        </p:spPr>
      </p:sp>
      <p:sp>
        <p:nvSpPr>
          <p:cNvPr id="260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60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BED6E1E-A7EB-477A-9C09-8BB0B1BD0AC4}" type="slidenum">
              <a:rPr lang="en-GB" altLang="en-US" sz="1300" smtClean="0"/>
              <a:pPr>
                <a:spcBef>
                  <a:spcPct val="0"/>
                </a:spcBef>
              </a:pPr>
              <a:t>129</a:t>
            </a:fld>
            <a:endParaRPr lang="en-GB" altLang="en-US" sz="130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Slide Image Placeholder 1"/>
          <p:cNvSpPr>
            <a:spLocks noGrp="1" noRot="1" noChangeAspect="1" noTextEdit="1"/>
          </p:cNvSpPr>
          <p:nvPr>
            <p:ph type="sldImg"/>
          </p:nvPr>
        </p:nvSpPr>
        <p:spPr>
          <a:ln/>
        </p:spPr>
      </p:sp>
      <p:sp>
        <p:nvSpPr>
          <p:cNvPr id="262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62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8D198F0-4F29-45CA-B5F1-05E7644AF6F0}" type="slidenum">
              <a:rPr lang="en-GB" altLang="en-US" sz="1300" smtClean="0"/>
              <a:pPr>
                <a:spcBef>
                  <a:spcPct val="0"/>
                </a:spcBef>
              </a:pPr>
              <a:t>130</a:t>
            </a:fld>
            <a:endParaRPr lang="en-GB" altLang="en-US" sz="130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Slide Image Placeholder 1"/>
          <p:cNvSpPr>
            <a:spLocks noGrp="1" noRot="1" noChangeAspect="1" noTextEdit="1"/>
          </p:cNvSpPr>
          <p:nvPr>
            <p:ph type="sldImg"/>
          </p:nvPr>
        </p:nvSpPr>
        <p:spPr>
          <a:ln/>
        </p:spPr>
      </p:sp>
      <p:sp>
        <p:nvSpPr>
          <p:cNvPr id="264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64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35328F4-8524-4616-BBD1-5C1D076FA752}" type="slidenum">
              <a:rPr lang="en-GB" altLang="en-US" sz="1300" smtClean="0"/>
              <a:pPr>
                <a:spcBef>
                  <a:spcPct val="0"/>
                </a:spcBef>
              </a:pPr>
              <a:t>131</a:t>
            </a:fld>
            <a:endParaRPr lang="en-GB" altLang="en-US" sz="130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Slide Image Placeholder 1"/>
          <p:cNvSpPr>
            <a:spLocks noGrp="1" noRot="1" noChangeAspect="1" noTextEdit="1"/>
          </p:cNvSpPr>
          <p:nvPr>
            <p:ph type="sldImg"/>
          </p:nvPr>
        </p:nvSpPr>
        <p:spPr>
          <a:ln/>
        </p:spPr>
      </p:sp>
      <p:sp>
        <p:nvSpPr>
          <p:cNvPr id="266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66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0E61391-FF7E-4D40-AA92-1CEA9026E4FE}" type="slidenum">
              <a:rPr lang="en-GB" altLang="en-US" sz="1300" smtClean="0"/>
              <a:pPr>
                <a:spcBef>
                  <a:spcPct val="0"/>
                </a:spcBef>
              </a:pPr>
              <a:t>132</a:t>
            </a:fld>
            <a:endParaRPr lang="en-GB" altLang="en-US" sz="130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Slide Image Placeholder 1"/>
          <p:cNvSpPr>
            <a:spLocks noGrp="1" noRot="1" noChangeAspect="1" noTextEdit="1"/>
          </p:cNvSpPr>
          <p:nvPr>
            <p:ph type="sldImg"/>
          </p:nvPr>
        </p:nvSpPr>
        <p:spPr>
          <a:ln/>
        </p:spPr>
      </p:sp>
      <p:sp>
        <p:nvSpPr>
          <p:cNvPr id="268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68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B017582-B429-4F42-B8F8-ABD3DF13F967}" type="slidenum">
              <a:rPr lang="en-GB" altLang="en-US" sz="1300" smtClean="0"/>
              <a:pPr>
                <a:spcBef>
                  <a:spcPct val="0"/>
                </a:spcBef>
              </a:pPr>
              <a:t>133</a:t>
            </a:fld>
            <a:endParaRPr lang="en-GB" altLang="en-US" sz="130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Slide Image Placeholder 1"/>
          <p:cNvSpPr>
            <a:spLocks noGrp="1" noRot="1" noChangeAspect="1" noTextEdit="1"/>
          </p:cNvSpPr>
          <p:nvPr>
            <p:ph type="sldImg"/>
          </p:nvPr>
        </p:nvSpPr>
        <p:spPr>
          <a:ln/>
        </p:spPr>
      </p:sp>
      <p:sp>
        <p:nvSpPr>
          <p:cNvPr id="270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70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2AEB56D-A369-4D44-9995-47723AF7E84B}" type="slidenum">
              <a:rPr lang="en-GB" altLang="en-US" sz="1300" smtClean="0"/>
              <a:pPr>
                <a:spcBef>
                  <a:spcPct val="0"/>
                </a:spcBef>
              </a:pPr>
              <a:t>134</a:t>
            </a:fld>
            <a:endParaRPr lang="en-GB" altLang="en-US" sz="130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Slide Image Placeholder 1"/>
          <p:cNvSpPr>
            <a:spLocks noGrp="1" noRot="1" noChangeAspect="1" noTextEdit="1"/>
          </p:cNvSpPr>
          <p:nvPr>
            <p:ph type="sldImg"/>
          </p:nvPr>
        </p:nvSpPr>
        <p:spPr>
          <a:ln/>
        </p:spPr>
      </p:sp>
      <p:sp>
        <p:nvSpPr>
          <p:cNvPr id="272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72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CB15A0E-7291-46A4-96C6-2C95A0C2A0E4}" type="slidenum">
              <a:rPr lang="en-GB" altLang="en-US" sz="1300" smtClean="0"/>
              <a:pPr>
                <a:spcBef>
                  <a:spcPct val="0"/>
                </a:spcBef>
              </a:pPr>
              <a:t>135</a:t>
            </a:fld>
            <a:endParaRPr lang="en-GB" altLang="en-US" sz="130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Slide Image Placeholder 1"/>
          <p:cNvSpPr>
            <a:spLocks noGrp="1" noRot="1" noChangeAspect="1" noTextEdit="1"/>
          </p:cNvSpPr>
          <p:nvPr>
            <p:ph type="sldImg"/>
          </p:nvPr>
        </p:nvSpPr>
        <p:spPr>
          <a:ln/>
        </p:spPr>
      </p:sp>
      <p:sp>
        <p:nvSpPr>
          <p:cNvPr id="274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74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9561F12-CD71-4C81-8A08-7AFF9FFFD3E1}" type="slidenum">
              <a:rPr lang="en-GB" altLang="en-US" sz="1300" smtClean="0"/>
              <a:pPr>
                <a:spcBef>
                  <a:spcPct val="0"/>
                </a:spcBef>
              </a:pPr>
              <a:t>136</a:t>
            </a:fld>
            <a:endParaRPr lang="en-GB" altLang="en-US" sz="130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Slide Image Placeholder 1"/>
          <p:cNvSpPr>
            <a:spLocks noGrp="1" noRot="1" noChangeAspect="1" noTextEdit="1"/>
          </p:cNvSpPr>
          <p:nvPr>
            <p:ph type="sldImg"/>
          </p:nvPr>
        </p:nvSpPr>
        <p:spPr>
          <a:ln/>
        </p:spPr>
      </p:sp>
      <p:sp>
        <p:nvSpPr>
          <p:cNvPr id="276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76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60FB2EF-8398-4768-BEC8-F20D0A88BC01}" type="slidenum">
              <a:rPr lang="en-GB" altLang="en-US" sz="1300" smtClean="0"/>
              <a:pPr>
                <a:spcBef>
                  <a:spcPct val="0"/>
                </a:spcBef>
              </a:pPr>
              <a:t>137</a:t>
            </a:fld>
            <a:endParaRPr lang="en-GB" altLang="en-US" sz="130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Slide Image Placeholder 1"/>
          <p:cNvSpPr>
            <a:spLocks noGrp="1" noRot="1" noChangeAspect="1" noTextEdit="1"/>
          </p:cNvSpPr>
          <p:nvPr>
            <p:ph type="sldImg"/>
          </p:nvPr>
        </p:nvSpPr>
        <p:spPr>
          <a:ln/>
        </p:spPr>
      </p:sp>
      <p:sp>
        <p:nvSpPr>
          <p:cNvPr id="278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78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2D56373-59B7-4273-9155-B0C7D5DDB409}" type="slidenum">
              <a:rPr lang="en-GB" altLang="en-US" sz="1300" smtClean="0"/>
              <a:pPr>
                <a:spcBef>
                  <a:spcPct val="0"/>
                </a:spcBef>
              </a:pPr>
              <a:t>138</a:t>
            </a:fld>
            <a:endParaRPr lang="en-GB" altLang="en-US" sz="130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Slide Image Placeholder 1"/>
          <p:cNvSpPr>
            <a:spLocks noGrp="1" noRot="1" noChangeAspect="1" noTextEdit="1"/>
          </p:cNvSpPr>
          <p:nvPr>
            <p:ph type="sldImg"/>
          </p:nvPr>
        </p:nvSpPr>
        <p:spPr>
          <a:ln/>
        </p:spPr>
      </p:sp>
      <p:sp>
        <p:nvSpPr>
          <p:cNvPr id="280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80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071DCDA-43DF-4609-B315-AB66CB24568B}" type="slidenum">
              <a:rPr lang="en-GB" altLang="en-US" sz="1300" smtClean="0"/>
              <a:pPr>
                <a:spcBef>
                  <a:spcPct val="0"/>
                </a:spcBef>
              </a:pPr>
              <a:t>139</a:t>
            </a:fld>
            <a:endParaRPr lang="en-GB" altLang="en-US" sz="130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Slide Image Placeholder 1"/>
          <p:cNvSpPr>
            <a:spLocks noGrp="1" noRot="1" noChangeAspect="1" noTextEdit="1"/>
          </p:cNvSpPr>
          <p:nvPr>
            <p:ph type="sldImg"/>
          </p:nvPr>
        </p:nvSpPr>
        <p:spPr>
          <a:ln/>
        </p:spPr>
      </p:sp>
      <p:sp>
        <p:nvSpPr>
          <p:cNvPr id="282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82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48AF342-195A-4086-A556-BE245940ABCD}" type="slidenum">
              <a:rPr lang="en-GB" altLang="en-US" sz="1300" smtClean="0"/>
              <a:pPr>
                <a:spcBef>
                  <a:spcPct val="0"/>
                </a:spcBef>
              </a:pPr>
              <a:t>140</a:t>
            </a:fld>
            <a:endParaRPr lang="en-GB" altLang="en-US" sz="130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Slide Image Placeholder 1"/>
          <p:cNvSpPr>
            <a:spLocks noGrp="1" noRot="1" noChangeAspect="1" noTextEdit="1"/>
          </p:cNvSpPr>
          <p:nvPr>
            <p:ph type="sldImg"/>
          </p:nvPr>
        </p:nvSpPr>
        <p:spPr>
          <a:ln/>
        </p:spPr>
      </p:sp>
      <p:sp>
        <p:nvSpPr>
          <p:cNvPr id="284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84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B621E27-F349-452C-950E-B85FDBE9A2D4}" type="slidenum">
              <a:rPr lang="en-GB" altLang="en-US" sz="1300" smtClean="0"/>
              <a:pPr>
                <a:spcBef>
                  <a:spcPct val="0"/>
                </a:spcBef>
              </a:pPr>
              <a:t>141</a:t>
            </a:fld>
            <a:endParaRPr lang="en-GB" altLang="en-US" sz="130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Slide Image Placeholder 1"/>
          <p:cNvSpPr>
            <a:spLocks noGrp="1" noRot="1" noChangeAspect="1" noTextEdit="1"/>
          </p:cNvSpPr>
          <p:nvPr>
            <p:ph type="sldImg"/>
          </p:nvPr>
        </p:nvSpPr>
        <p:spPr>
          <a:ln/>
        </p:spPr>
      </p:sp>
      <p:sp>
        <p:nvSpPr>
          <p:cNvPr id="286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86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6FD0235-7DF7-4277-8FF4-29948CA8845F}" type="slidenum">
              <a:rPr lang="en-GB" altLang="en-US" sz="1300" smtClean="0"/>
              <a:pPr>
                <a:spcBef>
                  <a:spcPct val="0"/>
                </a:spcBef>
              </a:pPr>
              <a:t>142</a:t>
            </a:fld>
            <a:endParaRPr lang="en-GB" altLang="en-US" sz="130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Slide Image Placeholder 1"/>
          <p:cNvSpPr>
            <a:spLocks noGrp="1" noRot="1" noChangeAspect="1" noTextEdit="1"/>
          </p:cNvSpPr>
          <p:nvPr>
            <p:ph type="sldImg"/>
          </p:nvPr>
        </p:nvSpPr>
        <p:spPr>
          <a:ln/>
        </p:spPr>
      </p:sp>
      <p:sp>
        <p:nvSpPr>
          <p:cNvPr id="288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88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E68B9FD-EFC5-4F2A-A0D6-B2103C32CC9E}" type="slidenum">
              <a:rPr lang="en-GB" altLang="en-US" sz="1300" smtClean="0"/>
              <a:pPr>
                <a:spcBef>
                  <a:spcPct val="0"/>
                </a:spcBef>
              </a:pPr>
              <a:t>143</a:t>
            </a:fld>
            <a:endParaRPr lang="en-GB" altLang="en-US" sz="130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Slide Image Placeholder 1"/>
          <p:cNvSpPr>
            <a:spLocks noGrp="1" noRot="1" noChangeAspect="1" noTextEdit="1"/>
          </p:cNvSpPr>
          <p:nvPr>
            <p:ph type="sldImg"/>
          </p:nvPr>
        </p:nvSpPr>
        <p:spPr>
          <a:ln/>
        </p:spPr>
      </p:sp>
      <p:sp>
        <p:nvSpPr>
          <p:cNvPr id="290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90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EE1E894-EC47-4961-80BB-C833459CAB35}" type="slidenum">
              <a:rPr lang="en-GB" altLang="en-US" sz="1300" smtClean="0"/>
              <a:pPr>
                <a:spcBef>
                  <a:spcPct val="0"/>
                </a:spcBef>
              </a:pPr>
              <a:t>144</a:t>
            </a:fld>
            <a:endParaRPr lang="en-GB" altLang="en-US" sz="130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Slide Image Placeholder 1"/>
          <p:cNvSpPr>
            <a:spLocks noGrp="1" noRot="1" noChangeAspect="1" noTextEdit="1"/>
          </p:cNvSpPr>
          <p:nvPr>
            <p:ph type="sldImg"/>
          </p:nvPr>
        </p:nvSpPr>
        <p:spPr>
          <a:ln/>
        </p:spPr>
      </p:sp>
      <p:sp>
        <p:nvSpPr>
          <p:cNvPr id="292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92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CE90FC2-2314-4CCE-BA53-83A564F79C4B}" type="slidenum">
              <a:rPr lang="en-GB" altLang="en-US" sz="1300" smtClean="0"/>
              <a:pPr>
                <a:spcBef>
                  <a:spcPct val="0"/>
                </a:spcBef>
              </a:pPr>
              <a:t>145</a:t>
            </a:fld>
            <a:endParaRPr lang="en-GB" altLang="en-US" sz="130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Slide Image Placeholder 1"/>
          <p:cNvSpPr>
            <a:spLocks noGrp="1" noRot="1" noChangeAspect="1" noTextEdit="1"/>
          </p:cNvSpPr>
          <p:nvPr>
            <p:ph type="sldImg"/>
          </p:nvPr>
        </p:nvSpPr>
        <p:spPr>
          <a:ln/>
        </p:spPr>
      </p:sp>
      <p:sp>
        <p:nvSpPr>
          <p:cNvPr id="294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94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B38182C-134F-47D7-8CE7-8EF21C04EB59}" type="slidenum">
              <a:rPr lang="en-GB" altLang="en-US" sz="1300" smtClean="0"/>
              <a:pPr>
                <a:spcBef>
                  <a:spcPct val="0"/>
                </a:spcBef>
              </a:pPr>
              <a:t>146</a:t>
            </a:fld>
            <a:endParaRPr lang="en-GB" altLang="en-US" sz="130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Slide Image Placeholder 1"/>
          <p:cNvSpPr>
            <a:spLocks noGrp="1" noRot="1" noChangeAspect="1" noTextEdit="1"/>
          </p:cNvSpPr>
          <p:nvPr>
            <p:ph type="sldImg"/>
          </p:nvPr>
        </p:nvSpPr>
        <p:spPr>
          <a:ln/>
        </p:spPr>
      </p:sp>
      <p:sp>
        <p:nvSpPr>
          <p:cNvPr id="296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96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B7B1CC2-E981-416A-BFB2-2AA57B34C0E4}" type="slidenum">
              <a:rPr lang="en-GB" altLang="en-US" sz="1300" smtClean="0"/>
              <a:pPr>
                <a:spcBef>
                  <a:spcPct val="0"/>
                </a:spcBef>
              </a:pPr>
              <a:t>147</a:t>
            </a:fld>
            <a:endParaRPr lang="en-GB" altLang="en-US" sz="130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Slide Image Placeholder 1"/>
          <p:cNvSpPr>
            <a:spLocks noGrp="1" noRot="1" noChangeAspect="1" noTextEdit="1"/>
          </p:cNvSpPr>
          <p:nvPr>
            <p:ph type="sldImg"/>
          </p:nvPr>
        </p:nvSpPr>
        <p:spPr>
          <a:ln/>
        </p:spPr>
      </p:sp>
      <p:sp>
        <p:nvSpPr>
          <p:cNvPr id="299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299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0923EEE-81B8-4A26-8196-62BCCC2E0F49}" type="slidenum">
              <a:rPr lang="en-GB" altLang="en-US" sz="1300" smtClean="0"/>
              <a:pPr>
                <a:spcBef>
                  <a:spcPct val="0"/>
                </a:spcBef>
              </a:pPr>
              <a:t>148</a:t>
            </a:fld>
            <a:endParaRPr lang="en-GB" altLang="en-US" sz="130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Slide Image Placeholder 1"/>
          <p:cNvSpPr>
            <a:spLocks noGrp="1" noRot="1" noChangeAspect="1" noTextEdit="1"/>
          </p:cNvSpPr>
          <p:nvPr>
            <p:ph type="sldImg"/>
          </p:nvPr>
        </p:nvSpPr>
        <p:spPr>
          <a:ln/>
        </p:spPr>
      </p:sp>
      <p:sp>
        <p:nvSpPr>
          <p:cNvPr id="301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01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2F78673-62C7-4CA3-9BF1-78E7663AB7BD}" type="slidenum">
              <a:rPr lang="en-GB" altLang="en-US" sz="1300" smtClean="0"/>
              <a:pPr>
                <a:spcBef>
                  <a:spcPct val="0"/>
                </a:spcBef>
              </a:pPr>
              <a:t>149</a:t>
            </a:fld>
            <a:endParaRPr lang="en-GB" altLang="en-US" sz="130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Slide Image Placeholder 1"/>
          <p:cNvSpPr>
            <a:spLocks noGrp="1" noRot="1" noChangeAspect="1" noTextEdit="1"/>
          </p:cNvSpPr>
          <p:nvPr>
            <p:ph type="sldImg"/>
          </p:nvPr>
        </p:nvSpPr>
        <p:spPr>
          <a:ln/>
        </p:spPr>
      </p:sp>
      <p:sp>
        <p:nvSpPr>
          <p:cNvPr id="303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03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6CA6EA2-ED7D-404C-9207-29C4DE9915C1}" type="slidenum">
              <a:rPr lang="en-GB" altLang="en-US" sz="1300" smtClean="0"/>
              <a:pPr>
                <a:spcBef>
                  <a:spcPct val="0"/>
                </a:spcBef>
              </a:pPr>
              <a:t>150</a:t>
            </a:fld>
            <a:endParaRPr lang="en-GB" altLang="en-US" sz="130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TextEdit="1"/>
          </p:cNvSpPr>
          <p:nvPr>
            <p:ph type="sldImg"/>
          </p:nvPr>
        </p:nvSpPr>
        <p:spPr>
          <a:ln/>
        </p:spPr>
      </p:sp>
      <p:sp>
        <p:nvSpPr>
          <p:cNvPr id="305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05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C9695D3-342F-4ED2-A63D-9DE30AC7EE50}" type="slidenum">
              <a:rPr lang="en-GB" altLang="en-US" sz="1300" smtClean="0"/>
              <a:pPr>
                <a:spcBef>
                  <a:spcPct val="0"/>
                </a:spcBef>
              </a:pPr>
              <a:t>151</a:t>
            </a:fld>
            <a:endParaRPr lang="en-GB" altLang="en-US" sz="130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Slide Image Placeholder 1"/>
          <p:cNvSpPr>
            <a:spLocks noGrp="1" noRot="1" noChangeAspect="1" noTextEdit="1"/>
          </p:cNvSpPr>
          <p:nvPr>
            <p:ph type="sldImg"/>
          </p:nvPr>
        </p:nvSpPr>
        <p:spPr>
          <a:ln/>
        </p:spPr>
      </p:sp>
      <p:sp>
        <p:nvSpPr>
          <p:cNvPr id="307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07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A628060-010F-47EB-B908-F08B2FBC3D3B}" type="slidenum">
              <a:rPr lang="en-GB" altLang="en-US" sz="1300" smtClean="0"/>
              <a:pPr>
                <a:spcBef>
                  <a:spcPct val="0"/>
                </a:spcBef>
              </a:pPr>
              <a:t>152</a:t>
            </a:fld>
            <a:endParaRPr lang="en-GB" altLang="en-US" sz="130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Slide Image Placeholder 1"/>
          <p:cNvSpPr>
            <a:spLocks noGrp="1" noRot="1" noChangeAspect="1" noTextEdit="1"/>
          </p:cNvSpPr>
          <p:nvPr>
            <p:ph type="sldImg"/>
          </p:nvPr>
        </p:nvSpPr>
        <p:spPr>
          <a:ln/>
        </p:spPr>
      </p:sp>
      <p:sp>
        <p:nvSpPr>
          <p:cNvPr id="309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09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2700823-2B5A-4D3F-A7A6-C2C6A39DA612}" type="slidenum">
              <a:rPr lang="en-GB" altLang="en-US" sz="1300" smtClean="0"/>
              <a:pPr>
                <a:spcBef>
                  <a:spcPct val="0"/>
                </a:spcBef>
              </a:pPr>
              <a:t>153</a:t>
            </a:fld>
            <a:endParaRPr lang="en-GB" altLang="en-US" sz="130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p:cNvSpPr>
            <a:spLocks noGrp="1" noRot="1" noChangeAspect="1" noTextEdit="1"/>
          </p:cNvSpPr>
          <p:nvPr>
            <p:ph type="sldImg"/>
          </p:nvPr>
        </p:nvSpPr>
        <p:spPr>
          <a:ln/>
        </p:spPr>
      </p:sp>
      <p:sp>
        <p:nvSpPr>
          <p:cNvPr id="311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11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62FB5A9-68E2-470B-80BF-91E3D97C9CCE}" type="slidenum">
              <a:rPr lang="en-GB" altLang="en-US" sz="1300" smtClean="0"/>
              <a:pPr>
                <a:spcBef>
                  <a:spcPct val="0"/>
                </a:spcBef>
              </a:pPr>
              <a:t>154</a:t>
            </a:fld>
            <a:endParaRPr lang="en-GB" altLang="en-US" sz="130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Slide Image Placeholder 1"/>
          <p:cNvSpPr>
            <a:spLocks noGrp="1" noRot="1" noChangeAspect="1" noTextEdit="1"/>
          </p:cNvSpPr>
          <p:nvPr>
            <p:ph type="sldImg"/>
          </p:nvPr>
        </p:nvSpPr>
        <p:spPr>
          <a:ln/>
        </p:spPr>
      </p:sp>
      <p:sp>
        <p:nvSpPr>
          <p:cNvPr id="313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13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A491ED8-C958-46F0-8E67-8628C7070997}" type="slidenum">
              <a:rPr lang="en-GB" altLang="en-US" sz="1300" smtClean="0"/>
              <a:pPr>
                <a:spcBef>
                  <a:spcPct val="0"/>
                </a:spcBef>
              </a:pPr>
              <a:t>155</a:t>
            </a:fld>
            <a:endParaRPr lang="en-GB" altLang="en-US" sz="130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Slide Image Placeholder 1"/>
          <p:cNvSpPr>
            <a:spLocks noGrp="1" noRot="1" noChangeAspect="1" noTextEdit="1"/>
          </p:cNvSpPr>
          <p:nvPr>
            <p:ph type="sldImg"/>
          </p:nvPr>
        </p:nvSpPr>
        <p:spPr>
          <a:ln/>
        </p:spPr>
      </p:sp>
      <p:sp>
        <p:nvSpPr>
          <p:cNvPr id="315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15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781518E-4249-448B-95CF-85B142BC6CD6}" type="slidenum">
              <a:rPr lang="en-GB" altLang="en-US" sz="1300" smtClean="0"/>
              <a:pPr>
                <a:spcBef>
                  <a:spcPct val="0"/>
                </a:spcBef>
              </a:pPr>
              <a:t>156</a:t>
            </a:fld>
            <a:endParaRPr lang="en-GB" altLang="en-US" sz="130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Slide Image Placeholder 1"/>
          <p:cNvSpPr>
            <a:spLocks noGrp="1" noRot="1" noChangeAspect="1" noTextEdit="1"/>
          </p:cNvSpPr>
          <p:nvPr>
            <p:ph type="sldImg"/>
          </p:nvPr>
        </p:nvSpPr>
        <p:spPr>
          <a:ln/>
        </p:spPr>
      </p:sp>
      <p:sp>
        <p:nvSpPr>
          <p:cNvPr id="317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17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2882CC5-8A6F-4D5F-9546-663AEBCFB0C2}" type="slidenum">
              <a:rPr lang="en-GB" altLang="en-US" sz="1300" smtClean="0"/>
              <a:pPr>
                <a:spcBef>
                  <a:spcPct val="0"/>
                </a:spcBef>
              </a:pPr>
              <a:t>157</a:t>
            </a:fld>
            <a:endParaRPr lang="en-GB" altLang="en-US" sz="130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Slide Image Placeholder 1"/>
          <p:cNvSpPr>
            <a:spLocks noGrp="1" noRot="1" noChangeAspect="1" noTextEdit="1"/>
          </p:cNvSpPr>
          <p:nvPr>
            <p:ph type="sldImg"/>
          </p:nvPr>
        </p:nvSpPr>
        <p:spPr>
          <a:ln/>
        </p:spPr>
      </p:sp>
      <p:sp>
        <p:nvSpPr>
          <p:cNvPr id="319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19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4C02123-EE33-400C-A94E-3BE3E590DE2D}" type="slidenum">
              <a:rPr lang="en-GB" altLang="en-US" sz="1300" smtClean="0"/>
              <a:pPr>
                <a:spcBef>
                  <a:spcPct val="0"/>
                </a:spcBef>
              </a:pPr>
              <a:t>158</a:t>
            </a:fld>
            <a:endParaRPr lang="en-GB" altLang="en-US" sz="130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Slide Image Placeholder 1"/>
          <p:cNvSpPr>
            <a:spLocks noGrp="1" noRot="1" noChangeAspect="1" noTextEdit="1"/>
          </p:cNvSpPr>
          <p:nvPr>
            <p:ph type="sldImg"/>
          </p:nvPr>
        </p:nvSpPr>
        <p:spPr>
          <a:ln/>
        </p:spPr>
      </p:sp>
      <p:sp>
        <p:nvSpPr>
          <p:cNvPr id="321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21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B35FD08-202B-4FE7-92C6-499ED2906AA6}" type="slidenum">
              <a:rPr lang="en-GB" altLang="en-US" sz="1300" smtClean="0"/>
              <a:pPr>
                <a:spcBef>
                  <a:spcPct val="0"/>
                </a:spcBef>
              </a:pPr>
              <a:t>159</a:t>
            </a:fld>
            <a:endParaRPr lang="en-GB" altLang="en-US" sz="130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Slide Image Placeholder 1"/>
          <p:cNvSpPr>
            <a:spLocks noGrp="1" noRot="1" noChangeAspect="1" noTextEdit="1"/>
          </p:cNvSpPr>
          <p:nvPr>
            <p:ph type="sldImg"/>
          </p:nvPr>
        </p:nvSpPr>
        <p:spPr>
          <a:ln/>
        </p:spPr>
      </p:sp>
      <p:sp>
        <p:nvSpPr>
          <p:cNvPr id="323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23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7672BCE-EADC-4A78-A024-E5A6407C8E12}" type="slidenum">
              <a:rPr lang="en-GB" altLang="en-US" sz="1300" smtClean="0"/>
              <a:pPr>
                <a:spcBef>
                  <a:spcPct val="0"/>
                </a:spcBef>
              </a:pPr>
              <a:t>160</a:t>
            </a:fld>
            <a:endParaRPr lang="en-GB" altLang="en-US" sz="130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Slide Image Placeholder 1"/>
          <p:cNvSpPr>
            <a:spLocks noGrp="1" noRot="1" noChangeAspect="1" noTextEdit="1"/>
          </p:cNvSpPr>
          <p:nvPr>
            <p:ph type="sldImg"/>
          </p:nvPr>
        </p:nvSpPr>
        <p:spPr>
          <a:ln/>
        </p:spPr>
      </p:sp>
      <p:sp>
        <p:nvSpPr>
          <p:cNvPr id="325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25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3EF51D3-71FD-4AE9-8518-E3662049E547}" type="slidenum">
              <a:rPr lang="en-GB" altLang="en-US" sz="1300" smtClean="0"/>
              <a:pPr>
                <a:spcBef>
                  <a:spcPct val="0"/>
                </a:spcBef>
              </a:pPr>
              <a:t>161</a:t>
            </a:fld>
            <a:endParaRPr lang="en-GB" altLang="en-US" sz="130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Slide Image Placeholder 1"/>
          <p:cNvSpPr>
            <a:spLocks noGrp="1" noRot="1" noChangeAspect="1" noTextEdit="1"/>
          </p:cNvSpPr>
          <p:nvPr>
            <p:ph type="sldImg"/>
          </p:nvPr>
        </p:nvSpPr>
        <p:spPr>
          <a:ln/>
        </p:spPr>
      </p:sp>
      <p:sp>
        <p:nvSpPr>
          <p:cNvPr id="327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27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288B7AE-10FE-4A4E-9681-2435E4873A66}" type="slidenum">
              <a:rPr lang="en-GB" altLang="en-US" sz="1300" smtClean="0"/>
              <a:pPr>
                <a:spcBef>
                  <a:spcPct val="0"/>
                </a:spcBef>
              </a:pPr>
              <a:t>162</a:t>
            </a:fld>
            <a:endParaRPr lang="en-GB" altLang="en-US" sz="130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Slide Image Placeholder 1"/>
          <p:cNvSpPr>
            <a:spLocks noGrp="1" noRot="1" noChangeAspect="1" noTextEdit="1"/>
          </p:cNvSpPr>
          <p:nvPr>
            <p:ph type="sldImg"/>
          </p:nvPr>
        </p:nvSpPr>
        <p:spPr>
          <a:ln/>
        </p:spPr>
      </p:sp>
      <p:sp>
        <p:nvSpPr>
          <p:cNvPr id="329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29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FACB466A-601B-4A7F-864B-FD5C16E3D2E7}" type="slidenum">
              <a:rPr lang="en-US" altLang="en-US" sz="1300" smtClean="0">
                <a:latin typeface="Verdana" panose="020B0604030504040204" pitchFamily="34" charset="0"/>
              </a:rPr>
              <a:pPr eaLnBrk="0" hangingPunct="0">
                <a:spcBef>
                  <a:spcPct val="0"/>
                </a:spcBef>
              </a:pPr>
              <a:t>163</a:t>
            </a:fld>
            <a:endParaRPr lang="en-US" altLang="en-US" sz="1300">
              <a:latin typeface="Verdana" panose="020B0604030504040204" pitchFamily="34" charset="0"/>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Slide Image Placeholder 1"/>
          <p:cNvSpPr>
            <a:spLocks noGrp="1" noRot="1" noChangeAspect="1" noTextEdit="1"/>
          </p:cNvSpPr>
          <p:nvPr>
            <p:ph type="sldImg"/>
          </p:nvPr>
        </p:nvSpPr>
        <p:spPr>
          <a:ln/>
        </p:spPr>
      </p:sp>
      <p:sp>
        <p:nvSpPr>
          <p:cNvPr id="331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31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341751D3-B2CB-438F-9D0D-35D9906C6D25}" type="slidenum">
              <a:rPr lang="en-US" altLang="en-US" sz="1300" smtClean="0">
                <a:latin typeface="Verdana" panose="020B0604030504040204" pitchFamily="34" charset="0"/>
              </a:rPr>
              <a:pPr eaLnBrk="0" hangingPunct="0">
                <a:spcBef>
                  <a:spcPct val="0"/>
                </a:spcBef>
              </a:pPr>
              <a:t>164</a:t>
            </a:fld>
            <a:endParaRPr lang="en-US" altLang="en-US" sz="1300">
              <a:latin typeface="Verdana" panose="020B0604030504040204" pitchFamily="34" charset="0"/>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Slide Image Placeholder 1"/>
          <p:cNvSpPr>
            <a:spLocks noGrp="1" noRot="1" noChangeAspect="1" noTextEdit="1"/>
          </p:cNvSpPr>
          <p:nvPr>
            <p:ph type="sldImg"/>
          </p:nvPr>
        </p:nvSpPr>
        <p:spPr>
          <a:ln/>
        </p:spPr>
      </p:sp>
      <p:sp>
        <p:nvSpPr>
          <p:cNvPr id="333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33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0C92668B-E1E0-40C4-B66C-67AAFAC1853F}" type="slidenum">
              <a:rPr lang="en-US" altLang="en-US" sz="1300" smtClean="0">
                <a:latin typeface="Verdana" panose="020B0604030504040204" pitchFamily="34" charset="0"/>
              </a:rPr>
              <a:pPr eaLnBrk="0" hangingPunct="0">
                <a:spcBef>
                  <a:spcPct val="0"/>
                </a:spcBef>
              </a:pPr>
              <a:t>165</a:t>
            </a:fld>
            <a:endParaRPr lang="en-US" altLang="en-US" sz="1300">
              <a:latin typeface="Verdana" panose="020B0604030504040204" pitchFamily="34" charset="0"/>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Slide Image Placeholder 1"/>
          <p:cNvSpPr>
            <a:spLocks noGrp="1" noRot="1" noChangeAspect="1" noTextEdit="1"/>
          </p:cNvSpPr>
          <p:nvPr>
            <p:ph type="sldImg"/>
          </p:nvPr>
        </p:nvSpPr>
        <p:spPr>
          <a:ln/>
        </p:spPr>
      </p:sp>
      <p:sp>
        <p:nvSpPr>
          <p:cNvPr id="335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35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93F91651-E849-4C17-8587-5C947D95328F}" type="slidenum">
              <a:rPr lang="en-US" altLang="en-US" sz="1300" smtClean="0">
                <a:latin typeface="Verdana" panose="020B0604030504040204" pitchFamily="34" charset="0"/>
              </a:rPr>
              <a:pPr eaLnBrk="0" hangingPunct="0">
                <a:spcBef>
                  <a:spcPct val="0"/>
                </a:spcBef>
              </a:pPr>
              <a:t>166</a:t>
            </a:fld>
            <a:endParaRPr lang="en-US" altLang="en-US" sz="1300">
              <a:latin typeface="Verdana" panose="020B0604030504040204" pitchFamily="34" charset="0"/>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Slide Image Placeholder 1"/>
          <p:cNvSpPr>
            <a:spLocks noGrp="1" noRot="1" noChangeAspect="1" noTextEdit="1"/>
          </p:cNvSpPr>
          <p:nvPr>
            <p:ph type="sldImg"/>
          </p:nvPr>
        </p:nvSpPr>
        <p:spPr>
          <a:ln/>
        </p:spPr>
      </p:sp>
      <p:sp>
        <p:nvSpPr>
          <p:cNvPr id="337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37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534A7C38-D4C8-4677-BE56-E41F4DF877E3}" type="slidenum">
              <a:rPr lang="en-US" altLang="en-US" sz="1300" smtClean="0">
                <a:latin typeface="Verdana" panose="020B0604030504040204" pitchFamily="34" charset="0"/>
              </a:rPr>
              <a:pPr eaLnBrk="0" hangingPunct="0">
                <a:spcBef>
                  <a:spcPct val="0"/>
                </a:spcBef>
              </a:pPr>
              <a:t>167</a:t>
            </a:fld>
            <a:endParaRPr lang="en-US" altLang="en-US" sz="1300">
              <a:latin typeface="Verdana" panose="020B0604030504040204" pitchFamily="34" charset="0"/>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Slide Image Placeholder 1"/>
          <p:cNvSpPr>
            <a:spLocks noGrp="1" noRot="1" noChangeAspect="1" noTextEdit="1"/>
          </p:cNvSpPr>
          <p:nvPr>
            <p:ph type="sldImg"/>
          </p:nvPr>
        </p:nvSpPr>
        <p:spPr>
          <a:ln/>
        </p:spPr>
      </p:sp>
      <p:sp>
        <p:nvSpPr>
          <p:cNvPr id="339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sl-SI" altLang="en-US">
              <a:latin typeface="Arial" panose="020B0604020202020204" pitchFamily="34" charset="0"/>
              <a:cs typeface="Arial" panose="020B0604020202020204" pitchFamily="34" charset="0"/>
            </a:endParaRPr>
          </a:p>
        </p:txBody>
      </p:sp>
      <p:sp>
        <p:nvSpPr>
          <p:cNvPr id="339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A1B1DBC-545F-4F88-86D8-04C2CE14EEAA}" type="slidenum">
              <a:rPr lang="en-GB" altLang="en-US" sz="1300" smtClean="0">
                <a:latin typeface="Times New Roman" panose="02020603050405020304" pitchFamily="18" charset="0"/>
              </a:rPr>
              <a:pPr>
                <a:spcBef>
                  <a:spcPct val="0"/>
                </a:spcBef>
              </a:pPr>
              <a:t>168</a:t>
            </a:fld>
            <a:endParaRPr lang="en-GB" altLang="en-US" sz="1300">
              <a:latin typeface="Times New Roman" panose="02020603050405020304" pitchFamily="18" charset="0"/>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Slide Image Placeholder 1"/>
          <p:cNvSpPr>
            <a:spLocks noGrp="1" noRot="1" noChangeAspect="1" noTextEdit="1"/>
          </p:cNvSpPr>
          <p:nvPr>
            <p:ph type="sldImg"/>
          </p:nvPr>
        </p:nvSpPr>
        <p:spPr>
          <a:ln/>
        </p:spPr>
      </p:sp>
      <p:sp>
        <p:nvSpPr>
          <p:cNvPr id="342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sl-SI" altLang="en-US">
              <a:latin typeface="Arial" panose="020B0604020202020204" pitchFamily="34" charset="0"/>
              <a:cs typeface="Arial" panose="020B0604020202020204" pitchFamily="34" charset="0"/>
            </a:endParaRPr>
          </a:p>
        </p:txBody>
      </p:sp>
      <p:sp>
        <p:nvSpPr>
          <p:cNvPr id="342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B957F31-6C69-4436-BF95-555E4B8F8C04}" type="slidenum">
              <a:rPr lang="en-GB" altLang="en-US" sz="1300" smtClean="0">
                <a:latin typeface="Times New Roman" panose="02020603050405020304" pitchFamily="18" charset="0"/>
              </a:rPr>
              <a:pPr>
                <a:spcBef>
                  <a:spcPct val="0"/>
                </a:spcBef>
              </a:pPr>
              <a:t>169</a:t>
            </a:fld>
            <a:endParaRPr lang="en-GB" altLang="en-US" sz="1300">
              <a:latin typeface="Times New Roman" panose="02020603050405020304" pitchFamily="18" charset="0"/>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Slide Image Placeholder 1"/>
          <p:cNvSpPr>
            <a:spLocks noGrp="1" noRot="1" noChangeAspect="1" noTextEdit="1"/>
          </p:cNvSpPr>
          <p:nvPr>
            <p:ph type="sldImg"/>
          </p:nvPr>
        </p:nvSpPr>
        <p:spPr>
          <a:ln/>
        </p:spPr>
      </p:sp>
      <p:sp>
        <p:nvSpPr>
          <p:cNvPr id="344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sl-SI" altLang="en-US">
              <a:latin typeface="Arial" panose="020B0604020202020204" pitchFamily="34" charset="0"/>
              <a:cs typeface="Arial" panose="020B0604020202020204" pitchFamily="34" charset="0"/>
            </a:endParaRPr>
          </a:p>
        </p:txBody>
      </p:sp>
      <p:sp>
        <p:nvSpPr>
          <p:cNvPr id="344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7556EB4-CC84-4A5A-8421-D2BF4D4A3636}" type="slidenum">
              <a:rPr lang="en-GB" altLang="en-US" sz="1300" smtClean="0">
                <a:latin typeface="Times New Roman" panose="02020603050405020304" pitchFamily="18" charset="0"/>
              </a:rPr>
              <a:pPr>
                <a:spcBef>
                  <a:spcPct val="0"/>
                </a:spcBef>
              </a:pPr>
              <a:t>170</a:t>
            </a:fld>
            <a:endParaRPr lang="en-GB" altLang="en-US" sz="1300">
              <a:latin typeface="Times New Roman" panose="02020603050405020304" pitchFamily="18" charset="0"/>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Image Placeholder 1"/>
          <p:cNvSpPr>
            <a:spLocks noGrp="1" noRot="1" noChangeAspect="1" noTextEdit="1"/>
          </p:cNvSpPr>
          <p:nvPr>
            <p:ph type="sldImg"/>
          </p:nvPr>
        </p:nvSpPr>
        <p:spPr>
          <a:ln/>
        </p:spPr>
      </p:sp>
      <p:sp>
        <p:nvSpPr>
          <p:cNvPr id="3461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sl-SI" altLang="en-US">
              <a:latin typeface="Arial" panose="020B0604020202020204" pitchFamily="34" charset="0"/>
              <a:cs typeface="Arial" panose="020B0604020202020204" pitchFamily="34" charset="0"/>
            </a:endParaRPr>
          </a:p>
        </p:txBody>
      </p:sp>
      <p:sp>
        <p:nvSpPr>
          <p:cNvPr id="346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7B39DBF-4C16-40FF-ABEF-310D1A0E8CD7}" type="slidenum">
              <a:rPr lang="en-GB" altLang="en-US" sz="1300" smtClean="0">
                <a:latin typeface="Times New Roman" panose="02020603050405020304" pitchFamily="18" charset="0"/>
              </a:rPr>
              <a:pPr>
                <a:spcBef>
                  <a:spcPct val="0"/>
                </a:spcBef>
              </a:pPr>
              <a:t>171</a:t>
            </a:fld>
            <a:endParaRPr lang="en-GB" altLang="en-US" sz="1300">
              <a:latin typeface="Times New Roman" panose="02020603050405020304" pitchFamily="18" charset="0"/>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Slide Image Placeholder 1"/>
          <p:cNvSpPr>
            <a:spLocks noGrp="1" noRot="1" noChangeAspect="1" noTextEdit="1"/>
          </p:cNvSpPr>
          <p:nvPr>
            <p:ph type="sldImg"/>
          </p:nvPr>
        </p:nvSpPr>
        <p:spPr>
          <a:ln/>
        </p:spPr>
      </p:sp>
      <p:sp>
        <p:nvSpPr>
          <p:cNvPr id="348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sl-SI" altLang="en-US">
              <a:latin typeface="Arial" panose="020B0604020202020204" pitchFamily="34" charset="0"/>
              <a:cs typeface="Arial" panose="020B0604020202020204" pitchFamily="34" charset="0"/>
            </a:endParaRPr>
          </a:p>
        </p:txBody>
      </p:sp>
      <p:sp>
        <p:nvSpPr>
          <p:cNvPr id="3481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A213B27-77E9-458B-B153-85F4890C55DD}" type="slidenum">
              <a:rPr lang="en-GB" altLang="en-US" sz="1300" smtClean="0">
                <a:latin typeface="Times New Roman" panose="02020603050405020304" pitchFamily="18" charset="0"/>
              </a:rPr>
              <a:pPr>
                <a:spcBef>
                  <a:spcPct val="0"/>
                </a:spcBef>
              </a:pPr>
              <a:t>172</a:t>
            </a:fld>
            <a:endParaRPr lang="en-GB" altLang="en-US" sz="1300">
              <a:latin typeface="Times New Roman" panose="02020603050405020304" pitchFamily="18" charset="0"/>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Slide Image Placeholder 1"/>
          <p:cNvSpPr>
            <a:spLocks noGrp="1" noRot="1" noChangeAspect="1" noTextEdit="1"/>
          </p:cNvSpPr>
          <p:nvPr>
            <p:ph type="sldImg"/>
          </p:nvPr>
        </p:nvSpPr>
        <p:spPr>
          <a:ln/>
        </p:spPr>
      </p:sp>
      <p:sp>
        <p:nvSpPr>
          <p:cNvPr id="350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sl-SI" altLang="en-US">
              <a:latin typeface="Arial" panose="020B0604020202020204" pitchFamily="34" charset="0"/>
              <a:cs typeface="Arial" panose="020B0604020202020204" pitchFamily="34" charset="0"/>
            </a:endParaRPr>
          </a:p>
        </p:txBody>
      </p:sp>
      <p:sp>
        <p:nvSpPr>
          <p:cNvPr id="3502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84D0B30-DFE2-45C4-AA7E-51577C197D2E}" type="slidenum">
              <a:rPr lang="en-GB" altLang="en-US" sz="1300" smtClean="0">
                <a:latin typeface="Times New Roman" panose="02020603050405020304" pitchFamily="18" charset="0"/>
              </a:rPr>
              <a:pPr>
                <a:spcBef>
                  <a:spcPct val="0"/>
                </a:spcBef>
              </a:pPr>
              <a:t>173</a:t>
            </a:fld>
            <a:endParaRPr lang="en-GB" altLang="en-US" sz="1300">
              <a:latin typeface="Times New Roman" panose="02020603050405020304" pitchFamily="18" charset="0"/>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Slide Image Placeholder 1"/>
          <p:cNvSpPr>
            <a:spLocks noGrp="1" noRot="1" noChangeAspect="1" noTextEdit="1"/>
          </p:cNvSpPr>
          <p:nvPr>
            <p:ph type="sldImg"/>
          </p:nvPr>
        </p:nvSpPr>
        <p:spPr>
          <a:ln/>
        </p:spPr>
      </p:sp>
      <p:sp>
        <p:nvSpPr>
          <p:cNvPr id="352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sl-SI" altLang="en-US">
              <a:latin typeface="Arial" panose="020B0604020202020204" pitchFamily="34" charset="0"/>
              <a:cs typeface="Arial" panose="020B0604020202020204" pitchFamily="34" charset="0"/>
            </a:endParaRPr>
          </a:p>
        </p:txBody>
      </p:sp>
      <p:sp>
        <p:nvSpPr>
          <p:cNvPr id="352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CA4ABA3-E257-4EAB-9022-5CA365D678BE}" type="slidenum">
              <a:rPr lang="en-GB" altLang="en-US" sz="1300" smtClean="0">
                <a:latin typeface="Times New Roman" panose="02020603050405020304" pitchFamily="18" charset="0"/>
              </a:rPr>
              <a:pPr>
                <a:spcBef>
                  <a:spcPct val="0"/>
                </a:spcBef>
              </a:pPr>
              <a:t>174</a:t>
            </a:fld>
            <a:endParaRPr lang="en-GB" altLang="en-US" sz="1300">
              <a:latin typeface="Times New Roman" panose="02020603050405020304" pitchFamily="18" charset="0"/>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Slide Image Placeholder 1"/>
          <p:cNvSpPr>
            <a:spLocks noGrp="1" noRot="1" noChangeAspect="1" noTextEdit="1"/>
          </p:cNvSpPr>
          <p:nvPr>
            <p:ph type="sldImg"/>
          </p:nvPr>
        </p:nvSpPr>
        <p:spPr>
          <a:ln/>
        </p:spPr>
      </p:sp>
      <p:sp>
        <p:nvSpPr>
          <p:cNvPr id="354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54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3A207EE1-96C5-497C-BE52-4017B7D23896}" type="slidenum">
              <a:rPr lang="en-US" altLang="en-US" sz="1300" smtClean="0">
                <a:latin typeface="Verdana" panose="020B0604030504040204" pitchFamily="34" charset="0"/>
              </a:rPr>
              <a:pPr eaLnBrk="0" hangingPunct="0">
                <a:spcBef>
                  <a:spcPct val="0"/>
                </a:spcBef>
              </a:pPr>
              <a:t>175</a:t>
            </a:fld>
            <a:endParaRPr lang="en-US" altLang="en-US" sz="1300">
              <a:latin typeface="Verdana" panose="020B0604030504040204" pitchFamily="34" charset="0"/>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Slide Image Placeholder 1"/>
          <p:cNvSpPr>
            <a:spLocks noGrp="1" noRot="1" noChangeAspect="1" noTextEdit="1"/>
          </p:cNvSpPr>
          <p:nvPr>
            <p:ph type="sldImg"/>
          </p:nvPr>
        </p:nvSpPr>
        <p:spPr>
          <a:ln/>
        </p:spPr>
      </p:sp>
      <p:sp>
        <p:nvSpPr>
          <p:cNvPr id="356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56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7C15454B-B5B9-4660-B9FD-E3309E8E9A7E}" type="slidenum">
              <a:rPr lang="en-US" altLang="en-US" sz="1300" smtClean="0">
                <a:latin typeface="Verdana" panose="020B0604030504040204" pitchFamily="34" charset="0"/>
              </a:rPr>
              <a:pPr eaLnBrk="0" hangingPunct="0">
                <a:spcBef>
                  <a:spcPct val="0"/>
                </a:spcBef>
              </a:pPr>
              <a:t>176</a:t>
            </a:fld>
            <a:endParaRPr lang="en-US" altLang="en-US" sz="1300">
              <a:latin typeface="Verdana" panose="020B0604030504040204" pitchFamily="34" charset="0"/>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Slide Image Placeholder 1"/>
          <p:cNvSpPr>
            <a:spLocks noGrp="1" noRot="1" noChangeAspect="1" noTextEdit="1"/>
          </p:cNvSpPr>
          <p:nvPr>
            <p:ph type="sldImg"/>
          </p:nvPr>
        </p:nvSpPr>
        <p:spPr>
          <a:ln/>
        </p:spPr>
      </p:sp>
      <p:sp>
        <p:nvSpPr>
          <p:cNvPr id="358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58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A7CD3076-7782-4065-8E20-4186919AF657}" type="slidenum">
              <a:rPr lang="en-US" altLang="en-US" sz="1300" smtClean="0">
                <a:latin typeface="Verdana" panose="020B0604030504040204" pitchFamily="34" charset="0"/>
              </a:rPr>
              <a:pPr eaLnBrk="0" hangingPunct="0">
                <a:spcBef>
                  <a:spcPct val="0"/>
                </a:spcBef>
              </a:pPr>
              <a:t>177</a:t>
            </a:fld>
            <a:endParaRPr lang="en-US" altLang="en-US" sz="1300">
              <a:latin typeface="Verdana" panose="020B0604030504040204" pitchFamily="34" charset="0"/>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Slide Image Placeholder 1"/>
          <p:cNvSpPr>
            <a:spLocks noGrp="1" noRot="1" noChangeAspect="1" noTextEdit="1"/>
          </p:cNvSpPr>
          <p:nvPr>
            <p:ph type="sldImg"/>
          </p:nvPr>
        </p:nvSpPr>
        <p:spPr>
          <a:ln/>
        </p:spPr>
      </p:sp>
      <p:sp>
        <p:nvSpPr>
          <p:cNvPr id="3604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604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39526A4B-AD95-4788-BC53-7535487B769D}" type="slidenum">
              <a:rPr lang="en-US" altLang="en-US" sz="1300" smtClean="0">
                <a:latin typeface="Verdana" panose="020B0604030504040204" pitchFamily="34" charset="0"/>
              </a:rPr>
              <a:pPr eaLnBrk="0" hangingPunct="0">
                <a:spcBef>
                  <a:spcPct val="0"/>
                </a:spcBef>
              </a:pPr>
              <a:t>178</a:t>
            </a:fld>
            <a:endParaRPr lang="en-US" altLang="en-US" sz="1300">
              <a:latin typeface="Verdana" panose="020B0604030504040204" pitchFamily="34" charset="0"/>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Slide Image Placeholder 1"/>
          <p:cNvSpPr>
            <a:spLocks noGrp="1" noRot="1" noChangeAspect="1" noTextEdit="1"/>
          </p:cNvSpPr>
          <p:nvPr>
            <p:ph type="sldImg"/>
          </p:nvPr>
        </p:nvSpPr>
        <p:spPr>
          <a:ln/>
        </p:spPr>
      </p:sp>
      <p:sp>
        <p:nvSpPr>
          <p:cNvPr id="3624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625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E8DFE7F8-620A-4737-84EA-CAE541F6691A}" type="slidenum">
              <a:rPr lang="en-US" altLang="en-US" sz="1300" smtClean="0">
                <a:latin typeface="Verdana" panose="020B0604030504040204" pitchFamily="34" charset="0"/>
              </a:rPr>
              <a:pPr eaLnBrk="0" hangingPunct="0">
                <a:spcBef>
                  <a:spcPct val="0"/>
                </a:spcBef>
              </a:pPr>
              <a:t>179</a:t>
            </a:fld>
            <a:endParaRPr lang="en-US" altLang="en-US" sz="1300">
              <a:latin typeface="Verdana" panose="020B0604030504040204" pitchFamily="34" charset="0"/>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Slide Image Placeholder 1"/>
          <p:cNvSpPr>
            <a:spLocks noGrp="1" noRot="1" noChangeAspect="1" noTextEdit="1"/>
          </p:cNvSpPr>
          <p:nvPr>
            <p:ph type="sldImg"/>
          </p:nvPr>
        </p:nvSpPr>
        <p:spPr>
          <a:ln/>
        </p:spPr>
      </p:sp>
      <p:sp>
        <p:nvSpPr>
          <p:cNvPr id="364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64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A8CEE010-5A26-4489-87D0-37B79CCCA064}" type="slidenum">
              <a:rPr lang="en-US" altLang="en-US" sz="1300" smtClean="0">
                <a:latin typeface="Verdana" panose="020B0604030504040204" pitchFamily="34" charset="0"/>
              </a:rPr>
              <a:pPr eaLnBrk="0" hangingPunct="0">
                <a:spcBef>
                  <a:spcPct val="0"/>
                </a:spcBef>
              </a:pPr>
              <a:t>180</a:t>
            </a:fld>
            <a:endParaRPr lang="en-US" altLang="en-US" sz="1300">
              <a:latin typeface="Verdana" panose="020B0604030504040204" pitchFamily="34" charset="0"/>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Slide Image Placeholder 1"/>
          <p:cNvSpPr>
            <a:spLocks noGrp="1" noRot="1" noChangeAspect="1" noTextEdit="1"/>
          </p:cNvSpPr>
          <p:nvPr>
            <p:ph type="sldImg"/>
          </p:nvPr>
        </p:nvSpPr>
        <p:spPr>
          <a:ln/>
        </p:spPr>
      </p:sp>
      <p:sp>
        <p:nvSpPr>
          <p:cNvPr id="3665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665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EFA76D14-5A7B-4485-A57B-784AF28E2A9B}" type="slidenum">
              <a:rPr lang="en-US" altLang="en-US" sz="1300" smtClean="0">
                <a:latin typeface="Verdana" panose="020B0604030504040204" pitchFamily="34" charset="0"/>
              </a:rPr>
              <a:pPr eaLnBrk="0" hangingPunct="0">
                <a:spcBef>
                  <a:spcPct val="0"/>
                </a:spcBef>
              </a:pPr>
              <a:t>181</a:t>
            </a:fld>
            <a:endParaRPr lang="en-US" altLang="en-US" sz="1300">
              <a:latin typeface="Verdana" panose="020B0604030504040204" pitchFamily="34" charset="0"/>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Slide Image Placeholder 1"/>
          <p:cNvSpPr>
            <a:spLocks noGrp="1" noRot="1" noChangeAspect="1" noTextEdit="1"/>
          </p:cNvSpPr>
          <p:nvPr>
            <p:ph type="sldImg"/>
          </p:nvPr>
        </p:nvSpPr>
        <p:spPr>
          <a:ln/>
        </p:spPr>
      </p:sp>
      <p:sp>
        <p:nvSpPr>
          <p:cNvPr id="368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68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178E095D-D49F-40BE-A14F-F42B94D1AA02}" type="slidenum">
              <a:rPr lang="en-US" altLang="en-US" sz="1300" smtClean="0">
                <a:latin typeface="Verdana" panose="020B0604030504040204" pitchFamily="34" charset="0"/>
              </a:rPr>
              <a:pPr eaLnBrk="0" hangingPunct="0">
                <a:spcBef>
                  <a:spcPct val="0"/>
                </a:spcBef>
              </a:pPr>
              <a:t>182</a:t>
            </a:fld>
            <a:endParaRPr lang="en-US" altLang="en-US" sz="1300">
              <a:latin typeface="Verdana" panose="020B0604030504040204" pitchFamily="34" charset="0"/>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Slide Image Placeholder 1"/>
          <p:cNvSpPr>
            <a:spLocks noGrp="1" noRot="1" noChangeAspect="1" noTextEdit="1"/>
          </p:cNvSpPr>
          <p:nvPr>
            <p:ph type="sldImg"/>
          </p:nvPr>
        </p:nvSpPr>
        <p:spPr>
          <a:ln/>
        </p:spPr>
      </p:sp>
      <p:sp>
        <p:nvSpPr>
          <p:cNvPr id="3706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706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26D458FB-EF8A-4F76-B4A7-7C36373B3144}" type="slidenum">
              <a:rPr lang="en-US" altLang="en-US" sz="1300" smtClean="0">
                <a:latin typeface="Verdana" panose="020B0604030504040204" pitchFamily="34" charset="0"/>
              </a:rPr>
              <a:pPr eaLnBrk="0" hangingPunct="0">
                <a:spcBef>
                  <a:spcPct val="0"/>
                </a:spcBef>
              </a:pPr>
              <a:t>183</a:t>
            </a:fld>
            <a:endParaRPr lang="en-US" altLang="en-US" sz="1300">
              <a:latin typeface="Verdana" panose="020B0604030504040204" pitchFamily="34" charset="0"/>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Slide Image Placeholder 1"/>
          <p:cNvSpPr>
            <a:spLocks noGrp="1" noRot="1" noChangeAspect="1" noTextEdit="1"/>
          </p:cNvSpPr>
          <p:nvPr>
            <p:ph type="sldImg"/>
          </p:nvPr>
        </p:nvSpPr>
        <p:spPr>
          <a:ln/>
        </p:spPr>
      </p:sp>
      <p:sp>
        <p:nvSpPr>
          <p:cNvPr id="3727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727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D5D5C640-0497-475D-92B6-E99D684A5C55}" type="slidenum">
              <a:rPr lang="en-US" altLang="en-US" sz="1300" smtClean="0">
                <a:latin typeface="Verdana" panose="020B0604030504040204" pitchFamily="34" charset="0"/>
              </a:rPr>
              <a:pPr eaLnBrk="0" hangingPunct="0">
                <a:spcBef>
                  <a:spcPct val="0"/>
                </a:spcBef>
              </a:pPr>
              <a:t>184</a:t>
            </a:fld>
            <a:endParaRPr lang="en-US" altLang="en-US" sz="1300">
              <a:latin typeface="Verdana" panose="020B0604030504040204" pitchFamily="34" charset="0"/>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Slide Image Placeholder 1"/>
          <p:cNvSpPr>
            <a:spLocks noGrp="1" noRot="1" noChangeAspect="1" noTextEdit="1"/>
          </p:cNvSpPr>
          <p:nvPr>
            <p:ph type="sldImg"/>
          </p:nvPr>
        </p:nvSpPr>
        <p:spPr>
          <a:ln/>
        </p:spPr>
      </p:sp>
      <p:sp>
        <p:nvSpPr>
          <p:cNvPr id="374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74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D3809886-ECBB-4780-BC38-E732B9685589}" type="slidenum">
              <a:rPr lang="en-US" altLang="en-US" sz="1300" smtClean="0">
                <a:latin typeface="Verdana" panose="020B0604030504040204" pitchFamily="34" charset="0"/>
              </a:rPr>
              <a:pPr eaLnBrk="0" hangingPunct="0">
                <a:spcBef>
                  <a:spcPct val="0"/>
                </a:spcBef>
              </a:pPr>
              <a:t>185</a:t>
            </a:fld>
            <a:endParaRPr lang="en-US" altLang="en-US" sz="1300">
              <a:latin typeface="Verdana" panose="020B0604030504040204" pitchFamily="34" charset="0"/>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Slide Image Placeholder 1"/>
          <p:cNvSpPr>
            <a:spLocks noGrp="1" noRot="1" noChangeAspect="1" noTextEdit="1"/>
          </p:cNvSpPr>
          <p:nvPr>
            <p:ph type="sldImg"/>
          </p:nvPr>
        </p:nvSpPr>
        <p:spPr>
          <a:ln/>
        </p:spPr>
      </p:sp>
      <p:sp>
        <p:nvSpPr>
          <p:cNvPr id="3768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768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CE1DD88B-6A3F-40B9-91C6-1A75BBF53824}" type="slidenum">
              <a:rPr lang="en-US" altLang="en-US" sz="1300" smtClean="0">
                <a:latin typeface="Verdana" panose="020B0604030504040204" pitchFamily="34" charset="0"/>
              </a:rPr>
              <a:pPr eaLnBrk="0" hangingPunct="0">
                <a:spcBef>
                  <a:spcPct val="0"/>
                </a:spcBef>
              </a:pPr>
              <a:t>186</a:t>
            </a:fld>
            <a:endParaRPr lang="en-US" altLang="en-US" sz="1300">
              <a:latin typeface="Verdana" panose="020B0604030504040204" pitchFamily="34" charset="0"/>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Slide Image Placeholder 1"/>
          <p:cNvSpPr>
            <a:spLocks noGrp="1" noRot="1" noChangeAspect="1" noTextEdit="1"/>
          </p:cNvSpPr>
          <p:nvPr>
            <p:ph type="sldImg"/>
          </p:nvPr>
        </p:nvSpPr>
        <p:spPr>
          <a:ln/>
        </p:spPr>
      </p:sp>
      <p:sp>
        <p:nvSpPr>
          <p:cNvPr id="3788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788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25A889C8-05E6-4E19-8D78-B4251132B49F}" type="slidenum">
              <a:rPr lang="en-US" altLang="en-US" sz="1300" smtClean="0">
                <a:latin typeface="Verdana" panose="020B0604030504040204" pitchFamily="34" charset="0"/>
              </a:rPr>
              <a:pPr eaLnBrk="0" hangingPunct="0">
                <a:spcBef>
                  <a:spcPct val="0"/>
                </a:spcBef>
              </a:pPr>
              <a:t>187</a:t>
            </a:fld>
            <a:endParaRPr lang="en-US" altLang="en-US" sz="1300">
              <a:latin typeface="Verdana" panose="020B0604030504040204" pitchFamily="34" charset="0"/>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Slide Image Placeholder 1"/>
          <p:cNvSpPr>
            <a:spLocks noGrp="1" noRot="1" noChangeAspect="1" noTextEdit="1"/>
          </p:cNvSpPr>
          <p:nvPr>
            <p:ph type="sldImg"/>
          </p:nvPr>
        </p:nvSpPr>
        <p:spPr>
          <a:ln/>
        </p:spPr>
      </p:sp>
      <p:sp>
        <p:nvSpPr>
          <p:cNvPr id="3809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809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677A2596-F1F4-4FDF-9C49-853D9C67DACC}" type="slidenum">
              <a:rPr lang="en-US" altLang="en-US" sz="1300" smtClean="0">
                <a:latin typeface="Verdana" panose="020B0604030504040204" pitchFamily="34" charset="0"/>
              </a:rPr>
              <a:pPr eaLnBrk="0" hangingPunct="0">
                <a:spcBef>
                  <a:spcPct val="0"/>
                </a:spcBef>
              </a:pPr>
              <a:t>188</a:t>
            </a:fld>
            <a:endParaRPr lang="en-US" altLang="en-US" sz="1300">
              <a:latin typeface="Verdana" panose="020B0604030504040204" pitchFamily="34" charset="0"/>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Slide Image Placeholder 1"/>
          <p:cNvSpPr>
            <a:spLocks noGrp="1" noRot="1" noChangeAspect="1" noTextEdit="1"/>
          </p:cNvSpPr>
          <p:nvPr>
            <p:ph type="sldImg"/>
          </p:nvPr>
        </p:nvSpPr>
        <p:spPr>
          <a:ln/>
        </p:spPr>
      </p:sp>
      <p:sp>
        <p:nvSpPr>
          <p:cNvPr id="3829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l-SI" altLang="en-US">
              <a:latin typeface="Arial" panose="020B0604020202020204" pitchFamily="34" charset="0"/>
              <a:cs typeface="Arial" panose="020B0604020202020204" pitchFamily="34" charset="0"/>
            </a:endParaRPr>
          </a:p>
        </p:txBody>
      </p:sp>
      <p:sp>
        <p:nvSpPr>
          <p:cNvPr id="3829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cs typeface="Arial" panose="020B0604020202020204" pitchFamily="34" charset="0"/>
              </a:defRPr>
            </a:lvl1pPr>
            <a:lvl2pPr marL="803275" indent="-307975" defTabSz="987425">
              <a:spcBef>
                <a:spcPct val="30000"/>
              </a:spcBef>
              <a:defRPr sz="1200">
                <a:solidFill>
                  <a:schemeClr val="tx1"/>
                </a:solidFill>
                <a:latin typeface="Arial" panose="020B0604020202020204" pitchFamily="34" charset="0"/>
                <a:cs typeface="Arial" panose="020B0604020202020204" pitchFamily="34" charset="0"/>
              </a:defRPr>
            </a:lvl2pPr>
            <a:lvl3pPr marL="1236663" indent="-246063" defTabSz="987425">
              <a:spcBef>
                <a:spcPct val="30000"/>
              </a:spcBef>
              <a:defRPr sz="1200">
                <a:solidFill>
                  <a:schemeClr val="tx1"/>
                </a:solidFill>
                <a:latin typeface="Arial" panose="020B0604020202020204" pitchFamily="34" charset="0"/>
                <a:cs typeface="Arial" panose="020B0604020202020204" pitchFamily="34" charset="0"/>
              </a:defRPr>
            </a:lvl3pPr>
            <a:lvl4pPr marL="1731963" indent="-246063" defTabSz="987425">
              <a:spcBef>
                <a:spcPct val="30000"/>
              </a:spcBef>
              <a:defRPr sz="1200">
                <a:solidFill>
                  <a:schemeClr val="tx1"/>
                </a:solidFill>
                <a:latin typeface="Arial" panose="020B0604020202020204" pitchFamily="34" charset="0"/>
                <a:cs typeface="Arial" panose="020B0604020202020204" pitchFamily="34" charset="0"/>
              </a:defRPr>
            </a:lvl4pPr>
            <a:lvl5pPr marL="2227263" indent="-246063" defTabSz="987425">
              <a:spcBef>
                <a:spcPct val="30000"/>
              </a:spcBef>
              <a:defRPr sz="1200">
                <a:solidFill>
                  <a:schemeClr val="tx1"/>
                </a:solidFill>
                <a:latin typeface="Arial" panose="020B0604020202020204" pitchFamily="34" charset="0"/>
                <a:cs typeface="Arial" panose="020B0604020202020204" pitchFamily="34" charset="0"/>
              </a:defRPr>
            </a:lvl5pPr>
            <a:lvl6pPr marL="26844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1416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5988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4056063" indent="-246063" defTabSz="98742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CC6061E1-4DA7-457C-9295-A8CFE676B3E6}" type="slidenum">
              <a:rPr lang="en-US" altLang="en-US" sz="1300" smtClean="0">
                <a:latin typeface="Verdana" panose="020B0604030504040204" pitchFamily="34" charset="0"/>
              </a:rPr>
              <a:pPr eaLnBrk="0" hangingPunct="0">
                <a:spcBef>
                  <a:spcPct val="0"/>
                </a:spcBef>
              </a:pPr>
              <a:t>189</a:t>
            </a:fld>
            <a:endParaRPr lang="en-US" altLang="en-US" sz="1300">
              <a:latin typeface="Verdan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5" name="Rectangle 6"/>
          <p:cNvSpPr>
            <a:spLocks noGrp="1" noChangeArrowheads="1"/>
          </p:cNvSpPr>
          <p:nvPr>
            <p:ph type="sldNum" sz="quarter" idx="11"/>
          </p:nvPr>
        </p:nvSpPr>
        <p:spPr>
          <a:ln/>
        </p:spPr>
        <p:txBody>
          <a:bodyPr/>
          <a:lstStyle>
            <a:lvl1pPr>
              <a:defRPr/>
            </a:lvl1pPr>
          </a:lstStyle>
          <a:p>
            <a:pPr>
              <a:defRPr/>
            </a:pPr>
            <a:fld id="{CE9460F3-E88D-4E05-AA68-6BD1B6E6859A}" type="slidenum">
              <a:rPr lang="en-GB" altLang="sl-SI"/>
              <a:pPr>
                <a:defRPr/>
              </a:pPr>
              <a:t>‹#›</a:t>
            </a:fld>
            <a:endParaRPr lang="en-GB" altLang="sl-SI"/>
          </a:p>
        </p:txBody>
      </p:sp>
    </p:spTree>
    <p:extLst>
      <p:ext uri="{BB962C8B-B14F-4D97-AF65-F5344CB8AC3E}">
        <p14:creationId xmlns:p14="http://schemas.microsoft.com/office/powerpoint/2010/main" val="4005317661"/>
      </p:ext>
    </p:extLst>
  </p:cSld>
  <p:clrMapOvr>
    <a:masterClrMapping/>
  </p:clrMapOvr>
  <p:transition>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5" name="Rectangle 6"/>
          <p:cNvSpPr>
            <a:spLocks noGrp="1" noChangeArrowheads="1"/>
          </p:cNvSpPr>
          <p:nvPr>
            <p:ph type="sldNum" sz="quarter" idx="11"/>
          </p:nvPr>
        </p:nvSpPr>
        <p:spPr>
          <a:ln/>
        </p:spPr>
        <p:txBody>
          <a:bodyPr/>
          <a:lstStyle>
            <a:lvl1pPr>
              <a:defRPr/>
            </a:lvl1pPr>
          </a:lstStyle>
          <a:p>
            <a:pPr>
              <a:defRPr/>
            </a:pPr>
            <a:fld id="{C8FC339D-329B-4696-A8FE-8855C5A81096}" type="slidenum">
              <a:rPr lang="en-GB" altLang="sl-SI"/>
              <a:pPr>
                <a:defRPr/>
              </a:pPr>
              <a:t>‹#›</a:t>
            </a:fld>
            <a:endParaRPr lang="en-GB" altLang="sl-SI"/>
          </a:p>
        </p:txBody>
      </p:sp>
    </p:spTree>
    <p:extLst>
      <p:ext uri="{BB962C8B-B14F-4D97-AF65-F5344CB8AC3E}">
        <p14:creationId xmlns:p14="http://schemas.microsoft.com/office/powerpoint/2010/main" val="2142484454"/>
      </p:ext>
    </p:extLst>
  </p:cSld>
  <p:clrMapOvr>
    <a:masterClrMapping/>
  </p:clrMapOvr>
  <p:transition>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5" name="Rectangle 6"/>
          <p:cNvSpPr>
            <a:spLocks noGrp="1" noChangeArrowheads="1"/>
          </p:cNvSpPr>
          <p:nvPr>
            <p:ph type="sldNum" sz="quarter" idx="11"/>
          </p:nvPr>
        </p:nvSpPr>
        <p:spPr>
          <a:ln/>
        </p:spPr>
        <p:txBody>
          <a:bodyPr/>
          <a:lstStyle>
            <a:lvl1pPr>
              <a:defRPr/>
            </a:lvl1pPr>
          </a:lstStyle>
          <a:p>
            <a:pPr>
              <a:defRPr/>
            </a:pPr>
            <a:fld id="{8BE51116-CE81-46E5-A6AB-0AC65365C518}" type="slidenum">
              <a:rPr lang="en-GB" altLang="sl-SI"/>
              <a:pPr>
                <a:defRPr/>
              </a:pPr>
              <a:t>‹#›</a:t>
            </a:fld>
            <a:endParaRPr lang="en-GB" altLang="sl-SI"/>
          </a:p>
        </p:txBody>
      </p:sp>
    </p:spTree>
    <p:extLst>
      <p:ext uri="{BB962C8B-B14F-4D97-AF65-F5344CB8AC3E}">
        <p14:creationId xmlns:p14="http://schemas.microsoft.com/office/powerpoint/2010/main" val="1427533698"/>
      </p:ext>
    </p:extLst>
  </p:cSld>
  <p:clrMapOvr>
    <a:masterClrMapping/>
  </p:clrMapOvr>
  <p:transition>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6" name="Rectangle 6"/>
          <p:cNvSpPr>
            <a:spLocks noGrp="1" noChangeArrowheads="1"/>
          </p:cNvSpPr>
          <p:nvPr>
            <p:ph type="sldNum" sz="quarter" idx="11"/>
          </p:nvPr>
        </p:nvSpPr>
        <p:spPr>
          <a:ln/>
        </p:spPr>
        <p:txBody>
          <a:bodyPr/>
          <a:lstStyle>
            <a:lvl1pPr>
              <a:defRPr/>
            </a:lvl1pPr>
          </a:lstStyle>
          <a:p>
            <a:pPr>
              <a:defRPr/>
            </a:pPr>
            <a:fld id="{69D99E58-7A34-4FE9-94D9-3A1CB438211D}" type="slidenum">
              <a:rPr lang="en-GB" altLang="sl-SI"/>
              <a:pPr>
                <a:defRPr/>
              </a:pPr>
              <a:t>‹#›</a:t>
            </a:fld>
            <a:endParaRPr lang="en-GB" altLang="sl-SI"/>
          </a:p>
        </p:txBody>
      </p:sp>
    </p:spTree>
    <p:extLst>
      <p:ext uri="{BB962C8B-B14F-4D97-AF65-F5344CB8AC3E}">
        <p14:creationId xmlns:p14="http://schemas.microsoft.com/office/powerpoint/2010/main" val="2568764929"/>
      </p:ext>
    </p:extLst>
  </p:cSld>
  <p:clrMapOvr>
    <a:masterClrMapping/>
  </p:clrMapOvr>
  <p:transition>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8" name="Rectangle 6"/>
          <p:cNvSpPr>
            <a:spLocks noGrp="1" noChangeArrowheads="1"/>
          </p:cNvSpPr>
          <p:nvPr>
            <p:ph type="sldNum" sz="quarter" idx="11"/>
          </p:nvPr>
        </p:nvSpPr>
        <p:spPr>
          <a:ln/>
        </p:spPr>
        <p:txBody>
          <a:bodyPr/>
          <a:lstStyle>
            <a:lvl1pPr>
              <a:defRPr/>
            </a:lvl1pPr>
          </a:lstStyle>
          <a:p>
            <a:pPr>
              <a:defRPr/>
            </a:pPr>
            <a:fld id="{E9C81664-EA62-4D4E-B955-69D91021D7E1}" type="slidenum">
              <a:rPr lang="en-GB" altLang="sl-SI"/>
              <a:pPr>
                <a:defRPr/>
              </a:pPr>
              <a:t>‹#›</a:t>
            </a:fld>
            <a:endParaRPr lang="en-GB" altLang="sl-SI"/>
          </a:p>
        </p:txBody>
      </p:sp>
    </p:spTree>
    <p:extLst>
      <p:ext uri="{BB962C8B-B14F-4D97-AF65-F5344CB8AC3E}">
        <p14:creationId xmlns:p14="http://schemas.microsoft.com/office/powerpoint/2010/main" val="2037096085"/>
      </p:ext>
    </p:extLst>
  </p:cSld>
  <p:clrMapOvr>
    <a:masterClrMapping/>
  </p:clrMapOvr>
  <p:transition>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4" name="Rectangle 6"/>
          <p:cNvSpPr>
            <a:spLocks noGrp="1" noChangeArrowheads="1"/>
          </p:cNvSpPr>
          <p:nvPr>
            <p:ph type="sldNum" sz="quarter" idx="11"/>
          </p:nvPr>
        </p:nvSpPr>
        <p:spPr>
          <a:ln/>
        </p:spPr>
        <p:txBody>
          <a:bodyPr/>
          <a:lstStyle>
            <a:lvl1pPr>
              <a:defRPr/>
            </a:lvl1pPr>
          </a:lstStyle>
          <a:p>
            <a:pPr>
              <a:defRPr/>
            </a:pPr>
            <a:fld id="{CDAC6BF1-087F-49A9-8D70-AB1736BD599B}" type="slidenum">
              <a:rPr lang="en-GB" altLang="sl-SI"/>
              <a:pPr>
                <a:defRPr/>
              </a:pPr>
              <a:t>‹#›</a:t>
            </a:fld>
            <a:endParaRPr lang="en-GB" altLang="sl-SI"/>
          </a:p>
        </p:txBody>
      </p:sp>
    </p:spTree>
    <p:extLst>
      <p:ext uri="{BB962C8B-B14F-4D97-AF65-F5344CB8AC3E}">
        <p14:creationId xmlns:p14="http://schemas.microsoft.com/office/powerpoint/2010/main" val="151156813"/>
      </p:ext>
    </p:extLst>
  </p:cSld>
  <p:clrMapOvr>
    <a:masterClrMapping/>
  </p:clrMapOvr>
  <p:transition>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3" name="Rectangle 6"/>
          <p:cNvSpPr>
            <a:spLocks noGrp="1" noChangeArrowheads="1"/>
          </p:cNvSpPr>
          <p:nvPr>
            <p:ph type="sldNum" sz="quarter" idx="11"/>
          </p:nvPr>
        </p:nvSpPr>
        <p:spPr>
          <a:ln/>
        </p:spPr>
        <p:txBody>
          <a:bodyPr/>
          <a:lstStyle>
            <a:lvl1pPr>
              <a:defRPr/>
            </a:lvl1pPr>
          </a:lstStyle>
          <a:p>
            <a:pPr>
              <a:defRPr/>
            </a:pPr>
            <a:fld id="{7CF03EB7-292B-42EA-8B0E-69A19C92FC8C}" type="slidenum">
              <a:rPr lang="en-GB" altLang="sl-SI"/>
              <a:pPr>
                <a:defRPr/>
              </a:pPr>
              <a:t>‹#›</a:t>
            </a:fld>
            <a:endParaRPr lang="en-GB" altLang="sl-SI"/>
          </a:p>
        </p:txBody>
      </p:sp>
    </p:spTree>
    <p:extLst>
      <p:ext uri="{BB962C8B-B14F-4D97-AF65-F5344CB8AC3E}">
        <p14:creationId xmlns:p14="http://schemas.microsoft.com/office/powerpoint/2010/main" val="197528821"/>
      </p:ext>
    </p:extLst>
  </p:cSld>
  <p:clrMapOvr>
    <a:masterClrMapping/>
  </p:clrMapOvr>
  <p:transition>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6" name="Rectangle 6"/>
          <p:cNvSpPr>
            <a:spLocks noGrp="1" noChangeArrowheads="1"/>
          </p:cNvSpPr>
          <p:nvPr>
            <p:ph type="sldNum" sz="quarter" idx="11"/>
          </p:nvPr>
        </p:nvSpPr>
        <p:spPr>
          <a:ln/>
        </p:spPr>
        <p:txBody>
          <a:bodyPr/>
          <a:lstStyle>
            <a:lvl1pPr>
              <a:defRPr/>
            </a:lvl1pPr>
          </a:lstStyle>
          <a:p>
            <a:pPr>
              <a:defRPr/>
            </a:pPr>
            <a:fld id="{839CE7C3-6AC9-4481-9A67-3B7C716DA22D}" type="slidenum">
              <a:rPr lang="en-GB" altLang="sl-SI"/>
              <a:pPr>
                <a:defRPr/>
              </a:pPr>
              <a:t>‹#›</a:t>
            </a:fld>
            <a:endParaRPr lang="en-GB" altLang="sl-SI"/>
          </a:p>
        </p:txBody>
      </p:sp>
    </p:spTree>
    <p:extLst>
      <p:ext uri="{BB962C8B-B14F-4D97-AF65-F5344CB8AC3E}">
        <p14:creationId xmlns:p14="http://schemas.microsoft.com/office/powerpoint/2010/main" val="2122930582"/>
      </p:ext>
    </p:extLst>
  </p:cSld>
  <p:clrMapOvr>
    <a:masterClrMapping/>
  </p:clrMapOvr>
  <p:transition>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6" name="Rectangle 6"/>
          <p:cNvSpPr>
            <a:spLocks noGrp="1" noChangeArrowheads="1"/>
          </p:cNvSpPr>
          <p:nvPr>
            <p:ph type="sldNum" sz="quarter" idx="11"/>
          </p:nvPr>
        </p:nvSpPr>
        <p:spPr>
          <a:ln/>
        </p:spPr>
        <p:txBody>
          <a:bodyPr/>
          <a:lstStyle>
            <a:lvl1pPr>
              <a:defRPr/>
            </a:lvl1pPr>
          </a:lstStyle>
          <a:p>
            <a:pPr>
              <a:defRPr/>
            </a:pPr>
            <a:fld id="{29DC6679-FD62-4D41-97CF-6F1E09A559B9}" type="slidenum">
              <a:rPr lang="en-GB" altLang="sl-SI"/>
              <a:pPr>
                <a:defRPr/>
              </a:pPr>
              <a:t>‹#›</a:t>
            </a:fld>
            <a:endParaRPr lang="en-GB" altLang="sl-SI"/>
          </a:p>
        </p:txBody>
      </p:sp>
    </p:spTree>
    <p:extLst>
      <p:ext uri="{BB962C8B-B14F-4D97-AF65-F5344CB8AC3E}">
        <p14:creationId xmlns:p14="http://schemas.microsoft.com/office/powerpoint/2010/main" val="124969274"/>
      </p:ext>
    </p:extLst>
  </p:cSld>
  <p:clrMapOvr>
    <a:masterClrMapping/>
  </p:clrMapOvr>
  <p:transition>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5" name="Rectangle 6"/>
          <p:cNvSpPr>
            <a:spLocks noGrp="1" noChangeArrowheads="1"/>
          </p:cNvSpPr>
          <p:nvPr>
            <p:ph type="sldNum" sz="quarter" idx="11"/>
          </p:nvPr>
        </p:nvSpPr>
        <p:spPr>
          <a:ln/>
        </p:spPr>
        <p:txBody>
          <a:bodyPr/>
          <a:lstStyle>
            <a:lvl1pPr>
              <a:defRPr/>
            </a:lvl1pPr>
          </a:lstStyle>
          <a:p>
            <a:pPr>
              <a:defRPr/>
            </a:pPr>
            <a:fld id="{72086B26-3A86-43ED-B2DF-2657A3FF68DB}" type="slidenum">
              <a:rPr lang="en-GB" altLang="sl-SI"/>
              <a:pPr>
                <a:defRPr/>
              </a:pPr>
              <a:t>‹#›</a:t>
            </a:fld>
            <a:endParaRPr lang="en-GB" altLang="sl-SI"/>
          </a:p>
        </p:txBody>
      </p:sp>
    </p:spTree>
    <p:extLst>
      <p:ext uri="{BB962C8B-B14F-4D97-AF65-F5344CB8AC3E}">
        <p14:creationId xmlns:p14="http://schemas.microsoft.com/office/powerpoint/2010/main" val="462807402"/>
      </p:ext>
    </p:extLst>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5" name="Rectangle 6"/>
          <p:cNvSpPr>
            <a:spLocks noGrp="1" noChangeArrowheads="1"/>
          </p:cNvSpPr>
          <p:nvPr>
            <p:ph type="sldNum" sz="quarter" idx="11"/>
          </p:nvPr>
        </p:nvSpPr>
        <p:spPr>
          <a:ln/>
        </p:spPr>
        <p:txBody>
          <a:bodyPr/>
          <a:lstStyle>
            <a:lvl1pPr>
              <a:defRPr/>
            </a:lvl1pPr>
          </a:lstStyle>
          <a:p>
            <a:pPr>
              <a:defRPr/>
            </a:pPr>
            <a:fld id="{7D4AA378-143E-4A8A-8FE4-DF2F00BBB3D3}" type="slidenum">
              <a:rPr lang="en-GB" altLang="sl-SI"/>
              <a:pPr>
                <a:defRPr/>
              </a:pPr>
              <a:t>‹#›</a:t>
            </a:fld>
            <a:endParaRPr lang="en-GB" altLang="sl-SI"/>
          </a:p>
        </p:txBody>
      </p:sp>
    </p:spTree>
    <p:extLst>
      <p:ext uri="{BB962C8B-B14F-4D97-AF65-F5344CB8AC3E}">
        <p14:creationId xmlns:p14="http://schemas.microsoft.com/office/powerpoint/2010/main" val="1928938822"/>
      </p:ext>
    </p:extLst>
  </p:cSld>
  <p:clrMapOvr>
    <a:masterClrMapping/>
  </p:clrMapOvr>
  <p:transition>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7" name="Rectangle 6"/>
          <p:cNvSpPr>
            <a:spLocks noGrp="1" noChangeArrowheads="1"/>
          </p:cNvSpPr>
          <p:nvPr>
            <p:ph type="sldNum" sz="quarter" idx="11"/>
          </p:nvPr>
        </p:nvSpPr>
        <p:spPr>
          <a:ln/>
        </p:spPr>
        <p:txBody>
          <a:bodyPr/>
          <a:lstStyle>
            <a:lvl1pPr>
              <a:defRPr/>
            </a:lvl1pPr>
          </a:lstStyle>
          <a:p>
            <a:pPr>
              <a:defRPr/>
            </a:pPr>
            <a:fld id="{6E3622EF-F63E-4952-A790-8E11F51B5860}" type="slidenum">
              <a:rPr lang="en-GB" altLang="sl-SI"/>
              <a:pPr>
                <a:defRPr/>
              </a:pPr>
              <a:t>‹#›</a:t>
            </a:fld>
            <a:endParaRPr lang="en-GB" altLang="sl-SI"/>
          </a:p>
        </p:txBody>
      </p:sp>
    </p:spTree>
    <p:extLst>
      <p:ext uri="{BB962C8B-B14F-4D97-AF65-F5344CB8AC3E}">
        <p14:creationId xmlns:p14="http://schemas.microsoft.com/office/powerpoint/2010/main" val="1024464811"/>
      </p:ext>
    </p:extLst>
  </p:cSld>
  <p:clrMapOvr>
    <a:masterClrMapping/>
  </p:clrMapOvr>
  <p:transition>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6" name="Rectangle 6"/>
          <p:cNvSpPr>
            <a:spLocks noGrp="1" noChangeArrowheads="1"/>
          </p:cNvSpPr>
          <p:nvPr>
            <p:ph type="sldNum" sz="quarter" idx="11"/>
          </p:nvPr>
        </p:nvSpPr>
        <p:spPr>
          <a:ln/>
        </p:spPr>
        <p:txBody>
          <a:bodyPr/>
          <a:lstStyle>
            <a:lvl1pPr>
              <a:defRPr/>
            </a:lvl1pPr>
          </a:lstStyle>
          <a:p>
            <a:pPr>
              <a:defRPr/>
            </a:pPr>
            <a:fld id="{FAD6EE68-1C98-4A7A-BE3D-FE95FE95A0CB}" type="slidenum">
              <a:rPr lang="en-GB" altLang="sl-SI"/>
              <a:pPr>
                <a:defRPr/>
              </a:pPr>
              <a:t>‹#›</a:t>
            </a:fld>
            <a:endParaRPr lang="en-GB" altLang="sl-SI"/>
          </a:p>
        </p:txBody>
      </p:sp>
    </p:spTree>
    <p:extLst>
      <p:ext uri="{BB962C8B-B14F-4D97-AF65-F5344CB8AC3E}">
        <p14:creationId xmlns:p14="http://schemas.microsoft.com/office/powerpoint/2010/main" val="872063153"/>
      </p:ext>
    </p:extLst>
  </p:cSld>
  <p:clrMapOvr>
    <a:masterClrMapping/>
  </p:clrMapOvr>
  <p:transition>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4" name="Rectangle 6"/>
          <p:cNvSpPr>
            <a:spLocks noGrp="1" noChangeArrowheads="1"/>
          </p:cNvSpPr>
          <p:nvPr>
            <p:ph type="sldNum" sz="quarter" idx="11"/>
          </p:nvPr>
        </p:nvSpPr>
        <p:spPr>
          <a:ln/>
        </p:spPr>
        <p:txBody>
          <a:bodyPr/>
          <a:lstStyle>
            <a:lvl1pPr>
              <a:defRPr/>
            </a:lvl1pPr>
          </a:lstStyle>
          <a:p>
            <a:pPr>
              <a:defRPr/>
            </a:pPr>
            <a:fld id="{CF3040E5-231E-41E7-9088-0C92BA53B7C3}" type="slidenum">
              <a:rPr lang="en-GB" altLang="sl-SI"/>
              <a:pPr>
                <a:defRPr/>
              </a:pPr>
              <a:t>‹#›</a:t>
            </a:fld>
            <a:endParaRPr lang="en-GB" altLang="sl-SI"/>
          </a:p>
        </p:txBody>
      </p:sp>
    </p:spTree>
    <p:extLst>
      <p:ext uri="{BB962C8B-B14F-4D97-AF65-F5344CB8AC3E}">
        <p14:creationId xmlns:p14="http://schemas.microsoft.com/office/powerpoint/2010/main" val="112787458"/>
      </p:ext>
    </p:extLst>
  </p:cSld>
  <p:clrMapOvr>
    <a:masterClrMapping/>
  </p:clrMapOvr>
  <p:transition>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0"/>
          </p:nvPr>
        </p:nvSpPr>
        <p:spPr>
          <a:ln/>
        </p:spPr>
        <p:txBody>
          <a:bodyPr/>
          <a:lstStyle>
            <a:lvl1pPr>
              <a:defRPr/>
            </a:lvl1pPr>
          </a:lstStyle>
          <a:p>
            <a:pPr>
              <a:defRPr/>
            </a:pPr>
            <a:r>
              <a:rPr lang="en-GB"/>
              <a:t>Predavanja iz Računalniškega vida, FERI Maribor </a:t>
            </a:r>
          </a:p>
        </p:txBody>
      </p:sp>
      <p:sp>
        <p:nvSpPr>
          <p:cNvPr id="7" name="Rectangle 6"/>
          <p:cNvSpPr>
            <a:spLocks noGrp="1" noChangeArrowheads="1"/>
          </p:cNvSpPr>
          <p:nvPr>
            <p:ph type="sldNum" sz="quarter" idx="11"/>
          </p:nvPr>
        </p:nvSpPr>
        <p:spPr>
          <a:ln/>
        </p:spPr>
        <p:txBody>
          <a:bodyPr/>
          <a:lstStyle>
            <a:lvl1pPr>
              <a:defRPr/>
            </a:lvl1pPr>
          </a:lstStyle>
          <a:p>
            <a:pPr>
              <a:defRPr/>
            </a:pPr>
            <a:fld id="{1D4CE910-90B8-4453-BF81-98BD2FF83F3A}" type="slidenum">
              <a:rPr lang="en-GB" altLang="sl-SI"/>
              <a:pPr>
                <a:defRPr/>
              </a:pPr>
              <a:t>‹#›</a:t>
            </a:fld>
            <a:endParaRPr lang="en-GB" altLang="sl-SI"/>
          </a:p>
        </p:txBody>
      </p:sp>
    </p:spTree>
    <p:extLst>
      <p:ext uri="{BB962C8B-B14F-4D97-AF65-F5344CB8AC3E}">
        <p14:creationId xmlns:p14="http://schemas.microsoft.com/office/powerpoint/2010/main" val="3423224965"/>
      </p:ext>
    </p:extLst>
  </p:cSld>
  <p:clrMapOvr>
    <a:masterClrMapping/>
  </p:clrMapOvr>
  <p:transition>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Kliknite, če želite urediti slog naslova matrice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Kliknite, če želite urediti sloge besedila matrice</a:t>
            </a:r>
          </a:p>
          <a:p>
            <a:pPr lvl="1"/>
            <a:r>
              <a:rPr lang="en-GB" altLang="en-US"/>
              <a:t>Druga raven</a:t>
            </a:r>
          </a:p>
          <a:p>
            <a:pPr lvl="2"/>
            <a:r>
              <a:rPr lang="en-GB" altLang="en-US"/>
              <a:t>Tretja raven</a:t>
            </a:r>
          </a:p>
          <a:p>
            <a:pPr lvl="3"/>
            <a:r>
              <a:rPr lang="en-GB" altLang="en-US"/>
              <a:t>Četrta raven</a:t>
            </a:r>
          </a:p>
          <a:p>
            <a:pPr lvl="4"/>
            <a:r>
              <a:rPr lang="en-GB" altLang="en-US"/>
              <a:t>Peta raven</a:t>
            </a:r>
          </a:p>
        </p:txBody>
      </p:sp>
      <p:sp>
        <p:nvSpPr>
          <p:cNvPr id="1029" name="Rectangle 5"/>
          <p:cNvSpPr>
            <a:spLocks noGrp="1" noChangeArrowheads="1"/>
          </p:cNvSpPr>
          <p:nvPr>
            <p:ph type="ftr" sz="quarter" idx="3"/>
          </p:nvPr>
        </p:nvSpPr>
        <p:spPr bwMode="auto">
          <a:xfrm>
            <a:off x="468313" y="6245225"/>
            <a:ext cx="6408737"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Arial" charset="0"/>
              </a:defRPr>
            </a:lvl1pPr>
          </a:lstStyle>
          <a:p>
            <a:pPr>
              <a:defRPr/>
            </a:pPr>
            <a:r>
              <a:rPr lang="en-GB"/>
              <a:t>Predavanja iz Računalniškega vida, FERI Maribor </a:t>
            </a:r>
          </a:p>
        </p:txBody>
      </p:sp>
      <p:sp>
        <p:nvSpPr>
          <p:cNvPr id="1030" name="Rectangle 6"/>
          <p:cNvSpPr>
            <a:spLocks noGrp="1" noChangeArrowheads="1"/>
          </p:cNvSpPr>
          <p:nvPr>
            <p:ph type="sldNum" sz="quarter" idx="4"/>
          </p:nvPr>
        </p:nvSpPr>
        <p:spPr bwMode="auto">
          <a:xfrm>
            <a:off x="7524750" y="6245225"/>
            <a:ext cx="116205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A7F4121F-3B03-42D6-AAE4-5CAFD55CAB94}" type="slidenum">
              <a:rPr lang="en-GB" altLang="sl-SI"/>
              <a:pPr>
                <a:defRPr/>
              </a:pPr>
              <a:t>‹#›</a:t>
            </a:fld>
            <a:endParaRPr lang="en-GB" altLang="sl-S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cover/>
  </p:transition>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zeliski.org/Boo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5.xml"/><Relationship Id="rId7" Type="http://schemas.openxmlformats.org/officeDocument/2006/relationships/image" Target="../media/image1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notesSlide" Target="../notesSlides/notesSlide19.xml"/><Relationship Id="rId5" Type="http://schemas.openxmlformats.org/officeDocument/2006/relationships/slideLayout" Target="../slideLayouts/slideLayout1.xml"/><Relationship Id="rId10" Type="http://schemas.openxmlformats.org/officeDocument/2006/relationships/image" Target="../media/image16.png"/><Relationship Id="rId4" Type="http://schemas.openxmlformats.org/officeDocument/2006/relationships/tags" Target="../tags/tag6.xml"/><Relationship Id="rId9" Type="http://schemas.openxmlformats.org/officeDocument/2006/relationships/image" Target="../media/image15.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0.xml"/><Relationship Id="rId13" Type="http://schemas.openxmlformats.org/officeDocument/2006/relationships/image" Target="../media/image21.png"/><Relationship Id="rId3" Type="http://schemas.openxmlformats.org/officeDocument/2006/relationships/tags" Target="../tags/tag9.xml"/><Relationship Id="rId7" Type="http://schemas.openxmlformats.org/officeDocument/2006/relationships/slideLayout" Target="../slideLayouts/slideLayout1.xml"/><Relationship Id="rId12" Type="http://schemas.openxmlformats.org/officeDocument/2006/relationships/image" Target="../media/image20.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19.png"/><Relationship Id="rId5" Type="http://schemas.openxmlformats.org/officeDocument/2006/relationships/tags" Target="../tags/tag11.xml"/><Relationship Id="rId10" Type="http://schemas.openxmlformats.org/officeDocument/2006/relationships/image" Target="../media/image18.png"/><Relationship Id="rId4" Type="http://schemas.openxmlformats.org/officeDocument/2006/relationships/tags" Target="../tags/tag10.xml"/><Relationship Id="rId9" Type="http://schemas.openxmlformats.org/officeDocument/2006/relationships/image" Target="../media/image17.png"/><Relationship Id="rId14" Type="http://schemas.openxmlformats.org/officeDocument/2006/relationships/image" Target="../media/image22.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1.xml"/><Relationship Id="rId13" Type="http://schemas.openxmlformats.org/officeDocument/2006/relationships/image" Target="../media/image27.png"/><Relationship Id="rId3" Type="http://schemas.openxmlformats.org/officeDocument/2006/relationships/tags" Target="../tags/tag15.xml"/><Relationship Id="rId7" Type="http://schemas.openxmlformats.org/officeDocument/2006/relationships/slideLayout" Target="../slideLayouts/slideLayout1.xml"/><Relationship Id="rId12" Type="http://schemas.openxmlformats.org/officeDocument/2006/relationships/image" Target="../media/image26.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25.png"/><Relationship Id="rId5" Type="http://schemas.openxmlformats.org/officeDocument/2006/relationships/tags" Target="../tags/tag17.xml"/><Relationship Id="rId10" Type="http://schemas.openxmlformats.org/officeDocument/2006/relationships/image" Target="../media/image24.png"/><Relationship Id="rId4" Type="http://schemas.openxmlformats.org/officeDocument/2006/relationships/tags" Target="../tags/tag16.xml"/><Relationship Id="rId9" Type="http://schemas.openxmlformats.org/officeDocument/2006/relationships/image" Target="../media/image23.png"/><Relationship Id="rId14" Type="http://schemas.openxmlformats.org/officeDocument/2006/relationships/image" Target="../media/image28.png"/></Relationships>
</file>

<file path=ppt/slides/_rels/slide2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21.xml"/><Relationship Id="rId7" Type="http://schemas.openxmlformats.org/officeDocument/2006/relationships/image" Target="../media/image30.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29.png"/><Relationship Id="rId5" Type="http://schemas.openxmlformats.org/officeDocument/2006/relationships/notesSlide" Target="../notesSlides/notesSlide22.xml"/><Relationship Id="rId4"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24.xml"/><Relationship Id="rId7" Type="http://schemas.openxmlformats.org/officeDocument/2006/relationships/image" Target="../media/image32.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notesSlide" Target="../notesSlides/notesSlide23.xml"/><Relationship Id="rId5" Type="http://schemas.openxmlformats.org/officeDocument/2006/relationships/slideLayout" Target="../slideLayouts/slideLayout1.xml"/><Relationship Id="rId10" Type="http://schemas.openxmlformats.org/officeDocument/2006/relationships/image" Target="../media/image35.png"/><Relationship Id="rId4" Type="http://schemas.openxmlformats.org/officeDocument/2006/relationships/tags" Target="../tags/tag25.xml"/><Relationship Id="rId9"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notesSlide" Target="../notesSlides/notesSlide25.xml"/><Relationship Id="rId7" Type="http://schemas.openxmlformats.org/officeDocument/2006/relationships/oleObject" Target="../embeddings/oleObject2.bin"/><Relationship Id="rId12" Type="http://schemas.openxmlformats.org/officeDocument/2006/relationships/image" Target="../media/image40.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7.wmf"/><Relationship Id="rId11" Type="http://schemas.openxmlformats.org/officeDocument/2006/relationships/oleObject" Target="../embeddings/oleObject4.bin"/><Relationship Id="rId5" Type="http://schemas.openxmlformats.org/officeDocument/2006/relationships/oleObject" Target="../embeddings/oleObject1.bin"/><Relationship Id="rId10" Type="http://schemas.openxmlformats.org/officeDocument/2006/relationships/image" Target="../media/image39.wmf"/><Relationship Id="rId4" Type="http://schemas.openxmlformats.org/officeDocument/2006/relationships/image" Target="../media/image41.png"/><Relationship Id="rId9" Type="http://schemas.openxmlformats.org/officeDocument/2006/relationships/oleObject" Target="../embeddings/oleObject3.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42.wmf"/><Relationship Id="rId5" Type="http://schemas.openxmlformats.org/officeDocument/2006/relationships/oleObject" Target="../embeddings/oleObject5.bin"/><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30.xml"/><Relationship Id="rId7" Type="http://schemas.openxmlformats.org/officeDocument/2006/relationships/image" Target="../media/image46.w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45.wmf"/><Relationship Id="rId4" Type="http://schemas.openxmlformats.org/officeDocument/2006/relationships/oleObject" Target="../embeddings/oleObject6.bin"/><Relationship Id="rId9" Type="http://schemas.openxmlformats.org/officeDocument/2006/relationships/image" Target="../media/image47.wmf"/></Relationships>
</file>

<file path=ppt/slides/_rels/slide3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notesSlide" Target="../notesSlides/notesSlide31.xml"/><Relationship Id="rId7" Type="http://schemas.openxmlformats.org/officeDocument/2006/relationships/image" Target="../media/image49.w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oleObject" Target="../embeddings/oleObject10.bin"/><Relationship Id="rId5" Type="http://schemas.openxmlformats.org/officeDocument/2006/relationships/image" Target="../media/image48.wmf"/><Relationship Id="rId4" Type="http://schemas.openxmlformats.org/officeDocument/2006/relationships/oleObject" Target="../embeddings/oleObject9.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vmlDrawing" Target="../drawings/vmlDrawing5.vml"/><Relationship Id="rId5" Type="http://schemas.openxmlformats.org/officeDocument/2006/relationships/image" Target="../media/image51.wmf"/><Relationship Id="rId4" Type="http://schemas.openxmlformats.org/officeDocument/2006/relationships/oleObject" Target="../embeddings/oleObject11.bin"/></Relationships>
</file>

<file path=ppt/slides/_rels/slide3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56.wmf"/><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oleObject" Target="../embeddings/oleObject13.bin"/><Relationship Id="rId5" Type="http://schemas.openxmlformats.org/officeDocument/2006/relationships/image" Target="../media/image55.wmf"/><Relationship Id="rId4" Type="http://schemas.openxmlformats.org/officeDocument/2006/relationships/oleObject" Target="../embeddings/oleObject12.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58.png"/><Relationship Id="rId5" Type="http://schemas.openxmlformats.org/officeDocument/2006/relationships/image" Target="../media/image57.wmf"/><Relationship Id="rId4" Type="http://schemas.openxmlformats.org/officeDocument/2006/relationships/oleObject" Target="../embeddings/oleObject14.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60.wmf"/><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oleObject" Target="../embeddings/oleObject16.bin"/><Relationship Id="rId5" Type="http://schemas.openxmlformats.org/officeDocument/2006/relationships/image" Target="../media/image59.wmf"/><Relationship Id="rId4" Type="http://schemas.openxmlformats.org/officeDocument/2006/relationships/oleObject" Target="../embeddings/oleObject15.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63.png"/><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62.png"/><Relationship Id="rId5" Type="http://schemas.openxmlformats.org/officeDocument/2006/relationships/image" Target="../media/image61.wmf"/><Relationship Id="rId4" Type="http://schemas.openxmlformats.org/officeDocument/2006/relationships/oleObject" Target="../embeddings/oleObject17.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png"/></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71.png"/><Relationship Id="rId4" Type="http://schemas.openxmlformats.org/officeDocument/2006/relationships/image" Target="../media/image70.png"/></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53.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64.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49.xml"/><Relationship Id="rId7" Type="http://schemas.openxmlformats.org/officeDocument/2006/relationships/image" Target="../media/image79.wmf"/><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oleObject" Target="../embeddings/oleObject19.bin"/><Relationship Id="rId11" Type="http://schemas.openxmlformats.org/officeDocument/2006/relationships/image" Target="../media/image81.wmf"/><Relationship Id="rId5" Type="http://schemas.openxmlformats.org/officeDocument/2006/relationships/image" Target="../media/image78.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80.w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0.xml"/><Relationship Id="rId7" Type="http://schemas.openxmlformats.org/officeDocument/2006/relationships/image" Target="../media/image84.png"/><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image" Target="../media/image83.png"/><Relationship Id="rId5" Type="http://schemas.openxmlformats.org/officeDocument/2006/relationships/image" Target="../media/image82.wmf"/><Relationship Id="rId4" Type="http://schemas.openxmlformats.org/officeDocument/2006/relationships/oleObject" Target="../embeddings/oleObject22.bin"/></Relationships>
</file>

<file path=ppt/slides/_rels/slide5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88.jpeg"/><Relationship Id="rId4" Type="http://schemas.openxmlformats.org/officeDocument/2006/relationships/image" Target="../media/image8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vmlDrawing" Target="../drawings/vmlDrawing12.vml"/><Relationship Id="rId5" Type="http://schemas.openxmlformats.org/officeDocument/2006/relationships/image" Target="../media/image89.wmf"/><Relationship Id="rId4" Type="http://schemas.openxmlformats.org/officeDocument/2006/relationships/oleObject" Target="../embeddings/oleObject23.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vmlDrawing" Target="../drawings/vmlDrawing13.vml"/><Relationship Id="rId5" Type="http://schemas.openxmlformats.org/officeDocument/2006/relationships/image" Target="../media/image90.wmf"/><Relationship Id="rId4" Type="http://schemas.openxmlformats.org/officeDocument/2006/relationships/oleObject" Target="../embeddings/oleObject24.bin"/></Relationships>
</file>

<file path=ppt/slides/_rels/slide6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notesSlide" Target="../notesSlides/notesSlide61.xml"/><Relationship Id="rId7" Type="http://schemas.openxmlformats.org/officeDocument/2006/relationships/image" Target="../media/image93.wmf"/><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oleObject" Target="../embeddings/oleObject26.bin"/><Relationship Id="rId5" Type="http://schemas.openxmlformats.org/officeDocument/2006/relationships/image" Target="../media/image92.wmf"/><Relationship Id="rId4" Type="http://schemas.openxmlformats.org/officeDocument/2006/relationships/oleObject" Target="../embeddings/oleObject25.bin"/><Relationship Id="rId9" Type="http://schemas.openxmlformats.org/officeDocument/2006/relationships/image" Target="../media/image94.wmf"/></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vmlDrawing" Target="../drawings/vmlDrawing15.vml"/><Relationship Id="rId5" Type="http://schemas.openxmlformats.org/officeDocument/2006/relationships/image" Target="../media/image95.wmf"/><Relationship Id="rId4" Type="http://schemas.openxmlformats.org/officeDocument/2006/relationships/oleObject" Target="../embeddings/oleObject28.bin"/></Relationships>
</file>

<file path=ppt/slides/_rels/slide6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xml"/><Relationship Id="rId1" Type="http://schemas.openxmlformats.org/officeDocument/2006/relationships/vmlDrawing" Target="../drawings/vmlDrawing16.vml"/><Relationship Id="rId5" Type="http://schemas.openxmlformats.org/officeDocument/2006/relationships/image" Target="../media/image97.wmf"/><Relationship Id="rId4" Type="http://schemas.openxmlformats.org/officeDocument/2006/relationships/oleObject" Target="../embeddings/oleObject29.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hyperlink" Target="http://en.wikipedia.org/wiki/File:Fitted_line.svg" TargetMode="External"/><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9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101.png"/></Relationships>
</file>

<file path=ppt/slides/_rels/slide7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103.png"/></Relationships>
</file>

<file path=ppt/slides/_rels/slide7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105.png"/></Relationships>
</file>

<file path=ppt/slides/_rels/slide7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107.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111.png"/><Relationship Id="rId4" Type="http://schemas.openxmlformats.org/officeDocument/2006/relationships/image" Target="../media/image110.png"/></Relationships>
</file>

<file path=ppt/slides/_rels/slide8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83.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77.xml"/><Relationship Id="rId1" Type="http://schemas.openxmlformats.org/officeDocument/2006/relationships/slideLayout" Target="../slideLayouts/slideLayout1.xml"/><Relationship Id="rId6" Type="http://schemas.openxmlformats.org/officeDocument/2006/relationships/image" Target="../media/image119.jpeg"/><Relationship Id="rId5" Type="http://schemas.openxmlformats.org/officeDocument/2006/relationships/image" Target="../media/image118.jpeg"/><Relationship Id="rId4" Type="http://schemas.openxmlformats.org/officeDocument/2006/relationships/image" Target="../media/image117.png"/></Relationships>
</file>

<file path=ppt/slides/_rels/slide8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122.png"/><Relationship Id="rId4" Type="http://schemas.openxmlformats.org/officeDocument/2006/relationships/image" Target="../media/image121.png"/></Relationships>
</file>

<file path=ppt/slides/_rels/slide85.xml.rels><?xml version="1.0" encoding="UTF-8" standalone="yes"?>
<Relationships xmlns="http://schemas.openxmlformats.org/package/2006/relationships"><Relationship Id="rId3" Type="http://schemas.openxmlformats.org/officeDocument/2006/relationships/hyperlink" Target="http://en.scientificcommons.org/43475799" TargetMode="External"/><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125.png"/><Relationship Id="rId4" Type="http://schemas.openxmlformats.org/officeDocument/2006/relationships/image" Target="../media/image124.png"/></Relationships>
</file>

<file path=ppt/slides/_rels/slide8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127.png"/></Relationships>
</file>

<file path=ppt/slides/_rels/slide8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82.xml"/><Relationship Id="rId1" Type="http://schemas.openxmlformats.org/officeDocument/2006/relationships/slideLayout" Target="../slideLayouts/slideLayout1.xml"/><Relationship Id="rId4" Type="http://schemas.openxmlformats.org/officeDocument/2006/relationships/image" Target="../media/image129.png"/></Relationships>
</file>

<file path=ppt/slides/_rels/slide8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131.png"/></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notesSlide" Target="../notesSlides/notesSlide84.xml"/><Relationship Id="rId7" Type="http://schemas.openxmlformats.org/officeDocument/2006/relationships/image" Target="../media/image132.png"/><Relationship Id="rId12" Type="http://schemas.openxmlformats.org/officeDocument/2006/relationships/image" Target="../media/image138.png"/><Relationship Id="rId2" Type="http://schemas.openxmlformats.org/officeDocument/2006/relationships/slideLayout" Target="../slideLayouts/slideLayout1.xml"/><Relationship Id="rId1" Type="http://schemas.openxmlformats.org/officeDocument/2006/relationships/vmlDrawing" Target="../drawings/vmlDrawing17.vml"/><Relationship Id="rId6" Type="http://schemas.openxmlformats.org/officeDocument/2006/relationships/oleObject" Target="../embeddings/oleObject30.bin"/><Relationship Id="rId11" Type="http://schemas.openxmlformats.org/officeDocument/2006/relationships/image" Target="../media/image137.png"/><Relationship Id="rId5" Type="http://schemas.openxmlformats.org/officeDocument/2006/relationships/image" Target="../media/image135.png"/><Relationship Id="rId10" Type="http://schemas.openxmlformats.org/officeDocument/2006/relationships/image" Target="../media/image136.png"/><Relationship Id="rId4" Type="http://schemas.openxmlformats.org/officeDocument/2006/relationships/image" Target="../media/image134.png"/><Relationship Id="rId9" Type="http://schemas.openxmlformats.org/officeDocument/2006/relationships/image" Target="../media/image133.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notesSlide" Target="../notesSlides/notesSlide87.xml"/><Relationship Id="rId1" Type="http://schemas.openxmlformats.org/officeDocument/2006/relationships/slideLayout" Target="../slideLayouts/slideLayout1.xml"/><Relationship Id="rId6" Type="http://schemas.openxmlformats.org/officeDocument/2006/relationships/image" Target="../media/image143.png"/><Relationship Id="rId11" Type="http://schemas.openxmlformats.org/officeDocument/2006/relationships/image" Target="../media/image148.png"/><Relationship Id="rId5" Type="http://schemas.openxmlformats.org/officeDocument/2006/relationships/image" Target="../media/image142.png"/><Relationship Id="rId10" Type="http://schemas.openxmlformats.org/officeDocument/2006/relationships/image" Target="../media/image147.png"/><Relationship Id="rId4" Type="http://schemas.openxmlformats.org/officeDocument/2006/relationships/image" Target="../media/image141.png"/><Relationship Id="rId9" Type="http://schemas.openxmlformats.org/officeDocument/2006/relationships/image" Target="../media/image146.png"/></Relationships>
</file>

<file path=ppt/slides/_rels/slide9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88.xml"/><Relationship Id="rId1" Type="http://schemas.openxmlformats.org/officeDocument/2006/relationships/slideLayout" Target="../slideLayouts/slideLayout1.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png"/></Relationships>
</file>

<file path=ppt/slides/_rels/slide9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154.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91.xml"/><Relationship Id="rId1" Type="http://schemas.openxmlformats.org/officeDocument/2006/relationships/slideLayout" Target="../slideLayouts/slideLayout1.xml"/><Relationship Id="rId5" Type="http://schemas.openxmlformats.org/officeDocument/2006/relationships/image" Target="../media/image157.png"/><Relationship Id="rId4" Type="http://schemas.openxmlformats.org/officeDocument/2006/relationships/image" Target="../media/image156.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96.xml"/><Relationship Id="rId1" Type="http://schemas.openxmlformats.org/officeDocument/2006/relationships/slideLayout" Target="../slideLayouts/slideLayout1.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png"/></Relationships>
</file>

<file path=ppt/slides/_rels/slide10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02.xml"/><Relationship Id="rId1" Type="http://schemas.openxmlformats.org/officeDocument/2006/relationships/slideLayout" Target="../slideLayouts/slideLayout1.xml"/><Relationship Id="rId4" Type="http://schemas.openxmlformats.org/officeDocument/2006/relationships/image" Target="../media/image169.png"/></Relationships>
</file>

<file path=ppt/slides/_rels/slide10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3.xml"/><Relationship Id="rId1" Type="http://schemas.openxmlformats.org/officeDocument/2006/relationships/slideLayout" Target="../slideLayouts/slideLayout1.xml"/><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171.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4.xml"/><Relationship Id="rId7" Type="http://schemas.openxmlformats.org/officeDocument/2006/relationships/image" Target="../media/image176.png"/><Relationship Id="rId2" Type="http://schemas.openxmlformats.org/officeDocument/2006/relationships/slideLayout" Target="../slideLayouts/slideLayout1.xml"/><Relationship Id="rId1" Type="http://schemas.openxmlformats.org/officeDocument/2006/relationships/vmlDrawing" Target="../drawings/vmlDrawing18.vml"/><Relationship Id="rId6" Type="http://schemas.openxmlformats.org/officeDocument/2006/relationships/image" Target="../media/image175.png"/><Relationship Id="rId5" Type="http://schemas.openxmlformats.org/officeDocument/2006/relationships/image" Target="../media/image174.wmf"/><Relationship Id="rId4" Type="http://schemas.openxmlformats.org/officeDocument/2006/relationships/oleObject" Target="../embeddings/oleObject32.bin"/></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1.xml"/><Relationship Id="rId1" Type="http://schemas.openxmlformats.org/officeDocument/2006/relationships/vmlDrawing" Target="../drawings/vmlDrawing19.vml"/><Relationship Id="rId5" Type="http://schemas.openxmlformats.org/officeDocument/2006/relationships/image" Target="../media/image174.wmf"/><Relationship Id="rId4" Type="http://schemas.openxmlformats.org/officeDocument/2006/relationships/oleObject" Target="../embeddings/oleObject33.bin"/></Relationships>
</file>

<file path=ppt/slides/_rels/slide112.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106.xml"/><Relationship Id="rId1" Type="http://schemas.openxmlformats.org/officeDocument/2006/relationships/slideLayout" Target="../slideLayouts/slideLayout1.xml"/><Relationship Id="rId4" Type="http://schemas.openxmlformats.org/officeDocument/2006/relationships/image" Target="../media/image178.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xml"/><Relationship Id="rId1" Type="http://schemas.openxmlformats.org/officeDocument/2006/relationships/vmlDrawing" Target="../drawings/vmlDrawing20.vml"/><Relationship Id="rId5" Type="http://schemas.openxmlformats.org/officeDocument/2006/relationships/image" Target="../media/image174.wmf"/><Relationship Id="rId4" Type="http://schemas.openxmlformats.org/officeDocument/2006/relationships/oleObject" Target="../embeddings/oleObject34.bin"/></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1.xml"/><Relationship Id="rId1" Type="http://schemas.openxmlformats.org/officeDocument/2006/relationships/vmlDrawing" Target="../drawings/vmlDrawing21.vml"/><Relationship Id="rId5" Type="http://schemas.openxmlformats.org/officeDocument/2006/relationships/image" Target="../media/image174.wmf"/><Relationship Id="rId4" Type="http://schemas.openxmlformats.org/officeDocument/2006/relationships/oleObject" Target="../embeddings/oleObject35.bin"/></Relationships>
</file>

<file path=ppt/slides/_rels/slide117.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notesSlide" Target="../notesSlides/notesSlide111.xml"/><Relationship Id="rId7" Type="http://schemas.openxmlformats.org/officeDocument/2006/relationships/image" Target="../media/image179.wmf"/><Relationship Id="rId2" Type="http://schemas.openxmlformats.org/officeDocument/2006/relationships/slideLayout" Target="../slideLayouts/slideLayout1.xml"/><Relationship Id="rId1" Type="http://schemas.openxmlformats.org/officeDocument/2006/relationships/vmlDrawing" Target="../drawings/vmlDrawing22.vml"/><Relationship Id="rId6" Type="http://schemas.openxmlformats.org/officeDocument/2006/relationships/oleObject" Target="../embeddings/oleObject37.bin"/><Relationship Id="rId5" Type="http://schemas.openxmlformats.org/officeDocument/2006/relationships/image" Target="../media/image174.wmf"/><Relationship Id="rId4" Type="http://schemas.openxmlformats.org/officeDocument/2006/relationships/oleObject" Target="../embeddings/oleObject36.bin"/><Relationship Id="rId9" Type="http://schemas.openxmlformats.org/officeDocument/2006/relationships/image" Target="../media/image180.wmf"/></Relationships>
</file>

<file path=ppt/slides/_rels/slide118.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notesSlide" Target="../notesSlides/notesSlide112.xml"/><Relationship Id="rId7" Type="http://schemas.openxmlformats.org/officeDocument/2006/relationships/image" Target="../media/image181.emf"/><Relationship Id="rId2" Type="http://schemas.openxmlformats.org/officeDocument/2006/relationships/slideLayout" Target="../slideLayouts/slideLayout1.xml"/><Relationship Id="rId1" Type="http://schemas.openxmlformats.org/officeDocument/2006/relationships/vmlDrawing" Target="../drawings/vmlDrawing23.vml"/><Relationship Id="rId6" Type="http://schemas.openxmlformats.org/officeDocument/2006/relationships/oleObject" Target="../embeddings/oleObject40.bin"/><Relationship Id="rId11" Type="http://schemas.openxmlformats.org/officeDocument/2006/relationships/image" Target="../media/image183.png"/><Relationship Id="rId5" Type="http://schemas.openxmlformats.org/officeDocument/2006/relationships/image" Target="../media/image174.wmf"/><Relationship Id="rId10" Type="http://schemas.openxmlformats.org/officeDocument/2006/relationships/oleObject" Target="../embeddings/oleObject42.bin"/><Relationship Id="rId4" Type="http://schemas.openxmlformats.org/officeDocument/2006/relationships/oleObject" Target="../embeddings/oleObject39.bin"/><Relationship Id="rId9" Type="http://schemas.openxmlformats.org/officeDocument/2006/relationships/image" Target="../media/image182.png"/></Relationships>
</file>

<file path=ppt/slides/_rels/slide119.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187.png"/><Relationship Id="rId3" Type="http://schemas.openxmlformats.org/officeDocument/2006/relationships/notesSlide" Target="../notesSlides/notesSlide113.xml"/><Relationship Id="rId7" Type="http://schemas.openxmlformats.org/officeDocument/2006/relationships/image" Target="../media/image184.emf"/><Relationship Id="rId12" Type="http://schemas.openxmlformats.org/officeDocument/2006/relationships/oleObject" Target="../embeddings/oleObject47.bin"/><Relationship Id="rId2" Type="http://schemas.openxmlformats.org/officeDocument/2006/relationships/slideLayout" Target="../slideLayouts/slideLayout1.xml"/><Relationship Id="rId1" Type="http://schemas.openxmlformats.org/officeDocument/2006/relationships/vmlDrawing" Target="../drawings/vmlDrawing24.vml"/><Relationship Id="rId6" Type="http://schemas.openxmlformats.org/officeDocument/2006/relationships/oleObject" Target="../embeddings/oleObject44.bin"/><Relationship Id="rId11" Type="http://schemas.openxmlformats.org/officeDocument/2006/relationships/image" Target="../media/image186.emf"/><Relationship Id="rId5" Type="http://schemas.openxmlformats.org/officeDocument/2006/relationships/image" Target="../media/image174.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185.emf"/></Relationships>
</file>

<file path=ppt/slides/_rels/slide120.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192.png"/><Relationship Id="rId3" Type="http://schemas.openxmlformats.org/officeDocument/2006/relationships/notesSlide" Target="../notesSlides/notesSlide114.xml"/><Relationship Id="rId7" Type="http://schemas.openxmlformats.org/officeDocument/2006/relationships/image" Target="../media/image189.emf"/><Relationship Id="rId12" Type="http://schemas.openxmlformats.org/officeDocument/2006/relationships/oleObject" Target="../embeddings/oleObject52.bin"/><Relationship Id="rId2" Type="http://schemas.openxmlformats.org/officeDocument/2006/relationships/slideLayout" Target="../slideLayouts/slideLayout1.xml"/><Relationship Id="rId1" Type="http://schemas.openxmlformats.org/officeDocument/2006/relationships/vmlDrawing" Target="../drawings/vmlDrawing25.vml"/><Relationship Id="rId6" Type="http://schemas.openxmlformats.org/officeDocument/2006/relationships/oleObject" Target="../embeddings/oleObject49.bin"/><Relationship Id="rId11" Type="http://schemas.openxmlformats.org/officeDocument/2006/relationships/image" Target="../media/image191.emf"/><Relationship Id="rId5" Type="http://schemas.openxmlformats.org/officeDocument/2006/relationships/image" Target="../media/image188.e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190.emf"/></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1.xml"/><Relationship Id="rId1" Type="http://schemas.openxmlformats.org/officeDocument/2006/relationships/vmlDrawing" Target="../drawings/vmlDrawing26.vml"/><Relationship Id="rId6" Type="http://schemas.openxmlformats.org/officeDocument/2006/relationships/image" Target="../media/image193.png"/><Relationship Id="rId5" Type="http://schemas.openxmlformats.org/officeDocument/2006/relationships/image" Target="../media/image174.wmf"/><Relationship Id="rId4" Type="http://schemas.openxmlformats.org/officeDocument/2006/relationships/oleObject" Target="../embeddings/oleObject53.bin"/></Relationships>
</file>

<file path=ppt/slides/_rels/slide122.xml.rels><?xml version="1.0" encoding="UTF-8" standalone="yes"?>
<Relationships xmlns="http://schemas.openxmlformats.org/package/2006/relationships"><Relationship Id="rId8" Type="http://schemas.openxmlformats.org/officeDocument/2006/relationships/oleObject" Target="../embeddings/oleObject56.bin"/><Relationship Id="rId3" Type="http://schemas.openxmlformats.org/officeDocument/2006/relationships/notesSlide" Target="../notesSlides/notesSlide116.xml"/><Relationship Id="rId7" Type="http://schemas.openxmlformats.org/officeDocument/2006/relationships/image" Target="../media/image194.wmf"/><Relationship Id="rId2" Type="http://schemas.openxmlformats.org/officeDocument/2006/relationships/slideLayout" Target="../slideLayouts/slideLayout1.xml"/><Relationship Id="rId1" Type="http://schemas.openxmlformats.org/officeDocument/2006/relationships/vmlDrawing" Target="../drawings/vmlDrawing27.vml"/><Relationship Id="rId6" Type="http://schemas.openxmlformats.org/officeDocument/2006/relationships/oleObject" Target="../embeddings/oleObject55.bin"/><Relationship Id="rId5" Type="http://schemas.openxmlformats.org/officeDocument/2006/relationships/image" Target="../media/image174.wmf"/><Relationship Id="rId4" Type="http://schemas.openxmlformats.org/officeDocument/2006/relationships/oleObject" Target="../embeddings/oleObject54.bin"/><Relationship Id="rId9" Type="http://schemas.openxmlformats.org/officeDocument/2006/relationships/image" Target="../media/image195.wmf"/></Relationships>
</file>

<file path=ppt/slides/_rels/slide123.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notesSlide" Target="../notesSlides/notesSlide117.xml"/><Relationship Id="rId7" Type="http://schemas.openxmlformats.org/officeDocument/2006/relationships/image" Target="../media/image196.wmf"/><Relationship Id="rId2" Type="http://schemas.openxmlformats.org/officeDocument/2006/relationships/slideLayout" Target="../slideLayouts/slideLayout1.xml"/><Relationship Id="rId1" Type="http://schemas.openxmlformats.org/officeDocument/2006/relationships/vmlDrawing" Target="../drawings/vmlDrawing28.vml"/><Relationship Id="rId6" Type="http://schemas.openxmlformats.org/officeDocument/2006/relationships/oleObject" Target="../embeddings/oleObject58.bin"/><Relationship Id="rId5" Type="http://schemas.openxmlformats.org/officeDocument/2006/relationships/image" Target="../media/image174.wmf"/><Relationship Id="rId4" Type="http://schemas.openxmlformats.org/officeDocument/2006/relationships/oleObject" Target="../embeddings/oleObject57.bin"/></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1.xml"/><Relationship Id="rId1" Type="http://schemas.openxmlformats.org/officeDocument/2006/relationships/vmlDrawing" Target="../drawings/vmlDrawing29.vml"/><Relationship Id="rId5" Type="http://schemas.openxmlformats.org/officeDocument/2006/relationships/image" Target="../media/image174.wmf"/><Relationship Id="rId4" Type="http://schemas.openxmlformats.org/officeDocument/2006/relationships/oleObject" Target="../embeddings/oleObject59.bin"/></Relationships>
</file>

<file path=ppt/slides/_rels/slide125.xml.rels><?xml version="1.0" encoding="UTF-8" standalone="yes"?>
<Relationships xmlns="http://schemas.openxmlformats.org/package/2006/relationships"><Relationship Id="rId3" Type="http://schemas.openxmlformats.org/officeDocument/2006/relationships/image" Target="../media/image198.gif"/><Relationship Id="rId2" Type="http://schemas.openxmlformats.org/officeDocument/2006/relationships/notesSlide" Target="../notesSlides/notesSlide119.xml"/><Relationship Id="rId1" Type="http://schemas.openxmlformats.org/officeDocument/2006/relationships/slideLayout" Target="../slideLayouts/slideLayout1.xml"/><Relationship Id="rId4" Type="http://schemas.openxmlformats.org/officeDocument/2006/relationships/image" Target="../media/image199.png"/></Relationships>
</file>

<file path=ppt/slides/_rels/slide126.xml.rels><?xml version="1.0" encoding="UTF-8" standalone="yes"?>
<Relationships xmlns="http://schemas.openxmlformats.org/package/2006/relationships"><Relationship Id="rId8" Type="http://schemas.openxmlformats.org/officeDocument/2006/relationships/image" Target="../media/image201.png"/><Relationship Id="rId3" Type="http://schemas.openxmlformats.org/officeDocument/2006/relationships/notesSlide" Target="../notesSlides/notesSlide120.xml"/><Relationship Id="rId7" Type="http://schemas.openxmlformats.org/officeDocument/2006/relationships/image" Target="../media/image200.wmf"/><Relationship Id="rId2" Type="http://schemas.openxmlformats.org/officeDocument/2006/relationships/slideLayout" Target="../slideLayouts/slideLayout1.xml"/><Relationship Id="rId1" Type="http://schemas.openxmlformats.org/officeDocument/2006/relationships/vmlDrawing" Target="../drawings/vmlDrawing30.vml"/><Relationship Id="rId6" Type="http://schemas.openxmlformats.org/officeDocument/2006/relationships/oleObject" Target="../embeddings/oleObject61.bin"/><Relationship Id="rId5" Type="http://schemas.openxmlformats.org/officeDocument/2006/relationships/image" Target="../media/image174.wmf"/><Relationship Id="rId4" Type="http://schemas.openxmlformats.org/officeDocument/2006/relationships/oleObject" Target="../embeddings/oleObject60.bin"/></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1.xml"/><Relationship Id="rId1" Type="http://schemas.openxmlformats.org/officeDocument/2006/relationships/vmlDrawing" Target="../drawings/vmlDrawing31.vml"/><Relationship Id="rId5" Type="http://schemas.openxmlformats.org/officeDocument/2006/relationships/image" Target="../media/image174.wmf"/><Relationship Id="rId4" Type="http://schemas.openxmlformats.org/officeDocument/2006/relationships/oleObject" Target="../embeddings/oleObject62.bin"/></Relationships>
</file>

<file path=ppt/slides/_rels/slide128.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22.xml"/><Relationship Id="rId1" Type="http://schemas.openxmlformats.org/officeDocument/2006/relationships/slideLayout" Target="../slideLayouts/slideLayout1.xml"/><Relationship Id="rId5" Type="http://schemas.openxmlformats.org/officeDocument/2006/relationships/image" Target="../media/image204.png"/><Relationship Id="rId4" Type="http://schemas.openxmlformats.org/officeDocument/2006/relationships/image" Target="../media/image203.png"/></Relationships>
</file>

<file path=ppt/slides/_rels/slide129.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23.xml"/><Relationship Id="rId1" Type="http://schemas.openxmlformats.org/officeDocument/2006/relationships/slideLayout" Target="../slideLayouts/slideLayout1.xml"/><Relationship Id="rId5" Type="http://schemas.openxmlformats.org/officeDocument/2006/relationships/image" Target="../media/image207.png"/><Relationship Id="rId4" Type="http://schemas.openxmlformats.org/officeDocument/2006/relationships/image" Target="../media/image206.png"/></Relationships>
</file>

<file path=ppt/slides/_rels/slide130.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24.xml"/><Relationship Id="rId1" Type="http://schemas.openxmlformats.org/officeDocument/2006/relationships/slideLayout" Target="../slideLayouts/slideLayout1.xml"/><Relationship Id="rId5" Type="http://schemas.openxmlformats.org/officeDocument/2006/relationships/image" Target="../media/image210.png"/><Relationship Id="rId4" Type="http://schemas.openxmlformats.org/officeDocument/2006/relationships/image" Target="../media/image209.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1.xml"/><Relationship Id="rId1" Type="http://schemas.openxmlformats.org/officeDocument/2006/relationships/vmlDrawing" Target="../drawings/vmlDrawing32.vml"/><Relationship Id="rId6" Type="http://schemas.openxmlformats.org/officeDocument/2006/relationships/image" Target="../media/image211.gif"/><Relationship Id="rId5" Type="http://schemas.openxmlformats.org/officeDocument/2006/relationships/image" Target="../media/image174.wmf"/><Relationship Id="rId4" Type="http://schemas.openxmlformats.org/officeDocument/2006/relationships/oleObject" Target="../embeddings/oleObject63.bin"/></Relationships>
</file>

<file path=ppt/slides/_rels/slide132.xml.rels><?xml version="1.0" encoding="UTF-8" standalone="yes"?>
<Relationships xmlns="http://schemas.openxmlformats.org/package/2006/relationships"><Relationship Id="rId8" Type="http://schemas.openxmlformats.org/officeDocument/2006/relationships/image" Target="../media/image214.gif"/><Relationship Id="rId3" Type="http://schemas.openxmlformats.org/officeDocument/2006/relationships/notesSlide" Target="../notesSlides/notesSlide126.xml"/><Relationship Id="rId7" Type="http://schemas.openxmlformats.org/officeDocument/2006/relationships/image" Target="../media/image213.gif"/><Relationship Id="rId2" Type="http://schemas.openxmlformats.org/officeDocument/2006/relationships/slideLayout" Target="../slideLayouts/slideLayout1.xml"/><Relationship Id="rId1" Type="http://schemas.openxmlformats.org/officeDocument/2006/relationships/vmlDrawing" Target="../drawings/vmlDrawing33.vml"/><Relationship Id="rId6" Type="http://schemas.openxmlformats.org/officeDocument/2006/relationships/image" Target="../media/image212.gif"/><Relationship Id="rId5" Type="http://schemas.openxmlformats.org/officeDocument/2006/relationships/image" Target="../media/image174.wmf"/><Relationship Id="rId4" Type="http://schemas.openxmlformats.org/officeDocument/2006/relationships/oleObject" Target="../embeddings/oleObject64.bin"/><Relationship Id="rId9" Type="http://schemas.openxmlformats.org/officeDocument/2006/relationships/image" Target="../media/image215.gif"/></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1.xml"/><Relationship Id="rId1" Type="http://schemas.openxmlformats.org/officeDocument/2006/relationships/vmlDrawing" Target="../drawings/vmlDrawing34.vml"/><Relationship Id="rId5" Type="http://schemas.openxmlformats.org/officeDocument/2006/relationships/image" Target="../media/image174.wmf"/><Relationship Id="rId4" Type="http://schemas.openxmlformats.org/officeDocument/2006/relationships/oleObject" Target="../embeddings/oleObject65.bin"/></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xml"/><Relationship Id="rId1" Type="http://schemas.openxmlformats.org/officeDocument/2006/relationships/vmlDrawing" Target="../drawings/vmlDrawing35.vml"/><Relationship Id="rId5" Type="http://schemas.openxmlformats.org/officeDocument/2006/relationships/image" Target="../media/image174.wmf"/><Relationship Id="rId4" Type="http://schemas.openxmlformats.org/officeDocument/2006/relationships/oleObject" Target="../embeddings/oleObject66.bin"/></Relationships>
</file>

<file path=ppt/slides/_rels/slide135.xml.rels><?xml version="1.0" encoding="UTF-8" standalone="yes"?>
<Relationships xmlns="http://schemas.openxmlformats.org/package/2006/relationships"><Relationship Id="rId3" Type="http://schemas.openxmlformats.org/officeDocument/2006/relationships/hyperlink" Target="http://robotics.eecs.berkeley.edu/~sastry/ee20/vision3/node2.html#figrubik" TargetMode="External"/><Relationship Id="rId2" Type="http://schemas.openxmlformats.org/officeDocument/2006/relationships/notesSlide" Target="../notesSlides/notesSlide129.xml"/><Relationship Id="rId1" Type="http://schemas.openxmlformats.org/officeDocument/2006/relationships/slideLayout" Target="../slideLayouts/slideLayout1.xml"/><Relationship Id="rId5" Type="http://schemas.openxmlformats.org/officeDocument/2006/relationships/image" Target="../media/image217.png"/><Relationship Id="rId4" Type="http://schemas.openxmlformats.org/officeDocument/2006/relationships/image" Target="../media/image216.png"/></Relationships>
</file>

<file path=ppt/slides/_rels/slide136.xml.rels><?xml version="1.0" encoding="UTF-8" standalone="yes"?>
<Relationships xmlns="http://schemas.openxmlformats.org/package/2006/relationships"><Relationship Id="rId3" Type="http://schemas.openxmlformats.org/officeDocument/2006/relationships/hyperlink" Target="http://robotics.eecs.berkeley.edu/~sastry/ee20/vision3/node2.html#figrubik" TargetMode="External"/><Relationship Id="rId2" Type="http://schemas.openxmlformats.org/officeDocument/2006/relationships/notesSlide" Target="../notesSlides/notesSlide130.xml"/><Relationship Id="rId1" Type="http://schemas.openxmlformats.org/officeDocument/2006/relationships/slideLayout" Target="../slideLayouts/slideLayout1.xml"/><Relationship Id="rId5" Type="http://schemas.openxmlformats.org/officeDocument/2006/relationships/image" Target="../media/image219.jpeg"/><Relationship Id="rId4" Type="http://schemas.openxmlformats.org/officeDocument/2006/relationships/image" Target="../media/image218.jpe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1.xml"/><Relationship Id="rId1" Type="http://schemas.openxmlformats.org/officeDocument/2006/relationships/vmlDrawing" Target="../drawings/vmlDrawing36.vml"/><Relationship Id="rId5" Type="http://schemas.openxmlformats.org/officeDocument/2006/relationships/image" Target="../media/image174.wmf"/><Relationship Id="rId4" Type="http://schemas.openxmlformats.org/officeDocument/2006/relationships/oleObject" Target="../embeddings/oleObject67.bin"/></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1.xml"/><Relationship Id="rId1" Type="http://schemas.openxmlformats.org/officeDocument/2006/relationships/vmlDrawing" Target="../drawings/vmlDrawing37.vml"/><Relationship Id="rId5" Type="http://schemas.openxmlformats.org/officeDocument/2006/relationships/image" Target="../media/image220.wmf"/><Relationship Id="rId4" Type="http://schemas.openxmlformats.org/officeDocument/2006/relationships/oleObject" Target="../embeddings/oleObject68.bin"/></Relationships>
</file>

<file path=ppt/slides/_rels/slide140.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notesSlide" Target="../notesSlides/notesSlide134.xml"/><Relationship Id="rId7" Type="http://schemas.openxmlformats.org/officeDocument/2006/relationships/image" Target="../media/image222.wmf"/><Relationship Id="rId2" Type="http://schemas.openxmlformats.org/officeDocument/2006/relationships/slideLayout" Target="../slideLayouts/slideLayout1.xml"/><Relationship Id="rId1" Type="http://schemas.openxmlformats.org/officeDocument/2006/relationships/vmlDrawing" Target="../drawings/vmlDrawing38.vml"/><Relationship Id="rId6" Type="http://schemas.openxmlformats.org/officeDocument/2006/relationships/oleObject" Target="../embeddings/oleObject70.bin"/><Relationship Id="rId5" Type="http://schemas.openxmlformats.org/officeDocument/2006/relationships/image" Target="../media/image221.wmf"/><Relationship Id="rId4" Type="http://schemas.openxmlformats.org/officeDocument/2006/relationships/oleObject" Target="../embeddings/oleObject69.bin"/><Relationship Id="rId9" Type="http://schemas.openxmlformats.org/officeDocument/2006/relationships/image" Target="../media/image223.wmf"/></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35.xml"/><Relationship Id="rId7" Type="http://schemas.openxmlformats.org/officeDocument/2006/relationships/image" Target="../media/image224.wmf"/><Relationship Id="rId2" Type="http://schemas.openxmlformats.org/officeDocument/2006/relationships/slideLayout" Target="../slideLayouts/slideLayout1.xml"/><Relationship Id="rId1" Type="http://schemas.openxmlformats.org/officeDocument/2006/relationships/vmlDrawing" Target="../drawings/vmlDrawing39.vml"/><Relationship Id="rId6" Type="http://schemas.openxmlformats.org/officeDocument/2006/relationships/oleObject" Target="../embeddings/oleObject73.bin"/><Relationship Id="rId5" Type="http://schemas.openxmlformats.org/officeDocument/2006/relationships/image" Target="../media/image174.wmf"/><Relationship Id="rId4" Type="http://schemas.openxmlformats.org/officeDocument/2006/relationships/oleObject" Target="../embeddings/oleObject72.bin"/></Relationships>
</file>

<file path=ppt/slides/_rels/slide142.xml.rels><?xml version="1.0" encoding="UTF-8" standalone="yes"?>
<Relationships xmlns="http://schemas.openxmlformats.org/package/2006/relationships"><Relationship Id="rId8" Type="http://schemas.openxmlformats.org/officeDocument/2006/relationships/oleObject" Target="../embeddings/oleObject76.bin"/><Relationship Id="rId3" Type="http://schemas.openxmlformats.org/officeDocument/2006/relationships/notesSlide" Target="../notesSlides/notesSlide136.xml"/><Relationship Id="rId7" Type="http://schemas.openxmlformats.org/officeDocument/2006/relationships/image" Target="../media/image225.wmf"/><Relationship Id="rId2" Type="http://schemas.openxmlformats.org/officeDocument/2006/relationships/slideLayout" Target="../slideLayouts/slideLayout1.xml"/><Relationship Id="rId1" Type="http://schemas.openxmlformats.org/officeDocument/2006/relationships/vmlDrawing" Target="../drawings/vmlDrawing40.vml"/><Relationship Id="rId6" Type="http://schemas.openxmlformats.org/officeDocument/2006/relationships/oleObject" Target="../embeddings/oleObject75.bin"/><Relationship Id="rId5" Type="http://schemas.openxmlformats.org/officeDocument/2006/relationships/image" Target="../media/image174.wmf"/><Relationship Id="rId4" Type="http://schemas.openxmlformats.org/officeDocument/2006/relationships/oleObject" Target="../embeddings/oleObject74.bin"/><Relationship Id="rId9" Type="http://schemas.openxmlformats.org/officeDocument/2006/relationships/image" Target="../media/image226.wmf"/></Relationships>
</file>

<file path=ppt/slides/_rels/slide143.xml.rels><?xml version="1.0" encoding="UTF-8" standalone="yes"?>
<Relationships xmlns="http://schemas.openxmlformats.org/package/2006/relationships"><Relationship Id="rId8" Type="http://schemas.openxmlformats.org/officeDocument/2006/relationships/image" Target="../media/image229.png"/><Relationship Id="rId3" Type="http://schemas.openxmlformats.org/officeDocument/2006/relationships/notesSlide" Target="../notesSlides/notesSlide137.xml"/><Relationship Id="rId7" Type="http://schemas.openxmlformats.org/officeDocument/2006/relationships/image" Target="../media/image228.png"/><Relationship Id="rId2" Type="http://schemas.openxmlformats.org/officeDocument/2006/relationships/slideLayout" Target="../slideLayouts/slideLayout1.xml"/><Relationship Id="rId1" Type="http://schemas.openxmlformats.org/officeDocument/2006/relationships/vmlDrawing" Target="../drawings/vmlDrawing41.vml"/><Relationship Id="rId6" Type="http://schemas.openxmlformats.org/officeDocument/2006/relationships/image" Target="../media/image227.emf"/><Relationship Id="rId5" Type="http://schemas.openxmlformats.org/officeDocument/2006/relationships/image" Target="../media/image174.wmf"/><Relationship Id="rId4" Type="http://schemas.openxmlformats.org/officeDocument/2006/relationships/oleObject" Target="../embeddings/oleObject77.bin"/></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38.xml"/><Relationship Id="rId7" Type="http://schemas.openxmlformats.org/officeDocument/2006/relationships/image" Target="../media/image230.wmf"/><Relationship Id="rId2" Type="http://schemas.openxmlformats.org/officeDocument/2006/relationships/slideLayout" Target="../slideLayouts/slideLayout1.xml"/><Relationship Id="rId1" Type="http://schemas.openxmlformats.org/officeDocument/2006/relationships/vmlDrawing" Target="../drawings/vmlDrawing42.vml"/><Relationship Id="rId6" Type="http://schemas.openxmlformats.org/officeDocument/2006/relationships/oleObject" Target="../embeddings/oleObject79.bin"/><Relationship Id="rId5" Type="http://schemas.openxmlformats.org/officeDocument/2006/relationships/image" Target="../media/image174.wmf"/><Relationship Id="rId4" Type="http://schemas.openxmlformats.org/officeDocument/2006/relationships/oleObject" Target="../embeddings/oleObject78.bin"/></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1.xml"/><Relationship Id="rId1" Type="http://schemas.openxmlformats.org/officeDocument/2006/relationships/vmlDrawing" Target="../drawings/vmlDrawing43.vml"/><Relationship Id="rId6" Type="http://schemas.openxmlformats.org/officeDocument/2006/relationships/image" Target="../media/image231.png"/><Relationship Id="rId5" Type="http://schemas.openxmlformats.org/officeDocument/2006/relationships/image" Target="../media/image174.wmf"/><Relationship Id="rId4" Type="http://schemas.openxmlformats.org/officeDocument/2006/relationships/oleObject" Target="../embeddings/oleObject80.bin"/></Relationships>
</file>

<file path=ppt/slides/_rels/slide146.xml.rels><?xml version="1.0" encoding="UTF-8" standalone="yes"?>
<Relationships xmlns="http://schemas.openxmlformats.org/package/2006/relationships"><Relationship Id="rId8" Type="http://schemas.openxmlformats.org/officeDocument/2006/relationships/oleObject" Target="../embeddings/oleObject83.bin"/><Relationship Id="rId3" Type="http://schemas.openxmlformats.org/officeDocument/2006/relationships/notesSlide" Target="../notesSlides/notesSlide140.xml"/><Relationship Id="rId7" Type="http://schemas.openxmlformats.org/officeDocument/2006/relationships/image" Target="../media/image232.wmf"/><Relationship Id="rId2" Type="http://schemas.openxmlformats.org/officeDocument/2006/relationships/slideLayout" Target="../slideLayouts/slideLayout1.xml"/><Relationship Id="rId1" Type="http://schemas.openxmlformats.org/officeDocument/2006/relationships/vmlDrawing" Target="../drawings/vmlDrawing44.vml"/><Relationship Id="rId6" Type="http://schemas.openxmlformats.org/officeDocument/2006/relationships/oleObject" Target="../embeddings/oleObject82.bin"/><Relationship Id="rId5" Type="http://schemas.openxmlformats.org/officeDocument/2006/relationships/image" Target="../media/image174.wmf"/><Relationship Id="rId4" Type="http://schemas.openxmlformats.org/officeDocument/2006/relationships/oleObject" Target="../embeddings/oleObject81.bin"/><Relationship Id="rId9" Type="http://schemas.openxmlformats.org/officeDocument/2006/relationships/image" Target="../media/image233.wmf"/></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1.xml"/><Relationship Id="rId7" Type="http://schemas.openxmlformats.org/officeDocument/2006/relationships/image" Target="../media/image234.wmf"/><Relationship Id="rId2" Type="http://schemas.openxmlformats.org/officeDocument/2006/relationships/slideLayout" Target="../slideLayouts/slideLayout1.xml"/><Relationship Id="rId1" Type="http://schemas.openxmlformats.org/officeDocument/2006/relationships/vmlDrawing" Target="../drawings/vmlDrawing45.vml"/><Relationship Id="rId6" Type="http://schemas.openxmlformats.org/officeDocument/2006/relationships/oleObject" Target="../embeddings/oleObject85.bin"/><Relationship Id="rId5" Type="http://schemas.openxmlformats.org/officeDocument/2006/relationships/image" Target="../media/image174.wmf"/><Relationship Id="rId4" Type="http://schemas.openxmlformats.org/officeDocument/2006/relationships/oleObject" Target="../embeddings/oleObject84.bin"/></Relationships>
</file>

<file path=ppt/slides/_rels/slide148.xml.rels><?xml version="1.0" encoding="UTF-8" standalone="yes"?>
<Relationships xmlns="http://schemas.openxmlformats.org/package/2006/relationships"><Relationship Id="rId8" Type="http://schemas.openxmlformats.org/officeDocument/2006/relationships/image" Target="../media/image237.png"/><Relationship Id="rId3" Type="http://schemas.openxmlformats.org/officeDocument/2006/relationships/notesSlide" Target="../notesSlides/notesSlide142.xml"/><Relationship Id="rId7" Type="http://schemas.openxmlformats.org/officeDocument/2006/relationships/image" Target="../media/image236.png"/><Relationship Id="rId2" Type="http://schemas.openxmlformats.org/officeDocument/2006/relationships/slideLayout" Target="../slideLayouts/slideLayout1.xml"/><Relationship Id="rId1" Type="http://schemas.openxmlformats.org/officeDocument/2006/relationships/vmlDrawing" Target="../drawings/vmlDrawing46.vml"/><Relationship Id="rId6" Type="http://schemas.openxmlformats.org/officeDocument/2006/relationships/image" Target="../media/image235.png"/><Relationship Id="rId5" Type="http://schemas.openxmlformats.org/officeDocument/2006/relationships/image" Target="../media/image174.wmf"/><Relationship Id="rId4" Type="http://schemas.openxmlformats.org/officeDocument/2006/relationships/oleObject" Target="../embeddings/oleObject86.bin"/><Relationship Id="rId9" Type="http://schemas.openxmlformats.org/officeDocument/2006/relationships/image" Target="../media/image238.png"/></Relationships>
</file>

<file path=ppt/slides/_rels/slide149.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notesSlide" Target="../notesSlides/notesSlide143.xml"/><Relationship Id="rId7" Type="http://schemas.openxmlformats.org/officeDocument/2006/relationships/image" Target="../media/image239.wmf"/><Relationship Id="rId2" Type="http://schemas.openxmlformats.org/officeDocument/2006/relationships/slideLayout" Target="../slideLayouts/slideLayout1.xml"/><Relationship Id="rId1" Type="http://schemas.openxmlformats.org/officeDocument/2006/relationships/vmlDrawing" Target="../drawings/vmlDrawing47.vml"/><Relationship Id="rId6" Type="http://schemas.openxmlformats.org/officeDocument/2006/relationships/oleObject" Target="../embeddings/oleObject88.bin"/><Relationship Id="rId11" Type="http://schemas.openxmlformats.org/officeDocument/2006/relationships/image" Target="../media/image241.wmf"/><Relationship Id="rId5" Type="http://schemas.openxmlformats.org/officeDocument/2006/relationships/image" Target="../media/image174.wmf"/><Relationship Id="rId10" Type="http://schemas.openxmlformats.org/officeDocument/2006/relationships/oleObject" Target="../embeddings/oleObject90.bin"/><Relationship Id="rId4" Type="http://schemas.openxmlformats.org/officeDocument/2006/relationships/oleObject" Target="../embeddings/oleObject87.bin"/><Relationship Id="rId9" Type="http://schemas.openxmlformats.org/officeDocument/2006/relationships/image" Target="../media/image240.wmf"/></Relationships>
</file>

<file path=ppt/slides/_rels/slide150.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notesSlide" Target="../notesSlides/notesSlide144.xml"/><Relationship Id="rId7" Type="http://schemas.openxmlformats.org/officeDocument/2006/relationships/image" Target="../media/image242.wmf"/><Relationship Id="rId2" Type="http://schemas.openxmlformats.org/officeDocument/2006/relationships/slideLayout" Target="../slideLayouts/slideLayout1.xml"/><Relationship Id="rId1" Type="http://schemas.openxmlformats.org/officeDocument/2006/relationships/vmlDrawing" Target="../drawings/vmlDrawing48.vml"/><Relationship Id="rId6" Type="http://schemas.openxmlformats.org/officeDocument/2006/relationships/oleObject" Target="../embeddings/oleObject92.bin"/><Relationship Id="rId5" Type="http://schemas.openxmlformats.org/officeDocument/2006/relationships/image" Target="../media/image174.wmf"/><Relationship Id="rId4" Type="http://schemas.openxmlformats.org/officeDocument/2006/relationships/oleObject" Target="../embeddings/oleObject91.bin"/><Relationship Id="rId9" Type="http://schemas.openxmlformats.org/officeDocument/2006/relationships/image" Target="../media/image243.wmf"/></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45.xml"/><Relationship Id="rId7" Type="http://schemas.openxmlformats.org/officeDocument/2006/relationships/image" Target="../media/image245.png"/><Relationship Id="rId2" Type="http://schemas.openxmlformats.org/officeDocument/2006/relationships/slideLayout" Target="../slideLayouts/slideLayout1.xml"/><Relationship Id="rId1" Type="http://schemas.openxmlformats.org/officeDocument/2006/relationships/vmlDrawing" Target="../drawings/vmlDrawing49.vml"/><Relationship Id="rId6" Type="http://schemas.openxmlformats.org/officeDocument/2006/relationships/image" Target="../media/image244.jpeg"/><Relationship Id="rId5" Type="http://schemas.openxmlformats.org/officeDocument/2006/relationships/image" Target="../media/image174.wmf"/><Relationship Id="rId4" Type="http://schemas.openxmlformats.org/officeDocument/2006/relationships/oleObject" Target="../embeddings/oleObject94.bin"/></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1.xml"/><Relationship Id="rId1" Type="http://schemas.openxmlformats.org/officeDocument/2006/relationships/vmlDrawing" Target="../drawings/vmlDrawing50.vml"/><Relationship Id="rId5" Type="http://schemas.openxmlformats.org/officeDocument/2006/relationships/image" Target="../media/image174.wmf"/><Relationship Id="rId4" Type="http://schemas.openxmlformats.org/officeDocument/2006/relationships/oleObject" Target="../embeddings/oleObject95.bin"/></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147.xml"/><Relationship Id="rId7" Type="http://schemas.openxmlformats.org/officeDocument/2006/relationships/image" Target="../media/image246.wmf"/><Relationship Id="rId2" Type="http://schemas.openxmlformats.org/officeDocument/2006/relationships/slideLayout" Target="../slideLayouts/slideLayout1.xml"/><Relationship Id="rId1" Type="http://schemas.openxmlformats.org/officeDocument/2006/relationships/vmlDrawing" Target="../drawings/vmlDrawing51.vml"/><Relationship Id="rId6" Type="http://schemas.openxmlformats.org/officeDocument/2006/relationships/oleObject" Target="../embeddings/oleObject97.bin"/><Relationship Id="rId5" Type="http://schemas.openxmlformats.org/officeDocument/2006/relationships/image" Target="../media/image174.wmf"/><Relationship Id="rId4" Type="http://schemas.openxmlformats.org/officeDocument/2006/relationships/oleObject" Target="../embeddings/oleObject96.bin"/></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48.xml"/><Relationship Id="rId2" Type="http://schemas.openxmlformats.org/officeDocument/2006/relationships/slideLayout" Target="../slideLayouts/slideLayout1.xml"/><Relationship Id="rId1" Type="http://schemas.openxmlformats.org/officeDocument/2006/relationships/vmlDrawing" Target="../drawings/vmlDrawing52.vml"/><Relationship Id="rId6" Type="http://schemas.openxmlformats.org/officeDocument/2006/relationships/image" Target="../media/image247.png"/><Relationship Id="rId5" Type="http://schemas.openxmlformats.org/officeDocument/2006/relationships/image" Target="../media/image174.wmf"/><Relationship Id="rId4" Type="http://schemas.openxmlformats.org/officeDocument/2006/relationships/oleObject" Target="../embeddings/oleObject98.bin"/></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1.xml"/><Relationship Id="rId1" Type="http://schemas.openxmlformats.org/officeDocument/2006/relationships/vmlDrawing" Target="../drawings/vmlDrawing53.vml"/><Relationship Id="rId6" Type="http://schemas.openxmlformats.org/officeDocument/2006/relationships/image" Target="../media/image248.png"/><Relationship Id="rId5" Type="http://schemas.openxmlformats.org/officeDocument/2006/relationships/image" Target="../media/image174.wmf"/><Relationship Id="rId4" Type="http://schemas.openxmlformats.org/officeDocument/2006/relationships/oleObject" Target="../embeddings/oleObject99.bin"/></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1.xml"/><Relationship Id="rId1" Type="http://schemas.openxmlformats.org/officeDocument/2006/relationships/vmlDrawing" Target="../drawings/vmlDrawing54.vml"/><Relationship Id="rId5" Type="http://schemas.openxmlformats.org/officeDocument/2006/relationships/image" Target="../media/image174.wmf"/><Relationship Id="rId4" Type="http://schemas.openxmlformats.org/officeDocument/2006/relationships/oleObject" Target="../embeddings/oleObject100.bin"/></Relationships>
</file>

<file path=ppt/slides/_rels/slide157.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1.xml"/><Relationship Id="rId1" Type="http://schemas.openxmlformats.org/officeDocument/2006/relationships/vmlDrawing" Target="../drawings/vmlDrawing55.vml"/><Relationship Id="rId6" Type="http://schemas.openxmlformats.org/officeDocument/2006/relationships/image" Target="../media/image249.png"/><Relationship Id="rId5" Type="http://schemas.openxmlformats.org/officeDocument/2006/relationships/image" Target="../media/image174.wmf"/><Relationship Id="rId4" Type="http://schemas.openxmlformats.org/officeDocument/2006/relationships/oleObject" Target="../embeddings/oleObject101.bin"/></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2.xml"/><Relationship Id="rId2" Type="http://schemas.openxmlformats.org/officeDocument/2006/relationships/slideLayout" Target="../slideLayouts/slideLayout1.xml"/><Relationship Id="rId1" Type="http://schemas.openxmlformats.org/officeDocument/2006/relationships/vmlDrawing" Target="../drawings/vmlDrawing56.vml"/><Relationship Id="rId5" Type="http://schemas.openxmlformats.org/officeDocument/2006/relationships/image" Target="../media/image174.wmf"/><Relationship Id="rId4" Type="http://schemas.openxmlformats.org/officeDocument/2006/relationships/oleObject" Target="../embeddings/oleObject102.bin"/></Relationships>
</file>

<file path=ppt/slides/_rels/slide159.xml.rels><?xml version="1.0" encoding="UTF-8" standalone="yes"?>
<Relationships xmlns="http://schemas.openxmlformats.org/package/2006/relationships"><Relationship Id="rId8" Type="http://schemas.openxmlformats.org/officeDocument/2006/relationships/oleObject" Target="../embeddings/oleObject105.bin"/><Relationship Id="rId3" Type="http://schemas.openxmlformats.org/officeDocument/2006/relationships/notesSlide" Target="../notesSlides/notesSlide153.xml"/><Relationship Id="rId7" Type="http://schemas.openxmlformats.org/officeDocument/2006/relationships/image" Target="../media/image250.wmf"/><Relationship Id="rId2" Type="http://schemas.openxmlformats.org/officeDocument/2006/relationships/slideLayout" Target="../slideLayouts/slideLayout1.xml"/><Relationship Id="rId1" Type="http://schemas.openxmlformats.org/officeDocument/2006/relationships/vmlDrawing" Target="../drawings/vmlDrawing57.vml"/><Relationship Id="rId6" Type="http://schemas.openxmlformats.org/officeDocument/2006/relationships/oleObject" Target="../embeddings/oleObject104.bin"/><Relationship Id="rId5" Type="http://schemas.openxmlformats.org/officeDocument/2006/relationships/image" Target="../media/image174.wmf"/><Relationship Id="rId4" Type="http://schemas.openxmlformats.org/officeDocument/2006/relationships/oleObject" Target="../embeddings/oleObject103.bin"/><Relationship Id="rId9" Type="http://schemas.openxmlformats.org/officeDocument/2006/relationships/image" Target="../media/image251.wmf"/></Relationships>
</file>

<file path=ppt/slides/_rels/slide160.xml.rels><?xml version="1.0" encoding="UTF-8" standalone="yes"?>
<Relationships xmlns="http://schemas.openxmlformats.org/package/2006/relationships"><Relationship Id="rId8" Type="http://schemas.openxmlformats.org/officeDocument/2006/relationships/image" Target="../media/image254.png"/><Relationship Id="rId3" Type="http://schemas.openxmlformats.org/officeDocument/2006/relationships/notesSlide" Target="../notesSlides/notesSlide154.xml"/><Relationship Id="rId7" Type="http://schemas.openxmlformats.org/officeDocument/2006/relationships/image" Target="../media/image253.jpeg"/><Relationship Id="rId12" Type="http://schemas.openxmlformats.org/officeDocument/2006/relationships/image" Target="../media/image258.png"/><Relationship Id="rId2" Type="http://schemas.openxmlformats.org/officeDocument/2006/relationships/slideLayout" Target="../slideLayouts/slideLayout1.xml"/><Relationship Id="rId1" Type="http://schemas.openxmlformats.org/officeDocument/2006/relationships/vmlDrawing" Target="../drawings/vmlDrawing58.vml"/><Relationship Id="rId6" Type="http://schemas.openxmlformats.org/officeDocument/2006/relationships/image" Target="../media/image252.jpeg"/><Relationship Id="rId11" Type="http://schemas.openxmlformats.org/officeDocument/2006/relationships/image" Target="../media/image257.png"/><Relationship Id="rId5" Type="http://schemas.openxmlformats.org/officeDocument/2006/relationships/image" Target="../media/image174.wmf"/><Relationship Id="rId10" Type="http://schemas.openxmlformats.org/officeDocument/2006/relationships/image" Target="../media/image256.png"/><Relationship Id="rId4" Type="http://schemas.openxmlformats.org/officeDocument/2006/relationships/oleObject" Target="../embeddings/oleObject106.bin"/><Relationship Id="rId9" Type="http://schemas.openxmlformats.org/officeDocument/2006/relationships/image" Target="../media/image255.png"/></Relationships>
</file>

<file path=ppt/slides/_rels/slide161.xml.rels><?xml version="1.0" encoding="UTF-8" standalone="yes"?>
<Relationships xmlns="http://schemas.openxmlformats.org/package/2006/relationships"><Relationship Id="rId8" Type="http://schemas.openxmlformats.org/officeDocument/2006/relationships/image" Target="../media/image261.jpeg"/><Relationship Id="rId3" Type="http://schemas.openxmlformats.org/officeDocument/2006/relationships/notesSlide" Target="../notesSlides/notesSlide155.xml"/><Relationship Id="rId7" Type="http://schemas.openxmlformats.org/officeDocument/2006/relationships/image" Target="../media/image260.jpeg"/><Relationship Id="rId2" Type="http://schemas.openxmlformats.org/officeDocument/2006/relationships/slideLayout" Target="../slideLayouts/slideLayout1.xml"/><Relationship Id="rId1" Type="http://schemas.openxmlformats.org/officeDocument/2006/relationships/vmlDrawing" Target="../drawings/vmlDrawing59.vml"/><Relationship Id="rId6" Type="http://schemas.openxmlformats.org/officeDocument/2006/relationships/image" Target="../media/image259.png"/><Relationship Id="rId11" Type="http://schemas.openxmlformats.org/officeDocument/2006/relationships/image" Target="../media/image264.png"/><Relationship Id="rId5" Type="http://schemas.openxmlformats.org/officeDocument/2006/relationships/image" Target="../media/image174.wmf"/><Relationship Id="rId10" Type="http://schemas.openxmlformats.org/officeDocument/2006/relationships/image" Target="../media/image263.png"/><Relationship Id="rId4" Type="http://schemas.openxmlformats.org/officeDocument/2006/relationships/oleObject" Target="../embeddings/oleObject107.bin"/><Relationship Id="rId9" Type="http://schemas.openxmlformats.org/officeDocument/2006/relationships/image" Target="../media/image262.png"/></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notesSlide" Target="../notesSlides/notesSlide157.xml"/><Relationship Id="rId1" Type="http://schemas.openxmlformats.org/officeDocument/2006/relationships/slideLayout" Target="../slideLayouts/slideLayout6.xml"/><Relationship Id="rId6" Type="http://schemas.openxmlformats.org/officeDocument/2006/relationships/image" Target="../media/image268.png"/><Relationship Id="rId5" Type="http://schemas.openxmlformats.org/officeDocument/2006/relationships/image" Target="../media/image267.png"/><Relationship Id="rId4" Type="http://schemas.openxmlformats.org/officeDocument/2006/relationships/image" Target="../media/image266.png"/></Relationships>
</file>

<file path=ppt/slides/_rels/slide164.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notesSlide" Target="../notesSlides/notesSlide158.xml"/><Relationship Id="rId1" Type="http://schemas.openxmlformats.org/officeDocument/2006/relationships/slideLayout" Target="../slideLayouts/slideLayout7.xml"/><Relationship Id="rId4" Type="http://schemas.openxmlformats.org/officeDocument/2006/relationships/image" Target="../media/image270.png"/></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161.xml"/><Relationship Id="rId1" Type="http://schemas.openxmlformats.org/officeDocument/2006/relationships/slideLayout" Target="../slideLayouts/slideLayout7.xml"/><Relationship Id="rId6" Type="http://schemas.openxmlformats.org/officeDocument/2006/relationships/image" Target="../media/image274.png"/><Relationship Id="rId5" Type="http://schemas.openxmlformats.org/officeDocument/2006/relationships/image" Target="../media/image273.png"/><Relationship Id="rId4" Type="http://schemas.openxmlformats.org/officeDocument/2006/relationships/image" Target="../media/image272.png"/></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8" Type="http://schemas.openxmlformats.org/officeDocument/2006/relationships/oleObject" Target="../embeddings/oleObject110.bin"/><Relationship Id="rId3" Type="http://schemas.openxmlformats.org/officeDocument/2006/relationships/notesSlide" Target="../notesSlides/notesSlide163.xml"/><Relationship Id="rId7" Type="http://schemas.openxmlformats.org/officeDocument/2006/relationships/image" Target="../media/image276.wmf"/><Relationship Id="rId12" Type="http://schemas.openxmlformats.org/officeDocument/2006/relationships/image" Target="../media/image280.png"/><Relationship Id="rId2" Type="http://schemas.openxmlformats.org/officeDocument/2006/relationships/slideLayout" Target="../slideLayouts/slideLayout2.xml"/><Relationship Id="rId1" Type="http://schemas.openxmlformats.org/officeDocument/2006/relationships/vmlDrawing" Target="../drawings/vmlDrawing60.vml"/><Relationship Id="rId6" Type="http://schemas.openxmlformats.org/officeDocument/2006/relationships/oleObject" Target="../embeddings/oleObject109.bin"/><Relationship Id="rId11" Type="http://schemas.openxmlformats.org/officeDocument/2006/relationships/image" Target="../media/image279.png"/><Relationship Id="rId5" Type="http://schemas.openxmlformats.org/officeDocument/2006/relationships/image" Target="../media/image275.wmf"/><Relationship Id="rId10" Type="http://schemas.openxmlformats.org/officeDocument/2006/relationships/image" Target="../media/image278.png"/><Relationship Id="rId4" Type="http://schemas.openxmlformats.org/officeDocument/2006/relationships/oleObject" Target="../embeddings/oleObject108.bin"/><Relationship Id="rId9" Type="http://schemas.openxmlformats.org/officeDocument/2006/relationships/image" Target="../media/image277.wmf"/></Relationships>
</file>

<file path=ppt/slides/_rels/slide170.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notesSlide" Target="../notesSlides/notesSlide164.xml"/><Relationship Id="rId1" Type="http://schemas.openxmlformats.org/officeDocument/2006/relationships/slideLayout" Target="../slideLayouts/slideLayout2.xml"/><Relationship Id="rId5" Type="http://schemas.openxmlformats.org/officeDocument/2006/relationships/image" Target="../media/image283.png"/><Relationship Id="rId4" Type="http://schemas.openxmlformats.org/officeDocument/2006/relationships/image" Target="../media/image282.png"/></Relationships>
</file>

<file path=ppt/slides/_rels/slide171.xml.rels><?xml version="1.0" encoding="UTF-8" standalone="yes"?>
<Relationships xmlns="http://schemas.openxmlformats.org/package/2006/relationships"><Relationship Id="rId3" Type="http://schemas.openxmlformats.org/officeDocument/2006/relationships/image" Target="../media/image284.png"/><Relationship Id="rId7" Type="http://schemas.openxmlformats.org/officeDocument/2006/relationships/image" Target="../media/image288.png"/><Relationship Id="rId2" Type="http://schemas.openxmlformats.org/officeDocument/2006/relationships/notesSlide" Target="../notesSlides/notesSlide165.xml"/><Relationship Id="rId1" Type="http://schemas.openxmlformats.org/officeDocument/2006/relationships/slideLayout" Target="../slideLayouts/slideLayout2.xml"/><Relationship Id="rId6" Type="http://schemas.openxmlformats.org/officeDocument/2006/relationships/image" Target="../media/image287.png"/><Relationship Id="rId5" Type="http://schemas.openxmlformats.org/officeDocument/2006/relationships/image" Target="../media/image286.png"/><Relationship Id="rId4" Type="http://schemas.openxmlformats.org/officeDocument/2006/relationships/image" Target="../media/image285.png"/></Relationships>
</file>

<file path=ppt/slides/_rels/slide172.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166.xml"/><Relationship Id="rId1" Type="http://schemas.openxmlformats.org/officeDocument/2006/relationships/slideLayout" Target="../slideLayouts/slideLayout2.xml"/><Relationship Id="rId4" Type="http://schemas.openxmlformats.org/officeDocument/2006/relationships/image" Target="../media/image290.png"/></Relationships>
</file>

<file path=ppt/slides/_rels/slide173.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167.xml"/><Relationship Id="rId1" Type="http://schemas.openxmlformats.org/officeDocument/2006/relationships/slideLayout" Target="../slideLayouts/slideLayout2.xml"/><Relationship Id="rId4" Type="http://schemas.openxmlformats.org/officeDocument/2006/relationships/image" Target="../media/image292.png"/></Relationships>
</file>

<file path=ppt/slides/_rels/slide174.xml.rels><?xml version="1.0" encoding="UTF-8" standalone="yes"?>
<Relationships xmlns="http://schemas.openxmlformats.org/package/2006/relationships"><Relationship Id="rId3" Type="http://schemas.openxmlformats.org/officeDocument/2006/relationships/image" Target="../media/image293.png"/><Relationship Id="rId2" Type="http://schemas.openxmlformats.org/officeDocument/2006/relationships/notesSlide" Target="../notesSlides/notesSlide168.xml"/><Relationship Id="rId1" Type="http://schemas.openxmlformats.org/officeDocument/2006/relationships/slideLayout" Target="../slideLayouts/slideLayout2.xml"/><Relationship Id="rId6" Type="http://schemas.openxmlformats.org/officeDocument/2006/relationships/image" Target="../media/image296.png"/><Relationship Id="rId5" Type="http://schemas.openxmlformats.org/officeDocument/2006/relationships/image" Target="../media/image295.png"/><Relationship Id="rId4" Type="http://schemas.openxmlformats.org/officeDocument/2006/relationships/image" Target="../media/image294.png"/></Relationships>
</file>

<file path=ppt/slides/_rels/slide175.xml.rels><?xml version="1.0" encoding="UTF-8" standalone="yes"?>
<Relationships xmlns="http://schemas.openxmlformats.org/package/2006/relationships"><Relationship Id="rId3" Type="http://schemas.openxmlformats.org/officeDocument/2006/relationships/image" Target="../media/image297.png"/><Relationship Id="rId2" Type="http://schemas.openxmlformats.org/officeDocument/2006/relationships/notesSlide" Target="../notesSlides/notesSlide169.xml"/><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notesSlide" Target="../notesSlides/notesSlide170.xml"/><Relationship Id="rId1" Type="http://schemas.openxmlformats.org/officeDocument/2006/relationships/slideLayout" Target="../slideLayouts/slideLayout7.xml"/><Relationship Id="rId4" Type="http://schemas.openxmlformats.org/officeDocument/2006/relationships/image" Target="../media/image299.png"/></Relationships>
</file>

<file path=ppt/slides/_rels/slide177.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71.xml"/><Relationship Id="rId1" Type="http://schemas.openxmlformats.org/officeDocument/2006/relationships/slideLayout" Target="../slideLayouts/slideLayout7.xml"/><Relationship Id="rId5" Type="http://schemas.openxmlformats.org/officeDocument/2006/relationships/image" Target="../media/image302.png"/><Relationship Id="rId4" Type="http://schemas.openxmlformats.org/officeDocument/2006/relationships/image" Target="../media/image301.png"/></Relationships>
</file>

<file path=ppt/slides/_rels/slide178.xml.rels><?xml version="1.0" encoding="UTF-8" standalone="yes"?>
<Relationships xmlns="http://schemas.openxmlformats.org/package/2006/relationships"><Relationship Id="rId3" Type="http://schemas.openxmlformats.org/officeDocument/2006/relationships/image" Target="../media/image303.png"/><Relationship Id="rId7" Type="http://schemas.openxmlformats.org/officeDocument/2006/relationships/image" Target="../media/image307.png"/><Relationship Id="rId2" Type="http://schemas.openxmlformats.org/officeDocument/2006/relationships/notesSlide" Target="../notesSlides/notesSlide172.xml"/><Relationship Id="rId1" Type="http://schemas.openxmlformats.org/officeDocument/2006/relationships/slideLayout" Target="../slideLayouts/slideLayout7.xml"/><Relationship Id="rId6" Type="http://schemas.openxmlformats.org/officeDocument/2006/relationships/image" Target="../media/image306.png"/><Relationship Id="rId5" Type="http://schemas.openxmlformats.org/officeDocument/2006/relationships/image" Target="../media/image305.png"/><Relationship Id="rId4" Type="http://schemas.openxmlformats.org/officeDocument/2006/relationships/image" Target="../media/image304.png"/></Relationships>
</file>

<file path=ppt/slides/_rels/slide179.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309.jpeg"/><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75.xml"/><Relationship Id="rId1" Type="http://schemas.openxmlformats.org/officeDocument/2006/relationships/slideLayout" Target="../slideLayouts/slideLayout7.xml"/><Relationship Id="rId4" Type="http://schemas.openxmlformats.org/officeDocument/2006/relationships/image" Target="../media/image311.png"/></Relationships>
</file>

<file path=ppt/slides/_rels/slide182.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notesSlide" Target="../notesSlides/notesSlide176.xml"/><Relationship Id="rId1" Type="http://schemas.openxmlformats.org/officeDocument/2006/relationships/slideLayout" Target="../slideLayouts/slideLayout7.xml"/><Relationship Id="rId6" Type="http://schemas.openxmlformats.org/officeDocument/2006/relationships/image" Target="../media/image315.png"/><Relationship Id="rId5" Type="http://schemas.openxmlformats.org/officeDocument/2006/relationships/image" Target="../media/image314.png"/><Relationship Id="rId4" Type="http://schemas.openxmlformats.org/officeDocument/2006/relationships/image" Target="../media/image313.png"/></Relationships>
</file>

<file path=ppt/slides/_rels/slide183.xml.rels><?xml version="1.0" encoding="UTF-8" standalone="yes"?>
<Relationships xmlns="http://schemas.openxmlformats.org/package/2006/relationships"><Relationship Id="rId3" Type="http://schemas.openxmlformats.org/officeDocument/2006/relationships/image" Target="../media/image316.png"/><Relationship Id="rId2" Type="http://schemas.openxmlformats.org/officeDocument/2006/relationships/notesSlide" Target="../notesSlides/notesSlide177.xml"/><Relationship Id="rId1" Type="http://schemas.openxmlformats.org/officeDocument/2006/relationships/slideLayout" Target="../slideLayouts/slideLayout6.xml"/><Relationship Id="rId5" Type="http://schemas.openxmlformats.org/officeDocument/2006/relationships/image" Target="../media/image318.png"/><Relationship Id="rId4" Type="http://schemas.openxmlformats.org/officeDocument/2006/relationships/image" Target="../media/image317.png"/></Relationships>
</file>

<file path=ppt/slides/_rels/slide184.xml.rels><?xml version="1.0" encoding="UTF-8" standalone="yes"?>
<Relationships xmlns="http://schemas.openxmlformats.org/package/2006/relationships"><Relationship Id="rId8" Type="http://schemas.openxmlformats.org/officeDocument/2006/relationships/image" Target="../media/image324.png"/><Relationship Id="rId3" Type="http://schemas.openxmlformats.org/officeDocument/2006/relationships/image" Target="../media/image319.png"/><Relationship Id="rId7" Type="http://schemas.openxmlformats.org/officeDocument/2006/relationships/image" Target="../media/image323.png"/><Relationship Id="rId2" Type="http://schemas.openxmlformats.org/officeDocument/2006/relationships/notesSlide" Target="../notesSlides/notesSlide178.xml"/><Relationship Id="rId1" Type="http://schemas.openxmlformats.org/officeDocument/2006/relationships/slideLayout" Target="../slideLayouts/slideLayout6.xml"/><Relationship Id="rId6" Type="http://schemas.openxmlformats.org/officeDocument/2006/relationships/image" Target="../media/image322.png"/><Relationship Id="rId5" Type="http://schemas.openxmlformats.org/officeDocument/2006/relationships/image" Target="../media/image321.png"/><Relationship Id="rId4" Type="http://schemas.openxmlformats.org/officeDocument/2006/relationships/image" Target="../media/image320.png"/></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3" Type="http://schemas.openxmlformats.org/officeDocument/2006/relationships/image" Target="../media/image325.jpeg"/><Relationship Id="rId2" Type="http://schemas.openxmlformats.org/officeDocument/2006/relationships/notesSlide" Target="../notesSlides/notesSlide180.xml"/><Relationship Id="rId1" Type="http://schemas.openxmlformats.org/officeDocument/2006/relationships/slideLayout" Target="../slideLayouts/slideLayout6.xml"/><Relationship Id="rId4" Type="http://schemas.openxmlformats.org/officeDocument/2006/relationships/image" Target="../media/image326.png"/></Relationships>
</file>

<file path=ppt/slides/_rels/slide187.xml.rels><?xml version="1.0" encoding="UTF-8" standalone="yes"?>
<Relationships xmlns="http://schemas.openxmlformats.org/package/2006/relationships"><Relationship Id="rId3" Type="http://schemas.openxmlformats.org/officeDocument/2006/relationships/image" Target="../media/image327.jpeg"/><Relationship Id="rId2" Type="http://schemas.openxmlformats.org/officeDocument/2006/relationships/notesSlide" Target="../notesSlides/notesSlide181.xml"/><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3" Type="http://schemas.openxmlformats.org/officeDocument/2006/relationships/image" Target="../media/image327.jpeg"/><Relationship Id="rId2" Type="http://schemas.openxmlformats.org/officeDocument/2006/relationships/notesSlide" Target="../notesSlides/notesSlide182.xml"/><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3" Type="http://schemas.openxmlformats.org/officeDocument/2006/relationships/image" Target="../media/image328.jpeg"/><Relationship Id="rId2" Type="http://schemas.openxmlformats.org/officeDocument/2006/relationships/notesSlide" Target="../notesSlides/notesSlide183.xml"/><Relationship Id="rId1" Type="http://schemas.openxmlformats.org/officeDocument/2006/relationships/slideLayout" Target="../slideLayouts/slideLayout6.xml"/><Relationship Id="rId4" Type="http://schemas.openxmlformats.org/officeDocument/2006/relationships/image" Target="../media/image32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sl-SI" altLang="sl-SI" b="1"/>
              <a:t>RAČUNALNIŠKI VID</a:t>
            </a:r>
            <a:endParaRPr lang="en-GB" altLang="sl-SI" b="1"/>
          </a:p>
        </p:txBody>
      </p:sp>
      <p:sp>
        <p:nvSpPr>
          <p:cNvPr id="3075" name="Rectangle 3"/>
          <p:cNvSpPr>
            <a:spLocks noGrp="1" noChangeArrowheads="1"/>
          </p:cNvSpPr>
          <p:nvPr>
            <p:ph type="subTitle" idx="1"/>
          </p:nvPr>
        </p:nvSpPr>
        <p:spPr>
          <a:xfrm>
            <a:off x="1979613" y="3213100"/>
            <a:ext cx="5792787" cy="2592388"/>
          </a:xfrm>
        </p:spPr>
        <p:txBody>
          <a:bodyPr/>
          <a:lstStyle/>
          <a:p>
            <a:pPr eaLnBrk="1" hangingPunct="1"/>
            <a:r>
              <a:rPr lang="sl-SI" altLang="sl-SI" dirty="0"/>
              <a:t>izr. prof. dr. Božidar Potočnik</a:t>
            </a:r>
            <a:br>
              <a:rPr lang="sl-SI" altLang="sl-SI" dirty="0"/>
            </a:br>
            <a:endParaRPr lang="sl-SI" altLang="sl-SI" dirty="0"/>
          </a:p>
          <a:p>
            <a:pPr eaLnBrk="1" hangingPunct="1"/>
            <a:r>
              <a:rPr lang="sl-SI" altLang="sl-SI" sz="1800" dirty="0"/>
              <a:t>Fakulteta za elektrotehniko, računalništvo in informatiko</a:t>
            </a:r>
          </a:p>
          <a:p>
            <a:pPr eaLnBrk="1" hangingPunct="1"/>
            <a:r>
              <a:rPr lang="sl-SI" altLang="sl-SI" sz="1800" dirty="0"/>
              <a:t>2. letnik R_IT – MAG</a:t>
            </a:r>
          </a:p>
          <a:p>
            <a:pPr eaLnBrk="1" hangingPunct="1"/>
            <a:r>
              <a:rPr lang="sl-SI" altLang="sl-SI" sz="1800" dirty="0"/>
              <a:t>l. 2025/2026</a:t>
            </a:r>
            <a:endParaRPr lang="en-GB" altLang="sl-SI" sz="1800" dirty="0"/>
          </a:p>
        </p:txBody>
      </p:sp>
      <p:sp>
        <p:nvSpPr>
          <p:cNvPr id="307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Tree>
  </p:cSld>
  <p:clrMapOvr>
    <a:masterClrMapping/>
  </p:clrMapOvr>
  <p:transition>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sl-SI" altLang="sl-SI" sz="2800" b="1" dirty="0"/>
              <a:t>OSEBJE</a:t>
            </a:r>
            <a:endParaRPr lang="sl-SI" altLang="sl-SI" b="1" dirty="0"/>
          </a:p>
        </p:txBody>
      </p:sp>
      <p:sp>
        <p:nvSpPr>
          <p:cNvPr id="5123" name="Content Placeholder 2"/>
          <p:cNvSpPr>
            <a:spLocks noGrp="1"/>
          </p:cNvSpPr>
          <p:nvPr>
            <p:ph idx="1"/>
          </p:nvPr>
        </p:nvSpPr>
        <p:spPr/>
        <p:txBody>
          <a:bodyPr/>
          <a:lstStyle/>
          <a:p>
            <a:r>
              <a:rPr lang="sl-SI" altLang="sl-SI" sz="2400" b="1" dirty="0"/>
              <a:t>Predavatelj:</a:t>
            </a:r>
            <a:endParaRPr lang="sl-SI" altLang="sl-SI" b="1" dirty="0"/>
          </a:p>
          <a:p>
            <a:pPr lvl="1"/>
            <a:r>
              <a:rPr lang="sl-SI" altLang="sl-SI" sz="2400" dirty="0"/>
              <a:t>izr. prof. dr. Božidar Potočnik</a:t>
            </a:r>
            <a:endParaRPr lang="en-US" altLang="sl-SI" dirty="0"/>
          </a:p>
          <a:p>
            <a:pPr lvl="2"/>
            <a:r>
              <a:rPr lang="sl-SI" altLang="sl-SI" sz="1800" dirty="0"/>
              <a:t>Kabinet: G2-2N.37 </a:t>
            </a:r>
          </a:p>
          <a:p>
            <a:pPr lvl="2"/>
            <a:r>
              <a:rPr lang="sl-SI" altLang="sl-SI" sz="1800" dirty="0"/>
              <a:t>E-pošta: </a:t>
            </a:r>
            <a:r>
              <a:rPr lang="sl-SI" altLang="sl-SI" sz="1800" dirty="0" err="1"/>
              <a:t>bozidar.potocnik</a:t>
            </a:r>
            <a:r>
              <a:rPr lang="en-US" altLang="sl-SI" sz="1800" dirty="0"/>
              <a:t>@u</a:t>
            </a:r>
            <a:r>
              <a:rPr lang="sl-SI" altLang="sl-SI" sz="1800" dirty="0"/>
              <a:t>m</a:t>
            </a:r>
            <a:r>
              <a:rPr lang="en-US" altLang="sl-SI" sz="1800" dirty="0"/>
              <a:t>.</a:t>
            </a:r>
            <a:r>
              <a:rPr lang="en-US" altLang="sl-SI" sz="1800" dirty="0" err="1"/>
              <a:t>si</a:t>
            </a:r>
            <a:endParaRPr lang="sl-SI" altLang="sl-SI" sz="1800" dirty="0"/>
          </a:p>
          <a:p>
            <a:pPr lvl="2"/>
            <a:r>
              <a:rPr lang="sl-SI" altLang="sl-SI" sz="1800" dirty="0"/>
              <a:t>Govorilne ure: sreda, 9.00 – 11.00</a:t>
            </a:r>
            <a:br>
              <a:rPr lang="sl-SI" altLang="sl-SI" sz="1800" dirty="0"/>
            </a:br>
            <a:endParaRPr lang="sl-SI" altLang="sl-SI" sz="1800" dirty="0"/>
          </a:p>
          <a:p>
            <a:r>
              <a:rPr lang="sl-SI" altLang="sl-SI" sz="2400" b="1" dirty="0"/>
              <a:t>Asistent:</a:t>
            </a:r>
          </a:p>
          <a:p>
            <a:pPr lvl="1"/>
            <a:r>
              <a:rPr lang="sl-SI" altLang="sl-SI" sz="2400" dirty="0"/>
              <a:t>dr. Martin Šavc (</a:t>
            </a:r>
            <a:r>
              <a:rPr lang="sl-SI" altLang="sl-SI" sz="2400" dirty="0" err="1"/>
              <a:t>martin.savc</a:t>
            </a:r>
            <a:r>
              <a:rPr lang="en-US" altLang="sl-SI" sz="2400" dirty="0"/>
              <a:t>@u</a:t>
            </a:r>
            <a:r>
              <a:rPr lang="sl-SI" altLang="sl-SI" sz="2400" dirty="0"/>
              <a:t>m</a:t>
            </a:r>
            <a:r>
              <a:rPr lang="en-US" altLang="sl-SI" sz="2400" dirty="0"/>
              <a:t>.</a:t>
            </a:r>
            <a:r>
              <a:rPr lang="en-US" altLang="sl-SI" sz="2400" dirty="0" err="1"/>
              <a:t>si</a:t>
            </a:r>
            <a:r>
              <a:rPr lang="en-US" altLang="sl-SI" sz="2400" dirty="0"/>
              <a:t>)</a:t>
            </a:r>
            <a:endParaRPr lang="sl-SI" altLang="sl-SI" sz="2400" dirty="0"/>
          </a:p>
        </p:txBody>
      </p:sp>
      <p:sp>
        <p:nvSpPr>
          <p:cNvPr id="5124" name="Slide Number Placeholder 9"/>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628AE04-C713-4A2E-84B9-1C58E38BCA71}" type="slidenum">
              <a:rPr lang="sl-SI" altLang="sl-SI" sz="1400" smtClean="0"/>
              <a:pPr>
                <a:spcBef>
                  <a:spcPct val="0"/>
                </a:spcBef>
                <a:buFontTx/>
                <a:buNone/>
              </a:pPr>
              <a:t>2</a:t>
            </a:fld>
            <a:endParaRPr lang="sl-SI" altLang="sl-SI" sz="1400"/>
          </a:p>
        </p:txBody>
      </p:sp>
      <p:sp>
        <p:nvSpPr>
          <p:cNvPr id="512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pic>
        <p:nvPicPr>
          <p:cNvPr id="2" name="Slika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14934" y="4174456"/>
            <a:ext cx="1210875" cy="1558800"/>
          </a:xfrm>
          <a:prstGeom prst="rect">
            <a:avLst/>
          </a:prstGeom>
        </p:spPr>
      </p:pic>
      <p:pic>
        <p:nvPicPr>
          <p:cNvPr id="3" name="Slika 2"/>
          <p:cNvPicPr>
            <a:picLocks noChangeAspect="1"/>
          </p:cNvPicPr>
          <p:nvPr/>
        </p:nvPicPr>
        <p:blipFill rotWithShape="1">
          <a:blip r:embed="rId3">
            <a:extLst>
              <a:ext uri="{28A0092B-C50C-407E-A947-70E740481C1C}">
                <a14:useLocalDpi xmlns:a14="http://schemas.microsoft.com/office/drawing/2010/main" val="0"/>
              </a:ext>
            </a:extLst>
          </a:blip>
          <a:srcRect l="12318" r="9150"/>
          <a:stretch/>
        </p:blipFill>
        <p:spPr>
          <a:xfrm>
            <a:off x="7308304" y="1916832"/>
            <a:ext cx="1224136" cy="1558800"/>
          </a:xfrm>
          <a:prstGeom prst="rect">
            <a:avLst/>
          </a:prstGeom>
        </p:spPr>
      </p:pic>
    </p:spTree>
  </p:cSld>
  <p:clrMapOvr>
    <a:masterClrMapping/>
  </p:clrMapOvr>
  <p:transition>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sl-SI" altLang="sl-SI" sz="2800" b="1"/>
              <a:t>PREDVIDENI ŠTUDIJSKI REZULTATI</a:t>
            </a:r>
            <a:endParaRPr lang="sl-SI" altLang="sl-SI" b="1"/>
          </a:p>
        </p:txBody>
      </p:sp>
      <p:sp>
        <p:nvSpPr>
          <p:cNvPr id="6147" name="Content Placeholder 2"/>
          <p:cNvSpPr>
            <a:spLocks noGrp="1"/>
          </p:cNvSpPr>
          <p:nvPr>
            <p:ph idx="1"/>
          </p:nvPr>
        </p:nvSpPr>
        <p:spPr>
          <a:xfrm>
            <a:off x="457200" y="1196975"/>
            <a:ext cx="8229600" cy="4929188"/>
          </a:xfrm>
        </p:spPr>
        <p:txBody>
          <a:bodyPr/>
          <a:lstStyle/>
          <a:p>
            <a:r>
              <a:rPr lang="sl-SI" altLang="sl-SI" sz="2400" b="1"/>
              <a:t>Cilji:</a:t>
            </a:r>
            <a:endParaRPr lang="sl-SI" altLang="sl-SI" b="1"/>
          </a:p>
          <a:p>
            <a:pPr lvl="1"/>
            <a:r>
              <a:rPr lang="sl-SI" altLang="sl-SI" sz="1800"/>
              <a:t>Posredovati izpopolnjene tehnike računalniškega vida, ki so osnova za sledenje gibanju, za razpoznavanje objektov in scen, za nadzor in varovanje prostorov, imovine in oseb, za biometriko in podobno.</a:t>
            </a:r>
            <a:br>
              <a:rPr lang="sl-SI" altLang="sl-SI" sz="1800"/>
            </a:br>
            <a:endParaRPr lang="sl-SI" altLang="sl-SI" sz="1800"/>
          </a:p>
          <a:p>
            <a:r>
              <a:rPr lang="sl-SI" altLang="sl-SI" sz="2400" b="1"/>
              <a:t>Znanje in razumevanje:</a:t>
            </a:r>
          </a:p>
          <a:p>
            <a:pPr lvl="1"/>
            <a:r>
              <a:rPr lang="sl-SI" altLang="sl-SI" sz="2400"/>
              <a:t>Študent bo sposoben:</a:t>
            </a:r>
          </a:p>
          <a:p>
            <a:pPr lvl="2"/>
            <a:r>
              <a:rPr lang="sl-SI" altLang="sl-SI" sz="1800"/>
              <a:t>reproducirati izpopolnjene postopke za segmentacijo slik in za tvorbo globinskih slik, </a:t>
            </a:r>
          </a:p>
          <a:p>
            <a:pPr lvl="2"/>
            <a:r>
              <a:rPr lang="sl-SI" altLang="sl-SI" sz="1800"/>
              <a:t>razumeti in uporabiti algoritme za sledenje gibanju in za rekonstrukcijo trdnih teles iz njihovega gibanja ali gibanja kamere okoli njih, </a:t>
            </a:r>
          </a:p>
          <a:p>
            <a:pPr lvl="2"/>
            <a:r>
              <a:rPr lang="sl-SI" altLang="sl-SI" sz="1800"/>
              <a:t>dojemati posnetke 3D prostorov, njihovo analizo in modeliranje, </a:t>
            </a:r>
          </a:p>
          <a:p>
            <a:pPr lvl="2"/>
            <a:r>
              <a:rPr lang="sl-SI" altLang="sl-SI" sz="1800"/>
              <a:t>oceniti zahtevnost postopkov in predvideti potrebno računalniško, komunikacijsko in video opremo. </a:t>
            </a:r>
            <a:endParaRPr lang="sl-SI" altLang="sl-SI"/>
          </a:p>
        </p:txBody>
      </p:sp>
      <p:sp>
        <p:nvSpPr>
          <p:cNvPr id="614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BCAF0E9-5E5F-44CA-923C-B25A415ECE0D}" type="slidenum">
              <a:rPr lang="sl-SI" altLang="sl-SI" sz="1400" smtClean="0"/>
              <a:pPr>
                <a:spcBef>
                  <a:spcPct val="0"/>
                </a:spcBef>
                <a:buFontTx/>
                <a:buNone/>
              </a:pPr>
              <a:t>3</a:t>
            </a:fld>
            <a:endParaRPr lang="sl-SI" altLang="sl-SI" sz="1400"/>
          </a:p>
        </p:txBody>
      </p:sp>
      <p:sp>
        <p:nvSpPr>
          <p:cNvPr id="6149" name="Footer Placeholder 3"/>
          <p:cNvSpPr txBox="1">
            <a:spLocks/>
          </p:cNvSpPr>
          <p:nvPr/>
        </p:nvSpPr>
        <p:spPr bwMode="auto">
          <a:xfrm>
            <a:off x="468313" y="6237288"/>
            <a:ext cx="64087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1400"/>
              <a:t>Predavanja iz Računalniškega vida, FERI Maribor </a:t>
            </a:r>
          </a:p>
        </p:txBody>
      </p:sp>
    </p:spTree>
  </p:cSld>
  <p:clrMapOvr>
    <a:masterClrMapping/>
  </p:clrMapOvr>
  <p:transition>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sl-SI" altLang="sl-SI" sz="2800" b="1"/>
              <a:t>OBVEZNOSTI ŠTUDENTA</a:t>
            </a:r>
            <a:endParaRPr lang="sl-SI" altLang="sl-SI" b="1"/>
          </a:p>
        </p:txBody>
      </p:sp>
      <p:sp>
        <p:nvSpPr>
          <p:cNvPr id="7171" name="Content Placeholder 2"/>
          <p:cNvSpPr>
            <a:spLocks noGrp="1"/>
          </p:cNvSpPr>
          <p:nvPr>
            <p:ph idx="1"/>
          </p:nvPr>
        </p:nvSpPr>
        <p:spPr/>
        <p:txBody>
          <a:bodyPr/>
          <a:lstStyle/>
          <a:p>
            <a:r>
              <a:rPr lang="sl-SI" altLang="sl-SI" sz="2400"/>
              <a:t>ECTS: 6 točk ≈ 180 ur dela</a:t>
            </a:r>
            <a:endParaRPr lang="sl-SI" altLang="sl-SI"/>
          </a:p>
          <a:p>
            <a:pPr lvl="2"/>
            <a:r>
              <a:rPr lang="sl-SI" altLang="sl-SI" sz="1800"/>
              <a:t>1 točko ECTS lahko enačimo z 30 urami dela</a:t>
            </a:r>
            <a:br>
              <a:rPr lang="sl-SI" altLang="sl-SI" sz="1800"/>
            </a:br>
            <a:endParaRPr lang="sl-SI" altLang="sl-SI" sz="1800"/>
          </a:p>
          <a:p>
            <a:r>
              <a:rPr lang="sl-SI" altLang="sl-SI" sz="2400"/>
              <a:t>Kontaktne ure:</a:t>
            </a:r>
            <a:endParaRPr lang="sl-SI" altLang="sl-SI"/>
          </a:p>
          <a:p>
            <a:pPr lvl="2"/>
            <a:r>
              <a:rPr lang="sl-SI" altLang="sl-SI" sz="1800"/>
              <a:t>Predavanja: 30 ur</a:t>
            </a:r>
          </a:p>
          <a:p>
            <a:pPr lvl="2"/>
            <a:r>
              <a:rPr lang="sl-SI" altLang="sl-SI" sz="1800"/>
              <a:t>Laboratorijske oz. računalniške vaje: 30 ur</a:t>
            </a:r>
            <a:br>
              <a:rPr lang="sl-SI" altLang="sl-SI" sz="1800"/>
            </a:br>
            <a:endParaRPr lang="sl-SI" altLang="sl-SI"/>
          </a:p>
          <a:p>
            <a:r>
              <a:rPr lang="sl-SI" altLang="sl-SI" sz="2400"/>
              <a:t>Samostojno delo študenta (npr. doma): ≈ 120 ur</a:t>
            </a:r>
          </a:p>
          <a:p>
            <a:pPr lvl="1"/>
            <a:r>
              <a:rPr lang="sl-SI" altLang="sl-SI" sz="2000"/>
              <a:t>Laboratorijske vaje: ≈ 70 ur</a:t>
            </a:r>
          </a:p>
          <a:p>
            <a:pPr lvl="1"/>
            <a:r>
              <a:rPr lang="sl-SI" altLang="sl-SI" sz="2000"/>
              <a:t>Priprava na izpit: ≈ 50 ur</a:t>
            </a:r>
          </a:p>
          <a:p>
            <a:pPr lvl="1"/>
            <a:r>
              <a:rPr lang="sl-SI" altLang="sl-SI" sz="2000"/>
              <a:t>Dejanske porabljene ure seveda odvisne od študenta.</a:t>
            </a:r>
            <a:endParaRPr lang="sl-SI" altLang="sl-SI"/>
          </a:p>
          <a:p>
            <a:pPr lvl="1"/>
            <a:endParaRPr lang="sl-SI" altLang="sl-SI"/>
          </a:p>
          <a:p>
            <a:pPr lvl="2"/>
            <a:endParaRPr lang="sl-SI" altLang="sl-SI" sz="1800"/>
          </a:p>
          <a:p>
            <a:endParaRPr lang="sl-SI" altLang="sl-SI"/>
          </a:p>
        </p:txBody>
      </p:sp>
      <p:sp>
        <p:nvSpPr>
          <p:cNvPr id="717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8BF19F2-2D37-4CDC-80ED-E8C67D24418A}" type="slidenum">
              <a:rPr lang="sl-SI" altLang="sl-SI" sz="1400" smtClean="0"/>
              <a:pPr>
                <a:spcBef>
                  <a:spcPct val="0"/>
                </a:spcBef>
                <a:buFontTx/>
                <a:buNone/>
              </a:pPr>
              <a:t>4</a:t>
            </a:fld>
            <a:endParaRPr lang="sl-SI" altLang="sl-SI" sz="1400"/>
          </a:p>
        </p:txBody>
      </p:sp>
      <p:sp>
        <p:nvSpPr>
          <p:cNvPr id="7173" name="Footer Placeholder 3"/>
          <p:cNvSpPr txBox="1">
            <a:spLocks/>
          </p:cNvSpPr>
          <p:nvPr/>
        </p:nvSpPr>
        <p:spPr bwMode="auto">
          <a:xfrm>
            <a:off x="468313" y="6237288"/>
            <a:ext cx="64087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1400"/>
              <a:t>Predavanja iz Računalniškega vida, FERI Maribor </a:t>
            </a:r>
          </a:p>
        </p:txBody>
      </p:sp>
    </p:spTree>
  </p:cSld>
  <p:clrMapOvr>
    <a:masterClrMapping/>
  </p:clrMapOvr>
  <p:transition>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sl-SI" altLang="sl-SI" sz="2800" b="1"/>
              <a:t>NAČINI OCENJEVANJA</a:t>
            </a:r>
            <a:endParaRPr lang="sl-SI" altLang="sl-SI" b="1"/>
          </a:p>
        </p:txBody>
      </p:sp>
      <p:sp>
        <p:nvSpPr>
          <p:cNvPr id="3" name="Content Placeholder 2"/>
          <p:cNvSpPr>
            <a:spLocks noGrp="1"/>
          </p:cNvSpPr>
          <p:nvPr>
            <p:ph idx="1"/>
          </p:nvPr>
        </p:nvSpPr>
        <p:spPr/>
        <p:txBody>
          <a:bodyPr/>
          <a:lstStyle/>
          <a:p>
            <a:pPr>
              <a:defRPr/>
            </a:pPr>
            <a:r>
              <a:rPr lang="sl-SI" sz="2400" dirty="0"/>
              <a:t>Končno oceno tvorijo:</a:t>
            </a:r>
            <a:endParaRPr lang="sl-SI" dirty="0"/>
          </a:p>
          <a:p>
            <a:pPr lvl="1">
              <a:defRPr/>
            </a:pPr>
            <a:r>
              <a:rPr lang="sl-SI" sz="2000" dirty="0"/>
              <a:t>Opravljene laboratorijske vaje – 50 % oz. 500 točk (</a:t>
            </a:r>
            <a:r>
              <a:rPr lang="sl-SI" sz="2000" b="1" dirty="0">
                <a:solidFill>
                  <a:srgbClr val="FF0000"/>
                </a:solidFill>
              </a:rPr>
              <a:t>&gt;= 250 točk</a:t>
            </a:r>
            <a:r>
              <a:rPr lang="sl-SI" sz="2000" dirty="0"/>
              <a:t>)</a:t>
            </a:r>
          </a:p>
          <a:p>
            <a:pPr lvl="1">
              <a:defRPr/>
            </a:pPr>
            <a:r>
              <a:rPr lang="sl-SI" sz="2000" dirty="0"/>
              <a:t>Pisni izpit – 50 % oz. 500 točk (</a:t>
            </a:r>
            <a:r>
              <a:rPr lang="sl-SI" sz="2000" b="1" dirty="0">
                <a:solidFill>
                  <a:srgbClr val="FF0000"/>
                </a:solidFill>
              </a:rPr>
              <a:t>&gt;= 250 točk</a:t>
            </a:r>
            <a:r>
              <a:rPr lang="sl-SI" sz="2000" dirty="0"/>
              <a:t>)</a:t>
            </a:r>
            <a:endParaRPr lang="sl-SI" dirty="0"/>
          </a:p>
          <a:p>
            <a:pPr>
              <a:buFontTx/>
              <a:buNone/>
              <a:defRPr/>
            </a:pPr>
            <a:endParaRPr lang="sl-SI" dirty="0"/>
          </a:p>
          <a:p>
            <a:pPr>
              <a:defRPr/>
            </a:pPr>
            <a:r>
              <a:rPr lang="sl-SI" sz="2400" b="1" dirty="0">
                <a:latin typeface="+mj-lt"/>
                <a:ea typeface="+mj-ea"/>
                <a:cs typeface="+mj-cs"/>
              </a:rPr>
              <a:t>Ne pozabite se prijavljati na izpitne roke!</a:t>
            </a:r>
            <a:endParaRPr lang="sl-SI" b="1" dirty="0">
              <a:latin typeface="+mj-lt"/>
              <a:ea typeface="+mj-ea"/>
              <a:cs typeface="+mj-cs"/>
            </a:endParaRPr>
          </a:p>
          <a:p>
            <a:pPr>
              <a:defRPr/>
            </a:pPr>
            <a:endParaRPr lang="sl-SI" dirty="0"/>
          </a:p>
        </p:txBody>
      </p:sp>
      <p:sp>
        <p:nvSpPr>
          <p:cNvPr id="819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15A1256-21C0-4D01-8DD1-21155D0DF746}" type="slidenum">
              <a:rPr lang="sl-SI" altLang="sl-SI" sz="1400" smtClean="0"/>
              <a:pPr>
                <a:spcBef>
                  <a:spcPct val="0"/>
                </a:spcBef>
                <a:buFontTx/>
                <a:buNone/>
              </a:pPr>
              <a:t>5</a:t>
            </a:fld>
            <a:endParaRPr lang="sl-SI" altLang="sl-SI" sz="1400"/>
          </a:p>
        </p:txBody>
      </p:sp>
      <p:sp>
        <p:nvSpPr>
          <p:cNvPr id="8197" name="Footer Placeholder 3"/>
          <p:cNvSpPr txBox="1">
            <a:spLocks/>
          </p:cNvSpPr>
          <p:nvPr/>
        </p:nvSpPr>
        <p:spPr bwMode="auto">
          <a:xfrm>
            <a:off x="468313" y="6237288"/>
            <a:ext cx="64087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1400"/>
              <a:t>Predavanja iz Računalniškega vida, FERI Maribor </a:t>
            </a:r>
          </a:p>
        </p:txBody>
      </p:sp>
    </p:spTree>
  </p:cSld>
  <p:clrMapOvr>
    <a:masterClrMapping/>
  </p:clrMapOvr>
  <p:transition>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sl-SI" altLang="sl-SI" sz="2800" b="1"/>
              <a:t>PREDVIDEN RAZPORED PREDAVANJ</a:t>
            </a:r>
            <a:endParaRPr lang="sl-SI" altLang="sl-SI" b="1"/>
          </a:p>
        </p:txBody>
      </p:sp>
      <p:sp>
        <p:nvSpPr>
          <p:cNvPr id="9219" name="Content Placeholder 5"/>
          <p:cNvSpPr>
            <a:spLocks noGrp="1"/>
          </p:cNvSpPr>
          <p:nvPr>
            <p:ph sz="half" idx="1"/>
          </p:nvPr>
        </p:nvSpPr>
        <p:spPr>
          <a:xfrm>
            <a:off x="611188" y="1428750"/>
            <a:ext cx="3884612" cy="5111750"/>
          </a:xfrm>
        </p:spPr>
        <p:txBody>
          <a:bodyPr/>
          <a:lstStyle/>
          <a:p>
            <a:pPr marL="457200" indent="-457200">
              <a:buFontTx/>
              <a:buAutoNum type="arabicPeriod"/>
            </a:pPr>
            <a:r>
              <a:rPr lang="sl-SI" altLang="sl-SI" sz="2400" dirty="0"/>
              <a:t>teden (3.10.)</a:t>
            </a:r>
          </a:p>
          <a:p>
            <a:pPr marL="457200" indent="-457200">
              <a:buFontTx/>
              <a:buAutoNum type="arabicPeriod"/>
            </a:pPr>
            <a:r>
              <a:rPr lang="sl-SI" altLang="sl-SI" sz="2400" dirty="0"/>
              <a:t>teden (10.10.)</a:t>
            </a:r>
          </a:p>
          <a:p>
            <a:pPr marL="457200" indent="-457200">
              <a:buFontTx/>
              <a:buAutoNum type="arabicPeriod"/>
            </a:pPr>
            <a:r>
              <a:rPr lang="sl-SI" altLang="sl-SI" sz="2400" dirty="0">
                <a:solidFill>
                  <a:srgbClr val="FF0000"/>
                </a:solidFill>
              </a:rPr>
              <a:t>teden (23.10.) – čet, </a:t>
            </a:r>
            <a:br>
              <a:rPr lang="sl-SI" altLang="sl-SI" sz="2400" dirty="0">
                <a:solidFill>
                  <a:srgbClr val="FF0000"/>
                </a:solidFill>
              </a:rPr>
            </a:br>
            <a:r>
              <a:rPr lang="sl-SI" altLang="sl-SI" sz="2400" dirty="0">
                <a:solidFill>
                  <a:srgbClr val="FF0000"/>
                </a:solidFill>
              </a:rPr>
              <a:t>7-9, A-301</a:t>
            </a:r>
          </a:p>
          <a:p>
            <a:pPr marL="457200" indent="-457200">
              <a:buFontTx/>
              <a:buAutoNum type="arabicPeriod"/>
            </a:pPr>
            <a:r>
              <a:rPr lang="sl-SI" altLang="sl-SI" sz="2400" dirty="0"/>
              <a:t>teden (24.10.)</a:t>
            </a:r>
          </a:p>
          <a:p>
            <a:pPr marL="457200" indent="-457200">
              <a:buFontTx/>
              <a:buAutoNum type="arabicPeriod" startAt="5"/>
            </a:pPr>
            <a:r>
              <a:rPr lang="sl-SI" altLang="sl-SI" sz="2400" dirty="0">
                <a:solidFill>
                  <a:srgbClr val="FF0000"/>
                </a:solidFill>
              </a:rPr>
              <a:t>teden (31.10.) - praznik</a:t>
            </a:r>
          </a:p>
          <a:p>
            <a:pPr marL="457200" indent="-457200">
              <a:buFontTx/>
              <a:buAutoNum type="arabicPeriod" startAt="5"/>
            </a:pPr>
            <a:r>
              <a:rPr lang="sl-SI" altLang="sl-SI" sz="2400" dirty="0"/>
              <a:t>teden (7.11.)</a:t>
            </a:r>
          </a:p>
          <a:p>
            <a:pPr marL="457200" indent="-457200">
              <a:buFontTx/>
              <a:buAutoNum type="arabicPeriod" startAt="5"/>
            </a:pPr>
            <a:r>
              <a:rPr lang="sl-SI" altLang="sl-SI" sz="2400" dirty="0"/>
              <a:t>teden (14.11.)</a:t>
            </a:r>
          </a:p>
          <a:p>
            <a:pPr marL="457200" indent="-457200">
              <a:buFontTx/>
              <a:buAutoNum type="arabicPeriod" startAt="5"/>
            </a:pPr>
            <a:r>
              <a:rPr lang="sl-SI" altLang="sl-SI" sz="2400" b="1" dirty="0">
                <a:solidFill>
                  <a:schemeClr val="accent2"/>
                </a:solidFill>
              </a:rPr>
              <a:t>teden (21.11.) – 1. kolokvij</a:t>
            </a:r>
            <a:endParaRPr lang="sl-SI" altLang="sl-SI" sz="2400" dirty="0"/>
          </a:p>
        </p:txBody>
      </p:sp>
      <p:sp>
        <p:nvSpPr>
          <p:cNvPr id="9220" name="Content Placeholder 7"/>
          <p:cNvSpPr>
            <a:spLocks noGrp="1"/>
          </p:cNvSpPr>
          <p:nvPr>
            <p:ph sz="half" idx="2"/>
          </p:nvPr>
        </p:nvSpPr>
        <p:spPr>
          <a:xfrm>
            <a:off x="4648200" y="1428750"/>
            <a:ext cx="3884613" cy="5111750"/>
          </a:xfrm>
        </p:spPr>
        <p:txBody>
          <a:bodyPr/>
          <a:lstStyle/>
          <a:p>
            <a:pPr marL="457200" indent="-457200">
              <a:buFont typeface="+mj-lt"/>
              <a:buAutoNum type="arabicPeriod" startAt="9"/>
            </a:pPr>
            <a:r>
              <a:rPr lang="sl-SI" altLang="sl-SI" sz="2400" dirty="0"/>
              <a:t>teden (28.11.)</a:t>
            </a:r>
          </a:p>
          <a:p>
            <a:pPr marL="457200" indent="-457200">
              <a:buFontTx/>
              <a:buAutoNum type="arabicPeriod" startAt="9"/>
            </a:pPr>
            <a:r>
              <a:rPr lang="sl-SI" altLang="sl-SI" sz="2400" dirty="0"/>
              <a:t>teden (5.12.)</a:t>
            </a:r>
          </a:p>
          <a:p>
            <a:pPr marL="457200" indent="-457200">
              <a:buFontTx/>
              <a:buAutoNum type="arabicPeriod" startAt="9"/>
            </a:pPr>
            <a:r>
              <a:rPr lang="sl-SI" altLang="sl-SI" sz="2400" dirty="0"/>
              <a:t>teden (12.12.)</a:t>
            </a:r>
          </a:p>
          <a:p>
            <a:pPr marL="457200" indent="-457200">
              <a:buFontTx/>
              <a:buAutoNum type="arabicPeriod" startAt="9"/>
            </a:pPr>
            <a:r>
              <a:rPr lang="sl-SI" altLang="sl-SI" sz="2400" dirty="0"/>
              <a:t>teden (19.12.)</a:t>
            </a:r>
          </a:p>
          <a:p>
            <a:pPr marL="457200" indent="-457200">
              <a:buFontTx/>
              <a:buAutoNum type="arabicPeriod" startAt="9"/>
            </a:pPr>
            <a:r>
              <a:rPr lang="sl-SI" altLang="sl-SI" sz="2400" dirty="0"/>
              <a:t>teden (9.1.)</a:t>
            </a:r>
          </a:p>
          <a:p>
            <a:pPr marL="457200" indent="-457200">
              <a:buFontTx/>
              <a:buAutoNum type="arabicPeriod" startAt="9"/>
            </a:pPr>
            <a:r>
              <a:rPr lang="sl-SI" altLang="sl-SI" sz="2400" dirty="0"/>
              <a:t>teden (16.1.)</a:t>
            </a:r>
          </a:p>
          <a:p>
            <a:pPr marL="457200" indent="-457200">
              <a:buFontTx/>
              <a:buAutoNum type="arabicPeriod" startAt="9"/>
            </a:pPr>
            <a:r>
              <a:rPr lang="sl-SI" altLang="sl-SI" sz="2400" b="1" dirty="0">
                <a:solidFill>
                  <a:schemeClr val="accent2"/>
                </a:solidFill>
              </a:rPr>
              <a:t>teden (23.1.) – 2. kolokvij</a:t>
            </a:r>
          </a:p>
        </p:txBody>
      </p:sp>
      <p:sp>
        <p:nvSpPr>
          <p:cNvPr id="9221" name="Slide Number Placeholder 8"/>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E512E93-67E9-459A-ACE8-65C9168E5D22}" type="slidenum">
              <a:rPr lang="sl-SI" altLang="sl-SI" sz="1400" smtClean="0"/>
              <a:pPr>
                <a:spcBef>
                  <a:spcPct val="0"/>
                </a:spcBef>
                <a:buFontTx/>
                <a:buNone/>
              </a:pPr>
              <a:t>6</a:t>
            </a:fld>
            <a:endParaRPr lang="sl-SI" altLang="sl-SI" sz="1400"/>
          </a:p>
        </p:txBody>
      </p:sp>
      <p:sp>
        <p:nvSpPr>
          <p:cNvPr id="9222" name="Footer Placeholder 3"/>
          <p:cNvSpPr txBox="1">
            <a:spLocks/>
          </p:cNvSpPr>
          <p:nvPr/>
        </p:nvSpPr>
        <p:spPr bwMode="auto">
          <a:xfrm>
            <a:off x="468313" y="6237288"/>
            <a:ext cx="64087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1400"/>
              <a:t>Predavanja iz Računalniškega vida, FERI Maribor </a:t>
            </a:r>
          </a:p>
        </p:txBody>
      </p:sp>
    </p:spTree>
  </p:cSld>
  <p:clrMapOvr>
    <a:masterClrMapping/>
  </p:clrMapOvr>
  <p:transition>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sl-SI" altLang="sl-SI" sz="2800" b="1"/>
              <a:t>LITERATURA</a:t>
            </a:r>
            <a:endParaRPr lang="en-GB" altLang="sl-SI" b="1"/>
          </a:p>
        </p:txBody>
      </p:sp>
      <p:sp>
        <p:nvSpPr>
          <p:cNvPr id="10243" name="Rectangle 3"/>
          <p:cNvSpPr>
            <a:spLocks noGrp="1" noChangeArrowheads="1"/>
          </p:cNvSpPr>
          <p:nvPr>
            <p:ph type="body" idx="1"/>
          </p:nvPr>
        </p:nvSpPr>
        <p:spPr>
          <a:xfrm>
            <a:off x="611188" y="1196975"/>
            <a:ext cx="8281987" cy="5111750"/>
          </a:xfrm>
        </p:spPr>
        <p:txBody>
          <a:bodyPr/>
          <a:lstStyle/>
          <a:p>
            <a:pPr eaLnBrk="1" hangingPunct="1"/>
            <a:r>
              <a:rPr lang="sl-SI" altLang="sl-SI" sz="2000" dirty="0"/>
              <a:t>Gradivo iz predavanj, zapiski in dodatni študijski material objavljen na spletni strani predmeta</a:t>
            </a:r>
          </a:p>
          <a:p>
            <a:pPr eaLnBrk="1" hangingPunct="1"/>
            <a:endParaRPr lang="sl-SI" altLang="sl-SI" sz="1200" dirty="0"/>
          </a:p>
          <a:p>
            <a:pPr eaLnBrk="1" hangingPunct="1"/>
            <a:r>
              <a:rPr lang="sl-SI" altLang="sl-SI" sz="2000" dirty="0"/>
              <a:t>R. </a:t>
            </a:r>
            <a:r>
              <a:rPr lang="sl-SI" altLang="sl-SI" sz="2000" dirty="0" err="1"/>
              <a:t>Szeliski</a:t>
            </a:r>
            <a:r>
              <a:rPr lang="sl-SI" altLang="sl-SI" sz="2000" dirty="0"/>
              <a:t>: </a:t>
            </a:r>
            <a:r>
              <a:rPr lang="sl-SI" altLang="sl-SI" sz="2000" i="1" dirty="0" err="1"/>
              <a:t>Computer</a:t>
            </a:r>
            <a:r>
              <a:rPr lang="sl-SI" altLang="sl-SI" sz="2000" i="1" dirty="0"/>
              <a:t> </a:t>
            </a:r>
            <a:r>
              <a:rPr lang="sl-SI" altLang="sl-SI" sz="2000" i="1" dirty="0" err="1"/>
              <a:t>Vision</a:t>
            </a:r>
            <a:r>
              <a:rPr lang="sl-SI" altLang="sl-SI" sz="2000" i="1" dirty="0"/>
              <a:t>: </a:t>
            </a:r>
            <a:r>
              <a:rPr lang="sl-SI" altLang="sl-SI" sz="2000" i="1" dirty="0" err="1"/>
              <a:t>Algorithms</a:t>
            </a:r>
            <a:r>
              <a:rPr lang="sl-SI" altLang="sl-SI" sz="2000" i="1" dirty="0"/>
              <a:t> </a:t>
            </a:r>
            <a:r>
              <a:rPr lang="sl-SI" altLang="sl-SI" sz="2000" i="1" dirty="0" err="1"/>
              <a:t>and</a:t>
            </a:r>
            <a:r>
              <a:rPr lang="sl-SI" altLang="sl-SI" sz="2000" i="1" dirty="0"/>
              <a:t> </a:t>
            </a:r>
            <a:r>
              <a:rPr lang="sl-SI" altLang="sl-SI" sz="2000" i="1" dirty="0" err="1"/>
              <a:t>Applications</a:t>
            </a:r>
            <a:r>
              <a:rPr lang="sl-SI" altLang="sl-SI" sz="2000" dirty="0"/>
              <a:t>, Springer, 2010 ali novejša izdaja (</a:t>
            </a:r>
            <a:r>
              <a:rPr lang="sl-SI" altLang="sl-SI" sz="2000" dirty="0">
                <a:hlinkClick r:id="rId3"/>
              </a:rPr>
              <a:t>http://szeliski.org/Book</a:t>
            </a:r>
            <a:r>
              <a:rPr lang="sl-SI" altLang="sl-SI" sz="2000" dirty="0"/>
              <a:t>).</a:t>
            </a:r>
            <a:br>
              <a:rPr lang="sl-SI" altLang="sl-SI" sz="2000" dirty="0"/>
            </a:br>
            <a:endParaRPr lang="sl-SI" altLang="sl-SI" sz="1200" dirty="0"/>
          </a:p>
          <a:p>
            <a:pPr eaLnBrk="1" hangingPunct="1"/>
            <a:r>
              <a:rPr lang="en-GB" altLang="sl-SI" sz="2000" i="1" dirty="0"/>
              <a:t>D. A. Forsyth, J. Ponce: Computer Vision: A Modern Approach, Pearson Education International, Upper Saddle River, 2003.</a:t>
            </a:r>
            <a:br>
              <a:rPr lang="sl-SI" altLang="sl-SI" sz="2000" i="1" dirty="0"/>
            </a:br>
            <a:endParaRPr lang="sl-SI" altLang="sl-SI" sz="1200" i="1" dirty="0"/>
          </a:p>
          <a:p>
            <a:pPr eaLnBrk="1" hangingPunct="1"/>
            <a:r>
              <a:rPr lang="sl-SI" altLang="sl-SI" sz="2000" i="1" dirty="0"/>
              <a:t>R. </a:t>
            </a:r>
            <a:r>
              <a:rPr lang="sl-SI" altLang="sl-SI" sz="2000" i="1" dirty="0" err="1"/>
              <a:t>Hartley</a:t>
            </a:r>
            <a:r>
              <a:rPr lang="sl-SI" altLang="sl-SI" sz="2000" i="1" dirty="0"/>
              <a:t>, A. </a:t>
            </a:r>
            <a:r>
              <a:rPr lang="sl-SI" altLang="sl-SI" sz="2000" i="1" dirty="0" err="1"/>
              <a:t>Zisserman</a:t>
            </a:r>
            <a:r>
              <a:rPr lang="sl-SI" altLang="sl-SI" sz="2000" i="1" dirty="0"/>
              <a:t>: Multiple </a:t>
            </a:r>
            <a:r>
              <a:rPr lang="sl-SI" altLang="sl-SI" sz="2000" i="1" dirty="0" err="1"/>
              <a:t>View</a:t>
            </a:r>
            <a:r>
              <a:rPr lang="sl-SI" altLang="sl-SI" sz="2000" i="1" dirty="0"/>
              <a:t> </a:t>
            </a:r>
            <a:r>
              <a:rPr lang="sl-SI" altLang="sl-SI" sz="2000" i="1" dirty="0" err="1"/>
              <a:t>Geometry</a:t>
            </a:r>
            <a:r>
              <a:rPr lang="sl-SI" altLang="sl-SI" sz="2000" i="1" dirty="0"/>
              <a:t> in </a:t>
            </a:r>
            <a:r>
              <a:rPr lang="sl-SI" altLang="sl-SI" sz="2000" i="1" dirty="0" err="1"/>
              <a:t>Computer</a:t>
            </a:r>
            <a:r>
              <a:rPr lang="sl-SI" altLang="sl-SI" sz="2000" i="1" dirty="0"/>
              <a:t> </a:t>
            </a:r>
            <a:r>
              <a:rPr lang="sl-SI" altLang="sl-SI" sz="2000" i="1" dirty="0" err="1"/>
              <a:t>Vision</a:t>
            </a:r>
            <a:r>
              <a:rPr lang="sl-SI" altLang="sl-SI" sz="2000" i="1" dirty="0"/>
              <a:t>, Cambridge </a:t>
            </a:r>
            <a:r>
              <a:rPr lang="sl-SI" altLang="sl-SI" sz="2000" i="1" dirty="0" err="1"/>
              <a:t>University</a:t>
            </a:r>
            <a:r>
              <a:rPr lang="sl-SI" altLang="sl-SI" sz="2000" i="1" dirty="0"/>
              <a:t> </a:t>
            </a:r>
            <a:r>
              <a:rPr lang="sl-SI" altLang="sl-SI" sz="2000" i="1" dirty="0" err="1"/>
              <a:t>Press</a:t>
            </a:r>
            <a:r>
              <a:rPr lang="sl-SI" altLang="sl-SI" sz="2000" i="1" dirty="0"/>
              <a:t>, 2003.</a:t>
            </a:r>
            <a:br>
              <a:rPr lang="sl-SI" altLang="sl-SI" sz="2000" i="1" dirty="0">
                <a:solidFill>
                  <a:srgbClr val="FF9933"/>
                </a:solidFill>
              </a:rPr>
            </a:br>
            <a:endParaRPr lang="sl-SI" altLang="sl-SI" sz="1200" i="1" dirty="0">
              <a:solidFill>
                <a:srgbClr val="FF9933"/>
              </a:solidFill>
            </a:endParaRPr>
          </a:p>
          <a:p>
            <a:pPr eaLnBrk="1" hangingPunct="1"/>
            <a:r>
              <a:rPr lang="sl-SI" altLang="sl-SI" sz="2000" dirty="0"/>
              <a:t>Spletni viri</a:t>
            </a:r>
          </a:p>
          <a:p>
            <a:pPr eaLnBrk="1" hangingPunct="1"/>
            <a:endParaRPr lang="sl-SI" altLang="sl-SI" sz="1200" dirty="0"/>
          </a:p>
          <a:p>
            <a:pPr eaLnBrk="1" hangingPunct="1"/>
            <a:r>
              <a:rPr lang="sl-SI" altLang="sl-SI" sz="2000" dirty="0"/>
              <a:t>(Ostali temeljni študijski viri navedeni v učnem načrtu predmeta – spletna stran)</a:t>
            </a:r>
            <a:endParaRPr lang="en-GB" altLang="sl-SI" sz="2400" dirty="0"/>
          </a:p>
        </p:txBody>
      </p:sp>
      <p:sp>
        <p:nvSpPr>
          <p:cNvPr id="1024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3E307D8-90FD-47B0-89E8-84AADBC6E4A9}" type="slidenum">
              <a:rPr lang="sl-SI" altLang="sl-SI" sz="1400" smtClean="0"/>
              <a:pPr>
                <a:spcBef>
                  <a:spcPct val="0"/>
                </a:spcBef>
                <a:buFontTx/>
                <a:buNone/>
              </a:pPr>
              <a:t>7</a:t>
            </a:fld>
            <a:endParaRPr lang="sl-SI" altLang="sl-SI" sz="1400"/>
          </a:p>
        </p:txBody>
      </p:sp>
      <p:sp>
        <p:nvSpPr>
          <p:cNvPr id="10245" name="Footer Placeholder 3"/>
          <p:cNvSpPr txBox="1">
            <a:spLocks/>
          </p:cNvSpPr>
          <p:nvPr/>
        </p:nvSpPr>
        <p:spPr bwMode="auto">
          <a:xfrm>
            <a:off x="468313" y="6237288"/>
            <a:ext cx="64087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1400"/>
              <a:t>Predavanja iz Računalniškega vida, FERI Maribor </a:t>
            </a:r>
          </a:p>
        </p:txBody>
      </p:sp>
    </p:spTree>
  </p:cSld>
  <p:clrMapOvr>
    <a:masterClrMapping/>
  </p:clrMapOvr>
  <p:transition>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0" y="44450"/>
            <a:ext cx="9144000" cy="1368425"/>
          </a:xfrm>
        </p:spPr>
        <p:txBody>
          <a:bodyPr/>
          <a:lstStyle/>
          <a:p>
            <a:pPr eaLnBrk="1" hangingPunct="1">
              <a:lnSpc>
                <a:spcPct val="130000"/>
              </a:lnSpc>
            </a:pPr>
            <a:r>
              <a:rPr lang="sl-SI" altLang="en-US" sz="2800" b="1"/>
              <a:t>POVEZANOST PREDMETOV S PODROČJA OBDELAVE SIGNALOV IN SLIK NA PROGRAMU R-IT</a:t>
            </a:r>
            <a:endParaRPr lang="en-GB" altLang="en-US" sz="2800" b="1"/>
          </a:p>
        </p:txBody>
      </p:sp>
      <p:sp>
        <p:nvSpPr>
          <p:cNvPr id="12291" name="Rectangle 4"/>
          <p:cNvSpPr>
            <a:spLocks noChangeArrowheads="1"/>
          </p:cNvSpPr>
          <p:nvPr/>
        </p:nvSpPr>
        <p:spPr bwMode="auto">
          <a:xfrm>
            <a:off x="1331913" y="1989138"/>
            <a:ext cx="2376487" cy="719137"/>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400"/>
              <a:t>Signali in slike (UNI)</a:t>
            </a:r>
            <a:endParaRPr lang="en-GB" altLang="en-US" sz="1400"/>
          </a:p>
        </p:txBody>
      </p:sp>
      <p:sp>
        <p:nvSpPr>
          <p:cNvPr id="12292" name="Rectangle 9"/>
          <p:cNvSpPr>
            <a:spLocks noChangeArrowheads="1"/>
          </p:cNvSpPr>
          <p:nvPr/>
        </p:nvSpPr>
        <p:spPr bwMode="auto">
          <a:xfrm>
            <a:off x="3870325" y="1989138"/>
            <a:ext cx="2376488" cy="7207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400"/>
              <a:t>Uvod v računalniški vid in </a:t>
            </a:r>
          </a:p>
          <a:p>
            <a:pPr algn="ctr" eaLnBrk="1" hangingPunct="1">
              <a:spcBef>
                <a:spcPct val="0"/>
              </a:spcBef>
              <a:buFontTx/>
              <a:buNone/>
            </a:pPr>
            <a:r>
              <a:rPr lang="sl-SI" altLang="en-US" sz="1400"/>
              <a:t>razpoznavanje vzorcev (UNI)</a:t>
            </a:r>
            <a:endParaRPr lang="en-GB" altLang="en-US" sz="1400"/>
          </a:p>
        </p:txBody>
      </p:sp>
      <p:sp>
        <p:nvSpPr>
          <p:cNvPr id="12293" name="Rectangle 10"/>
          <p:cNvSpPr>
            <a:spLocks noChangeArrowheads="1"/>
          </p:cNvSpPr>
          <p:nvPr/>
        </p:nvSpPr>
        <p:spPr bwMode="auto">
          <a:xfrm>
            <a:off x="6443663" y="1989138"/>
            <a:ext cx="2376487" cy="719137"/>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25000"/>
              </a:spcBef>
              <a:buFontTx/>
              <a:buNone/>
            </a:pPr>
            <a:r>
              <a:rPr lang="sl-SI" altLang="en-US" sz="1400"/>
              <a:t>Osnove računalniškega vida</a:t>
            </a:r>
          </a:p>
          <a:p>
            <a:pPr algn="ctr" eaLnBrk="1" hangingPunct="1">
              <a:spcBef>
                <a:spcPct val="0"/>
              </a:spcBef>
              <a:buFontTx/>
              <a:buNone/>
            </a:pPr>
            <a:r>
              <a:rPr lang="sl-SI" altLang="en-US" sz="1400"/>
              <a:t>(VS)</a:t>
            </a:r>
            <a:endParaRPr lang="en-GB" altLang="en-US" sz="1400"/>
          </a:p>
        </p:txBody>
      </p:sp>
      <p:sp>
        <p:nvSpPr>
          <p:cNvPr id="12294" name="Text Box 60"/>
          <p:cNvSpPr txBox="1">
            <a:spLocks noChangeArrowheads="1"/>
          </p:cNvSpPr>
          <p:nvPr/>
        </p:nvSpPr>
        <p:spPr bwMode="auto">
          <a:xfrm>
            <a:off x="73025" y="2014538"/>
            <a:ext cx="12588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1. stopnja, osnove:</a:t>
            </a:r>
            <a:endParaRPr lang="en-GB" altLang="en-US" sz="1800"/>
          </a:p>
        </p:txBody>
      </p:sp>
      <p:sp>
        <p:nvSpPr>
          <p:cNvPr id="12295" name="Text Box 61"/>
          <p:cNvSpPr txBox="1">
            <a:spLocks noChangeArrowheads="1"/>
          </p:cNvSpPr>
          <p:nvPr/>
        </p:nvSpPr>
        <p:spPr bwMode="auto">
          <a:xfrm>
            <a:off x="73025" y="3271838"/>
            <a:ext cx="12588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2. stopnja, osnove:</a:t>
            </a:r>
            <a:endParaRPr lang="en-GB" altLang="en-US" sz="1800"/>
          </a:p>
        </p:txBody>
      </p:sp>
      <p:sp>
        <p:nvSpPr>
          <p:cNvPr id="12296" name="Rectangle 62"/>
          <p:cNvSpPr>
            <a:spLocks noChangeArrowheads="1"/>
          </p:cNvSpPr>
          <p:nvPr/>
        </p:nvSpPr>
        <p:spPr bwMode="auto">
          <a:xfrm>
            <a:off x="1331913" y="3243263"/>
            <a:ext cx="2376487" cy="719137"/>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400"/>
              <a:t>Računalniška obdelava</a:t>
            </a:r>
          </a:p>
          <a:p>
            <a:pPr algn="ctr" eaLnBrk="1" hangingPunct="1">
              <a:spcBef>
                <a:spcPct val="0"/>
              </a:spcBef>
              <a:buFontTx/>
              <a:buNone/>
            </a:pPr>
            <a:r>
              <a:rPr lang="sl-SI" altLang="en-US" sz="1400"/>
              <a:t>signalov in slik</a:t>
            </a:r>
            <a:endParaRPr lang="en-GB" altLang="en-US" sz="1400"/>
          </a:p>
        </p:txBody>
      </p:sp>
      <p:sp>
        <p:nvSpPr>
          <p:cNvPr id="12297" name="Text Box 63"/>
          <p:cNvSpPr txBox="1">
            <a:spLocks noChangeArrowheads="1"/>
          </p:cNvSpPr>
          <p:nvPr/>
        </p:nvSpPr>
        <p:spPr bwMode="auto">
          <a:xfrm>
            <a:off x="73025" y="4365625"/>
            <a:ext cx="125888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2. stopnja, nad-gradnja:</a:t>
            </a:r>
            <a:endParaRPr lang="en-GB" altLang="en-US" sz="1800"/>
          </a:p>
        </p:txBody>
      </p:sp>
      <p:sp>
        <p:nvSpPr>
          <p:cNvPr id="12299" name="Rectangle 65"/>
          <p:cNvSpPr>
            <a:spLocks noChangeArrowheads="1"/>
          </p:cNvSpPr>
          <p:nvPr/>
        </p:nvSpPr>
        <p:spPr bwMode="auto">
          <a:xfrm>
            <a:off x="1331640" y="4518025"/>
            <a:ext cx="2376488" cy="719138"/>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400" dirty="0"/>
              <a:t>Napredna obdelava</a:t>
            </a:r>
          </a:p>
          <a:p>
            <a:pPr algn="ctr" eaLnBrk="1" hangingPunct="1">
              <a:spcBef>
                <a:spcPct val="0"/>
              </a:spcBef>
              <a:buFontTx/>
              <a:buNone/>
            </a:pPr>
            <a:r>
              <a:rPr lang="sl-SI" altLang="en-US" sz="1400" dirty="0"/>
              <a:t>slik</a:t>
            </a:r>
            <a:endParaRPr lang="en-GB" altLang="en-US" sz="1400" dirty="0"/>
          </a:p>
        </p:txBody>
      </p:sp>
      <p:sp>
        <p:nvSpPr>
          <p:cNvPr id="12300" name="Rectangle 66"/>
          <p:cNvSpPr>
            <a:spLocks noChangeArrowheads="1"/>
          </p:cNvSpPr>
          <p:nvPr/>
        </p:nvSpPr>
        <p:spPr bwMode="auto">
          <a:xfrm>
            <a:off x="3895453" y="4525963"/>
            <a:ext cx="2376487" cy="719137"/>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400"/>
              <a:t>Računalniški vid</a:t>
            </a:r>
            <a:endParaRPr lang="en-GB" altLang="en-US" sz="1400"/>
          </a:p>
        </p:txBody>
      </p:sp>
      <p:sp>
        <p:nvSpPr>
          <p:cNvPr id="12301" name="Line 67"/>
          <p:cNvSpPr>
            <a:spLocks noChangeShapeType="1"/>
          </p:cNvSpPr>
          <p:nvPr/>
        </p:nvSpPr>
        <p:spPr bwMode="auto">
          <a:xfrm flipH="1">
            <a:off x="2484438" y="2708275"/>
            <a:ext cx="2592387" cy="504825"/>
          </a:xfrm>
          <a:prstGeom prst="line">
            <a:avLst/>
          </a:prstGeom>
          <a:noFill/>
          <a:ln w="1905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12302" name="Line 68"/>
          <p:cNvSpPr>
            <a:spLocks noChangeShapeType="1"/>
          </p:cNvSpPr>
          <p:nvPr/>
        </p:nvSpPr>
        <p:spPr bwMode="auto">
          <a:xfrm flipH="1">
            <a:off x="2627313" y="2708275"/>
            <a:ext cx="5041900" cy="504825"/>
          </a:xfrm>
          <a:prstGeom prst="line">
            <a:avLst/>
          </a:prstGeom>
          <a:noFill/>
          <a:ln w="19050">
            <a:solidFill>
              <a:srgbClr val="FF9933"/>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12303" name="Line 69"/>
          <p:cNvSpPr>
            <a:spLocks noChangeShapeType="1"/>
          </p:cNvSpPr>
          <p:nvPr/>
        </p:nvSpPr>
        <p:spPr bwMode="auto">
          <a:xfrm>
            <a:off x="2411413" y="2717800"/>
            <a:ext cx="0" cy="504825"/>
          </a:xfrm>
          <a:prstGeom prst="line">
            <a:avLst/>
          </a:prstGeom>
          <a:noFill/>
          <a:ln w="1905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12305" name="Line 71"/>
          <p:cNvSpPr>
            <a:spLocks noChangeShapeType="1"/>
          </p:cNvSpPr>
          <p:nvPr/>
        </p:nvSpPr>
        <p:spPr bwMode="auto">
          <a:xfrm>
            <a:off x="2411413" y="4005263"/>
            <a:ext cx="0" cy="503237"/>
          </a:xfrm>
          <a:prstGeom prst="line">
            <a:avLst/>
          </a:prstGeom>
          <a:noFill/>
          <a:ln w="1905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12306" name="Line 72"/>
          <p:cNvSpPr>
            <a:spLocks noChangeShapeType="1"/>
          </p:cNvSpPr>
          <p:nvPr/>
        </p:nvSpPr>
        <p:spPr bwMode="auto">
          <a:xfrm>
            <a:off x="2411413" y="4005264"/>
            <a:ext cx="2448619" cy="468312"/>
          </a:xfrm>
          <a:prstGeom prst="line">
            <a:avLst/>
          </a:prstGeom>
          <a:noFill/>
          <a:ln w="1905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1230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2308"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03D2804-9C4B-4E0C-BCAC-D13D42ECF65C}" type="slidenum">
              <a:rPr lang="en-GB" altLang="sl-SI" sz="1400" smtClean="0"/>
              <a:pPr>
                <a:spcBef>
                  <a:spcPct val="0"/>
                </a:spcBef>
                <a:buFontTx/>
                <a:buNone/>
              </a:pPr>
              <a:t>8</a:t>
            </a:fld>
            <a:endParaRPr lang="en-GB" altLang="sl-SI" sz="1400"/>
          </a:p>
        </p:txBody>
      </p:sp>
    </p:spTree>
  </p:cSld>
  <p:clrMapOvr>
    <a:masterClrMapping/>
  </p:clrMapOvr>
  <p:transition>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0" y="44450"/>
            <a:ext cx="9144000" cy="1081088"/>
          </a:xfrm>
        </p:spPr>
        <p:txBody>
          <a:bodyPr/>
          <a:lstStyle/>
          <a:p>
            <a:pPr eaLnBrk="1" hangingPunct="1">
              <a:lnSpc>
                <a:spcPct val="130000"/>
              </a:lnSpc>
            </a:pPr>
            <a:r>
              <a:rPr lang="sl-SI" altLang="en-US" sz="2800" b="1"/>
              <a:t>Kaj je računalniški vid?</a:t>
            </a:r>
            <a:br>
              <a:rPr lang="sl-SI" altLang="en-US" sz="2800" b="1"/>
            </a:br>
            <a:r>
              <a:rPr lang="sl-SI" altLang="en-US" sz="1600"/>
              <a:t>(po R. Szeliski, Univerza Washington, www.cs.washington.edu/education/courses/cse576/05sp/)</a:t>
            </a:r>
            <a:endParaRPr lang="en-GB" altLang="en-US" sz="1600"/>
          </a:p>
        </p:txBody>
      </p:sp>
      <p:sp>
        <p:nvSpPr>
          <p:cNvPr id="14339" name="Rectangle 30"/>
          <p:cNvSpPr>
            <a:spLocks noChangeArrowheads="1"/>
          </p:cNvSpPr>
          <p:nvPr/>
        </p:nvSpPr>
        <p:spPr bwMode="auto">
          <a:xfrm>
            <a:off x="1042988" y="1341438"/>
            <a:ext cx="74168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pPr>
            <a:r>
              <a:rPr lang="sl-SI" altLang="en-US" sz="2000">
                <a:latin typeface="Times New Roman" panose="02020603050405020304" pitchFamily="18" charset="0"/>
                <a:cs typeface="Times New Roman" panose="02020603050405020304" pitchFamily="18" charset="0"/>
              </a:rPr>
              <a:t> Dojemanje, razumevanje slik (umetna inteligenca)</a:t>
            </a:r>
          </a:p>
          <a:p>
            <a:pPr eaLnBrk="1" hangingPunct="1">
              <a:spcBef>
                <a:spcPts val="600"/>
              </a:spcBef>
            </a:pPr>
            <a:r>
              <a:rPr lang="sl-SI" altLang="en-US" sz="2000">
                <a:latin typeface="Times New Roman" panose="02020603050405020304" pitchFamily="18" charset="0"/>
                <a:cs typeface="Times New Roman" panose="02020603050405020304" pitchFamily="18" charset="0"/>
              </a:rPr>
              <a:t> Zaznavanje, tipala (senzorji) v robotiki</a:t>
            </a:r>
            <a:r>
              <a:rPr lang="sl-SI" altLang="en-US" sz="1800"/>
              <a:t> </a:t>
            </a:r>
          </a:p>
          <a:p>
            <a:pPr eaLnBrk="1" hangingPunct="1">
              <a:spcBef>
                <a:spcPts val="600"/>
              </a:spcBef>
            </a:pPr>
            <a:r>
              <a:rPr lang="sl-SI" altLang="en-US" sz="1800"/>
              <a:t> </a:t>
            </a:r>
            <a:r>
              <a:rPr lang="sl-SI" altLang="en-US" sz="2000">
                <a:latin typeface="Times New Roman" panose="02020603050405020304" pitchFamily="18" charset="0"/>
                <a:cs typeface="Times New Roman" panose="02020603050405020304" pitchFamily="18" charset="0"/>
              </a:rPr>
              <a:t>Računalniška emulacija človeškega vida</a:t>
            </a:r>
          </a:p>
          <a:p>
            <a:pPr eaLnBrk="1" hangingPunct="1">
              <a:spcBef>
                <a:spcPts val="600"/>
              </a:spcBef>
            </a:pPr>
            <a:r>
              <a:rPr lang="sl-SI" altLang="en-US" sz="2000">
                <a:latin typeface="Times New Roman" panose="02020603050405020304" pitchFamily="18" charset="0"/>
                <a:cs typeface="Times New Roman" panose="02020603050405020304" pitchFamily="18" charset="0"/>
              </a:rPr>
              <a:t> Obratno od računalniške grafike</a:t>
            </a:r>
          </a:p>
        </p:txBody>
      </p:sp>
      <p:grpSp>
        <p:nvGrpSpPr>
          <p:cNvPr id="14340" name="Group 48"/>
          <p:cNvGrpSpPr>
            <a:grpSpLocks/>
          </p:cNvGrpSpPr>
          <p:nvPr/>
        </p:nvGrpSpPr>
        <p:grpSpPr bwMode="auto">
          <a:xfrm>
            <a:off x="1258888" y="3213100"/>
            <a:ext cx="6913562" cy="2341563"/>
            <a:chOff x="1259632" y="3212976"/>
            <a:chExt cx="6912768" cy="2341240"/>
          </a:xfrm>
        </p:grpSpPr>
        <p:grpSp>
          <p:nvGrpSpPr>
            <p:cNvPr id="14343" name="Group 20"/>
            <p:cNvGrpSpPr>
              <a:grpSpLocks/>
            </p:cNvGrpSpPr>
            <p:nvPr/>
          </p:nvGrpSpPr>
          <p:grpSpPr bwMode="auto">
            <a:xfrm>
              <a:off x="1259632" y="3212976"/>
              <a:ext cx="6912768" cy="2341240"/>
              <a:chOff x="1104" y="1728"/>
              <a:chExt cx="3696" cy="1248"/>
            </a:xfrm>
          </p:grpSpPr>
          <p:sp>
            <p:nvSpPr>
              <p:cNvPr id="14345" name="Rectangle 21"/>
              <p:cNvSpPr>
                <a:spLocks noChangeArrowheads="1"/>
              </p:cNvSpPr>
              <p:nvPr/>
            </p:nvSpPr>
            <p:spPr bwMode="auto">
              <a:xfrm>
                <a:off x="1104" y="1728"/>
                <a:ext cx="624" cy="432"/>
              </a:xfrm>
              <a:prstGeom prst="rect">
                <a:avLst/>
              </a:prstGeom>
              <a:solidFill>
                <a:schemeClr val="accent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4346" name="Rectangle 22"/>
              <p:cNvSpPr>
                <a:spLocks noChangeArrowheads="1"/>
              </p:cNvSpPr>
              <p:nvPr/>
            </p:nvSpPr>
            <p:spPr bwMode="auto">
              <a:xfrm>
                <a:off x="1200" y="1824"/>
                <a:ext cx="624" cy="432"/>
              </a:xfrm>
              <a:prstGeom prst="rect">
                <a:avLst/>
              </a:prstGeom>
              <a:solidFill>
                <a:schemeClr val="accent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4347" name="Rectangle 23"/>
              <p:cNvSpPr>
                <a:spLocks noChangeArrowheads="1"/>
              </p:cNvSpPr>
              <p:nvPr/>
            </p:nvSpPr>
            <p:spPr bwMode="auto">
              <a:xfrm>
                <a:off x="1296" y="1920"/>
                <a:ext cx="624" cy="432"/>
              </a:xfrm>
              <a:prstGeom prst="rect">
                <a:avLst/>
              </a:prstGeom>
              <a:solidFill>
                <a:schemeClr val="accent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800">
                    <a:latin typeface="Times New Roman" panose="02020603050405020304" pitchFamily="18" charset="0"/>
                    <a:cs typeface="Times New Roman" panose="02020603050405020304" pitchFamily="18" charset="0"/>
                  </a:rPr>
                  <a:t>Slike</a:t>
                </a:r>
              </a:p>
            </p:txBody>
          </p:sp>
          <p:sp>
            <p:nvSpPr>
              <p:cNvPr id="14348" name="Line 24"/>
              <p:cNvSpPr>
                <a:spLocks noChangeShapeType="1"/>
              </p:cNvSpPr>
              <p:nvPr/>
            </p:nvSpPr>
            <p:spPr bwMode="auto">
              <a:xfrm>
                <a:off x="2064" y="2064"/>
                <a:ext cx="38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14349" name="Rectangle 25"/>
              <p:cNvSpPr>
                <a:spLocks noChangeArrowheads="1"/>
              </p:cNvSpPr>
              <p:nvPr/>
            </p:nvSpPr>
            <p:spPr bwMode="auto">
              <a:xfrm>
                <a:off x="2592" y="1872"/>
                <a:ext cx="672" cy="384"/>
              </a:xfrm>
              <a:prstGeom prst="rect">
                <a:avLst/>
              </a:prstGeom>
              <a:solidFill>
                <a:schemeClr val="tx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sl-SI" altLang="en-US" sz="1600">
                    <a:solidFill>
                      <a:schemeClr val="bg1"/>
                    </a:solidFill>
                    <a:latin typeface="Times New Roman" panose="02020603050405020304" pitchFamily="18" charset="0"/>
                    <a:cs typeface="Times New Roman" panose="02020603050405020304" pitchFamily="18" charset="0"/>
                  </a:rPr>
                  <a:t>Računalniški</a:t>
                </a:r>
              </a:p>
              <a:p>
                <a:pPr algn="ctr">
                  <a:spcBef>
                    <a:spcPct val="0"/>
                  </a:spcBef>
                  <a:buFontTx/>
                  <a:buNone/>
                </a:pPr>
                <a:r>
                  <a:rPr lang="sl-SI" altLang="en-US" sz="1600">
                    <a:solidFill>
                      <a:schemeClr val="bg1"/>
                    </a:solidFill>
                    <a:latin typeface="Times New Roman" panose="02020603050405020304" pitchFamily="18" charset="0"/>
                    <a:cs typeface="Times New Roman" panose="02020603050405020304" pitchFamily="18" charset="0"/>
                  </a:rPr>
                  <a:t>vid</a:t>
                </a:r>
                <a:endParaRPr lang="en-US" altLang="en-US" sz="1600">
                  <a:solidFill>
                    <a:schemeClr val="bg1"/>
                  </a:solidFill>
                  <a:latin typeface="Times New Roman" panose="02020603050405020304" pitchFamily="18" charset="0"/>
                  <a:cs typeface="Times New Roman" panose="02020603050405020304" pitchFamily="18" charset="0"/>
                </a:endParaRPr>
              </a:p>
            </p:txBody>
          </p:sp>
          <p:sp>
            <p:nvSpPr>
              <p:cNvPr id="14350" name="Line 26"/>
              <p:cNvSpPr>
                <a:spLocks noChangeShapeType="1"/>
              </p:cNvSpPr>
              <p:nvPr/>
            </p:nvSpPr>
            <p:spPr bwMode="auto">
              <a:xfrm>
                <a:off x="3456" y="2064"/>
                <a:ext cx="38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14351" name="Text Box 27"/>
              <p:cNvSpPr txBox="1">
                <a:spLocks noChangeArrowheads="1"/>
              </p:cNvSpPr>
              <p:nvPr/>
            </p:nvSpPr>
            <p:spPr bwMode="auto">
              <a:xfrm>
                <a:off x="4007" y="1824"/>
                <a:ext cx="51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sl-SI" altLang="en-US" sz="1800">
                    <a:latin typeface="Times New Roman" panose="02020603050405020304" pitchFamily="18" charset="0"/>
                    <a:cs typeface="Times New Roman" panose="02020603050405020304" pitchFamily="18" charset="0"/>
                  </a:rPr>
                  <a:t>Model</a:t>
                </a:r>
              </a:p>
              <a:p>
                <a:pPr algn="ctr">
                  <a:spcBef>
                    <a:spcPct val="0"/>
                  </a:spcBef>
                  <a:buFontTx/>
                  <a:buNone/>
                </a:pPr>
                <a:r>
                  <a:rPr lang="sl-SI" altLang="en-US" sz="1800">
                    <a:latin typeface="Times New Roman" panose="02020603050405020304" pitchFamily="18" charset="0"/>
                    <a:cs typeface="Times New Roman" panose="02020603050405020304" pitchFamily="18" charset="0"/>
                  </a:rPr>
                  <a:t>sveta</a:t>
                </a:r>
                <a:endParaRPr lang="en-US" altLang="en-US" sz="1800">
                  <a:latin typeface="Times New Roman" panose="02020603050405020304" pitchFamily="18" charset="0"/>
                  <a:cs typeface="Times New Roman" panose="02020603050405020304" pitchFamily="18" charset="0"/>
                </a:endParaRPr>
              </a:p>
            </p:txBody>
          </p:sp>
          <p:grpSp>
            <p:nvGrpSpPr>
              <p:cNvPr id="14352" name="Group 28"/>
              <p:cNvGrpSpPr>
                <a:grpSpLocks/>
              </p:cNvGrpSpPr>
              <p:nvPr/>
            </p:nvGrpSpPr>
            <p:grpSpPr bwMode="auto">
              <a:xfrm>
                <a:off x="1319" y="2352"/>
                <a:ext cx="3481" cy="624"/>
                <a:chOff x="1031" y="1824"/>
                <a:chExt cx="3481" cy="624"/>
              </a:xfrm>
            </p:grpSpPr>
            <p:sp>
              <p:nvSpPr>
                <p:cNvPr id="14353" name="Line 29"/>
                <p:cNvSpPr>
                  <a:spLocks noChangeShapeType="1"/>
                </p:cNvSpPr>
                <p:nvPr/>
              </p:nvSpPr>
              <p:spPr bwMode="auto">
                <a:xfrm>
                  <a:off x="1776" y="2160"/>
                  <a:ext cx="38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14354" name="Rectangle 30"/>
                <p:cNvSpPr>
                  <a:spLocks noChangeArrowheads="1"/>
                </p:cNvSpPr>
                <p:nvPr/>
              </p:nvSpPr>
              <p:spPr bwMode="auto">
                <a:xfrm>
                  <a:off x="2304" y="1968"/>
                  <a:ext cx="672" cy="384"/>
                </a:xfrm>
                <a:prstGeom prst="rect">
                  <a:avLst/>
                </a:prstGeom>
                <a:solidFill>
                  <a:schemeClr val="tx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sl-SI" altLang="en-US" sz="1600">
                      <a:solidFill>
                        <a:schemeClr val="bg1"/>
                      </a:solidFill>
                      <a:latin typeface="Times New Roman" panose="02020603050405020304" pitchFamily="18" charset="0"/>
                      <a:cs typeface="Times New Roman" panose="02020603050405020304" pitchFamily="18" charset="0"/>
                    </a:rPr>
                    <a:t>Računalniška</a:t>
                  </a:r>
                </a:p>
                <a:p>
                  <a:pPr algn="ctr">
                    <a:spcBef>
                      <a:spcPct val="0"/>
                    </a:spcBef>
                    <a:buFontTx/>
                    <a:buNone/>
                  </a:pPr>
                  <a:r>
                    <a:rPr lang="sl-SI" altLang="en-US" sz="1600">
                      <a:solidFill>
                        <a:schemeClr val="bg1"/>
                      </a:solidFill>
                      <a:latin typeface="Times New Roman" panose="02020603050405020304" pitchFamily="18" charset="0"/>
                      <a:cs typeface="Times New Roman" panose="02020603050405020304" pitchFamily="18" charset="0"/>
                    </a:rPr>
                    <a:t>grafika</a:t>
                  </a:r>
                  <a:endParaRPr lang="en-US" altLang="en-US" sz="1600">
                    <a:solidFill>
                      <a:schemeClr val="bg1"/>
                    </a:solidFill>
                    <a:latin typeface="Times New Roman" panose="02020603050405020304" pitchFamily="18" charset="0"/>
                    <a:cs typeface="Times New Roman" panose="02020603050405020304" pitchFamily="18" charset="0"/>
                  </a:endParaRPr>
                </a:p>
              </p:txBody>
            </p:sp>
            <p:sp>
              <p:nvSpPr>
                <p:cNvPr id="14355" name="Line 31"/>
                <p:cNvSpPr>
                  <a:spLocks noChangeShapeType="1"/>
                </p:cNvSpPr>
                <p:nvPr/>
              </p:nvSpPr>
              <p:spPr bwMode="auto">
                <a:xfrm>
                  <a:off x="3168" y="2160"/>
                  <a:ext cx="38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14356" name="Text Box 32"/>
                <p:cNvSpPr txBox="1">
                  <a:spLocks noChangeArrowheads="1"/>
                </p:cNvSpPr>
                <p:nvPr/>
              </p:nvSpPr>
              <p:spPr bwMode="auto">
                <a:xfrm>
                  <a:off x="1031" y="1920"/>
                  <a:ext cx="51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sl-SI" altLang="en-US" sz="1800">
                      <a:latin typeface="Times New Roman" panose="02020603050405020304" pitchFamily="18" charset="0"/>
                      <a:cs typeface="Times New Roman" panose="02020603050405020304" pitchFamily="18" charset="0"/>
                    </a:rPr>
                    <a:t>Model</a:t>
                  </a:r>
                </a:p>
                <a:p>
                  <a:pPr algn="ctr">
                    <a:spcBef>
                      <a:spcPct val="0"/>
                    </a:spcBef>
                    <a:buFontTx/>
                    <a:buNone/>
                  </a:pPr>
                  <a:r>
                    <a:rPr lang="sl-SI" altLang="en-US" sz="1800">
                      <a:latin typeface="Times New Roman" panose="02020603050405020304" pitchFamily="18" charset="0"/>
                      <a:cs typeface="Times New Roman" panose="02020603050405020304" pitchFamily="18" charset="0"/>
                    </a:rPr>
                    <a:t>sveta</a:t>
                  </a:r>
                  <a:endParaRPr lang="en-US" altLang="en-US" sz="1800">
                    <a:latin typeface="Times New Roman" panose="02020603050405020304" pitchFamily="18" charset="0"/>
                    <a:cs typeface="Times New Roman" panose="02020603050405020304" pitchFamily="18" charset="0"/>
                  </a:endParaRPr>
                </a:p>
              </p:txBody>
            </p:sp>
            <p:sp>
              <p:nvSpPr>
                <p:cNvPr id="14357" name="Rectangle 33"/>
                <p:cNvSpPr>
                  <a:spLocks noChangeArrowheads="1"/>
                </p:cNvSpPr>
                <p:nvPr/>
              </p:nvSpPr>
              <p:spPr bwMode="auto">
                <a:xfrm>
                  <a:off x="3696" y="1824"/>
                  <a:ext cx="624" cy="432"/>
                </a:xfrm>
                <a:prstGeom prst="rect">
                  <a:avLst/>
                </a:prstGeom>
                <a:solidFill>
                  <a:schemeClr val="accent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4358" name="Rectangle 34"/>
                <p:cNvSpPr>
                  <a:spLocks noChangeArrowheads="1"/>
                </p:cNvSpPr>
                <p:nvPr/>
              </p:nvSpPr>
              <p:spPr bwMode="auto">
                <a:xfrm>
                  <a:off x="3792" y="1920"/>
                  <a:ext cx="624" cy="432"/>
                </a:xfrm>
                <a:prstGeom prst="rect">
                  <a:avLst/>
                </a:prstGeom>
                <a:solidFill>
                  <a:schemeClr val="accent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4359" name="Rectangle 35"/>
                <p:cNvSpPr>
                  <a:spLocks noChangeArrowheads="1"/>
                </p:cNvSpPr>
                <p:nvPr/>
              </p:nvSpPr>
              <p:spPr bwMode="auto">
                <a:xfrm>
                  <a:off x="3888" y="2016"/>
                  <a:ext cx="624" cy="432"/>
                </a:xfrm>
                <a:prstGeom prst="rect">
                  <a:avLst/>
                </a:prstGeom>
                <a:solidFill>
                  <a:schemeClr val="accent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grpSp>
        <p:sp>
          <p:nvSpPr>
            <p:cNvPr id="14344" name="Rectangle 47"/>
            <p:cNvSpPr>
              <a:spLocks noChangeArrowheads="1"/>
            </p:cNvSpPr>
            <p:nvPr/>
          </p:nvSpPr>
          <p:spPr bwMode="auto">
            <a:xfrm>
              <a:off x="7236296" y="4941168"/>
              <a:ext cx="6591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latin typeface="Times New Roman" panose="02020603050405020304" pitchFamily="18" charset="0"/>
                  <a:cs typeface="Times New Roman" panose="02020603050405020304" pitchFamily="18" charset="0"/>
                </a:rPr>
                <a:t>Slike</a:t>
              </a:r>
              <a:endParaRPr lang="en-GB" altLang="en-US" sz="1800"/>
            </a:p>
          </p:txBody>
        </p:sp>
      </p:grpSp>
      <p:sp>
        <p:nvSpPr>
          <p:cNvPr id="14341"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4342"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D596594-C67C-4C8C-A45C-D6C44EF52B9A}" type="slidenum">
              <a:rPr lang="en-GB" altLang="sl-SI" sz="1400" smtClean="0"/>
              <a:pPr>
                <a:spcBef>
                  <a:spcPct val="0"/>
                </a:spcBef>
                <a:buFontTx/>
                <a:buNone/>
              </a:pPr>
              <a:t>9</a:t>
            </a:fld>
            <a:endParaRPr lang="en-GB" altLang="sl-SI" sz="1400"/>
          </a:p>
        </p:txBody>
      </p:sp>
    </p:spTree>
  </p:cSld>
  <p:clrMapOvr>
    <a:masterClrMapping/>
  </p:clrMapOvr>
  <p:transition>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0" y="44450"/>
            <a:ext cx="9144000" cy="1081088"/>
          </a:xfrm>
        </p:spPr>
        <p:txBody>
          <a:bodyPr/>
          <a:lstStyle/>
          <a:p>
            <a:pPr eaLnBrk="1" hangingPunct="1">
              <a:lnSpc>
                <a:spcPct val="130000"/>
              </a:lnSpc>
            </a:pPr>
            <a:r>
              <a:rPr lang="sl-SI" altLang="en-US" sz="2800" b="1"/>
              <a:t>PRESEK MED RAČUNALNIŠKIM VIDOM IN GRAFIKO</a:t>
            </a:r>
            <a:endParaRPr lang="en-GB" altLang="en-US" sz="2800" b="1"/>
          </a:p>
        </p:txBody>
      </p:sp>
      <p:grpSp>
        <p:nvGrpSpPr>
          <p:cNvPr id="16387" name="Group 19"/>
          <p:cNvGrpSpPr>
            <a:grpSpLocks/>
          </p:cNvGrpSpPr>
          <p:nvPr/>
        </p:nvGrpSpPr>
        <p:grpSpPr bwMode="auto">
          <a:xfrm>
            <a:off x="1187450" y="2751138"/>
            <a:ext cx="6840538" cy="3341687"/>
            <a:chOff x="768" y="1576"/>
            <a:chExt cx="3861" cy="2299"/>
          </a:xfrm>
        </p:grpSpPr>
        <p:sp>
          <p:nvSpPr>
            <p:cNvPr id="16401" name="Oval 4"/>
            <p:cNvSpPr>
              <a:spLocks noChangeArrowheads="1"/>
            </p:cNvSpPr>
            <p:nvPr/>
          </p:nvSpPr>
          <p:spPr bwMode="auto">
            <a:xfrm>
              <a:off x="768" y="1576"/>
              <a:ext cx="2496" cy="2064"/>
            </a:xfrm>
            <a:prstGeom prst="ellipse">
              <a:avLst/>
            </a:prstGeom>
            <a:solidFill>
              <a:schemeClr val="accent1"/>
            </a:solidFill>
            <a:ln w="1905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6402" name="Text Box 5"/>
            <p:cNvSpPr txBox="1">
              <a:spLocks noChangeArrowheads="1"/>
            </p:cNvSpPr>
            <p:nvPr/>
          </p:nvSpPr>
          <p:spPr bwMode="auto">
            <a:xfrm>
              <a:off x="2329" y="1955"/>
              <a:ext cx="705"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a:latin typeface="Times New Roman" panose="02020603050405020304" pitchFamily="18" charset="0"/>
                </a:rPr>
                <a:t>Modeli</a:t>
              </a:r>
              <a:r>
                <a:rPr lang="sl-SI" altLang="en-US" sz="1600">
                  <a:latin typeface="Times New Roman" panose="02020603050405020304" pitchFamily="18" charset="0"/>
                </a:rPr>
                <a:t>ranje:</a:t>
              </a:r>
              <a:endParaRPr lang="en-US" altLang="en-US" sz="1600">
                <a:latin typeface="Times New Roman" panose="02020603050405020304" pitchFamily="18" charset="0"/>
              </a:endParaRPr>
            </a:p>
            <a:p>
              <a:pPr>
                <a:spcBef>
                  <a:spcPct val="0"/>
                </a:spcBef>
                <a:buFontTx/>
                <a:buChar char="-"/>
              </a:pPr>
              <a:r>
                <a:rPr lang="en-US" altLang="en-US" sz="1600">
                  <a:latin typeface="Times New Roman" panose="02020603050405020304" pitchFamily="18" charset="0"/>
                </a:rPr>
                <a:t> </a:t>
              </a:r>
              <a:r>
                <a:rPr lang="sl-SI" altLang="en-US" sz="1600">
                  <a:latin typeface="Times New Roman" panose="02020603050405020304" pitchFamily="18" charset="0"/>
                </a:rPr>
                <a:t>oblika</a:t>
              </a:r>
              <a:endParaRPr lang="en-US" altLang="en-US" sz="1600">
                <a:latin typeface="Times New Roman" panose="02020603050405020304" pitchFamily="18" charset="0"/>
              </a:endParaRPr>
            </a:p>
            <a:p>
              <a:pPr>
                <a:spcBef>
                  <a:spcPct val="0"/>
                </a:spcBef>
                <a:buFontTx/>
                <a:buChar char="-"/>
              </a:pPr>
              <a:r>
                <a:rPr lang="en-US" altLang="en-US" sz="1600">
                  <a:latin typeface="Times New Roman" panose="02020603050405020304" pitchFamily="18" charset="0"/>
                </a:rPr>
                <a:t> </a:t>
              </a:r>
              <a:r>
                <a:rPr lang="sl-SI" altLang="en-US" sz="1600">
                  <a:latin typeface="Times New Roman" panose="02020603050405020304" pitchFamily="18" charset="0"/>
                </a:rPr>
                <a:t>svetloba</a:t>
              </a:r>
              <a:endParaRPr lang="en-US" altLang="en-US" sz="1600">
                <a:latin typeface="Times New Roman" panose="02020603050405020304" pitchFamily="18" charset="0"/>
              </a:endParaRPr>
            </a:p>
            <a:p>
              <a:pPr>
                <a:spcBef>
                  <a:spcPct val="0"/>
                </a:spcBef>
                <a:buFontTx/>
                <a:buChar char="-"/>
              </a:pPr>
              <a:r>
                <a:rPr lang="en-US" altLang="en-US" sz="1600">
                  <a:latin typeface="Times New Roman" panose="02020603050405020304" pitchFamily="18" charset="0"/>
                </a:rPr>
                <a:t> </a:t>
              </a:r>
              <a:r>
                <a:rPr lang="sl-SI" altLang="en-US" sz="1600">
                  <a:latin typeface="Times New Roman" panose="02020603050405020304" pitchFamily="18" charset="0"/>
                </a:rPr>
                <a:t>gibanje</a:t>
              </a:r>
              <a:endParaRPr lang="en-US" altLang="en-US" sz="1600">
                <a:latin typeface="Times New Roman" panose="02020603050405020304" pitchFamily="18" charset="0"/>
              </a:endParaRPr>
            </a:p>
            <a:p>
              <a:pPr>
                <a:spcBef>
                  <a:spcPct val="0"/>
                </a:spcBef>
                <a:buFontTx/>
                <a:buChar char="-"/>
              </a:pPr>
              <a:r>
                <a:rPr lang="en-US" altLang="en-US" sz="1600">
                  <a:latin typeface="Times New Roman" panose="02020603050405020304" pitchFamily="18" charset="0"/>
                </a:rPr>
                <a:t> </a:t>
              </a:r>
              <a:r>
                <a:rPr lang="sl-SI" altLang="en-US" sz="1600">
                  <a:latin typeface="Times New Roman" panose="02020603050405020304" pitchFamily="18" charset="0"/>
                </a:rPr>
                <a:t>optika</a:t>
              </a:r>
              <a:endParaRPr lang="en-US" altLang="en-US" sz="1600">
                <a:latin typeface="Times New Roman" panose="02020603050405020304" pitchFamily="18" charset="0"/>
              </a:endParaRPr>
            </a:p>
            <a:p>
              <a:pPr>
                <a:spcBef>
                  <a:spcPct val="0"/>
                </a:spcBef>
                <a:buFontTx/>
                <a:buChar char="-"/>
              </a:pPr>
              <a:r>
                <a:rPr lang="en-US" altLang="en-US" sz="1600">
                  <a:latin typeface="Times New Roman" panose="02020603050405020304" pitchFamily="18" charset="0"/>
                </a:rPr>
                <a:t> </a:t>
              </a:r>
              <a:r>
                <a:rPr lang="sl-SI" altLang="en-US" sz="1600">
                  <a:latin typeface="Times New Roman" panose="02020603050405020304" pitchFamily="18" charset="0"/>
                </a:rPr>
                <a:t>slike</a:t>
              </a:r>
              <a:endParaRPr lang="en-US" altLang="en-US" sz="1600">
                <a:latin typeface="Times New Roman" panose="02020603050405020304" pitchFamily="18" charset="0"/>
              </a:endParaRPr>
            </a:p>
          </p:txBody>
        </p:sp>
        <p:sp>
          <p:nvSpPr>
            <p:cNvPr id="16403" name="Text Box 6"/>
            <p:cNvSpPr txBox="1">
              <a:spLocks noChangeArrowheads="1"/>
            </p:cNvSpPr>
            <p:nvPr/>
          </p:nvSpPr>
          <p:spPr bwMode="auto">
            <a:xfrm>
              <a:off x="1214" y="2574"/>
              <a:ext cx="5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1600">
                  <a:latin typeface="Times New Roman" panose="02020603050405020304" pitchFamily="18" charset="0"/>
                </a:rPr>
                <a:t>Animacija</a:t>
              </a:r>
              <a:endParaRPr lang="en-US" altLang="en-US" sz="1600">
                <a:latin typeface="Times New Roman" panose="02020603050405020304" pitchFamily="18" charset="0"/>
              </a:endParaRPr>
            </a:p>
          </p:txBody>
        </p:sp>
        <p:sp>
          <p:nvSpPr>
            <p:cNvPr id="16404" name="Text Box 7"/>
            <p:cNvSpPr txBox="1">
              <a:spLocks noChangeArrowheads="1"/>
            </p:cNvSpPr>
            <p:nvPr/>
          </p:nvSpPr>
          <p:spPr bwMode="auto">
            <a:xfrm>
              <a:off x="1480" y="1816"/>
              <a:ext cx="7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1600">
                  <a:latin typeface="Times New Roman" panose="02020603050405020304" pitchFamily="18" charset="0"/>
                </a:rPr>
                <a:t>Prikazovanje</a:t>
              </a:r>
              <a:endParaRPr lang="en-US" altLang="en-US" sz="1600">
                <a:latin typeface="Times New Roman" panose="02020603050405020304" pitchFamily="18" charset="0"/>
              </a:endParaRPr>
            </a:p>
          </p:txBody>
        </p:sp>
        <p:sp>
          <p:nvSpPr>
            <p:cNvPr id="16405" name="Text Box 8"/>
            <p:cNvSpPr txBox="1">
              <a:spLocks noChangeArrowheads="1"/>
            </p:cNvSpPr>
            <p:nvPr/>
          </p:nvSpPr>
          <p:spPr bwMode="auto">
            <a:xfrm>
              <a:off x="934" y="2980"/>
              <a:ext cx="113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1600">
                  <a:latin typeface="Times New Roman" panose="02020603050405020304" pitchFamily="18" charset="0"/>
                </a:rPr>
                <a:t>Uporabniški vmesniki</a:t>
              </a:r>
              <a:endParaRPr lang="en-US" altLang="en-US" sz="1600">
                <a:latin typeface="Times New Roman" panose="02020603050405020304" pitchFamily="18" charset="0"/>
              </a:endParaRPr>
            </a:p>
          </p:txBody>
        </p:sp>
        <p:sp>
          <p:nvSpPr>
            <p:cNvPr id="16406" name="Text Box 9"/>
            <p:cNvSpPr txBox="1">
              <a:spLocks noChangeArrowheads="1"/>
            </p:cNvSpPr>
            <p:nvPr/>
          </p:nvSpPr>
          <p:spPr bwMode="auto">
            <a:xfrm>
              <a:off x="891" y="2211"/>
              <a:ext cx="106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1600">
                  <a:latin typeface="Times New Roman" panose="02020603050405020304" pitchFamily="18" charset="0"/>
                </a:rPr>
                <a:t>Načrtovanje ploskev</a:t>
              </a:r>
              <a:endParaRPr lang="en-US" altLang="en-US" sz="1600">
                <a:latin typeface="Times New Roman" panose="02020603050405020304" pitchFamily="18" charset="0"/>
              </a:endParaRPr>
            </a:p>
          </p:txBody>
        </p:sp>
        <p:sp>
          <p:nvSpPr>
            <p:cNvPr id="16407" name="Text Box 10"/>
            <p:cNvSpPr txBox="1">
              <a:spLocks noChangeArrowheads="1"/>
            </p:cNvSpPr>
            <p:nvPr/>
          </p:nvSpPr>
          <p:spPr bwMode="auto">
            <a:xfrm>
              <a:off x="1121" y="3620"/>
              <a:ext cx="1313"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1800"/>
                <a:t>Računalniška grafika</a:t>
              </a:r>
              <a:endParaRPr lang="en-US" altLang="en-US" sz="1800"/>
            </a:p>
          </p:txBody>
        </p:sp>
        <p:grpSp>
          <p:nvGrpSpPr>
            <p:cNvPr id="16408" name="Group 11"/>
            <p:cNvGrpSpPr>
              <a:grpSpLocks/>
            </p:cNvGrpSpPr>
            <p:nvPr/>
          </p:nvGrpSpPr>
          <p:grpSpPr bwMode="auto">
            <a:xfrm>
              <a:off x="2133" y="1576"/>
              <a:ext cx="2496" cy="2299"/>
              <a:chOff x="3093" y="912"/>
              <a:chExt cx="2496" cy="2299"/>
            </a:xfrm>
          </p:grpSpPr>
          <p:sp>
            <p:nvSpPr>
              <p:cNvPr id="16409" name="Oval 12"/>
              <p:cNvSpPr>
                <a:spLocks noChangeArrowheads="1"/>
              </p:cNvSpPr>
              <p:nvPr/>
            </p:nvSpPr>
            <p:spPr bwMode="auto">
              <a:xfrm>
                <a:off x="3093" y="912"/>
                <a:ext cx="2496" cy="2064"/>
              </a:xfrm>
              <a:prstGeom prst="ellipse">
                <a:avLst/>
              </a:prstGeom>
              <a:solidFill>
                <a:srgbClr val="FF9900">
                  <a:alpha val="50195"/>
                </a:srgbClr>
              </a:solidFill>
              <a:ln w="1905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6410" name="Text Box 13"/>
              <p:cNvSpPr txBox="1">
                <a:spLocks noChangeArrowheads="1"/>
              </p:cNvSpPr>
              <p:nvPr/>
            </p:nvSpPr>
            <p:spPr bwMode="auto">
              <a:xfrm>
                <a:off x="4080" y="1190"/>
                <a:ext cx="9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1600">
                    <a:latin typeface="Times New Roman" panose="02020603050405020304" pitchFamily="18" charset="0"/>
                  </a:rPr>
                  <a:t>Ugotavljanje oblik</a:t>
                </a:r>
                <a:endParaRPr lang="en-US" altLang="en-US" sz="1600">
                  <a:latin typeface="Times New Roman" panose="02020603050405020304" pitchFamily="18" charset="0"/>
                </a:endParaRPr>
              </a:p>
            </p:txBody>
          </p:sp>
          <p:sp>
            <p:nvSpPr>
              <p:cNvPr id="16411" name="Text Box 14"/>
              <p:cNvSpPr txBox="1">
                <a:spLocks noChangeArrowheads="1"/>
              </p:cNvSpPr>
              <p:nvPr/>
            </p:nvSpPr>
            <p:spPr bwMode="auto">
              <a:xfrm>
                <a:off x="4272" y="1536"/>
                <a:ext cx="105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1600">
                    <a:latin typeface="Times New Roman" panose="02020603050405020304" pitchFamily="18" charset="0"/>
                  </a:rPr>
                  <a:t>Ocenjevanje gibanja</a:t>
                </a:r>
                <a:endParaRPr lang="en-US" altLang="en-US" sz="1600">
                  <a:latin typeface="Times New Roman" panose="02020603050405020304" pitchFamily="18" charset="0"/>
                </a:endParaRPr>
              </a:p>
            </p:txBody>
          </p:sp>
          <p:sp>
            <p:nvSpPr>
              <p:cNvPr id="16412" name="Text Box 15"/>
              <p:cNvSpPr txBox="1">
                <a:spLocks noChangeArrowheads="1"/>
              </p:cNvSpPr>
              <p:nvPr/>
            </p:nvSpPr>
            <p:spPr bwMode="auto">
              <a:xfrm>
                <a:off x="4341" y="1910"/>
                <a:ext cx="8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1600">
                    <a:latin typeface="Times New Roman" panose="02020603050405020304" pitchFamily="18" charset="0"/>
                  </a:rPr>
                  <a:t>Razpoznavanje</a:t>
                </a:r>
                <a:endParaRPr lang="en-US" altLang="en-US" sz="1600">
                  <a:latin typeface="Times New Roman" panose="02020603050405020304" pitchFamily="18" charset="0"/>
                </a:endParaRPr>
              </a:p>
            </p:txBody>
          </p:sp>
          <p:sp>
            <p:nvSpPr>
              <p:cNvPr id="16413" name="Text Box 16"/>
              <p:cNvSpPr txBox="1">
                <a:spLocks noChangeArrowheads="1"/>
              </p:cNvSpPr>
              <p:nvPr/>
            </p:nvSpPr>
            <p:spPr bwMode="auto">
              <a:xfrm>
                <a:off x="4224" y="2256"/>
                <a:ext cx="8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a:latin typeface="Times New Roman" panose="02020603050405020304" pitchFamily="18" charset="0"/>
                  </a:rPr>
                  <a:t>2D m</a:t>
                </a:r>
                <a:r>
                  <a:rPr lang="sl-SI" altLang="en-US" sz="1600">
                    <a:latin typeface="Times New Roman" panose="02020603050405020304" pitchFamily="18" charset="0"/>
                  </a:rPr>
                  <a:t>odeliranje</a:t>
                </a:r>
                <a:endParaRPr lang="en-US" altLang="en-US" sz="1600">
                  <a:latin typeface="Times New Roman" panose="02020603050405020304" pitchFamily="18" charset="0"/>
                </a:endParaRPr>
              </a:p>
            </p:txBody>
          </p:sp>
          <p:sp>
            <p:nvSpPr>
              <p:cNvPr id="16414" name="Text Box 18"/>
              <p:cNvSpPr txBox="1">
                <a:spLocks noChangeArrowheads="1"/>
              </p:cNvSpPr>
              <p:nvPr/>
            </p:nvSpPr>
            <p:spPr bwMode="auto">
              <a:xfrm>
                <a:off x="3885" y="2957"/>
                <a:ext cx="1045"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1800"/>
                  <a:t>Računalniški vid</a:t>
                </a:r>
                <a:endParaRPr lang="en-US" altLang="en-US" sz="1800"/>
              </a:p>
            </p:txBody>
          </p:sp>
        </p:grpSp>
      </p:grpSp>
      <p:grpSp>
        <p:nvGrpSpPr>
          <p:cNvPr id="16388" name="Skupina 7"/>
          <p:cNvGrpSpPr>
            <a:grpSpLocks/>
          </p:cNvGrpSpPr>
          <p:nvPr/>
        </p:nvGrpSpPr>
        <p:grpSpPr bwMode="auto">
          <a:xfrm>
            <a:off x="1187450" y="1125538"/>
            <a:ext cx="6553200" cy="1341437"/>
            <a:chOff x="1187624" y="1196751"/>
            <a:chExt cx="6552728" cy="1341522"/>
          </a:xfrm>
        </p:grpSpPr>
        <p:sp>
          <p:nvSpPr>
            <p:cNvPr id="16391" name="Oval 4"/>
            <p:cNvSpPr>
              <a:spLocks noChangeArrowheads="1"/>
            </p:cNvSpPr>
            <p:nvPr/>
          </p:nvSpPr>
          <p:spPr bwMode="auto">
            <a:xfrm>
              <a:off x="1187624" y="1319754"/>
              <a:ext cx="561328" cy="738017"/>
            </a:xfrm>
            <a:prstGeom prst="ellipse">
              <a:avLst/>
            </a:pr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latin typeface="Times" panose="02020603050405020304" pitchFamily="18" charset="0"/>
              </a:endParaRPr>
            </a:p>
            <a:p>
              <a:pPr algn="ctr" eaLnBrk="1" hangingPunct="1">
                <a:spcBef>
                  <a:spcPct val="0"/>
                </a:spcBef>
                <a:buFontTx/>
                <a:buNone/>
              </a:pPr>
              <a:endParaRPr lang="en-US" altLang="en-US" sz="1800">
                <a:latin typeface="Times" panose="02020603050405020304" pitchFamily="18" charset="0"/>
              </a:endParaRPr>
            </a:p>
          </p:txBody>
        </p:sp>
        <p:sp>
          <p:nvSpPr>
            <p:cNvPr id="16392" name="Text Box 5"/>
            <p:cNvSpPr txBox="1">
              <a:spLocks noChangeArrowheads="1"/>
            </p:cNvSpPr>
            <p:nvPr/>
          </p:nvSpPr>
          <p:spPr bwMode="auto">
            <a:xfrm>
              <a:off x="1464390" y="1742577"/>
              <a:ext cx="1594328" cy="589389"/>
            </a:xfrm>
            <a:prstGeom prst="rect">
              <a:avLst/>
            </a:prstGeom>
            <a:solidFill>
              <a:srgbClr val="CCFFFF"/>
            </a:solidFill>
            <a:ln w="12700">
              <a:solidFill>
                <a:schemeClr val="tx1"/>
              </a:solidFill>
              <a:miter lim="800000"/>
              <a:headEnd/>
              <a:tailEnd/>
            </a:ln>
          </p:spPr>
          <p:txBody>
            <a:bodyPr lIns="61539" tIns="30770" rIns="61539" bIns="30770" anchor="ctr"/>
            <a:lstStyle>
              <a:lvl1pPr defTabSz="61595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6159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61595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0"/>
                </a:lnSpc>
                <a:spcBef>
                  <a:spcPct val="50000"/>
                </a:spcBef>
                <a:buFontTx/>
                <a:buNone/>
              </a:pPr>
              <a:endParaRPr lang="en-US" altLang="en-US" sz="1200">
                <a:latin typeface="Times" panose="02020603050405020304" pitchFamily="18" charset="0"/>
              </a:endParaRPr>
            </a:p>
            <a:p>
              <a:pPr algn="ctr" eaLnBrk="1" hangingPunct="1">
                <a:lnSpc>
                  <a:spcPct val="80000"/>
                </a:lnSpc>
                <a:spcBef>
                  <a:spcPct val="50000"/>
                </a:spcBef>
                <a:buFontTx/>
                <a:buNone/>
              </a:pPr>
              <a:r>
                <a:rPr lang="sl-SI" altLang="en-US" sz="1200">
                  <a:latin typeface="Times" panose="02020603050405020304" pitchFamily="18" charset="0"/>
                </a:rPr>
                <a:t>Slike</a:t>
              </a:r>
              <a:r>
                <a:rPr lang="en-US" altLang="en-US" sz="1200">
                  <a:latin typeface="Times" panose="02020603050405020304" pitchFamily="18" charset="0"/>
                </a:rPr>
                <a:t> (2D)</a:t>
              </a:r>
            </a:p>
          </p:txBody>
        </p:sp>
        <p:sp>
          <p:nvSpPr>
            <p:cNvPr id="16393" name="Text Box 6"/>
            <p:cNvSpPr txBox="1">
              <a:spLocks noChangeArrowheads="1"/>
            </p:cNvSpPr>
            <p:nvPr/>
          </p:nvSpPr>
          <p:spPr bwMode="auto">
            <a:xfrm>
              <a:off x="4111209" y="1742577"/>
              <a:ext cx="1594328" cy="589389"/>
            </a:xfrm>
            <a:prstGeom prst="rect">
              <a:avLst/>
            </a:prstGeom>
            <a:solidFill>
              <a:srgbClr val="CCFFFF"/>
            </a:solidFill>
            <a:ln w="12700">
              <a:solidFill>
                <a:schemeClr val="tx1"/>
              </a:solidFill>
              <a:miter lim="800000"/>
              <a:headEnd/>
              <a:tailEnd/>
            </a:ln>
          </p:spPr>
          <p:txBody>
            <a:bodyPr lIns="61539" tIns="30770" rIns="61539" bIns="30770" anchor="ctr"/>
            <a:lstStyle>
              <a:lvl1pPr defTabSz="61595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6159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61595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150000"/>
                </a:lnSpc>
                <a:spcBef>
                  <a:spcPct val="50000"/>
                </a:spcBef>
                <a:buFontTx/>
                <a:buNone/>
              </a:pPr>
              <a:r>
                <a:rPr lang="en-US" altLang="en-US" sz="1200">
                  <a:latin typeface="Times" panose="02020603050405020304" pitchFamily="18" charset="0"/>
                </a:rPr>
                <a:t>Geometr</a:t>
              </a:r>
              <a:r>
                <a:rPr lang="sl-SI" altLang="en-US" sz="1200">
                  <a:latin typeface="Times" panose="02020603050405020304" pitchFamily="18" charset="0"/>
                </a:rPr>
                <a:t>ija</a:t>
              </a:r>
              <a:r>
                <a:rPr lang="en-US" altLang="en-US" sz="1200">
                  <a:latin typeface="Times" panose="02020603050405020304" pitchFamily="18" charset="0"/>
                </a:rPr>
                <a:t> (3D)</a:t>
              </a:r>
              <a:br>
                <a:rPr lang="en-US" altLang="en-US" sz="1200">
                  <a:latin typeface="Times" panose="02020603050405020304" pitchFamily="18" charset="0"/>
                </a:rPr>
              </a:br>
              <a:r>
                <a:rPr lang="sl-SI" altLang="en-US" sz="1200" i="1">
                  <a:latin typeface="Times" panose="02020603050405020304" pitchFamily="18" charset="0"/>
                </a:rPr>
                <a:t>oblika</a:t>
              </a:r>
              <a:endParaRPr lang="en-US" altLang="en-US" sz="1200">
                <a:latin typeface="Times" panose="02020603050405020304" pitchFamily="18" charset="0"/>
              </a:endParaRPr>
            </a:p>
          </p:txBody>
        </p:sp>
        <p:sp>
          <p:nvSpPr>
            <p:cNvPr id="16394" name="Text Box 7"/>
            <p:cNvSpPr txBox="1">
              <a:spLocks noChangeArrowheads="1"/>
            </p:cNvSpPr>
            <p:nvPr/>
          </p:nvSpPr>
          <p:spPr bwMode="auto">
            <a:xfrm>
              <a:off x="6146024" y="1742577"/>
              <a:ext cx="1594328" cy="589389"/>
            </a:xfrm>
            <a:prstGeom prst="rect">
              <a:avLst/>
            </a:prstGeom>
            <a:solidFill>
              <a:srgbClr val="CCFFFF"/>
            </a:solidFill>
            <a:ln w="12700">
              <a:solidFill>
                <a:schemeClr val="tx1"/>
              </a:solidFill>
              <a:miter lim="800000"/>
              <a:headEnd/>
              <a:tailEnd/>
            </a:ln>
          </p:spPr>
          <p:txBody>
            <a:bodyPr lIns="61539" tIns="30770" rIns="61539" bIns="30770" anchor="ctr"/>
            <a:lstStyle>
              <a:lvl1pPr defTabSz="61595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6159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61595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150000"/>
                </a:lnSpc>
                <a:spcBef>
                  <a:spcPct val="50000"/>
                </a:spcBef>
                <a:buFontTx/>
                <a:buNone/>
              </a:pPr>
              <a:r>
                <a:rPr lang="sl-SI" altLang="en-US" sz="1200">
                  <a:latin typeface="Times" panose="02020603050405020304" pitchFamily="18" charset="0"/>
                </a:rPr>
                <a:t>F</a:t>
              </a:r>
              <a:r>
                <a:rPr lang="en-US" altLang="en-US" sz="1200">
                  <a:latin typeface="Times" panose="02020603050405020304" pitchFamily="18" charset="0"/>
                </a:rPr>
                <a:t>otometr</a:t>
              </a:r>
              <a:r>
                <a:rPr lang="sl-SI" altLang="en-US" sz="1200">
                  <a:latin typeface="Times" panose="02020603050405020304" pitchFamily="18" charset="0"/>
                </a:rPr>
                <a:t>ija</a:t>
              </a:r>
              <a:br>
                <a:rPr lang="en-US" altLang="en-US" sz="1200">
                  <a:latin typeface="Times" panose="02020603050405020304" pitchFamily="18" charset="0"/>
                </a:rPr>
              </a:br>
              <a:r>
                <a:rPr lang="sl-SI" altLang="en-US" sz="1200" i="1">
                  <a:latin typeface="Times" panose="02020603050405020304" pitchFamily="18" charset="0"/>
                </a:rPr>
                <a:t>videz</a:t>
              </a:r>
              <a:endParaRPr lang="en-US" altLang="en-US" sz="1200">
                <a:latin typeface="Times" panose="02020603050405020304" pitchFamily="18" charset="0"/>
              </a:endParaRPr>
            </a:p>
          </p:txBody>
        </p:sp>
        <p:sp>
          <p:nvSpPr>
            <p:cNvPr id="16395" name="Text Box 8"/>
            <p:cNvSpPr txBox="1">
              <a:spLocks noChangeArrowheads="1"/>
            </p:cNvSpPr>
            <p:nvPr/>
          </p:nvSpPr>
          <p:spPr bwMode="auto">
            <a:xfrm>
              <a:off x="5771805" y="1847641"/>
              <a:ext cx="280664" cy="333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539" tIns="30770" rIns="61539" bIns="30770">
              <a:spAutoFit/>
            </a:bodyPr>
            <a:lstStyle>
              <a:lvl1pPr defTabSz="61595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6159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61595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50000"/>
                </a:spcBef>
                <a:buFontTx/>
                <a:buNone/>
              </a:pPr>
              <a:r>
                <a:rPr lang="en-US" altLang="en-US" sz="1200">
                  <a:latin typeface="Times" panose="02020603050405020304" pitchFamily="18" charset="0"/>
                </a:rPr>
                <a:t>+</a:t>
              </a:r>
            </a:p>
          </p:txBody>
        </p:sp>
        <p:sp>
          <p:nvSpPr>
            <p:cNvPr id="16396" name="Line 9"/>
            <p:cNvSpPr>
              <a:spLocks noChangeShapeType="1"/>
            </p:cNvSpPr>
            <p:nvPr/>
          </p:nvSpPr>
          <p:spPr bwMode="auto">
            <a:xfrm>
              <a:off x="3199050" y="1937332"/>
              <a:ext cx="771826" cy="0"/>
            </a:xfrm>
            <a:prstGeom prst="line">
              <a:avLst/>
            </a:prstGeom>
            <a:noFill/>
            <a:ln w="15875">
              <a:solidFill>
                <a:schemeClr val="tx1"/>
              </a:solidFill>
              <a:round/>
              <a:headEnd type="stealth" w="med" len="med"/>
              <a:tailEnd type="none" w="lg" len="lg"/>
            </a:ln>
            <a:extLst>
              <a:ext uri="{909E8E84-426E-40DD-AFC4-6F175D3DCCD1}">
                <a14:hiddenFill xmlns:a14="http://schemas.microsoft.com/office/drawing/2010/main">
                  <a:noFill/>
                </a14:hiddenFill>
              </a:ext>
            </a:extLst>
          </p:spPr>
          <p:txBody>
            <a:bodyPr/>
            <a:lstStyle/>
            <a:p>
              <a:endParaRPr lang="sl-SI"/>
            </a:p>
          </p:txBody>
        </p:sp>
        <p:sp>
          <p:nvSpPr>
            <p:cNvPr id="16397" name="Line 10"/>
            <p:cNvSpPr>
              <a:spLocks noChangeShapeType="1"/>
            </p:cNvSpPr>
            <p:nvPr/>
          </p:nvSpPr>
          <p:spPr bwMode="auto">
            <a:xfrm>
              <a:off x="3199050" y="2244839"/>
              <a:ext cx="771826" cy="0"/>
            </a:xfrm>
            <a:prstGeom prst="line">
              <a:avLst/>
            </a:prstGeom>
            <a:noFill/>
            <a:ln w="1587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sl-SI"/>
            </a:p>
          </p:txBody>
        </p:sp>
        <p:sp>
          <p:nvSpPr>
            <p:cNvPr id="16398" name="Text Box 11"/>
            <p:cNvSpPr txBox="1">
              <a:spLocks noChangeArrowheads="1"/>
            </p:cNvSpPr>
            <p:nvPr/>
          </p:nvSpPr>
          <p:spPr bwMode="auto">
            <a:xfrm>
              <a:off x="3058718" y="1478633"/>
              <a:ext cx="1005713" cy="23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539" tIns="30770" rIns="61539" bIns="30770">
              <a:spAutoFit/>
            </a:bodyPr>
            <a:lstStyle>
              <a:lvl1pPr defTabSz="61595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6159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61595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80000"/>
                </a:lnSpc>
                <a:spcBef>
                  <a:spcPct val="50000"/>
                </a:spcBef>
                <a:buFontTx/>
                <a:buNone/>
              </a:pPr>
              <a:r>
                <a:rPr lang="sl-SI" altLang="en-US" sz="1400">
                  <a:latin typeface="Times" panose="02020603050405020304" pitchFamily="18" charset="0"/>
                </a:rPr>
                <a:t>grafika</a:t>
              </a:r>
              <a:endParaRPr lang="en-US" altLang="en-US" sz="1400">
                <a:latin typeface="Times" panose="02020603050405020304" pitchFamily="18" charset="0"/>
              </a:endParaRPr>
            </a:p>
          </p:txBody>
        </p:sp>
        <p:sp>
          <p:nvSpPr>
            <p:cNvPr id="16399" name="Text Box 12"/>
            <p:cNvSpPr txBox="1">
              <a:spLocks noChangeArrowheads="1"/>
            </p:cNvSpPr>
            <p:nvPr/>
          </p:nvSpPr>
          <p:spPr bwMode="auto">
            <a:xfrm>
              <a:off x="3082107" y="2303777"/>
              <a:ext cx="1005713" cy="23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539" tIns="30770" rIns="61539" bIns="30770">
              <a:spAutoFit/>
            </a:bodyPr>
            <a:lstStyle>
              <a:lvl1pPr defTabSz="61595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6159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61595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80000"/>
                </a:lnSpc>
                <a:spcBef>
                  <a:spcPct val="50000"/>
                </a:spcBef>
                <a:buFontTx/>
                <a:buNone/>
              </a:pPr>
              <a:r>
                <a:rPr lang="sl-SI" altLang="en-US" sz="1400">
                  <a:latin typeface="Times" panose="02020603050405020304" pitchFamily="18" charset="0"/>
                </a:rPr>
                <a:t>vid</a:t>
              </a:r>
              <a:endParaRPr lang="en-US" altLang="en-US" sz="1400">
                <a:latin typeface="Times" panose="02020603050405020304" pitchFamily="18" charset="0"/>
              </a:endParaRPr>
            </a:p>
          </p:txBody>
        </p:sp>
        <p:sp>
          <p:nvSpPr>
            <p:cNvPr id="16400" name="Text Box 14"/>
            <p:cNvSpPr txBox="1">
              <a:spLocks noChangeArrowheads="1"/>
            </p:cNvSpPr>
            <p:nvPr/>
          </p:nvSpPr>
          <p:spPr bwMode="auto">
            <a:xfrm>
              <a:off x="1608620" y="1196751"/>
              <a:ext cx="1543653" cy="209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539" tIns="30770" rIns="61539" bIns="30770">
              <a:spAutoFit/>
            </a:bodyPr>
            <a:lstStyle>
              <a:lvl1pPr defTabSz="61595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6159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61595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61595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61595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80000"/>
                </a:lnSpc>
                <a:spcBef>
                  <a:spcPct val="50000"/>
                </a:spcBef>
                <a:buFontTx/>
                <a:buNone/>
              </a:pPr>
              <a:r>
                <a:rPr lang="sl-SI" altLang="en-US" sz="1200">
                  <a:latin typeface="Times" panose="02020603050405020304" pitchFamily="18" charset="0"/>
                </a:rPr>
                <a:t>Obdelava slik</a:t>
              </a:r>
              <a:endParaRPr lang="en-US" altLang="en-US" sz="1200">
                <a:latin typeface="Times" panose="02020603050405020304" pitchFamily="18" charset="0"/>
              </a:endParaRPr>
            </a:p>
          </p:txBody>
        </p:sp>
      </p:grpSp>
      <p:sp>
        <p:nvSpPr>
          <p:cNvPr id="16389"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6390" name="Ograda številke diapozitiva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8DCE192-2B1D-4F97-9973-CCA95C9C47F9}" type="slidenum">
              <a:rPr lang="en-GB" altLang="sl-SI" sz="1400" smtClean="0"/>
              <a:pPr>
                <a:spcBef>
                  <a:spcPct val="0"/>
                </a:spcBef>
                <a:buFontTx/>
                <a:buNone/>
              </a:pPr>
              <a:t>10</a:t>
            </a:fld>
            <a:endParaRPr lang="en-GB" altLang="sl-SI" sz="1400"/>
          </a:p>
        </p:txBody>
      </p:sp>
    </p:spTree>
  </p:cSld>
  <p:clrMapOvr>
    <a:masterClrMapping/>
  </p:clrMapOvr>
  <p:transition>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0" y="44450"/>
            <a:ext cx="9144000" cy="1081088"/>
          </a:xfrm>
        </p:spPr>
        <p:txBody>
          <a:bodyPr/>
          <a:lstStyle/>
          <a:p>
            <a:pPr eaLnBrk="1" hangingPunct="1">
              <a:lnSpc>
                <a:spcPct val="130000"/>
              </a:lnSpc>
            </a:pPr>
            <a:r>
              <a:rPr lang="sl-SI" altLang="en-US" sz="2800" b="1"/>
              <a:t>Druge vede, povezane z računalniškim vidom</a:t>
            </a:r>
            <a:endParaRPr lang="en-GB" altLang="en-US" sz="2400"/>
          </a:p>
        </p:txBody>
      </p:sp>
      <p:sp>
        <p:nvSpPr>
          <p:cNvPr id="18435" name="Rectangle 30"/>
          <p:cNvSpPr>
            <a:spLocks noChangeArrowheads="1"/>
          </p:cNvSpPr>
          <p:nvPr/>
        </p:nvSpPr>
        <p:spPr bwMode="auto">
          <a:xfrm>
            <a:off x="900113" y="1052513"/>
            <a:ext cx="74168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pPr>
            <a:r>
              <a:rPr lang="sl-SI" altLang="en-US" sz="2000">
                <a:latin typeface="Times New Roman" panose="02020603050405020304" pitchFamily="18" charset="0"/>
                <a:cs typeface="Times New Roman" panose="02020603050405020304" pitchFamily="18" charset="0"/>
              </a:rPr>
              <a:t> Obdelava slik</a:t>
            </a:r>
          </a:p>
          <a:p>
            <a:pPr eaLnBrk="1" hangingPunct="1">
              <a:spcBef>
                <a:spcPts val="600"/>
              </a:spcBef>
            </a:pPr>
            <a:r>
              <a:rPr lang="sl-SI" altLang="en-US" sz="2000">
                <a:latin typeface="Times New Roman" panose="02020603050405020304" pitchFamily="18" charset="0"/>
                <a:cs typeface="Times New Roman" panose="02020603050405020304" pitchFamily="18" charset="0"/>
              </a:rPr>
              <a:t> Slikovni sistemi v znanosti in medicini</a:t>
            </a:r>
          </a:p>
          <a:p>
            <a:pPr eaLnBrk="1" hangingPunct="1">
              <a:spcBef>
                <a:spcPts val="600"/>
              </a:spcBef>
            </a:pPr>
            <a:r>
              <a:rPr lang="sl-SI" altLang="en-US" sz="2000">
                <a:latin typeface="Times New Roman" panose="02020603050405020304" pitchFamily="18" charset="0"/>
                <a:cs typeface="Times New Roman" panose="02020603050405020304" pitchFamily="18" charset="0"/>
              </a:rPr>
              <a:t> Razpoznavanje vzorcev</a:t>
            </a:r>
          </a:p>
          <a:p>
            <a:pPr eaLnBrk="1" hangingPunct="1">
              <a:spcBef>
                <a:spcPts val="600"/>
              </a:spcBef>
            </a:pPr>
            <a:r>
              <a:rPr lang="sl-SI" altLang="en-US" sz="2000">
                <a:latin typeface="Times New Roman" panose="02020603050405020304" pitchFamily="18" charset="0"/>
                <a:cs typeface="Times New Roman" panose="02020603050405020304" pitchFamily="18" charset="0"/>
              </a:rPr>
              <a:t> Računalniška grafika</a:t>
            </a:r>
          </a:p>
          <a:p>
            <a:pPr eaLnBrk="1" hangingPunct="1">
              <a:spcBef>
                <a:spcPts val="600"/>
              </a:spcBef>
            </a:pPr>
            <a:r>
              <a:rPr lang="sl-SI" altLang="en-US" sz="2000">
                <a:latin typeface="Times New Roman" panose="02020603050405020304" pitchFamily="18" charset="0"/>
                <a:cs typeface="Times New Roman" panose="02020603050405020304" pitchFamily="18" charset="0"/>
              </a:rPr>
              <a:t> Strojno učenje</a:t>
            </a:r>
          </a:p>
          <a:p>
            <a:pPr eaLnBrk="1" hangingPunct="1">
              <a:spcBef>
                <a:spcPts val="600"/>
              </a:spcBef>
            </a:pPr>
            <a:r>
              <a:rPr lang="sl-SI" altLang="en-US" sz="2000">
                <a:latin typeface="Times New Roman" panose="02020603050405020304" pitchFamily="18" charset="0"/>
                <a:cs typeface="Times New Roman" panose="02020603050405020304" pitchFamily="18" charset="0"/>
              </a:rPr>
              <a:t> Umetna inteligenca</a:t>
            </a:r>
          </a:p>
          <a:p>
            <a:pPr eaLnBrk="1" hangingPunct="1">
              <a:spcBef>
                <a:spcPts val="600"/>
              </a:spcBef>
            </a:pPr>
            <a:r>
              <a:rPr lang="sl-SI" altLang="en-US" sz="2000">
                <a:latin typeface="Times New Roman" panose="02020603050405020304" pitchFamily="18" charset="0"/>
                <a:cs typeface="Times New Roman" panose="02020603050405020304" pitchFamily="18" charset="0"/>
              </a:rPr>
              <a:t> Vizualna nevroznanost</a:t>
            </a:r>
          </a:p>
          <a:p>
            <a:pPr eaLnBrk="1" hangingPunct="1">
              <a:spcBef>
                <a:spcPts val="600"/>
              </a:spcBef>
            </a:pPr>
            <a:r>
              <a:rPr lang="sl-SI" altLang="en-US" sz="2000">
                <a:latin typeface="Times New Roman" panose="02020603050405020304" pitchFamily="18" charset="0"/>
                <a:cs typeface="Times New Roman" panose="02020603050405020304" pitchFamily="18" charset="0"/>
              </a:rPr>
              <a:t> Uporabna matematika</a:t>
            </a:r>
          </a:p>
          <a:p>
            <a:pPr lvl="1" eaLnBrk="1" hangingPunct="1">
              <a:spcBef>
                <a:spcPts val="600"/>
              </a:spcBef>
              <a:buFontTx/>
              <a:buChar char="•"/>
            </a:pPr>
            <a:r>
              <a:rPr lang="sl-SI" altLang="en-US" sz="1800">
                <a:latin typeface="Times New Roman" panose="02020603050405020304" pitchFamily="18" charset="0"/>
                <a:cs typeface="Times New Roman" panose="02020603050405020304" pitchFamily="18" charset="0"/>
              </a:rPr>
              <a:t> algoritmi za obdelavo signalov in slik</a:t>
            </a:r>
          </a:p>
          <a:p>
            <a:pPr lvl="1" eaLnBrk="1" hangingPunct="1">
              <a:spcBef>
                <a:spcPts val="600"/>
              </a:spcBef>
              <a:buFontTx/>
              <a:buChar char="•"/>
            </a:pPr>
            <a:r>
              <a:rPr lang="sl-SI" altLang="en-US" sz="1800">
                <a:latin typeface="Times New Roman" panose="02020603050405020304" pitchFamily="18" charset="0"/>
                <a:cs typeface="Times New Roman" panose="02020603050405020304" pitchFamily="18" charset="0"/>
              </a:rPr>
              <a:t> evklidska in projekcijska geometrija</a:t>
            </a:r>
          </a:p>
          <a:p>
            <a:pPr lvl="1" eaLnBrk="1" hangingPunct="1">
              <a:spcBef>
                <a:spcPts val="600"/>
              </a:spcBef>
              <a:buFontTx/>
              <a:buChar char="•"/>
            </a:pPr>
            <a:r>
              <a:rPr lang="sl-SI" altLang="en-US" sz="1800">
                <a:latin typeface="Times New Roman" panose="02020603050405020304" pitchFamily="18" charset="0"/>
                <a:cs typeface="Times New Roman" panose="02020603050405020304" pitchFamily="18" charset="0"/>
              </a:rPr>
              <a:t> računalniška geometrija</a:t>
            </a:r>
          </a:p>
          <a:p>
            <a:pPr lvl="1" eaLnBrk="1" hangingPunct="1">
              <a:spcBef>
                <a:spcPts val="600"/>
              </a:spcBef>
              <a:buFontTx/>
              <a:buChar char="•"/>
            </a:pPr>
            <a:r>
              <a:rPr lang="sl-SI" altLang="en-US" sz="1800">
                <a:latin typeface="Times New Roman" panose="02020603050405020304" pitchFamily="18" charset="0"/>
                <a:cs typeface="Times New Roman" panose="02020603050405020304" pitchFamily="18" charset="0"/>
              </a:rPr>
              <a:t> vektorski račun </a:t>
            </a:r>
          </a:p>
          <a:p>
            <a:pPr lvl="1" eaLnBrk="1" hangingPunct="1">
              <a:spcBef>
                <a:spcPts val="600"/>
              </a:spcBef>
              <a:buFontTx/>
              <a:buChar char="•"/>
            </a:pPr>
            <a:r>
              <a:rPr lang="sl-SI" altLang="en-US" sz="1800">
                <a:latin typeface="Times New Roman" panose="02020603050405020304" pitchFamily="18" charset="0"/>
                <a:cs typeface="Times New Roman" panose="02020603050405020304" pitchFamily="18" charset="0"/>
              </a:rPr>
              <a:t> optimizacije</a:t>
            </a:r>
          </a:p>
          <a:p>
            <a:pPr lvl="1" eaLnBrk="1" hangingPunct="1">
              <a:spcBef>
                <a:spcPts val="600"/>
              </a:spcBef>
              <a:buFontTx/>
              <a:buChar char="•"/>
            </a:pPr>
            <a:r>
              <a:rPr lang="sl-SI" altLang="en-US" sz="1800">
                <a:latin typeface="Times New Roman" panose="02020603050405020304" pitchFamily="18" charset="0"/>
                <a:cs typeface="Times New Roman" panose="02020603050405020304" pitchFamily="18" charset="0"/>
              </a:rPr>
              <a:t> statistične cenilke</a:t>
            </a:r>
          </a:p>
        </p:txBody>
      </p:sp>
      <p:sp>
        <p:nvSpPr>
          <p:cNvPr id="1843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8437"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729FCAF-1A4F-465F-9D50-0B9E4CC48DFF}" type="slidenum">
              <a:rPr lang="en-GB" altLang="sl-SI" sz="1400" smtClean="0"/>
              <a:pPr>
                <a:spcBef>
                  <a:spcPct val="0"/>
                </a:spcBef>
                <a:buFontTx/>
                <a:buNone/>
              </a:pPr>
              <a:t>11</a:t>
            </a:fld>
            <a:endParaRPr lang="en-GB" altLang="sl-SI" sz="1400"/>
          </a:p>
        </p:txBody>
      </p:sp>
    </p:spTree>
  </p:cSld>
  <p:clrMapOvr>
    <a:masterClrMapping/>
  </p:clrMapOvr>
  <p:transition>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a:xfrm>
            <a:off x="250825" y="188913"/>
            <a:ext cx="8569325" cy="1008062"/>
          </a:xfrm>
        </p:spPr>
        <p:txBody>
          <a:bodyPr/>
          <a:lstStyle/>
          <a:p>
            <a:pPr eaLnBrk="1" hangingPunct="1">
              <a:lnSpc>
                <a:spcPct val="130000"/>
              </a:lnSpc>
            </a:pPr>
            <a:r>
              <a:rPr lang="sl-SI" altLang="en-US" sz="2800" b="1"/>
              <a:t>Področja uporabe računalniškega vida</a:t>
            </a:r>
            <a:endParaRPr lang="en-GB" altLang="en-US" sz="2400"/>
          </a:p>
        </p:txBody>
      </p:sp>
      <p:sp>
        <p:nvSpPr>
          <p:cNvPr id="20483" name="Rectangle 3"/>
          <p:cNvSpPr>
            <a:spLocks noGrp="1" noChangeArrowheads="1"/>
          </p:cNvSpPr>
          <p:nvPr>
            <p:ph type="subTitle" idx="1"/>
          </p:nvPr>
        </p:nvSpPr>
        <p:spPr>
          <a:xfrm>
            <a:off x="971550" y="1196975"/>
            <a:ext cx="6800850" cy="5040313"/>
          </a:xfrm>
        </p:spPr>
        <p:txBody>
          <a:bodyPr/>
          <a:lstStyle/>
          <a:p>
            <a:pPr marL="609600" indent="-609600" algn="l" eaLnBrk="1" hangingPunct="1">
              <a:spcBef>
                <a:spcPct val="35000"/>
              </a:spcBef>
              <a:buFontTx/>
              <a:buAutoNum type="arabicPeriod"/>
            </a:pPr>
            <a:r>
              <a:rPr lang="sl-SI" altLang="en-US" sz="2000" dirty="0">
                <a:latin typeface="Times New Roman" panose="02020603050405020304" pitchFamily="18" charset="0"/>
                <a:cs typeface="Times New Roman" panose="02020603050405020304" pitchFamily="18" charset="0"/>
              </a:rPr>
              <a:t>Medicinske in znanstvene aplikacije</a:t>
            </a:r>
          </a:p>
          <a:p>
            <a:pPr marL="609600" indent="-609600" algn="l" eaLnBrk="1" hangingPunct="1">
              <a:spcBef>
                <a:spcPct val="35000"/>
              </a:spcBef>
              <a:buFontTx/>
              <a:buAutoNum type="arabicPeriod"/>
            </a:pPr>
            <a:r>
              <a:rPr lang="sl-SI" altLang="en-US" sz="2000" dirty="0">
                <a:latin typeface="Times New Roman" panose="02020603050405020304" pitchFamily="18" charset="0"/>
                <a:cs typeface="Times New Roman" panose="02020603050405020304" pitchFamily="18" charset="0"/>
              </a:rPr>
              <a:t>Nadzorni sistemi, zaznavanje gibanja</a:t>
            </a:r>
          </a:p>
          <a:p>
            <a:pPr marL="609600" indent="-609600" algn="l" eaLnBrk="1" hangingPunct="1">
              <a:spcBef>
                <a:spcPct val="35000"/>
              </a:spcBef>
              <a:buFontTx/>
              <a:buAutoNum type="arabicPeriod"/>
            </a:pPr>
            <a:r>
              <a:rPr lang="sl-SI" altLang="en-US" sz="2000" dirty="0">
                <a:latin typeface="Times New Roman" panose="02020603050405020304" pitchFamily="18" charset="0"/>
                <a:cs typeface="Times New Roman" panose="02020603050405020304" pitchFamily="18" charset="0"/>
              </a:rPr>
              <a:t>Razpoznavanje prstnih odtisov</a:t>
            </a:r>
          </a:p>
          <a:p>
            <a:pPr marL="609600" indent="-609600" algn="l" eaLnBrk="1" hangingPunct="1">
              <a:spcBef>
                <a:spcPct val="35000"/>
              </a:spcBef>
              <a:buFontTx/>
              <a:buAutoNum type="arabicPeriod"/>
            </a:pPr>
            <a:r>
              <a:rPr lang="sl-SI" altLang="en-US" sz="2000" dirty="0">
                <a:latin typeface="Times New Roman" panose="02020603050405020304" pitchFamily="18" charset="0"/>
                <a:cs typeface="Times New Roman" panose="02020603050405020304" pitchFamily="18" charset="0"/>
              </a:rPr>
              <a:t>Biometrika, razpoznavanje na osnovi očesne šarenice</a:t>
            </a:r>
          </a:p>
          <a:p>
            <a:pPr marL="609600" indent="-609600" algn="l" eaLnBrk="1" hangingPunct="1">
              <a:spcBef>
                <a:spcPct val="35000"/>
              </a:spcBef>
              <a:buFontTx/>
              <a:buAutoNum type="arabicPeriod"/>
            </a:pPr>
            <a:r>
              <a:rPr lang="sl-SI" altLang="en-US" sz="2000" dirty="0">
                <a:latin typeface="Times New Roman" panose="02020603050405020304" pitchFamily="18" charset="0"/>
                <a:cs typeface="Times New Roman" panose="02020603050405020304" pitchFamily="18" charset="0"/>
              </a:rPr>
              <a:t>Geometrično rekonstruiranje  (modeliranje, </a:t>
            </a:r>
            <a:r>
              <a:rPr lang="sl-SI" altLang="en-US" sz="2000" dirty="0" err="1">
                <a:latin typeface="Times New Roman" panose="02020603050405020304" pitchFamily="18" charset="0"/>
                <a:cs typeface="Times New Roman" panose="02020603050405020304" pitchFamily="18" charset="0"/>
              </a:rPr>
              <a:t>forenzika</a:t>
            </a:r>
            <a:r>
              <a:rPr lang="sl-SI" altLang="en-US" sz="2000" dirty="0">
                <a:latin typeface="Times New Roman" panose="02020603050405020304" pitchFamily="18" charset="0"/>
                <a:cs typeface="Times New Roman" panose="02020603050405020304" pitchFamily="18" charset="0"/>
              </a:rPr>
              <a:t>, posebni efekti)</a:t>
            </a:r>
          </a:p>
          <a:p>
            <a:pPr marL="609600" indent="-609600" algn="l" eaLnBrk="1" hangingPunct="1">
              <a:spcBef>
                <a:spcPct val="35000"/>
              </a:spcBef>
              <a:buFontTx/>
              <a:buAutoNum type="arabicPeriod"/>
            </a:pPr>
            <a:r>
              <a:rPr lang="sl-SI" altLang="en-US" sz="2000" dirty="0">
                <a:latin typeface="Times New Roman" panose="02020603050405020304" pitchFamily="18" charset="0"/>
                <a:cs typeface="Times New Roman" panose="02020603050405020304" pitchFamily="18" charset="0"/>
              </a:rPr>
              <a:t>Varnost vožnje, zaznavanje ovir</a:t>
            </a:r>
          </a:p>
          <a:p>
            <a:pPr marL="609600" indent="-609600" algn="l" eaLnBrk="1" hangingPunct="1">
              <a:spcBef>
                <a:spcPct val="35000"/>
              </a:spcBef>
              <a:buFontTx/>
              <a:buAutoNum type="arabicPeriod"/>
            </a:pPr>
            <a:r>
              <a:rPr lang="sl-SI" altLang="en-US" sz="2000" dirty="0">
                <a:latin typeface="Times New Roman" panose="02020603050405020304" pitchFamily="18" charset="0"/>
                <a:cs typeface="Times New Roman" panose="02020603050405020304" pitchFamily="18" charset="0"/>
              </a:rPr>
              <a:t>Obogatena resničnost</a:t>
            </a:r>
          </a:p>
          <a:p>
            <a:pPr marL="609600" indent="-609600" algn="l" eaLnBrk="1" hangingPunct="1">
              <a:spcBef>
                <a:spcPct val="35000"/>
              </a:spcBef>
              <a:buFontTx/>
              <a:buAutoNum type="arabicPeriod"/>
            </a:pPr>
            <a:r>
              <a:rPr lang="sl-SI" altLang="en-US" sz="2000" dirty="0">
                <a:latin typeface="Times New Roman" panose="02020603050405020304" pitchFamily="18" charset="0"/>
                <a:cs typeface="Times New Roman" panose="02020603050405020304" pitchFamily="18" charset="0"/>
              </a:rPr>
              <a:t>Urejanje slik in videov</a:t>
            </a:r>
            <a:endParaRPr lang="sl-SI" altLang="en-US" sz="1400" b="1" dirty="0">
              <a:latin typeface="Times New Roman" panose="02020603050405020304" pitchFamily="18" charset="0"/>
              <a:cs typeface="Times New Roman" panose="02020603050405020304" pitchFamily="18" charset="0"/>
            </a:endParaRPr>
          </a:p>
          <a:p>
            <a:pPr marL="609600" indent="-609600" algn="l" eaLnBrk="1" hangingPunct="1">
              <a:spcBef>
                <a:spcPct val="35000"/>
              </a:spcBef>
              <a:buFontTx/>
              <a:buAutoNum type="arabicPeriod"/>
            </a:pPr>
            <a:r>
              <a:rPr lang="sl-SI" altLang="en-US" sz="2000" dirty="0">
                <a:latin typeface="Times New Roman" panose="02020603050405020304" pitchFamily="18" charset="0"/>
                <a:cs typeface="Times New Roman" panose="02020603050405020304" pitchFamily="18" charset="0"/>
              </a:rPr>
              <a:t>Spletno oddajanje in indeksiranje videov</a:t>
            </a:r>
          </a:p>
          <a:p>
            <a:pPr marL="609600" indent="-609600" algn="l" eaLnBrk="1" hangingPunct="1">
              <a:spcBef>
                <a:spcPct val="35000"/>
              </a:spcBef>
            </a:pPr>
            <a:endParaRPr lang="sl-SI" altLang="en-US" sz="2000" dirty="0">
              <a:latin typeface="Times New Roman" panose="02020603050405020304" pitchFamily="18" charset="0"/>
              <a:cs typeface="Times New Roman" panose="02020603050405020304" pitchFamily="18" charset="0"/>
            </a:endParaRPr>
          </a:p>
        </p:txBody>
      </p:sp>
      <p:sp>
        <p:nvSpPr>
          <p:cNvPr id="20484"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20485"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27CD2C0-44C4-4EFB-A202-19BDA7CE8537}" type="slidenum">
              <a:rPr lang="en-GB" altLang="sl-SI" sz="1400" smtClean="0"/>
              <a:pPr>
                <a:spcBef>
                  <a:spcPct val="0"/>
                </a:spcBef>
                <a:buFontTx/>
                <a:buNone/>
              </a:pPr>
              <a:t>12</a:t>
            </a:fld>
            <a:endParaRPr lang="en-GB" altLang="sl-SI" sz="1400"/>
          </a:p>
        </p:txBody>
      </p:sp>
    </p:spTree>
  </p:cSld>
  <p:clrMapOvr>
    <a:masterClrMapping/>
  </p:clrMapOvr>
  <p:transition>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250825" y="188913"/>
            <a:ext cx="8569325" cy="1008062"/>
          </a:xfrm>
        </p:spPr>
        <p:txBody>
          <a:bodyPr/>
          <a:lstStyle/>
          <a:p>
            <a:pPr eaLnBrk="1" hangingPunct="1">
              <a:lnSpc>
                <a:spcPct val="130000"/>
              </a:lnSpc>
            </a:pPr>
            <a:r>
              <a:rPr lang="sl-SI" altLang="en-US" sz="2800" b="1"/>
              <a:t>RAČUNALNIŠKI VID</a:t>
            </a:r>
            <a:br>
              <a:rPr lang="sl-SI" altLang="en-US" sz="3200"/>
            </a:br>
            <a:r>
              <a:rPr lang="sl-SI" altLang="en-US" sz="2400"/>
              <a:t>Učna snov</a:t>
            </a:r>
            <a:endParaRPr lang="en-GB" altLang="en-US" sz="2400"/>
          </a:p>
        </p:txBody>
      </p:sp>
      <p:sp>
        <p:nvSpPr>
          <p:cNvPr id="22531" name="Rectangle 3"/>
          <p:cNvSpPr>
            <a:spLocks noGrp="1" noChangeArrowheads="1"/>
          </p:cNvSpPr>
          <p:nvPr>
            <p:ph type="subTitle" idx="1"/>
          </p:nvPr>
        </p:nvSpPr>
        <p:spPr>
          <a:xfrm>
            <a:off x="395288" y="1196975"/>
            <a:ext cx="4105275" cy="5040313"/>
          </a:xfrm>
        </p:spPr>
        <p:txBody>
          <a:bodyPr/>
          <a:lstStyle/>
          <a:p>
            <a:pPr marL="609600" indent="-609600" algn="l" eaLnBrk="1" hangingPunct="1">
              <a:spcBef>
                <a:spcPct val="35000"/>
              </a:spcBef>
              <a:buFontTx/>
              <a:buAutoNum type="arabicPeriod"/>
            </a:pPr>
            <a:r>
              <a:rPr lang="sl-SI" altLang="sl-SI" sz="1800" b="1">
                <a:latin typeface="Times New Roman" panose="02020603050405020304" pitchFamily="18" charset="0"/>
                <a:cs typeface="Times New Roman" panose="02020603050405020304" pitchFamily="18" charset="0"/>
              </a:rPr>
              <a:t>Osnove</a:t>
            </a:r>
          </a:p>
          <a:p>
            <a:pPr marL="990600" lvl="1" indent="-533400" algn="l" eaLnBrk="1" hangingPunct="1"/>
            <a:r>
              <a:rPr lang="en-GB" altLang="sl-SI" sz="1600">
                <a:latin typeface="Times New Roman" panose="02020603050405020304" pitchFamily="18" charset="0"/>
                <a:cs typeface="Times New Roman" panose="02020603050405020304" pitchFamily="18" charset="0"/>
              </a:rPr>
              <a:t>–</a:t>
            </a:r>
            <a:r>
              <a:rPr lang="sl-SI" altLang="sl-SI" sz="1600">
                <a:latin typeface="Times New Roman" panose="02020603050405020304" pitchFamily="18" charset="0"/>
                <a:cs typeface="Times New Roman" panose="02020603050405020304" pitchFamily="18" charset="0"/>
              </a:rPr>
              <a:t> Uvod, motivacija, ravninske in prostorske transformacije</a:t>
            </a:r>
          </a:p>
          <a:p>
            <a:pPr marL="990600" lvl="1" indent="-533400" algn="l" eaLnBrk="1" hangingPunct="1"/>
            <a:r>
              <a:rPr lang="en-GB" altLang="sl-SI" sz="1600">
                <a:latin typeface="Times New Roman" panose="02020603050405020304" pitchFamily="18" charset="0"/>
                <a:cs typeface="Times New Roman" panose="02020603050405020304" pitchFamily="18" charset="0"/>
              </a:rPr>
              <a:t>–</a:t>
            </a:r>
            <a:r>
              <a:rPr lang="sl-SI" altLang="sl-SI" sz="1600">
                <a:latin typeface="Times New Roman" panose="02020603050405020304" pitchFamily="18" charset="0"/>
                <a:cs typeface="Times New Roman" panose="02020603050405020304" pitchFamily="18" charset="0"/>
              </a:rPr>
              <a:t> Camera obscura, projekcijske transformacije</a:t>
            </a:r>
          </a:p>
          <a:p>
            <a:pPr marL="990600" lvl="1" indent="-533400" algn="l" eaLnBrk="1" hangingPunct="1"/>
            <a:r>
              <a:rPr lang="en-GB" altLang="sl-SI" sz="1600">
                <a:latin typeface="Times New Roman" panose="02020603050405020304" pitchFamily="18" charset="0"/>
                <a:cs typeface="Times New Roman" panose="02020603050405020304" pitchFamily="18" charset="0"/>
              </a:rPr>
              <a:t>–</a:t>
            </a:r>
            <a:r>
              <a:rPr lang="sl-SI" altLang="sl-SI" sz="1600">
                <a:latin typeface="Times New Roman" panose="02020603050405020304" pitchFamily="18" charset="0"/>
                <a:cs typeface="Times New Roman" panose="02020603050405020304" pitchFamily="18" charset="0"/>
              </a:rPr>
              <a:t> Kalibracija kamer</a:t>
            </a:r>
          </a:p>
          <a:p>
            <a:pPr marL="990600" lvl="1" indent="-533400" algn="l" eaLnBrk="1" hangingPunct="1"/>
            <a:r>
              <a:rPr lang="en-GB" altLang="sl-SI" sz="1600">
                <a:latin typeface="Times New Roman" panose="02020603050405020304" pitchFamily="18" charset="0"/>
                <a:cs typeface="Times New Roman" panose="02020603050405020304" pitchFamily="18" charset="0"/>
              </a:rPr>
              <a:t>–</a:t>
            </a:r>
            <a:r>
              <a:rPr lang="sl-SI" altLang="sl-SI" sz="1600">
                <a:latin typeface="Times New Roman" panose="02020603050405020304" pitchFamily="18" charset="0"/>
                <a:cs typeface="Times New Roman" panose="02020603050405020304" pitchFamily="18" charset="0"/>
              </a:rPr>
              <a:t> Epipolarna geometrija</a:t>
            </a:r>
            <a:br>
              <a:rPr lang="sl-SI" altLang="sl-SI" sz="1600">
                <a:latin typeface="Times New Roman" panose="02020603050405020304" pitchFamily="18" charset="0"/>
                <a:cs typeface="Times New Roman" panose="02020603050405020304" pitchFamily="18" charset="0"/>
              </a:rPr>
            </a:br>
            <a:endParaRPr lang="sl-SI" altLang="sl-SI" sz="1600">
              <a:latin typeface="Times New Roman" panose="02020603050405020304" pitchFamily="18" charset="0"/>
              <a:cs typeface="Times New Roman" panose="02020603050405020304" pitchFamily="18" charset="0"/>
            </a:endParaRPr>
          </a:p>
          <a:p>
            <a:pPr marL="609600" indent="-609600" algn="l" eaLnBrk="1" hangingPunct="1">
              <a:spcBef>
                <a:spcPct val="35000"/>
              </a:spcBef>
              <a:buFontTx/>
              <a:buAutoNum type="arabicPeriod"/>
            </a:pPr>
            <a:r>
              <a:rPr lang="sl-SI" altLang="sl-SI" sz="1800" b="1">
                <a:latin typeface="Times New Roman" panose="02020603050405020304" pitchFamily="18" charset="0"/>
                <a:cs typeface="Times New Roman" panose="02020603050405020304" pitchFamily="18" charset="0"/>
              </a:rPr>
              <a:t>Poravnava slik</a:t>
            </a:r>
          </a:p>
          <a:p>
            <a:pPr marL="990600" lvl="1" indent="-533400" algn="l" eaLnBrk="1" hangingPunct="1"/>
            <a:r>
              <a:rPr lang="en-GB" altLang="sl-SI" sz="1600">
                <a:latin typeface="Times New Roman" panose="02020603050405020304" pitchFamily="18" charset="0"/>
                <a:cs typeface="Times New Roman" panose="02020603050405020304" pitchFamily="18" charset="0"/>
              </a:rPr>
              <a:t>–</a:t>
            </a:r>
            <a:r>
              <a:rPr lang="sl-SI" altLang="sl-SI" sz="1600">
                <a:latin typeface="Times New Roman" panose="02020603050405020304" pitchFamily="18" charset="0"/>
                <a:cs typeface="Times New Roman" panose="02020603050405020304" pitchFamily="18" charset="0"/>
              </a:rPr>
              <a:t> Toge poravnave – premik in zasuk</a:t>
            </a:r>
          </a:p>
          <a:p>
            <a:pPr marL="990600" lvl="1" indent="-533400" algn="l" eaLnBrk="1" hangingPunct="1"/>
            <a:r>
              <a:rPr lang="en-GB" altLang="sl-SI" sz="1600">
                <a:latin typeface="Times New Roman" panose="02020603050405020304" pitchFamily="18" charset="0"/>
                <a:cs typeface="Times New Roman" panose="02020603050405020304" pitchFamily="18" charset="0"/>
              </a:rPr>
              <a:t>–</a:t>
            </a:r>
            <a:r>
              <a:rPr lang="sl-SI" altLang="sl-SI" sz="1600">
                <a:latin typeface="Times New Roman" panose="02020603050405020304" pitchFamily="18" charset="0"/>
                <a:cs typeface="Times New Roman" panose="02020603050405020304" pitchFamily="18" charset="0"/>
              </a:rPr>
              <a:t> Poravnave s pomočjo frekvenčnega prostora</a:t>
            </a:r>
          </a:p>
          <a:p>
            <a:pPr marL="990600" lvl="1" indent="-533400" algn="l" eaLnBrk="1" hangingPunct="1"/>
            <a:r>
              <a:rPr lang="en-GB" altLang="sl-SI" sz="1600">
                <a:latin typeface="Times New Roman" panose="02020603050405020304" pitchFamily="18" charset="0"/>
                <a:cs typeface="Times New Roman" panose="02020603050405020304" pitchFamily="18" charset="0"/>
              </a:rPr>
              <a:t>–</a:t>
            </a:r>
            <a:r>
              <a:rPr lang="sl-SI" altLang="sl-SI" sz="1600">
                <a:latin typeface="Times New Roman" panose="02020603050405020304" pitchFamily="18" charset="0"/>
                <a:cs typeface="Times New Roman" panose="02020603050405020304" pitchFamily="18" charset="0"/>
              </a:rPr>
              <a:t> Afine poravnave, netoge poravnave</a:t>
            </a:r>
          </a:p>
          <a:p>
            <a:pPr marL="990600" lvl="1" indent="-533400" algn="l" eaLnBrk="1" hangingPunct="1"/>
            <a:r>
              <a:rPr lang="en-GB" altLang="sl-SI" sz="1600">
                <a:latin typeface="Times New Roman" panose="02020603050405020304" pitchFamily="18" charset="0"/>
                <a:cs typeface="Times New Roman" panose="02020603050405020304" pitchFamily="18" charset="0"/>
              </a:rPr>
              <a:t>–</a:t>
            </a:r>
            <a:r>
              <a:rPr lang="sl-SI" altLang="sl-SI" sz="1600">
                <a:latin typeface="Times New Roman" panose="02020603050405020304" pitchFamily="18" charset="0"/>
                <a:cs typeface="Times New Roman" panose="02020603050405020304" pitchFamily="18" charset="0"/>
              </a:rPr>
              <a:t> Stereo vid, globina</a:t>
            </a:r>
          </a:p>
        </p:txBody>
      </p:sp>
      <p:sp>
        <p:nvSpPr>
          <p:cNvPr id="22532"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dirty="0" err="1"/>
              <a:t>Predavanja</a:t>
            </a:r>
            <a:r>
              <a:rPr lang="en-GB" altLang="sl-SI" sz="1400" dirty="0"/>
              <a:t> </a:t>
            </a:r>
            <a:r>
              <a:rPr lang="en-GB" altLang="sl-SI" sz="1400" dirty="0" err="1"/>
              <a:t>iz</a:t>
            </a:r>
            <a:r>
              <a:rPr lang="en-GB" altLang="sl-SI" sz="1400" dirty="0"/>
              <a:t> </a:t>
            </a:r>
            <a:r>
              <a:rPr lang="en-GB" altLang="sl-SI" sz="1400" dirty="0" err="1"/>
              <a:t>Računalniškega</a:t>
            </a:r>
            <a:r>
              <a:rPr lang="en-GB" altLang="sl-SI" sz="1400" dirty="0"/>
              <a:t> </a:t>
            </a:r>
            <a:r>
              <a:rPr lang="en-GB" altLang="sl-SI" sz="1400" dirty="0" err="1"/>
              <a:t>vida</a:t>
            </a:r>
            <a:r>
              <a:rPr lang="en-GB" altLang="sl-SI" sz="1400" dirty="0"/>
              <a:t>, FERI Maribor </a:t>
            </a:r>
          </a:p>
        </p:txBody>
      </p:sp>
      <p:sp>
        <p:nvSpPr>
          <p:cNvPr id="22533"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20D3390-6D8A-4AF9-A94A-DE3EC4EF535D}" type="slidenum">
              <a:rPr lang="en-GB" altLang="sl-SI" sz="1400" smtClean="0"/>
              <a:pPr>
                <a:spcBef>
                  <a:spcPct val="0"/>
                </a:spcBef>
                <a:buFontTx/>
                <a:buNone/>
              </a:pPr>
              <a:t>13</a:t>
            </a:fld>
            <a:endParaRPr lang="en-GB" altLang="sl-SI" sz="1400"/>
          </a:p>
        </p:txBody>
      </p:sp>
      <p:sp>
        <p:nvSpPr>
          <p:cNvPr id="22534" name="Rectangle 3"/>
          <p:cNvSpPr txBox="1">
            <a:spLocks noChangeArrowheads="1"/>
          </p:cNvSpPr>
          <p:nvPr/>
        </p:nvSpPr>
        <p:spPr bwMode="auto">
          <a:xfrm>
            <a:off x="4572000" y="1196975"/>
            <a:ext cx="424815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har char="•"/>
              <a:defRPr sz="3200">
                <a:solidFill>
                  <a:schemeClr val="tx1"/>
                </a:solidFill>
                <a:latin typeface="Arial" panose="020B0604020202020204" pitchFamily="34" charset="0"/>
                <a:cs typeface="Arial" panose="020B0604020202020204" pitchFamily="34" charset="0"/>
              </a:defRPr>
            </a:lvl1pPr>
            <a:lvl2pPr marL="447675">
              <a:spcBef>
                <a:spcPct val="20000"/>
              </a:spcBef>
              <a:buChar char="–"/>
              <a:defRPr sz="2800">
                <a:solidFill>
                  <a:schemeClr val="tx1"/>
                </a:solidFill>
                <a:latin typeface="Arial" panose="020B0604020202020204" pitchFamily="34" charset="0"/>
                <a:cs typeface="Arial" panose="020B0604020202020204" pitchFamily="34" charset="0"/>
              </a:defRPr>
            </a:lvl2pPr>
            <a:lvl3pPr marL="4572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35000"/>
              </a:spcBef>
              <a:buFontTx/>
              <a:buAutoNum type="arabicPeriod" startAt="3"/>
            </a:pPr>
            <a:r>
              <a:rPr lang="sl-SI" altLang="sl-SI" sz="1800" b="1" dirty="0">
                <a:latin typeface="Times New Roman" panose="02020603050405020304" pitchFamily="18" charset="0"/>
                <a:cs typeface="Times New Roman" panose="02020603050405020304" pitchFamily="18" charset="0"/>
              </a:rPr>
              <a:t>Zaznavanje gibanja</a:t>
            </a:r>
          </a:p>
          <a:p>
            <a:pPr lvl="2" eaLnBrk="1" hangingPunct="1">
              <a:spcBef>
                <a:spcPct val="35000"/>
              </a:spcBef>
              <a:buFontTx/>
              <a:buNone/>
            </a:pPr>
            <a:r>
              <a:rPr lang="en-GB" altLang="sl-SI" sz="1600" dirty="0">
                <a:latin typeface="Times New Roman" panose="02020603050405020304" pitchFamily="18" charset="0"/>
                <a:cs typeface="Times New Roman" panose="02020603050405020304" pitchFamily="18" charset="0"/>
              </a:rPr>
              <a:t>–</a:t>
            </a:r>
            <a:r>
              <a:rPr lang="sl-SI" altLang="sl-SI" sz="1600" dirty="0">
                <a:latin typeface="Times New Roman" panose="02020603050405020304" pitchFamily="18" charset="0"/>
                <a:cs typeface="Times New Roman" panose="02020603050405020304" pitchFamily="18" charset="0"/>
              </a:rPr>
              <a:t> Gibanje, zaznano s pomočjo dveh slik</a:t>
            </a:r>
          </a:p>
          <a:p>
            <a:pPr lvl="2" eaLnBrk="1" hangingPunct="1">
              <a:spcBef>
                <a:spcPct val="35000"/>
              </a:spcBef>
              <a:buFontTx/>
              <a:buNone/>
            </a:pPr>
            <a:r>
              <a:rPr lang="en-GB" altLang="sl-SI" sz="1600" dirty="0">
                <a:latin typeface="Times New Roman" panose="02020603050405020304" pitchFamily="18" charset="0"/>
                <a:cs typeface="Times New Roman" panose="02020603050405020304" pitchFamily="18" charset="0"/>
              </a:rPr>
              <a:t>–</a:t>
            </a:r>
            <a:r>
              <a:rPr lang="sl-SI" altLang="sl-SI" sz="1600" dirty="0">
                <a:latin typeface="Times New Roman" panose="02020603050405020304" pitchFamily="18" charset="0"/>
                <a:cs typeface="Times New Roman" panose="02020603050405020304" pitchFamily="18" charset="0"/>
              </a:rPr>
              <a:t> Optični tok, polje gibanja</a:t>
            </a:r>
            <a:br>
              <a:rPr lang="sl-SI" altLang="sl-SI" sz="1600" dirty="0">
                <a:latin typeface="Times New Roman" panose="02020603050405020304" pitchFamily="18" charset="0"/>
                <a:cs typeface="Times New Roman" panose="02020603050405020304" pitchFamily="18" charset="0"/>
              </a:rPr>
            </a:br>
            <a:r>
              <a:rPr lang="sl-SI" altLang="sl-SI" sz="1600" dirty="0">
                <a:latin typeface="Times New Roman" panose="02020603050405020304" pitchFamily="18" charset="0"/>
                <a:cs typeface="Times New Roman" panose="02020603050405020304" pitchFamily="18" charset="0"/>
              </a:rPr>
              <a:t> </a:t>
            </a:r>
          </a:p>
          <a:p>
            <a:pPr eaLnBrk="1" hangingPunct="1">
              <a:spcBef>
                <a:spcPct val="35000"/>
              </a:spcBef>
              <a:buFontTx/>
              <a:buAutoNum type="arabicPeriod" startAt="3"/>
            </a:pPr>
            <a:r>
              <a:rPr lang="sl-SI" altLang="sl-SI" sz="1800" b="1" dirty="0">
                <a:latin typeface="Times New Roman" panose="02020603050405020304" pitchFamily="18" charset="0"/>
                <a:cs typeface="Times New Roman" panose="02020603050405020304" pitchFamily="18" charset="0"/>
              </a:rPr>
              <a:t>3D rekonstrukcija</a:t>
            </a:r>
          </a:p>
          <a:p>
            <a:pPr lvl="1" eaLnBrk="1" hangingPunct="1">
              <a:spcBef>
                <a:spcPct val="35000"/>
              </a:spcBef>
              <a:buFontTx/>
              <a:buNone/>
            </a:pPr>
            <a:r>
              <a:rPr lang="en-GB" altLang="sl-SI" sz="1600" dirty="0">
                <a:latin typeface="Times New Roman" panose="02020603050405020304" pitchFamily="18" charset="0"/>
                <a:cs typeface="Times New Roman" panose="02020603050405020304" pitchFamily="18" charset="0"/>
              </a:rPr>
              <a:t>–</a:t>
            </a:r>
            <a:r>
              <a:rPr lang="sl-SI" altLang="sl-SI" sz="1600" dirty="0">
                <a:latin typeface="Times New Roman" panose="02020603050405020304" pitchFamily="18" charset="0"/>
                <a:cs typeface="Times New Roman" panose="02020603050405020304" pitchFamily="18" charset="0"/>
              </a:rPr>
              <a:t> Operatorji za iskanje korespondenčnih točk</a:t>
            </a:r>
          </a:p>
          <a:p>
            <a:pPr lvl="1" eaLnBrk="1" hangingPunct="1">
              <a:spcBef>
                <a:spcPct val="35000"/>
              </a:spcBef>
              <a:buFontTx/>
              <a:buNone/>
            </a:pPr>
            <a:r>
              <a:rPr lang="en-GB" altLang="sl-SI" sz="1600" dirty="0">
                <a:latin typeface="Times New Roman" panose="02020603050405020304" pitchFamily="18" charset="0"/>
                <a:cs typeface="Times New Roman" panose="02020603050405020304" pitchFamily="18" charset="0"/>
              </a:rPr>
              <a:t>–</a:t>
            </a:r>
            <a:r>
              <a:rPr lang="sl-SI" altLang="sl-SI" sz="1600" dirty="0">
                <a:latin typeface="Times New Roman" panose="02020603050405020304" pitchFamily="18" charset="0"/>
                <a:cs typeface="Times New Roman" panose="02020603050405020304" pitchFamily="18" charset="0"/>
              </a:rPr>
              <a:t> Določanje korespondenčnih točk s poravnavo slik</a:t>
            </a:r>
          </a:p>
          <a:p>
            <a:pPr lvl="1" eaLnBrk="1" hangingPunct="1">
              <a:spcBef>
                <a:spcPct val="35000"/>
              </a:spcBef>
              <a:buFontTx/>
              <a:buNone/>
            </a:pPr>
            <a:r>
              <a:rPr lang="en-GB" altLang="sl-SI" sz="1600" dirty="0">
                <a:latin typeface="Times New Roman" panose="02020603050405020304" pitchFamily="18" charset="0"/>
                <a:cs typeface="Times New Roman" panose="02020603050405020304" pitchFamily="18" charset="0"/>
              </a:rPr>
              <a:t>–</a:t>
            </a:r>
            <a:r>
              <a:rPr lang="sl-SI" altLang="sl-SI" sz="1600" dirty="0">
                <a:latin typeface="Times New Roman" panose="02020603050405020304" pitchFamily="18" charset="0"/>
                <a:cs typeface="Times New Roman" panose="02020603050405020304" pitchFamily="18" charset="0"/>
              </a:rPr>
              <a:t> Projekcijska 3D rekonstrukcija</a:t>
            </a:r>
            <a:br>
              <a:rPr lang="sl-SI" altLang="sl-SI" sz="1600" dirty="0">
                <a:latin typeface="Times New Roman" panose="02020603050405020304" pitchFamily="18" charset="0"/>
                <a:cs typeface="Times New Roman" panose="02020603050405020304" pitchFamily="18" charset="0"/>
              </a:rPr>
            </a:br>
            <a:endParaRPr lang="sl-SI" altLang="sl-SI" sz="1600" dirty="0">
              <a:latin typeface="Times New Roman" panose="02020603050405020304" pitchFamily="18" charset="0"/>
              <a:cs typeface="Times New Roman" panose="02020603050405020304" pitchFamily="18" charset="0"/>
            </a:endParaRPr>
          </a:p>
          <a:p>
            <a:pPr eaLnBrk="1" hangingPunct="1">
              <a:spcBef>
                <a:spcPct val="35000"/>
              </a:spcBef>
              <a:buFontTx/>
              <a:buAutoNum type="arabicPeriod" startAt="3"/>
            </a:pPr>
            <a:r>
              <a:rPr lang="sl-SI" altLang="sl-SI" sz="1800" b="1" i="1" dirty="0">
                <a:latin typeface="Times New Roman" panose="02020603050405020304" pitchFamily="18" charset="0"/>
                <a:cs typeface="Times New Roman" panose="02020603050405020304" pitchFamily="18" charset="0"/>
              </a:rPr>
              <a:t>Razpoznavanje (opcijsko)</a:t>
            </a:r>
          </a:p>
          <a:p>
            <a:pPr lvl="1" eaLnBrk="1" hangingPunct="1">
              <a:buFontTx/>
              <a:buNone/>
            </a:pPr>
            <a:r>
              <a:rPr lang="en-GB" altLang="sl-SI" sz="1600" i="1" dirty="0">
                <a:latin typeface="Times New Roman" panose="02020603050405020304" pitchFamily="18" charset="0"/>
                <a:cs typeface="Times New Roman" panose="02020603050405020304" pitchFamily="18" charset="0"/>
              </a:rPr>
              <a:t>–</a:t>
            </a:r>
            <a:r>
              <a:rPr lang="sl-SI" altLang="sl-SI" sz="1600" i="1" dirty="0">
                <a:latin typeface="Times New Roman" panose="02020603050405020304" pitchFamily="18" charset="0"/>
                <a:cs typeface="Times New Roman" panose="02020603050405020304" pitchFamily="18" charset="0"/>
              </a:rPr>
              <a:t> Zaznavanje objektov</a:t>
            </a:r>
          </a:p>
          <a:p>
            <a:pPr lvl="1" eaLnBrk="1" hangingPunct="1">
              <a:buFontTx/>
              <a:buNone/>
            </a:pPr>
            <a:r>
              <a:rPr lang="en-GB" altLang="sl-SI" sz="1600" i="1" dirty="0">
                <a:latin typeface="Times New Roman" panose="02020603050405020304" pitchFamily="18" charset="0"/>
                <a:cs typeface="Times New Roman" panose="02020603050405020304" pitchFamily="18" charset="0"/>
              </a:rPr>
              <a:t>–</a:t>
            </a:r>
            <a:r>
              <a:rPr lang="sl-SI" altLang="sl-SI" sz="1600" i="1" dirty="0">
                <a:latin typeface="Times New Roman" panose="02020603050405020304" pitchFamily="18" charset="0"/>
                <a:cs typeface="Times New Roman" panose="02020603050405020304" pitchFamily="18" charset="0"/>
              </a:rPr>
              <a:t> Razpoznavanje obrazov</a:t>
            </a:r>
          </a:p>
          <a:p>
            <a:pPr lvl="1" eaLnBrk="1" hangingPunct="1">
              <a:buFontTx/>
              <a:buNone/>
            </a:pPr>
            <a:r>
              <a:rPr lang="en-GB" altLang="sl-SI" sz="1600" i="1" dirty="0">
                <a:latin typeface="Times New Roman" panose="02020603050405020304" pitchFamily="18" charset="0"/>
                <a:cs typeface="Times New Roman" panose="02020603050405020304" pitchFamily="18" charset="0"/>
              </a:rPr>
              <a:t>–</a:t>
            </a:r>
            <a:r>
              <a:rPr lang="sl-SI" altLang="sl-SI" sz="1600" i="1" dirty="0">
                <a:latin typeface="Times New Roman" panose="02020603050405020304" pitchFamily="18" charset="0"/>
                <a:cs typeface="Times New Roman" panose="02020603050405020304" pitchFamily="18" charset="0"/>
              </a:rPr>
              <a:t> Računalniški vid v vmesnikih človek-stroj</a:t>
            </a:r>
          </a:p>
          <a:p>
            <a:pPr lvl="1" eaLnBrk="1" hangingPunct="1">
              <a:buFontTx/>
              <a:buNone/>
            </a:pPr>
            <a:endParaRPr lang="sl-SI" altLang="sl-SI" sz="1600" dirty="0">
              <a:latin typeface="Times New Roman" panose="02020603050405020304" pitchFamily="18" charset="0"/>
              <a:cs typeface="Times New Roman" panose="02020603050405020304" pitchFamily="18" charset="0"/>
            </a:endParaRPr>
          </a:p>
        </p:txBody>
      </p:sp>
    </p:spTree>
  </p:cSld>
  <p:clrMapOvr>
    <a:masterClrMapping/>
  </p:clrMapOvr>
  <p:transition>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sl-SI" altLang="sl-SI" sz="2800" b="1"/>
              <a:t>Kazalo</a:t>
            </a:r>
          </a:p>
        </p:txBody>
      </p:sp>
      <p:sp>
        <p:nvSpPr>
          <p:cNvPr id="24579" name="Content Placeholder 5"/>
          <p:cNvSpPr>
            <a:spLocks noGrp="1"/>
          </p:cNvSpPr>
          <p:nvPr>
            <p:ph sz="half" idx="1"/>
          </p:nvPr>
        </p:nvSpPr>
        <p:spPr>
          <a:xfrm>
            <a:off x="611188" y="1428750"/>
            <a:ext cx="7129462" cy="5111750"/>
          </a:xfrm>
        </p:spPr>
        <p:txBody>
          <a:bodyPr/>
          <a:lstStyle/>
          <a:p>
            <a:pPr marL="457200" indent="-457200">
              <a:buFontTx/>
              <a:buAutoNum type="arabicPeriod"/>
            </a:pPr>
            <a:r>
              <a:rPr lang="it-IT" altLang="sl-SI" sz="2000"/>
              <a:t>Camera obscura in osnovne projekcije</a:t>
            </a:r>
            <a:r>
              <a:rPr lang="sl-SI" altLang="sl-SI" sz="2000"/>
              <a:t>…...........................</a:t>
            </a:r>
          </a:p>
          <a:p>
            <a:pPr marL="457200" indent="-457200">
              <a:buFontTx/>
              <a:buAutoNum type="arabicPeriod"/>
            </a:pPr>
            <a:r>
              <a:rPr lang="sl-SI" altLang="sl-SI" sz="2000"/>
              <a:t>Kalibracija kamer................................................................</a:t>
            </a:r>
          </a:p>
          <a:p>
            <a:pPr marL="457200" indent="-457200">
              <a:buFontTx/>
              <a:buAutoNum type="arabicPeriod"/>
            </a:pPr>
            <a:r>
              <a:rPr lang="sl-SI" altLang="sl-SI" sz="2000"/>
              <a:t>Epipolarna geometrija.........................................................</a:t>
            </a:r>
          </a:p>
          <a:p>
            <a:pPr marL="457200" indent="-457200">
              <a:buFontTx/>
              <a:buAutoNum type="arabicPeriod"/>
            </a:pPr>
            <a:r>
              <a:rPr lang="sl-SI" altLang="sl-SI" sz="2000"/>
              <a:t>Poravnava slik…………………...………………..................</a:t>
            </a:r>
          </a:p>
          <a:p>
            <a:pPr marL="457200" indent="-457200">
              <a:buFontTx/>
              <a:buAutoNum type="arabicPeriod"/>
            </a:pPr>
            <a:r>
              <a:rPr lang="sl-SI" altLang="sl-SI" sz="2000"/>
              <a:t>Stereo vid………………………………………………………</a:t>
            </a:r>
          </a:p>
          <a:p>
            <a:pPr marL="457200" indent="-457200">
              <a:buFontTx/>
              <a:buAutoNum type="arabicPeriod"/>
            </a:pPr>
            <a:r>
              <a:rPr lang="sl-SI" altLang="sl-SI" sz="2000"/>
              <a:t>Optični tok………………………..…………………………….</a:t>
            </a:r>
          </a:p>
          <a:p>
            <a:pPr marL="457200" indent="-457200">
              <a:buFontTx/>
              <a:buAutoNum type="arabicPeriod"/>
            </a:pPr>
            <a:r>
              <a:rPr lang="sl-SI" altLang="sl-SI" sz="2000"/>
              <a:t>Struktura iz gibanja……..…………………………………….</a:t>
            </a:r>
          </a:p>
          <a:p>
            <a:pPr marL="457200" indent="-457200">
              <a:buFontTx/>
              <a:buAutoNum type="arabicPeriod"/>
            </a:pPr>
            <a:r>
              <a:rPr lang="sl-SI" altLang="sl-SI" sz="2000"/>
              <a:t>3D-rekonstrukcija objektov….……………………………….</a:t>
            </a:r>
          </a:p>
          <a:p>
            <a:pPr marL="457200" indent="-457200">
              <a:buFontTx/>
              <a:buAutoNum type="arabicPeriod"/>
            </a:pPr>
            <a:endParaRPr lang="sl-SI" altLang="sl-SI" sz="2400"/>
          </a:p>
        </p:txBody>
      </p:sp>
      <p:sp>
        <p:nvSpPr>
          <p:cNvPr id="24580" name="Footer Placeholder 6"/>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24581" name="Slide Number Placeholder 8"/>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F26BE14-4844-4B65-9377-A5B37D52F097}" type="slidenum">
              <a:rPr lang="sl-SI" altLang="sl-SI" sz="1400" smtClean="0">
                <a:solidFill>
                  <a:schemeClr val="accent2"/>
                </a:solidFill>
                <a:latin typeface="Times New Roman" panose="02020603050405020304" pitchFamily="18" charset="0"/>
              </a:rPr>
              <a:pPr>
                <a:spcBef>
                  <a:spcPct val="0"/>
                </a:spcBef>
                <a:buFontTx/>
                <a:buNone/>
              </a:pPr>
              <a:t>14</a:t>
            </a:fld>
            <a:endParaRPr lang="sl-SI" altLang="sl-SI" sz="1400">
              <a:solidFill>
                <a:schemeClr val="accent2"/>
              </a:solidFill>
              <a:latin typeface="Times New Roman" panose="02020603050405020304" pitchFamily="18" charset="0"/>
            </a:endParaRPr>
          </a:p>
        </p:txBody>
      </p:sp>
      <p:sp>
        <p:nvSpPr>
          <p:cNvPr id="10" name="Content Placeholder 5"/>
          <p:cNvSpPr>
            <a:spLocks noGrp="1"/>
          </p:cNvSpPr>
          <p:nvPr>
            <p:ph sz="half" idx="1"/>
          </p:nvPr>
        </p:nvSpPr>
        <p:spPr>
          <a:xfrm>
            <a:off x="7675563" y="1433513"/>
            <a:ext cx="1000125" cy="5111750"/>
          </a:xfrm>
        </p:spPr>
        <p:txBody>
          <a:bodyPr/>
          <a:lstStyle/>
          <a:p>
            <a:pPr marL="0" indent="0">
              <a:buFontTx/>
              <a:buNone/>
              <a:defRPr/>
            </a:pPr>
            <a:r>
              <a:rPr lang="sl-SI" sz="2000" dirty="0">
                <a:latin typeface="+mj-lt"/>
                <a:ea typeface="+mj-ea"/>
                <a:cs typeface="+mj-cs"/>
              </a:rPr>
              <a:t>15</a:t>
            </a:r>
          </a:p>
          <a:p>
            <a:pPr marL="0" indent="0">
              <a:buFontTx/>
              <a:buNone/>
              <a:defRPr/>
            </a:pPr>
            <a:r>
              <a:rPr lang="sl-SI" sz="2000" dirty="0">
                <a:latin typeface="+mj-lt"/>
                <a:ea typeface="+mj-ea"/>
                <a:cs typeface="+mj-cs"/>
              </a:rPr>
              <a:t>32</a:t>
            </a:r>
          </a:p>
          <a:p>
            <a:pPr marL="0" indent="0">
              <a:buFontTx/>
              <a:buNone/>
              <a:defRPr/>
            </a:pPr>
            <a:r>
              <a:rPr lang="sl-SI" sz="2000" dirty="0">
                <a:latin typeface="+mj-lt"/>
                <a:ea typeface="+mj-ea"/>
                <a:cs typeface="+mj-cs"/>
              </a:rPr>
              <a:t>46</a:t>
            </a:r>
          </a:p>
          <a:p>
            <a:pPr marL="0" indent="0">
              <a:buFontTx/>
              <a:buNone/>
              <a:defRPr/>
            </a:pPr>
            <a:r>
              <a:rPr lang="sl-SI" sz="2000" dirty="0">
                <a:latin typeface="+mj-lt"/>
                <a:ea typeface="+mj-ea"/>
                <a:cs typeface="+mj-cs"/>
              </a:rPr>
              <a:t>58</a:t>
            </a:r>
          </a:p>
          <a:p>
            <a:pPr marL="0" indent="0">
              <a:buFontTx/>
              <a:buNone/>
              <a:defRPr/>
            </a:pPr>
            <a:r>
              <a:rPr lang="sl-SI" sz="2000" dirty="0">
                <a:latin typeface="+mj-lt"/>
                <a:ea typeface="+mj-ea"/>
                <a:cs typeface="+mj-cs"/>
              </a:rPr>
              <a:t>91</a:t>
            </a:r>
          </a:p>
          <a:p>
            <a:pPr marL="0" indent="0">
              <a:buFontTx/>
              <a:buNone/>
              <a:defRPr/>
            </a:pPr>
            <a:r>
              <a:rPr lang="sl-SI" sz="2000" dirty="0">
                <a:latin typeface="+mj-lt"/>
                <a:ea typeface="+mj-ea"/>
                <a:cs typeface="+mj-cs"/>
              </a:rPr>
              <a:t>114</a:t>
            </a:r>
          </a:p>
          <a:p>
            <a:pPr marL="0" indent="0">
              <a:buFontTx/>
              <a:buNone/>
              <a:defRPr/>
            </a:pPr>
            <a:r>
              <a:rPr lang="sl-SI" sz="2000" dirty="0">
                <a:latin typeface="+mj-lt"/>
                <a:ea typeface="+mj-ea"/>
                <a:cs typeface="+mj-cs"/>
              </a:rPr>
              <a:t>137</a:t>
            </a:r>
          </a:p>
          <a:p>
            <a:pPr marL="0" indent="0">
              <a:buFontTx/>
              <a:buNone/>
              <a:defRPr/>
            </a:pPr>
            <a:r>
              <a:rPr lang="sl-SI" sz="2000" dirty="0">
                <a:latin typeface="+mj-lt"/>
                <a:ea typeface="+mj-ea"/>
                <a:cs typeface="+mj-cs"/>
              </a:rPr>
              <a:t>162</a:t>
            </a:r>
          </a:p>
          <a:p>
            <a:pPr marL="0" indent="0">
              <a:buFontTx/>
              <a:buNone/>
              <a:defRPr/>
            </a:pPr>
            <a:endParaRPr lang="sl-SI" sz="2400" dirty="0">
              <a:latin typeface="+mj-lt"/>
              <a:ea typeface="+mj-ea"/>
              <a:cs typeface="+mj-cs"/>
            </a:endParaRPr>
          </a:p>
        </p:txBody>
      </p:sp>
    </p:spTree>
  </p:cSld>
  <p:clrMapOvr>
    <a:masterClrMapping/>
  </p:clrMapOvr>
  <p:transition>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56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FC277F2-DFBA-4552-B0B0-7D46058BF6C4}" type="slidenum">
              <a:rPr lang="en-GB" altLang="en-US" sz="1400" smtClean="0"/>
              <a:pPr>
                <a:spcBef>
                  <a:spcPct val="0"/>
                </a:spcBef>
                <a:buFontTx/>
                <a:buNone/>
              </a:pPr>
              <a:t>15</a:t>
            </a:fld>
            <a:endParaRPr lang="en-GB" altLang="en-US" sz="1400"/>
          </a:p>
        </p:txBody>
      </p:sp>
      <p:sp>
        <p:nvSpPr>
          <p:cNvPr id="25604" name="Rectangle 2"/>
          <p:cNvSpPr>
            <a:spLocks noGrp="1" noChangeArrowheads="1"/>
          </p:cNvSpPr>
          <p:nvPr>
            <p:ph type="body" idx="1"/>
          </p:nvPr>
        </p:nvSpPr>
        <p:spPr>
          <a:xfrm>
            <a:off x="468313" y="2349500"/>
            <a:ext cx="8229600" cy="1366838"/>
          </a:xfrm>
        </p:spPr>
        <p:txBody>
          <a:bodyPr/>
          <a:lstStyle/>
          <a:p>
            <a:pPr algn="ctr" eaLnBrk="1" hangingPunct="1">
              <a:buFontTx/>
              <a:buNone/>
            </a:pPr>
            <a:r>
              <a:rPr lang="sl-SI" altLang="en-US" sz="3600" dirty="0"/>
              <a:t>Camera </a:t>
            </a:r>
            <a:r>
              <a:rPr lang="sl-SI" altLang="en-US" sz="3600" dirty="0" err="1"/>
              <a:t>obscura</a:t>
            </a:r>
            <a:r>
              <a:rPr lang="sl-SI" altLang="en-US" sz="3600" dirty="0"/>
              <a:t> in osnovne projekcije</a:t>
            </a:r>
          </a:p>
          <a:p>
            <a:pPr algn="ctr" eaLnBrk="1" hangingPunct="1">
              <a:buFontTx/>
              <a:buNone/>
            </a:pPr>
            <a:r>
              <a:rPr lang="sl-SI" altLang="en-US" sz="2000" dirty="0"/>
              <a:t>(povzeto po R. </a:t>
            </a:r>
            <a:r>
              <a:rPr lang="sl-SI" altLang="en-US" sz="2000" dirty="0" err="1"/>
              <a:t>Szeliski</a:t>
            </a:r>
            <a:r>
              <a:rPr lang="sl-SI" altLang="en-US" sz="2000" dirty="0"/>
              <a:t>, Univerza Washington, www.cs.washington.edu/education/courses/cse576/05sp/)</a:t>
            </a:r>
            <a:endParaRPr lang="en-GB" altLang="en-US" sz="2000" dirty="0"/>
          </a:p>
        </p:txBody>
      </p:sp>
    </p:spTree>
  </p:cSld>
  <p:clrMapOvr>
    <a:masterClrMapping/>
  </p:clrMapOvr>
  <p:transition>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NASTANEK SLIKE</a:t>
            </a:r>
            <a:endParaRPr lang="en-GB" altLang="en-US" sz="2400" b="1"/>
          </a:p>
        </p:txBody>
      </p:sp>
      <p:sp>
        <p:nvSpPr>
          <p:cNvPr id="132099" name="Rectangle 3"/>
          <p:cNvSpPr>
            <a:spLocks noGrp="1" noChangeArrowheads="1"/>
          </p:cNvSpPr>
          <p:nvPr>
            <p:ph type="subTitle" idx="1"/>
          </p:nvPr>
        </p:nvSpPr>
        <p:spPr>
          <a:xfrm>
            <a:off x="827088" y="1125538"/>
            <a:ext cx="7705725" cy="5256212"/>
          </a:xfrm>
        </p:spPr>
        <p:txBody>
          <a:bodyPr/>
          <a:lstStyle/>
          <a:p>
            <a:pPr marL="269875" indent="-269875" algn="l" eaLnBrk="1" hangingPunct="1">
              <a:lnSpc>
                <a:spcPct val="80000"/>
              </a:lnSpc>
              <a:spcBef>
                <a:spcPct val="35000"/>
              </a:spcBef>
              <a:defRPr/>
            </a:pPr>
            <a:r>
              <a:rPr lang="sl-SI" sz="1800" dirty="0"/>
              <a:t>1. </a:t>
            </a:r>
            <a:r>
              <a:rPr lang="sl-SI" sz="1800" b="1" dirty="0"/>
              <a:t>Naravna svetloba</a:t>
            </a:r>
          </a:p>
          <a:p>
            <a:pPr marL="269875" indent="-269875" algn="l" eaLnBrk="1" hangingPunct="1">
              <a:spcBef>
                <a:spcPct val="35000"/>
              </a:spcBef>
              <a:defRPr/>
            </a:pPr>
            <a:r>
              <a:rPr lang="sl-SI" sz="1800" dirty="0"/>
              <a:t>	– ob odboju s površine predmetov se svetloba razsipa</a:t>
            </a:r>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r>
              <a:rPr lang="sl-SI" sz="1800" dirty="0"/>
              <a:t> </a:t>
            </a:r>
            <a:r>
              <a:rPr lang="sl-SI" sz="1800" u="sng" dirty="0"/>
              <a:t> </a:t>
            </a:r>
          </a:p>
          <a:p>
            <a:pPr marL="269875" indent="-269875" algn="l" eaLnBrk="1" hangingPunct="1">
              <a:lnSpc>
                <a:spcPct val="80000"/>
              </a:lnSpc>
              <a:spcBef>
                <a:spcPct val="35000"/>
              </a:spcBef>
              <a:defRPr/>
            </a:pPr>
            <a:endParaRPr lang="sl-SI" sz="1800" u="sng" dirty="0"/>
          </a:p>
          <a:p>
            <a:pPr marL="269875" indent="-269875" algn="l" eaLnBrk="1" hangingPunct="1">
              <a:lnSpc>
                <a:spcPct val="80000"/>
              </a:lnSpc>
              <a:spcBef>
                <a:spcPct val="35000"/>
              </a:spcBef>
              <a:defRPr/>
            </a:pPr>
            <a:r>
              <a:rPr lang="sl-SI" sz="1800" dirty="0"/>
              <a:t>2. </a:t>
            </a:r>
            <a:r>
              <a:rPr lang="sl-SI" sz="1800" b="1" dirty="0"/>
              <a:t>Prestrezanje ravninske slike</a:t>
            </a:r>
          </a:p>
          <a:p>
            <a:pPr marL="258763" indent="-258763" algn="l" eaLnBrk="1" hangingPunct="1">
              <a:lnSpc>
                <a:spcPct val="80000"/>
              </a:lnSpc>
              <a:spcBef>
                <a:spcPct val="35000"/>
              </a:spcBef>
              <a:defRPr/>
            </a:pPr>
            <a:r>
              <a:rPr lang="sl-SI" sz="1800" b="1" dirty="0"/>
              <a:t>	</a:t>
            </a:r>
            <a:r>
              <a:rPr lang="sl-SI" sz="1800" dirty="0"/>
              <a:t>– svetlobni žarki, odbiti iz iste točke predmeta, osvetlijo slikovno ravnino     (film) na več mestih</a:t>
            </a:r>
          </a:p>
          <a:p>
            <a:pPr marL="258763" indent="-258763" algn="l" eaLnBrk="1" hangingPunct="1">
              <a:lnSpc>
                <a:spcPct val="80000"/>
              </a:lnSpc>
              <a:spcBef>
                <a:spcPct val="35000"/>
              </a:spcBef>
              <a:defRPr/>
            </a:pPr>
            <a:r>
              <a:rPr lang="sl-SI" sz="1800" dirty="0"/>
              <a:t>	 – slika je</a:t>
            </a:r>
            <a:r>
              <a:rPr lang="sl-SI" sz="1800" b="1" dirty="0"/>
              <a:t> nerazpoznavna</a:t>
            </a:r>
          </a:p>
          <a:p>
            <a:pPr marL="269875" indent="-269875" algn="l" eaLnBrk="1" hangingPunct="1">
              <a:lnSpc>
                <a:spcPct val="80000"/>
              </a:lnSpc>
              <a:spcBef>
                <a:spcPct val="35000"/>
              </a:spcBef>
              <a:defRPr/>
            </a:pPr>
            <a:r>
              <a:rPr lang="sl-SI" sz="1800" dirty="0"/>
              <a:t>		</a:t>
            </a:r>
          </a:p>
          <a:p>
            <a:pPr marL="269875" indent="-269875" algn="l" eaLnBrk="1" hangingPunct="1">
              <a:lnSpc>
                <a:spcPct val="80000"/>
              </a:lnSpc>
              <a:spcBef>
                <a:spcPct val="35000"/>
              </a:spcBef>
              <a:defRPr/>
            </a:pPr>
            <a:endParaRPr lang="sl-SI" sz="1600" dirty="0">
              <a:solidFill>
                <a:srgbClr val="FF9933"/>
              </a:solidFill>
            </a:endParaRPr>
          </a:p>
          <a:p>
            <a:pPr marL="269875" indent="-269875" algn="l" eaLnBrk="1" hangingPunct="1">
              <a:lnSpc>
                <a:spcPct val="80000"/>
              </a:lnSpc>
              <a:spcBef>
                <a:spcPct val="35000"/>
              </a:spcBef>
              <a:defRPr/>
            </a:pPr>
            <a:r>
              <a:rPr lang="sl-SI" sz="1800" dirty="0"/>
              <a:t>	</a:t>
            </a:r>
            <a:endParaRPr lang="sl-SI" sz="1800" u="sng" dirty="0"/>
          </a:p>
          <a:p>
            <a:pPr marL="269875" indent="-269875" algn="l" eaLnBrk="1" hangingPunct="1">
              <a:lnSpc>
                <a:spcPct val="80000"/>
              </a:lnSpc>
              <a:spcBef>
                <a:spcPct val="35000"/>
              </a:spcBef>
              <a:defRPr/>
            </a:pPr>
            <a:r>
              <a:rPr lang="sl-SI" sz="1800" dirty="0"/>
              <a:t>	</a:t>
            </a:r>
          </a:p>
          <a:p>
            <a:pPr marL="269875" indent="-269875" algn="l" eaLnBrk="1" hangingPunct="1">
              <a:lnSpc>
                <a:spcPct val="80000"/>
              </a:lnSpc>
              <a:spcBef>
                <a:spcPct val="35000"/>
              </a:spcBef>
              <a:defRPr/>
            </a:pPr>
            <a:endParaRPr lang="en-GB" sz="1800" u="sng" dirty="0"/>
          </a:p>
        </p:txBody>
      </p:sp>
      <p:grpSp>
        <p:nvGrpSpPr>
          <p:cNvPr id="27652" name="Group 28"/>
          <p:cNvGrpSpPr>
            <a:grpSpLocks/>
          </p:cNvGrpSpPr>
          <p:nvPr/>
        </p:nvGrpSpPr>
        <p:grpSpPr bwMode="auto">
          <a:xfrm>
            <a:off x="1116013" y="1916113"/>
            <a:ext cx="6046787" cy="2247900"/>
            <a:chOff x="1403648" y="3140968"/>
            <a:chExt cx="6047705" cy="2247900"/>
          </a:xfrm>
        </p:grpSpPr>
        <p:pic>
          <p:nvPicPr>
            <p:cNvPr id="27655" name="Picture 4" descr="image-noth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140968"/>
              <a:ext cx="5484813"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56" name="Group 17"/>
            <p:cNvGrpSpPr>
              <a:grpSpLocks/>
            </p:cNvGrpSpPr>
            <p:nvPr/>
          </p:nvGrpSpPr>
          <p:grpSpPr bwMode="auto">
            <a:xfrm>
              <a:off x="1937048" y="3674368"/>
              <a:ext cx="4724400" cy="1524000"/>
              <a:chOff x="1536" y="1248"/>
              <a:chExt cx="2976" cy="960"/>
            </a:xfrm>
          </p:grpSpPr>
          <p:sp>
            <p:nvSpPr>
              <p:cNvPr id="27665" name="Line 7"/>
              <p:cNvSpPr>
                <a:spLocks noChangeShapeType="1"/>
              </p:cNvSpPr>
              <p:nvPr/>
            </p:nvSpPr>
            <p:spPr bwMode="auto">
              <a:xfrm>
                <a:off x="1536" y="1248"/>
                <a:ext cx="2976" cy="96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7666" name="Line 8"/>
              <p:cNvSpPr>
                <a:spLocks noChangeShapeType="1"/>
              </p:cNvSpPr>
              <p:nvPr/>
            </p:nvSpPr>
            <p:spPr bwMode="auto">
              <a:xfrm>
                <a:off x="1536" y="1248"/>
                <a:ext cx="2976" cy="67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7667" name="Line 9"/>
              <p:cNvSpPr>
                <a:spLocks noChangeShapeType="1"/>
              </p:cNvSpPr>
              <p:nvPr/>
            </p:nvSpPr>
            <p:spPr bwMode="auto">
              <a:xfrm>
                <a:off x="1536" y="1248"/>
                <a:ext cx="2976" cy="38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grpSp>
          <p:nvGrpSpPr>
            <p:cNvPr id="27657" name="Group 16"/>
            <p:cNvGrpSpPr>
              <a:grpSpLocks/>
            </p:cNvGrpSpPr>
            <p:nvPr/>
          </p:nvGrpSpPr>
          <p:grpSpPr bwMode="auto">
            <a:xfrm>
              <a:off x="2241848" y="3902968"/>
              <a:ext cx="4419600" cy="1295400"/>
              <a:chOff x="1728" y="1392"/>
              <a:chExt cx="2784" cy="816"/>
            </a:xfrm>
          </p:grpSpPr>
          <p:grpSp>
            <p:nvGrpSpPr>
              <p:cNvPr id="27660" name="Group 15"/>
              <p:cNvGrpSpPr>
                <a:grpSpLocks/>
              </p:cNvGrpSpPr>
              <p:nvPr/>
            </p:nvGrpSpPr>
            <p:grpSpPr bwMode="auto">
              <a:xfrm>
                <a:off x="1728" y="1392"/>
                <a:ext cx="2784" cy="528"/>
                <a:chOff x="1728" y="1392"/>
                <a:chExt cx="2784" cy="528"/>
              </a:xfrm>
            </p:grpSpPr>
            <p:sp>
              <p:nvSpPr>
                <p:cNvPr id="27662" name="Line 11"/>
                <p:cNvSpPr>
                  <a:spLocks noChangeShapeType="1"/>
                </p:cNvSpPr>
                <p:nvPr/>
              </p:nvSpPr>
              <p:spPr bwMode="auto">
                <a:xfrm flipV="1">
                  <a:off x="1728" y="1392"/>
                  <a:ext cx="2784" cy="24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7663" name="Line 12"/>
                <p:cNvSpPr>
                  <a:spLocks noChangeShapeType="1"/>
                </p:cNvSpPr>
                <p:nvPr/>
              </p:nvSpPr>
              <p:spPr bwMode="auto">
                <a:xfrm>
                  <a:off x="1728" y="1632"/>
                  <a:ext cx="2784" cy="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7664" name="Line 13"/>
                <p:cNvSpPr>
                  <a:spLocks noChangeShapeType="1"/>
                </p:cNvSpPr>
                <p:nvPr/>
              </p:nvSpPr>
              <p:spPr bwMode="auto">
                <a:xfrm>
                  <a:off x="1728" y="1632"/>
                  <a:ext cx="2784" cy="288"/>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sp>
            <p:nvSpPr>
              <p:cNvPr id="27661" name="Line 14"/>
              <p:cNvSpPr>
                <a:spLocks noChangeShapeType="1"/>
              </p:cNvSpPr>
              <p:nvPr/>
            </p:nvSpPr>
            <p:spPr bwMode="auto">
              <a:xfrm>
                <a:off x="1728" y="1632"/>
                <a:ext cx="2784" cy="576"/>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sp>
          <p:nvSpPr>
            <p:cNvPr id="27658" name="TextBox 26"/>
            <p:cNvSpPr txBox="1">
              <a:spLocks noChangeArrowheads="1"/>
            </p:cNvSpPr>
            <p:nvPr/>
          </p:nvSpPr>
          <p:spPr bwMode="auto">
            <a:xfrm>
              <a:off x="1403648" y="3140968"/>
              <a:ext cx="103105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predmet</a:t>
              </a:r>
              <a:endParaRPr lang="en-GB" altLang="en-US" sz="1800"/>
            </a:p>
          </p:txBody>
        </p:sp>
        <p:sp>
          <p:nvSpPr>
            <p:cNvPr id="27659" name="TextBox 27"/>
            <p:cNvSpPr txBox="1">
              <a:spLocks noChangeArrowheads="1"/>
            </p:cNvSpPr>
            <p:nvPr/>
          </p:nvSpPr>
          <p:spPr bwMode="auto">
            <a:xfrm>
              <a:off x="6061229" y="3140968"/>
              <a:ext cx="139012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film – slika?</a:t>
              </a:r>
              <a:endParaRPr lang="en-GB" altLang="en-US" sz="1800"/>
            </a:p>
          </p:txBody>
        </p:sp>
      </p:grpSp>
      <p:sp>
        <p:nvSpPr>
          <p:cNvPr id="27653"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27654"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BA686D0-58D1-4319-9658-3D9043B0786D}" type="slidenum">
              <a:rPr lang="en-GB" altLang="sl-SI" sz="1400" smtClean="0"/>
              <a:pPr>
                <a:spcBef>
                  <a:spcPct val="0"/>
                </a:spcBef>
                <a:buFontTx/>
                <a:buNone/>
              </a:pPr>
              <a:t>16</a:t>
            </a:fld>
            <a:endParaRPr lang="en-GB" altLang="sl-SI" sz="1400"/>
          </a:p>
        </p:txBody>
      </p:sp>
    </p:spTree>
  </p:cSld>
  <p:clrMapOvr>
    <a:masterClrMapping/>
  </p:clrMapOvr>
  <p:transition>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NASTANEK SLIKE (2)</a:t>
            </a:r>
            <a:endParaRPr lang="en-GB" altLang="en-US" sz="2400" b="1"/>
          </a:p>
        </p:txBody>
      </p:sp>
      <p:sp>
        <p:nvSpPr>
          <p:cNvPr id="132099" name="Rectangle 3"/>
          <p:cNvSpPr>
            <a:spLocks noGrp="1" noChangeArrowheads="1"/>
          </p:cNvSpPr>
          <p:nvPr>
            <p:ph type="subTitle" idx="1"/>
          </p:nvPr>
        </p:nvSpPr>
        <p:spPr>
          <a:xfrm>
            <a:off x="827088" y="1125538"/>
            <a:ext cx="7705725" cy="5256212"/>
          </a:xfrm>
        </p:spPr>
        <p:txBody>
          <a:bodyPr/>
          <a:lstStyle/>
          <a:p>
            <a:pPr marL="269875" indent="-269875" algn="l" eaLnBrk="1" hangingPunct="1">
              <a:lnSpc>
                <a:spcPct val="80000"/>
              </a:lnSpc>
              <a:spcBef>
                <a:spcPct val="35000"/>
              </a:spcBef>
              <a:defRPr/>
            </a:pPr>
            <a:r>
              <a:rPr lang="sl-SI" sz="1800" dirty="0"/>
              <a:t>1. </a:t>
            </a:r>
            <a:r>
              <a:rPr lang="sl-SI" sz="1800" b="1" dirty="0"/>
              <a:t>Izločanje ozkega snopa svetlobe</a:t>
            </a:r>
          </a:p>
          <a:p>
            <a:pPr marL="269875" indent="-269875" algn="l" eaLnBrk="1" hangingPunct="1">
              <a:spcBef>
                <a:spcPct val="35000"/>
              </a:spcBef>
              <a:defRPr/>
            </a:pPr>
            <a:r>
              <a:rPr lang="sl-SI" sz="1800" dirty="0"/>
              <a:t>	</a:t>
            </a:r>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r>
              <a:rPr lang="sl-SI" sz="1800" dirty="0"/>
              <a:t> </a:t>
            </a:r>
            <a:r>
              <a:rPr lang="sl-SI" sz="1800" u="sng" dirty="0"/>
              <a:t> </a:t>
            </a:r>
          </a:p>
          <a:p>
            <a:pPr marL="269875" indent="-269875" algn="l" eaLnBrk="1" hangingPunct="1">
              <a:lnSpc>
                <a:spcPct val="80000"/>
              </a:lnSpc>
              <a:spcBef>
                <a:spcPct val="35000"/>
              </a:spcBef>
              <a:defRPr/>
            </a:pPr>
            <a:endParaRPr lang="sl-SI" sz="1800" u="sng" dirty="0"/>
          </a:p>
          <a:p>
            <a:pPr marL="258763" indent="-258763" algn="l" eaLnBrk="1" hangingPunct="1">
              <a:lnSpc>
                <a:spcPct val="80000"/>
              </a:lnSpc>
              <a:spcBef>
                <a:spcPct val="35000"/>
              </a:spcBef>
              <a:defRPr/>
            </a:pPr>
            <a:r>
              <a:rPr lang="sl-SI" sz="1800" b="1" dirty="0"/>
              <a:t>	</a:t>
            </a:r>
            <a:r>
              <a:rPr lang="sl-SI" sz="1800" dirty="0"/>
              <a:t>– svetlobni žarki so omejeni z odprtino (</a:t>
            </a:r>
            <a:r>
              <a:rPr lang="sl-SI" sz="1800" i="1" dirty="0" err="1"/>
              <a:t>aperture</a:t>
            </a:r>
            <a:r>
              <a:rPr lang="sl-SI" sz="1800" dirty="0"/>
              <a:t>) v zaslonki in osvetlijo za ločene točke predmeta slikovno ravnino (film) na ločenih, a koncentriranih mestih</a:t>
            </a:r>
          </a:p>
          <a:p>
            <a:pPr marL="258763" indent="-258763" algn="l" eaLnBrk="1" hangingPunct="1">
              <a:lnSpc>
                <a:spcPct val="80000"/>
              </a:lnSpc>
              <a:spcBef>
                <a:spcPct val="35000"/>
              </a:spcBef>
              <a:defRPr/>
            </a:pPr>
            <a:r>
              <a:rPr lang="sl-SI" sz="1800" dirty="0"/>
              <a:t>	 – slika je odvisna od odprtine v zaslonki</a:t>
            </a:r>
          </a:p>
          <a:p>
            <a:pPr marL="258763" indent="-258763" algn="l" eaLnBrk="1" hangingPunct="1">
              <a:lnSpc>
                <a:spcPct val="80000"/>
              </a:lnSpc>
              <a:spcBef>
                <a:spcPct val="35000"/>
              </a:spcBef>
              <a:defRPr/>
            </a:pPr>
            <a:r>
              <a:rPr lang="sl-SI" sz="1800" dirty="0"/>
              <a:t>	 – slika je</a:t>
            </a:r>
            <a:r>
              <a:rPr lang="sl-SI" sz="1800" b="1" dirty="0"/>
              <a:t> razpoznavna</a:t>
            </a:r>
          </a:p>
          <a:p>
            <a:pPr marL="269875" indent="-269875" algn="l" eaLnBrk="1" hangingPunct="1">
              <a:lnSpc>
                <a:spcPct val="80000"/>
              </a:lnSpc>
              <a:spcBef>
                <a:spcPct val="35000"/>
              </a:spcBef>
              <a:defRPr/>
            </a:pPr>
            <a:r>
              <a:rPr lang="sl-SI" sz="1800" dirty="0"/>
              <a:t>		</a:t>
            </a:r>
          </a:p>
          <a:p>
            <a:pPr marL="269875" indent="-269875" algn="l" eaLnBrk="1" hangingPunct="1">
              <a:lnSpc>
                <a:spcPct val="80000"/>
              </a:lnSpc>
              <a:spcBef>
                <a:spcPct val="35000"/>
              </a:spcBef>
              <a:defRPr/>
            </a:pPr>
            <a:endParaRPr lang="sl-SI" sz="1600" dirty="0">
              <a:solidFill>
                <a:srgbClr val="FF9933"/>
              </a:solidFill>
            </a:endParaRPr>
          </a:p>
          <a:p>
            <a:pPr marL="269875" indent="-269875" algn="l" eaLnBrk="1" hangingPunct="1">
              <a:lnSpc>
                <a:spcPct val="80000"/>
              </a:lnSpc>
              <a:spcBef>
                <a:spcPct val="35000"/>
              </a:spcBef>
              <a:defRPr/>
            </a:pPr>
            <a:r>
              <a:rPr lang="sl-SI" sz="1800" dirty="0"/>
              <a:t>	</a:t>
            </a:r>
            <a:endParaRPr lang="sl-SI" sz="1800" u="sng" dirty="0"/>
          </a:p>
          <a:p>
            <a:pPr marL="269875" indent="-269875" algn="l" eaLnBrk="1" hangingPunct="1">
              <a:lnSpc>
                <a:spcPct val="80000"/>
              </a:lnSpc>
              <a:spcBef>
                <a:spcPct val="35000"/>
              </a:spcBef>
              <a:defRPr/>
            </a:pPr>
            <a:r>
              <a:rPr lang="sl-SI" sz="1800" dirty="0"/>
              <a:t>	</a:t>
            </a:r>
          </a:p>
          <a:p>
            <a:pPr marL="269875" indent="-269875" algn="l" eaLnBrk="1" hangingPunct="1">
              <a:lnSpc>
                <a:spcPct val="80000"/>
              </a:lnSpc>
              <a:spcBef>
                <a:spcPct val="35000"/>
              </a:spcBef>
              <a:defRPr/>
            </a:pPr>
            <a:endParaRPr lang="en-GB" sz="1800" u="sng" dirty="0"/>
          </a:p>
        </p:txBody>
      </p:sp>
      <p:grpSp>
        <p:nvGrpSpPr>
          <p:cNvPr id="29700" name="Group 40"/>
          <p:cNvGrpSpPr>
            <a:grpSpLocks/>
          </p:cNvGrpSpPr>
          <p:nvPr/>
        </p:nvGrpSpPr>
        <p:grpSpPr bwMode="auto">
          <a:xfrm>
            <a:off x="1103313" y="1557338"/>
            <a:ext cx="5932487" cy="2519362"/>
            <a:chOff x="1103411" y="1628800"/>
            <a:chExt cx="5932097" cy="2520280"/>
          </a:xfrm>
        </p:grpSpPr>
        <p:pic>
          <p:nvPicPr>
            <p:cNvPr id="29703" name="Picture 18" descr="image-pinho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411" y="1901180"/>
              <a:ext cx="5484813"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04" name="Group 33"/>
            <p:cNvGrpSpPr>
              <a:grpSpLocks/>
            </p:cNvGrpSpPr>
            <p:nvPr/>
          </p:nvGrpSpPr>
          <p:grpSpPr bwMode="auto">
            <a:xfrm>
              <a:off x="1636811" y="2434580"/>
              <a:ext cx="4724400" cy="1524000"/>
              <a:chOff x="1440" y="1296"/>
              <a:chExt cx="2976" cy="960"/>
            </a:xfrm>
          </p:grpSpPr>
          <p:sp>
            <p:nvSpPr>
              <p:cNvPr id="29713" name="Line 21"/>
              <p:cNvSpPr>
                <a:spLocks noChangeShapeType="1"/>
              </p:cNvSpPr>
              <p:nvPr/>
            </p:nvSpPr>
            <p:spPr bwMode="auto">
              <a:xfrm>
                <a:off x="1440" y="1296"/>
                <a:ext cx="2976" cy="96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9714" name="Line 22"/>
              <p:cNvSpPr>
                <a:spLocks noChangeShapeType="1"/>
              </p:cNvSpPr>
              <p:nvPr/>
            </p:nvSpPr>
            <p:spPr bwMode="auto">
              <a:xfrm>
                <a:off x="1440" y="1296"/>
                <a:ext cx="1494" cy="33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9715" name="Line 23"/>
              <p:cNvSpPr>
                <a:spLocks noChangeShapeType="1"/>
              </p:cNvSpPr>
              <p:nvPr/>
            </p:nvSpPr>
            <p:spPr bwMode="auto">
              <a:xfrm>
                <a:off x="1440" y="1296"/>
                <a:ext cx="1500" cy="19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9716" name="Line 24"/>
              <p:cNvSpPr>
                <a:spLocks noChangeShapeType="1"/>
              </p:cNvSpPr>
              <p:nvPr/>
            </p:nvSpPr>
            <p:spPr bwMode="auto">
              <a:xfrm>
                <a:off x="1440" y="1296"/>
                <a:ext cx="1482" cy="7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grpSp>
          <p:nvGrpSpPr>
            <p:cNvPr id="29705" name="Group 34"/>
            <p:cNvGrpSpPr>
              <a:grpSpLocks/>
            </p:cNvGrpSpPr>
            <p:nvPr/>
          </p:nvGrpSpPr>
          <p:grpSpPr bwMode="auto">
            <a:xfrm>
              <a:off x="1941611" y="2872730"/>
              <a:ext cx="4457700" cy="571500"/>
              <a:chOff x="1632" y="1572"/>
              <a:chExt cx="2808" cy="360"/>
            </a:xfrm>
          </p:grpSpPr>
          <p:sp>
            <p:nvSpPr>
              <p:cNvPr id="29709" name="Line 27"/>
              <p:cNvSpPr>
                <a:spLocks noChangeShapeType="1"/>
              </p:cNvSpPr>
              <p:nvPr/>
            </p:nvSpPr>
            <p:spPr bwMode="auto">
              <a:xfrm flipV="1">
                <a:off x="1632" y="1572"/>
                <a:ext cx="1302" cy="108"/>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9710" name="Line 28"/>
              <p:cNvSpPr>
                <a:spLocks noChangeShapeType="1"/>
              </p:cNvSpPr>
              <p:nvPr/>
            </p:nvSpPr>
            <p:spPr bwMode="auto">
              <a:xfrm>
                <a:off x="1632" y="1680"/>
                <a:ext cx="1302" cy="6"/>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9711" name="Line 29"/>
              <p:cNvSpPr>
                <a:spLocks noChangeShapeType="1"/>
              </p:cNvSpPr>
              <p:nvPr/>
            </p:nvSpPr>
            <p:spPr bwMode="auto">
              <a:xfrm>
                <a:off x="1632" y="1680"/>
                <a:ext cx="2808" cy="19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9712" name="Line 30"/>
              <p:cNvSpPr>
                <a:spLocks noChangeShapeType="1"/>
              </p:cNvSpPr>
              <p:nvPr/>
            </p:nvSpPr>
            <p:spPr bwMode="auto">
              <a:xfrm>
                <a:off x="1632" y="1680"/>
                <a:ext cx="1302" cy="25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sp>
          <p:nvSpPr>
            <p:cNvPr id="29706" name="TextBox 37"/>
            <p:cNvSpPr txBox="1">
              <a:spLocks noChangeArrowheads="1"/>
            </p:cNvSpPr>
            <p:nvPr/>
          </p:nvSpPr>
          <p:spPr bwMode="auto">
            <a:xfrm>
              <a:off x="1135494" y="1887662"/>
              <a:ext cx="103105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predmet</a:t>
              </a:r>
              <a:endParaRPr lang="en-GB" altLang="en-US" sz="1800"/>
            </a:p>
          </p:txBody>
        </p:sp>
        <p:sp>
          <p:nvSpPr>
            <p:cNvPr id="29707" name="TextBox 38"/>
            <p:cNvSpPr txBox="1">
              <a:spLocks noChangeArrowheads="1"/>
            </p:cNvSpPr>
            <p:nvPr/>
          </p:nvSpPr>
          <p:spPr bwMode="auto">
            <a:xfrm>
              <a:off x="3059832" y="1628800"/>
              <a:ext cx="1928733"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800"/>
                <a:t>zaslon z luknjico </a:t>
              </a:r>
            </a:p>
            <a:p>
              <a:pPr algn="ctr" eaLnBrk="1" hangingPunct="1">
                <a:spcBef>
                  <a:spcPct val="0"/>
                </a:spcBef>
                <a:buFontTx/>
                <a:buNone/>
              </a:pPr>
              <a:r>
                <a:rPr lang="sl-SI" altLang="en-US" sz="1800"/>
                <a:t>– zaslonka</a:t>
              </a:r>
            </a:p>
          </p:txBody>
        </p:sp>
        <p:sp>
          <p:nvSpPr>
            <p:cNvPr id="29708" name="TextBox 39"/>
            <p:cNvSpPr txBox="1">
              <a:spLocks noChangeArrowheads="1"/>
            </p:cNvSpPr>
            <p:nvPr/>
          </p:nvSpPr>
          <p:spPr bwMode="auto">
            <a:xfrm>
              <a:off x="5773624" y="1872206"/>
              <a:ext cx="126188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film – slika</a:t>
              </a:r>
              <a:endParaRPr lang="en-GB" altLang="en-US" sz="1800"/>
            </a:p>
          </p:txBody>
        </p:sp>
      </p:grpSp>
      <p:sp>
        <p:nvSpPr>
          <p:cNvPr id="29701"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29702"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17F79DA-871D-4836-ADE5-EB61140C361A}" type="slidenum">
              <a:rPr lang="en-GB" altLang="sl-SI" sz="1400" smtClean="0"/>
              <a:pPr>
                <a:spcBef>
                  <a:spcPct val="0"/>
                </a:spcBef>
                <a:buFontTx/>
                <a:buNone/>
              </a:pPr>
              <a:t>17</a:t>
            </a:fld>
            <a:endParaRPr lang="en-GB" altLang="sl-SI" sz="1400"/>
          </a:p>
        </p:txBody>
      </p:sp>
    </p:spTree>
  </p:cSld>
  <p:clrMapOvr>
    <a:masterClrMapping/>
  </p:clrMapOvr>
  <p:transition>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CAMERA OBSCURA</a:t>
            </a:r>
            <a:endParaRPr lang="en-GB" altLang="en-US" sz="2400" b="1"/>
          </a:p>
        </p:txBody>
      </p:sp>
      <p:sp>
        <p:nvSpPr>
          <p:cNvPr id="132099" name="Rectangle 3"/>
          <p:cNvSpPr>
            <a:spLocks noGrp="1" noChangeArrowheads="1"/>
          </p:cNvSpPr>
          <p:nvPr>
            <p:ph type="subTitle" idx="1"/>
          </p:nvPr>
        </p:nvSpPr>
        <p:spPr>
          <a:xfrm>
            <a:off x="827088" y="4076700"/>
            <a:ext cx="7705725" cy="792163"/>
          </a:xfrm>
        </p:spPr>
        <p:txBody>
          <a:bodyPr/>
          <a:lstStyle/>
          <a:p>
            <a:pPr marL="258763" indent="-258763" algn="l" eaLnBrk="1" hangingPunct="1">
              <a:lnSpc>
                <a:spcPct val="80000"/>
              </a:lnSpc>
              <a:spcBef>
                <a:spcPct val="35000"/>
              </a:spcBef>
              <a:buFont typeface="Arial" pitchFamily="34" charset="0"/>
              <a:buChar char="•"/>
              <a:defRPr/>
            </a:pPr>
            <a:r>
              <a:rPr lang="sl-SI" sz="1800" dirty="0"/>
              <a:t>Poznal jo je že Aristotel	</a:t>
            </a:r>
          </a:p>
          <a:p>
            <a:pPr marL="258763" indent="-258763" algn="l" eaLnBrk="1" hangingPunct="1">
              <a:lnSpc>
                <a:spcPct val="80000"/>
              </a:lnSpc>
              <a:spcBef>
                <a:spcPct val="35000"/>
              </a:spcBef>
              <a:buFont typeface="Arial" pitchFamily="34" charset="0"/>
              <a:buChar char="•"/>
              <a:defRPr/>
            </a:pPr>
            <a:r>
              <a:rPr lang="sl-SI" sz="1800" dirty="0"/>
              <a:t>Kako velikost odprtine vpliva na sliko?	</a:t>
            </a:r>
          </a:p>
          <a:p>
            <a:pPr marL="269875" indent="-269875" algn="l" eaLnBrk="1" hangingPunct="1">
              <a:lnSpc>
                <a:spcPct val="80000"/>
              </a:lnSpc>
              <a:spcBef>
                <a:spcPct val="35000"/>
              </a:spcBef>
              <a:defRPr/>
            </a:pPr>
            <a:endParaRPr lang="en-GB" sz="1800" u="sng" dirty="0"/>
          </a:p>
        </p:txBody>
      </p:sp>
      <p:pic>
        <p:nvPicPr>
          <p:cNvPr id="31748" name="Picture 5" descr="pinhole_diff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908050"/>
            <a:ext cx="4572000"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31750"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CF3CE15-9CC8-4DB4-A541-4B65F7AFF9F6}" type="slidenum">
              <a:rPr lang="en-GB" altLang="sl-SI" sz="1400" smtClean="0"/>
              <a:pPr>
                <a:spcBef>
                  <a:spcPct val="0"/>
                </a:spcBef>
                <a:buFontTx/>
                <a:buNone/>
              </a:pPr>
              <a:t>18</a:t>
            </a:fld>
            <a:endParaRPr lang="en-GB" altLang="sl-SI" sz="1400"/>
          </a:p>
        </p:txBody>
      </p:sp>
    </p:spTree>
  </p:cSld>
  <p:clrMapOvr>
    <a:masterClrMapping/>
  </p:clrMapOvr>
  <p:transition>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CAMERA OBSCURA – VPLIV ZASLONKE</a:t>
            </a:r>
            <a:endParaRPr lang="en-GB" altLang="en-US" sz="2400" b="1"/>
          </a:p>
        </p:txBody>
      </p:sp>
      <p:pic>
        <p:nvPicPr>
          <p:cNvPr id="33795" name="Picture 5" descr="pinhole_diff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9888" y="836613"/>
            <a:ext cx="5622925"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p:cNvSpPr>
            <a:spLocks noChangeAspect="1" noChangeArrowheads="1"/>
          </p:cNvSpPr>
          <p:nvPr/>
        </p:nvSpPr>
        <p:spPr bwMode="auto">
          <a:xfrm>
            <a:off x="1476375" y="4437063"/>
            <a:ext cx="6003925" cy="16557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50000"/>
              </a:spcBef>
              <a:spcAft>
                <a:spcPct val="50000"/>
              </a:spcAft>
              <a:buFontTx/>
              <a:buNone/>
            </a:pPr>
            <a:endParaRPr lang="sl-SI" altLang="en-US" sz="1800" i="1">
              <a:solidFill>
                <a:schemeClr val="bg1"/>
              </a:solidFill>
              <a:latin typeface="Myriad Roman" pitchFamily="34" charset="0"/>
            </a:endParaRPr>
          </a:p>
        </p:txBody>
      </p:sp>
      <p:sp>
        <p:nvSpPr>
          <p:cNvPr id="132099" name="Rectangle 3"/>
          <p:cNvSpPr>
            <a:spLocks noGrp="1" noChangeArrowheads="1"/>
          </p:cNvSpPr>
          <p:nvPr>
            <p:ph type="subTitle" idx="1"/>
          </p:nvPr>
        </p:nvSpPr>
        <p:spPr>
          <a:xfrm>
            <a:off x="1763713" y="4652963"/>
            <a:ext cx="5400675" cy="1223962"/>
          </a:xfrm>
        </p:spPr>
        <p:txBody>
          <a:bodyPr/>
          <a:lstStyle/>
          <a:p>
            <a:pPr marL="258763" indent="-258763" algn="l" eaLnBrk="1" hangingPunct="1">
              <a:lnSpc>
                <a:spcPct val="80000"/>
              </a:lnSpc>
              <a:spcBef>
                <a:spcPct val="35000"/>
              </a:spcBef>
              <a:buFont typeface="Arial" pitchFamily="34" charset="0"/>
              <a:buChar char="•"/>
              <a:defRPr/>
            </a:pPr>
            <a:r>
              <a:rPr lang="sl-SI" sz="1800" dirty="0"/>
              <a:t>Čim manjša odprtina, tem bolje – ali res?</a:t>
            </a:r>
          </a:p>
          <a:p>
            <a:pPr marL="258763" indent="-258763" algn="l" eaLnBrk="1" hangingPunct="1">
              <a:lnSpc>
                <a:spcPct val="80000"/>
              </a:lnSpc>
              <a:spcBef>
                <a:spcPct val="35000"/>
              </a:spcBef>
              <a:buFont typeface="Arial" pitchFamily="34" charset="0"/>
              <a:buChar char="•"/>
              <a:defRPr/>
            </a:pPr>
            <a:r>
              <a:rPr lang="sl-SI" sz="1800" dirty="0"/>
              <a:t>Ne –</a:t>
            </a:r>
          </a:p>
          <a:p>
            <a:pPr marL="715963" lvl="1" indent="-258763" algn="l" eaLnBrk="1" hangingPunct="1">
              <a:lnSpc>
                <a:spcPct val="80000"/>
              </a:lnSpc>
              <a:spcBef>
                <a:spcPct val="35000"/>
              </a:spcBef>
              <a:buFont typeface="Arial" pitchFamily="34" charset="0"/>
              <a:buChar char="•"/>
              <a:defRPr/>
            </a:pPr>
            <a:r>
              <a:rPr lang="sl-SI" sz="1600" dirty="0"/>
              <a:t>manjša odprtina prepusti manj svetlobe</a:t>
            </a:r>
          </a:p>
          <a:p>
            <a:pPr marL="715963" lvl="1" indent="-258763" algn="l" eaLnBrk="1" hangingPunct="1">
              <a:lnSpc>
                <a:spcPct val="80000"/>
              </a:lnSpc>
              <a:spcBef>
                <a:spcPct val="35000"/>
              </a:spcBef>
              <a:buFont typeface="Arial" pitchFamily="34" charset="0"/>
              <a:buChar char="•"/>
              <a:defRPr/>
            </a:pPr>
            <a:r>
              <a:rPr lang="sl-SI" sz="1600" dirty="0"/>
              <a:t>pojavi se lom žarkov</a:t>
            </a:r>
          </a:p>
          <a:p>
            <a:pPr marL="269875" indent="-269875" algn="l" eaLnBrk="1" hangingPunct="1">
              <a:lnSpc>
                <a:spcPct val="80000"/>
              </a:lnSpc>
              <a:spcBef>
                <a:spcPct val="35000"/>
              </a:spcBef>
              <a:defRPr/>
            </a:pPr>
            <a:endParaRPr lang="en-GB" sz="1800" u="sng" dirty="0"/>
          </a:p>
        </p:txBody>
      </p:sp>
      <p:sp>
        <p:nvSpPr>
          <p:cNvPr id="33798"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33799"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5C5B416-8196-4E39-B683-DF04B4DF2823}" type="slidenum">
              <a:rPr lang="en-GB" altLang="sl-SI" sz="1400" smtClean="0"/>
              <a:pPr>
                <a:spcBef>
                  <a:spcPct val="0"/>
                </a:spcBef>
                <a:buFontTx/>
                <a:buNone/>
              </a:pPr>
              <a:t>19</a:t>
            </a:fld>
            <a:endParaRPr lang="en-GB" altLang="sl-SI" sz="1400"/>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2099">
                                            <p:txEl>
                                              <p:pRg st="0" end="0"/>
                                            </p:txEl>
                                          </p:spTgt>
                                        </p:tgtEl>
                                        <p:attrNameLst>
                                          <p:attrName>style.visibility</p:attrName>
                                        </p:attrNameLst>
                                      </p:cBhvr>
                                      <p:to>
                                        <p:strVal val="visible"/>
                                      </p:to>
                                    </p:set>
                                  </p:childTnLst>
                                  <p:subTnLst>
                                    <p:set>
                                      <p:cBhvr override="childStyle">
                                        <p:cTn dur="1" fill="hold" display="0" masterRel="nextClick" afterEffect="1"/>
                                        <p:tgtEl>
                                          <p:spTgt spid="132099">
                                            <p:txEl>
                                              <p:pRg st="0" end="0"/>
                                            </p:txEl>
                                          </p:spTgt>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132099">
                                            <p:txEl>
                                              <p:pRg st="1" end="1"/>
                                            </p:txEl>
                                          </p:spTgt>
                                        </p:tgtEl>
                                        <p:attrNameLst>
                                          <p:attrName>style.visibility</p:attrName>
                                        </p:attrNameLst>
                                      </p:cBhvr>
                                      <p:to>
                                        <p:strVal val="visible"/>
                                      </p:to>
                                    </p:set>
                                  </p:childTnLst>
                                  <p:subTnLst>
                                    <p:set>
                                      <p:cBhvr override="childStyle">
                                        <p:cTn dur="1" fill="hold" display="0" masterRel="nextClick" afterEffect="1"/>
                                        <p:tgtEl>
                                          <p:spTgt spid="132099">
                                            <p:txEl>
                                              <p:pRg st="1" end="1"/>
                                            </p:txEl>
                                          </p:spTgt>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132099">
                                            <p:txEl>
                                              <p:pRg st="2" end="2"/>
                                            </p:txEl>
                                          </p:spTgt>
                                        </p:tgtEl>
                                        <p:attrNameLst>
                                          <p:attrName>style.visibility</p:attrName>
                                        </p:attrNameLst>
                                      </p:cBhvr>
                                      <p:to>
                                        <p:strVal val="visible"/>
                                      </p:to>
                                    </p:set>
                                  </p:childTnLst>
                                  <p:subTnLst>
                                    <p:set>
                                      <p:cBhvr override="childStyle">
                                        <p:cTn dur="1" fill="hold" display="0" masterRel="nextClick" afterEffect="1"/>
                                        <p:tgtEl>
                                          <p:spTgt spid="132099">
                                            <p:txEl>
                                              <p:pRg st="2" end="2"/>
                                            </p:txEl>
                                          </p:spTgt>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132099">
                                            <p:txEl>
                                              <p:pRg st="3" end="3"/>
                                            </p:txEl>
                                          </p:spTgt>
                                        </p:tgtEl>
                                        <p:attrNameLst>
                                          <p:attrName>style.visibility</p:attrName>
                                        </p:attrNameLst>
                                      </p:cBhvr>
                                      <p:to>
                                        <p:strVal val="visible"/>
                                      </p:to>
                                    </p:set>
                                  </p:childTnLst>
                                  <p:subTnLst>
                                    <p:set>
                                      <p:cBhvr override="childStyle">
                                        <p:cTn dur="1" fill="hold" display="0" masterRel="nextClick" afterEffect="1"/>
                                        <p:tgtEl>
                                          <p:spTgt spid="132099">
                                            <p:txEl>
                                              <p:pRg st="3" end="3"/>
                                            </p:txEl>
                                          </p:spTgt>
                                        </p:tgtEl>
                                        <p:attrNameLst>
                                          <p:attrName>style.visibility</p:attrName>
                                        </p:attrNameLst>
                                      </p:cBhvr>
                                      <p:to>
                                        <p:strVal val="hidden"/>
                                      </p:to>
                                    </p:set>
                                  </p:subTnLst>
                                </p:cTn>
                              </p:par>
                              <p:par>
                                <p:cTn id="15" presetID="1" presetClass="entr"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3209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DODANA LEČA</a:t>
            </a:r>
            <a:endParaRPr lang="en-GB" altLang="en-US" sz="2400" b="1"/>
          </a:p>
        </p:txBody>
      </p:sp>
      <p:sp>
        <p:nvSpPr>
          <p:cNvPr id="132099" name="Rectangle 3"/>
          <p:cNvSpPr>
            <a:spLocks noGrp="1" noChangeArrowheads="1"/>
          </p:cNvSpPr>
          <p:nvPr>
            <p:ph type="subTitle" idx="1"/>
          </p:nvPr>
        </p:nvSpPr>
        <p:spPr>
          <a:xfrm>
            <a:off x="827088" y="1125538"/>
            <a:ext cx="7705725" cy="5256212"/>
          </a:xfrm>
        </p:spPr>
        <p:txBody>
          <a:bodyPr/>
          <a:lstStyle/>
          <a:p>
            <a:pPr marL="269875" indent="-269875" algn="l" eaLnBrk="1" hangingPunct="1">
              <a:lnSpc>
                <a:spcPct val="80000"/>
              </a:lnSpc>
              <a:spcBef>
                <a:spcPct val="35000"/>
              </a:spcBef>
              <a:defRPr/>
            </a:pPr>
            <a:r>
              <a:rPr lang="sl-SI" sz="1800" dirty="0"/>
              <a:t>1. </a:t>
            </a:r>
            <a:r>
              <a:rPr lang="sl-SI" sz="1800" b="1" dirty="0"/>
              <a:t>Usmerjanje svetlobe z dodano lečo</a:t>
            </a:r>
          </a:p>
          <a:p>
            <a:pPr marL="269875" indent="-269875" algn="l" eaLnBrk="1" hangingPunct="1">
              <a:spcBef>
                <a:spcPct val="35000"/>
              </a:spcBef>
              <a:defRPr/>
            </a:pPr>
            <a:r>
              <a:rPr lang="sl-SI" sz="1800" dirty="0"/>
              <a:t>	</a:t>
            </a:r>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r>
              <a:rPr lang="sl-SI" sz="1800" dirty="0"/>
              <a:t> </a:t>
            </a:r>
            <a:r>
              <a:rPr lang="sl-SI" sz="1800" u="sng" dirty="0"/>
              <a:t> </a:t>
            </a:r>
          </a:p>
          <a:p>
            <a:pPr marL="269875" indent="-269875" algn="l" eaLnBrk="1" hangingPunct="1">
              <a:lnSpc>
                <a:spcPct val="80000"/>
              </a:lnSpc>
              <a:spcBef>
                <a:spcPct val="35000"/>
              </a:spcBef>
              <a:defRPr/>
            </a:pPr>
            <a:endParaRPr lang="sl-SI" sz="1800" u="sng" dirty="0"/>
          </a:p>
          <a:p>
            <a:pPr marL="258763" indent="-258763" algn="l" eaLnBrk="1" hangingPunct="1">
              <a:lnSpc>
                <a:spcPct val="80000"/>
              </a:lnSpc>
              <a:spcBef>
                <a:spcPct val="35000"/>
              </a:spcBef>
              <a:defRPr/>
            </a:pPr>
            <a:r>
              <a:rPr lang="sl-SI" sz="1800" b="1" dirty="0"/>
              <a:t>	</a:t>
            </a:r>
            <a:r>
              <a:rPr lang="sl-SI" sz="1800" dirty="0"/>
              <a:t>– samo pri določeni razdalji predmeta in slike od leče je slika ostra (</a:t>
            </a:r>
            <a:r>
              <a:rPr lang="sl-SI" sz="1800" dirty="0" err="1"/>
              <a:t>fokusirana</a:t>
            </a:r>
            <a:r>
              <a:rPr lang="sl-SI" sz="1800" dirty="0"/>
              <a:t>)</a:t>
            </a:r>
          </a:p>
          <a:p>
            <a:pPr marL="258763" indent="-258763" algn="l" eaLnBrk="1" hangingPunct="1">
              <a:lnSpc>
                <a:spcPct val="80000"/>
              </a:lnSpc>
              <a:spcBef>
                <a:spcPct val="35000"/>
              </a:spcBef>
              <a:defRPr/>
            </a:pPr>
            <a:r>
              <a:rPr lang="sl-SI" sz="1800" dirty="0"/>
              <a:t>	 – pri drugih razdaljah nastane t. i. “krog negotovosti” (</a:t>
            </a:r>
            <a:r>
              <a:rPr lang="sl-SI" sz="1800" i="1" dirty="0"/>
              <a:t>“</a:t>
            </a:r>
            <a:r>
              <a:rPr lang="sl-SI" sz="1800" i="1" dirty="0" err="1"/>
              <a:t>circle</a:t>
            </a:r>
            <a:r>
              <a:rPr lang="sl-SI" sz="1800" i="1" dirty="0"/>
              <a:t> </a:t>
            </a:r>
            <a:r>
              <a:rPr lang="sl-SI" sz="1800" i="1" dirty="0" err="1"/>
              <a:t>of</a:t>
            </a:r>
            <a:r>
              <a:rPr lang="sl-SI" sz="1800" i="1" dirty="0"/>
              <a:t> </a:t>
            </a:r>
            <a:r>
              <a:rPr lang="sl-SI" sz="1800" i="1" dirty="0" err="1"/>
              <a:t>confusion</a:t>
            </a:r>
            <a:r>
              <a:rPr lang="sl-SI" sz="1800" i="1" dirty="0"/>
              <a:t>”</a:t>
            </a:r>
            <a:r>
              <a:rPr lang="sl-SI" sz="1800" dirty="0"/>
              <a:t>)</a:t>
            </a:r>
          </a:p>
          <a:p>
            <a:pPr marL="258763" indent="-258763" algn="l" eaLnBrk="1" hangingPunct="1">
              <a:lnSpc>
                <a:spcPct val="80000"/>
              </a:lnSpc>
              <a:spcBef>
                <a:spcPct val="35000"/>
              </a:spcBef>
              <a:defRPr/>
            </a:pPr>
            <a:r>
              <a:rPr lang="sl-SI" sz="1800" dirty="0"/>
              <a:t>	 – oblika leče vpliva na razdaljo, pri kateri je slika </a:t>
            </a:r>
            <a:r>
              <a:rPr lang="sl-SI" sz="1800" dirty="0" err="1"/>
              <a:t>fokusirana</a:t>
            </a:r>
            <a:endParaRPr lang="sl-SI" sz="1800" b="1" dirty="0"/>
          </a:p>
          <a:p>
            <a:pPr marL="269875" indent="-269875" algn="l" eaLnBrk="1" hangingPunct="1">
              <a:lnSpc>
                <a:spcPct val="80000"/>
              </a:lnSpc>
              <a:spcBef>
                <a:spcPct val="35000"/>
              </a:spcBef>
              <a:defRPr/>
            </a:pPr>
            <a:r>
              <a:rPr lang="sl-SI" sz="1800" dirty="0"/>
              <a:t>		</a:t>
            </a:r>
          </a:p>
          <a:p>
            <a:pPr marL="269875" indent="-269875" algn="l" eaLnBrk="1" hangingPunct="1">
              <a:lnSpc>
                <a:spcPct val="80000"/>
              </a:lnSpc>
              <a:spcBef>
                <a:spcPct val="35000"/>
              </a:spcBef>
              <a:defRPr/>
            </a:pPr>
            <a:endParaRPr lang="sl-SI" sz="1600" dirty="0">
              <a:solidFill>
                <a:srgbClr val="FF9933"/>
              </a:solidFill>
            </a:endParaRPr>
          </a:p>
          <a:p>
            <a:pPr marL="269875" indent="-269875" algn="l" eaLnBrk="1" hangingPunct="1">
              <a:lnSpc>
                <a:spcPct val="80000"/>
              </a:lnSpc>
              <a:spcBef>
                <a:spcPct val="35000"/>
              </a:spcBef>
              <a:defRPr/>
            </a:pPr>
            <a:r>
              <a:rPr lang="sl-SI" sz="1800" dirty="0"/>
              <a:t>	</a:t>
            </a:r>
            <a:endParaRPr lang="sl-SI" sz="1800" u="sng" dirty="0"/>
          </a:p>
          <a:p>
            <a:pPr marL="269875" indent="-269875" algn="l" eaLnBrk="1" hangingPunct="1">
              <a:lnSpc>
                <a:spcPct val="80000"/>
              </a:lnSpc>
              <a:spcBef>
                <a:spcPct val="35000"/>
              </a:spcBef>
              <a:defRPr/>
            </a:pPr>
            <a:r>
              <a:rPr lang="sl-SI" sz="1800" dirty="0"/>
              <a:t>	</a:t>
            </a:r>
          </a:p>
          <a:p>
            <a:pPr marL="269875" indent="-269875" algn="l" eaLnBrk="1" hangingPunct="1">
              <a:lnSpc>
                <a:spcPct val="80000"/>
              </a:lnSpc>
              <a:spcBef>
                <a:spcPct val="35000"/>
              </a:spcBef>
              <a:defRPr/>
            </a:pPr>
            <a:endParaRPr lang="en-GB" sz="1800" u="sng" dirty="0"/>
          </a:p>
        </p:txBody>
      </p:sp>
      <p:pic>
        <p:nvPicPr>
          <p:cNvPr id="35844" name="Picture 4" descr="image-le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628775"/>
            <a:ext cx="5484813" cy="236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5845" name="Group 11"/>
          <p:cNvGrpSpPr>
            <a:grpSpLocks/>
          </p:cNvGrpSpPr>
          <p:nvPr/>
        </p:nvGrpSpPr>
        <p:grpSpPr bwMode="auto">
          <a:xfrm>
            <a:off x="1965325" y="2179638"/>
            <a:ext cx="4702175" cy="1643062"/>
            <a:chOff x="1459" y="1451"/>
            <a:chExt cx="2962" cy="1035"/>
          </a:xfrm>
        </p:grpSpPr>
        <p:grpSp>
          <p:nvGrpSpPr>
            <p:cNvPr id="35863" name="Group 12"/>
            <p:cNvGrpSpPr>
              <a:grpSpLocks/>
            </p:cNvGrpSpPr>
            <p:nvPr/>
          </p:nvGrpSpPr>
          <p:grpSpPr bwMode="auto">
            <a:xfrm>
              <a:off x="1459" y="1451"/>
              <a:ext cx="2962" cy="1035"/>
              <a:chOff x="1459" y="1451"/>
              <a:chExt cx="2962" cy="1035"/>
            </a:xfrm>
          </p:grpSpPr>
          <p:sp>
            <p:nvSpPr>
              <p:cNvPr id="35867" name="Line 13"/>
              <p:cNvSpPr>
                <a:spLocks noChangeShapeType="1"/>
              </p:cNvSpPr>
              <p:nvPr/>
            </p:nvSpPr>
            <p:spPr bwMode="auto">
              <a:xfrm>
                <a:off x="1459" y="1451"/>
                <a:ext cx="1465" cy="23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sl-SI"/>
              </a:p>
            </p:txBody>
          </p:sp>
          <p:sp>
            <p:nvSpPr>
              <p:cNvPr id="35868" name="Line 14"/>
              <p:cNvSpPr>
                <a:spLocks noChangeShapeType="1"/>
              </p:cNvSpPr>
              <p:nvPr/>
            </p:nvSpPr>
            <p:spPr bwMode="auto">
              <a:xfrm>
                <a:off x="2924" y="1686"/>
                <a:ext cx="1497" cy="8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grpSp>
          <p:nvGrpSpPr>
            <p:cNvPr id="35864" name="Group 15"/>
            <p:cNvGrpSpPr>
              <a:grpSpLocks/>
            </p:cNvGrpSpPr>
            <p:nvPr/>
          </p:nvGrpSpPr>
          <p:grpSpPr bwMode="auto">
            <a:xfrm>
              <a:off x="1459" y="1451"/>
              <a:ext cx="2962" cy="1035"/>
              <a:chOff x="1459" y="1451"/>
              <a:chExt cx="2962" cy="1035"/>
            </a:xfrm>
          </p:grpSpPr>
          <p:sp>
            <p:nvSpPr>
              <p:cNvPr id="35865" name="Line 16"/>
              <p:cNvSpPr>
                <a:spLocks noChangeShapeType="1"/>
              </p:cNvSpPr>
              <p:nvPr/>
            </p:nvSpPr>
            <p:spPr bwMode="auto">
              <a:xfrm>
                <a:off x="1459" y="1451"/>
                <a:ext cx="1465" cy="3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sl-SI"/>
              </a:p>
            </p:txBody>
          </p:sp>
          <p:sp>
            <p:nvSpPr>
              <p:cNvPr id="35866" name="Line 17"/>
              <p:cNvSpPr>
                <a:spLocks noChangeShapeType="1"/>
              </p:cNvSpPr>
              <p:nvPr/>
            </p:nvSpPr>
            <p:spPr bwMode="auto">
              <a:xfrm>
                <a:off x="2924" y="1814"/>
                <a:ext cx="1497" cy="67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grpSp>
      <p:grpSp>
        <p:nvGrpSpPr>
          <p:cNvPr id="35846" name="Group 31"/>
          <p:cNvGrpSpPr>
            <a:grpSpLocks/>
          </p:cNvGrpSpPr>
          <p:nvPr/>
        </p:nvGrpSpPr>
        <p:grpSpPr bwMode="auto">
          <a:xfrm>
            <a:off x="2270125" y="2552700"/>
            <a:ext cx="4419600" cy="752475"/>
            <a:chOff x="1651" y="1686"/>
            <a:chExt cx="2784" cy="474"/>
          </a:xfrm>
        </p:grpSpPr>
        <p:sp>
          <p:nvSpPr>
            <p:cNvPr id="35855" name="Line 19"/>
            <p:cNvSpPr>
              <a:spLocks noChangeShapeType="1"/>
            </p:cNvSpPr>
            <p:nvPr/>
          </p:nvSpPr>
          <p:spPr bwMode="auto">
            <a:xfrm>
              <a:off x="1651" y="1835"/>
              <a:ext cx="2784" cy="288"/>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nvGrpSpPr>
            <p:cNvPr id="35856" name="Group 30"/>
            <p:cNvGrpSpPr>
              <a:grpSpLocks/>
            </p:cNvGrpSpPr>
            <p:nvPr/>
          </p:nvGrpSpPr>
          <p:grpSpPr bwMode="auto">
            <a:xfrm>
              <a:off x="1651" y="1686"/>
              <a:ext cx="2778" cy="474"/>
              <a:chOff x="1651" y="1686"/>
              <a:chExt cx="2778" cy="474"/>
            </a:xfrm>
          </p:grpSpPr>
          <p:sp>
            <p:nvSpPr>
              <p:cNvPr id="35857" name="Line 21"/>
              <p:cNvSpPr>
                <a:spLocks noChangeShapeType="1"/>
              </p:cNvSpPr>
              <p:nvPr/>
            </p:nvSpPr>
            <p:spPr bwMode="auto">
              <a:xfrm>
                <a:off x="1651" y="1835"/>
                <a:ext cx="1273" cy="288"/>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sl-SI"/>
              </a:p>
            </p:txBody>
          </p:sp>
          <p:sp>
            <p:nvSpPr>
              <p:cNvPr id="35858" name="Line 22"/>
              <p:cNvSpPr>
                <a:spLocks noChangeShapeType="1"/>
              </p:cNvSpPr>
              <p:nvPr/>
            </p:nvSpPr>
            <p:spPr bwMode="auto">
              <a:xfrm>
                <a:off x="2924" y="2123"/>
                <a:ext cx="1505" cy="37"/>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35859" name="Line 24"/>
              <p:cNvSpPr>
                <a:spLocks noChangeShapeType="1"/>
              </p:cNvSpPr>
              <p:nvPr/>
            </p:nvSpPr>
            <p:spPr bwMode="auto">
              <a:xfrm>
                <a:off x="1651" y="1835"/>
                <a:ext cx="1273"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sl-SI"/>
              </a:p>
            </p:txBody>
          </p:sp>
          <p:sp>
            <p:nvSpPr>
              <p:cNvPr id="35860" name="Line 25"/>
              <p:cNvSpPr>
                <a:spLocks noChangeShapeType="1"/>
              </p:cNvSpPr>
              <p:nvPr/>
            </p:nvSpPr>
            <p:spPr bwMode="auto">
              <a:xfrm>
                <a:off x="2924" y="1835"/>
                <a:ext cx="1497" cy="265"/>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35861" name="Line 27"/>
              <p:cNvSpPr>
                <a:spLocks noChangeShapeType="1"/>
              </p:cNvSpPr>
              <p:nvPr/>
            </p:nvSpPr>
            <p:spPr bwMode="auto">
              <a:xfrm flipV="1">
                <a:off x="1651" y="1686"/>
                <a:ext cx="1273" cy="149"/>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sl-SI"/>
              </a:p>
            </p:txBody>
          </p:sp>
          <p:sp>
            <p:nvSpPr>
              <p:cNvPr id="35862" name="Line 28"/>
              <p:cNvSpPr>
                <a:spLocks noChangeShapeType="1"/>
              </p:cNvSpPr>
              <p:nvPr/>
            </p:nvSpPr>
            <p:spPr bwMode="auto">
              <a:xfrm>
                <a:off x="2924" y="1686"/>
                <a:ext cx="1497" cy="39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grpSp>
      <p:grpSp>
        <p:nvGrpSpPr>
          <p:cNvPr id="35847" name="Group 34"/>
          <p:cNvGrpSpPr>
            <a:grpSpLocks/>
          </p:cNvGrpSpPr>
          <p:nvPr/>
        </p:nvGrpSpPr>
        <p:grpSpPr bwMode="auto">
          <a:xfrm>
            <a:off x="6735763" y="3197225"/>
            <a:ext cx="1739900" cy="646113"/>
            <a:chOff x="4464" y="2092"/>
            <a:chExt cx="1096" cy="407"/>
          </a:xfrm>
        </p:grpSpPr>
        <p:sp>
          <p:nvSpPr>
            <p:cNvPr id="35853" name="Text Box 32"/>
            <p:cNvSpPr txBox="1">
              <a:spLocks noChangeArrowheads="1"/>
            </p:cNvSpPr>
            <p:nvPr/>
          </p:nvSpPr>
          <p:spPr bwMode="auto">
            <a:xfrm>
              <a:off x="4652" y="2092"/>
              <a:ext cx="90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800"/>
                <a:t>“krog </a:t>
              </a:r>
            </a:p>
            <a:p>
              <a:pPr algn="ctr" eaLnBrk="1" hangingPunct="1">
                <a:spcBef>
                  <a:spcPct val="0"/>
                </a:spcBef>
                <a:buFontTx/>
                <a:buNone/>
              </a:pPr>
              <a:r>
                <a:rPr lang="sl-SI" altLang="en-US" sz="1800"/>
                <a:t>negotovosti”</a:t>
              </a:r>
              <a:endParaRPr lang="en-US" altLang="en-US" sz="1800"/>
            </a:p>
          </p:txBody>
        </p:sp>
        <p:sp>
          <p:nvSpPr>
            <p:cNvPr id="35854" name="Line 33"/>
            <p:cNvSpPr>
              <a:spLocks noChangeShapeType="1"/>
            </p:cNvSpPr>
            <p:nvPr/>
          </p:nvSpPr>
          <p:spPr bwMode="auto">
            <a:xfrm flipH="1" flipV="1">
              <a:off x="4464" y="2160"/>
              <a:ext cx="336"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sp>
        <p:nvSpPr>
          <p:cNvPr id="35848" name="TextBox 72"/>
          <p:cNvSpPr txBox="1">
            <a:spLocks noChangeArrowheads="1"/>
          </p:cNvSpPr>
          <p:nvPr/>
        </p:nvSpPr>
        <p:spPr bwMode="auto">
          <a:xfrm>
            <a:off x="1381125" y="1619250"/>
            <a:ext cx="1030288"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predmet</a:t>
            </a:r>
            <a:endParaRPr lang="en-GB" altLang="en-US" sz="1800"/>
          </a:p>
        </p:txBody>
      </p:sp>
      <p:sp>
        <p:nvSpPr>
          <p:cNvPr id="35849" name="TextBox 73"/>
          <p:cNvSpPr txBox="1">
            <a:spLocks noChangeArrowheads="1"/>
          </p:cNvSpPr>
          <p:nvPr/>
        </p:nvSpPr>
        <p:spPr bwMode="auto">
          <a:xfrm>
            <a:off x="3995738" y="1619250"/>
            <a:ext cx="608012"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leča</a:t>
            </a:r>
            <a:endParaRPr lang="en-GB" altLang="en-US" sz="1800"/>
          </a:p>
        </p:txBody>
      </p:sp>
      <p:sp>
        <p:nvSpPr>
          <p:cNvPr id="35850" name="TextBox 74"/>
          <p:cNvSpPr txBox="1">
            <a:spLocks noChangeArrowheads="1"/>
          </p:cNvSpPr>
          <p:nvPr/>
        </p:nvSpPr>
        <p:spPr bwMode="auto">
          <a:xfrm>
            <a:off x="6011863" y="1557338"/>
            <a:ext cx="1211262"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film - slika</a:t>
            </a:r>
            <a:endParaRPr lang="en-GB" altLang="en-US" sz="1800"/>
          </a:p>
        </p:txBody>
      </p:sp>
      <p:sp>
        <p:nvSpPr>
          <p:cNvPr id="35851"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35852"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035B49C-9D17-448F-9669-D0501B21FA6C}" type="slidenum">
              <a:rPr lang="en-GB" altLang="sl-SI" sz="1400" smtClean="0"/>
              <a:pPr>
                <a:spcBef>
                  <a:spcPct val="0"/>
                </a:spcBef>
                <a:buFontTx/>
                <a:buNone/>
              </a:pPr>
              <a:t>20</a:t>
            </a:fld>
            <a:endParaRPr lang="en-GB" altLang="sl-SI" sz="1400"/>
          </a:p>
        </p:txBody>
      </p:sp>
    </p:spTree>
  </p:cSld>
  <p:clrMapOvr>
    <a:masterClrMapping/>
  </p:clrMapOvr>
  <p:transition>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OBRAVNAVA LEČE</a:t>
            </a:r>
            <a:endParaRPr lang="en-GB" altLang="en-US" sz="2400" b="1"/>
          </a:p>
        </p:txBody>
      </p:sp>
      <p:sp>
        <p:nvSpPr>
          <p:cNvPr id="132099" name="Rectangle 3"/>
          <p:cNvSpPr>
            <a:spLocks noGrp="1" noChangeArrowheads="1"/>
          </p:cNvSpPr>
          <p:nvPr>
            <p:ph type="subTitle" idx="1"/>
          </p:nvPr>
        </p:nvSpPr>
        <p:spPr>
          <a:xfrm>
            <a:off x="827088" y="981075"/>
            <a:ext cx="7705725" cy="5400675"/>
          </a:xfrm>
        </p:spPr>
        <p:txBody>
          <a:bodyPr/>
          <a:lstStyle/>
          <a:p>
            <a:pPr marL="269875" indent="-269875" algn="l" eaLnBrk="1" hangingPunct="1">
              <a:lnSpc>
                <a:spcPct val="80000"/>
              </a:lnSpc>
              <a:spcBef>
                <a:spcPct val="35000"/>
              </a:spcBef>
              <a:defRPr/>
            </a:pPr>
            <a:r>
              <a:rPr lang="sl-SI" sz="1800" dirty="0"/>
              <a:t>1. </a:t>
            </a:r>
            <a:r>
              <a:rPr lang="sl-SI" sz="1800" b="1" dirty="0"/>
              <a:t>Leča usmeri vzporedne žarke v isto zbirno, goriščno točko (fokus)</a:t>
            </a:r>
          </a:p>
          <a:p>
            <a:pPr marL="269875" indent="-269875" algn="l" eaLnBrk="1" hangingPunct="1">
              <a:spcBef>
                <a:spcPct val="35000"/>
              </a:spcBef>
              <a:defRPr/>
            </a:pPr>
            <a:r>
              <a:rPr lang="sl-SI" sz="1800" dirty="0"/>
              <a:t>	</a:t>
            </a:r>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r>
              <a:rPr lang="sl-SI" sz="1800" dirty="0"/>
              <a:t> </a:t>
            </a:r>
            <a:r>
              <a:rPr lang="sl-SI" sz="1800" u="sng" dirty="0"/>
              <a:t> </a:t>
            </a:r>
          </a:p>
          <a:p>
            <a:pPr marL="269875" indent="-269875" algn="l" eaLnBrk="1" hangingPunct="1">
              <a:lnSpc>
                <a:spcPct val="80000"/>
              </a:lnSpc>
              <a:spcBef>
                <a:spcPct val="35000"/>
              </a:spcBef>
              <a:defRPr/>
            </a:pPr>
            <a:endParaRPr lang="sl-SI" sz="1800" u="sng" dirty="0"/>
          </a:p>
          <a:p>
            <a:pPr marL="258763" indent="-258763" algn="l" eaLnBrk="1" hangingPunct="1">
              <a:lnSpc>
                <a:spcPct val="80000"/>
              </a:lnSpc>
              <a:spcBef>
                <a:spcPct val="35000"/>
              </a:spcBef>
              <a:defRPr/>
            </a:pPr>
            <a:r>
              <a:rPr lang="sl-SI" sz="1800" b="1" dirty="0"/>
              <a:t>	</a:t>
            </a:r>
            <a:endParaRPr lang="sl-SI" sz="1800" dirty="0"/>
          </a:p>
          <a:p>
            <a:pPr marL="258763" indent="-258763" algn="l" eaLnBrk="1" hangingPunct="1">
              <a:lnSpc>
                <a:spcPct val="80000"/>
              </a:lnSpc>
              <a:spcBef>
                <a:spcPct val="35000"/>
              </a:spcBef>
              <a:defRPr/>
            </a:pPr>
            <a:r>
              <a:rPr lang="sl-SI" sz="1800" dirty="0"/>
              <a:t>	 – </a:t>
            </a:r>
            <a:r>
              <a:rPr lang="sl-SI" sz="1600" dirty="0"/>
              <a:t>vzporedni žarki se sekajo v zbirni točki F za lečo (gorišče, fokus)</a:t>
            </a:r>
          </a:p>
          <a:p>
            <a:pPr marL="258763" indent="-258763" algn="l" eaLnBrk="1" hangingPunct="1">
              <a:lnSpc>
                <a:spcPct val="80000"/>
              </a:lnSpc>
              <a:spcBef>
                <a:spcPct val="35000"/>
              </a:spcBef>
              <a:defRPr/>
            </a:pPr>
            <a:r>
              <a:rPr lang="sl-SI" sz="1600" dirty="0"/>
              <a:t>	 – goriščna razdalja </a:t>
            </a:r>
            <a:r>
              <a:rPr lang="sl-SI" sz="1600" i="1" dirty="0"/>
              <a:t>f </a:t>
            </a:r>
            <a:r>
              <a:rPr lang="sl-SI" sz="1600" dirty="0"/>
              <a:t>je odvisna od oblike in lomnega količnika leče</a:t>
            </a:r>
          </a:p>
          <a:p>
            <a:pPr marL="258763" indent="-258763" algn="l" eaLnBrk="1" hangingPunct="1">
              <a:lnSpc>
                <a:spcPct val="80000"/>
              </a:lnSpc>
              <a:spcBef>
                <a:spcPct val="35000"/>
              </a:spcBef>
              <a:defRPr/>
            </a:pPr>
            <a:r>
              <a:rPr lang="sl-SI" sz="1600" dirty="0"/>
              <a:t>	 – oblika leče vpliva na razdaljo, pri kateri je slika </a:t>
            </a:r>
            <a:r>
              <a:rPr lang="sl-SI" sz="1600" dirty="0" err="1"/>
              <a:t>fokusirana</a:t>
            </a:r>
            <a:endParaRPr lang="sl-SI" sz="1600" dirty="0"/>
          </a:p>
          <a:p>
            <a:pPr marL="258763" indent="-258763" algn="l" eaLnBrk="1" hangingPunct="1">
              <a:lnSpc>
                <a:spcPct val="80000"/>
              </a:lnSpc>
              <a:spcBef>
                <a:spcPct val="35000"/>
              </a:spcBef>
              <a:defRPr/>
            </a:pPr>
            <a:r>
              <a:rPr lang="sl-SI" sz="1600" dirty="0"/>
              <a:t>	 – središče leče pomeni projekcijsko središče – PS</a:t>
            </a:r>
          </a:p>
          <a:p>
            <a:pPr marL="258763" indent="-258763" algn="l" eaLnBrk="1" hangingPunct="1">
              <a:lnSpc>
                <a:spcPct val="80000"/>
              </a:lnSpc>
              <a:spcBef>
                <a:spcPct val="35000"/>
              </a:spcBef>
              <a:defRPr/>
            </a:pPr>
            <a:r>
              <a:rPr lang="sl-SI" sz="1600" b="1" dirty="0"/>
              <a:t>	</a:t>
            </a:r>
            <a:r>
              <a:rPr lang="sl-SI" sz="1600" dirty="0"/>
              <a:t> – zaslonka je lahko na eni ali drugi strani leče – odprtina </a:t>
            </a:r>
            <a:r>
              <a:rPr lang="sl-SI" sz="1600" i="1" dirty="0"/>
              <a:t>D</a:t>
            </a:r>
            <a:r>
              <a:rPr lang="sl-SI" sz="1600" dirty="0"/>
              <a:t> omeji svetlobni  snop</a:t>
            </a:r>
          </a:p>
          <a:p>
            <a:pPr marL="258763" indent="-258763" algn="l" eaLnBrk="1" hangingPunct="1">
              <a:lnSpc>
                <a:spcPct val="80000"/>
              </a:lnSpc>
              <a:spcBef>
                <a:spcPct val="35000"/>
              </a:spcBef>
              <a:defRPr/>
            </a:pPr>
            <a:r>
              <a:rPr lang="sl-SI" sz="1600" b="1" dirty="0"/>
              <a:t>	</a:t>
            </a:r>
            <a:r>
              <a:rPr lang="sl-SI" sz="1600" dirty="0"/>
              <a:t> – leče so običajno sferične, ker se najlaže izdelajo</a:t>
            </a:r>
            <a:endParaRPr lang="sl-SI" sz="1600" b="1" dirty="0"/>
          </a:p>
          <a:p>
            <a:pPr marL="269875" indent="-269875" algn="l" eaLnBrk="1" hangingPunct="1">
              <a:lnSpc>
                <a:spcPct val="80000"/>
              </a:lnSpc>
              <a:spcBef>
                <a:spcPct val="35000"/>
              </a:spcBef>
              <a:defRPr/>
            </a:pPr>
            <a:r>
              <a:rPr lang="sl-SI" sz="1800" dirty="0"/>
              <a:t>		</a:t>
            </a:r>
          </a:p>
          <a:p>
            <a:pPr marL="269875" indent="-269875" algn="l" eaLnBrk="1" hangingPunct="1">
              <a:lnSpc>
                <a:spcPct val="80000"/>
              </a:lnSpc>
              <a:spcBef>
                <a:spcPct val="35000"/>
              </a:spcBef>
              <a:defRPr/>
            </a:pPr>
            <a:endParaRPr lang="sl-SI" sz="1600" dirty="0">
              <a:solidFill>
                <a:srgbClr val="FF9933"/>
              </a:solidFill>
            </a:endParaRPr>
          </a:p>
          <a:p>
            <a:pPr marL="269875" indent="-269875" algn="l" eaLnBrk="1" hangingPunct="1">
              <a:lnSpc>
                <a:spcPct val="80000"/>
              </a:lnSpc>
              <a:spcBef>
                <a:spcPct val="35000"/>
              </a:spcBef>
              <a:defRPr/>
            </a:pPr>
            <a:r>
              <a:rPr lang="sl-SI" sz="1800" dirty="0"/>
              <a:t>	</a:t>
            </a:r>
            <a:endParaRPr lang="sl-SI" sz="1800" u="sng" dirty="0"/>
          </a:p>
          <a:p>
            <a:pPr marL="269875" indent="-269875" algn="l" eaLnBrk="1" hangingPunct="1">
              <a:lnSpc>
                <a:spcPct val="80000"/>
              </a:lnSpc>
              <a:spcBef>
                <a:spcPct val="35000"/>
              </a:spcBef>
              <a:defRPr/>
            </a:pPr>
            <a:r>
              <a:rPr lang="sl-SI" sz="1800" dirty="0"/>
              <a:t>	</a:t>
            </a:r>
          </a:p>
          <a:p>
            <a:pPr marL="269875" indent="-269875" algn="l" eaLnBrk="1" hangingPunct="1">
              <a:lnSpc>
                <a:spcPct val="80000"/>
              </a:lnSpc>
              <a:spcBef>
                <a:spcPct val="35000"/>
              </a:spcBef>
              <a:defRPr/>
            </a:pPr>
            <a:endParaRPr lang="en-GB" sz="1800" u="sng" dirty="0"/>
          </a:p>
        </p:txBody>
      </p:sp>
      <p:pic>
        <p:nvPicPr>
          <p:cNvPr id="37892" name="Picture 5" descr="lens_term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412875"/>
            <a:ext cx="5391150"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7893" name="Group 31"/>
          <p:cNvGrpSpPr>
            <a:grpSpLocks/>
          </p:cNvGrpSpPr>
          <p:nvPr/>
        </p:nvGrpSpPr>
        <p:grpSpPr bwMode="auto">
          <a:xfrm>
            <a:off x="5689600" y="2765425"/>
            <a:ext cx="1217613" cy="588963"/>
            <a:chOff x="5689242" y="2765920"/>
            <a:chExt cx="1217693" cy="587813"/>
          </a:xfrm>
        </p:grpSpPr>
        <p:sp>
          <p:nvSpPr>
            <p:cNvPr id="37902" name="Text Box 7"/>
            <p:cNvSpPr txBox="1">
              <a:spLocks noChangeArrowheads="1"/>
            </p:cNvSpPr>
            <p:nvPr/>
          </p:nvSpPr>
          <p:spPr bwMode="auto">
            <a:xfrm>
              <a:off x="6106716" y="2984401"/>
              <a:ext cx="8002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1"/>
                <a:t>fo</a:t>
              </a:r>
              <a:r>
                <a:rPr lang="sl-SI" altLang="en-US" sz="1800" b="1"/>
                <a:t>kus</a:t>
              </a:r>
              <a:endParaRPr lang="en-US" altLang="en-US" sz="1800" b="1"/>
            </a:p>
          </p:txBody>
        </p:sp>
        <p:sp>
          <p:nvSpPr>
            <p:cNvPr id="37903" name="Line 8"/>
            <p:cNvSpPr>
              <a:spLocks noChangeShapeType="1"/>
            </p:cNvSpPr>
            <p:nvPr/>
          </p:nvSpPr>
          <p:spPr bwMode="auto">
            <a:xfrm flipH="1" flipV="1">
              <a:off x="5689242" y="2765920"/>
              <a:ext cx="438150"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sp>
        <p:nvSpPr>
          <p:cNvPr id="37894" name="TextBox 33"/>
          <p:cNvSpPr txBox="1">
            <a:spLocks noChangeArrowheads="1"/>
          </p:cNvSpPr>
          <p:nvPr/>
        </p:nvSpPr>
        <p:spPr bwMode="auto">
          <a:xfrm>
            <a:off x="1150938" y="2266950"/>
            <a:ext cx="142875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optična os   </a:t>
            </a:r>
            <a:endParaRPr lang="en-GB" altLang="en-US" sz="1800"/>
          </a:p>
        </p:txBody>
      </p:sp>
      <p:sp>
        <p:nvSpPr>
          <p:cNvPr id="37895" name="TextBox 34"/>
          <p:cNvSpPr txBox="1">
            <a:spLocks noChangeArrowheads="1"/>
          </p:cNvSpPr>
          <p:nvPr/>
        </p:nvSpPr>
        <p:spPr bwMode="auto">
          <a:xfrm>
            <a:off x="4094163" y="1412875"/>
            <a:ext cx="2135187"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zaslonka - odprtina</a:t>
            </a:r>
            <a:endParaRPr lang="en-GB" altLang="en-US" sz="1800"/>
          </a:p>
        </p:txBody>
      </p:sp>
      <p:grpSp>
        <p:nvGrpSpPr>
          <p:cNvPr id="37896" name="Group 38"/>
          <p:cNvGrpSpPr>
            <a:grpSpLocks/>
          </p:cNvGrpSpPr>
          <p:nvPr/>
        </p:nvGrpSpPr>
        <p:grpSpPr bwMode="auto">
          <a:xfrm>
            <a:off x="825500" y="2733675"/>
            <a:ext cx="3249613" cy="1239838"/>
            <a:chOff x="824659" y="2733258"/>
            <a:chExt cx="3251237" cy="1240229"/>
          </a:xfrm>
        </p:grpSpPr>
        <p:sp>
          <p:nvSpPr>
            <p:cNvPr id="37900" name="Text Box 10"/>
            <p:cNvSpPr txBox="1">
              <a:spLocks noChangeArrowheads="1"/>
            </p:cNvSpPr>
            <p:nvPr/>
          </p:nvSpPr>
          <p:spPr bwMode="auto">
            <a:xfrm>
              <a:off x="824659" y="3326983"/>
              <a:ext cx="3251237" cy="646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800" b="1"/>
                <a:t>optično središče</a:t>
              </a:r>
              <a:endParaRPr lang="en-US" altLang="en-US" sz="1800" b="1"/>
            </a:p>
            <a:p>
              <a:pPr algn="ctr" eaLnBrk="1" hangingPunct="1">
                <a:spcBef>
                  <a:spcPct val="0"/>
                </a:spcBef>
                <a:buFontTx/>
                <a:buNone/>
              </a:pPr>
              <a:r>
                <a:rPr lang="en-US" altLang="en-US" sz="1800" b="1"/>
                <a:t>(</a:t>
              </a:r>
              <a:r>
                <a:rPr lang="sl-SI" altLang="en-US" sz="1800" b="1"/>
                <a:t>projekcijsko središče – PS</a:t>
              </a:r>
              <a:r>
                <a:rPr lang="en-US" altLang="en-US" sz="1800" b="1"/>
                <a:t>)</a:t>
              </a:r>
            </a:p>
          </p:txBody>
        </p:sp>
        <p:sp>
          <p:nvSpPr>
            <p:cNvPr id="37901" name="Line 11"/>
            <p:cNvSpPr>
              <a:spLocks noChangeShapeType="1"/>
            </p:cNvSpPr>
            <p:nvPr/>
          </p:nvSpPr>
          <p:spPr bwMode="auto">
            <a:xfrm flipV="1">
              <a:off x="3104328" y="2733258"/>
              <a:ext cx="838200" cy="6731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grpSp>
      <p:sp>
        <p:nvSpPr>
          <p:cNvPr id="37897" name="Text Box 9"/>
          <p:cNvSpPr txBox="1">
            <a:spLocks noChangeArrowheads="1"/>
          </p:cNvSpPr>
          <p:nvPr/>
        </p:nvSpPr>
        <p:spPr bwMode="auto">
          <a:xfrm>
            <a:off x="5435600" y="2271713"/>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F</a:t>
            </a:r>
          </a:p>
        </p:txBody>
      </p:sp>
      <p:sp>
        <p:nvSpPr>
          <p:cNvPr id="37898" name="Ograda noge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37899" name="Ograda številke diapozitiva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D3A5AD1-CCE5-4185-BD1B-BF8CE3037BF0}" type="slidenum">
              <a:rPr lang="en-GB" altLang="sl-SI" sz="1400" smtClean="0"/>
              <a:pPr>
                <a:spcBef>
                  <a:spcPct val="0"/>
                </a:spcBef>
                <a:buFontTx/>
                <a:buNone/>
              </a:pPr>
              <a:t>21</a:t>
            </a:fld>
            <a:endParaRPr lang="en-GB" altLang="sl-SI" sz="1400"/>
          </a:p>
        </p:txBody>
      </p:sp>
    </p:spTree>
  </p:cSld>
  <p:clrMapOvr>
    <a:masterClrMapping/>
  </p:clrMapOvr>
  <p:transition>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GLOBINSKA OSTRINA</a:t>
            </a:r>
            <a:endParaRPr lang="en-GB" altLang="en-US" sz="2400" b="1"/>
          </a:p>
        </p:txBody>
      </p:sp>
      <p:sp>
        <p:nvSpPr>
          <p:cNvPr id="132099" name="Rectangle 3"/>
          <p:cNvSpPr>
            <a:spLocks noGrp="1" noChangeArrowheads="1"/>
          </p:cNvSpPr>
          <p:nvPr>
            <p:ph type="subTitle" idx="1"/>
          </p:nvPr>
        </p:nvSpPr>
        <p:spPr>
          <a:xfrm>
            <a:off x="827088" y="981075"/>
            <a:ext cx="7705725" cy="4824413"/>
          </a:xfrm>
        </p:spPr>
        <p:txBody>
          <a:bodyPr/>
          <a:lstStyle/>
          <a:p>
            <a:pPr marL="269875" indent="-269875" algn="l" eaLnBrk="1" hangingPunct="1">
              <a:lnSpc>
                <a:spcPct val="80000"/>
              </a:lnSpc>
              <a:spcBef>
                <a:spcPct val="35000"/>
              </a:spcBef>
              <a:defRPr/>
            </a:pPr>
            <a:endParaRPr lang="sl-SI" sz="1800" b="1" dirty="0"/>
          </a:p>
          <a:p>
            <a:pPr marL="269875" indent="-269875" algn="l" eaLnBrk="1" hangingPunct="1">
              <a:spcBef>
                <a:spcPct val="35000"/>
              </a:spcBef>
              <a:defRPr/>
            </a:pPr>
            <a:r>
              <a:rPr lang="sl-SI" sz="1800" dirty="0"/>
              <a:t>	</a:t>
            </a:r>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endParaRPr lang="sl-SI" sz="1800" dirty="0"/>
          </a:p>
          <a:p>
            <a:pPr marL="269875" indent="-269875" algn="l" eaLnBrk="1" hangingPunct="1">
              <a:spcBef>
                <a:spcPct val="35000"/>
              </a:spcBef>
              <a:defRPr/>
            </a:pPr>
            <a:r>
              <a:rPr lang="sl-SI" sz="1800" dirty="0"/>
              <a:t> </a:t>
            </a:r>
            <a:r>
              <a:rPr lang="sl-SI" sz="1800" u="sng" dirty="0"/>
              <a:t> </a:t>
            </a:r>
          </a:p>
          <a:p>
            <a:pPr marL="269875" indent="-269875" algn="l" eaLnBrk="1" hangingPunct="1">
              <a:lnSpc>
                <a:spcPct val="80000"/>
              </a:lnSpc>
              <a:spcBef>
                <a:spcPct val="35000"/>
              </a:spcBef>
              <a:defRPr/>
            </a:pPr>
            <a:endParaRPr lang="sl-SI" sz="1800" u="sng" dirty="0"/>
          </a:p>
          <a:p>
            <a:pPr marL="258763" indent="-258763" algn="l" eaLnBrk="1" hangingPunct="1">
              <a:lnSpc>
                <a:spcPct val="80000"/>
              </a:lnSpc>
              <a:spcBef>
                <a:spcPct val="35000"/>
              </a:spcBef>
              <a:defRPr/>
            </a:pPr>
            <a:r>
              <a:rPr lang="sl-SI" sz="1800" b="1" dirty="0"/>
              <a:t>	</a:t>
            </a:r>
            <a:endParaRPr lang="sl-SI" sz="1800" dirty="0"/>
          </a:p>
          <a:p>
            <a:pPr marL="258763" indent="-258763" algn="l" eaLnBrk="1" hangingPunct="1">
              <a:lnSpc>
                <a:spcPct val="80000"/>
              </a:lnSpc>
              <a:spcBef>
                <a:spcPct val="35000"/>
              </a:spcBef>
              <a:defRPr/>
            </a:pPr>
            <a:r>
              <a:rPr lang="sl-SI" sz="1800" dirty="0"/>
              <a:t>	 </a:t>
            </a:r>
            <a:endParaRPr lang="sl-SI" sz="1600" dirty="0"/>
          </a:p>
          <a:p>
            <a:pPr marL="258763" indent="-258763" algn="l" eaLnBrk="1" hangingPunct="1">
              <a:lnSpc>
                <a:spcPct val="80000"/>
              </a:lnSpc>
              <a:spcBef>
                <a:spcPct val="35000"/>
              </a:spcBef>
              <a:buFont typeface="Arial" pitchFamily="34" charset="0"/>
              <a:buChar char="•"/>
              <a:defRPr/>
            </a:pPr>
            <a:r>
              <a:rPr lang="sl-SI" sz="1800" dirty="0"/>
              <a:t>Velikost odprtine v zaslonki vpliva na globinsko ostrino slike:</a:t>
            </a:r>
          </a:p>
          <a:p>
            <a:pPr marL="715963" lvl="1" indent="-258763" algn="l" eaLnBrk="1" hangingPunct="1">
              <a:lnSpc>
                <a:spcPct val="80000"/>
              </a:lnSpc>
              <a:spcBef>
                <a:spcPct val="35000"/>
              </a:spcBef>
              <a:buFont typeface="Arial" pitchFamily="34" charset="0"/>
              <a:buChar char="•"/>
              <a:defRPr/>
            </a:pPr>
            <a:r>
              <a:rPr lang="sl-SI" sz="1600" dirty="0"/>
              <a:t>manjša odprtina poveča globinsko ostrino, torej podaljša odsek, na katerem je lahko predmet in je pri tem še vedno približno </a:t>
            </a:r>
            <a:r>
              <a:rPr lang="sl-SI" sz="1600" dirty="0" err="1"/>
              <a:t>fokusiran</a:t>
            </a:r>
            <a:r>
              <a:rPr lang="sl-SI" sz="1600" dirty="0"/>
              <a:t> (ima ostro sliko)</a:t>
            </a:r>
          </a:p>
          <a:p>
            <a:pPr marL="258763" indent="-258763" algn="l" eaLnBrk="1" hangingPunct="1">
              <a:lnSpc>
                <a:spcPct val="80000"/>
              </a:lnSpc>
              <a:spcBef>
                <a:spcPct val="35000"/>
              </a:spcBef>
              <a:defRPr/>
            </a:pPr>
            <a:r>
              <a:rPr lang="sl-SI" sz="1600" dirty="0"/>
              <a:t>	</a:t>
            </a:r>
            <a:endParaRPr lang="sl-SI" sz="1600" dirty="0">
              <a:solidFill>
                <a:srgbClr val="FF9933"/>
              </a:solidFill>
            </a:endParaRPr>
          </a:p>
          <a:p>
            <a:pPr marL="269875" indent="-269875" algn="l" eaLnBrk="1" hangingPunct="1">
              <a:lnSpc>
                <a:spcPct val="80000"/>
              </a:lnSpc>
              <a:spcBef>
                <a:spcPct val="35000"/>
              </a:spcBef>
              <a:defRPr/>
            </a:pPr>
            <a:r>
              <a:rPr lang="sl-SI" sz="1800" dirty="0"/>
              <a:t>	</a:t>
            </a:r>
            <a:endParaRPr lang="sl-SI" sz="1800" u="sng" dirty="0"/>
          </a:p>
          <a:p>
            <a:pPr marL="269875" indent="-269875" algn="l" eaLnBrk="1" hangingPunct="1">
              <a:lnSpc>
                <a:spcPct val="80000"/>
              </a:lnSpc>
              <a:spcBef>
                <a:spcPct val="35000"/>
              </a:spcBef>
              <a:defRPr/>
            </a:pPr>
            <a:r>
              <a:rPr lang="sl-SI" sz="1800" dirty="0"/>
              <a:t>	</a:t>
            </a:r>
          </a:p>
          <a:p>
            <a:pPr marL="269875" indent="-269875" algn="l" eaLnBrk="1" hangingPunct="1">
              <a:lnSpc>
                <a:spcPct val="80000"/>
              </a:lnSpc>
              <a:spcBef>
                <a:spcPct val="35000"/>
              </a:spcBef>
              <a:defRPr/>
            </a:pPr>
            <a:endParaRPr lang="en-GB" sz="1800" u="sng" dirty="0"/>
          </a:p>
        </p:txBody>
      </p:sp>
      <p:pic>
        <p:nvPicPr>
          <p:cNvPr id="39940" name="Picture 4" descr="depth_of_fiel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981075"/>
            <a:ext cx="5472112"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TextBox 16"/>
          <p:cNvSpPr txBox="1">
            <a:spLocks noChangeArrowheads="1"/>
          </p:cNvSpPr>
          <p:nvPr/>
        </p:nvSpPr>
        <p:spPr bwMode="auto">
          <a:xfrm>
            <a:off x="6334125" y="1979613"/>
            <a:ext cx="90170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  slika  </a:t>
            </a:r>
            <a:endParaRPr lang="en-GB" altLang="en-US" sz="1800"/>
          </a:p>
        </p:txBody>
      </p:sp>
      <p:sp>
        <p:nvSpPr>
          <p:cNvPr id="39942" name="TextBox 17"/>
          <p:cNvSpPr txBox="1">
            <a:spLocks noChangeArrowheads="1"/>
          </p:cNvSpPr>
          <p:nvPr/>
        </p:nvSpPr>
        <p:spPr bwMode="auto">
          <a:xfrm>
            <a:off x="2160588" y="2052638"/>
            <a:ext cx="1287462"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  predmet  </a:t>
            </a:r>
            <a:endParaRPr lang="en-GB" altLang="en-US" sz="1800"/>
          </a:p>
        </p:txBody>
      </p:sp>
      <p:sp>
        <p:nvSpPr>
          <p:cNvPr id="39943"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39944"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16045EC-8695-4358-A039-F23A74807194}" type="slidenum">
              <a:rPr lang="en-GB" altLang="sl-SI" sz="1400" smtClean="0"/>
              <a:pPr>
                <a:spcBef>
                  <a:spcPct val="0"/>
                </a:spcBef>
                <a:buFontTx/>
                <a:buNone/>
              </a:pPr>
              <a:t>22</a:t>
            </a:fld>
            <a:endParaRPr lang="en-GB" altLang="sl-SI" sz="1400"/>
          </a:p>
        </p:txBody>
      </p:sp>
    </p:spTree>
  </p:cSld>
  <p:clrMapOvr>
    <a:masterClrMapping/>
  </p:clrMapOvr>
  <p:transition>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PROJEKCIJSKI MODEL</a:t>
            </a:r>
            <a:endParaRPr lang="en-GB" altLang="en-US" sz="2400" b="1"/>
          </a:p>
        </p:txBody>
      </p:sp>
      <p:sp>
        <p:nvSpPr>
          <p:cNvPr id="132099" name="Rectangle 3"/>
          <p:cNvSpPr>
            <a:spLocks noGrp="1" noChangeArrowheads="1"/>
          </p:cNvSpPr>
          <p:nvPr>
            <p:ph type="subTitle" idx="1"/>
          </p:nvPr>
        </p:nvSpPr>
        <p:spPr>
          <a:xfrm>
            <a:off x="827088" y="981075"/>
            <a:ext cx="7705725" cy="4824413"/>
          </a:xfrm>
        </p:spPr>
        <p:txBody>
          <a:bodyPr/>
          <a:lstStyle/>
          <a:p>
            <a:pPr marL="342900" indent="-342900" algn="l" eaLnBrk="1" hangingPunct="1">
              <a:lnSpc>
                <a:spcPct val="80000"/>
              </a:lnSpc>
              <a:spcBef>
                <a:spcPct val="35000"/>
              </a:spcBef>
              <a:buFontTx/>
              <a:buAutoNum type="arabicPeriod"/>
              <a:defRPr/>
            </a:pPr>
            <a:r>
              <a:rPr lang="sl-SI" sz="1800" b="1" dirty="0"/>
              <a:t>Koordinatni sistem</a:t>
            </a:r>
          </a:p>
          <a:p>
            <a:pPr marL="800100" lvl="1" indent="-342900" algn="l" eaLnBrk="1" hangingPunct="1">
              <a:lnSpc>
                <a:spcPct val="80000"/>
              </a:lnSpc>
              <a:spcBef>
                <a:spcPct val="35000"/>
              </a:spcBef>
              <a:buFont typeface="Arial" pitchFamily="34" charset="0"/>
              <a:buChar char="•"/>
              <a:defRPr/>
            </a:pPr>
            <a:r>
              <a:rPr lang="sl-SI" sz="1600" dirty="0"/>
              <a:t>Uporabimo model s točkovno odprtino (</a:t>
            </a:r>
            <a:r>
              <a:rPr lang="sl-SI" sz="1600" i="1" dirty="0" err="1"/>
              <a:t>pin</a:t>
            </a:r>
            <a:r>
              <a:rPr lang="sl-SI" sz="1600" i="1" dirty="0"/>
              <a:t>-</a:t>
            </a:r>
            <a:r>
              <a:rPr lang="sl-SI" sz="1600" i="1" dirty="0" err="1"/>
              <a:t>hole</a:t>
            </a:r>
            <a:r>
              <a:rPr lang="sl-SI" sz="1600" i="1" dirty="0"/>
              <a:t> model</a:t>
            </a:r>
            <a:r>
              <a:rPr lang="sl-SI" sz="1600" dirty="0"/>
              <a:t>)</a:t>
            </a:r>
          </a:p>
          <a:p>
            <a:pPr marL="800100" lvl="1" indent="-342900" algn="l" eaLnBrk="1" hangingPunct="1">
              <a:lnSpc>
                <a:spcPct val="80000"/>
              </a:lnSpc>
              <a:spcBef>
                <a:spcPct val="35000"/>
              </a:spcBef>
              <a:buFont typeface="Arial" pitchFamily="34" charset="0"/>
              <a:buChar char="•"/>
              <a:defRPr/>
            </a:pPr>
            <a:r>
              <a:rPr lang="sl-SI" sz="1600" dirty="0"/>
              <a:t>PS postavimo v koordinatno izhodišče</a:t>
            </a:r>
          </a:p>
          <a:p>
            <a:pPr marL="800100" lvl="1" indent="-342900" algn="l" eaLnBrk="1" hangingPunct="1">
              <a:lnSpc>
                <a:spcPct val="80000"/>
              </a:lnSpc>
              <a:spcBef>
                <a:spcPct val="35000"/>
              </a:spcBef>
              <a:buFont typeface="Arial" pitchFamily="34" charset="0"/>
              <a:buChar char="•"/>
              <a:defRPr/>
            </a:pPr>
            <a:r>
              <a:rPr lang="sl-SI" sz="1600" dirty="0"/>
              <a:t>Projekcijsko ravnino (PR) postavimo </a:t>
            </a:r>
            <a:r>
              <a:rPr lang="sl-SI" sz="1600" b="1" dirty="0"/>
              <a:t>pred</a:t>
            </a:r>
            <a:r>
              <a:rPr lang="sl-SI" sz="1600" dirty="0"/>
              <a:t> PS (na negativni del </a:t>
            </a:r>
            <a:r>
              <a:rPr lang="sl-SI" sz="1600" i="1" dirty="0"/>
              <a:t>z</a:t>
            </a:r>
            <a:r>
              <a:rPr lang="sl-SI" sz="1600" dirty="0"/>
              <a:t>-osi)</a:t>
            </a:r>
          </a:p>
          <a:p>
            <a:pPr marL="800100" lvl="1" indent="-342900" algn="l" eaLnBrk="1" hangingPunct="1">
              <a:lnSpc>
                <a:spcPct val="80000"/>
              </a:lnSpc>
              <a:spcBef>
                <a:spcPct val="35000"/>
              </a:spcBef>
              <a:buFont typeface="Arial" pitchFamily="34" charset="0"/>
              <a:buChar char="•"/>
              <a:defRPr/>
            </a:pPr>
            <a:r>
              <a:rPr lang="sl-SI" sz="1600" dirty="0"/>
              <a:t>Kamera gleda v negativno stran </a:t>
            </a:r>
            <a:r>
              <a:rPr lang="sl-SI" sz="1600" i="1" dirty="0"/>
              <a:t>z</a:t>
            </a:r>
            <a:r>
              <a:rPr lang="sl-SI" sz="1600" dirty="0"/>
              <a:t>-osi, kar pomeni, da je projekcija usmerjena proti pozitivnim </a:t>
            </a:r>
            <a:r>
              <a:rPr lang="sl-SI" sz="1600" i="1" dirty="0"/>
              <a:t>z </a:t>
            </a:r>
            <a:r>
              <a:rPr lang="sl-SI" sz="1600" dirty="0"/>
              <a:t>(desnosučni koordinatni sistem, </a:t>
            </a:r>
            <a:r>
              <a:rPr lang="sl-SI" sz="1600" i="1" dirty="0"/>
              <a:t>x</a:t>
            </a:r>
            <a:r>
              <a:rPr lang="sl-SI" sz="1600" dirty="0"/>
              <a:t>,</a:t>
            </a:r>
            <a:r>
              <a:rPr lang="sl-SI" sz="1600" i="1" dirty="0"/>
              <a:t>y</a:t>
            </a:r>
            <a:r>
              <a:rPr lang="sl-SI" sz="1600" dirty="0"/>
              <a:t> </a:t>
            </a:r>
            <a:r>
              <a:rPr lang="sl-SI" sz="1600" dirty="0">
                <a:sym typeface="Symbol"/>
              </a:rPr>
              <a:t> </a:t>
            </a:r>
            <a:r>
              <a:rPr lang="sl-SI" sz="1600" i="1" dirty="0">
                <a:sym typeface="Symbol"/>
              </a:rPr>
              <a:t>z</a:t>
            </a:r>
            <a:r>
              <a:rPr lang="sl-SI" sz="1600" dirty="0">
                <a:sym typeface="Symbol"/>
              </a:rPr>
              <a:t>)</a:t>
            </a:r>
          </a:p>
          <a:p>
            <a:pPr marL="269875" indent="-269875" algn="l" eaLnBrk="1" hangingPunct="1">
              <a:spcBef>
                <a:spcPct val="35000"/>
              </a:spcBef>
              <a:defRPr/>
            </a:pPr>
            <a:endParaRPr lang="sl-SI" sz="1800" dirty="0"/>
          </a:p>
        </p:txBody>
      </p:sp>
      <p:grpSp>
        <p:nvGrpSpPr>
          <p:cNvPr id="41988" name="Group 11"/>
          <p:cNvGrpSpPr>
            <a:grpSpLocks/>
          </p:cNvGrpSpPr>
          <p:nvPr/>
        </p:nvGrpSpPr>
        <p:grpSpPr bwMode="auto">
          <a:xfrm>
            <a:off x="2555875" y="2643188"/>
            <a:ext cx="4248150" cy="3548062"/>
            <a:chOff x="2555776" y="2642904"/>
            <a:chExt cx="4248472" cy="3548793"/>
          </a:xfrm>
        </p:grpSpPr>
        <p:pic>
          <p:nvPicPr>
            <p:cNvPr id="4199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2642904"/>
              <a:ext cx="4248472" cy="3548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2" name="TextBox 9"/>
            <p:cNvSpPr txBox="1">
              <a:spLocks noChangeArrowheads="1"/>
            </p:cNvSpPr>
            <p:nvPr/>
          </p:nvSpPr>
          <p:spPr bwMode="auto">
            <a:xfrm>
              <a:off x="5004048" y="2924944"/>
              <a:ext cx="468398"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PR</a:t>
              </a:r>
              <a:endParaRPr lang="en-GB" altLang="en-US" sz="1600"/>
            </a:p>
          </p:txBody>
        </p:sp>
        <p:sp>
          <p:nvSpPr>
            <p:cNvPr id="41993" name="TextBox 10"/>
            <p:cNvSpPr txBox="1">
              <a:spLocks noChangeArrowheads="1"/>
            </p:cNvSpPr>
            <p:nvPr/>
          </p:nvSpPr>
          <p:spPr bwMode="auto">
            <a:xfrm>
              <a:off x="3023482" y="4386590"/>
              <a:ext cx="572593"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 PS </a:t>
              </a:r>
              <a:endParaRPr lang="en-GB" altLang="en-US" sz="1600"/>
            </a:p>
          </p:txBody>
        </p:sp>
      </p:grpSp>
      <p:sp>
        <p:nvSpPr>
          <p:cNvPr id="41989"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41990"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9009AF4-274C-4ACC-AA37-C49570AD44D2}" type="slidenum">
              <a:rPr lang="en-GB" altLang="sl-SI" sz="1400" smtClean="0"/>
              <a:pPr>
                <a:spcBef>
                  <a:spcPct val="0"/>
                </a:spcBef>
                <a:buFontTx/>
                <a:buNone/>
              </a:pPr>
              <a:t>23</a:t>
            </a:fld>
            <a:endParaRPr lang="en-GB" altLang="sl-SI" sz="1400"/>
          </a:p>
        </p:txBody>
      </p:sp>
    </p:spTree>
  </p:cSld>
  <p:clrMapOvr>
    <a:masterClrMapping/>
  </p:clrMapOvr>
  <p:transition>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PROJEKCIJSKI MODEL (2)</a:t>
            </a:r>
            <a:endParaRPr lang="en-GB" altLang="en-US" sz="2400" b="1"/>
          </a:p>
        </p:txBody>
      </p:sp>
      <p:sp>
        <p:nvSpPr>
          <p:cNvPr id="44035" name="Rectangle 3"/>
          <p:cNvSpPr>
            <a:spLocks noGrp="1" noChangeArrowheads="1"/>
          </p:cNvSpPr>
          <p:nvPr>
            <p:ph type="subTitle" idx="1"/>
          </p:nvPr>
        </p:nvSpPr>
        <p:spPr>
          <a:xfrm>
            <a:off x="611188" y="981075"/>
            <a:ext cx="8208962" cy="4824413"/>
          </a:xfrm>
        </p:spPr>
        <p:txBody>
          <a:bodyPr/>
          <a:lstStyle/>
          <a:p>
            <a:pPr marL="269875" indent="-269875" algn="l" eaLnBrk="1" hangingPunct="1">
              <a:spcBef>
                <a:spcPct val="35000"/>
              </a:spcBef>
            </a:pPr>
            <a:endParaRPr lang="sl-SI" altLang="en-US" sz="1800"/>
          </a:p>
          <a:p>
            <a:pPr marL="269875" indent="-269875" algn="l" eaLnBrk="1" hangingPunct="1">
              <a:spcBef>
                <a:spcPct val="35000"/>
              </a:spcBef>
            </a:pPr>
            <a:endParaRPr lang="sl-SI" altLang="en-US" sz="1800"/>
          </a:p>
          <a:p>
            <a:pPr marL="269875" indent="-269875" algn="l" eaLnBrk="1" hangingPunct="1">
              <a:spcBef>
                <a:spcPct val="35000"/>
              </a:spcBef>
            </a:pPr>
            <a:endParaRPr lang="sl-SI" altLang="en-US" sz="1800"/>
          </a:p>
          <a:p>
            <a:pPr marL="269875" indent="-269875" algn="l" eaLnBrk="1" hangingPunct="1">
              <a:spcBef>
                <a:spcPct val="35000"/>
              </a:spcBef>
            </a:pPr>
            <a:endParaRPr lang="sl-SI" altLang="en-US" sz="1800"/>
          </a:p>
          <a:p>
            <a:pPr marL="269875" indent="-269875" algn="l" eaLnBrk="1" hangingPunct="1">
              <a:spcBef>
                <a:spcPct val="35000"/>
              </a:spcBef>
            </a:pPr>
            <a:endParaRPr lang="sl-SI" altLang="en-US" sz="1800"/>
          </a:p>
          <a:p>
            <a:pPr marL="269875" indent="-269875" algn="l" eaLnBrk="1" hangingPunct="1">
              <a:spcBef>
                <a:spcPct val="35000"/>
              </a:spcBef>
            </a:pPr>
            <a:endParaRPr lang="sl-SI" altLang="en-US" sz="1800"/>
          </a:p>
          <a:p>
            <a:pPr marL="269875" indent="-269875" algn="l" eaLnBrk="1" hangingPunct="1">
              <a:spcBef>
                <a:spcPct val="35000"/>
              </a:spcBef>
            </a:pPr>
            <a:endParaRPr lang="sl-SI" altLang="en-US" sz="1800"/>
          </a:p>
          <a:p>
            <a:pPr marL="269875" indent="-269875" algn="l" eaLnBrk="1" hangingPunct="1">
              <a:spcBef>
                <a:spcPct val="35000"/>
              </a:spcBef>
            </a:pPr>
            <a:endParaRPr lang="sl-SI" altLang="en-US" sz="1800"/>
          </a:p>
          <a:p>
            <a:pPr marL="269875" indent="-269875" algn="l" eaLnBrk="1" hangingPunct="1">
              <a:spcBef>
                <a:spcPct val="35000"/>
              </a:spcBef>
            </a:pPr>
            <a:endParaRPr lang="sl-SI" altLang="en-US" sz="1800"/>
          </a:p>
          <a:p>
            <a:pPr marL="269875" indent="-269875" algn="l" eaLnBrk="1" hangingPunct="1">
              <a:spcBef>
                <a:spcPct val="35000"/>
              </a:spcBef>
            </a:pPr>
            <a:r>
              <a:rPr lang="sl-SI" altLang="en-US" sz="1800"/>
              <a:t>2. </a:t>
            </a:r>
            <a:r>
              <a:rPr lang="sl-SI" altLang="en-US" sz="1800" b="1"/>
              <a:t>Projekcijske enačbe</a:t>
            </a:r>
            <a:endParaRPr lang="sl-SI" altLang="en-US" sz="1800"/>
          </a:p>
          <a:p>
            <a:pPr marL="727075" lvl="1" indent="-269875" algn="l" eaLnBrk="1" hangingPunct="1">
              <a:spcBef>
                <a:spcPct val="35000"/>
              </a:spcBef>
              <a:buFont typeface="Arial" panose="020B0604020202020204" pitchFamily="34" charset="0"/>
              <a:buChar char="•"/>
            </a:pPr>
            <a:r>
              <a:rPr lang="sl-SI" altLang="en-US" sz="1600"/>
              <a:t>Žarek iz opazovane točke (</a:t>
            </a:r>
            <a:r>
              <a:rPr lang="sl-SI" altLang="en-US" sz="1600" i="1"/>
              <a:t>x</a:t>
            </a:r>
            <a:r>
              <a:rPr lang="sl-SI" altLang="en-US" sz="1600"/>
              <a:t>, </a:t>
            </a:r>
            <a:r>
              <a:rPr lang="sl-SI" altLang="en-US" sz="1600" i="1"/>
              <a:t>y</a:t>
            </a:r>
            <a:r>
              <a:rPr lang="sl-SI" altLang="en-US" sz="1600"/>
              <a:t>, </a:t>
            </a:r>
            <a:r>
              <a:rPr lang="sl-SI" altLang="en-US" sz="1600" i="1"/>
              <a:t>z</a:t>
            </a:r>
            <a:r>
              <a:rPr lang="sl-SI" altLang="en-US" sz="1600"/>
              <a:t>) je usmerjen v PS – na PR dobimo točko:</a:t>
            </a:r>
          </a:p>
          <a:p>
            <a:pPr marL="727075" lvl="1" indent="-269875" algn="l" eaLnBrk="1" hangingPunct="1">
              <a:spcBef>
                <a:spcPct val="35000"/>
              </a:spcBef>
              <a:buFont typeface="Arial" panose="020B0604020202020204" pitchFamily="34" charset="0"/>
              <a:buChar char="•"/>
            </a:pPr>
            <a:endParaRPr lang="sl-SI" altLang="en-US" sz="1600" b="1"/>
          </a:p>
          <a:p>
            <a:pPr marL="727075" lvl="1" indent="-269875" algn="l" eaLnBrk="1" hangingPunct="1">
              <a:spcBef>
                <a:spcPts val="1200"/>
              </a:spcBef>
              <a:buFont typeface="Arial" panose="020B0604020202020204" pitchFamily="34" charset="0"/>
              <a:buChar char="•"/>
            </a:pPr>
            <a:r>
              <a:rPr lang="sl-SI" altLang="en-US" sz="1600"/>
              <a:t>Če se osredotočimo samo na PR (ne upoštevamo 3. dimenzije </a:t>
            </a:r>
            <a:r>
              <a:rPr lang="sl-SI" altLang="en-US" sz="1600" i="1"/>
              <a:t>z</a:t>
            </a:r>
            <a:r>
              <a:rPr lang="sl-SI" altLang="en-US" sz="1600"/>
              <a:t>): </a:t>
            </a:r>
          </a:p>
        </p:txBody>
      </p:sp>
      <p:grpSp>
        <p:nvGrpSpPr>
          <p:cNvPr id="44036" name="Group 11"/>
          <p:cNvGrpSpPr>
            <a:grpSpLocks/>
          </p:cNvGrpSpPr>
          <p:nvPr/>
        </p:nvGrpSpPr>
        <p:grpSpPr bwMode="auto">
          <a:xfrm>
            <a:off x="2339975" y="981075"/>
            <a:ext cx="4176713" cy="3240088"/>
            <a:chOff x="2555776" y="2642904"/>
            <a:chExt cx="4248472" cy="3548793"/>
          </a:xfrm>
        </p:grpSpPr>
        <p:pic>
          <p:nvPicPr>
            <p:cNvPr id="4404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776" y="2642904"/>
              <a:ext cx="4248472" cy="3548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2" name="TextBox 9"/>
            <p:cNvSpPr txBox="1">
              <a:spLocks noChangeArrowheads="1"/>
            </p:cNvSpPr>
            <p:nvPr/>
          </p:nvSpPr>
          <p:spPr bwMode="auto">
            <a:xfrm>
              <a:off x="5004048" y="2924944"/>
              <a:ext cx="468398"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PR</a:t>
              </a:r>
              <a:endParaRPr lang="en-GB" altLang="en-US" sz="1600"/>
            </a:p>
          </p:txBody>
        </p:sp>
        <p:sp>
          <p:nvSpPr>
            <p:cNvPr id="44043" name="TextBox 10"/>
            <p:cNvSpPr txBox="1">
              <a:spLocks noChangeArrowheads="1"/>
            </p:cNvSpPr>
            <p:nvPr/>
          </p:nvSpPr>
          <p:spPr bwMode="auto">
            <a:xfrm>
              <a:off x="3023482" y="4386590"/>
              <a:ext cx="582465" cy="37077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 PS </a:t>
              </a:r>
              <a:endParaRPr lang="en-GB" altLang="en-US" sz="1600"/>
            </a:p>
          </p:txBody>
        </p:sp>
      </p:grpSp>
      <p:pic>
        <p:nvPicPr>
          <p:cNvPr id="44037" name="Picture 16" descr="Edittex"/>
          <p:cNvPicPr>
            <a:picLocks noChangeAspect="1" noChangeArrowheads="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2114550" y="5003800"/>
            <a:ext cx="310515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18" descr="Edittex"/>
          <p:cNvPicPr>
            <a:picLocks noChangeAspect="1" noChangeArrowheads="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2124075" y="5681663"/>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9"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44040"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1A45D99-F92A-4037-8B80-A883C080D5C8}" type="slidenum">
              <a:rPr lang="en-GB" altLang="sl-SI" sz="1400" smtClean="0"/>
              <a:pPr>
                <a:spcBef>
                  <a:spcPct val="0"/>
                </a:spcBef>
                <a:buFontTx/>
                <a:buNone/>
              </a:pPr>
              <a:t>24</a:t>
            </a:fld>
            <a:endParaRPr lang="en-GB" altLang="sl-SI" sz="1400"/>
          </a:p>
        </p:txBody>
      </p:sp>
    </p:spTree>
  </p:cSld>
  <p:clrMapOvr>
    <a:masterClrMapping/>
  </p:clrMapOvr>
  <p:transition>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HOMOGENE KOORDINATE</a:t>
            </a:r>
            <a:endParaRPr lang="en-GB" altLang="en-US" sz="2400" b="1"/>
          </a:p>
        </p:txBody>
      </p:sp>
      <p:sp>
        <p:nvSpPr>
          <p:cNvPr id="132099" name="Rectangle 3"/>
          <p:cNvSpPr>
            <a:spLocks noGrp="1" noChangeArrowheads="1"/>
          </p:cNvSpPr>
          <p:nvPr>
            <p:ph type="subTitle" idx="1"/>
          </p:nvPr>
        </p:nvSpPr>
        <p:spPr>
          <a:xfrm>
            <a:off x="611188" y="981075"/>
            <a:ext cx="8208962" cy="4824413"/>
          </a:xfrm>
        </p:spPr>
        <p:txBody>
          <a:bodyPr/>
          <a:lstStyle/>
          <a:p>
            <a:pPr marL="269875" indent="-269875" algn="l" eaLnBrk="1" hangingPunct="1">
              <a:spcBef>
                <a:spcPct val="35000"/>
              </a:spcBef>
              <a:defRPr/>
            </a:pPr>
            <a:r>
              <a:rPr lang="sl-SI" sz="1800" b="1" dirty="0"/>
              <a:t>	Ali so projekcijske enačbe linearne?</a:t>
            </a:r>
            <a:endParaRPr lang="sl-SI" sz="1800" dirty="0"/>
          </a:p>
          <a:p>
            <a:pPr marL="727075" lvl="1" indent="-269875" algn="l" eaLnBrk="1" hangingPunct="1">
              <a:spcBef>
                <a:spcPct val="35000"/>
              </a:spcBef>
              <a:buFont typeface="Arial" charset="0"/>
              <a:buChar char="•"/>
              <a:defRPr/>
            </a:pPr>
            <a:r>
              <a:rPr lang="sl-SI" sz="1600" dirty="0"/>
              <a:t>Ne, ker deljenje z </a:t>
            </a:r>
            <a:r>
              <a:rPr lang="sl-SI" sz="1600" i="1" dirty="0" err="1"/>
              <a:t>z</a:t>
            </a:r>
            <a:r>
              <a:rPr lang="sl-SI" sz="1600" dirty="0"/>
              <a:t> vnaša nelinearnost.</a:t>
            </a:r>
          </a:p>
          <a:p>
            <a:pPr marL="342900" indent="-342900" algn="l" eaLnBrk="1" hangingPunct="1">
              <a:spcBef>
                <a:spcPct val="35000"/>
              </a:spcBef>
              <a:buFontTx/>
              <a:buAutoNum type="arabicPeriod" startAt="3"/>
              <a:defRPr/>
            </a:pPr>
            <a:r>
              <a:rPr lang="sl-SI" sz="1800" b="1" dirty="0"/>
              <a:t>Rešitev ponujajo homogene koordinate (dodana še ena koordinata):</a:t>
            </a:r>
          </a:p>
          <a:p>
            <a:pPr marL="342900" indent="-342900" algn="l" eaLnBrk="1" hangingPunct="1">
              <a:spcBef>
                <a:spcPct val="35000"/>
              </a:spcBef>
              <a:defRPr/>
            </a:pPr>
            <a:endParaRPr lang="sl-SI" sz="1800" b="1" dirty="0"/>
          </a:p>
          <a:p>
            <a:pPr marL="342900" indent="-342900" algn="l" eaLnBrk="1" hangingPunct="1">
              <a:spcBef>
                <a:spcPct val="35000"/>
              </a:spcBef>
              <a:defRPr/>
            </a:pPr>
            <a:endParaRPr lang="sl-SI" sz="1800" b="1" dirty="0"/>
          </a:p>
          <a:p>
            <a:pPr marL="342900" indent="-342900" algn="l" eaLnBrk="1" hangingPunct="1">
              <a:spcBef>
                <a:spcPct val="35000"/>
              </a:spcBef>
              <a:defRPr/>
            </a:pPr>
            <a:endParaRPr lang="sl-SI" sz="1800" b="1" dirty="0"/>
          </a:p>
          <a:p>
            <a:pPr marL="342900" indent="-342900" algn="l" eaLnBrk="1" hangingPunct="1">
              <a:spcBef>
                <a:spcPct val="35000"/>
              </a:spcBef>
              <a:defRPr/>
            </a:pPr>
            <a:endParaRPr lang="sl-SI" sz="1800" b="1" dirty="0"/>
          </a:p>
          <a:p>
            <a:pPr marL="342900" indent="-342900" algn="l" eaLnBrk="1" hangingPunct="1">
              <a:spcBef>
                <a:spcPct val="35000"/>
              </a:spcBef>
              <a:defRPr/>
            </a:pPr>
            <a:endParaRPr lang="sl-SI" sz="1800" b="1" dirty="0"/>
          </a:p>
          <a:p>
            <a:pPr marL="342900" indent="-342900" algn="l" eaLnBrk="1" hangingPunct="1">
              <a:spcBef>
                <a:spcPct val="35000"/>
              </a:spcBef>
              <a:defRPr/>
            </a:pPr>
            <a:r>
              <a:rPr lang="sl-SI" sz="1800" b="1" dirty="0"/>
              <a:t>	Preračun homogenih v nehomogene koordinate:</a:t>
            </a:r>
          </a:p>
          <a:p>
            <a:pPr marL="342900" indent="-342900" algn="l" eaLnBrk="1" hangingPunct="1">
              <a:spcBef>
                <a:spcPct val="35000"/>
              </a:spcBef>
              <a:defRPr/>
            </a:pPr>
            <a:endParaRPr lang="sl-SI" sz="1800" b="1" dirty="0"/>
          </a:p>
        </p:txBody>
      </p:sp>
      <p:grpSp>
        <p:nvGrpSpPr>
          <p:cNvPr id="46084" name="Group 19"/>
          <p:cNvGrpSpPr>
            <a:grpSpLocks/>
          </p:cNvGrpSpPr>
          <p:nvPr/>
        </p:nvGrpSpPr>
        <p:grpSpPr bwMode="auto">
          <a:xfrm>
            <a:off x="1589088" y="2133600"/>
            <a:ext cx="2406650" cy="1520825"/>
            <a:chOff x="1589089" y="2132856"/>
            <a:chExt cx="2406046" cy="1520879"/>
          </a:xfrm>
        </p:grpSpPr>
        <p:pic>
          <p:nvPicPr>
            <p:cNvPr id="46092" name="Picture 35" descr="Edittex"/>
            <p:cNvPicPr>
              <a:picLocks noChangeAspect="1" noChangeArrowheads="1"/>
            </p:cNvPicPr>
            <p:nvPr>
              <p:custDataLst>
                <p:tags r:id="rId4"/>
              </p:custDataLst>
            </p:nvPr>
          </p:nvPicPr>
          <p:blipFill>
            <a:blip r:embed="rId7">
              <a:extLst>
                <a:ext uri="{28A0092B-C50C-407E-A947-70E740481C1C}">
                  <a14:useLocalDpi xmlns:a14="http://schemas.microsoft.com/office/drawing/2010/main" val="0"/>
                </a:ext>
              </a:extLst>
            </a:blip>
            <a:srcRect/>
            <a:stretch>
              <a:fillRect/>
            </a:stretch>
          </p:blipFill>
          <p:spPr bwMode="auto">
            <a:xfrm>
              <a:off x="1589089" y="2132856"/>
              <a:ext cx="1601084" cy="899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3" name="TextBox 14"/>
            <p:cNvSpPr txBox="1">
              <a:spLocks noChangeArrowheads="1"/>
            </p:cNvSpPr>
            <p:nvPr/>
          </p:nvSpPr>
          <p:spPr bwMode="auto">
            <a:xfrm>
              <a:off x="1907704" y="3068960"/>
              <a:ext cx="20874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homogene ravninske</a:t>
              </a:r>
            </a:p>
            <a:p>
              <a:pPr eaLnBrk="1" hangingPunct="1">
                <a:spcBef>
                  <a:spcPct val="0"/>
                </a:spcBef>
                <a:buFontTx/>
                <a:buNone/>
              </a:pPr>
              <a:r>
                <a:rPr lang="sl-SI" altLang="en-US" sz="1600"/>
                <a:t>koordinate (2D)</a:t>
              </a:r>
              <a:endParaRPr lang="en-GB" altLang="en-US" sz="1600"/>
            </a:p>
          </p:txBody>
        </p:sp>
      </p:grpSp>
      <p:grpSp>
        <p:nvGrpSpPr>
          <p:cNvPr id="46085" name="Group 20"/>
          <p:cNvGrpSpPr>
            <a:grpSpLocks/>
          </p:cNvGrpSpPr>
          <p:nvPr/>
        </p:nvGrpSpPr>
        <p:grpSpPr bwMode="auto">
          <a:xfrm>
            <a:off x="5122863" y="2060575"/>
            <a:ext cx="2843212" cy="1728788"/>
            <a:chOff x="5122863" y="2060848"/>
            <a:chExt cx="2843258" cy="1728192"/>
          </a:xfrm>
        </p:grpSpPr>
        <p:pic>
          <p:nvPicPr>
            <p:cNvPr id="46090" name="Picture 43" descr="Edittex"/>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5122863" y="2060848"/>
              <a:ext cx="1766523" cy="110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1" name="TextBox 15"/>
            <p:cNvSpPr txBox="1">
              <a:spLocks noChangeArrowheads="1"/>
            </p:cNvSpPr>
            <p:nvPr/>
          </p:nvSpPr>
          <p:spPr bwMode="auto">
            <a:xfrm>
              <a:off x="5796937" y="3204265"/>
              <a:ext cx="21691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homogene prostorske</a:t>
              </a:r>
            </a:p>
            <a:p>
              <a:pPr eaLnBrk="1" hangingPunct="1">
                <a:spcBef>
                  <a:spcPct val="0"/>
                </a:spcBef>
                <a:buFontTx/>
                <a:buNone/>
              </a:pPr>
              <a:r>
                <a:rPr lang="sl-SI" altLang="en-US" sz="1600"/>
                <a:t>koordinate (3D)</a:t>
              </a:r>
              <a:endParaRPr lang="en-GB" altLang="en-US" sz="1600"/>
            </a:p>
          </p:txBody>
        </p:sp>
      </p:grpSp>
      <p:pic>
        <p:nvPicPr>
          <p:cNvPr id="46086" name="Picture 39" descr="Edittex"/>
          <p:cNvPicPr>
            <a:picLocks noChangeAspect="1" noChangeArrowheads="1"/>
          </p:cNvPicPr>
          <p:nvPr>
            <p:custDataLst>
              <p:tags r:id="rId1"/>
            </p:custDataLst>
          </p:nvPr>
        </p:nvPicPr>
        <p:blipFill>
          <a:blip r:embed="rId9">
            <a:extLst>
              <a:ext uri="{28A0092B-C50C-407E-A947-70E740481C1C}">
                <a14:useLocalDpi xmlns:a14="http://schemas.microsoft.com/office/drawing/2010/main" val="0"/>
              </a:ext>
            </a:extLst>
          </a:blip>
          <a:srcRect/>
          <a:stretch>
            <a:fillRect/>
          </a:stretch>
        </p:blipFill>
        <p:spPr bwMode="auto">
          <a:xfrm>
            <a:off x="1201738" y="4425950"/>
            <a:ext cx="2217737"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7" name="Picture 41" descr="Edittex"/>
          <p:cNvPicPr>
            <a:picLocks noChangeAspect="1" noChangeArrowheads="1"/>
          </p:cNvPicPr>
          <p:nvPr>
            <p:custDataLst>
              <p:tags r:id="rId2"/>
            </p:custDataLst>
          </p:nvPr>
        </p:nvPicPr>
        <p:blipFill>
          <a:blip r:embed="rId10">
            <a:extLst>
              <a:ext uri="{28A0092B-C50C-407E-A947-70E740481C1C}">
                <a14:useLocalDpi xmlns:a14="http://schemas.microsoft.com/office/drawing/2010/main" val="0"/>
              </a:ext>
            </a:extLst>
          </a:blip>
          <a:srcRect/>
          <a:stretch>
            <a:fillRect/>
          </a:stretch>
        </p:blipFill>
        <p:spPr bwMode="auto">
          <a:xfrm>
            <a:off x="4743450" y="4313238"/>
            <a:ext cx="2852738" cy="114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8" name="Ograda noge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46089" name="Ograda številke diapozitiva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2AF1178-63EA-4649-ABF9-4C303304F0FF}" type="slidenum">
              <a:rPr lang="en-GB" altLang="sl-SI" sz="1400" smtClean="0"/>
              <a:pPr>
                <a:spcBef>
                  <a:spcPct val="0"/>
                </a:spcBef>
                <a:buFontTx/>
                <a:buNone/>
              </a:pPr>
              <a:t>25</a:t>
            </a:fld>
            <a:endParaRPr lang="en-GB" altLang="sl-SI" sz="1400"/>
          </a:p>
        </p:txBody>
      </p:sp>
    </p:spTree>
  </p:cSld>
  <p:clrMapOvr>
    <a:masterClrMapping/>
  </p:clrMapOvr>
  <p:transition>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PERSPEKTIVNA PROJEKCIJA</a:t>
            </a:r>
            <a:endParaRPr lang="en-GB" altLang="en-US" sz="2400" b="1"/>
          </a:p>
        </p:txBody>
      </p:sp>
      <p:sp>
        <p:nvSpPr>
          <p:cNvPr id="48131" name="Rectangle 3"/>
          <p:cNvSpPr>
            <a:spLocks noGrp="1" noChangeArrowheads="1"/>
          </p:cNvSpPr>
          <p:nvPr>
            <p:ph type="subTitle" idx="1"/>
          </p:nvPr>
        </p:nvSpPr>
        <p:spPr>
          <a:xfrm>
            <a:off x="611188" y="981075"/>
            <a:ext cx="8208962" cy="4824413"/>
          </a:xfrm>
        </p:spPr>
        <p:txBody>
          <a:bodyPr/>
          <a:lstStyle/>
          <a:p>
            <a:pPr marL="342900" indent="-342900" algn="l" eaLnBrk="1" hangingPunct="1">
              <a:spcBef>
                <a:spcPct val="35000"/>
              </a:spcBef>
              <a:buFontTx/>
              <a:buAutoNum type="arabicPeriod" startAt="4"/>
            </a:pPr>
            <a:r>
              <a:rPr lang="sl-SI" altLang="en-US" sz="1800" b="1"/>
              <a:t>Homogene koordinate omogočajo, da opišemo projekcijo z matriko:</a:t>
            </a:r>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buFontTx/>
              <a:buAutoNum type="arabicPeriod" startAt="4"/>
            </a:pPr>
            <a:endParaRPr lang="sl-SI" altLang="en-US" sz="1800" b="1"/>
          </a:p>
          <a:p>
            <a:pPr marL="727075" lvl="1" indent="-269875" algn="l" eaLnBrk="1" hangingPunct="1">
              <a:spcBef>
                <a:spcPct val="35000"/>
              </a:spcBef>
            </a:pPr>
            <a:endParaRPr lang="sl-SI" altLang="en-US" sz="1600"/>
          </a:p>
          <a:p>
            <a:pPr marL="342900" indent="-342900" algn="l" eaLnBrk="1" hangingPunct="1">
              <a:spcBef>
                <a:spcPct val="35000"/>
              </a:spcBef>
            </a:pPr>
            <a:r>
              <a:rPr lang="sl-SI" altLang="en-US" sz="1800" b="1"/>
              <a:t>Prišli smo do projekcijske matrike, ki jo lahko zapišemo še drugače:</a:t>
            </a:r>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r>
              <a:rPr lang="sl-SI" altLang="en-US" sz="1800" b="1"/>
              <a:t>	</a:t>
            </a:r>
          </a:p>
          <a:p>
            <a:pPr marL="342900" indent="-342900" algn="l" eaLnBrk="1" hangingPunct="1">
              <a:spcBef>
                <a:spcPct val="35000"/>
              </a:spcBef>
            </a:pPr>
            <a:endParaRPr lang="sl-SI" altLang="en-US" sz="1800" b="1"/>
          </a:p>
        </p:txBody>
      </p:sp>
      <p:grpSp>
        <p:nvGrpSpPr>
          <p:cNvPr id="48132" name="Group 28"/>
          <p:cNvGrpSpPr>
            <a:grpSpLocks/>
          </p:cNvGrpSpPr>
          <p:nvPr/>
        </p:nvGrpSpPr>
        <p:grpSpPr bwMode="auto">
          <a:xfrm>
            <a:off x="1095375" y="1341438"/>
            <a:ext cx="6572250" cy="1670050"/>
            <a:chOff x="1094879" y="1340768"/>
            <a:chExt cx="7221537" cy="1670051"/>
          </a:xfrm>
        </p:grpSpPr>
        <p:grpSp>
          <p:nvGrpSpPr>
            <p:cNvPr id="48143" name="Group 15"/>
            <p:cNvGrpSpPr>
              <a:grpSpLocks/>
            </p:cNvGrpSpPr>
            <p:nvPr/>
          </p:nvGrpSpPr>
          <p:grpSpPr bwMode="auto">
            <a:xfrm>
              <a:off x="5001716" y="1720181"/>
              <a:ext cx="3314700" cy="1290638"/>
              <a:chOff x="2832" y="1392"/>
              <a:chExt cx="2088" cy="813"/>
            </a:xfrm>
          </p:grpSpPr>
          <p:sp>
            <p:nvSpPr>
              <p:cNvPr id="48146" name="Text Box 7"/>
              <p:cNvSpPr txBox="1">
                <a:spLocks noChangeArrowheads="1"/>
              </p:cNvSpPr>
              <p:nvPr/>
            </p:nvSpPr>
            <p:spPr bwMode="auto">
              <a:xfrm>
                <a:off x="2832" y="1992"/>
                <a:ext cx="171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delimo s tretjo koordinato</a:t>
                </a:r>
                <a:endParaRPr lang="en-US" altLang="en-US" sz="1600"/>
              </a:p>
            </p:txBody>
          </p:sp>
          <p:pic>
            <p:nvPicPr>
              <p:cNvPr id="48147" name="Picture 14" descr="Edittex"/>
              <p:cNvPicPr>
                <a:picLocks noChangeAspect="1" noChangeArrowheads="1"/>
              </p:cNvPicPr>
              <p:nvPr>
                <p:custDataLst>
                  <p:tags r:id="rId6"/>
                </p:custDataLst>
              </p:nvPr>
            </p:nvPicPr>
            <p:blipFill>
              <a:blip r:embed="rId9">
                <a:extLst>
                  <a:ext uri="{28A0092B-C50C-407E-A947-70E740481C1C}">
                    <a14:useLocalDpi xmlns:a14="http://schemas.microsoft.com/office/drawing/2010/main" val="0"/>
                  </a:ext>
                </a:extLst>
              </a:blip>
              <a:srcRect/>
              <a:stretch>
                <a:fillRect/>
              </a:stretch>
            </p:blipFill>
            <p:spPr bwMode="auto">
              <a:xfrm>
                <a:off x="3552" y="1392"/>
                <a:ext cx="136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8144" name="Picture 16" descr="Edittex"/>
            <p:cNvPicPr>
              <a:picLocks noChangeAspect="1" noChangeArrowheads="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1094879" y="1340768"/>
              <a:ext cx="3095625"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5" name="Picture 17" descr="Edittex"/>
            <p:cNvPicPr>
              <a:picLocks noChangeAspect="1" noChangeArrowheads="1"/>
            </p:cNvPicPr>
            <p:nvPr>
              <p:custDataLst>
                <p:tags r:id="rId5"/>
              </p:custDataLst>
            </p:nvPr>
          </p:nvPicPr>
          <p:blipFill>
            <a:blip r:embed="rId11">
              <a:extLst>
                <a:ext uri="{28A0092B-C50C-407E-A947-70E740481C1C}">
                  <a14:useLocalDpi xmlns:a14="http://schemas.microsoft.com/office/drawing/2010/main" val="0"/>
                </a:ext>
              </a:extLst>
            </a:blip>
            <a:srcRect/>
            <a:stretch>
              <a:fillRect/>
            </a:stretch>
          </p:blipFill>
          <p:spPr bwMode="auto">
            <a:xfrm>
              <a:off x="4450854" y="1491580"/>
              <a:ext cx="1503362"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133" name="Skupina 4"/>
          <p:cNvGrpSpPr>
            <a:grpSpLocks/>
          </p:cNvGrpSpPr>
          <p:nvPr/>
        </p:nvGrpSpPr>
        <p:grpSpPr bwMode="auto">
          <a:xfrm>
            <a:off x="1114425" y="3573463"/>
            <a:ext cx="7972425" cy="1692275"/>
            <a:chOff x="1114425" y="3573463"/>
            <a:chExt cx="7973088" cy="1692275"/>
          </a:xfrm>
        </p:grpSpPr>
        <p:grpSp>
          <p:nvGrpSpPr>
            <p:cNvPr id="48136" name="Group 29"/>
            <p:cNvGrpSpPr>
              <a:grpSpLocks/>
            </p:cNvGrpSpPr>
            <p:nvPr/>
          </p:nvGrpSpPr>
          <p:grpSpPr bwMode="auto">
            <a:xfrm>
              <a:off x="1114425" y="3573463"/>
              <a:ext cx="6553200" cy="1692275"/>
              <a:chOff x="1113929" y="3533260"/>
              <a:chExt cx="7202487" cy="1662114"/>
            </a:xfrm>
          </p:grpSpPr>
          <p:pic>
            <p:nvPicPr>
              <p:cNvPr id="48138" name="Picture 23" descr="Edittex"/>
              <p:cNvPicPr>
                <a:picLocks noChangeAspect="1" noChangeArrowheads="1"/>
              </p:cNvPicPr>
              <p:nvPr>
                <p:custDataLst>
                  <p:tags r:id="rId1"/>
                </p:custDataLst>
              </p:nvPr>
            </p:nvPicPr>
            <p:blipFill>
              <a:blip r:embed="rId12">
                <a:extLst>
                  <a:ext uri="{28A0092B-C50C-407E-A947-70E740481C1C}">
                    <a14:useLocalDpi xmlns:a14="http://schemas.microsoft.com/office/drawing/2010/main" val="0"/>
                  </a:ext>
                </a:extLst>
              </a:blip>
              <a:srcRect/>
              <a:stretch>
                <a:fillRect/>
              </a:stretch>
            </p:blipFill>
            <p:spPr bwMode="auto">
              <a:xfrm>
                <a:off x="4487366" y="3544373"/>
                <a:ext cx="1503363"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9" name="Picture 24" descr="Edittex"/>
              <p:cNvPicPr>
                <a:picLocks noChangeAspect="1" noChangeArrowheads="1"/>
              </p:cNvPicPr>
              <p:nvPr>
                <p:custDataLst>
                  <p:tags r:id="rId2"/>
                </p:custDataLst>
              </p:nvPr>
            </p:nvPicPr>
            <p:blipFill>
              <a:blip r:embed="rId13">
                <a:extLst>
                  <a:ext uri="{28A0092B-C50C-407E-A947-70E740481C1C}">
                    <a14:useLocalDpi xmlns:a14="http://schemas.microsoft.com/office/drawing/2010/main" val="0"/>
                  </a:ext>
                </a:extLst>
              </a:blip>
              <a:srcRect/>
              <a:stretch>
                <a:fillRect/>
              </a:stretch>
            </p:blipFill>
            <p:spPr bwMode="auto">
              <a:xfrm>
                <a:off x="1113929" y="3533260"/>
                <a:ext cx="3095625" cy="13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8140" name="Group 25"/>
              <p:cNvGrpSpPr>
                <a:grpSpLocks/>
              </p:cNvGrpSpPr>
              <p:nvPr/>
            </p:nvGrpSpPr>
            <p:grpSpPr bwMode="auto">
              <a:xfrm>
                <a:off x="5001716" y="3911086"/>
                <a:ext cx="3314700" cy="1284288"/>
                <a:chOff x="2832" y="1392"/>
                <a:chExt cx="2088" cy="809"/>
              </a:xfrm>
            </p:grpSpPr>
            <p:sp>
              <p:nvSpPr>
                <p:cNvPr id="48141" name="Text Box 26"/>
                <p:cNvSpPr txBox="1">
                  <a:spLocks noChangeArrowheads="1"/>
                </p:cNvSpPr>
                <p:nvPr/>
              </p:nvSpPr>
              <p:spPr bwMode="auto">
                <a:xfrm>
                  <a:off x="2832" y="1992"/>
                  <a:ext cx="175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delimo s četrto koordinato</a:t>
                  </a:r>
                  <a:endParaRPr lang="en-US" altLang="en-US" sz="1600"/>
                </a:p>
              </p:txBody>
            </p:sp>
            <p:pic>
              <p:nvPicPr>
                <p:cNvPr id="48142" name="Picture 27" descr="Edittex"/>
                <p:cNvPicPr>
                  <a:picLocks noChangeAspect="1" noChangeArrowheads="1"/>
                </p:cNvPicPr>
                <p:nvPr>
                  <p:custDataLst>
                    <p:tags r:id="rId3"/>
                  </p:custDataLst>
                </p:nvPr>
              </p:nvPicPr>
              <p:blipFill>
                <a:blip r:embed="rId14">
                  <a:extLst>
                    <a:ext uri="{28A0092B-C50C-407E-A947-70E740481C1C}">
                      <a14:useLocalDpi xmlns:a14="http://schemas.microsoft.com/office/drawing/2010/main" val="0"/>
                    </a:ext>
                  </a:extLst>
                </a:blip>
                <a:srcRect/>
                <a:stretch>
                  <a:fillRect/>
                </a:stretch>
              </p:blipFill>
              <p:spPr bwMode="auto">
                <a:xfrm>
                  <a:off x="3552" y="1392"/>
                  <a:ext cx="136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48137" name="PoljeZBesedilom 2"/>
            <p:cNvSpPr txBox="1">
              <a:spLocks noChangeArrowheads="1"/>
            </p:cNvSpPr>
            <p:nvPr/>
          </p:nvSpPr>
          <p:spPr bwMode="auto">
            <a:xfrm>
              <a:off x="7694183" y="4060373"/>
              <a:ext cx="1393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solidFill>
                    <a:srgbClr val="FF0000"/>
                  </a:solidFill>
                  <a:sym typeface="Symbol" panose="05050102010706020507" pitchFamily="18" charset="2"/>
                </a:rPr>
                <a:t> </a:t>
              </a:r>
              <a:r>
                <a:rPr lang="sl-SI" altLang="en-US" sz="1200">
                  <a:solidFill>
                    <a:srgbClr val="FF0000"/>
                  </a:solidFill>
                </a:rPr>
                <a:t>gledano na PR</a:t>
              </a:r>
            </a:p>
          </p:txBody>
        </p:sp>
      </p:grpSp>
      <p:sp>
        <p:nvSpPr>
          <p:cNvPr id="48134"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48135" name="Ograda številke diapozitiva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B25A75B-B88C-40E7-B291-4207951BB014}" type="slidenum">
              <a:rPr lang="en-GB" altLang="sl-SI" sz="1400" smtClean="0"/>
              <a:pPr>
                <a:spcBef>
                  <a:spcPct val="0"/>
                </a:spcBef>
                <a:buFontTx/>
                <a:buNone/>
              </a:pPr>
              <a:t>26</a:t>
            </a:fld>
            <a:endParaRPr lang="en-GB" altLang="sl-SI" sz="1400"/>
          </a:p>
        </p:txBody>
      </p:sp>
    </p:spTree>
  </p:cSld>
  <p:clrMapOvr>
    <a:masterClrMapping/>
  </p:clrMapOvr>
  <p:transition>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PERSPEKTIVNA PROJEKCIJA (2)</a:t>
            </a:r>
            <a:endParaRPr lang="en-GB" altLang="en-US" sz="2400" b="1"/>
          </a:p>
        </p:txBody>
      </p:sp>
      <p:sp>
        <p:nvSpPr>
          <p:cNvPr id="50179" name="Rectangle 3"/>
          <p:cNvSpPr>
            <a:spLocks noGrp="1" noChangeArrowheads="1"/>
          </p:cNvSpPr>
          <p:nvPr>
            <p:ph type="subTitle" idx="1"/>
          </p:nvPr>
        </p:nvSpPr>
        <p:spPr>
          <a:xfrm>
            <a:off x="611188" y="981075"/>
            <a:ext cx="7632700" cy="5111750"/>
          </a:xfrm>
        </p:spPr>
        <p:txBody>
          <a:bodyPr/>
          <a:lstStyle/>
          <a:p>
            <a:pPr marL="342900" indent="-342900" algn="l" eaLnBrk="1" hangingPunct="1">
              <a:spcBef>
                <a:spcPct val="35000"/>
              </a:spcBef>
            </a:pPr>
            <a:r>
              <a:rPr lang="sl-SI" altLang="en-US" sz="1800" b="1"/>
              <a:t>Spreminjanje skale (povečava) ne vpliva na perspektivno projekcijo – je zanjo invariantna:</a:t>
            </a:r>
          </a:p>
          <a:p>
            <a:pPr marL="342900" indent="-342900" algn="l" eaLnBrk="1" hangingPunct="1">
              <a:spcBef>
                <a:spcPct val="0"/>
              </a:spcBef>
            </a:pPr>
            <a:r>
              <a:rPr lang="sl-SI" altLang="en-US" sz="1800" b="1"/>
              <a:t>	</a:t>
            </a:r>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r>
              <a:rPr lang="sl-SI" altLang="en-US" sz="1800" b="1"/>
              <a:t>Projekcijsko matriko množimo z –</a:t>
            </a:r>
            <a:r>
              <a:rPr lang="sl-SI" altLang="en-US" sz="1800" b="1" i="1"/>
              <a:t>d</a:t>
            </a:r>
            <a:r>
              <a:rPr lang="sl-SI" altLang="en-US" sz="1800" b="1"/>
              <a:t>: </a:t>
            </a:r>
          </a:p>
          <a:p>
            <a:pPr marL="342900" indent="-342900" algn="l" eaLnBrk="1" hangingPunct="1">
              <a:spcBef>
                <a:spcPct val="0"/>
              </a:spcBef>
            </a:pPr>
            <a:r>
              <a:rPr lang="sl-SI" altLang="en-US" sz="1600"/>
              <a:t>– predmet in njegovo razdaljo od projekcijske ravnine hkrati spremenimo za enak faktor, recimo (</a:t>
            </a:r>
            <a:r>
              <a:rPr lang="sl-SI" altLang="en-US" sz="1600" i="1"/>
              <a:t>d∙x</a:t>
            </a:r>
            <a:r>
              <a:rPr lang="sl-SI" altLang="en-US" sz="1600"/>
              <a:t>, </a:t>
            </a:r>
            <a:r>
              <a:rPr lang="sl-SI" altLang="en-US" sz="1600" i="1"/>
              <a:t>d∙y</a:t>
            </a:r>
            <a:r>
              <a:rPr lang="sl-SI" altLang="en-US" sz="1600"/>
              <a:t>, </a:t>
            </a:r>
            <a:r>
              <a:rPr lang="sl-SI" altLang="en-US" sz="1600" i="1"/>
              <a:t>d∙z</a:t>
            </a:r>
            <a:r>
              <a:rPr lang="sl-SI" altLang="en-US" sz="1600"/>
              <a:t>):</a:t>
            </a:r>
            <a:endParaRPr lang="sl-SI" altLang="en-US" sz="16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buFontTx/>
              <a:buChar char="•"/>
            </a:pPr>
            <a:r>
              <a:rPr lang="sl-SI" altLang="en-US" sz="1600"/>
              <a:t>To potrjuje znano dejstvo, da so večji, a bolj oddaljeni predmeti videti manjši kot bližnji, a v resnici manjši predmeti.</a:t>
            </a:r>
          </a:p>
          <a:p>
            <a:pPr marL="342900" indent="-342900" algn="l" eaLnBrk="1" hangingPunct="1">
              <a:spcBef>
                <a:spcPct val="35000"/>
              </a:spcBef>
            </a:pPr>
            <a:r>
              <a:rPr lang="sl-SI" altLang="en-US" sz="1800" b="1"/>
              <a:t>	</a:t>
            </a:r>
          </a:p>
          <a:p>
            <a:pPr marL="342900" indent="-342900" algn="l" eaLnBrk="1" hangingPunct="1">
              <a:spcBef>
                <a:spcPct val="35000"/>
              </a:spcBef>
            </a:pPr>
            <a:endParaRPr lang="sl-SI" altLang="en-US" sz="1800" b="1"/>
          </a:p>
        </p:txBody>
      </p:sp>
      <p:grpSp>
        <p:nvGrpSpPr>
          <p:cNvPr id="50180" name="Group 28"/>
          <p:cNvGrpSpPr>
            <a:grpSpLocks/>
          </p:cNvGrpSpPr>
          <p:nvPr/>
        </p:nvGrpSpPr>
        <p:grpSpPr bwMode="auto">
          <a:xfrm>
            <a:off x="1042988" y="1628775"/>
            <a:ext cx="6553200" cy="1247775"/>
            <a:chOff x="1094879" y="1340768"/>
            <a:chExt cx="7221537" cy="1319212"/>
          </a:xfrm>
        </p:grpSpPr>
        <p:pic>
          <p:nvPicPr>
            <p:cNvPr id="50188" name="Picture 14" descr="Edittex"/>
            <p:cNvPicPr>
              <a:picLocks noChangeAspect="1" noChangeArrowheads="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6144716" y="1720180"/>
              <a:ext cx="21717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9" name="Picture 16" descr="Edittex"/>
            <p:cNvPicPr>
              <a:picLocks noChangeAspect="1" noChangeArrowheads="1"/>
            </p:cNvPicPr>
            <p:nvPr>
              <p:custDataLst>
                <p:tags r:id="rId5"/>
              </p:custDataLst>
            </p:nvPr>
          </p:nvPicPr>
          <p:blipFill>
            <a:blip r:embed="rId10">
              <a:extLst>
                <a:ext uri="{28A0092B-C50C-407E-A947-70E740481C1C}">
                  <a14:useLocalDpi xmlns:a14="http://schemas.microsoft.com/office/drawing/2010/main" val="0"/>
                </a:ext>
              </a:extLst>
            </a:blip>
            <a:srcRect/>
            <a:stretch>
              <a:fillRect/>
            </a:stretch>
          </p:blipFill>
          <p:spPr bwMode="auto">
            <a:xfrm>
              <a:off x="1094879" y="1340768"/>
              <a:ext cx="3095625"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90" name="Picture 17" descr="Edittex"/>
            <p:cNvPicPr>
              <a:picLocks noChangeAspect="1" noChangeArrowheads="1"/>
            </p:cNvPicPr>
            <p:nvPr>
              <p:custDataLst>
                <p:tags r:id="rId6"/>
              </p:custDataLst>
            </p:nvPr>
          </p:nvPicPr>
          <p:blipFill>
            <a:blip r:embed="rId11">
              <a:extLst>
                <a:ext uri="{28A0092B-C50C-407E-A947-70E740481C1C}">
                  <a14:useLocalDpi xmlns:a14="http://schemas.microsoft.com/office/drawing/2010/main" val="0"/>
                </a:ext>
              </a:extLst>
            </a:blip>
            <a:srcRect/>
            <a:stretch>
              <a:fillRect/>
            </a:stretch>
          </p:blipFill>
          <p:spPr bwMode="auto">
            <a:xfrm>
              <a:off x="4450854" y="1491580"/>
              <a:ext cx="1503362"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0181" name="Group 28"/>
          <p:cNvGrpSpPr>
            <a:grpSpLocks/>
          </p:cNvGrpSpPr>
          <p:nvPr/>
        </p:nvGrpSpPr>
        <p:grpSpPr bwMode="auto">
          <a:xfrm>
            <a:off x="1131888" y="3910013"/>
            <a:ext cx="6464300" cy="1319212"/>
            <a:chOff x="1131888" y="3212976"/>
            <a:chExt cx="7097712" cy="1319213"/>
          </a:xfrm>
        </p:grpSpPr>
        <p:pic>
          <p:nvPicPr>
            <p:cNvPr id="50185" name="Picture 17" descr="Edittex"/>
            <p:cNvPicPr>
              <a:picLocks noChangeAspect="1" noChangeArrowheads="1"/>
            </p:cNvPicPr>
            <p:nvPr>
              <p:custDataLst>
                <p:tags r:id="rId1"/>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6057900" y="3590801"/>
              <a:ext cx="21717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6" name="Picture 20" descr="Edittex"/>
            <p:cNvPicPr>
              <a:picLocks noChangeAspect="1" noChangeArrowheads="1"/>
            </p:cNvPicPr>
            <p:nvPr>
              <p:custDataLst>
                <p:tags r:id="rId2"/>
              </p:custDataLst>
            </p:nvPr>
          </p:nvPicPr>
          <p:blipFill>
            <a:blip r:embed="rId13">
              <a:extLst>
                <a:ext uri="{28A0092B-C50C-407E-A947-70E740481C1C}">
                  <a14:useLocalDpi xmlns:a14="http://schemas.microsoft.com/office/drawing/2010/main" val="0"/>
                </a:ext>
              </a:extLst>
            </a:blip>
            <a:srcRect/>
            <a:stretch>
              <a:fillRect/>
            </a:stretch>
          </p:blipFill>
          <p:spPr bwMode="auto">
            <a:xfrm>
              <a:off x="1131888" y="3212976"/>
              <a:ext cx="2982912" cy="13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7" name="Picture 21" descr="Edittex"/>
            <p:cNvPicPr>
              <a:picLocks noChangeAspect="1" noChangeArrowheads="1"/>
            </p:cNvPicPr>
            <p:nvPr>
              <p:custDataLst>
                <p:tags r:id="rId3"/>
              </p:custDataLst>
            </p:nvPr>
          </p:nvPicPr>
          <p:blipFill>
            <a:blip r:embed="rId14">
              <a:extLst>
                <a:ext uri="{28A0092B-C50C-407E-A947-70E740481C1C}">
                  <a14:useLocalDpi xmlns:a14="http://schemas.microsoft.com/office/drawing/2010/main" val="0"/>
                </a:ext>
              </a:extLst>
            </a:blip>
            <a:srcRect/>
            <a:stretch>
              <a:fillRect/>
            </a:stretch>
          </p:blipFill>
          <p:spPr bwMode="auto">
            <a:xfrm>
              <a:off x="4424363" y="3365376"/>
              <a:ext cx="137795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3" name="Freeform 32"/>
          <p:cNvSpPr/>
          <p:nvPr/>
        </p:nvSpPr>
        <p:spPr>
          <a:xfrm>
            <a:off x="7740650" y="2565400"/>
            <a:ext cx="431800" cy="1800225"/>
          </a:xfrm>
          <a:custGeom>
            <a:avLst/>
            <a:gdLst>
              <a:gd name="connsiteX0" fmla="*/ 119270 w 437322"/>
              <a:gd name="connsiteY0" fmla="*/ 1789044 h 1789044"/>
              <a:gd name="connsiteX1" fmla="*/ 417444 w 437322"/>
              <a:gd name="connsiteY1" fmla="*/ 914400 h 1789044"/>
              <a:gd name="connsiteX2" fmla="*/ 0 w 437322"/>
              <a:gd name="connsiteY2" fmla="*/ 0 h 1789044"/>
            </a:gdLst>
            <a:ahLst/>
            <a:cxnLst>
              <a:cxn ang="0">
                <a:pos x="connsiteX0" y="connsiteY0"/>
              </a:cxn>
              <a:cxn ang="0">
                <a:pos x="connsiteX1" y="connsiteY1"/>
              </a:cxn>
              <a:cxn ang="0">
                <a:pos x="connsiteX2" y="connsiteY2"/>
              </a:cxn>
            </a:cxnLst>
            <a:rect l="l" t="t" r="r" b="b"/>
            <a:pathLst>
              <a:path w="437322" h="1789044">
                <a:moveTo>
                  <a:pt x="119270" y="1789044"/>
                </a:moveTo>
                <a:cubicBezTo>
                  <a:pt x="278296" y="1500809"/>
                  <a:pt x="437322" y="1212574"/>
                  <a:pt x="417444" y="914400"/>
                </a:cubicBezTo>
                <a:cubicBezTo>
                  <a:pt x="397566" y="616226"/>
                  <a:pt x="72887" y="159026"/>
                  <a:pt x="0" y="0"/>
                </a:cubicBezTo>
              </a:path>
            </a:pathLst>
          </a:custGeom>
          <a:ln w="19050">
            <a:solidFill>
              <a:srgbClr val="FF9933"/>
            </a:solidFill>
            <a:headEnd type="triangle"/>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50183" name="Ograda noge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50184" name="Ograda številke diapozitiva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B6D8CD2-1CCD-47A6-AC0C-A5FFABC7DD8E}" type="slidenum">
              <a:rPr lang="en-GB" altLang="sl-SI" sz="1400" smtClean="0"/>
              <a:pPr>
                <a:spcBef>
                  <a:spcPct val="0"/>
                </a:spcBef>
                <a:buFontTx/>
                <a:buNone/>
              </a:pPr>
              <a:t>27</a:t>
            </a:fld>
            <a:endParaRPr lang="en-GB" altLang="sl-SI" sz="1400"/>
          </a:p>
        </p:txBody>
      </p:sp>
    </p:spTree>
  </p:cSld>
  <p:clrMapOvr>
    <a:masterClrMapping/>
  </p:clrMapOvr>
  <p:transition>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ORTOGRAFSKA PROJEKCIJA</a:t>
            </a:r>
            <a:endParaRPr lang="en-GB" altLang="en-US" sz="2400" b="1"/>
          </a:p>
        </p:txBody>
      </p:sp>
      <p:sp>
        <p:nvSpPr>
          <p:cNvPr id="52227" name="Rectangle 3"/>
          <p:cNvSpPr>
            <a:spLocks noGrp="1" noChangeArrowheads="1"/>
          </p:cNvSpPr>
          <p:nvPr>
            <p:ph type="subTitle" idx="1"/>
          </p:nvPr>
        </p:nvSpPr>
        <p:spPr>
          <a:xfrm>
            <a:off x="611188" y="981075"/>
            <a:ext cx="8208962" cy="4824413"/>
          </a:xfrm>
        </p:spPr>
        <p:txBody>
          <a:bodyPr/>
          <a:lstStyle/>
          <a:p>
            <a:pPr marL="342900" indent="-342900" algn="l" eaLnBrk="1" hangingPunct="1">
              <a:spcBef>
                <a:spcPct val="35000"/>
              </a:spcBef>
            </a:pPr>
            <a:r>
              <a:rPr lang="sl-SI" altLang="en-US" sz="1800" b="1"/>
              <a:t>Posebna vrsta perspektivne projekcije, imenovana tudi vzporedna:</a:t>
            </a:r>
          </a:p>
          <a:p>
            <a:pPr marL="800100" lvl="1" indent="-342900" algn="l" eaLnBrk="1" hangingPunct="1">
              <a:spcBef>
                <a:spcPct val="35000"/>
              </a:spcBef>
              <a:buFont typeface="Arial" panose="020B0604020202020204" pitchFamily="34" charset="0"/>
              <a:buChar char="•"/>
            </a:pPr>
            <a:r>
              <a:rPr lang="sl-SI" altLang="en-US" sz="1600"/>
              <a:t>razdalja med PS in PR je neskončna</a:t>
            </a:r>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r>
              <a:rPr lang="sl-SI" altLang="en-US" sz="1800" b="1"/>
              <a:t>Projekcijska matrika:</a:t>
            </a:r>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r>
              <a:rPr lang="sl-SI" altLang="en-US" sz="1800" b="1"/>
              <a:t>	</a:t>
            </a:r>
          </a:p>
          <a:p>
            <a:pPr marL="342900" indent="-342900" algn="l" eaLnBrk="1" hangingPunct="1">
              <a:spcBef>
                <a:spcPct val="35000"/>
              </a:spcBef>
            </a:pPr>
            <a:endParaRPr lang="sl-SI" altLang="en-US" sz="1800" b="1"/>
          </a:p>
        </p:txBody>
      </p:sp>
      <p:grpSp>
        <p:nvGrpSpPr>
          <p:cNvPr id="52228" name="Group 70"/>
          <p:cNvGrpSpPr>
            <a:grpSpLocks/>
          </p:cNvGrpSpPr>
          <p:nvPr/>
        </p:nvGrpSpPr>
        <p:grpSpPr bwMode="auto">
          <a:xfrm>
            <a:off x="1522413" y="1700213"/>
            <a:ext cx="4994275" cy="2574925"/>
            <a:chOff x="2254250" y="1868488"/>
            <a:chExt cx="4994275" cy="2574925"/>
          </a:xfrm>
        </p:grpSpPr>
        <p:sp>
          <p:nvSpPr>
            <p:cNvPr id="52235" name="Freeform 16"/>
            <p:cNvSpPr>
              <a:spLocks/>
            </p:cNvSpPr>
            <p:nvPr/>
          </p:nvSpPr>
          <p:spPr bwMode="auto">
            <a:xfrm>
              <a:off x="2735263" y="2606675"/>
              <a:ext cx="1638300" cy="1177925"/>
            </a:xfrm>
            <a:custGeom>
              <a:avLst/>
              <a:gdLst>
                <a:gd name="T0" fmla="*/ 0 w 1032"/>
                <a:gd name="T1" fmla="*/ 2147483646 h 742"/>
                <a:gd name="T2" fmla="*/ 2147483646 w 1032"/>
                <a:gd name="T3" fmla="*/ 0 h 742"/>
                <a:gd name="T4" fmla="*/ 2147483646 w 1032"/>
                <a:gd name="T5" fmla="*/ 2147483646 h 742"/>
                <a:gd name="T6" fmla="*/ 0 w 1032"/>
                <a:gd name="T7" fmla="*/ 2147483646 h 742"/>
                <a:gd name="T8" fmla="*/ 0 60000 65536"/>
                <a:gd name="T9" fmla="*/ 0 60000 65536"/>
                <a:gd name="T10" fmla="*/ 0 60000 65536"/>
                <a:gd name="T11" fmla="*/ 0 60000 65536"/>
                <a:gd name="T12" fmla="*/ 0 w 1032"/>
                <a:gd name="T13" fmla="*/ 0 h 742"/>
                <a:gd name="T14" fmla="*/ 1032 w 1032"/>
                <a:gd name="T15" fmla="*/ 742 h 742"/>
              </a:gdLst>
              <a:ahLst/>
              <a:cxnLst>
                <a:cxn ang="T8">
                  <a:pos x="T0" y="T1"/>
                </a:cxn>
                <a:cxn ang="T9">
                  <a:pos x="T2" y="T3"/>
                </a:cxn>
                <a:cxn ang="T10">
                  <a:pos x="T4" y="T5"/>
                </a:cxn>
                <a:cxn ang="T11">
                  <a:pos x="T6" y="T7"/>
                </a:cxn>
              </a:cxnLst>
              <a:rect l="T12" t="T13" r="T14" b="T15"/>
              <a:pathLst>
                <a:path w="1032" h="742">
                  <a:moveTo>
                    <a:pt x="0" y="319"/>
                  </a:moveTo>
                  <a:lnTo>
                    <a:pt x="1032" y="0"/>
                  </a:lnTo>
                  <a:lnTo>
                    <a:pt x="401" y="742"/>
                  </a:lnTo>
                  <a:lnTo>
                    <a:pt x="0" y="319"/>
                  </a:lnTo>
                  <a:close/>
                </a:path>
              </a:pathLst>
            </a:custGeom>
            <a:noFill/>
            <a:ln w="349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sl-SI"/>
            </a:p>
          </p:txBody>
        </p:sp>
        <p:sp>
          <p:nvSpPr>
            <p:cNvPr id="52236" name="Freeform 62"/>
            <p:cNvSpPr>
              <a:spLocks/>
            </p:cNvSpPr>
            <p:nvPr/>
          </p:nvSpPr>
          <p:spPr bwMode="auto">
            <a:xfrm>
              <a:off x="2254250" y="1868488"/>
              <a:ext cx="2662238" cy="2574925"/>
            </a:xfrm>
            <a:custGeom>
              <a:avLst/>
              <a:gdLst>
                <a:gd name="T0" fmla="*/ 0 w 1842"/>
                <a:gd name="T1" fmla="*/ 2147483646 h 1847"/>
                <a:gd name="T2" fmla="*/ 2147483646 w 1842"/>
                <a:gd name="T3" fmla="*/ 0 h 1847"/>
                <a:gd name="T4" fmla="*/ 2147483646 w 1842"/>
                <a:gd name="T5" fmla="*/ 2147483646 h 1847"/>
                <a:gd name="T6" fmla="*/ 0 w 1842"/>
                <a:gd name="T7" fmla="*/ 2147483646 h 1847"/>
                <a:gd name="T8" fmla="*/ 0 w 1842"/>
                <a:gd name="T9" fmla="*/ 2147483646 h 1847"/>
                <a:gd name="T10" fmla="*/ 0 60000 65536"/>
                <a:gd name="T11" fmla="*/ 0 60000 65536"/>
                <a:gd name="T12" fmla="*/ 0 60000 65536"/>
                <a:gd name="T13" fmla="*/ 0 60000 65536"/>
                <a:gd name="T14" fmla="*/ 0 60000 65536"/>
                <a:gd name="T15" fmla="*/ 0 w 1842"/>
                <a:gd name="T16" fmla="*/ 0 h 1847"/>
                <a:gd name="T17" fmla="*/ 1842 w 1842"/>
                <a:gd name="T18" fmla="*/ 1847 h 1847"/>
              </a:gdLst>
              <a:ahLst/>
              <a:cxnLst>
                <a:cxn ang="T10">
                  <a:pos x="T0" y="T1"/>
                </a:cxn>
                <a:cxn ang="T11">
                  <a:pos x="T2" y="T3"/>
                </a:cxn>
                <a:cxn ang="T12">
                  <a:pos x="T4" y="T5"/>
                </a:cxn>
                <a:cxn ang="T13">
                  <a:pos x="T6" y="T7"/>
                </a:cxn>
                <a:cxn ang="T14">
                  <a:pos x="T8" y="T9"/>
                </a:cxn>
              </a:cxnLst>
              <a:rect l="T15" t="T16" r="T17" b="T18"/>
              <a:pathLst>
                <a:path w="1842" h="1847">
                  <a:moveTo>
                    <a:pt x="0" y="660"/>
                  </a:moveTo>
                  <a:lnTo>
                    <a:pt x="1842" y="0"/>
                  </a:lnTo>
                  <a:lnTo>
                    <a:pt x="1842" y="1186"/>
                  </a:lnTo>
                  <a:lnTo>
                    <a:pt x="0" y="1847"/>
                  </a:lnTo>
                  <a:lnTo>
                    <a:pt x="0" y="660"/>
                  </a:lnTo>
                  <a:close/>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sl-SI"/>
            </a:p>
          </p:txBody>
        </p:sp>
        <p:sp>
          <p:nvSpPr>
            <p:cNvPr id="52237" name="Rectangle 147"/>
            <p:cNvSpPr>
              <a:spLocks noChangeArrowheads="1"/>
            </p:cNvSpPr>
            <p:nvPr/>
          </p:nvSpPr>
          <p:spPr bwMode="auto">
            <a:xfrm>
              <a:off x="4208463" y="2185988"/>
              <a:ext cx="436017" cy="23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0"/>
                </a:spcBef>
                <a:buFontTx/>
                <a:buNone/>
              </a:pPr>
              <a:r>
                <a:rPr lang="sl-SI" altLang="en-US" sz="1700">
                  <a:solidFill>
                    <a:srgbClr val="000000"/>
                  </a:solidFill>
                  <a:latin typeface="Helvetica" panose="020B0604020202020204" pitchFamily="34" charset="0"/>
                </a:rPr>
                <a:t>slika</a:t>
              </a:r>
              <a:endParaRPr lang="en-US" altLang="en-US" sz="2000" b="1"/>
            </a:p>
          </p:txBody>
        </p:sp>
        <p:sp>
          <p:nvSpPr>
            <p:cNvPr id="52238" name="Rectangle 148"/>
            <p:cNvSpPr>
              <a:spLocks noChangeArrowheads="1"/>
            </p:cNvSpPr>
            <p:nvPr/>
          </p:nvSpPr>
          <p:spPr bwMode="auto">
            <a:xfrm>
              <a:off x="6424613" y="2205038"/>
              <a:ext cx="801501" cy="23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0"/>
                </a:spcBef>
                <a:buFontTx/>
                <a:buNone/>
              </a:pPr>
              <a:r>
                <a:rPr lang="sl-SI" altLang="en-US" sz="1700">
                  <a:solidFill>
                    <a:srgbClr val="000000"/>
                  </a:solidFill>
                  <a:latin typeface="Helvetica" panose="020B0604020202020204" pitchFamily="34" charset="0"/>
                </a:rPr>
                <a:t>predmet</a:t>
              </a:r>
              <a:endParaRPr lang="en-US" altLang="en-US" sz="2000" b="1"/>
            </a:p>
          </p:txBody>
        </p:sp>
        <p:grpSp>
          <p:nvGrpSpPr>
            <p:cNvPr id="52239" name="Group 149"/>
            <p:cNvGrpSpPr>
              <a:grpSpLocks/>
            </p:cNvGrpSpPr>
            <p:nvPr/>
          </p:nvGrpSpPr>
          <p:grpSpPr bwMode="auto">
            <a:xfrm>
              <a:off x="5562600" y="2527300"/>
              <a:ext cx="1685925" cy="1284288"/>
              <a:chOff x="3978" y="2483"/>
              <a:chExt cx="1062" cy="809"/>
            </a:xfrm>
          </p:grpSpPr>
          <p:sp>
            <p:nvSpPr>
              <p:cNvPr id="52243" name="Freeform 150"/>
              <p:cNvSpPr>
                <a:spLocks/>
              </p:cNvSpPr>
              <p:nvPr/>
            </p:nvSpPr>
            <p:spPr bwMode="auto">
              <a:xfrm>
                <a:off x="3978" y="2802"/>
                <a:ext cx="44" cy="59"/>
              </a:xfrm>
              <a:custGeom>
                <a:avLst/>
                <a:gdLst>
                  <a:gd name="T0" fmla="*/ 22 w 44"/>
                  <a:gd name="T1" fmla="*/ 7 h 59"/>
                  <a:gd name="T2" fmla="*/ 37 w 44"/>
                  <a:gd name="T3" fmla="*/ 0 h 59"/>
                  <a:gd name="T4" fmla="*/ 44 w 44"/>
                  <a:gd name="T5" fmla="*/ 7 h 59"/>
                  <a:gd name="T6" fmla="*/ 44 w 44"/>
                  <a:gd name="T7" fmla="*/ 22 h 59"/>
                  <a:gd name="T8" fmla="*/ 44 w 44"/>
                  <a:gd name="T9" fmla="*/ 37 h 59"/>
                  <a:gd name="T10" fmla="*/ 37 w 44"/>
                  <a:gd name="T11" fmla="*/ 52 h 59"/>
                  <a:gd name="T12" fmla="*/ 22 w 44"/>
                  <a:gd name="T13" fmla="*/ 59 h 59"/>
                  <a:gd name="T14" fmla="*/ 7 w 44"/>
                  <a:gd name="T15" fmla="*/ 59 h 59"/>
                  <a:gd name="T16" fmla="*/ 0 w 44"/>
                  <a:gd name="T17" fmla="*/ 52 h 59"/>
                  <a:gd name="T18" fmla="*/ 0 w 44"/>
                  <a:gd name="T19" fmla="*/ 37 h 59"/>
                  <a:gd name="T20" fmla="*/ 0 w 44"/>
                  <a:gd name="T21" fmla="*/ 22 h 59"/>
                  <a:gd name="T22" fmla="*/ 7 w 44"/>
                  <a:gd name="T23" fmla="*/ 7 h 59"/>
                  <a:gd name="T24" fmla="*/ 22 w 44"/>
                  <a:gd name="T25" fmla="*/ 7 h 5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59"/>
                  <a:gd name="T41" fmla="*/ 44 w 44"/>
                  <a:gd name="T42" fmla="*/ 59 h 5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59">
                    <a:moveTo>
                      <a:pt x="22" y="7"/>
                    </a:moveTo>
                    <a:lnTo>
                      <a:pt x="37" y="0"/>
                    </a:lnTo>
                    <a:lnTo>
                      <a:pt x="44" y="7"/>
                    </a:lnTo>
                    <a:lnTo>
                      <a:pt x="44" y="22"/>
                    </a:lnTo>
                    <a:lnTo>
                      <a:pt x="44" y="37"/>
                    </a:lnTo>
                    <a:lnTo>
                      <a:pt x="37" y="52"/>
                    </a:lnTo>
                    <a:lnTo>
                      <a:pt x="22" y="59"/>
                    </a:lnTo>
                    <a:lnTo>
                      <a:pt x="7" y="59"/>
                    </a:lnTo>
                    <a:lnTo>
                      <a:pt x="0" y="52"/>
                    </a:lnTo>
                    <a:lnTo>
                      <a:pt x="0" y="37"/>
                    </a:lnTo>
                    <a:lnTo>
                      <a:pt x="0" y="22"/>
                    </a:lnTo>
                    <a:lnTo>
                      <a:pt x="7" y="7"/>
                    </a:lnTo>
                    <a:lnTo>
                      <a:pt x="22" y="7"/>
                    </a:lnTo>
                    <a:close/>
                  </a:path>
                </a:pathLst>
              </a:custGeom>
              <a:solidFill>
                <a:srgbClr val="000000"/>
              </a:solidFill>
              <a:ln w="11113">
                <a:solidFill>
                  <a:srgbClr val="000000"/>
                </a:solidFill>
                <a:prstDash val="solid"/>
                <a:round/>
                <a:headEnd/>
                <a:tailEnd/>
              </a:ln>
            </p:spPr>
            <p:txBody>
              <a:bodyPr/>
              <a:lstStyle/>
              <a:p>
                <a:endParaRPr lang="sl-SI"/>
              </a:p>
            </p:txBody>
          </p:sp>
          <p:sp>
            <p:nvSpPr>
              <p:cNvPr id="52244" name="Freeform 151"/>
              <p:cNvSpPr>
                <a:spLocks/>
              </p:cNvSpPr>
              <p:nvPr/>
            </p:nvSpPr>
            <p:spPr bwMode="auto">
              <a:xfrm>
                <a:off x="4995" y="2483"/>
                <a:ext cx="45" cy="59"/>
              </a:xfrm>
              <a:custGeom>
                <a:avLst/>
                <a:gdLst>
                  <a:gd name="T0" fmla="*/ 22 w 45"/>
                  <a:gd name="T1" fmla="*/ 8 h 59"/>
                  <a:gd name="T2" fmla="*/ 37 w 45"/>
                  <a:gd name="T3" fmla="*/ 0 h 59"/>
                  <a:gd name="T4" fmla="*/ 45 w 45"/>
                  <a:gd name="T5" fmla="*/ 8 h 59"/>
                  <a:gd name="T6" fmla="*/ 45 w 45"/>
                  <a:gd name="T7" fmla="*/ 22 h 59"/>
                  <a:gd name="T8" fmla="*/ 45 w 45"/>
                  <a:gd name="T9" fmla="*/ 37 h 59"/>
                  <a:gd name="T10" fmla="*/ 37 w 45"/>
                  <a:gd name="T11" fmla="*/ 52 h 59"/>
                  <a:gd name="T12" fmla="*/ 22 w 45"/>
                  <a:gd name="T13" fmla="*/ 59 h 59"/>
                  <a:gd name="T14" fmla="*/ 7 w 45"/>
                  <a:gd name="T15" fmla="*/ 59 h 59"/>
                  <a:gd name="T16" fmla="*/ 0 w 45"/>
                  <a:gd name="T17" fmla="*/ 52 h 59"/>
                  <a:gd name="T18" fmla="*/ 0 w 45"/>
                  <a:gd name="T19" fmla="*/ 37 h 59"/>
                  <a:gd name="T20" fmla="*/ 0 w 45"/>
                  <a:gd name="T21" fmla="*/ 22 h 59"/>
                  <a:gd name="T22" fmla="*/ 7 w 45"/>
                  <a:gd name="T23" fmla="*/ 8 h 59"/>
                  <a:gd name="T24" fmla="*/ 22 w 45"/>
                  <a:gd name="T25" fmla="*/ 8 h 5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59"/>
                  <a:gd name="T41" fmla="*/ 45 w 45"/>
                  <a:gd name="T42" fmla="*/ 59 h 5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59">
                    <a:moveTo>
                      <a:pt x="22" y="8"/>
                    </a:moveTo>
                    <a:lnTo>
                      <a:pt x="37" y="0"/>
                    </a:lnTo>
                    <a:lnTo>
                      <a:pt x="45" y="8"/>
                    </a:lnTo>
                    <a:lnTo>
                      <a:pt x="45" y="22"/>
                    </a:lnTo>
                    <a:lnTo>
                      <a:pt x="45" y="37"/>
                    </a:lnTo>
                    <a:lnTo>
                      <a:pt x="37" y="52"/>
                    </a:lnTo>
                    <a:lnTo>
                      <a:pt x="22" y="59"/>
                    </a:lnTo>
                    <a:lnTo>
                      <a:pt x="7" y="59"/>
                    </a:lnTo>
                    <a:lnTo>
                      <a:pt x="0" y="52"/>
                    </a:lnTo>
                    <a:lnTo>
                      <a:pt x="0" y="37"/>
                    </a:lnTo>
                    <a:lnTo>
                      <a:pt x="0" y="22"/>
                    </a:lnTo>
                    <a:lnTo>
                      <a:pt x="7" y="8"/>
                    </a:lnTo>
                    <a:lnTo>
                      <a:pt x="22" y="8"/>
                    </a:lnTo>
                    <a:close/>
                  </a:path>
                </a:pathLst>
              </a:custGeom>
              <a:solidFill>
                <a:srgbClr val="000000"/>
              </a:solidFill>
              <a:ln w="11113">
                <a:solidFill>
                  <a:srgbClr val="000000"/>
                </a:solidFill>
                <a:prstDash val="solid"/>
                <a:round/>
                <a:headEnd/>
                <a:tailEnd/>
              </a:ln>
            </p:spPr>
            <p:txBody>
              <a:bodyPr/>
              <a:lstStyle/>
              <a:p>
                <a:endParaRPr lang="sl-SI"/>
              </a:p>
            </p:txBody>
          </p:sp>
          <p:sp>
            <p:nvSpPr>
              <p:cNvPr id="52245" name="Freeform 152"/>
              <p:cNvSpPr>
                <a:spLocks/>
              </p:cNvSpPr>
              <p:nvPr/>
            </p:nvSpPr>
            <p:spPr bwMode="auto">
              <a:xfrm>
                <a:off x="4371" y="3232"/>
                <a:ext cx="45" cy="60"/>
              </a:xfrm>
              <a:custGeom>
                <a:avLst/>
                <a:gdLst>
                  <a:gd name="T0" fmla="*/ 23 w 45"/>
                  <a:gd name="T1" fmla="*/ 8 h 60"/>
                  <a:gd name="T2" fmla="*/ 37 w 45"/>
                  <a:gd name="T3" fmla="*/ 0 h 60"/>
                  <a:gd name="T4" fmla="*/ 45 w 45"/>
                  <a:gd name="T5" fmla="*/ 8 h 60"/>
                  <a:gd name="T6" fmla="*/ 45 w 45"/>
                  <a:gd name="T7" fmla="*/ 22 h 60"/>
                  <a:gd name="T8" fmla="*/ 45 w 45"/>
                  <a:gd name="T9" fmla="*/ 37 h 60"/>
                  <a:gd name="T10" fmla="*/ 37 w 45"/>
                  <a:gd name="T11" fmla="*/ 52 h 60"/>
                  <a:gd name="T12" fmla="*/ 23 w 45"/>
                  <a:gd name="T13" fmla="*/ 60 h 60"/>
                  <a:gd name="T14" fmla="*/ 8 w 45"/>
                  <a:gd name="T15" fmla="*/ 60 h 60"/>
                  <a:gd name="T16" fmla="*/ 0 w 45"/>
                  <a:gd name="T17" fmla="*/ 52 h 60"/>
                  <a:gd name="T18" fmla="*/ 0 w 45"/>
                  <a:gd name="T19" fmla="*/ 37 h 60"/>
                  <a:gd name="T20" fmla="*/ 0 w 45"/>
                  <a:gd name="T21" fmla="*/ 22 h 60"/>
                  <a:gd name="T22" fmla="*/ 8 w 45"/>
                  <a:gd name="T23" fmla="*/ 8 h 60"/>
                  <a:gd name="T24" fmla="*/ 23 w 45"/>
                  <a:gd name="T25" fmla="*/ 8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60"/>
                  <a:gd name="T41" fmla="*/ 45 w 45"/>
                  <a:gd name="T42" fmla="*/ 60 h 6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60">
                    <a:moveTo>
                      <a:pt x="23" y="8"/>
                    </a:moveTo>
                    <a:lnTo>
                      <a:pt x="37" y="0"/>
                    </a:lnTo>
                    <a:lnTo>
                      <a:pt x="45" y="8"/>
                    </a:lnTo>
                    <a:lnTo>
                      <a:pt x="45" y="22"/>
                    </a:lnTo>
                    <a:lnTo>
                      <a:pt x="45" y="37"/>
                    </a:lnTo>
                    <a:lnTo>
                      <a:pt x="37" y="52"/>
                    </a:lnTo>
                    <a:lnTo>
                      <a:pt x="23" y="60"/>
                    </a:lnTo>
                    <a:lnTo>
                      <a:pt x="8" y="60"/>
                    </a:lnTo>
                    <a:lnTo>
                      <a:pt x="0" y="52"/>
                    </a:lnTo>
                    <a:lnTo>
                      <a:pt x="0" y="37"/>
                    </a:lnTo>
                    <a:lnTo>
                      <a:pt x="0" y="22"/>
                    </a:lnTo>
                    <a:lnTo>
                      <a:pt x="8" y="8"/>
                    </a:lnTo>
                    <a:lnTo>
                      <a:pt x="23" y="8"/>
                    </a:lnTo>
                    <a:close/>
                  </a:path>
                </a:pathLst>
              </a:custGeom>
              <a:solidFill>
                <a:srgbClr val="000000"/>
              </a:solidFill>
              <a:ln w="11113">
                <a:solidFill>
                  <a:srgbClr val="000000"/>
                </a:solidFill>
                <a:prstDash val="solid"/>
                <a:round/>
                <a:headEnd/>
                <a:tailEnd/>
              </a:ln>
            </p:spPr>
            <p:txBody>
              <a:bodyPr/>
              <a:lstStyle/>
              <a:p>
                <a:endParaRPr lang="sl-SI"/>
              </a:p>
            </p:txBody>
          </p:sp>
          <p:sp>
            <p:nvSpPr>
              <p:cNvPr id="52246" name="Freeform 153"/>
              <p:cNvSpPr>
                <a:spLocks/>
              </p:cNvSpPr>
              <p:nvPr/>
            </p:nvSpPr>
            <p:spPr bwMode="auto">
              <a:xfrm>
                <a:off x="4008" y="2520"/>
                <a:ext cx="1032" cy="742"/>
              </a:xfrm>
              <a:custGeom>
                <a:avLst/>
                <a:gdLst>
                  <a:gd name="T0" fmla="*/ 0 w 1032"/>
                  <a:gd name="T1" fmla="*/ 319 h 742"/>
                  <a:gd name="T2" fmla="*/ 1032 w 1032"/>
                  <a:gd name="T3" fmla="*/ 0 h 742"/>
                  <a:gd name="T4" fmla="*/ 401 w 1032"/>
                  <a:gd name="T5" fmla="*/ 742 h 742"/>
                  <a:gd name="T6" fmla="*/ 0 w 1032"/>
                  <a:gd name="T7" fmla="*/ 319 h 742"/>
                  <a:gd name="T8" fmla="*/ 0 60000 65536"/>
                  <a:gd name="T9" fmla="*/ 0 60000 65536"/>
                  <a:gd name="T10" fmla="*/ 0 60000 65536"/>
                  <a:gd name="T11" fmla="*/ 0 60000 65536"/>
                  <a:gd name="T12" fmla="*/ 0 w 1032"/>
                  <a:gd name="T13" fmla="*/ 0 h 742"/>
                  <a:gd name="T14" fmla="*/ 1032 w 1032"/>
                  <a:gd name="T15" fmla="*/ 742 h 742"/>
                </a:gdLst>
                <a:ahLst/>
                <a:cxnLst>
                  <a:cxn ang="T8">
                    <a:pos x="T0" y="T1"/>
                  </a:cxn>
                  <a:cxn ang="T9">
                    <a:pos x="T2" y="T3"/>
                  </a:cxn>
                  <a:cxn ang="T10">
                    <a:pos x="T4" y="T5"/>
                  </a:cxn>
                  <a:cxn ang="T11">
                    <a:pos x="T6" y="T7"/>
                  </a:cxn>
                </a:cxnLst>
                <a:rect l="T12" t="T13" r="T14" b="T15"/>
                <a:pathLst>
                  <a:path w="1032" h="742">
                    <a:moveTo>
                      <a:pt x="0" y="319"/>
                    </a:moveTo>
                    <a:lnTo>
                      <a:pt x="1032" y="0"/>
                    </a:lnTo>
                    <a:lnTo>
                      <a:pt x="401" y="742"/>
                    </a:lnTo>
                    <a:lnTo>
                      <a:pt x="0" y="319"/>
                    </a:lnTo>
                    <a:close/>
                  </a:path>
                </a:pathLst>
              </a:custGeom>
              <a:noFill/>
              <a:ln w="349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sl-SI"/>
              </a:p>
            </p:txBody>
          </p:sp>
        </p:grpSp>
        <p:sp>
          <p:nvSpPr>
            <p:cNvPr id="52240" name="Line 156"/>
            <p:cNvSpPr>
              <a:spLocks noChangeShapeType="1"/>
            </p:cNvSpPr>
            <p:nvPr/>
          </p:nvSpPr>
          <p:spPr bwMode="auto">
            <a:xfrm flipV="1">
              <a:off x="3352800" y="3775075"/>
              <a:ext cx="2871788" cy="3492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sp>
          <p:nvSpPr>
            <p:cNvPr id="52241" name="Line 157"/>
            <p:cNvSpPr>
              <a:spLocks noChangeShapeType="1"/>
            </p:cNvSpPr>
            <p:nvPr/>
          </p:nvSpPr>
          <p:spPr bwMode="auto">
            <a:xfrm flipV="1">
              <a:off x="2727325" y="3071813"/>
              <a:ext cx="2871788" cy="3492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sp>
          <p:nvSpPr>
            <p:cNvPr id="52242" name="Line 158"/>
            <p:cNvSpPr>
              <a:spLocks noChangeShapeType="1"/>
            </p:cNvSpPr>
            <p:nvPr/>
          </p:nvSpPr>
          <p:spPr bwMode="auto">
            <a:xfrm flipV="1">
              <a:off x="4357688" y="2579688"/>
              <a:ext cx="2871787" cy="3492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grpSp>
      <p:grpSp>
        <p:nvGrpSpPr>
          <p:cNvPr id="52229" name="Group 159"/>
          <p:cNvGrpSpPr>
            <a:grpSpLocks/>
          </p:cNvGrpSpPr>
          <p:nvPr/>
        </p:nvGrpSpPr>
        <p:grpSpPr bwMode="auto">
          <a:xfrm>
            <a:off x="1476375" y="4652963"/>
            <a:ext cx="4535488" cy="1247775"/>
            <a:chOff x="1234" y="3441"/>
            <a:chExt cx="3230" cy="831"/>
          </a:xfrm>
        </p:grpSpPr>
        <p:pic>
          <p:nvPicPr>
            <p:cNvPr id="52232" name="Picture 5" descr="Edittex"/>
            <p:cNvPicPr>
              <a:picLocks noChangeAspect="1" noChangeArrowheads="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1234" y="3441"/>
              <a:ext cx="1619" cy="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3" name="Picture 7" descr="Edittex"/>
            <p:cNvPicPr>
              <a:picLocks noChangeAspect="1" noChangeArrowheads="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3017" y="3524"/>
              <a:ext cx="625" cy="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4" name="Picture 11" descr="Edittex"/>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3785" y="3770"/>
              <a:ext cx="67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230"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52231"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637944D-2DC5-47A3-841A-165848B832F3}" type="slidenum">
              <a:rPr lang="en-GB" altLang="sl-SI" sz="1400" smtClean="0"/>
              <a:pPr>
                <a:spcBef>
                  <a:spcPct val="0"/>
                </a:spcBef>
                <a:buFontTx/>
                <a:buNone/>
              </a:pPr>
              <a:t>28</a:t>
            </a:fld>
            <a:endParaRPr lang="en-GB" altLang="sl-SI" sz="1400"/>
          </a:p>
        </p:txBody>
      </p:sp>
    </p:spTree>
  </p:cSld>
  <p:clrMapOvr>
    <a:masterClrMapping/>
  </p:clrMapOvr>
  <p:transition>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DRUGE VRSTE PROJEKCIJ</a:t>
            </a:r>
            <a:endParaRPr lang="en-GB" altLang="en-US" sz="2400" b="1"/>
          </a:p>
        </p:txBody>
      </p:sp>
      <p:sp>
        <p:nvSpPr>
          <p:cNvPr id="54275" name="Rectangle 3"/>
          <p:cNvSpPr>
            <a:spLocks noGrp="1" noChangeArrowheads="1"/>
          </p:cNvSpPr>
          <p:nvPr>
            <p:ph type="subTitle" idx="1"/>
          </p:nvPr>
        </p:nvSpPr>
        <p:spPr>
          <a:xfrm>
            <a:off x="611188" y="981075"/>
            <a:ext cx="8208962" cy="4824413"/>
          </a:xfrm>
        </p:spPr>
        <p:txBody>
          <a:bodyPr/>
          <a:lstStyle/>
          <a:p>
            <a:pPr marL="342900" indent="-342900" algn="l" eaLnBrk="1" hangingPunct="1">
              <a:spcBef>
                <a:spcPct val="35000"/>
              </a:spcBef>
            </a:pPr>
            <a:r>
              <a:rPr lang="sl-SI" altLang="en-US" sz="1800" b="1"/>
              <a:t>Povečava (pomanjšava), imenovana tudi šibka perspektiva (</a:t>
            </a:r>
            <a:r>
              <a:rPr lang="sl-SI" altLang="en-US" sz="1800" b="1" i="1"/>
              <a:t>weak perspective</a:t>
            </a:r>
            <a:r>
              <a:rPr lang="sl-SI" altLang="en-US" sz="1800" b="1"/>
              <a:t>):</a:t>
            </a:r>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buFontTx/>
              <a:buAutoNum type="arabicPeriod" startAt="4"/>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r>
              <a:rPr lang="sl-SI" altLang="en-US" sz="1800" b="1"/>
              <a:t>Afina projekcija, imenovana tudi paraperspektiva:</a:t>
            </a:r>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pPr>
            <a:endParaRPr lang="sl-SI" altLang="en-US" sz="1800" b="1"/>
          </a:p>
          <a:p>
            <a:pPr marL="342900" indent="-342900" algn="l" eaLnBrk="1" hangingPunct="1">
              <a:spcBef>
                <a:spcPct val="35000"/>
              </a:spcBef>
              <a:buFontTx/>
              <a:buChar char="•"/>
            </a:pPr>
            <a:r>
              <a:rPr lang="sl-SI" altLang="en-US" sz="1600"/>
              <a:t>Ortografska projekcija in projekcija s šibko perspektivo sta izvedenki afine projekcije.</a:t>
            </a:r>
          </a:p>
          <a:p>
            <a:pPr marL="342900" indent="-342900" algn="l" eaLnBrk="1" hangingPunct="1">
              <a:spcBef>
                <a:spcPct val="35000"/>
              </a:spcBef>
            </a:pPr>
            <a:r>
              <a:rPr lang="sl-SI" altLang="en-US" sz="1800" b="1"/>
              <a:t>	</a:t>
            </a:r>
          </a:p>
          <a:p>
            <a:pPr marL="342900" indent="-342900" algn="l" eaLnBrk="1" hangingPunct="1">
              <a:spcBef>
                <a:spcPct val="35000"/>
              </a:spcBef>
            </a:pPr>
            <a:endParaRPr lang="sl-SI" altLang="en-US" sz="1800" b="1"/>
          </a:p>
        </p:txBody>
      </p:sp>
      <p:grpSp>
        <p:nvGrpSpPr>
          <p:cNvPr id="54276" name="Group 25"/>
          <p:cNvGrpSpPr>
            <a:grpSpLocks/>
          </p:cNvGrpSpPr>
          <p:nvPr/>
        </p:nvGrpSpPr>
        <p:grpSpPr bwMode="auto">
          <a:xfrm>
            <a:off x="1042988" y="1700213"/>
            <a:ext cx="5041900" cy="1176337"/>
            <a:chOff x="1043608" y="1700808"/>
            <a:chExt cx="5872162" cy="1319212"/>
          </a:xfrm>
        </p:grpSpPr>
        <p:pic>
          <p:nvPicPr>
            <p:cNvPr id="54280" name="Picture 9" descr="Edittex"/>
            <p:cNvPicPr>
              <a:picLocks noChangeAspect="1" noChangeArrowheads="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1043608" y="1700808"/>
              <a:ext cx="2867025"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1" name="Picture 10" descr="Edittex"/>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4183683" y="1881783"/>
              <a:ext cx="1306512"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2" name="Picture 12" descr="Edittex"/>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5537820" y="2265958"/>
              <a:ext cx="13779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4277" name="Picture 16" descr="Edittex"/>
          <p:cNvPicPr>
            <a:picLocks noChangeAspect="1" noChangeArrowheads="1"/>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1042988" y="3565525"/>
            <a:ext cx="2305050"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8"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54279"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0EC58F5-4E74-4929-A259-1D52B56C0AF8}" type="slidenum">
              <a:rPr lang="en-GB" altLang="sl-SI" sz="1400" smtClean="0"/>
              <a:pPr>
                <a:spcBef>
                  <a:spcPct val="0"/>
                </a:spcBef>
                <a:buFontTx/>
                <a:buNone/>
              </a:pPr>
              <a:t>29</a:t>
            </a:fld>
            <a:endParaRPr lang="en-GB" altLang="sl-SI" sz="1400"/>
          </a:p>
        </p:txBody>
      </p:sp>
    </p:spTree>
  </p:cSld>
  <p:clrMapOvr>
    <a:masterClrMapping/>
  </p:clrMapOvr>
  <p:transition>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ctrTitle"/>
          </p:nvPr>
        </p:nvSpPr>
        <p:spPr>
          <a:xfrm>
            <a:off x="611188" y="260350"/>
            <a:ext cx="7772400" cy="719138"/>
          </a:xfrm>
        </p:spPr>
        <p:txBody>
          <a:bodyPr/>
          <a:lstStyle/>
          <a:p>
            <a:pPr eaLnBrk="1" hangingPunct="1">
              <a:lnSpc>
                <a:spcPct val="130000"/>
              </a:lnSpc>
            </a:pPr>
            <a:r>
              <a:rPr lang="sl-SI" altLang="en-US" sz="2800" b="1"/>
              <a:t>2D TRANSFORMACIJE</a:t>
            </a:r>
            <a:endParaRPr lang="en-GB" altLang="en-US" sz="2400" b="1"/>
          </a:p>
        </p:txBody>
      </p:sp>
      <p:sp>
        <p:nvSpPr>
          <p:cNvPr id="56323" name="PoljeZBesedilom 2"/>
          <p:cNvSpPr txBox="1">
            <a:spLocks noChangeArrowheads="1"/>
          </p:cNvSpPr>
          <p:nvPr/>
        </p:nvSpPr>
        <p:spPr bwMode="auto">
          <a:xfrm>
            <a:off x="1393825" y="4448175"/>
            <a:ext cx="63468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solidFill>
                  <a:srgbClr val="FFC000"/>
                </a:solidFill>
              </a:rPr>
              <a:t>Povzeto po Richard Szeliski: Computer Vision: Algorithms and Applications, Springer, 2010.</a:t>
            </a:r>
          </a:p>
        </p:txBody>
      </p:sp>
      <p:pic>
        <p:nvPicPr>
          <p:cNvPr id="5632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628775"/>
            <a:ext cx="4697413" cy="270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56326"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DB95C5C-8D22-4D16-84C4-88D8DAE0C0E0}" type="slidenum">
              <a:rPr lang="en-GB" altLang="sl-SI" sz="1400" smtClean="0"/>
              <a:pPr>
                <a:spcBef>
                  <a:spcPct val="0"/>
                </a:spcBef>
                <a:buFontTx/>
                <a:buNone/>
              </a:pPr>
              <a:t>30</a:t>
            </a:fld>
            <a:endParaRPr lang="en-GB" altLang="sl-SI" sz="1400"/>
          </a:p>
        </p:txBody>
      </p:sp>
    </p:spTree>
  </p:cSld>
  <p:clrMapOvr>
    <a:masterClrMapping/>
  </p:clrMapOvr>
  <p:transition>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ctrTitle"/>
          </p:nvPr>
        </p:nvSpPr>
        <p:spPr>
          <a:xfrm>
            <a:off x="611188" y="188913"/>
            <a:ext cx="7772400" cy="719137"/>
          </a:xfrm>
        </p:spPr>
        <p:txBody>
          <a:bodyPr/>
          <a:lstStyle/>
          <a:p>
            <a:pPr eaLnBrk="1" hangingPunct="1">
              <a:lnSpc>
                <a:spcPct val="130000"/>
              </a:lnSpc>
            </a:pPr>
            <a:r>
              <a:rPr lang="sl-SI" altLang="en-US" sz="2800" b="1"/>
              <a:t>3D TRANSFORMACIJE</a:t>
            </a:r>
            <a:endParaRPr lang="en-GB" altLang="en-US" sz="2400" b="1"/>
          </a:p>
        </p:txBody>
      </p:sp>
      <p:sp>
        <p:nvSpPr>
          <p:cNvPr id="58371" name="Rectangle 3"/>
          <p:cNvSpPr>
            <a:spLocks noGrp="1" noChangeArrowheads="1"/>
          </p:cNvSpPr>
          <p:nvPr>
            <p:ph type="subTitle" idx="1"/>
          </p:nvPr>
        </p:nvSpPr>
        <p:spPr>
          <a:xfrm>
            <a:off x="611188" y="981075"/>
            <a:ext cx="8208962" cy="4824413"/>
          </a:xfrm>
        </p:spPr>
        <p:txBody>
          <a:bodyPr/>
          <a:lstStyle/>
          <a:p>
            <a:pPr marL="342900" indent="-342900" algn="l" eaLnBrk="1" hangingPunct="1">
              <a:spcBef>
                <a:spcPct val="35000"/>
              </a:spcBef>
            </a:pPr>
            <a:r>
              <a:rPr lang="sl-SI" altLang="en-US" sz="1800" b="1"/>
              <a:t>	</a:t>
            </a:r>
          </a:p>
          <a:p>
            <a:pPr marL="342900" indent="-342900" algn="l" eaLnBrk="1" hangingPunct="1">
              <a:spcBef>
                <a:spcPct val="35000"/>
              </a:spcBef>
            </a:pPr>
            <a:endParaRPr lang="sl-SI" altLang="en-US" sz="1800" b="1"/>
          </a:p>
        </p:txBody>
      </p:sp>
      <p:pic>
        <p:nvPicPr>
          <p:cNvPr id="58372" name="Picture 3" descr="img309"/>
          <p:cNvPicPr>
            <a:picLocks noChangeAspect="1" noChangeArrowheads="1"/>
          </p:cNvPicPr>
          <p:nvPr/>
        </p:nvPicPr>
        <p:blipFill>
          <a:blip r:embed="rId4">
            <a:clrChange>
              <a:clrFrom>
                <a:srgbClr val="B3B3B3"/>
              </a:clrFrom>
              <a:clrTo>
                <a:srgbClr val="B3B3B3">
                  <a:alpha val="0"/>
                </a:srgbClr>
              </a:clrTo>
            </a:clrChange>
            <a:extLst>
              <a:ext uri="{28A0092B-C50C-407E-A947-70E740481C1C}">
                <a14:useLocalDpi xmlns:a14="http://schemas.microsoft.com/office/drawing/2010/main" val="0"/>
              </a:ext>
            </a:extLst>
          </a:blip>
          <a:srcRect l="61014"/>
          <a:stretch>
            <a:fillRect/>
          </a:stretch>
        </p:blipFill>
        <p:spPr bwMode="auto">
          <a:xfrm>
            <a:off x="4084638" y="981075"/>
            <a:ext cx="1219200" cy="439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8373" name="Object 4"/>
          <p:cNvGraphicFramePr>
            <a:graphicFrameLocks noChangeAspect="1"/>
          </p:cNvGraphicFramePr>
          <p:nvPr/>
        </p:nvGraphicFramePr>
        <p:xfrm>
          <a:off x="2649538" y="1169988"/>
          <a:ext cx="952500" cy="793750"/>
        </p:xfrm>
        <a:graphic>
          <a:graphicData uri="http://schemas.openxmlformats.org/presentationml/2006/ole">
            <mc:AlternateContent xmlns:mc="http://schemas.openxmlformats.org/markup-compatibility/2006">
              <mc:Choice xmlns:v="urn:schemas-microsoft-com:vml" Requires="v">
                <p:oleObj spid="_x0000_s58496" name="Equation" r:id="rId5" imgW="545863" imgH="457002" progId="Equation.3">
                  <p:embed/>
                </p:oleObj>
              </mc:Choice>
              <mc:Fallback>
                <p:oleObj name="Equation" r:id="rId5" imgW="545863" imgH="45700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9538" y="1169988"/>
                        <a:ext cx="952500"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4" name="Rectangle 5"/>
          <p:cNvSpPr>
            <a:spLocks noChangeArrowheads="1"/>
          </p:cNvSpPr>
          <p:nvPr/>
        </p:nvSpPr>
        <p:spPr bwMode="auto">
          <a:xfrm>
            <a:off x="1042988" y="1169988"/>
            <a:ext cx="1606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6600"/>
              </a:buClr>
              <a:buFontTx/>
              <a:buNone/>
            </a:pPr>
            <a:r>
              <a:rPr lang="en-US" altLang="en-US" sz="1800"/>
              <a:t>Proje</a:t>
            </a:r>
            <a:r>
              <a:rPr lang="sl-SI" altLang="en-US" sz="1800"/>
              <a:t>kcijska</a:t>
            </a:r>
            <a:endParaRPr lang="en-US" altLang="en-US" sz="1800"/>
          </a:p>
          <a:p>
            <a:pPr eaLnBrk="1" hangingPunct="1">
              <a:spcBef>
                <a:spcPct val="0"/>
              </a:spcBef>
              <a:buClr>
                <a:srgbClr val="FF6600"/>
              </a:buClr>
              <a:buFontTx/>
              <a:buNone/>
            </a:pPr>
            <a:r>
              <a:rPr lang="en-US" altLang="en-US" sz="1800"/>
              <a:t>15</a:t>
            </a:r>
            <a:r>
              <a:rPr lang="sl-SI" altLang="en-US" sz="1800"/>
              <a:t> prost. st.</a:t>
            </a:r>
            <a:endParaRPr lang="en-US" altLang="en-US" sz="1800"/>
          </a:p>
        </p:txBody>
      </p:sp>
      <p:sp>
        <p:nvSpPr>
          <p:cNvPr id="58375" name="Rectangle 6"/>
          <p:cNvSpPr>
            <a:spLocks noChangeArrowheads="1"/>
          </p:cNvSpPr>
          <p:nvPr/>
        </p:nvSpPr>
        <p:spPr bwMode="auto">
          <a:xfrm>
            <a:off x="1042988" y="2328863"/>
            <a:ext cx="13906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6600"/>
              </a:buClr>
              <a:buFontTx/>
              <a:buNone/>
            </a:pPr>
            <a:r>
              <a:rPr lang="en-US" altLang="en-US" sz="1800"/>
              <a:t>Afin</a:t>
            </a:r>
            <a:r>
              <a:rPr lang="sl-SI" altLang="en-US" sz="1800"/>
              <a:t>a</a:t>
            </a:r>
            <a:endParaRPr lang="en-US" altLang="en-US" sz="1800"/>
          </a:p>
          <a:p>
            <a:pPr eaLnBrk="1" hangingPunct="1">
              <a:spcBef>
                <a:spcPct val="0"/>
              </a:spcBef>
              <a:buClr>
                <a:srgbClr val="FF6600"/>
              </a:buClr>
              <a:buFontTx/>
              <a:buNone/>
            </a:pPr>
            <a:r>
              <a:rPr lang="en-US" altLang="en-US" sz="1800"/>
              <a:t>12</a:t>
            </a:r>
            <a:r>
              <a:rPr lang="sl-SI" altLang="en-US" sz="1800"/>
              <a:t> prost. st.</a:t>
            </a:r>
            <a:endParaRPr lang="en-US" altLang="en-US" sz="1800"/>
          </a:p>
        </p:txBody>
      </p:sp>
      <p:sp>
        <p:nvSpPr>
          <p:cNvPr id="58376" name="Rectangle 7"/>
          <p:cNvSpPr>
            <a:spLocks noChangeArrowheads="1"/>
          </p:cNvSpPr>
          <p:nvPr/>
        </p:nvSpPr>
        <p:spPr bwMode="auto">
          <a:xfrm>
            <a:off x="1042988" y="3433763"/>
            <a:ext cx="13906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6600"/>
              </a:buClr>
              <a:buFontTx/>
              <a:buNone/>
            </a:pPr>
            <a:r>
              <a:rPr lang="sl-SI" altLang="en-US" sz="1800"/>
              <a:t>Podobnost</a:t>
            </a:r>
            <a:endParaRPr lang="en-US" altLang="en-US" sz="1800"/>
          </a:p>
          <a:p>
            <a:pPr eaLnBrk="1" hangingPunct="1">
              <a:spcBef>
                <a:spcPct val="0"/>
              </a:spcBef>
              <a:buClr>
                <a:srgbClr val="FF6600"/>
              </a:buClr>
              <a:buFontTx/>
              <a:buNone/>
            </a:pPr>
            <a:r>
              <a:rPr lang="en-US" altLang="en-US" sz="1800"/>
              <a:t>7</a:t>
            </a:r>
            <a:r>
              <a:rPr lang="sl-SI" altLang="en-US" sz="1800"/>
              <a:t> prost. st.</a:t>
            </a:r>
            <a:endParaRPr lang="en-US" altLang="en-US" sz="1800"/>
          </a:p>
        </p:txBody>
      </p:sp>
      <p:sp>
        <p:nvSpPr>
          <p:cNvPr id="58377" name="Rectangle 8"/>
          <p:cNvSpPr>
            <a:spLocks noChangeArrowheads="1"/>
          </p:cNvSpPr>
          <p:nvPr/>
        </p:nvSpPr>
        <p:spPr bwMode="auto">
          <a:xfrm>
            <a:off x="1042988" y="4365625"/>
            <a:ext cx="1390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6600"/>
              </a:buClr>
              <a:buFontTx/>
              <a:buNone/>
            </a:pPr>
            <a:r>
              <a:rPr lang="en-US" altLang="en-US" sz="1800"/>
              <a:t>E</a:t>
            </a:r>
            <a:r>
              <a:rPr lang="sl-SI" altLang="en-US" sz="1800"/>
              <a:t>vklidska</a:t>
            </a:r>
            <a:endParaRPr lang="en-US" altLang="en-US" sz="1800"/>
          </a:p>
          <a:p>
            <a:pPr eaLnBrk="1" hangingPunct="1">
              <a:spcBef>
                <a:spcPct val="0"/>
              </a:spcBef>
              <a:buClr>
                <a:srgbClr val="FF6600"/>
              </a:buClr>
              <a:buFontTx/>
              <a:buNone/>
            </a:pPr>
            <a:r>
              <a:rPr lang="en-US" altLang="en-US" sz="1800"/>
              <a:t>6</a:t>
            </a:r>
            <a:r>
              <a:rPr lang="sl-SI" altLang="en-US" sz="1800"/>
              <a:t> prost. st.</a:t>
            </a:r>
            <a:endParaRPr lang="en-US" altLang="en-US" sz="1800"/>
          </a:p>
        </p:txBody>
      </p:sp>
      <p:sp>
        <p:nvSpPr>
          <p:cNvPr id="58378" name="Rectangle 9"/>
          <p:cNvSpPr>
            <a:spLocks noChangeArrowheads="1"/>
          </p:cNvSpPr>
          <p:nvPr/>
        </p:nvSpPr>
        <p:spPr bwMode="auto">
          <a:xfrm>
            <a:off x="5586413" y="1233488"/>
            <a:ext cx="2593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6600"/>
              </a:buClr>
              <a:buFontTx/>
              <a:buNone/>
            </a:pPr>
            <a:r>
              <a:rPr lang="sl-SI" altLang="en-US" sz="1600"/>
              <a:t>Presečišča in dotikališča</a:t>
            </a:r>
            <a:endParaRPr lang="en-US" altLang="en-US" sz="1600"/>
          </a:p>
        </p:txBody>
      </p:sp>
      <p:sp>
        <p:nvSpPr>
          <p:cNvPr id="58379" name="Rectangle 10"/>
          <p:cNvSpPr>
            <a:spLocks noChangeArrowheads="1"/>
          </p:cNvSpPr>
          <p:nvPr/>
        </p:nvSpPr>
        <p:spPr bwMode="auto">
          <a:xfrm>
            <a:off x="5583238" y="2065338"/>
            <a:ext cx="25939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6600"/>
              </a:buClr>
              <a:buFontTx/>
              <a:buNone/>
            </a:pPr>
            <a:r>
              <a:rPr lang="en-US" altLang="en-US" sz="1600"/>
              <a:t>Paralel</a:t>
            </a:r>
            <a:r>
              <a:rPr lang="sl-SI" altLang="en-US" sz="1600"/>
              <a:t>nost ravnin</a:t>
            </a:r>
            <a:r>
              <a:rPr lang="en-US" altLang="en-US" sz="1600"/>
              <a:t>,</a:t>
            </a:r>
          </a:p>
          <a:p>
            <a:pPr eaLnBrk="1" hangingPunct="1">
              <a:spcBef>
                <a:spcPct val="0"/>
              </a:spcBef>
              <a:buClr>
                <a:srgbClr val="FF6600"/>
              </a:buClr>
              <a:buFontTx/>
              <a:buNone/>
            </a:pPr>
            <a:r>
              <a:rPr lang="sl-SI" altLang="en-US" sz="1600"/>
              <a:t>razmerja volumnov</a:t>
            </a:r>
            <a:r>
              <a:rPr lang="en-US" altLang="en-US" sz="1600"/>
              <a:t>, </a:t>
            </a:r>
            <a:r>
              <a:rPr lang="sl-SI" altLang="en-US" sz="1600"/>
              <a:t>težišča</a:t>
            </a:r>
            <a:r>
              <a:rPr lang="en-US" altLang="en-US" sz="1600"/>
              <a:t>,</a:t>
            </a:r>
            <a:r>
              <a:rPr lang="sl-SI" altLang="en-US" sz="1600"/>
              <a:t> ravnina v neskončnosti</a:t>
            </a:r>
            <a:r>
              <a:rPr lang="en-US" altLang="en-US" sz="1600"/>
              <a:t> </a:t>
            </a:r>
            <a:r>
              <a:rPr lang="el-GR" altLang="en-US" sz="1600"/>
              <a:t>π</a:t>
            </a:r>
            <a:r>
              <a:rPr lang="en-US" altLang="en-US" sz="1600" baseline="-25000"/>
              <a:t>∞</a:t>
            </a:r>
          </a:p>
        </p:txBody>
      </p:sp>
      <p:sp>
        <p:nvSpPr>
          <p:cNvPr id="58380" name="Rectangle 12"/>
          <p:cNvSpPr>
            <a:spLocks noChangeArrowheads="1"/>
          </p:cNvSpPr>
          <p:nvPr/>
        </p:nvSpPr>
        <p:spPr bwMode="auto">
          <a:xfrm>
            <a:off x="5586413" y="4505325"/>
            <a:ext cx="25939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6600"/>
              </a:buClr>
              <a:buFontTx/>
              <a:buNone/>
            </a:pPr>
            <a:r>
              <a:rPr lang="en-US" altLang="en-US" sz="1600"/>
              <a:t>Volume</a:t>
            </a:r>
            <a:r>
              <a:rPr lang="sl-SI" altLang="en-US" sz="1600"/>
              <a:t>n</a:t>
            </a:r>
            <a:endParaRPr lang="en-US" altLang="en-US" sz="1600"/>
          </a:p>
          <a:p>
            <a:pPr eaLnBrk="1" hangingPunct="1">
              <a:spcBef>
                <a:spcPct val="0"/>
              </a:spcBef>
              <a:buClr>
                <a:srgbClr val="FF6600"/>
              </a:buClr>
              <a:buFontTx/>
              <a:buNone/>
            </a:pPr>
            <a:endParaRPr lang="en-US" altLang="en-US" sz="1600" baseline="-25000"/>
          </a:p>
        </p:txBody>
      </p:sp>
      <p:graphicFrame>
        <p:nvGraphicFramePr>
          <p:cNvPr id="58381" name="Object 13"/>
          <p:cNvGraphicFramePr>
            <a:graphicFrameLocks noChangeAspect="1"/>
          </p:cNvGraphicFramePr>
          <p:nvPr/>
        </p:nvGraphicFramePr>
        <p:xfrm>
          <a:off x="2649538" y="2222500"/>
          <a:ext cx="908050" cy="793750"/>
        </p:xfrm>
        <a:graphic>
          <a:graphicData uri="http://schemas.openxmlformats.org/presentationml/2006/ole">
            <mc:AlternateContent xmlns:mc="http://schemas.openxmlformats.org/markup-compatibility/2006">
              <mc:Choice xmlns:v="urn:schemas-microsoft-com:vml" Requires="v">
                <p:oleObj spid="_x0000_s58497" name="Equation" r:id="rId7" imgW="520700" imgH="457200" progId="Equation.3">
                  <p:embed/>
                </p:oleObj>
              </mc:Choice>
              <mc:Fallback>
                <p:oleObj name="Equation" r:id="rId7" imgW="520700" imgH="4572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9538" y="2222500"/>
                        <a:ext cx="908050"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82" name="Object 14"/>
          <p:cNvGraphicFramePr>
            <a:graphicFrameLocks noChangeAspect="1"/>
          </p:cNvGraphicFramePr>
          <p:nvPr/>
        </p:nvGraphicFramePr>
        <p:xfrm>
          <a:off x="2649538" y="3433763"/>
          <a:ext cx="995362" cy="793750"/>
        </p:xfrm>
        <a:graphic>
          <a:graphicData uri="http://schemas.openxmlformats.org/presentationml/2006/ole">
            <mc:AlternateContent xmlns:mc="http://schemas.openxmlformats.org/markup-compatibility/2006">
              <mc:Choice xmlns:v="urn:schemas-microsoft-com:vml" Requires="v">
                <p:oleObj spid="_x0000_s58498" name="Equation" r:id="rId9" imgW="571500" imgH="457200" progId="Equation.3">
                  <p:embed/>
                </p:oleObj>
              </mc:Choice>
              <mc:Fallback>
                <p:oleObj name="Equation" r:id="rId9" imgW="571500" imgH="45720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49538" y="3433763"/>
                        <a:ext cx="995362"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83" name="Object 15"/>
          <p:cNvGraphicFramePr>
            <a:graphicFrameLocks noChangeAspect="1"/>
          </p:cNvGraphicFramePr>
          <p:nvPr/>
        </p:nvGraphicFramePr>
        <p:xfrm>
          <a:off x="2695575" y="4365625"/>
          <a:ext cx="906463" cy="793750"/>
        </p:xfrm>
        <a:graphic>
          <a:graphicData uri="http://schemas.openxmlformats.org/presentationml/2006/ole">
            <mc:AlternateContent xmlns:mc="http://schemas.openxmlformats.org/markup-compatibility/2006">
              <mc:Choice xmlns:v="urn:schemas-microsoft-com:vml" Requires="v">
                <p:oleObj spid="_x0000_s58499" name="Equation" r:id="rId11" imgW="520700" imgH="457200" progId="Equation.3">
                  <p:embed/>
                </p:oleObj>
              </mc:Choice>
              <mc:Fallback>
                <p:oleObj name="Equation" r:id="rId11" imgW="520700" imgH="457200"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95575" y="4365625"/>
                        <a:ext cx="906463"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8384" name="Picture 16" descr="img309"/>
          <p:cNvPicPr>
            <a:picLocks noChangeAspect="1" noChangeArrowheads="1"/>
          </p:cNvPicPr>
          <p:nvPr/>
        </p:nvPicPr>
        <p:blipFill>
          <a:blip r:embed="rId4">
            <a:clrChange>
              <a:clrFrom>
                <a:srgbClr val="B3B3B3"/>
              </a:clrFrom>
              <a:clrTo>
                <a:srgbClr val="B3B3B3">
                  <a:alpha val="0"/>
                </a:srgbClr>
              </a:clrTo>
            </a:clrChange>
            <a:extLst>
              <a:ext uri="{28A0092B-C50C-407E-A947-70E740481C1C}">
                <a14:useLocalDpi xmlns:a14="http://schemas.microsoft.com/office/drawing/2010/main" val="0"/>
              </a:ext>
            </a:extLst>
          </a:blip>
          <a:srcRect l="-1744" t="77388" r="70471"/>
          <a:stretch>
            <a:fillRect/>
          </a:stretch>
        </p:blipFill>
        <p:spPr bwMode="auto">
          <a:xfrm>
            <a:off x="5595938" y="5159375"/>
            <a:ext cx="9779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85" name="Rectangle 11"/>
          <p:cNvSpPr>
            <a:spLocks noChangeArrowheads="1"/>
          </p:cNvSpPr>
          <p:nvPr/>
        </p:nvSpPr>
        <p:spPr bwMode="auto">
          <a:xfrm>
            <a:off x="5651500" y="3429000"/>
            <a:ext cx="2593975"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6600"/>
              </a:buClr>
              <a:buFontTx/>
              <a:buNone/>
            </a:pPr>
            <a:r>
              <a:rPr lang="sl-SI" altLang="en-US" sz="1600"/>
              <a:t>Koti</a:t>
            </a:r>
            <a:r>
              <a:rPr lang="en-US" altLang="en-US" sz="1600"/>
              <a:t>, </a:t>
            </a:r>
            <a:r>
              <a:rPr lang="sl-SI" altLang="en-US" sz="1600"/>
              <a:t>razmerja dolžin,</a:t>
            </a:r>
            <a:endParaRPr lang="en-US" altLang="en-US" sz="1600"/>
          </a:p>
          <a:p>
            <a:pPr eaLnBrk="1" hangingPunct="1">
              <a:spcBef>
                <a:spcPct val="0"/>
              </a:spcBef>
              <a:buClr>
                <a:srgbClr val="FF6600"/>
              </a:buClr>
              <a:buFontTx/>
              <a:buNone/>
            </a:pPr>
            <a:r>
              <a:rPr lang="sl-SI" altLang="en-US" sz="1600"/>
              <a:t>absolutna stožnica</a:t>
            </a:r>
            <a:r>
              <a:rPr lang="en-US" altLang="en-US" sz="1600"/>
              <a:t> </a:t>
            </a:r>
            <a:r>
              <a:rPr lang="el-GR" altLang="en-US" sz="1600"/>
              <a:t>Ω</a:t>
            </a:r>
            <a:r>
              <a:rPr lang="en-US" altLang="en-US" sz="1800" baseline="-25000"/>
              <a:t>∞</a:t>
            </a:r>
            <a:endParaRPr lang="el-GR" altLang="en-US" sz="1600" baseline="-25000"/>
          </a:p>
          <a:p>
            <a:pPr eaLnBrk="1" hangingPunct="1">
              <a:spcBef>
                <a:spcPct val="0"/>
              </a:spcBef>
              <a:buClr>
                <a:srgbClr val="FF6600"/>
              </a:buClr>
              <a:buFontTx/>
              <a:buNone/>
            </a:pPr>
            <a:endParaRPr lang="en-US" altLang="en-US" sz="1600" baseline="-25000"/>
          </a:p>
        </p:txBody>
      </p:sp>
      <p:sp>
        <p:nvSpPr>
          <p:cNvPr id="5838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58387"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0C7EF47-C3F1-41FA-8E5D-86C07F7358D1}" type="slidenum">
              <a:rPr lang="en-GB" altLang="sl-SI" sz="1400" smtClean="0"/>
              <a:pPr>
                <a:spcBef>
                  <a:spcPct val="0"/>
                </a:spcBef>
                <a:buFontTx/>
                <a:buNone/>
              </a:pPr>
              <a:t>31</a:t>
            </a:fld>
            <a:endParaRPr lang="en-GB" altLang="sl-SI" sz="1400"/>
          </a:p>
        </p:txBody>
      </p:sp>
    </p:spTree>
  </p:cSld>
  <p:clrMapOvr>
    <a:masterClrMapping/>
  </p:clrMapOvr>
  <p:transition>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6041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6B2EC24-D385-44B5-BA6B-B05EE58AE3AB}" type="slidenum">
              <a:rPr lang="en-GB" altLang="en-US" sz="1400" smtClean="0"/>
              <a:pPr>
                <a:spcBef>
                  <a:spcPct val="0"/>
                </a:spcBef>
                <a:buFontTx/>
                <a:buNone/>
              </a:pPr>
              <a:t>32</a:t>
            </a:fld>
            <a:endParaRPr lang="en-GB" altLang="en-US" sz="1400"/>
          </a:p>
        </p:txBody>
      </p:sp>
      <p:sp>
        <p:nvSpPr>
          <p:cNvPr id="60420" name="Rectangle 2"/>
          <p:cNvSpPr>
            <a:spLocks noGrp="1" noChangeArrowheads="1"/>
          </p:cNvSpPr>
          <p:nvPr>
            <p:ph type="body" idx="1"/>
          </p:nvPr>
        </p:nvSpPr>
        <p:spPr>
          <a:xfrm>
            <a:off x="468313" y="2708275"/>
            <a:ext cx="8229600" cy="1008063"/>
          </a:xfrm>
        </p:spPr>
        <p:txBody>
          <a:bodyPr/>
          <a:lstStyle/>
          <a:p>
            <a:pPr algn="ctr" eaLnBrk="1" hangingPunct="1">
              <a:buFontTx/>
              <a:buNone/>
            </a:pPr>
            <a:r>
              <a:rPr lang="sl-SI" altLang="en-US" sz="3600"/>
              <a:t>Kalibracija kamer</a:t>
            </a:r>
          </a:p>
        </p:txBody>
      </p:sp>
    </p:spTree>
  </p:cSld>
  <p:clrMapOvr>
    <a:masterClrMapping/>
  </p:clrMapOvr>
  <p:transition>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ctrTitle"/>
          </p:nvPr>
        </p:nvSpPr>
        <p:spPr>
          <a:xfrm>
            <a:off x="539750" y="188913"/>
            <a:ext cx="7772400" cy="719137"/>
          </a:xfrm>
        </p:spPr>
        <p:txBody>
          <a:bodyPr/>
          <a:lstStyle/>
          <a:p>
            <a:pPr eaLnBrk="1" hangingPunct="1">
              <a:lnSpc>
                <a:spcPct val="130000"/>
              </a:lnSpc>
            </a:pPr>
            <a:r>
              <a:rPr lang="sl-SI" altLang="en-US" sz="2800" b="1"/>
              <a:t>LASTNOSTI CCD-KAMER</a:t>
            </a:r>
            <a:endParaRPr lang="en-GB" altLang="en-US" sz="2400" b="1"/>
          </a:p>
        </p:txBody>
      </p:sp>
      <p:sp>
        <p:nvSpPr>
          <p:cNvPr id="24607" name="PoljeZBesedilom 24606"/>
          <p:cNvSpPr txBox="1"/>
          <p:nvPr/>
        </p:nvSpPr>
        <p:spPr>
          <a:xfrm>
            <a:off x="1601788" y="4221163"/>
            <a:ext cx="4994275" cy="1846262"/>
          </a:xfrm>
          <a:prstGeom prst="rect">
            <a:avLst/>
          </a:prstGeom>
          <a:noFill/>
        </p:spPr>
        <p:txBody>
          <a:bodyPr wrap="none">
            <a:spAutoFit/>
          </a:bodyPr>
          <a:lstStyle/>
          <a:p>
            <a:pPr eaLnBrk="1" hangingPunct="1">
              <a:defRPr/>
            </a:pPr>
            <a:r>
              <a:rPr lang="sl-SI" sz="1600" u="sng" dirty="0">
                <a:latin typeface="Arial" charset="0"/>
                <a:cs typeface="Arial" charset="0"/>
              </a:rPr>
              <a:t>Oznake</a:t>
            </a:r>
            <a:r>
              <a:rPr lang="sl-SI" sz="1600" dirty="0">
                <a:latin typeface="Arial" charset="0"/>
                <a:cs typeface="Arial" charset="0"/>
              </a:rPr>
              <a:t>:</a:t>
            </a:r>
          </a:p>
          <a:p>
            <a:pPr eaLnBrk="1" hangingPunct="1">
              <a:defRPr/>
            </a:pPr>
            <a:r>
              <a:rPr lang="sl-SI" sz="1400" b="1" dirty="0">
                <a:latin typeface="Arial" charset="0"/>
                <a:cs typeface="Arial" charset="0"/>
              </a:rPr>
              <a:t>0</a:t>
            </a:r>
            <a:r>
              <a:rPr lang="sl-SI" sz="1100" i="1" dirty="0">
                <a:latin typeface="Arial" charset="0"/>
                <a:cs typeface="Arial" charset="0"/>
              </a:rPr>
              <a:t>c</a:t>
            </a:r>
            <a:r>
              <a:rPr lang="sl-SI" sz="1400" dirty="0">
                <a:latin typeface="Arial" charset="0"/>
                <a:cs typeface="Arial" charset="0"/>
              </a:rPr>
              <a:t> – središče kamerinega koordinatnega sistema</a:t>
            </a:r>
          </a:p>
          <a:p>
            <a:pPr eaLnBrk="1" hangingPunct="1">
              <a:defRPr/>
            </a:pPr>
            <a:r>
              <a:rPr lang="sl-SI" sz="1400" b="1" dirty="0">
                <a:latin typeface="Arial" charset="0"/>
                <a:cs typeface="Arial" charset="0"/>
              </a:rPr>
              <a:t>0</a:t>
            </a:r>
            <a:r>
              <a:rPr lang="sl-SI" sz="1100" i="1" dirty="0">
                <a:latin typeface="Arial" charset="0"/>
                <a:cs typeface="Arial" charset="0"/>
              </a:rPr>
              <a:t>s</a:t>
            </a:r>
            <a:r>
              <a:rPr lang="sl-SI" sz="1400" dirty="0">
                <a:latin typeface="Arial" charset="0"/>
                <a:cs typeface="Arial" charset="0"/>
              </a:rPr>
              <a:t> – središče slikovnega koordinatnega sistema</a:t>
            </a:r>
          </a:p>
          <a:p>
            <a:pPr eaLnBrk="1" hangingPunct="1">
              <a:defRPr/>
            </a:pPr>
            <a:r>
              <a:rPr lang="sl-SI" sz="1400" dirty="0">
                <a:latin typeface="Arial" charset="0"/>
                <a:cs typeface="Arial" charset="0"/>
              </a:rPr>
              <a:t>(</a:t>
            </a:r>
            <a:r>
              <a:rPr lang="sl-SI" sz="1400" i="1" dirty="0" err="1">
                <a:latin typeface="Arial" charset="0"/>
                <a:cs typeface="Arial" charset="0"/>
              </a:rPr>
              <a:t>x</a:t>
            </a:r>
            <a:r>
              <a:rPr lang="sl-SI" sz="1050" i="1" dirty="0" err="1">
                <a:latin typeface="Arial" charset="0"/>
                <a:cs typeface="Arial" charset="0"/>
              </a:rPr>
              <a:t>s</a:t>
            </a:r>
            <a:r>
              <a:rPr lang="sl-SI" sz="1400" i="1" dirty="0">
                <a:latin typeface="Arial" charset="0"/>
                <a:cs typeface="Arial" charset="0"/>
              </a:rPr>
              <a:t>,</a:t>
            </a:r>
            <a:r>
              <a:rPr lang="sl-SI" sz="1050" i="1" dirty="0">
                <a:latin typeface="Arial" charset="0"/>
                <a:cs typeface="Arial" charset="0"/>
              </a:rPr>
              <a:t>0</a:t>
            </a:r>
            <a:r>
              <a:rPr lang="sl-SI" sz="1400" i="1" dirty="0">
                <a:latin typeface="Arial" charset="0"/>
                <a:cs typeface="Arial" charset="0"/>
              </a:rPr>
              <a:t>;</a:t>
            </a:r>
            <a:r>
              <a:rPr lang="sl-SI" sz="1400" i="1" dirty="0" err="1">
                <a:latin typeface="Arial" charset="0"/>
                <a:cs typeface="Arial" charset="0"/>
              </a:rPr>
              <a:t>y</a:t>
            </a:r>
            <a:r>
              <a:rPr lang="sl-SI" sz="1050" i="1" dirty="0" err="1">
                <a:latin typeface="Arial" charset="0"/>
                <a:cs typeface="Arial" charset="0"/>
              </a:rPr>
              <a:t>s</a:t>
            </a:r>
            <a:r>
              <a:rPr lang="sl-SI" sz="1400" i="1" dirty="0">
                <a:latin typeface="Arial" charset="0"/>
                <a:cs typeface="Arial" charset="0"/>
              </a:rPr>
              <a:t>,</a:t>
            </a:r>
            <a:r>
              <a:rPr lang="sl-SI" sz="1050" i="1" dirty="0">
                <a:latin typeface="Arial" charset="0"/>
                <a:cs typeface="Arial" charset="0"/>
              </a:rPr>
              <a:t>0</a:t>
            </a:r>
            <a:r>
              <a:rPr lang="sl-SI" sz="1400" dirty="0">
                <a:latin typeface="Arial" charset="0"/>
                <a:cs typeface="Arial" charset="0"/>
              </a:rPr>
              <a:t>) – premik slikovnega središča od optične osi</a:t>
            </a:r>
            <a:endParaRPr lang="sl-SI" sz="1400" i="1" dirty="0">
              <a:latin typeface="Arial" charset="0"/>
              <a:cs typeface="Arial" charset="0"/>
            </a:endParaRPr>
          </a:p>
          <a:p>
            <a:pPr eaLnBrk="1" hangingPunct="1">
              <a:defRPr/>
            </a:pPr>
            <a:r>
              <a:rPr lang="sl-SI" sz="1400" dirty="0">
                <a:latin typeface="Arial" charset="0"/>
                <a:cs typeface="Arial" charset="0"/>
              </a:rPr>
              <a:t>1/</a:t>
            </a:r>
            <a:r>
              <a:rPr lang="sl-SI" sz="1400" i="1" dirty="0">
                <a:latin typeface="Arial" charset="0"/>
                <a:cs typeface="Arial" charset="0"/>
              </a:rPr>
              <a:t>k </a:t>
            </a:r>
            <a:r>
              <a:rPr lang="sl-SI" sz="1400" dirty="0">
                <a:latin typeface="Arial" charset="0"/>
                <a:cs typeface="Arial" charset="0"/>
              </a:rPr>
              <a:t>– širina </a:t>
            </a:r>
            <a:r>
              <a:rPr lang="sl-SI" sz="1400" dirty="0" err="1">
                <a:latin typeface="Arial" charset="0"/>
                <a:cs typeface="Arial" charset="0"/>
              </a:rPr>
              <a:t>piksla</a:t>
            </a:r>
            <a:endParaRPr lang="sl-SI" sz="1400" dirty="0">
              <a:latin typeface="Arial" charset="0"/>
              <a:cs typeface="Arial" charset="0"/>
            </a:endParaRPr>
          </a:p>
          <a:p>
            <a:pPr eaLnBrk="1" hangingPunct="1">
              <a:defRPr/>
            </a:pPr>
            <a:r>
              <a:rPr lang="sl-SI" sz="1400" dirty="0">
                <a:latin typeface="Arial" charset="0"/>
                <a:cs typeface="Arial" charset="0"/>
              </a:rPr>
              <a:t>1/</a:t>
            </a:r>
            <a:r>
              <a:rPr lang="sl-SI" sz="1400" i="1" dirty="0">
                <a:latin typeface="Arial" charset="0"/>
                <a:cs typeface="Arial" charset="0"/>
              </a:rPr>
              <a:t>l </a:t>
            </a:r>
            <a:r>
              <a:rPr lang="sl-SI" sz="1400" dirty="0">
                <a:latin typeface="Arial" charset="0"/>
                <a:cs typeface="Arial" charset="0"/>
              </a:rPr>
              <a:t>– višina </a:t>
            </a:r>
            <a:r>
              <a:rPr lang="sl-SI" sz="1400" dirty="0" err="1">
                <a:latin typeface="Arial" charset="0"/>
                <a:cs typeface="Arial" charset="0"/>
              </a:rPr>
              <a:t>piksla</a:t>
            </a:r>
            <a:endParaRPr lang="sl-SI" sz="1400" dirty="0">
              <a:latin typeface="Arial" charset="0"/>
              <a:cs typeface="Arial" charset="0"/>
            </a:endParaRPr>
          </a:p>
          <a:p>
            <a:pPr eaLnBrk="1" hangingPunct="1">
              <a:defRPr/>
            </a:pPr>
            <a:r>
              <a:rPr lang="sl-SI" sz="1400" i="1" dirty="0">
                <a:latin typeface="Arial" charset="0"/>
                <a:cs typeface="Arial" charset="0"/>
              </a:rPr>
              <a:t>f</a:t>
            </a:r>
            <a:r>
              <a:rPr lang="sl-SI" sz="1400" dirty="0">
                <a:latin typeface="Arial" charset="0"/>
                <a:cs typeface="Arial" charset="0"/>
              </a:rPr>
              <a:t> – goriščna razdalja</a:t>
            </a:r>
          </a:p>
          <a:p>
            <a:pPr eaLnBrk="1" hangingPunct="1">
              <a:defRPr/>
            </a:pPr>
            <a:r>
              <a:rPr lang="sl-SI" sz="1400" i="1" dirty="0">
                <a:latin typeface="Arial" charset="0"/>
                <a:cs typeface="Arial" charset="0"/>
                <a:sym typeface="Symbol"/>
              </a:rPr>
              <a:t> </a:t>
            </a:r>
            <a:r>
              <a:rPr lang="sl-SI" sz="1400" dirty="0">
                <a:latin typeface="Arial" charset="0"/>
                <a:cs typeface="Arial" charset="0"/>
              </a:rPr>
              <a:t>–</a:t>
            </a:r>
            <a:r>
              <a:rPr lang="sl-SI" sz="1400" dirty="0">
                <a:latin typeface="Arial" charset="0"/>
                <a:cs typeface="Arial" charset="0"/>
                <a:sym typeface="Symbol"/>
              </a:rPr>
              <a:t> nagib slikovnih osi (optični element nima pravokotnih osi)</a:t>
            </a:r>
            <a:endParaRPr lang="sl-SI" sz="1400" dirty="0">
              <a:latin typeface="Arial" charset="0"/>
              <a:cs typeface="Arial" charset="0"/>
            </a:endParaRPr>
          </a:p>
        </p:txBody>
      </p:sp>
      <p:grpSp>
        <p:nvGrpSpPr>
          <p:cNvPr id="62468" name="Skupina 175"/>
          <p:cNvGrpSpPr>
            <a:grpSpLocks/>
          </p:cNvGrpSpPr>
          <p:nvPr/>
        </p:nvGrpSpPr>
        <p:grpSpPr bwMode="auto">
          <a:xfrm>
            <a:off x="3138488" y="5145088"/>
            <a:ext cx="5897562" cy="638175"/>
            <a:chOff x="3138043" y="5144417"/>
            <a:chExt cx="5898453" cy="639361"/>
          </a:xfrm>
        </p:grpSpPr>
        <p:sp>
          <p:nvSpPr>
            <p:cNvPr id="62538" name="PoljeZBesedilom 159"/>
            <p:cNvSpPr txBox="1">
              <a:spLocks noChangeArrowheads="1"/>
            </p:cNvSpPr>
            <p:nvPr/>
          </p:nvSpPr>
          <p:spPr bwMode="auto">
            <a:xfrm>
              <a:off x="6479386" y="5445224"/>
              <a:ext cx="25571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solidFill>
                    <a:srgbClr val="FFC000"/>
                  </a:solidFill>
                </a:rPr>
                <a:t>Notranji parametri kamere</a:t>
              </a:r>
            </a:p>
          </p:txBody>
        </p:sp>
        <p:cxnSp>
          <p:nvCxnSpPr>
            <p:cNvPr id="162" name="Raven puščični povezovalnik 161"/>
            <p:cNvCxnSpPr>
              <a:stCxn id="62538" idx="1"/>
            </p:cNvCxnSpPr>
            <p:nvPr/>
          </p:nvCxnSpPr>
          <p:spPr>
            <a:xfrm flipH="1" flipV="1">
              <a:off x="5675251" y="5144417"/>
              <a:ext cx="803396" cy="470773"/>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22" name="Raven puščični povezovalnik 221"/>
            <p:cNvCxnSpPr>
              <a:stCxn id="62538" idx="1"/>
            </p:cNvCxnSpPr>
            <p:nvPr/>
          </p:nvCxnSpPr>
          <p:spPr>
            <a:xfrm flipH="1" flipV="1">
              <a:off x="3138043" y="5297100"/>
              <a:ext cx="3340605" cy="318090"/>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23" name="Raven puščični povezovalnik 222"/>
            <p:cNvCxnSpPr/>
            <p:nvPr/>
          </p:nvCxnSpPr>
          <p:spPr>
            <a:xfrm flipH="1" flipV="1">
              <a:off x="3138043" y="5456145"/>
              <a:ext cx="3340605" cy="159045"/>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24" name="Raven puščični povezovalnik 223"/>
            <p:cNvCxnSpPr>
              <a:stCxn id="62538" idx="1"/>
            </p:cNvCxnSpPr>
            <p:nvPr/>
          </p:nvCxnSpPr>
          <p:spPr>
            <a:xfrm flipH="1">
              <a:off x="3325396" y="5615190"/>
              <a:ext cx="3153251" cy="46123"/>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25" name="Raven puščični povezovalnik 224"/>
            <p:cNvCxnSpPr>
              <a:stCxn id="62538" idx="1"/>
            </p:cNvCxnSpPr>
            <p:nvPr/>
          </p:nvCxnSpPr>
          <p:spPr>
            <a:xfrm flipH="1">
              <a:off x="6183328" y="5615190"/>
              <a:ext cx="295320" cy="168588"/>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grpSp>
        <p:nvGrpSpPr>
          <p:cNvPr id="62469" name="Skupina 186"/>
          <p:cNvGrpSpPr>
            <a:grpSpLocks/>
          </p:cNvGrpSpPr>
          <p:nvPr/>
        </p:nvGrpSpPr>
        <p:grpSpPr bwMode="auto">
          <a:xfrm>
            <a:off x="755650" y="981075"/>
            <a:ext cx="7129463" cy="3238500"/>
            <a:chOff x="755576" y="980728"/>
            <a:chExt cx="7128792" cy="3239616"/>
          </a:xfrm>
        </p:grpSpPr>
        <p:grpSp>
          <p:nvGrpSpPr>
            <p:cNvPr id="62472" name="Skupina 24605"/>
            <p:cNvGrpSpPr>
              <a:grpSpLocks/>
            </p:cNvGrpSpPr>
            <p:nvPr/>
          </p:nvGrpSpPr>
          <p:grpSpPr bwMode="auto">
            <a:xfrm>
              <a:off x="1449306" y="980728"/>
              <a:ext cx="6435062" cy="3239616"/>
              <a:chOff x="1089266" y="858416"/>
              <a:chExt cx="7087296" cy="3599656"/>
            </a:xfrm>
          </p:grpSpPr>
          <p:grpSp>
            <p:nvGrpSpPr>
              <p:cNvPr id="62475" name="Skupina 110"/>
              <p:cNvGrpSpPr>
                <a:grpSpLocks/>
              </p:cNvGrpSpPr>
              <p:nvPr/>
            </p:nvGrpSpPr>
            <p:grpSpPr bwMode="auto">
              <a:xfrm>
                <a:off x="3053142" y="1218456"/>
                <a:ext cx="1955068" cy="2642592"/>
                <a:chOff x="3841068" y="1124744"/>
                <a:chExt cx="1955068" cy="2642592"/>
              </a:xfrm>
            </p:grpSpPr>
            <p:cxnSp>
              <p:nvCxnSpPr>
                <p:cNvPr id="6" name="Raven povezovalnik 5"/>
                <p:cNvCxnSpPr/>
                <p:nvPr/>
              </p:nvCxnSpPr>
              <p:spPr>
                <a:xfrm>
                  <a:off x="3840401" y="1916947"/>
                  <a:ext cx="61189" cy="1850999"/>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6" name="Raven povezovalnik 115"/>
                <p:cNvCxnSpPr/>
                <p:nvPr/>
              </p:nvCxnSpPr>
              <p:spPr>
                <a:xfrm>
                  <a:off x="5735491" y="1124670"/>
                  <a:ext cx="61189" cy="1851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7" name="Raven povezovalnik 116"/>
                <p:cNvCxnSpPr/>
                <p:nvPr/>
              </p:nvCxnSpPr>
              <p:spPr>
                <a:xfrm flipV="1">
                  <a:off x="3901590" y="2975670"/>
                  <a:ext cx="1895090" cy="79227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0" name="Raven povezovalnik 119"/>
                <p:cNvCxnSpPr/>
                <p:nvPr/>
              </p:nvCxnSpPr>
              <p:spPr>
                <a:xfrm flipV="1">
                  <a:off x="3850890" y="1124670"/>
                  <a:ext cx="1895090" cy="79227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cxnSp>
            <p:nvCxnSpPr>
              <p:cNvPr id="122" name="Raven povezovalnik 121"/>
              <p:cNvCxnSpPr/>
              <p:nvPr/>
            </p:nvCxnSpPr>
            <p:spPr>
              <a:xfrm flipH="1" flipV="1">
                <a:off x="3265760" y="2010659"/>
                <a:ext cx="57692" cy="172748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Raven povezovalnik 125"/>
              <p:cNvCxnSpPr/>
              <p:nvPr/>
            </p:nvCxnSpPr>
            <p:spPr>
              <a:xfrm flipH="1" flipV="1">
                <a:off x="3508765" y="1865967"/>
                <a:ext cx="59440" cy="1729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Raven povezovalnik 126"/>
              <p:cNvCxnSpPr/>
              <p:nvPr/>
            </p:nvCxnSpPr>
            <p:spPr>
              <a:xfrm flipH="1" flipV="1">
                <a:off x="4760504" y="1371897"/>
                <a:ext cx="59440" cy="1729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Raven povezovalnik 127"/>
              <p:cNvCxnSpPr/>
              <p:nvPr/>
            </p:nvCxnSpPr>
            <p:spPr>
              <a:xfrm flipH="1" flipV="1">
                <a:off x="4269248" y="1581876"/>
                <a:ext cx="59440" cy="1729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Raven povezovalnik 128"/>
              <p:cNvCxnSpPr/>
              <p:nvPr/>
            </p:nvCxnSpPr>
            <p:spPr>
              <a:xfrm flipH="1" flipV="1">
                <a:off x="3750022" y="1798915"/>
                <a:ext cx="59440" cy="172748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Raven povezovalnik 129"/>
              <p:cNvCxnSpPr/>
              <p:nvPr/>
            </p:nvCxnSpPr>
            <p:spPr>
              <a:xfrm flipH="1" flipV="1">
                <a:off x="4529737" y="1477769"/>
                <a:ext cx="57691" cy="172748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Raven povezovalnik 130"/>
              <p:cNvCxnSpPr/>
              <p:nvPr/>
            </p:nvCxnSpPr>
            <p:spPr>
              <a:xfrm flipH="1" flipV="1">
                <a:off x="4008761" y="1678926"/>
                <a:ext cx="57691" cy="172748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Raven povezovalnik 131"/>
              <p:cNvCxnSpPr/>
              <p:nvPr/>
            </p:nvCxnSpPr>
            <p:spPr>
              <a:xfrm flipV="1">
                <a:off x="3064713" y="1433655"/>
                <a:ext cx="1893342" cy="8646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Raven povezovalnik 134"/>
              <p:cNvCxnSpPr/>
              <p:nvPr/>
            </p:nvCxnSpPr>
            <p:spPr>
              <a:xfrm flipV="1">
                <a:off x="3078699" y="1617167"/>
                <a:ext cx="1893342" cy="86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Raven povezovalnik 135"/>
              <p:cNvCxnSpPr/>
              <p:nvPr/>
            </p:nvCxnSpPr>
            <p:spPr>
              <a:xfrm flipV="1">
                <a:off x="3082195" y="1811266"/>
                <a:ext cx="1895091" cy="86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Raven povezovalnik 136"/>
              <p:cNvCxnSpPr/>
              <p:nvPr/>
            </p:nvCxnSpPr>
            <p:spPr>
              <a:xfrm flipV="1">
                <a:off x="3092685" y="2019482"/>
                <a:ext cx="1893342" cy="8646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Raven povezovalnik 137"/>
              <p:cNvCxnSpPr/>
              <p:nvPr/>
            </p:nvCxnSpPr>
            <p:spPr>
              <a:xfrm flipV="1">
                <a:off x="3101425" y="2220639"/>
                <a:ext cx="1895091" cy="86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Raven povezovalnik 138"/>
              <p:cNvCxnSpPr/>
              <p:nvPr/>
            </p:nvCxnSpPr>
            <p:spPr>
              <a:xfrm flipV="1">
                <a:off x="3101425" y="2425325"/>
                <a:ext cx="1895091" cy="8646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Raven povezovalnik 139"/>
              <p:cNvCxnSpPr/>
              <p:nvPr/>
            </p:nvCxnSpPr>
            <p:spPr>
              <a:xfrm flipV="1">
                <a:off x="3117160" y="2607073"/>
                <a:ext cx="1893342" cy="8646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Raven povezovalnik 140"/>
              <p:cNvCxnSpPr/>
              <p:nvPr/>
            </p:nvCxnSpPr>
            <p:spPr>
              <a:xfrm flipV="1">
                <a:off x="3120656" y="2801172"/>
                <a:ext cx="1895091" cy="8646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2491" name="Skupina 132"/>
              <p:cNvGrpSpPr>
                <a:grpSpLocks/>
              </p:cNvGrpSpPr>
              <p:nvPr/>
            </p:nvGrpSpPr>
            <p:grpSpPr bwMode="auto">
              <a:xfrm>
                <a:off x="4551779" y="1890142"/>
                <a:ext cx="238125" cy="336426"/>
                <a:chOff x="5339705" y="1796430"/>
                <a:chExt cx="238125" cy="336426"/>
              </a:xfrm>
            </p:grpSpPr>
            <p:grpSp>
              <p:nvGrpSpPr>
                <p:cNvPr id="62529" name="Skupina 124"/>
                <p:cNvGrpSpPr>
                  <a:grpSpLocks/>
                </p:cNvGrpSpPr>
                <p:nvPr/>
              </p:nvGrpSpPr>
              <p:grpSpPr bwMode="auto">
                <a:xfrm>
                  <a:off x="5339705" y="1821954"/>
                  <a:ext cx="238125" cy="310902"/>
                  <a:chOff x="5339705" y="1821954"/>
                  <a:chExt cx="238125" cy="310902"/>
                </a:xfrm>
              </p:grpSpPr>
              <p:cxnSp>
                <p:nvCxnSpPr>
                  <p:cNvPr id="121" name="Raven povezovalnik 120"/>
                  <p:cNvCxnSpPr/>
                  <p:nvPr/>
                </p:nvCxnSpPr>
                <p:spPr>
                  <a:xfrm>
                    <a:off x="5340389" y="1916948"/>
                    <a:ext cx="0" cy="215274"/>
                  </a:xfrm>
                  <a:prstGeom prst="line">
                    <a:avLst/>
                  </a:prstGeom>
                  <a:ln w="25400">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145" name="Raven povezovalnik 144"/>
                  <p:cNvCxnSpPr/>
                  <p:nvPr/>
                </p:nvCxnSpPr>
                <p:spPr>
                  <a:xfrm>
                    <a:off x="5578149" y="1821663"/>
                    <a:ext cx="0" cy="215274"/>
                  </a:xfrm>
                  <a:prstGeom prst="line">
                    <a:avLst/>
                  </a:prstGeom>
                  <a:ln w="25400">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146" name="Raven povezovalnik 145"/>
                  <p:cNvCxnSpPr/>
                  <p:nvPr/>
                </p:nvCxnSpPr>
                <p:spPr>
                  <a:xfrm flipH="1">
                    <a:off x="5340389" y="2024584"/>
                    <a:ext cx="237760" cy="100579"/>
                  </a:xfrm>
                  <a:prstGeom prst="line">
                    <a:avLst/>
                  </a:prstGeom>
                  <a:ln w="25400">
                    <a:solidFill>
                      <a:srgbClr val="FF9933"/>
                    </a:solidFill>
                  </a:ln>
                </p:spPr>
                <p:style>
                  <a:lnRef idx="1">
                    <a:schemeClr val="accent1"/>
                  </a:lnRef>
                  <a:fillRef idx="0">
                    <a:schemeClr val="accent1"/>
                  </a:fillRef>
                  <a:effectRef idx="0">
                    <a:schemeClr val="accent1"/>
                  </a:effectRef>
                  <a:fontRef idx="minor">
                    <a:schemeClr val="tx1"/>
                  </a:fontRef>
                </p:style>
              </p:cxnSp>
            </p:grpSp>
            <p:cxnSp>
              <p:nvCxnSpPr>
                <p:cNvPr id="149" name="Raven povezovalnik 148"/>
                <p:cNvCxnSpPr/>
                <p:nvPr/>
              </p:nvCxnSpPr>
              <p:spPr>
                <a:xfrm flipH="1">
                  <a:off x="5340389" y="1796959"/>
                  <a:ext cx="237760" cy="100578"/>
                </a:xfrm>
                <a:prstGeom prst="line">
                  <a:avLst/>
                </a:prstGeom>
                <a:ln w="25400">
                  <a:solidFill>
                    <a:srgbClr val="FF9933"/>
                  </a:solidFill>
                </a:ln>
              </p:spPr>
              <p:style>
                <a:lnRef idx="1">
                  <a:schemeClr val="accent1"/>
                </a:lnRef>
                <a:fillRef idx="0">
                  <a:schemeClr val="accent1"/>
                </a:fillRef>
                <a:effectRef idx="0">
                  <a:schemeClr val="accent1"/>
                </a:effectRef>
                <a:fontRef idx="minor">
                  <a:schemeClr val="tx1"/>
                </a:fontRef>
              </p:style>
            </p:cxnSp>
          </p:grpSp>
          <p:sp>
            <p:nvSpPr>
              <p:cNvPr id="134" name="Elipsa 133"/>
              <p:cNvSpPr/>
              <p:nvPr/>
            </p:nvSpPr>
            <p:spPr>
              <a:xfrm>
                <a:off x="4029740" y="2532962"/>
                <a:ext cx="45454" cy="4587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sl-SI"/>
              </a:p>
            </p:txBody>
          </p:sp>
          <p:grpSp>
            <p:nvGrpSpPr>
              <p:cNvPr id="62493" name="Skupina 151"/>
              <p:cNvGrpSpPr>
                <a:grpSpLocks/>
              </p:cNvGrpSpPr>
              <p:nvPr/>
            </p:nvGrpSpPr>
            <p:grpSpPr bwMode="auto">
              <a:xfrm>
                <a:off x="3139008" y="2727971"/>
                <a:ext cx="789096" cy="1037055"/>
                <a:chOff x="3925815" y="3076960"/>
                <a:chExt cx="497394" cy="594353"/>
              </a:xfrm>
            </p:grpSpPr>
            <p:cxnSp>
              <p:nvCxnSpPr>
                <p:cNvPr id="144" name="Raven puščični povezovalnik 143"/>
                <p:cNvCxnSpPr/>
                <p:nvPr/>
              </p:nvCxnSpPr>
              <p:spPr>
                <a:xfrm flipH="1" flipV="1">
                  <a:off x="3925267" y="3077450"/>
                  <a:ext cx="23141" cy="591602"/>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55" name="Raven puščični povezovalnik 154"/>
                <p:cNvCxnSpPr/>
                <p:nvPr/>
              </p:nvCxnSpPr>
              <p:spPr>
                <a:xfrm flipV="1">
                  <a:off x="3946204" y="3478930"/>
                  <a:ext cx="477155" cy="192144"/>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cxnSp>
            <p:nvCxnSpPr>
              <p:cNvPr id="154" name="Raven povezovalnik 153"/>
              <p:cNvCxnSpPr/>
              <p:nvPr/>
            </p:nvCxnSpPr>
            <p:spPr>
              <a:xfrm flipV="1">
                <a:off x="5015747" y="1670103"/>
                <a:ext cx="279718" cy="11822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3" name="Raven povezovalnik 162"/>
              <p:cNvCxnSpPr/>
              <p:nvPr/>
            </p:nvCxnSpPr>
            <p:spPr>
              <a:xfrm flipV="1">
                <a:off x="5022740" y="1881848"/>
                <a:ext cx="279718" cy="119989"/>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7" name="Raven puščični povezovalnik 156"/>
              <p:cNvCxnSpPr/>
              <p:nvPr/>
            </p:nvCxnSpPr>
            <p:spPr>
              <a:xfrm>
                <a:off x="5229032" y="1687749"/>
                <a:ext cx="0" cy="238213"/>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6" name="Raven povezovalnik 165"/>
              <p:cNvCxnSpPr/>
              <p:nvPr/>
            </p:nvCxnSpPr>
            <p:spPr>
              <a:xfrm flipH="1" flipV="1">
                <a:off x="4839174" y="3191134"/>
                <a:ext cx="0" cy="278797"/>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9" name="Raven povezovalnik 168"/>
              <p:cNvCxnSpPr/>
              <p:nvPr/>
            </p:nvCxnSpPr>
            <p:spPr>
              <a:xfrm flipH="1" flipV="1">
                <a:off x="4599666" y="3305830"/>
                <a:ext cx="0" cy="278797"/>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0" name="Raven puščični povezovalnik 169"/>
              <p:cNvCxnSpPr/>
              <p:nvPr/>
            </p:nvCxnSpPr>
            <p:spPr>
              <a:xfrm flipV="1">
                <a:off x="4599666" y="3406408"/>
                <a:ext cx="239508" cy="116459"/>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62500" name="Skupina 24589"/>
              <p:cNvGrpSpPr>
                <a:grpSpLocks/>
              </p:cNvGrpSpPr>
              <p:nvPr/>
            </p:nvGrpSpPr>
            <p:grpSpPr bwMode="auto">
              <a:xfrm>
                <a:off x="1335802" y="1218456"/>
                <a:ext cx="5184576" cy="1368152"/>
                <a:chOff x="2123728" y="1124744"/>
                <a:chExt cx="5184576" cy="1368152"/>
              </a:xfrm>
            </p:grpSpPr>
            <p:cxnSp>
              <p:nvCxnSpPr>
                <p:cNvPr id="24582" name="Raven puščični povezovalnik 24581"/>
                <p:cNvCxnSpPr/>
                <p:nvPr/>
              </p:nvCxnSpPr>
              <p:spPr>
                <a:xfrm flipV="1">
                  <a:off x="2123630" y="2435722"/>
                  <a:ext cx="5185275" cy="5646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587" name="Raven puščični povezovalnik 24586"/>
                <p:cNvCxnSpPr/>
                <p:nvPr/>
              </p:nvCxnSpPr>
              <p:spPr>
                <a:xfrm flipV="1">
                  <a:off x="2123630" y="2103989"/>
                  <a:ext cx="1368871" cy="37937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589" name="Raven puščični povezovalnik 24588"/>
                <p:cNvCxnSpPr/>
                <p:nvPr/>
              </p:nvCxnSpPr>
              <p:spPr>
                <a:xfrm flipV="1">
                  <a:off x="2123630" y="1124670"/>
                  <a:ext cx="0" cy="1367517"/>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62501" name="PoljeZBesedilom 24590"/>
              <p:cNvSpPr txBox="1">
                <a:spLocks noChangeArrowheads="1"/>
              </p:cNvSpPr>
              <p:nvPr/>
            </p:nvSpPr>
            <p:spPr bwMode="auto">
              <a:xfrm>
                <a:off x="4620369" y="3443615"/>
                <a:ext cx="505233" cy="37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1/</a:t>
                </a:r>
                <a:r>
                  <a:rPr lang="sl-SI" altLang="en-US" sz="1600" i="1"/>
                  <a:t>k</a:t>
                </a:r>
              </a:p>
            </p:txBody>
          </p:sp>
          <p:sp>
            <p:nvSpPr>
              <p:cNvPr id="62502" name="PoljeZBesedilom 180"/>
              <p:cNvSpPr txBox="1">
                <a:spLocks noChangeArrowheads="1"/>
              </p:cNvSpPr>
              <p:nvPr/>
            </p:nvSpPr>
            <p:spPr bwMode="auto">
              <a:xfrm>
                <a:off x="5230341" y="1621929"/>
                <a:ext cx="441682" cy="37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1/</a:t>
                </a:r>
                <a:r>
                  <a:rPr lang="sl-SI" altLang="en-US" sz="1600" i="1"/>
                  <a:t>l</a:t>
                </a:r>
              </a:p>
            </p:txBody>
          </p:sp>
          <p:sp>
            <p:nvSpPr>
              <p:cNvPr id="182" name="PoljeZBesedilom 181"/>
              <p:cNvSpPr txBox="1"/>
              <p:nvPr/>
            </p:nvSpPr>
            <p:spPr>
              <a:xfrm>
                <a:off x="6304198" y="2536491"/>
                <a:ext cx="363634" cy="338791"/>
              </a:xfrm>
              <a:prstGeom prst="rect">
                <a:avLst/>
              </a:prstGeom>
              <a:noFill/>
            </p:spPr>
            <p:txBody>
              <a:bodyPr wrap="none" anchor="ctr">
                <a:spAutoFit/>
              </a:bodyPr>
              <a:lstStyle/>
              <a:p>
                <a:pPr eaLnBrk="1" hangingPunct="1">
                  <a:defRPr/>
                </a:pPr>
                <a:r>
                  <a:rPr lang="sl-SI" sz="1600" i="1" dirty="0" err="1">
                    <a:latin typeface="Arial" charset="0"/>
                    <a:cs typeface="Arial" charset="0"/>
                  </a:rPr>
                  <a:t>z</a:t>
                </a:r>
                <a:r>
                  <a:rPr lang="sl-SI" sz="1050" i="1" dirty="0" err="1">
                    <a:latin typeface="Arial" charset="0"/>
                    <a:cs typeface="Arial" charset="0"/>
                  </a:rPr>
                  <a:t>c</a:t>
                </a:r>
                <a:endParaRPr lang="sl-SI" sz="1600" i="1" dirty="0">
                  <a:latin typeface="Arial" charset="0"/>
                  <a:cs typeface="Arial" charset="0"/>
                </a:endParaRPr>
              </a:p>
            </p:txBody>
          </p:sp>
          <p:sp>
            <p:nvSpPr>
              <p:cNvPr id="183" name="PoljeZBesedilom 182"/>
              <p:cNvSpPr txBox="1"/>
              <p:nvPr/>
            </p:nvSpPr>
            <p:spPr>
              <a:xfrm>
                <a:off x="2646883" y="1966545"/>
                <a:ext cx="354893" cy="338791"/>
              </a:xfrm>
              <a:prstGeom prst="rect">
                <a:avLst/>
              </a:prstGeom>
              <a:noFill/>
            </p:spPr>
            <p:txBody>
              <a:bodyPr wrap="none" anchor="ctr">
                <a:spAutoFit/>
              </a:bodyPr>
              <a:lstStyle/>
              <a:p>
                <a:pPr eaLnBrk="1" hangingPunct="1">
                  <a:defRPr/>
                </a:pPr>
                <a:r>
                  <a:rPr lang="sl-SI" sz="1600" i="1" dirty="0" err="1">
                    <a:latin typeface="Arial" charset="0"/>
                    <a:cs typeface="Arial" charset="0"/>
                  </a:rPr>
                  <a:t>x</a:t>
                </a:r>
                <a:r>
                  <a:rPr lang="sl-SI" sz="1050" i="1" dirty="0" err="1">
                    <a:latin typeface="Arial" charset="0"/>
                    <a:cs typeface="Arial" charset="0"/>
                  </a:rPr>
                  <a:t>c</a:t>
                </a:r>
                <a:endParaRPr lang="sl-SI" sz="1600" i="1" dirty="0">
                  <a:latin typeface="Arial" charset="0"/>
                  <a:cs typeface="Arial" charset="0"/>
                </a:endParaRPr>
              </a:p>
            </p:txBody>
          </p:sp>
          <p:sp>
            <p:nvSpPr>
              <p:cNvPr id="184" name="PoljeZBesedilom 183"/>
              <p:cNvSpPr txBox="1"/>
              <p:nvPr/>
            </p:nvSpPr>
            <p:spPr>
              <a:xfrm>
                <a:off x="1187105" y="858416"/>
                <a:ext cx="354892" cy="338791"/>
              </a:xfrm>
              <a:prstGeom prst="rect">
                <a:avLst/>
              </a:prstGeom>
              <a:noFill/>
            </p:spPr>
            <p:txBody>
              <a:bodyPr wrap="none" anchor="ctr">
                <a:spAutoFit/>
              </a:bodyPr>
              <a:lstStyle/>
              <a:p>
                <a:pPr eaLnBrk="1" hangingPunct="1">
                  <a:defRPr/>
                </a:pPr>
                <a:r>
                  <a:rPr lang="sl-SI" sz="1600" i="1" dirty="0" err="1">
                    <a:latin typeface="Arial" charset="0"/>
                    <a:cs typeface="Arial" charset="0"/>
                  </a:rPr>
                  <a:t>y</a:t>
                </a:r>
                <a:r>
                  <a:rPr lang="sl-SI" sz="1050" i="1" dirty="0" err="1">
                    <a:latin typeface="Arial" charset="0"/>
                    <a:cs typeface="Arial" charset="0"/>
                  </a:rPr>
                  <a:t>c</a:t>
                </a:r>
                <a:endParaRPr lang="sl-SI" sz="1600" i="1" dirty="0">
                  <a:latin typeface="Arial" charset="0"/>
                  <a:cs typeface="Arial" charset="0"/>
                </a:endParaRPr>
              </a:p>
            </p:txBody>
          </p:sp>
          <p:sp>
            <p:nvSpPr>
              <p:cNvPr id="62506" name="PoljeZBesedilom 184"/>
              <p:cNvSpPr txBox="1">
                <a:spLocks noChangeArrowheads="1"/>
              </p:cNvSpPr>
              <p:nvPr/>
            </p:nvSpPr>
            <p:spPr bwMode="auto">
              <a:xfrm>
                <a:off x="6520378" y="2364578"/>
                <a:ext cx="1656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i="1"/>
                  <a:t>optična os kamere</a:t>
                </a:r>
              </a:p>
            </p:txBody>
          </p:sp>
          <p:sp>
            <p:nvSpPr>
              <p:cNvPr id="62507" name="PoljeZBesedilom 185"/>
              <p:cNvSpPr txBox="1">
                <a:spLocks noChangeArrowheads="1"/>
              </p:cNvSpPr>
              <p:nvPr/>
            </p:nvSpPr>
            <p:spPr bwMode="auto">
              <a:xfrm>
                <a:off x="2627784" y="2514382"/>
                <a:ext cx="2423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i="1"/>
                  <a:t>f</a:t>
                </a:r>
              </a:p>
            </p:txBody>
          </p:sp>
          <p:sp>
            <p:nvSpPr>
              <p:cNvPr id="24594" name="Lok 24593"/>
              <p:cNvSpPr/>
              <p:nvPr/>
            </p:nvSpPr>
            <p:spPr>
              <a:xfrm>
                <a:off x="2870658" y="3464638"/>
                <a:ext cx="667827" cy="201157"/>
              </a:xfrm>
              <a:prstGeom prst="arc">
                <a:avLst>
                  <a:gd name="adj1" fmla="val 13975559"/>
                  <a:gd name="adj2" fmla="val 1001104"/>
                </a:avLst>
              </a:prstGeom>
              <a:ln>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sl-SI"/>
              </a:p>
            </p:txBody>
          </p:sp>
          <p:sp>
            <p:nvSpPr>
              <p:cNvPr id="62509" name="PoljeZBesedilom 189"/>
              <p:cNvSpPr txBox="1">
                <a:spLocks noChangeArrowheads="1"/>
              </p:cNvSpPr>
              <p:nvPr/>
            </p:nvSpPr>
            <p:spPr bwMode="auto">
              <a:xfrm>
                <a:off x="3097932" y="3452976"/>
                <a:ext cx="2920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i="1">
                    <a:solidFill>
                      <a:srgbClr val="00B050"/>
                    </a:solidFill>
                    <a:sym typeface="Symbol" panose="05050102010706020507" pitchFamily="18" charset="2"/>
                  </a:rPr>
                  <a:t></a:t>
                </a:r>
                <a:endParaRPr lang="sl-SI" altLang="en-US" sz="1600" i="1">
                  <a:solidFill>
                    <a:srgbClr val="00B050"/>
                  </a:solidFill>
                </a:endParaRPr>
              </a:p>
            </p:txBody>
          </p:sp>
          <p:sp>
            <p:nvSpPr>
              <p:cNvPr id="193" name="PoljeZBesedilom 192"/>
              <p:cNvSpPr txBox="1"/>
              <p:nvPr/>
            </p:nvSpPr>
            <p:spPr>
              <a:xfrm>
                <a:off x="2771009" y="2709416"/>
                <a:ext cx="354892" cy="338791"/>
              </a:xfrm>
              <a:prstGeom prst="rect">
                <a:avLst/>
              </a:prstGeom>
              <a:noFill/>
            </p:spPr>
            <p:txBody>
              <a:bodyPr wrap="none" anchor="ctr">
                <a:spAutoFit/>
              </a:bodyPr>
              <a:lstStyle/>
              <a:p>
                <a:pPr eaLnBrk="1" hangingPunct="1">
                  <a:defRPr/>
                </a:pPr>
                <a:r>
                  <a:rPr lang="sl-SI" sz="1600" i="1" dirty="0" err="1">
                    <a:latin typeface="Arial" charset="0"/>
                    <a:cs typeface="Arial" charset="0"/>
                  </a:rPr>
                  <a:t>y</a:t>
                </a:r>
                <a:r>
                  <a:rPr lang="sl-SI" sz="1050" i="1" dirty="0" err="1">
                    <a:latin typeface="Arial" charset="0"/>
                    <a:cs typeface="Arial" charset="0"/>
                  </a:rPr>
                  <a:t>s</a:t>
                </a:r>
                <a:endParaRPr lang="sl-SI" sz="1600" i="1" dirty="0">
                  <a:latin typeface="Arial" charset="0"/>
                  <a:cs typeface="Arial" charset="0"/>
                </a:endParaRPr>
              </a:p>
            </p:txBody>
          </p:sp>
          <p:sp>
            <p:nvSpPr>
              <p:cNvPr id="194" name="PoljeZBesedilom 193"/>
              <p:cNvSpPr txBox="1"/>
              <p:nvPr/>
            </p:nvSpPr>
            <p:spPr>
              <a:xfrm>
                <a:off x="3732540" y="3464638"/>
                <a:ext cx="354892" cy="338791"/>
              </a:xfrm>
              <a:prstGeom prst="rect">
                <a:avLst/>
              </a:prstGeom>
              <a:noFill/>
            </p:spPr>
            <p:txBody>
              <a:bodyPr wrap="none" anchor="ctr">
                <a:spAutoFit/>
              </a:bodyPr>
              <a:lstStyle/>
              <a:p>
                <a:pPr eaLnBrk="1" hangingPunct="1">
                  <a:defRPr/>
                </a:pPr>
                <a:r>
                  <a:rPr lang="sl-SI" sz="1600" i="1" dirty="0" err="1">
                    <a:latin typeface="Arial" charset="0"/>
                    <a:cs typeface="Arial" charset="0"/>
                  </a:rPr>
                  <a:t>x</a:t>
                </a:r>
                <a:r>
                  <a:rPr lang="sl-SI" sz="1050" i="1" dirty="0" err="1">
                    <a:latin typeface="Arial" charset="0"/>
                    <a:cs typeface="Arial" charset="0"/>
                  </a:rPr>
                  <a:t>s</a:t>
                </a:r>
                <a:endParaRPr lang="sl-SI" sz="1600" i="1" dirty="0">
                  <a:latin typeface="Arial" charset="0"/>
                  <a:cs typeface="Arial" charset="0"/>
                </a:endParaRPr>
              </a:p>
            </p:txBody>
          </p:sp>
          <p:sp>
            <p:nvSpPr>
              <p:cNvPr id="24596" name="Prostoročno 24595"/>
              <p:cNvSpPr/>
              <p:nvPr/>
            </p:nvSpPr>
            <p:spPr>
              <a:xfrm>
                <a:off x="4695819" y="1361310"/>
                <a:ext cx="800693" cy="677582"/>
              </a:xfrm>
              <a:custGeom>
                <a:avLst/>
                <a:gdLst>
                  <a:gd name="connsiteX0" fmla="*/ 800100 w 800100"/>
                  <a:gd name="connsiteY0" fmla="*/ 0 h 676275"/>
                  <a:gd name="connsiteX1" fmla="*/ 447675 w 800100"/>
                  <a:gd name="connsiteY1" fmla="*/ 133350 h 676275"/>
                  <a:gd name="connsiteX2" fmla="*/ 0 w 800100"/>
                  <a:gd name="connsiteY2" fmla="*/ 676275 h 676275"/>
                </a:gdLst>
                <a:ahLst/>
                <a:cxnLst>
                  <a:cxn ang="0">
                    <a:pos x="connsiteX0" y="connsiteY0"/>
                  </a:cxn>
                  <a:cxn ang="0">
                    <a:pos x="connsiteX1" y="connsiteY1"/>
                  </a:cxn>
                  <a:cxn ang="0">
                    <a:pos x="connsiteX2" y="connsiteY2"/>
                  </a:cxn>
                </a:cxnLst>
                <a:rect l="l" t="t" r="r" b="b"/>
                <a:pathLst>
                  <a:path w="800100" h="676275">
                    <a:moveTo>
                      <a:pt x="800100" y="0"/>
                    </a:moveTo>
                    <a:cubicBezTo>
                      <a:pt x="690562" y="10319"/>
                      <a:pt x="581025" y="20638"/>
                      <a:pt x="447675" y="133350"/>
                    </a:cubicBezTo>
                    <a:cubicBezTo>
                      <a:pt x="314325" y="246062"/>
                      <a:pt x="84137" y="574675"/>
                      <a:pt x="0" y="676275"/>
                    </a:cubicBezTo>
                  </a:path>
                </a:pathLst>
              </a:custGeom>
              <a:noFill/>
              <a:ln w="12700">
                <a:solidFill>
                  <a:srgbClr val="FF9933"/>
                </a:solidFill>
                <a:tailEnd type="arrow"/>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sl-SI"/>
              </a:p>
            </p:txBody>
          </p:sp>
          <p:sp>
            <p:nvSpPr>
              <p:cNvPr id="28721" name="PoljeZBesedilom 196"/>
              <p:cNvSpPr txBox="1">
                <a:spLocks noChangeArrowheads="1"/>
              </p:cNvSpPr>
              <p:nvPr/>
            </p:nvSpPr>
            <p:spPr bwMode="auto">
              <a:xfrm>
                <a:off x="5423086" y="1197207"/>
                <a:ext cx="1122369" cy="342320"/>
              </a:xfrm>
              <a:prstGeom prst="rect">
                <a:avLst/>
              </a:prstGeom>
              <a:noFill/>
              <a:ln>
                <a:noFill/>
              </a:ln>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sl-SI" sz="1400" i="1" dirty="0" err="1"/>
                  <a:t>piksel</a:t>
                </a:r>
                <a:r>
                  <a:rPr lang="sl-SI" sz="1400" i="1" dirty="0"/>
                  <a:t> </a:t>
                </a:r>
                <a:r>
                  <a:rPr lang="sl-SI" sz="1400" dirty="0"/>
                  <a:t>(</a:t>
                </a:r>
                <a:r>
                  <a:rPr lang="sl-SI" sz="1400" b="1" dirty="0" err="1"/>
                  <a:t>p</a:t>
                </a:r>
                <a:r>
                  <a:rPr lang="sl-SI" sz="1050" i="1" dirty="0" err="1"/>
                  <a:t>s</a:t>
                </a:r>
                <a:r>
                  <a:rPr lang="sl-SI" sz="1400" dirty="0"/>
                  <a:t>)</a:t>
                </a:r>
              </a:p>
            </p:txBody>
          </p:sp>
          <p:cxnSp>
            <p:nvCxnSpPr>
              <p:cNvPr id="198" name="Raven povezovalnik 197"/>
              <p:cNvCxnSpPr/>
              <p:nvPr/>
            </p:nvCxnSpPr>
            <p:spPr>
              <a:xfrm flipH="1" flipV="1">
                <a:off x="4076942" y="3496400"/>
                <a:ext cx="10489" cy="580532"/>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0" name="Raven povezovalnik 199"/>
              <p:cNvCxnSpPr/>
              <p:nvPr/>
            </p:nvCxnSpPr>
            <p:spPr>
              <a:xfrm flipH="1" flipV="1">
                <a:off x="3185341" y="3877540"/>
                <a:ext cx="8742" cy="580532"/>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1" name="Raven povezovalnik 200"/>
              <p:cNvCxnSpPr/>
              <p:nvPr/>
            </p:nvCxnSpPr>
            <p:spPr>
              <a:xfrm flipV="1">
                <a:off x="2622408" y="3794606"/>
                <a:ext cx="466780" cy="201157"/>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5" name="Raven povezovalnik 204"/>
              <p:cNvCxnSpPr/>
              <p:nvPr/>
            </p:nvCxnSpPr>
            <p:spPr>
              <a:xfrm flipV="1">
                <a:off x="2578702" y="3016446"/>
                <a:ext cx="466779" cy="201157"/>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602" name="Raven puščični povezovalnik 24601"/>
              <p:cNvCxnSpPr/>
              <p:nvPr/>
            </p:nvCxnSpPr>
            <p:spPr>
              <a:xfrm>
                <a:off x="2655625" y="3177018"/>
                <a:ext cx="0" cy="790513"/>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08" name="Raven puščični povezovalnik 207"/>
              <p:cNvCxnSpPr/>
              <p:nvPr/>
            </p:nvCxnSpPr>
            <p:spPr>
              <a:xfrm flipH="1">
                <a:off x="3204572" y="4001057"/>
                <a:ext cx="872370" cy="381140"/>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2520" name="PoljeZBesedilom 211"/>
              <p:cNvSpPr txBox="1">
                <a:spLocks noChangeArrowheads="1"/>
              </p:cNvSpPr>
              <p:nvPr/>
            </p:nvSpPr>
            <p:spPr bwMode="auto">
              <a:xfrm>
                <a:off x="1089266" y="2514382"/>
                <a:ext cx="406375" cy="37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0</a:t>
                </a:r>
                <a:r>
                  <a:rPr lang="sl-SI" altLang="en-US" sz="1100" i="1"/>
                  <a:t>c</a:t>
                </a:r>
                <a:endParaRPr lang="sl-SI" altLang="en-US" sz="1600" i="1"/>
              </a:p>
            </p:txBody>
          </p:sp>
          <p:sp>
            <p:nvSpPr>
              <p:cNvPr id="62521" name="PoljeZBesedilom 212"/>
              <p:cNvSpPr txBox="1">
                <a:spLocks noChangeArrowheads="1"/>
              </p:cNvSpPr>
              <p:nvPr/>
            </p:nvSpPr>
            <p:spPr bwMode="auto">
              <a:xfrm>
                <a:off x="2987824" y="3670702"/>
                <a:ext cx="406375" cy="37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0</a:t>
                </a:r>
                <a:r>
                  <a:rPr lang="sl-SI" altLang="en-US" sz="1100" i="1"/>
                  <a:t>s</a:t>
                </a:r>
                <a:endParaRPr lang="sl-SI" altLang="en-US" sz="1600" i="1"/>
              </a:p>
            </p:txBody>
          </p:sp>
          <p:sp>
            <p:nvSpPr>
              <p:cNvPr id="214" name="PoljeZBesedilom 213"/>
              <p:cNvSpPr txBox="1"/>
              <p:nvPr/>
            </p:nvSpPr>
            <p:spPr>
              <a:xfrm>
                <a:off x="2613667" y="3316417"/>
                <a:ext cx="547198" cy="375846"/>
              </a:xfrm>
              <a:prstGeom prst="rect">
                <a:avLst/>
              </a:prstGeom>
              <a:noFill/>
            </p:spPr>
            <p:txBody>
              <a:bodyPr wrap="none" anchor="ctr">
                <a:spAutoFit/>
              </a:bodyPr>
              <a:lstStyle/>
              <a:p>
                <a:pPr eaLnBrk="1" hangingPunct="1">
                  <a:defRPr/>
                </a:pPr>
                <a:r>
                  <a:rPr lang="sl-SI" sz="1600" i="1" dirty="0" err="1">
                    <a:latin typeface="Arial" charset="0"/>
                    <a:cs typeface="Arial" charset="0"/>
                  </a:rPr>
                  <a:t>y</a:t>
                </a:r>
                <a:r>
                  <a:rPr lang="sl-SI" sz="1100" i="1" dirty="0" err="1">
                    <a:latin typeface="Arial" charset="0"/>
                    <a:cs typeface="Arial" charset="0"/>
                  </a:rPr>
                  <a:t>s</a:t>
                </a:r>
                <a:r>
                  <a:rPr lang="sl-SI" sz="1600" i="1" dirty="0">
                    <a:latin typeface="Arial" charset="0"/>
                    <a:cs typeface="Arial" charset="0"/>
                  </a:rPr>
                  <a:t>,</a:t>
                </a:r>
                <a:r>
                  <a:rPr lang="sl-SI" sz="1050" i="1" dirty="0">
                    <a:latin typeface="Arial" charset="0"/>
                    <a:cs typeface="Arial" charset="0"/>
                  </a:rPr>
                  <a:t>0</a:t>
                </a:r>
                <a:endParaRPr lang="sl-SI" sz="1600" i="1" dirty="0">
                  <a:latin typeface="Arial" charset="0"/>
                  <a:cs typeface="Arial" charset="0"/>
                </a:endParaRPr>
              </a:p>
            </p:txBody>
          </p:sp>
          <p:sp>
            <p:nvSpPr>
              <p:cNvPr id="215" name="PoljeZBesedilom 214"/>
              <p:cNvSpPr txBox="1"/>
              <p:nvPr/>
            </p:nvSpPr>
            <p:spPr>
              <a:xfrm>
                <a:off x="3507016" y="3851071"/>
                <a:ext cx="547199" cy="377611"/>
              </a:xfrm>
              <a:prstGeom prst="rect">
                <a:avLst/>
              </a:prstGeom>
              <a:noFill/>
            </p:spPr>
            <p:txBody>
              <a:bodyPr wrap="none" anchor="ctr">
                <a:spAutoFit/>
              </a:bodyPr>
              <a:lstStyle/>
              <a:p>
                <a:pPr eaLnBrk="1" hangingPunct="1">
                  <a:defRPr/>
                </a:pPr>
                <a:r>
                  <a:rPr lang="sl-SI" sz="1600" i="1" dirty="0" err="1">
                    <a:latin typeface="Arial" charset="0"/>
                    <a:cs typeface="Arial" charset="0"/>
                  </a:rPr>
                  <a:t>x</a:t>
                </a:r>
                <a:r>
                  <a:rPr lang="sl-SI" sz="1100" i="1" dirty="0" err="1">
                    <a:latin typeface="Arial" charset="0"/>
                    <a:cs typeface="Arial" charset="0"/>
                  </a:rPr>
                  <a:t>s</a:t>
                </a:r>
                <a:r>
                  <a:rPr lang="sl-SI" sz="1600" i="1" dirty="0">
                    <a:latin typeface="Arial" charset="0"/>
                    <a:cs typeface="Arial" charset="0"/>
                  </a:rPr>
                  <a:t>,</a:t>
                </a:r>
                <a:r>
                  <a:rPr lang="sl-SI" sz="1050" i="1" dirty="0">
                    <a:latin typeface="Arial" charset="0"/>
                    <a:cs typeface="Arial" charset="0"/>
                  </a:rPr>
                  <a:t>0</a:t>
                </a:r>
                <a:endParaRPr lang="sl-SI" sz="1600" i="1" dirty="0">
                  <a:latin typeface="Arial" charset="0"/>
                  <a:cs typeface="Arial" charset="0"/>
                </a:endParaRPr>
              </a:p>
            </p:txBody>
          </p:sp>
        </p:grpSp>
        <p:cxnSp>
          <p:nvCxnSpPr>
            <p:cNvPr id="178" name="Raven povezovalnik 177"/>
            <p:cNvCxnSpPr/>
            <p:nvPr/>
          </p:nvCxnSpPr>
          <p:spPr>
            <a:xfrm flipV="1">
              <a:off x="1042887" y="2052660"/>
              <a:ext cx="3612810" cy="570108"/>
            </a:xfrm>
            <a:prstGeom prst="line">
              <a:avLst/>
            </a:prstGeom>
            <a:ln w="19050">
              <a:solidFill>
                <a:schemeClr val="accent2">
                  <a:lumMod val="40000"/>
                  <a:lumOff val="6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2474" name="PoljeZBesedilom 238"/>
            <p:cNvSpPr txBox="1">
              <a:spLocks noChangeArrowheads="1"/>
            </p:cNvSpPr>
            <p:nvPr/>
          </p:nvSpPr>
          <p:spPr bwMode="auto">
            <a:xfrm>
              <a:off x="755576" y="2548244"/>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p</a:t>
              </a:r>
            </a:p>
          </p:txBody>
        </p:sp>
      </p:grpSp>
      <p:sp>
        <p:nvSpPr>
          <p:cNvPr id="62470"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62471"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C7B2E3D-00D5-4C6F-AA9E-7DD290EC86E5}" type="slidenum">
              <a:rPr lang="en-GB" altLang="sl-SI" sz="1400" smtClean="0"/>
              <a:pPr>
                <a:spcBef>
                  <a:spcPct val="0"/>
                </a:spcBef>
                <a:buFontTx/>
                <a:buNone/>
              </a:pPr>
              <a:t>33</a:t>
            </a:fld>
            <a:endParaRPr lang="en-GB" altLang="sl-SI" sz="1400"/>
          </a:p>
        </p:txBody>
      </p:sp>
    </p:spTree>
  </p:cSld>
  <p:clrMapOvr>
    <a:masterClrMapping/>
  </p:clrMapOvr>
  <p:transition>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ctrTitle"/>
          </p:nvPr>
        </p:nvSpPr>
        <p:spPr>
          <a:xfrm>
            <a:off x="611188" y="188913"/>
            <a:ext cx="7772400" cy="719137"/>
          </a:xfrm>
        </p:spPr>
        <p:txBody>
          <a:bodyPr/>
          <a:lstStyle/>
          <a:p>
            <a:pPr eaLnBrk="1" hangingPunct="1"/>
            <a:r>
              <a:rPr lang="sl-SI" altLang="en-US" sz="2800" b="1"/>
              <a:t>GEOMETRIJSKI MODEL KAMERE</a:t>
            </a:r>
            <a:br>
              <a:rPr lang="sl-SI" altLang="en-US" sz="2800" b="1"/>
            </a:br>
            <a:r>
              <a:rPr lang="sl-SI" altLang="en-US" sz="2000"/>
              <a:t>(notranji parametri)</a:t>
            </a:r>
            <a:endParaRPr lang="en-GB" altLang="en-US" sz="2000"/>
          </a:p>
        </p:txBody>
      </p:sp>
      <p:sp>
        <p:nvSpPr>
          <p:cNvPr id="132099" name="Rectangle 3"/>
          <p:cNvSpPr>
            <a:spLocks noGrp="1" noRot="1" noChangeAspect="1" noMove="1" noResize="1" noEditPoints="1" noAdjustHandles="1" noChangeArrowheads="1" noChangeShapeType="1" noTextEdit="1"/>
          </p:cNvSpPr>
          <p:nvPr>
            <p:ph type="subTitle" idx="1"/>
          </p:nvPr>
        </p:nvSpPr>
        <p:spPr>
          <a:xfrm>
            <a:off x="611188" y="1196752"/>
            <a:ext cx="8208962" cy="4968552"/>
          </a:xfrm>
          <a:blipFill rotWithShape="1">
            <a:blip r:embed="rId4" cstate="print"/>
            <a:stretch>
              <a:fillRect l="-223" t="-368"/>
            </a:stretch>
          </a:blipFill>
          <a:ln>
            <a:miter lim="800000"/>
            <a:headEnd/>
            <a:tailEnd/>
          </a:ln>
        </p:spPr>
        <p:txBody>
          <a:bodyPr/>
          <a:lstStyle/>
          <a:p>
            <a:pPr>
              <a:defRPr/>
            </a:pPr>
            <a:r>
              <a:rPr lang="sl-SI" dirty="0">
                <a:noFill/>
              </a:rPr>
              <a:t> </a:t>
            </a:r>
          </a:p>
        </p:txBody>
      </p:sp>
      <p:sp>
        <p:nvSpPr>
          <p:cNvPr id="3" name="PoljeZBesedilom 2"/>
          <p:cNvSpPr txBox="1">
            <a:spLocks noChangeArrowheads="1"/>
          </p:cNvSpPr>
          <p:nvPr/>
        </p:nvSpPr>
        <p:spPr bwMode="auto">
          <a:xfrm>
            <a:off x="5821363" y="4694238"/>
            <a:ext cx="2851150" cy="523875"/>
          </a:xfrm>
          <a:prstGeom prst="rect">
            <a:avLst/>
          </a:prstGeom>
          <a:noFill/>
          <a:ln w="19050">
            <a:solidFill>
              <a:srgbClr val="FF0000"/>
            </a:solidFill>
            <a:miter lim="800000"/>
            <a:headEnd/>
            <a:tailEnd/>
          </a:ln>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sl-SI" sz="1400" b="1" dirty="0"/>
              <a:t>K</a:t>
            </a:r>
            <a:r>
              <a:rPr lang="sl-SI" sz="1400" dirty="0"/>
              <a:t> – </a:t>
            </a:r>
            <a:r>
              <a:rPr lang="sl-SI" sz="1400" dirty="0">
                <a:solidFill>
                  <a:srgbClr val="FFC000"/>
                </a:solidFill>
              </a:rPr>
              <a:t>kalibracijska matrika kamere</a:t>
            </a:r>
          </a:p>
          <a:p>
            <a:pPr eaLnBrk="1" hangingPunct="1">
              <a:defRPr/>
            </a:pPr>
            <a:r>
              <a:rPr lang="sl-SI" sz="1400" b="1" dirty="0" err="1"/>
              <a:t>M</a:t>
            </a:r>
            <a:r>
              <a:rPr lang="sl-SI" sz="1050" i="1" dirty="0" err="1"/>
              <a:t>c</a:t>
            </a:r>
            <a:r>
              <a:rPr lang="sl-SI" sz="1400" dirty="0"/>
              <a:t> – </a:t>
            </a:r>
            <a:r>
              <a:rPr lang="sl-SI" sz="1400" dirty="0">
                <a:solidFill>
                  <a:srgbClr val="0000FF"/>
                </a:solidFill>
              </a:rPr>
              <a:t>projekcijska matrika kamere</a:t>
            </a:r>
          </a:p>
        </p:txBody>
      </p:sp>
      <p:sp>
        <p:nvSpPr>
          <p:cNvPr id="64517" name="PoljeZBesedilom 1"/>
          <p:cNvSpPr txBox="1">
            <a:spLocks noChangeArrowheads="1"/>
          </p:cNvSpPr>
          <p:nvPr/>
        </p:nvSpPr>
        <p:spPr bwMode="auto">
          <a:xfrm>
            <a:off x="4513263" y="5589588"/>
            <a:ext cx="261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i="1"/>
              <a:t>c</a:t>
            </a:r>
            <a:endParaRPr lang="sl-SI" altLang="en-US" sz="1800" i="1"/>
          </a:p>
        </p:txBody>
      </p:sp>
      <p:sp>
        <p:nvSpPr>
          <p:cNvPr id="64518" name="PoljeZBesedilom 7"/>
          <p:cNvSpPr txBox="1">
            <a:spLocks noChangeArrowheads="1"/>
          </p:cNvSpPr>
          <p:nvPr/>
        </p:nvSpPr>
        <p:spPr bwMode="auto">
          <a:xfrm>
            <a:off x="6043613" y="5578475"/>
            <a:ext cx="261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i="1"/>
              <a:t>c</a:t>
            </a:r>
            <a:endParaRPr lang="sl-SI" altLang="en-US" sz="1800" i="1"/>
          </a:p>
        </p:txBody>
      </p:sp>
      <p:sp>
        <p:nvSpPr>
          <p:cNvPr id="64519" name="PoljeZBesedilom 7"/>
          <p:cNvSpPr txBox="1">
            <a:spLocks noChangeArrowheads="1"/>
          </p:cNvSpPr>
          <p:nvPr/>
        </p:nvSpPr>
        <p:spPr bwMode="auto">
          <a:xfrm>
            <a:off x="6196013" y="5464175"/>
            <a:ext cx="360362"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b="1"/>
              <a:t>p</a:t>
            </a:r>
            <a:r>
              <a:rPr lang="sl-SI" altLang="en-US" sz="1400" i="1" baseline="-25000"/>
              <a:t>h</a:t>
            </a:r>
          </a:p>
        </p:txBody>
      </p:sp>
      <p:sp>
        <p:nvSpPr>
          <p:cNvPr id="64520" name="PoljeZBesedilom 7"/>
          <p:cNvSpPr txBox="1">
            <a:spLocks noChangeArrowheads="1"/>
          </p:cNvSpPr>
          <p:nvPr/>
        </p:nvSpPr>
        <p:spPr bwMode="auto">
          <a:xfrm>
            <a:off x="5454650" y="5580063"/>
            <a:ext cx="2619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i="1"/>
              <a:t>s</a:t>
            </a:r>
            <a:endParaRPr lang="sl-SI" altLang="en-US" sz="1800" i="1"/>
          </a:p>
        </p:txBody>
      </p:sp>
      <p:graphicFrame>
        <p:nvGraphicFramePr>
          <p:cNvPr id="64521" name="Predmet 4"/>
          <p:cNvGraphicFramePr>
            <a:graphicFrameLocks noChangeAspect="1"/>
          </p:cNvGraphicFramePr>
          <p:nvPr/>
        </p:nvGraphicFramePr>
        <p:xfrm>
          <a:off x="6956425" y="5402263"/>
          <a:ext cx="1209675" cy="379412"/>
        </p:xfrm>
        <a:graphic>
          <a:graphicData uri="http://schemas.openxmlformats.org/presentationml/2006/ole">
            <mc:AlternateContent xmlns:mc="http://schemas.openxmlformats.org/markup-compatibility/2006">
              <mc:Choice xmlns:v="urn:schemas-microsoft-com:vml" Requires="v">
                <p:oleObj spid="_x0000_s64554" name="Equation" r:id="rId5" imgW="850531" imgH="266584" progId="Equation.DSMT4">
                  <p:embed/>
                </p:oleObj>
              </mc:Choice>
              <mc:Fallback>
                <p:oleObj name="Equation" r:id="rId5" imgW="850531" imgH="266584" progId="Equation.DSMT4">
                  <p:embed/>
                  <p:pic>
                    <p:nvPicPr>
                      <p:cNvPr id="0" name="Predme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6425" y="5402263"/>
                        <a:ext cx="120967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4522" name="PoljeZBesedilom 1"/>
          <p:cNvSpPr txBox="1">
            <a:spLocks noChangeArrowheads="1"/>
          </p:cNvSpPr>
          <p:nvPr/>
        </p:nvSpPr>
        <p:spPr bwMode="auto">
          <a:xfrm>
            <a:off x="2592388" y="2636838"/>
            <a:ext cx="323850"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i="1"/>
              <a:t>l∙f</a:t>
            </a:r>
          </a:p>
        </p:txBody>
      </p:sp>
      <p:sp>
        <p:nvSpPr>
          <p:cNvPr id="64523" name="PoljeZBesedilom 3"/>
          <p:cNvSpPr txBox="1">
            <a:spLocks noChangeArrowheads="1"/>
          </p:cNvSpPr>
          <p:nvPr/>
        </p:nvSpPr>
        <p:spPr bwMode="auto">
          <a:xfrm>
            <a:off x="2551113" y="4478338"/>
            <a:ext cx="254000" cy="261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a:t>y</a:t>
            </a:r>
          </a:p>
        </p:txBody>
      </p:sp>
      <p:sp>
        <p:nvSpPr>
          <p:cNvPr id="64524" name="PoljeZBesedilom 4"/>
          <p:cNvSpPr txBox="1">
            <a:spLocks noChangeArrowheads="1"/>
          </p:cNvSpPr>
          <p:nvPr/>
        </p:nvSpPr>
        <p:spPr bwMode="auto">
          <a:xfrm>
            <a:off x="3100388" y="5207000"/>
            <a:ext cx="2365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a:t>
            </a:r>
          </a:p>
        </p:txBody>
      </p:sp>
      <p:sp>
        <p:nvSpPr>
          <p:cNvPr id="64525"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64526"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A75CD77-E229-4E24-ABB8-11AF103AE91F}" type="slidenum">
              <a:rPr lang="en-GB" altLang="sl-SI" sz="1400" smtClean="0"/>
              <a:pPr>
                <a:spcBef>
                  <a:spcPct val="0"/>
                </a:spcBef>
                <a:buFontTx/>
                <a:buNone/>
              </a:pPr>
              <a:t>34</a:t>
            </a:fld>
            <a:endParaRPr lang="en-GB" altLang="sl-SI" sz="1400"/>
          </a:p>
        </p:txBody>
      </p:sp>
    </p:spTree>
  </p:cSld>
  <p:clrMapOvr>
    <a:masterClrMapping/>
  </p:clrMapOvr>
  <p:transition>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ctrTitle"/>
          </p:nvPr>
        </p:nvSpPr>
        <p:spPr>
          <a:xfrm>
            <a:off x="611188" y="188913"/>
            <a:ext cx="7772400" cy="719137"/>
          </a:xfrm>
        </p:spPr>
        <p:txBody>
          <a:bodyPr/>
          <a:lstStyle/>
          <a:p>
            <a:pPr eaLnBrk="1" hangingPunct="1"/>
            <a:r>
              <a:rPr lang="sl-SI" altLang="en-US" sz="2800" b="1"/>
              <a:t>GEOMETRIJSKI MODEL KAMERE</a:t>
            </a:r>
            <a:br>
              <a:rPr lang="sl-SI" altLang="en-US" sz="2800" b="1"/>
            </a:br>
            <a:r>
              <a:rPr lang="sl-SI" altLang="en-US" sz="2000"/>
              <a:t>(zunanji parametri)</a:t>
            </a:r>
            <a:endParaRPr lang="en-GB" altLang="en-US" sz="2000"/>
          </a:p>
        </p:txBody>
      </p:sp>
      <p:sp>
        <p:nvSpPr>
          <p:cNvPr id="66563" name="PoljeZBesedilom 71691"/>
          <p:cNvSpPr txBox="1">
            <a:spLocks noChangeArrowheads="1"/>
          </p:cNvSpPr>
          <p:nvPr/>
        </p:nvSpPr>
        <p:spPr bwMode="auto">
          <a:xfrm>
            <a:off x="395288" y="1412875"/>
            <a:ext cx="17859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Zunanji svet –</a:t>
            </a:r>
            <a:endParaRPr lang="sl-SI" altLang="en-US" sz="1400"/>
          </a:p>
          <a:p>
            <a:pPr eaLnBrk="1" hangingPunct="1">
              <a:spcBef>
                <a:spcPct val="0"/>
              </a:spcBef>
              <a:buFontTx/>
              <a:buNone/>
            </a:pPr>
            <a:r>
              <a:rPr lang="sl-SI" altLang="en-US" sz="1400"/>
              <a:t>svetovne koordinate</a:t>
            </a:r>
          </a:p>
        </p:txBody>
      </p:sp>
      <p:sp>
        <p:nvSpPr>
          <p:cNvPr id="66564" name="PoljeZBesedilom 63"/>
          <p:cNvSpPr txBox="1">
            <a:spLocks noChangeArrowheads="1"/>
          </p:cNvSpPr>
          <p:nvPr/>
        </p:nvSpPr>
        <p:spPr bwMode="auto">
          <a:xfrm>
            <a:off x="7019925" y="2205038"/>
            <a:ext cx="17462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Kamera – </a:t>
            </a:r>
          </a:p>
          <a:p>
            <a:pPr eaLnBrk="1" hangingPunct="1">
              <a:spcBef>
                <a:spcPct val="0"/>
              </a:spcBef>
              <a:buFontTx/>
              <a:buNone/>
            </a:pPr>
            <a:r>
              <a:rPr lang="sl-SI" altLang="en-US" sz="1400"/>
              <a:t>kamerin koordinatni</a:t>
            </a:r>
          </a:p>
          <a:p>
            <a:pPr eaLnBrk="1" hangingPunct="1">
              <a:spcBef>
                <a:spcPct val="0"/>
              </a:spcBef>
              <a:buFontTx/>
              <a:buNone/>
            </a:pPr>
            <a:r>
              <a:rPr lang="sl-SI" altLang="en-US" sz="1400"/>
              <a:t>sistem</a:t>
            </a:r>
          </a:p>
        </p:txBody>
      </p:sp>
      <p:sp>
        <p:nvSpPr>
          <p:cNvPr id="5" name="PoljeZBesedilom 4"/>
          <p:cNvSpPr txBox="1">
            <a:spLocks noRot="1" noChangeAspect="1" noMove="1" noResize="1" noEditPoints="1" noAdjustHandles="1" noChangeArrowheads="1" noChangeShapeType="1" noTextEdit="1"/>
          </p:cNvSpPr>
          <p:nvPr/>
        </p:nvSpPr>
        <p:spPr>
          <a:xfrm>
            <a:off x="827584" y="4509120"/>
            <a:ext cx="7968848" cy="1374222"/>
          </a:xfrm>
          <a:prstGeom prst="rect">
            <a:avLst/>
          </a:prstGeom>
          <a:blipFill rotWithShape="1">
            <a:blip r:embed="rId3" cstate="print"/>
            <a:stretch>
              <a:fillRect l="-689" t="-2222" b="-5333"/>
            </a:stretch>
          </a:blipFill>
        </p:spPr>
        <p:txBody>
          <a:bodyPr/>
          <a:lstStyle/>
          <a:p>
            <a:pPr eaLnBrk="1" hangingPunct="1">
              <a:defRPr/>
            </a:pPr>
            <a:r>
              <a:rPr lang="sl-SI">
                <a:noFill/>
                <a:latin typeface="Arial" charset="0"/>
                <a:cs typeface="Arial" charset="0"/>
              </a:rPr>
              <a:t> </a:t>
            </a:r>
          </a:p>
        </p:txBody>
      </p:sp>
      <p:grpSp>
        <p:nvGrpSpPr>
          <p:cNvPr id="66566" name="Skupina 6"/>
          <p:cNvGrpSpPr>
            <a:grpSpLocks/>
          </p:cNvGrpSpPr>
          <p:nvPr/>
        </p:nvGrpSpPr>
        <p:grpSpPr bwMode="auto">
          <a:xfrm>
            <a:off x="949325" y="692150"/>
            <a:ext cx="6811963" cy="3311525"/>
            <a:chOff x="949325" y="692150"/>
            <a:chExt cx="6811963" cy="3311413"/>
          </a:xfrm>
        </p:grpSpPr>
        <p:grpSp>
          <p:nvGrpSpPr>
            <p:cNvPr id="66569" name="Skupina 71690"/>
            <p:cNvGrpSpPr>
              <a:grpSpLocks/>
            </p:cNvGrpSpPr>
            <p:nvPr/>
          </p:nvGrpSpPr>
          <p:grpSpPr bwMode="auto">
            <a:xfrm>
              <a:off x="949325" y="692150"/>
              <a:ext cx="6811963" cy="3311413"/>
              <a:chOff x="950025" y="692696"/>
              <a:chExt cx="6811736" cy="3310409"/>
            </a:xfrm>
          </p:grpSpPr>
          <p:cxnSp>
            <p:nvCxnSpPr>
              <p:cNvPr id="18" name="Raven puščični povezovalnik 17"/>
              <p:cNvCxnSpPr/>
              <p:nvPr/>
            </p:nvCxnSpPr>
            <p:spPr>
              <a:xfrm flipV="1">
                <a:off x="2080287" y="2765272"/>
                <a:ext cx="4497238" cy="85061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6572" name="Skupina 71689"/>
              <p:cNvGrpSpPr>
                <a:grpSpLocks/>
              </p:cNvGrpSpPr>
              <p:nvPr/>
            </p:nvGrpSpPr>
            <p:grpSpPr bwMode="auto">
              <a:xfrm>
                <a:off x="950025" y="692696"/>
                <a:ext cx="6811736" cy="3310409"/>
                <a:chOff x="950025" y="694543"/>
                <a:chExt cx="6811736" cy="3310409"/>
              </a:xfrm>
            </p:grpSpPr>
            <p:grpSp>
              <p:nvGrpSpPr>
                <p:cNvPr id="66573" name="Skupina 15"/>
                <p:cNvGrpSpPr>
                  <a:grpSpLocks/>
                </p:cNvGrpSpPr>
                <p:nvPr/>
              </p:nvGrpSpPr>
              <p:grpSpPr bwMode="auto">
                <a:xfrm>
                  <a:off x="950025" y="1639466"/>
                  <a:ext cx="2734508" cy="2327498"/>
                  <a:chOff x="950025" y="2431554"/>
                  <a:chExt cx="2734508" cy="2327498"/>
                </a:xfrm>
              </p:grpSpPr>
              <p:grpSp>
                <p:nvGrpSpPr>
                  <p:cNvPr id="66586" name="Skupina 13"/>
                  <p:cNvGrpSpPr>
                    <a:grpSpLocks/>
                  </p:cNvGrpSpPr>
                  <p:nvPr/>
                </p:nvGrpSpPr>
                <p:grpSpPr bwMode="auto">
                  <a:xfrm>
                    <a:off x="950025" y="2431554"/>
                    <a:ext cx="2734508" cy="2005558"/>
                    <a:chOff x="950025" y="2431554"/>
                    <a:chExt cx="2734508" cy="2005558"/>
                  </a:xfrm>
                </p:grpSpPr>
                <p:grpSp>
                  <p:nvGrpSpPr>
                    <p:cNvPr id="66588" name="Skupina 11"/>
                    <p:cNvGrpSpPr>
                      <a:grpSpLocks/>
                    </p:cNvGrpSpPr>
                    <p:nvPr/>
                  </p:nvGrpSpPr>
                  <p:grpSpPr bwMode="auto">
                    <a:xfrm>
                      <a:off x="1115616" y="2780928"/>
                      <a:ext cx="2304256" cy="1656184"/>
                      <a:chOff x="1115616" y="2780928"/>
                      <a:chExt cx="2304256" cy="1656184"/>
                    </a:xfrm>
                  </p:grpSpPr>
                  <p:cxnSp>
                    <p:nvCxnSpPr>
                      <p:cNvPr id="4" name="Raven puščični povezovalnik 3"/>
                      <p:cNvCxnSpPr/>
                      <p:nvPr/>
                    </p:nvCxnSpPr>
                    <p:spPr>
                      <a:xfrm flipH="1" flipV="1">
                        <a:off x="1115119" y="3211662"/>
                        <a:ext cx="936594" cy="1225137"/>
                      </a:xfrm>
                      <a:prstGeom prst="straightConnector1">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0" name="Raven puščični povezovalnik 9"/>
                      <p:cNvCxnSpPr/>
                      <p:nvPr/>
                    </p:nvCxnSpPr>
                    <p:spPr>
                      <a:xfrm flipV="1">
                        <a:off x="2051713" y="2673680"/>
                        <a:ext cx="504808" cy="1763119"/>
                      </a:xfrm>
                      <a:prstGeom prst="straightConnector1">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5" name="Raven puščični povezovalnik 14"/>
                      <p:cNvCxnSpPr/>
                      <p:nvPr/>
                    </p:nvCxnSpPr>
                    <p:spPr>
                      <a:xfrm flipV="1">
                        <a:off x="2051713" y="3824230"/>
                        <a:ext cx="1368379" cy="612569"/>
                      </a:xfrm>
                      <a:prstGeom prst="straightConnector1">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
                  <p:nvSpPr>
                    <p:cNvPr id="66589" name="PoljeZBesedilom 12"/>
                    <p:cNvSpPr txBox="1">
                      <a:spLocks noChangeArrowheads="1"/>
                    </p:cNvSpPr>
                    <p:nvPr/>
                  </p:nvSpPr>
                  <p:spPr bwMode="auto">
                    <a:xfrm>
                      <a:off x="3384451" y="3611803"/>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x</a:t>
                      </a:r>
                    </a:p>
                  </p:txBody>
                </p:sp>
                <p:sp>
                  <p:nvSpPr>
                    <p:cNvPr id="66590" name="PoljeZBesedilom 23"/>
                    <p:cNvSpPr txBox="1">
                      <a:spLocks noChangeArrowheads="1"/>
                    </p:cNvSpPr>
                    <p:nvPr/>
                  </p:nvSpPr>
                  <p:spPr bwMode="auto">
                    <a:xfrm>
                      <a:off x="950025" y="2900561"/>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z</a:t>
                      </a:r>
                    </a:p>
                  </p:txBody>
                </p:sp>
                <p:sp>
                  <p:nvSpPr>
                    <p:cNvPr id="66591" name="PoljeZBesedilom 24"/>
                    <p:cNvSpPr txBox="1">
                      <a:spLocks noChangeArrowheads="1"/>
                    </p:cNvSpPr>
                    <p:nvPr/>
                  </p:nvSpPr>
                  <p:spPr bwMode="auto">
                    <a:xfrm>
                      <a:off x="2430810" y="2431554"/>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y</a:t>
                      </a:r>
                    </a:p>
                  </p:txBody>
                </p:sp>
              </p:grpSp>
              <p:sp>
                <p:nvSpPr>
                  <p:cNvPr id="66587" name="PoljeZBesedilom 34"/>
                  <p:cNvSpPr txBox="1">
                    <a:spLocks noChangeArrowheads="1"/>
                  </p:cNvSpPr>
                  <p:nvPr/>
                </p:nvSpPr>
                <p:spPr bwMode="auto">
                  <a:xfrm>
                    <a:off x="1898179" y="4389720"/>
                    <a:ext cx="3642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O</a:t>
                    </a:r>
                  </a:p>
                </p:txBody>
              </p:sp>
            </p:grpSp>
            <p:grpSp>
              <p:nvGrpSpPr>
                <p:cNvPr id="66574" name="Skupina 39"/>
                <p:cNvGrpSpPr>
                  <a:grpSpLocks/>
                </p:cNvGrpSpPr>
                <p:nvPr/>
              </p:nvGrpSpPr>
              <p:grpSpPr bwMode="auto">
                <a:xfrm rot="-1831821">
                  <a:off x="5189697" y="1088133"/>
                  <a:ext cx="2304256" cy="1656184"/>
                  <a:chOff x="1115616" y="2780928"/>
                  <a:chExt cx="2304256" cy="1656184"/>
                </a:xfrm>
              </p:grpSpPr>
              <p:cxnSp>
                <p:nvCxnSpPr>
                  <p:cNvPr id="44" name="Raven puščični povezovalnik 43"/>
                  <p:cNvCxnSpPr/>
                  <p:nvPr/>
                </p:nvCxnSpPr>
                <p:spPr>
                  <a:xfrm flipH="1" flipV="1">
                    <a:off x="1113654" y="3210088"/>
                    <a:ext cx="931832" cy="1225137"/>
                  </a:xfrm>
                  <a:prstGeom prst="straightConnector1">
                    <a:avLst/>
                  </a:prstGeom>
                  <a:ln w="25400">
                    <a:solidFill>
                      <a:srgbClr val="FF9933"/>
                    </a:solidFill>
                    <a:tailEnd type="arrow"/>
                  </a:ln>
                </p:spPr>
                <p:style>
                  <a:lnRef idx="1">
                    <a:schemeClr val="accent1"/>
                  </a:lnRef>
                  <a:fillRef idx="0">
                    <a:schemeClr val="accent1"/>
                  </a:fillRef>
                  <a:effectRef idx="0">
                    <a:schemeClr val="accent1"/>
                  </a:effectRef>
                  <a:fontRef idx="minor">
                    <a:schemeClr val="tx1"/>
                  </a:fontRef>
                </p:style>
              </p:cxnSp>
              <p:cxnSp>
                <p:nvCxnSpPr>
                  <p:cNvPr id="45" name="Raven puščični povezovalnik 44"/>
                  <p:cNvCxnSpPr/>
                  <p:nvPr/>
                </p:nvCxnSpPr>
                <p:spPr>
                  <a:xfrm flipV="1">
                    <a:off x="2047214" y="2756773"/>
                    <a:ext cx="498458" cy="1672661"/>
                  </a:xfrm>
                  <a:prstGeom prst="straightConnector1">
                    <a:avLst/>
                  </a:prstGeom>
                  <a:ln w="25400">
                    <a:solidFill>
                      <a:srgbClr val="FF9933"/>
                    </a:solidFill>
                    <a:tailEnd type="arrow"/>
                  </a:ln>
                </p:spPr>
                <p:style>
                  <a:lnRef idx="1">
                    <a:schemeClr val="accent1"/>
                  </a:lnRef>
                  <a:fillRef idx="0">
                    <a:schemeClr val="accent1"/>
                  </a:fillRef>
                  <a:effectRef idx="0">
                    <a:schemeClr val="accent1"/>
                  </a:effectRef>
                  <a:fontRef idx="minor">
                    <a:schemeClr val="tx1"/>
                  </a:fontRef>
                </p:style>
              </p:cxnSp>
              <p:cxnSp>
                <p:nvCxnSpPr>
                  <p:cNvPr id="46" name="Raven puščični povezovalnik 45"/>
                  <p:cNvCxnSpPr/>
                  <p:nvPr/>
                </p:nvCxnSpPr>
                <p:spPr>
                  <a:xfrm flipV="1">
                    <a:off x="2052425" y="3815747"/>
                    <a:ext cx="1349330" cy="618916"/>
                  </a:xfrm>
                  <a:prstGeom prst="straightConnector1">
                    <a:avLst/>
                  </a:prstGeom>
                  <a:ln w="25400">
                    <a:solidFill>
                      <a:srgbClr val="FF9933"/>
                    </a:solidFill>
                    <a:tailEnd type="arrow"/>
                  </a:ln>
                </p:spPr>
                <p:style>
                  <a:lnRef idx="1">
                    <a:schemeClr val="accent1"/>
                  </a:lnRef>
                  <a:fillRef idx="0">
                    <a:schemeClr val="accent1"/>
                  </a:fillRef>
                  <a:effectRef idx="0">
                    <a:schemeClr val="accent1"/>
                  </a:effectRef>
                  <a:fontRef idx="minor">
                    <a:schemeClr val="tx1"/>
                  </a:fontRef>
                </p:style>
              </p:cxnSp>
            </p:grpSp>
            <p:sp>
              <p:nvSpPr>
                <p:cNvPr id="66575" name="PoljeZBesedilom 40"/>
                <p:cNvSpPr txBox="1">
                  <a:spLocks noChangeArrowheads="1"/>
                </p:cNvSpPr>
                <p:nvPr/>
              </p:nvSpPr>
              <p:spPr bwMode="auto">
                <a:xfrm rot="-1831821">
                  <a:off x="7371911" y="1226718"/>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x</a:t>
                  </a:r>
                  <a:r>
                    <a:rPr lang="sl-SI" altLang="en-US" sz="1200" i="1"/>
                    <a:t>c</a:t>
                  </a:r>
                  <a:endParaRPr lang="sl-SI" altLang="en-US" sz="1800" i="1"/>
                </a:p>
              </p:txBody>
            </p:sp>
            <p:sp>
              <p:nvSpPr>
                <p:cNvPr id="66576" name="PoljeZBesedilom 41"/>
                <p:cNvSpPr txBox="1">
                  <a:spLocks noChangeArrowheads="1"/>
                </p:cNvSpPr>
                <p:nvPr/>
              </p:nvSpPr>
              <p:spPr bwMode="auto">
                <a:xfrm rot="-1831821">
                  <a:off x="4913686" y="1850758"/>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z</a:t>
                  </a:r>
                  <a:r>
                    <a:rPr lang="sl-SI" altLang="en-US" sz="1200" i="1"/>
                    <a:t>c</a:t>
                  </a:r>
                  <a:endParaRPr lang="sl-SI" altLang="en-US" sz="1800" i="1"/>
                </a:p>
              </p:txBody>
            </p:sp>
            <p:sp>
              <p:nvSpPr>
                <p:cNvPr id="66577" name="PoljeZBesedilom 42"/>
                <p:cNvSpPr txBox="1">
                  <a:spLocks noChangeArrowheads="1"/>
                </p:cNvSpPr>
                <p:nvPr/>
              </p:nvSpPr>
              <p:spPr bwMode="auto">
                <a:xfrm rot="-1831821">
                  <a:off x="5950922" y="694543"/>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y</a:t>
                  </a:r>
                  <a:r>
                    <a:rPr lang="sl-SI" altLang="en-US" sz="1200" i="1"/>
                    <a:t>c</a:t>
                  </a:r>
                  <a:endParaRPr lang="sl-SI" altLang="en-US" sz="1800" i="1"/>
                </a:p>
              </p:txBody>
            </p:sp>
            <p:sp>
              <p:nvSpPr>
                <p:cNvPr id="66578" name="PoljeZBesedilom 38"/>
                <p:cNvSpPr txBox="1">
                  <a:spLocks noChangeArrowheads="1"/>
                </p:cNvSpPr>
                <p:nvPr/>
              </p:nvSpPr>
              <p:spPr bwMode="auto">
                <a:xfrm rot="-1831821">
                  <a:off x="6482428" y="2635516"/>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O</a:t>
                  </a:r>
                  <a:r>
                    <a:rPr lang="sl-SI" altLang="en-US" sz="1200" i="1"/>
                    <a:t>c</a:t>
                  </a:r>
                  <a:endParaRPr lang="sl-SI" altLang="en-US" sz="1800" i="1"/>
                </a:p>
              </p:txBody>
            </p:sp>
            <p:sp>
              <p:nvSpPr>
                <p:cNvPr id="71683" name="Elipsa 71682"/>
                <p:cNvSpPr/>
                <p:nvPr/>
              </p:nvSpPr>
              <p:spPr>
                <a:xfrm>
                  <a:off x="4499557" y="3616146"/>
                  <a:ext cx="46036" cy="46021"/>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sl-SI"/>
                </a:p>
              </p:txBody>
            </p:sp>
            <p:cxnSp>
              <p:nvCxnSpPr>
                <p:cNvPr id="71685" name="Raven puščični povezovalnik 71684"/>
                <p:cNvCxnSpPr>
                  <a:stCxn id="66587" idx="0"/>
                  <a:endCxn id="71683" idx="3"/>
                </p:cNvCxnSpPr>
                <p:nvPr/>
              </p:nvCxnSpPr>
              <p:spPr>
                <a:xfrm>
                  <a:off x="2080287" y="3597102"/>
                  <a:ext cx="2425619" cy="58717"/>
                </a:xfrm>
                <a:prstGeom prst="straightConnector1">
                  <a:avLst/>
                </a:prstGeom>
                <a:ln w="127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71687" name="Raven puščični povezovalnik 71686"/>
                <p:cNvCxnSpPr/>
                <p:nvPr/>
              </p:nvCxnSpPr>
              <p:spPr>
                <a:xfrm flipH="1">
                  <a:off x="4526544" y="2765533"/>
                  <a:ext cx="2049394" cy="893461"/>
                </a:xfrm>
                <a:prstGeom prst="straightConnector1">
                  <a:avLst/>
                </a:prstGeom>
                <a:ln w="127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66582" name="PoljeZBesedilom 59"/>
                <p:cNvSpPr txBox="1">
                  <a:spLocks noChangeArrowheads="1"/>
                </p:cNvSpPr>
                <p:nvPr/>
              </p:nvSpPr>
              <p:spPr bwMode="auto">
                <a:xfrm>
                  <a:off x="4351814" y="3635732"/>
                  <a:ext cx="325719" cy="369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p</a:t>
                  </a:r>
                </a:p>
              </p:txBody>
            </p:sp>
          </p:grpSp>
        </p:grpSp>
        <p:sp>
          <p:nvSpPr>
            <p:cNvPr id="66570" name="PoljeZBesedilom 5"/>
            <p:cNvSpPr txBox="1">
              <a:spLocks noChangeArrowheads="1"/>
            </p:cNvSpPr>
            <p:nvPr/>
          </p:nvSpPr>
          <p:spPr bwMode="auto">
            <a:xfrm>
              <a:off x="4139952" y="2881744"/>
              <a:ext cx="2616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t</a:t>
              </a:r>
            </a:p>
          </p:txBody>
        </p:sp>
      </p:grpSp>
      <p:sp>
        <p:nvSpPr>
          <p:cNvPr id="6656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66568"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0CA847E-B470-466B-927C-7444A7D3632E}" type="slidenum">
              <a:rPr lang="en-GB" altLang="sl-SI" sz="1400" smtClean="0"/>
              <a:pPr>
                <a:spcBef>
                  <a:spcPct val="0"/>
                </a:spcBef>
                <a:buFontTx/>
                <a:buNone/>
              </a:pPr>
              <a:t>35</a:t>
            </a:fld>
            <a:endParaRPr lang="en-GB" altLang="sl-SI" sz="1400"/>
          </a:p>
        </p:txBody>
      </p:sp>
    </p:spTree>
  </p:cSld>
  <p:clrMapOvr>
    <a:masterClrMapping/>
  </p:clrMapOvr>
  <p:transition>
    <p:cov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ctrTitle"/>
          </p:nvPr>
        </p:nvSpPr>
        <p:spPr>
          <a:xfrm>
            <a:off x="611188" y="188913"/>
            <a:ext cx="7772400" cy="719137"/>
          </a:xfrm>
        </p:spPr>
        <p:txBody>
          <a:bodyPr/>
          <a:lstStyle/>
          <a:p>
            <a:pPr eaLnBrk="1" hangingPunct="1"/>
            <a:r>
              <a:rPr lang="sl-SI" altLang="en-US" sz="2800" b="1"/>
              <a:t>GEOMETRIJSKI MODEL KAMERE</a:t>
            </a:r>
            <a:br>
              <a:rPr lang="sl-SI" altLang="en-US" sz="2800" b="1"/>
            </a:br>
            <a:r>
              <a:rPr lang="sl-SI" altLang="en-US" sz="2000"/>
              <a:t>(toga transformacija koordinatnih sistemov)</a:t>
            </a:r>
            <a:endParaRPr lang="en-GB" altLang="en-US" sz="2000"/>
          </a:p>
        </p:txBody>
      </p:sp>
      <p:sp>
        <p:nvSpPr>
          <p:cNvPr id="68611" name="TextBox 5"/>
          <p:cNvSpPr txBox="1">
            <a:spLocks noChangeArrowheads="1"/>
          </p:cNvSpPr>
          <p:nvPr/>
        </p:nvSpPr>
        <p:spPr bwMode="auto">
          <a:xfrm>
            <a:off x="1042988" y="1557338"/>
            <a:ext cx="4264025"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Rotacijska matrika – zasuk okoli osi </a:t>
            </a:r>
            <a:r>
              <a:rPr lang="sl-SI" altLang="en-US" sz="1800" i="1"/>
              <a:t>z</a:t>
            </a:r>
            <a:r>
              <a:rPr lang="sl-SI" altLang="en-US" sz="1800"/>
              <a:t>: </a:t>
            </a:r>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r>
              <a:rPr lang="sl-SI" altLang="en-US" sz="1800"/>
              <a:t>Zapis s homogenimi koordinatami:</a:t>
            </a:r>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r>
              <a:rPr lang="sl-SI" altLang="en-US" sz="1800"/>
              <a:t>Zasuk in premik koordinatnega sistema:</a:t>
            </a:r>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en-GB" altLang="en-US" sz="1800"/>
          </a:p>
        </p:txBody>
      </p:sp>
      <p:graphicFrame>
        <p:nvGraphicFramePr>
          <p:cNvPr id="68612" name="Object 6"/>
          <p:cNvGraphicFramePr>
            <a:graphicFrameLocks noChangeAspect="1"/>
          </p:cNvGraphicFramePr>
          <p:nvPr/>
        </p:nvGraphicFramePr>
        <p:xfrm>
          <a:off x="1116013" y="2008188"/>
          <a:ext cx="2616200" cy="844550"/>
        </p:xfrm>
        <a:graphic>
          <a:graphicData uri="http://schemas.openxmlformats.org/presentationml/2006/ole">
            <mc:AlternateContent xmlns:mc="http://schemas.openxmlformats.org/markup-compatibility/2006">
              <mc:Choice xmlns:v="urn:schemas-microsoft-com:vml" Requires="v">
                <p:oleObj spid="_x0000_s68709" name="Equation" r:id="rId4" imgW="1218671" imgH="393529" progId="Equation.DSMT4">
                  <p:embed/>
                </p:oleObj>
              </mc:Choice>
              <mc:Fallback>
                <p:oleObj name="Equation" r:id="rId4" imgW="1218671" imgH="393529"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2008188"/>
                        <a:ext cx="2616200"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8613" name="Group 26"/>
          <p:cNvGrpSpPr>
            <a:grpSpLocks/>
          </p:cNvGrpSpPr>
          <p:nvPr/>
        </p:nvGrpSpPr>
        <p:grpSpPr bwMode="auto">
          <a:xfrm>
            <a:off x="5148263" y="1268413"/>
            <a:ext cx="2171700" cy="1809750"/>
            <a:chOff x="5148064" y="1268760"/>
            <a:chExt cx="2172290" cy="1809492"/>
          </a:xfrm>
        </p:grpSpPr>
        <p:cxnSp>
          <p:nvCxnSpPr>
            <p:cNvPr id="9" name="Straight Arrow Connector 8"/>
            <p:cNvCxnSpPr/>
            <p:nvPr/>
          </p:nvCxnSpPr>
          <p:spPr>
            <a:xfrm>
              <a:off x="5508524" y="2708417"/>
              <a:ext cx="1727669"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5508524" y="1340187"/>
              <a:ext cx="7940" cy="137775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5508524" y="2421121"/>
              <a:ext cx="1224296" cy="287296"/>
            </a:xfrm>
            <a:prstGeom prst="line">
              <a:avLst/>
            </a:prstGeom>
            <a:ln w="25400">
              <a:solidFill>
                <a:srgbClr val="0000FF"/>
              </a:solidFill>
              <a:tailEnd type="ova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5508524" y="1844940"/>
              <a:ext cx="863835" cy="863477"/>
            </a:xfrm>
            <a:prstGeom prst="line">
              <a:avLst/>
            </a:prstGeom>
            <a:ln w="25400">
              <a:solidFill>
                <a:srgbClr val="0000FF"/>
              </a:solidFill>
              <a:tailEnd type="oval"/>
            </a:ln>
          </p:spPr>
          <p:style>
            <a:lnRef idx="1">
              <a:schemeClr val="accent1"/>
            </a:lnRef>
            <a:fillRef idx="0">
              <a:schemeClr val="accent1"/>
            </a:fillRef>
            <a:effectRef idx="0">
              <a:schemeClr val="accent1"/>
            </a:effectRef>
            <a:fontRef idx="minor">
              <a:schemeClr val="tx1"/>
            </a:fontRef>
          </p:style>
        </p:cxnSp>
        <p:sp>
          <p:nvSpPr>
            <p:cNvPr id="21" name="Freeform 20"/>
            <p:cNvSpPr/>
            <p:nvPr/>
          </p:nvSpPr>
          <p:spPr>
            <a:xfrm>
              <a:off x="5964261" y="2265568"/>
              <a:ext cx="165145" cy="319042"/>
            </a:xfrm>
            <a:custGeom>
              <a:avLst/>
              <a:gdLst>
                <a:gd name="connsiteX0" fmla="*/ 159026 w 165652"/>
                <a:gd name="connsiteY0" fmla="*/ 318052 h 318052"/>
                <a:gd name="connsiteX1" fmla="*/ 139148 w 165652"/>
                <a:gd name="connsiteY1" fmla="*/ 59635 h 318052"/>
                <a:gd name="connsiteX2" fmla="*/ 0 w 165652"/>
                <a:gd name="connsiteY2" fmla="*/ 0 h 318052"/>
              </a:gdLst>
              <a:ahLst/>
              <a:cxnLst>
                <a:cxn ang="0">
                  <a:pos x="connsiteX0" y="connsiteY0"/>
                </a:cxn>
                <a:cxn ang="0">
                  <a:pos x="connsiteX1" y="connsiteY1"/>
                </a:cxn>
                <a:cxn ang="0">
                  <a:pos x="connsiteX2" y="connsiteY2"/>
                </a:cxn>
              </a:cxnLst>
              <a:rect l="l" t="t" r="r" b="b"/>
              <a:pathLst>
                <a:path w="165652" h="318052">
                  <a:moveTo>
                    <a:pt x="159026" y="318052"/>
                  </a:moveTo>
                  <a:cubicBezTo>
                    <a:pt x="162339" y="215348"/>
                    <a:pt x="165652" y="112644"/>
                    <a:pt x="139148" y="59635"/>
                  </a:cubicBezTo>
                  <a:cubicBezTo>
                    <a:pt x="112644" y="6626"/>
                    <a:pt x="56322" y="3313"/>
                    <a:pt x="0" y="0"/>
                  </a:cubicBezTo>
                </a:path>
              </a:pathLst>
            </a:custGeom>
            <a:ln w="19050">
              <a:solidFill>
                <a:srgbClr val="FF9933"/>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68623" name="TextBox 21"/>
            <p:cNvSpPr txBox="1">
              <a:spLocks noChangeArrowheads="1"/>
            </p:cNvSpPr>
            <p:nvPr/>
          </p:nvSpPr>
          <p:spPr bwMode="auto">
            <a:xfrm>
              <a:off x="5796136" y="2276872"/>
              <a:ext cx="3305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1800" i="1">
                  <a:sym typeface="Symbol" panose="05050102010706020507" pitchFamily="18" charset="2"/>
                </a:rPr>
                <a:t></a:t>
              </a:r>
              <a:endParaRPr lang="en-GB" altLang="en-US" sz="1800" i="1"/>
            </a:p>
          </p:txBody>
        </p:sp>
        <p:sp>
          <p:nvSpPr>
            <p:cNvPr id="68624" name="TextBox 22"/>
            <p:cNvSpPr txBox="1">
              <a:spLocks noChangeArrowheads="1"/>
            </p:cNvSpPr>
            <p:nvPr/>
          </p:nvSpPr>
          <p:spPr bwMode="auto">
            <a:xfrm>
              <a:off x="5148064" y="1268760"/>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sym typeface="Symbol" panose="05050102010706020507" pitchFamily="18" charset="2"/>
                </a:rPr>
                <a:t>y</a:t>
              </a:r>
              <a:endParaRPr lang="en-GB" altLang="en-US" sz="1800" i="1"/>
            </a:p>
          </p:txBody>
        </p:sp>
        <p:sp>
          <p:nvSpPr>
            <p:cNvPr id="68625" name="TextBox 23"/>
            <p:cNvSpPr txBox="1">
              <a:spLocks noChangeArrowheads="1"/>
            </p:cNvSpPr>
            <p:nvPr/>
          </p:nvSpPr>
          <p:spPr bwMode="auto">
            <a:xfrm>
              <a:off x="7020272" y="2708920"/>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sym typeface="Symbol" panose="05050102010706020507" pitchFamily="18" charset="2"/>
                </a:rPr>
                <a:t>x</a:t>
              </a:r>
              <a:endParaRPr lang="en-GB" altLang="en-US" sz="1800" i="1"/>
            </a:p>
          </p:txBody>
        </p:sp>
        <p:sp>
          <p:nvSpPr>
            <p:cNvPr id="68626" name="TextBox 24"/>
            <p:cNvSpPr txBox="1">
              <a:spLocks noChangeArrowheads="1"/>
            </p:cNvSpPr>
            <p:nvPr/>
          </p:nvSpPr>
          <p:spPr bwMode="auto">
            <a:xfrm>
              <a:off x="6792198" y="2204864"/>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sym typeface="Symbol" panose="05050102010706020507" pitchFamily="18" charset="2"/>
                </a:rPr>
                <a:t>p</a:t>
              </a:r>
              <a:endParaRPr lang="en-GB" altLang="en-US" sz="1800" b="1"/>
            </a:p>
          </p:txBody>
        </p:sp>
        <p:sp>
          <p:nvSpPr>
            <p:cNvPr id="68627" name="TextBox 25"/>
            <p:cNvSpPr txBox="1">
              <a:spLocks noChangeArrowheads="1"/>
            </p:cNvSpPr>
            <p:nvPr/>
          </p:nvSpPr>
          <p:spPr bwMode="auto">
            <a:xfrm>
              <a:off x="6392078" y="1628800"/>
              <a:ext cx="4026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sym typeface="Symbol" panose="05050102010706020507" pitchFamily="18" charset="2"/>
                </a:rPr>
                <a:t>p</a:t>
              </a:r>
              <a:r>
                <a:rPr lang="sl-SI" altLang="en-US" sz="1200">
                  <a:sym typeface="Symbol" panose="05050102010706020507" pitchFamily="18" charset="2"/>
                </a:rPr>
                <a:t>c</a:t>
              </a:r>
              <a:endParaRPr lang="en-GB" altLang="en-US" sz="1800"/>
            </a:p>
          </p:txBody>
        </p:sp>
      </p:grpSp>
      <p:graphicFrame>
        <p:nvGraphicFramePr>
          <p:cNvPr id="68614" name="Object 7"/>
          <p:cNvGraphicFramePr>
            <a:graphicFrameLocks noChangeAspect="1"/>
          </p:cNvGraphicFramePr>
          <p:nvPr/>
        </p:nvGraphicFramePr>
        <p:xfrm>
          <a:off x="1139825" y="3298825"/>
          <a:ext cx="5016500" cy="1689100"/>
        </p:xfrm>
        <a:graphic>
          <a:graphicData uri="http://schemas.openxmlformats.org/presentationml/2006/ole">
            <mc:AlternateContent xmlns:mc="http://schemas.openxmlformats.org/markup-compatibility/2006">
              <mc:Choice xmlns:v="urn:schemas-microsoft-com:vml" Requires="v">
                <p:oleObj spid="_x0000_s68710" name="Equation" r:id="rId6" imgW="2336800" imgH="787400" progId="Equation.3">
                  <p:embed/>
                </p:oleObj>
              </mc:Choice>
              <mc:Fallback>
                <p:oleObj name="Equation" r:id="rId6" imgW="2336800" imgH="7874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9825" y="3298825"/>
                        <a:ext cx="5016500" cy="168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15" name="Object 8"/>
          <p:cNvGraphicFramePr>
            <a:graphicFrameLocks noChangeAspect="1"/>
          </p:cNvGraphicFramePr>
          <p:nvPr/>
        </p:nvGraphicFramePr>
        <p:xfrm>
          <a:off x="1116013" y="5521325"/>
          <a:ext cx="1935162" cy="441325"/>
        </p:xfrm>
        <a:graphic>
          <a:graphicData uri="http://schemas.openxmlformats.org/presentationml/2006/ole">
            <mc:AlternateContent xmlns:mc="http://schemas.openxmlformats.org/markup-compatibility/2006">
              <mc:Choice xmlns:v="urn:schemas-microsoft-com:vml" Requires="v">
                <p:oleObj spid="_x0000_s68711" name="Equation" r:id="rId8" imgW="634449" imgH="177646" progId="Equation.DSMT4">
                  <p:embed/>
                </p:oleObj>
              </mc:Choice>
              <mc:Fallback>
                <p:oleObj name="Equation" r:id="rId8" imgW="634449" imgH="177646"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5521325"/>
                        <a:ext cx="1935162"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68617"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D043B57-39EC-402F-B052-E1D2C062E123}" type="slidenum">
              <a:rPr lang="en-GB" altLang="sl-SI" sz="1400" smtClean="0"/>
              <a:pPr>
                <a:spcBef>
                  <a:spcPct val="0"/>
                </a:spcBef>
                <a:buFontTx/>
                <a:buNone/>
              </a:pPr>
              <a:t>36</a:t>
            </a:fld>
            <a:endParaRPr lang="en-GB" altLang="sl-SI" sz="1400"/>
          </a:p>
        </p:txBody>
      </p:sp>
    </p:spTree>
  </p:cSld>
  <p:clrMapOvr>
    <a:masterClrMapping/>
  </p:clrMapOvr>
  <p:transition>
    <p:cov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611188" y="188913"/>
            <a:ext cx="7772400" cy="719137"/>
          </a:xfrm>
        </p:spPr>
        <p:txBody>
          <a:bodyPr/>
          <a:lstStyle/>
          <a:p>
            <a:pPr eaLnBrk="1" hangingPunct="1"/>
            <a:r>
              <a:rPr lang="sl-SI" altLang="en-US" sz="2800" b="1"/>
              <a:t>GEOMETRIJSKI MODEL KAMERE</a:t>
            </a:r>
            <a:br>
              <a:rPr lang="sl-SI" altLang="en-US" sz="2800" b="1"/>
            </a:br>
            <a:r>
              <a:rPr lang="sl-SI" altLang="en-US" sz="2000"/>
              <a:t>(rotacijska matrika – zasuk okoli vseh osi)</a:t>
            </a:r>
            <a:endParaRPr lang="en-GB" altLang="en-US" sz="2000"/>
          </a:p>
        </p:txBody>
      </p:sp>
      <p:sp>
        <p:nvSpPr>
          <p:cNvPr id="70659" name="TextBox 5"/>
          <p:cNvSpPr txBox="1">
            <a:spLocks noChangeArrowheads="1"/>
          </p:cNvSpPr>
          <p:nvPr/>
        </p:nvSpPr>
        <p:spPr bwMode="auto">
          <a:xfrm>
            <a:off x="1042988" y="1557338"/>
            <a:ext cx="4262437"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Rotacijska matrika – zasuk okoli osi </a:t>
            </a:r>
            <a:r>
              <a:rPr lang="sl-SI" altLang="en-US" sz="1800" i="1"/>
              <a:t>y</a:t>
            </a:r>
            <a:r>
              <a:rPr lang="sl-SI" altLang="en-US" sz="1800"/>
              <a:t>: </a:t>
            </a:r>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r>
              <a:rPr lang="sl-SI" altLang="en-US" sz="1800"/>
              <a:t>Rotacijska matrika – zasuk okoli osi </a:t>
            </a:r>
            <a:r>
              <a:rPr lang="sl-SI" altLang="en-US" sz="1800" i="1"/>
              <a:t>x</a:t>
            </a:r>
            <a:r>
              <a:rPr lang="sl-SI" altLang="en-US" sz="1800"/>
              <a:t>:</a:t>
            </a:r>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en-GB" altLang="en-US" sz="1800"/>
          </a:p>
        </p:txBody>
      </p:sp>
      <p:grpSp>
        <p:nvGrpSpPr>
          <p:cNvPr id="70660" name="Group 19"/>
          <p:cNvGrpSpPr>
            <a:grpSpLocks/>
          </p:cNvGrpSpPr>
          <p:nvPr/>
        </p:nvGrpSpPr>
        <p:grpSpPr bwMode="auto">
          <a:xfrm>
            <a:off x="5148263" y="1268413"/>
            <a:ext cx="2171700" cy="1809750"/>
            <a:chOff x="5148263" y="1268413"/>
            <a:chExt cx="2171782" cy="1809697"/>
          </a:xfrm>
        </p:grpSpPr>
        <p:cxnSp>
          <p:nvCxnSpPr>
            <p:cNvPr id="9" name="Straight Arrow Connector 8"/>
            <p:cNvCxnSpPr/>
            <p:nvPr/>
          </p:nvCxnSpPr>
          <p:spPr bwMode="auto">
            <a:xfrm>
              <a:off x="5508639" y="2708233"/>
              <a:ext cx="1727265"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bwMode="auto">
            <a:xfrm flipH="1" flipV="1">
              <a:off x="5508639" y="1339848"/>
              <a:ext cx="7938" cy="137791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flipV="1">
              <a:off x="5508639" y="2420904"/>
              <a:ext cx="1224009" cy="287329"/>
            </a:xfrm>
            <a:prstGeom prst="line">
              <a:avLst/>
            </a:prstGeom>
            <a:ln w="25400">
              <a:solidFill>
                <a:srgbClr val="0000FF"/>
              </a:solidFill>
              <a:tailEnd type="ova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flipV="1">
              <a:off x="5508639" y="1844658"/>
              <a:ext cx="863633" cy="863575"/>
            </a:xfrm>
            <a:prstGeom prst="line">
              <a:avLst/>
            </a:prstGeom>
            <a:ln w="25400">
              <a:solidFill>
                <a:srgbClr val="0000FF"/>
              </a:solidFill>
              <a:tailEnd type="oval"/>
            </a:ln>
          </p:spPr>
          <p:style>
            <a:lnRef idx="1">
              <a:schemeClr val="accent1"/>
            </a:lnRef>
            <a:fillRef idx="0">
              <a:schemeClr val="accent1"/>
            </a:fillRef>
            <a:effectRef idx="0">
              <a:schemeClr val="accent1"/>
            </a:effectRef>
            <a:fontRef idx="minor">
              <a:schemeClr val="tx1"/>
            </a:fontRef>
          </p:style>
        </p:cxnSp>
        <p:sp>
          <p:nvSpPr>
            <p:cNvPr id="21" name="Freeform 20"/>
            <p:cNvSpPr/>
            <p:nvPr/>
          </p:nvSpPr>
          <p:spPr bwMode="auto">
            <a:xfrm>
              <a:off x="5964269" y="2265334"/>
              <a:ext cx="165106" cy="319078"/>
            </a:xfrm>
            <a:custGeom>
              <a:avLst/>
              <a:gdLst>
                <a:gd name="connsiteX0" fmla="*/ 159026 w 165652"/>
                <a:gd name="connsiteY0" fmla="*/ 318052 h 318052"/>
                <a:gd name="connsiteX1" fmla="*/ 139148 w 165652"/>
                <a:gd name="connsiteY1" fmla="*/ 59635 h 318052"/>
                <a:gd name="connsiteX2" fmla="*/ 0 w 165652"/>
                <a:gd name="connsiteY2" fmla="*/ 0 h 318052"/>
              </a:gdLst>
              <a:ahLst/>
              <a:cxnLst>
                <a:cxn ang="0">
                  <a:pos x="connsiteX0" y="connsiteY0"/>
                </a:cxn>
                <a:cxn ang="0">
                  <a:pos x="connsiteX1" y="connsiteY1"/>
                </a:cxn>
                <a:cxn ang="0">
                  <a:pos x="connsiteX2" y="connsiteY2"/>
                </a:cxn>
              </a:cxnLst>
              <a:rect l="l" t="t" r="r" b="b"/>
              <a:pathLst>
                <a:path w="165652" h="318052">
                  <a:moveTo>
                    <a:pt x="159026" y="318052"/>
                  </a:moveTo>
                  <a:cubicBezTo>
                    <a:pt x="162339" y="215348"/>
                    <a:pt x="165652" y="112644"/>
                    <a:pt x="139148" y="59635"/>
                  </a:cubicBezTo>
                  <a:cubicBezTo>
                    <a:pt x="112644" y="6626"/>
                    <a:pt x="56322" y="3313"/>
                    <a:pt x="0" y="0"/>
                  </a:cubicBezTo>
                </a:path>
              </a:pathLst>
            </a:custGeom>
            <a:ln w="19050">
              <a:solidFill>
                <a:srgbClr val="FF9933"/>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70675" name="TextBox 21"/>
            <p:cNvSpPr txBox="1">
              <a:spLocks noChangeArrowheads="1"/>
            </p:cNvSpPr>
            <p:nvPr/>
          </p:nvSpPr>
          <p:spPr bwMode="auto">
            <a:xfrm>
              <a:off x="5796159" y="2276669"/>
              <a:ext cx="3113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sym typeface="Symbol" panose="05050102010706020507" pitchFamily="18" charset="2"/>
                </a:rPr>
                <a:t></a:t>
              </a:r>
              <a:endParaRPr lang="en-GB" altLang="en-US" sz="1800" i="1"/>
            </a:p>
          </p:txBody>
        </p:sp>
        <p:sp>
          <p:nvSpPr>
            <p:cNvPr id="70676" name="TextBox 22"/>
            <p:cNvSpPr txBox="1">
              <a:spLocks noChangeArrowheads="1"/>
            </p:cNvSpPr>
            <p:nvPr/>
          </p:nvSpPr>
          <p:spPr bwMode="auto">
            <a:xfrm>
              <a:off x="5148263" y="1268413"/>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sym typeface="Symbol" panose="05050102010706020507" pitchFamily="18" charset="2"/>
                </a:rPr>
                <a:t>x</a:t>
              </a:r>
              <a:endParaRPr lang="en-GB" altLang="en-US" sz="1800" i="1"/>
            </a:p>
          </p:txBody>
        </p:sp>
        <p:sp>
          <p:nvSpPr>
            <p:cNvPr id="70677" name="TextBox 23"/>
            <p:cNvSpPr txBox="1">
              <a:spLocks noChangeArrowheads="1"/>
            </p:cNvSpPr>
            <p:nvPr/>
          </p:nvSpPr>
          <p:spPr bwMode="auto">
            <a:xfrm>
              <a:off x="7019963" y="270877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sym typeface="Symbol" panose="05050102010706020507" pitchFamily="18" charset="2"/>
                </a:rPr>
                <a:t>z</a:t>
              </a:r>
              <a:endParaRPr lang="en-GB" altLang="en-US" sz="1800" i="1"/>
            </a:p>
          </p:txBody>
        </p:sp>
        <p:sp>
          <p:nvSpPr>
            <p:cNvPr id="70678" name="TextBox 24"/>
            <p:cNvSpPr txBox="1">
              <a:spLocks noChangeArrowheads="1"/>
            </p:cNvSpPr>
            <p:nvPr/>
          </p:nvSpPr>
          <p:spPr bwMode="auto">
            <a:xfrm>
              <a:off x="6791950" y="2204650"/>
              <a:ext cx="325642" cy="3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sym typeface="Symbol" panose="05050102010706020507" pitchFamily="18" charset="2"/>
                </a:rPr>
                <a:t>p</a:t>
              </a:r>
              <a:endParaRPr lang="en-GB" altLang="en-US" sz="1800" b="1"/>
            </a:p>
          </p:txBody>
        </p:sp>
        <p:sp>
          <p:nvSpPr>
            <p:cNvPr id="70679" name="TextBox 25"/>
            <p:cNvSpPr txBox="1">
              <a:spLocks noChangeArrowheads="1"/>
            </p:cNvSpPr>
            <p:nvPr/>
          </p:nvSpPr>
          <p:spPr bwMode="auto">
            <a:xfrm>
              <a:off x="6391939" y="1628504"/>
              <a:ext cx="402565" cy="3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sym typeface="Symbol" panose="05050102010706020507" pitchFamily="18" charset="2"/>
                </a:rPr>
                <a:t>p</a:t>
              </a:r>
              <a:r>
                <a:rPr lang="sl-SI" altLang="en-US" sz="1200">
                  <a:sym typeface="Symbol" panose="05050102010706020507" pitchFamily="18" charset="2"/>
                </a:rPr>
                <a:t>c</a:t>
              </a:r>
              <a:endParaRPr lang="en-GB" altLang="en-US" sz="1800"/>
            </a:p>
          </p:txBody>
        </p:sp>
      </p:grpSp>
      <p:graphicFrame>
        <p:nvGraphicFramePr>
          <p:cNvPr id="70661" name="Object 7"/>
          <p:cNvGraphicFramePr>
            <a:graphicFrameLocks noChangeAspect="1"/>
          </p:cNvGraphicFramePr>
          <p:nvPr/>
        </p:nvGraphicFramePr>
        <p:xfrm>
          <a:off x="533400" y="2028825"/>
          <a:ext cx="4614863" cy="1557338"/>
        </p:xfrm>
        <a:graphic>
          <a:graphicData uri="http://schemas.openxmlformats.org/presentationml/2006/ole">
            <mc:AlternateContent xmlns:mc="http://schemas.openxmlformats.org/markup-compatibility/2006">
              <mc:Choice xmlns:v="urn:schemas-microsoft-com:vml" Requires="v">
                <p:oleObj spid="_x0000_s70734" name="Equation" r:id="rId4" imgW="1879600" imgH="635000" progId="Equation.DSMT4">
                  <p:embed/>
                </p:oleObj>
              </mc:Choice>
              <mc:Fallback>
                <p:oleObj name="Equation" r:id="rId4" imgW="1879600" imgH="6350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2028825"/>
                        <a:ext cx="4614863" cy="155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62" name="Object 6"/>
          <p:cNvGraphicFramePr>
            <a:graphicFrameLocks noChangeAspect="1"/>
          </p:cNvGraphicFramePr>
          <p:nvPr/>
        </p:nvGraphicFramePr>
        <p:xfrm>
          <a:off x="6243638" y="4402138"/>
          <a:ext cx="2128837" cy="579437"/>
        </p:xfrm>
        <a:graphic>
          <a:graphicData uri="http://schemas.openxmlformats.org/presentationml/2006/ole">
            <mc:AlternateContent xmlns:mc="http://schemas.openxmlformats.org/markup-compatibility/2006">
              <mc:Choice xmlns:v="urn:schemas-microsoft-com:vml" Requires="v">
                <p:oleObj spid="_x0000_s70735" name="Equation" r:id="rId6" imgW="838200" imgH="228600" progId="Equation.DSMT4">
                  <p:embed/>
                </p:oleObj>
              </mc:Choice>
              <mc:Fallback>
                <p:oleObj name="Equation" r:id="rId6" imgW="838200" imgH="2286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3638" y="4402138"/>
                        <a:ext cx="2128837"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3" name="TextBox 23"/>
          <p:cNvSpPr txBox="1">
            <a:spLocks noChangeArrowheads="1"/>
          </p:cNvSpPr>
          <p:nvPr/>
        </p:nvSpPr>
        <p:spPr bwMode="auto">
          <a:xfrm>
            <a:off x="5795963" y="4076700"/>
            <a:ext cx="289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Skupna rotacijska matrika:</a:t>
            </a:r>
            <a:endParaRPr lang="en-GB" altLang="en-US" sz="1800"/>
          </a:p>
        </p:txBody>
      </p:sp>
      <p:sp>
        <p:nvSpPr>
          <p:cNvPr id="2" name="PoljeZBesedilom 1"/>
          <p:cNvSpPr txBox="1"/>
          <p:nvPr/>
        </p:nvSpPr>
        <p:spPr>
          <a:xfrm>
            <a:off x="5940425" y="5013325"/>
            <a:ext cx="2838450" cy="1138238"/>
          </a:xfrm>
          <a:prstGeom prst="rect">
            <a:avLst/>
          </a:prstGeom>
          <a:noFill/>
        </p:spPr>
        <p:txBody>
          <a:bodyPr wrap="none">
            <a:spAutoFit/>
          </a:bodyPr>
          <a:lstStyle/>
          <a:p>
            <a:pPr eaLnBrk="1" hangingPunct="1">
              <a:defRPr/>
            </a:pPr>
            <a:r>
              <a:rPr lang="sl-SI" dirty="0">
                <a:solidFill>
                  <a:srgbClr val="0000FF"/>
                </a:solidFill>
                <a:latin typeface="Arial" charset="0"/>
                <a:cs typeface="Arial" charset="0"/>
              </a:rPr>
              <a:t>6 zunanjih parametrov za </a:t>
            </a:r>
          </a:p>
          <a:p>
            <a:pPr eaLnBrk="1" hangingPunct="1">
              <a:defRPr/>
            </a:pPr>
            <a:r>
              <a:rPr lang="sl-SI" dirty="0">
                <a:solidFill>
                  <a:srgbClr val="0000FF"/>
                </a:solidFill>
                <a:latin typeface="Arial" charset="0"/>
                <a:cs typeface="Arial" charset="0"/>
              </a:rPr>
              <a:t>kamero:</a:t>
            </a:r>
          </a:p>
          <a:p>
            <a:pPr marL="285750" indent="-285750" eaLnBrk="1" hangingPunct="1">
              <a:buFont typeface="Arial" pitchFamily="34" charset="0"/>
              <a:buChar char="•"/>
              <a:defRPr/>
            </a:pPr>
            <a:r>
              <a:rPr lang="sl-SI" sz="1600" dirty="0">
                <a:solidFill>
                  <a:srgbClr val="FF9933"/>
                </a:solidFill>
                <a:latin typeface="Arial" charset="0"/>
                <a:cs typeface="Arial" charset="0"/>
              </a:rPr>
              <a:t>3 koti za zasuk</a:t>
            </a:r>
          </a:p>
          <a:p>
            <a:pPr marL="285750" indent="-285750" eaLnBrk="1" hangingPunct="1">
              <a:buFont typeface="Arial" pitchFamily="34" charset="0"/>
              <a:buChar char="•"/>
              <a:defRPr/>
            </a:pPr>
            <a:r>
              <a:rPr lang="sl-SI" sz="1600" dirty="0">
                <a:solidFill>
                  <a:srgbClr val="00B050"/>
                </a:solidFill>
                <a:latin typeface="Arial" charset="0"/>
                <a:cs typeface="Arial" charset="0"/>
              </a:rPr>
              <a:t>3 odseki za premik</a:t>
            </a:r>
          </a:p>
        </p:txBody>
      </p:sp>
      <p:grpSp>
        <p:nvGrpSpPr>
          <p:cNvPr id="70665" name="Skupina 4"/>
          <p:cNvGrpSpPr>
            <a:grpSpLocks/>
          </p:cNvGrpSpPr>
          <p:nvPr/>
        </p:nvGrpSpPr>
        <p:grpSpPr bwMode="auto">
          <a:xfrm>
            <a:off x="539750" y="4581525"/>
            <a:ext cx="4857750" cy="1628775"/>
            <a:chOff x="530225" y="4446588"/>
            <a:chExt cx="5011738" cy="1763712"/>
          </a:xfrm>
        </p:grpSpPr>
        <p:pic>
          <p:nvPicPr>
            <p:cNvPr id="70668" name="Slika 2"/>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30225" y="4446588"/>
              <a:ext cx="5011738" cy="176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9" name="PoljeZBesedilom 3"/>
            <p:cNvSpPr txBox="1">
              <a:spLocks noChangeArrowheads="1"/>
            </p:cNvSpPr>
            <p:nvPr/>
          </p:nvSpPr>
          <p:spPr bwMode="auto">
            <a:xfrm>
              <a:off x="1006325" y="5951838"/>
              <a:ext cx="216726" cy="2308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900"/>
                <a:t> </a:t>
              </a:r>
              <a:endParaRPr lang="en-US" altLang="en-US" sz="900"/>
            </a:p>
          </p:txBody>
        </p:sp>
      </p:grpSp>
      <p:sp>
        <p:nvSpPr>
          <p:cNvPr id="70666"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70667"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D798997-EA61-408B-877F-6CEF889E75B8}" type="slidenum">
              <a:rPr lang="en-GB" altLang="sl-SI" sz="1400" smtClean="0"/>
              <a:pPr>
                <a:spcBef>
                  <a:spcPct val="0"/>
                </a:spcBef>
                <a:buFontTx/>
                <a:buNone/>
              </a:pPr>
              <a:t>37</a:t>
            </a:fld>
            <a:endParaRPr lang="en-GB" altLang="sl-SI" sz="1400"/>
          </a:p>
        </p:txBody>
      </p:sp>
    </p:spTree>
  </p:cSld>
  <p:clrMapOvr>
    <a:masterClrMapping/>
  </p:clrMapOvr>
  <p:transition>
    <p:cove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ctrTitle"/>
          </p:nvPr>
        </p:nvSpPr>
        <p:spPr>
          <a:xfrm>
            <a:off x="611188" y="188913"/>
            <a:ext cx="7772400" cy="719137"/>
          </a:xfrm>
        </p:spPr>
        <p:txBody>
          <a:bodyPr/>
          <a:lstStyle/>
          <a:p>
            <a:pPr eaLnBrk="1" hangingPunct="1"/>
            <a:r>
              <a:rPr lang="sl-SI" altLang="en-US" sz="2800" b="1"/>
              <a:t>DOLOČANJE PARAMETROV KAMERE</a:t>
            </a:r>
            <a:br>
              <a:rPr lang="sl-SI" altLang="en-US" sz="2800" b="1"/>
            </a:br>
            <a:r>
              <a:rPr lang="sl-SI" altLang="en-US" sz="2000"/>
              <a:t>(kalibracija)</a:t>
            </a:r>
            <a:endParaRPr lang="en-GB" altLang="en-US" sz="2000"/>
          </a:p>
        </p:txBody>
      </p:sp>
      <p:sp>
        <p:nvSpPr>
          <p:cNvPr id="72707" name="TextBox 5"/>
          <p:cNvSpPr txBox="1">
            <a:spLocks noChangeArrowheads="1"/>
          </p:cNvSpPr>
          <p:nvPr/>
        </p:nvSpPr>
        <p:spPr bwMode="auto">
          <a:xfrm>
            <a:off x="900113" y="1125538"/>
            <a:ext cx="7559675" cy="535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t>Za kamero lahko določimo 5 notranjih in 6 zunanjih parametrov.</a:t>
            </a:r>
          </a:p>
          <a:p>
            <a:pPr eaLnBrk="1" hangingPunct="1">
              <a:lnSpc>
                <a:spcPct val="150000"/>
              </a:lnSpc>
              <a:spcBef>
                <a:spcPct val="0"/>
              </a:spcBef>
              <a:buFontTx/>
              <a:buAutoNum type="arabicPeriod"/>
            </a:pPr>
            <a:r>
              <a:rPr lang="sl-SI" altLang="en-US" sz="1800"/>
              <a:t>Notranji parametri: </a:t>
            </a:r>
          </a:p>
          <a:p>
            <a:pPr>
              <a:spcBef>
                <a:spcPct val="0"/>
              </a:spcBef>
            </a:pPr>
            <a:r>
              <a:rPr lang="sl-SI" altLang="en-US" sz="1600"/>
              <a:t>(</a:t>
            </a:r>
            <a:r>
              <a:rPr lang="sl-SI" altLang="en-US" sz="1600" i="1"/>
              <a:t>x</a:t>
            </a:r>
            <a:r>
              <a:rPr lang="sl-SI" altLang="en-US" sz="1600" i="1" baseline="-25000"/>
              <a:t>s,</a:t>
            </a:r>
            <a:r>
              <a:rPr lang="sl-SI" altLang="en-US" sz="1600" baseline="-25000"/>
              <a:t>0</a:t>
            </a:r>
            <a:r>
              <a:rPr lang="sl-SI" altLang="en-US" sz="1600" i="1"/>
              <a:t>,y</a:t>
            </a:r>
            <a:r>
              <a:rPr lang="sl-SI" altLang="en-US" sz="1600" i="1" baseline="-25000"/>
              <a:t>s,</a:t>
            </a:r>
            <a:r>
              <a:rPr lang="sl-SI" altLang="en-US" sz="1600" baseline="-25000"/>
              <a:t>0</a:t>
            </a:r>
            <a:r>
              <a:rPr lang="sl-SI" altLang="en-US" sz="1600"/>
              <a:t>) – premik slikovnega središča od optične osi</a:t>
            </a:r>
            <a:endParaRPr lang="sl-SI" altLang="en-US" sz="1600" i="1"/>
          </a:p>
          <a:p>
            <a:pPr>
              <a:spcBef>
                <a:spcPct val="0"/>
              </a:spcBef>
            </a:pPr>
            <a:r>
              <a:rPr lang="sl-SI" altLang="en-US" sz="1600" i="1"/>
              <a:t>f</a:t>
            </a:r>
            <a:r>
              <a:rPr lang="sl-SI" altLang="en-US" sz="1100" i="1"/>
              <a:t>x</a:t>
            </a:r>
            <a:r>
              <a:rPr lang="sl-SI" altLang="en-US" sz="1600" i="1"/>
              <a:t> </a:t>
            </a:r>
            <a:r>
              <a:rPr lang="sl-SI" altLang="en-US" sz="1600"/>
              <a:t>– goriščna razdalja </a:t>
            </a:r>
            <a:r>
              <a:rPr lang="sl-SI" altLang="en-US" sz="1600" i="1"/>
              <a:t>f</a:t>
            </a:r>
            <a:r>
              <a:rPr lang="sl-SI" altLang="en-US" sz="1600"/>
              <a:t>, deljena s širino piksla</a:t>
            </a:r>
          </a:p>
          <a:p>
            <a:pPr>
              <a:spcBef>
                <a:spcPct val="0"/>
              </a:spcBef>
            </a:pPr>
            <a:r>
              <a:rPr lang="sl-SI" altLang="en-US" sz="1600" i="1"/>
              <a:t>f</a:t>
            </a:r>
            <a:r>
              <a:rPr lang="sl-SI" altLang="en-US" sz="1100" i="1"/>
              <a:t>y</a:t>
            </a:r>
            <a:r>
              <a:rPr lang="sl-SI" altLang="en-US" sz="1600" i="1"/>
              <a:t> </a:t>
            </a:r>
            <a:r>
              <a:rPr lang="sl-SI" altLang="en-US" sz="1600"/>
              <a:t>– goriščna razdalja </a:t>
            </a:r>
            <a:r>
              <a:rPr lang="sl-SI" altLang="en-US" sz="1600" i="1"/>
              <a:t>f</a:t>
            </a:r>
            <a:r>
              <a:rPr lang="sl-SI" altLang="en-US" sz="1600"/>
              <a:t>, deljena z višino piksla</a:t>
            </a:r>
          </a:p>
          <a:p>
            <a:pPr>
              <a:spcBef>
                <a:spcPct val="0"/>
              </a:spcBef>
            </a:pPr>
            <a:r>
              <a:rPr lang="sl-SI" altLang="en-US" sz="1600" i="1">
                <a:sym typeface="Symbol" panose="05050102010706020507" pitchFamily="18" charset="2"/>
              </a:rPr>
              <a:t> </a:t>
            </a:r>
            <a:r>
              <a:rPr lang="sl-SI" altLang="en-US" sz="1600"/>
              <a:t>–</a:t>
            </a:r>
            <a:r>
              <a:rPr lang="sl-SI" altLang="en-US" sz="1600">
                <a:sym typeface="Symbol" panose="05050102010706020507" pitchFamily="18" charset="2"/>
              </a:rPr>
              <a:t> nagib slikovnih osi (optični element nima pravokotnih osi)</a:t>
            </a:r>
            <a:endParaRPr lang="sl-SI" altLang="en-US" sz="1600"/>
          </a:p>
          <a:p>
            <a:pPr eaLnBrk="1" hangingPunct="1">
              <a:lnSpc>
                <a:spcPct val="150000"/>
              </a:lnSpc>
              <a:spcBef>
                <a:spcPct val="0"/>
              </a:spcBef>
              <a:buFontTx/>
              <a:buAutoNum type="arabicPeriod" startAt="3"/>
            </a:pPr>
            <a:r>
              <a:rPr lang="sl-SI" altLang="en-US" sz="1800"/>
              <a:t>Zunanji parametri:</a:t>
            </a:r>
          </a:p>
          <a:p>
            <a:pPr eaLnBrk="1" hangingPunct="1">
              <a:spcBef>
                <a:spcPct val="0"/>
              </a:spcBef>
            </a:pPr>
            <a:r>
              <a:rPr lang="sl-SI" altLang="en-US" sz="1600"/>
              <a:t>kot zasuka okoli osi </a:t>
            </a:r>
            <a:r>
              <a:rPr lang="sl-SI" altLang="en-US" sz="1600" i="1"/>
              <a:t>z</a:t>
            </a:r>
            <a:r>
              <a:rPr lang="sl-SI" altLang="en-US" sz="1600"/>
              <a:t>: </a:t>
            </a:r>
            <a:r>
              <a:rPr lang="sl-SI" altLang="en-US" sz="1600">
                <a:sym typeface="Symbol" panose="05050102010706020507" pitchFamily="18" charset="2"/>
              </a:rPr>
              <a:t></a:t>
            </a:r>
          </a:p>
          <a:p>
            <a:pPr eaLnBrk="1" hangingPunct="1">
              <a:spcBef>
                <a:spcPct val="0"/>
              </a:spcBef>
            </a:pPr>
            <a:r>
              <a:rPr lang="sl-SI" altLang="en-US" sz="1600"/>
              <a:t>kot zasuka okoli osi </a:t>
            </a:r>
            <a:r>
              <a:rPr lang="sl-SI" altLang="en-US" sz="1600" i="1"/>
              <a:t>y</a:t>
            </a:r>
            <a:r>
              <a:rPr lang="sl-SI" altLang="en-US" sz="1600"/>
              <a:t>: </a:t>
            </a:r>
            <a:r>
              <a:rPr lang="sl-SI" altLang="en-US" sz="1600">
                <a:sym typeface="Symbol" panose="05050102010706020507" pitchFamily="18" charset="2"/>
              </a:rPr>
              <a:t></a:t>
            </a:r>
          </a:p>
          <a:p>
            <a:pPr eaLnBrk="1" hangingPunct="1">
              <a:spcBef>
                <a:spcPct val="0"/>
              </a:spcBef>
            </a:pPr>
            <a:r>
              <a:rPr lang="sl-SI" altLang="en-US" sz="1600"/>
              <a:t>kot zasuka okoli osi </a:t>
            </a:r>
            <a:r>
              <a:rPr lang="sl-SI" altLang="en-US" sz="1600" i="1"/>
              <a:t>x</a:t>
            </a:r>
            <a:r>
              <a:rPr lang="sl-SI" altLang="en-US" sz="1600"/>
              <a:t>: </a:t>
            </a:r>
            <a:r>
              <a:rPr lang="sl-SI" altLang="en-US" sz="1600">
                <a:sym typeface="Symbol" panose="05050102010706020507" pitchFamily="18" charset="2"/>
              </a:rPr>
              <a:t></a:t>
            </a:r>
          </a:p>
          <a:p>
            <a:pPr eaLnBrk="1" hangingPunct="1">
              <a:spcBef>
                <a:spcPct val="0"/>
              </a:spcBef>
            </a:pPr>
            <a:r>
              <a:rPr lang="sl-SI" altLang="en-US" sz="1600">
                <a:sym typeface="Symbol" panose="05050102010706020507" pitchFamily="18" charset="2"/>
              </a:rPr>
              <a:t>premik vzdolž osi </a:t>
            </a:r>
            <a:r>
              <a:rPr lang="sl-SI" altLang="en-US" sz="1600" i="1">
                <a:sym typeface="Symbol" panose="05050102010706020507" pitchFamily="18" charset="2"/>
              </a:rPr>
              <a:t>x</a:t>
            </a:r>
            <a:r>
              <a:rPr lang="sl-SI" altLang="en-US" sz="1600">
                <a:sym typeface="Symbol" panose="05050102010706020507" pitchFamily="18" charset="2"/>
              </a:rPr>
              <a:t>: </a:t>
            </a:r>
            <a:r>
              <a:rPr lang="sl-SI" altLang="en-US" sz="1600" i="1">
                <a:sym typeface="Symbol" panose="05050102010706020507" pitchFamily="18" charset="2"/>
              </a:rPr>
              <a:t>t</a:t>
            </a:r>
            <a:r>
              <a:rPr lang="sl-SI" altLang="en-US" sz="1100" i="1">
                <a:sym typeface="Symbol" panose="05050102010706020507" pitchFamily="18" charset="2"/>
              </a:rPr>
              <a:t>x</a:t>
            </a:r>
          </a:p>
          <a:p>
            <a:pPr eaLnBrk="1" hangingPunct="1">
              <a:spcBef>
                <a:spcPct val="0"/>
              </a:spcBef>
            </a:pPr>
            <a:r>
              <a:rPr lang="sl-SI" altLang="en-US" sz="1600">
                <a:sym typeface="Symbol" panose="05050102010706020507" pitchFamily="18" charset="2"/>
              </a:rPr>
              <a:t>premik vzdolž osi </a:t>
            </a:r>
            <a:r>
              <a:rPr lang="sl-SI" altLang="en-US" sz="1600" i="1">
                <a:sym typeface="Symbol" panose="05050102010706020507" pitchFamily="18" charset="2"/>
              </a:rPr>
              <a:t>y</a:t>
            </a:r>
            <a:r>
              <a:rPr lang="sl-SI" altLang="en-US" sz="1600">
                <a:sym typeface="Symbol" panose="05050102010706020507" pitchFamily="18" charset="2"/>
              </a:rPr>
              <a:t>: </a:t>
            </a:r>
            <a:r>
              <a:rPr lang="sl-SI" altLang="en-US" sz="1600" i="1">
                <a:sym typeface="Symbol" panose="05050102010706020507" pitchFamily="18" charset="2"/>
              </a:rPr>
              <a:t>t</a:t>
            </a:r>
            <a:r>
              <a:rPr lang="sl-SI" altLang="en-US" sz="1100" i="1">
                <a:sym typeface="Symbol" panose="05050102010706020507" pitchFamily="18" charset="2"/>
              </a:rPr>
              <a:t>y</a:t>
            </a:r>
            <a:endParaRPr lang="sl-SI" altLang="en-US" sz="1600" i="1">
              <a:sym typeface="Symbol" panose="05050102010706020507" pitchFamily="18" charset="2"/>
            </a:endParaRPr>
          </a:p>
          <a:p>
            <a:pPr eaLnBrk="1" hangingPunct="1">
              <a:spcBef>
                <a:spcPct val="0"/>
              </a:spcBef>
            </a:pPr>
            <a:r>
              <a:rPr lang="sl-SI" altLang="en-US" sz="1600">
                <a:sym typeface="Symbol" panose="05050102010706020507" pitchFamily="18" charset="2"/>
              </a:rPr>
              <a:t>premik vzdolž osi </a:t>
            </a:r>
            <a:r>
              <a:rPr lang="sl-SI" altLang="en-US" sz="1600" i="1">
                <a:sym typeface="Symbol" panose="05050102010706020507" pitchFamily="18" charset="2"/>
              </a:rPr>
              <a:t>z</a:t>
            </a:r>
            <a:r>
              <a:rPr lang="sl-SI" altLang="en-US" sz="1600">
                <a:sym typeface="Symbol" panose="05050102010706020507" pitchFamily="18" charset="2"/>
              </a:rPr>
              <a:t>: </a:t>
            </a:r>
            <a:r>
              <a:rPr lang="sl-SI" altLang="en-US" sz="1600" i="1">
                <a:sym typeface="Symbol" panose="05050102010706020507" pitchFamily="18" charset="2"/>
              </a:rPr>
              <a:t>t</a:t>
            </a:r>
            <a:r>
              <a:rPr lang="sl-SI" altLang="en-US" sz="1100" i="1">
                <a:sym typeface="Symbol" panose="05050102010706020507" pitchFamily="18" charset="2"/>
              </a:rPr>
              <a:t>z</a:t>
            </a:r>
            <a:endParaRPr lang="sl-SI" altLang="en-US" sz="1600" i="1">
              <a:sym typeface="Symbol" panose="05050102010706020507" pitchFamily="18" charset="2"/>
            </a:endParaRPr>
          </a:p>
          <a:p>
            <a:pPr eaLnBrk="1" hangingPunct="1">
              <a:spcBef>
                <a:spcPts val="1200"/>
              </a:spcBef>
              <a:buFontTx/>
              <a:buAutoNum type="arabicPeriod" startAt="4"/>
            </a:pPr>
            <a:r>
              <a:rPr lang="sl-SI" altLang="en-US" sz="1800"/>
              <a:t>Parametre kamere lahko izračunamo, če opazujemo sceno z znanimi merami oz. razmerji.</a:t>
            </a:r>
          </a:p>
          <a:p>
            <a:pPr eaLnBrk="1" hangingPunct="1">
              <a:lnSpc>
                <a:spcPct val="150000"/>
              </a:lnSpc>
              <a:spcBef>
                <a:spcPct val="0"/>
              </a:spcBef>
              <a:buFontTx/>
              <a:buAutoNum type="arabicPeriod" startAt="4"/>
            </a:pPr>
            <a:r>
              <a:rPr lang="sl-SI" altLang="en-US" sz="1800"/>
              <a:t>Nastavimo sistem enačb – kalibracija.</a:t>
            </a:r>
          </a:p>
          <a:p>
            <a:pPr eaLnBrk="1" hangingPunct="1">
              <a:lnSpc>
                <a:spcPct val="150000"/>
              </a:lnSpc>
              <a:spcBef>
                <a:spcPct val="0"/>
              </a:spcBef>
              <a:buFontTx/>
              <a:buAutoNum type="arabicPeriod" startAt="4"/>
            </a:pPr>
            <a:r>
              <a:rPr lang="sl-SI" altLang="en-US" sz="1800"/>
              <a:t>Za kalibracijo se najpogosteje uporablja šahovnica.</a:t>
            </a:r>
          </a:p>
        </p:txBody>
      </p:sp>
      <p:grpSp>
        <p:nvGrpSpPr>
          <p:cNvPr id="72708" name="Skupina 4"/>
          <p:cNvGrpSpPr>
            <a:grpSpLocks/>
          </p:cNvGrpSpPr>
          <p:nvPr/>
        </p:nvGrpSpPr>
        <p:grpSpPr bwMode="auto">
          <a:xfrm>
            <a:off x="5889625" y="2114550"/>
            <a:ext cx="2951163" cy="503238"/>
            <a:chOff x="5888868" y="2085231"/>
            <a:chExt cx="2952328" cy="503238"/>
          </a:xfrm>
        </p:grpSpPr>
        <p:sp>
          <p:nvSpPr>
            <p:cNvPr id="72711" name="PoljeZBesedilom 2"/>
            <p:cNvSpPr txBox="1">
              <a:spLocks noChangeArrowheads="1"/>
            </p:cNvSpPr>
            <p:nvPr/>
          </p:nvSpPr>
          <p:spPr bwMode="auto">
            <a:xfrm>
              <a:off x="5888868" y="2132856"/>
              <a:ext cx="295232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 typeface="Symbol" panose="05050102010706020507" pitchFamily="18" charset="2"/>
                <a:buChar char="Þ"/>
              </a:pPr>
              <a:r>
                <a:rPr lang="sl-SI" altLang="en-US" sz="1600">
                  <a:sym typeface="Symbol" panose="05050102010706020507" pitchFamily="18" charset="2"/>
                </a:rPr>
                <a:t>    </a:t>
              </a:r>
              <a:r>
                <a:rPr lang="sl-SI" altLang="en-US" sz="1200">
                  <a:sym typeface="Symbol" panose="05050102010706020507" pitchFamily="18" charset="2"/>
                </a:rPr>
                <a:t>aspektno (projekcijsko) razmerje</a:t>
              </a:r>
              <a:endParaRPr lang="sl-SI" altLang="en-US" sz="1200"/>
            </a:p>
          </p:txBody>
        </p:sp>
        <p:graphicFrame>
          <p:nvGraphicFramePr>
            <p:cNvPr id="72712" name="Predmet 3"/>
            <p:cNvGraphicFramePr>
              <a:graphicFrameLocks noChangeAspect="1"/>
            </p:cNvGraphicFramePr>
            <p:nvPr/>
          </p:nvGraphicFramePr>
          <p:xfrm>
            <a:off x="6190084" y="2085231"/>
            <a:ext cx="266700" cy="503238"/>
          </p:xfrm>
          <a:graphic>
            <a:graphicData uri="http://schemas.openxmlformats.org/presentationml/2006/ole">
              <mc:AlternateContent xmlns:mc="http://schemas.openxmlformats.org/markup-compatibility/2006">
                <mc:Choice xmlns:v="urn:schemas-microsoft-com:vml" Requires="v">
                  <p:oleObj spid="_x0000_s72740" name="Equation" r:id="rId4" imgW="228501" imgH="431613" progId="Equation.DSMT4">
                    <p:embed/>
                  </p:oleObj>
                </mc:Choice>
                <mc:Fallback>
                  <p:oleObj name="Equation" r:id="rId4" imgW="228501" imgH="431613" progId="Equation.DSMT4">
                    <p:embed/>
                    <p:pic>
                      <p:nvPicPr>
                        <p:cNvPr id="0" name="Predme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0084" y="2085231"/>
                          <a:ext cx="2667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2709"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72710"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98C15ED-D5E9-47FC-BC4B-FE8A876FCA4F}" type="slidenum">
              <a:rPr lang="en-GB" altLang="sl-SI" sz="1400" smtClean="0"/>
              <a:pPr>
                <a:spcBef>
                  <a:spcPct val="0"/>
                </a:spcBef>
                <a:buFontTx/>
                <a:buNone/>
              </a:pPr>
              <a:t>38</a:t>
            </a:fld>
            <a:endParaRPr lang="en-GB" altLang="sl-SI" sz="1400"/>
          </a:p>
        </p:txBody>
      </p:sp>
    </p:spTree>
  </p:cSld>
  <p:clrMapOvr>
    <a:masterClrMapping/>
  </p:clrMapOvr>
  <p:transition>
    <p:cove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611188" y="188913"/>
            <a:ext cx="7772400" cy="719137"/>
          </a:xfrm>
        </p:spPr>
        <p:txBody>
          <a:bodyPr/>
          <a:lstStyle/>
          <a:p>
            <a:pPr eaLnBrk="1" hangingPunct="1"/>
            <a:r>
              <a:rPr lang="sl-SI" altLang="en-US" sz="2800" b="1"/>
              <a:t>DOLOČANJE PARAMETROV KAMERE</a:t>
            </a:r>
            <a:br>
              <a:rPr lang="sl-SI" altLang="en-US" sz="2800" b="1"/>
            </a:br>
            <a:r>
              <a:rPr lang="sl-SI" altLang="en-US" sz="2000"/>
              <a:t>(posnetek znanih točk – šahovnica)</a:t>
            </a:r>
            <a:endParaRPr lang="en-GB" altLang="en-US" sz="2000"/>
          </a:p>
        </p:txBody>
      </p:sp>
      <p:pic>
        <p:nvPicPr>
          <p:cNvPr id="74755" name="Picture 3" descr="30_2"/>
          <p:cNvPicPr>
            <a:picLocks noChangeAspect="1" noChangeArrowheads="1"/>
          </p:cNvPicPr>
          <p:nvPr/>
        </p:nvPicPr>
        <p:blipFill>
          <a:blip r:embed="rId3">
            <a:extLst>
              <a:ext uri="{28A0092B-C50C-407E-A947-70E740481C1C}">
                <a14:useLocalDpi xmlns:a14="http://schemas.microsoft.com/office/drawing/2010/main" val="0"/>
              </a:ext>
            </a:extLst>
          </a:blip>
          <a:srcRect t="4930" r="45000" b="15590"/>
          <a:stretch>
            <a:fillRect/>
          </a:stretch>
        </p:blipFill>
        <p:spPr bwMode="auto">
          <a:xfrm>
            <a:off x="2411413" y="1079500"/>
            <a:ext cx="4308475"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TextBox 9"/>
          <p:cNvSpPr txBox="1">
            <a:spLocks noChangeArrowheads="1"/>
          </p:cNvSpPr>
          <p:nvPr/>
        </p:nvSpPr>
        <p:spPr bwMode="auto">
          <a:xfrm>
            <a:off x="1187450" y="4941888"/>
            <a:ext cx="7123113"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Značilne točke na slikah lahko poiščemo na različne načine, recimo:</a:t>
            </a:r>
          </a:p>
          <a:p>
            <a:pPr eaLnBrk="1" hangingPunct="1">
              <a:spcBef>
                <a:spcPct val="0"/>
              </a:spcBef>
            </a:pPr>
            <a:r>
              <a:rPr lang="sl-SI" altLang="en-US" sz="1800"/>
              <a:t> </a:t>
            </a:r>
            <a:r>
              <a:rPr lang="sl-SI" altLang="en-US" sz="1600"/>
              <a:t>s Cannyjevim postopkom opredelimo robove</a:t>
            </a:r>
          </a:p>
          <a:p>
            <a:pPr eaLnBrk="1" hangingPunct="1">
              <a:spcBef>
                <a:spcPct val="0"/>
              </a:spcBef>
            </a:pPr>
            <a:r>
              <a:rPr lang="sl-SI" altLang="en-US" sz="1600"/>
              <a:t> robove aproksimiramo z ravnimi črtami </a:t>
            </a:r>
          </a:p>
          <a:p>
            <a:pPr eaLnBrk="1" hangingPunct="1">
              <a:spcBef>
                <a:spcPct val="0"/>
              </a:spcBef>
            </a:pPr>
            <a:r>
              <a:rPr lang="sl-SI" altLang="en-US" sz="1600"/>
              <a:t> poiščemo presečišča teh črt</a:t>
            </a:r>
            <a:endParaRPr lang="en-GB" altLang="en-US" sz="1600"/>
          </a:p>
        </p:txBody>
      </p:sp>
      <p:sp>
        <p:nvSpPr>
          <p:cNvPr id="7475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74758"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F8623D8-03DE-4C1A-A10E-1012DD35FCA0}" type="slidenum">
              <a:rPr lang="en-GB" altLang="sl-SI" sz="1400" smtClean="0"/>
              <a:pPr>
                <a:spcBef>
                  <a:spcPct val="0"/>
                </a:spcBef>
                <a:buFontTx/>
                <a:buNone/>
              </a:pPr>
              <a:t>39</a:t>
            </a:fld>
            <a:endParaRPr lang="en-GB" altLang="sl-SI" sz="1400"/>
          </a:p>
        </p:txBody>
      </p:sp>
    </p:spTree>
  </p:cSld>
  <p:clrMapOvr>
    <a:masterClrMapping/>
  </p:clrMapOvr>
  <p:transition>
    <p:cove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ctrTitle"/>
          </p:nvPr>
        </p:nvSpPr>
        <p:spPr>
          <a:xfrm>
            <a:off x="611188" y="188913"/>
            <a:ext cx="7772400" cy="576262"/>
          </a:xfrm>
        </p:spPr>
        <p:txBody>
          <a:bodyPr/>
          <a:lstStyle/>
          <a:p>
            <a:pPr eaLnBrk="1" hangingPunct="1"/>
            <a:r>
              <a:rPr lang="sl-SI" altLang="en-US" sz="2800" b="1"/>
              <a:t>SISTEM ENAČB ZA KALIBRACIJO KAMERE</a:t>
            </a:r>
            <a:endParaRPr lang="en-GB" altLang="en-US" sz="2000"/>
          </a:p>
        </p:txBody>
      </p:sp>
      <p:sp>
        <p:nvSpPr>
          <p:cNvPr id="76803" name="PoljeZBesedilom 2"/>
          <p:cNvSpPr txBox="1">
            <a:spLocks noChangeArrowheads="1"/>
          </p:cNvSpPr>
          <p:nvPr/>
        </p:nvSpPr>
        <p:spPr bwMode="auto">
          <a:xfrm>
            <a:off x="6659563" y="4724400"/>
            <a:ext cx="2233612"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solidFill>
                  <a:srgbClr val="0000FF"/>
                </a:solidFill>
              </a:rPr>
              <a:t>Razcep na lastne vrednosti in vektorje (SVD) – rešitev:</a:t>
            </a:r>
          </a:p>
          <a:p>
            <a:pPr eaLnBrk="1" hangingPunct="1">
              <a:spcBef>
                <a:spcPct val="0"/>
              </a:spcBef>
              <a:buFontTx/>
              <a:buNone/>
            </a:pPr>
            <a:r>
              <a:rPr lang="sl-SI" altLang="en-US" sz="1400">
                <a:solidFill>
                  <a:srgbClr val="FF0000"/>
                </a:solidFill>
              </a:rPr>
              <a:t>lastni vektor ob najmanjši lastni vrednosti</a:t>
            </a:r>
          </a:p>
        </p:txBody>
      </p:sp>
      <p:grpSp>
        <p:nvGrpSpPr>
          <p:cNvPr id="76804" name="Group 14"/>
          <p:cNvGrpSpPr>
            <a:grpSpLocks/>
          </p:cNvGrpSpPr>
          <p:nvPr/>
        </p:nvGrpSpPr>
        <p:grpSpPr bwMode="auto">
          <a:xfrm>
            <a:off x="900113" y="908050"/>
            <a:ext cx="7559675" cy="3794125"/>
            <a:chOff x="900112" y="908720"/>
            <a:chExt cx="7559675" cy="3793346"/>
          </a:xfrm>
        </p:grpSpPr>
        <p:sp>
          <p:nvSpPr>
            <p:cNvPr id="2056" name="TextBox 5"/>
            <p:cNvSpPr txBox="1">
              <a:spLocks noRot="1" noChangeAspect="1" noMove="1" noResize="1" noEditPoints="1" noAdjustHandles="1" noChangeArrowheads="1" noChangeShapeType="1" noTextEdit="1"/>
            </p:cNvSpPr>
            <p:nvPr/>
          </p:nvSpPr>
          <p:spPr bwMode="auto">
            <a:xfrm>
              <a:off x="900112" y="908720"/>
              <a:ext cx="7559675" cy="3793346"/>
            </a:xfrm>
            <a:prstGeom prst="rect">
              <a:avLst/>
            </a:prstGeom>
            <a:blipFill rotWithShape="1">
              <a:blip r:embed="rId3" cstate="print"/>
              <a:stretch>
                <a:fillRect l="-726" t="-804"/>
              </a:stretch>
            </a:blipFill>
            <a:ln>
              <a:noFill/>
            </a:ln>
          </p:spPr>
          <p:txBody>
            <a:bodyPr/>
            <a:lstStyle/>
            <a:p>
              <a:pPr eaLnBrk="1" hangingPunct="1">
                <a:defRPr/>
              </a:pPr>
              <a:r>
                <a:rPr lang="sl-SI">
                  <a:noFill/>
                  <a:latin typeface="Arial" charset="0"/>
                  <a:cs typeface="Arial" charset="0"/>
                </a:rPr>
                <a:t> </a:t>
              </a:r>
            </a:p>
          </p:txBody>
        </p:sp>
        <p:sp>
          <p:nvSpPr>
            <p:cNvPr id="76809" name="TextBox 7"/>
            <p:cNvSpPr txBox="1">
              <a:spLocks noChangeArrowheads="1"/>
            </p:cNvSpPr>
            <p:nvPr/>
          </p:nvSpPr>
          <p:spPr bwMode="auto">
            <a:xfrm>
              <a:off x="6876256" y="1124744"/>
              <a:ext cx="2712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i="1"/>
                <a:t>T</a:t>
              </a:r>
              <a:endParaRPr lang="en-GB" altLang="en-US" sz="1100" i="1"/>
            </a:p>
          </p:txBody>
        </p:sp>
        <p:sp>
          <p:nvSpPr>
            <p:cNvPr id="76810" name="TextBox 8"/>
            <p:cNvSpPr txBox="1">
              <a:spLocks noChangeArrowheads="1"/>
            </p:cNvSpPr>
            <p:nvPr/>
          </p:nvSpPr>
          <p:spPr bwMode="auto">
            <a:xfrm>
              <a:off x="3931432" y="2484432"/>
              <a:ext cx="2712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i="1"/>
                <a:t>T</a:t>
              </a:r>
              <a:endParaRPr lang="en-GB" altLang="en-US" sz="1100" i="1"/>
            </a:p>
          </p:txBody>
        </p:sp>
        <p:sp>
          <p:nvSpPr>
            <p:cNvPr id="76811" name="TextBox 9"/>
            <p:cNvSpPr txBox="1">
              <a:spLocks noChangeArrowheads="1"/>
            </p:cNvSpPr>
            <p:nvPr/>
          </p:nvSpPr>
          <p:spPr bwMode="auto">
            <a:xfrm>
              <a:off x="6876256" y="1420280"/>
              <a:ext cx="2712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i="1"/>
                <a:t>T</a:t>
              </a:r>
              <a:endParaRPr lang="en-GB" altLang="en-US" sz="1100" i="1"/>
            </a:p>
          </p:txBody>
        </p:sp>
        <p:sp>
          <p:nvSpPr>
            <p:cNvPr id="76812" name="TextBox 10"/>
            <p:cNvSpPr txBox="1">
              <a:spLocks noChangeArrowheads="1"/>
            </p:cNvSpPr>
            <p:nvPr/>
          </p:nvSpPr>
          <p:spPr bwMode="auto">
            <a:xfrm>
              <a:off x="6876256" y="1655222"/>
              <a:ext cx="2712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i="1"/>
                <a:t>T</a:t>
              </a:r>
              <a:endParaRPr lang="en-GB" altLang="en-US" sz="1100" i="1"/>
            </a:p>
          </p:txBody>
        </p:sp>
        <p:sp>
          <p:nvSpPr>
            <p:cNvPr id="76813" name="TextBox 11"/>
            <p:cNvSpPr txBox="1">
              <a:spLocks noChangeArrowheads="1"/>
            </p:cNvSpPr>
            <p:nvPr/>
          </p:nvSpPr>
          <p:spPr bwMode="auto">
            <a:xfrm>
              <a:off x="3920854" y="2795856"/>
              <a:ext cx="2712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i="1"/>
                <a:t>T</a:t>
              </a:r>
              <a:endParaRPr lang="en-GB" altLang="en-US" sz="1100" i="1"/>
            </a:p>
          </p:txBody>
        </p:sp>
        <p:sp>
          <p:nvSpPr>
            <p:cNvPr id="76814" name="TextBox 12"/>
            <p:cNvSpPr txBox="1">
              <a:spLocks noChangeArrowheads="1"/>
            </p:cNvSpPr>
            <p:nvPr/>
          </p:nvSpPr>
          <p:spPr bwMode="auto">
            <a:xfrm>
              <a:off x="4760642" y="3271650"/>
              <a:ext cx="2712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i="1"/>
                <a:t>T</a:t>
              </a:r>
              <a:endParaRPr lang="en-GB" altLang="en-US" sz="1100" i="1"/>
            </a:p>
          </p:txBody>
        </p:sp>
        <p:sp>
          <p:nvSpPr>
            <p:cNvPr id="76815" name="TextBox 13"/>
            <p:cNvSpPr txBox="1">
              <a:spLocks noChangeArrowheads="1"/>
            </p:cNvSpPr>
            <p:nvPr/>
          </p:nvSpPr>
          <p:spPr bwMode="auto">
            <a:xfrm>
              <a:off x="4733182" y="3619316"/>
              <a:ext cx="2712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i="1"/>
                <a:t>T</a:t>
              </a:r>
              <a:endParaRPr lang="en-GB" altLang="en-US" sz="1100" i="1"/>
            </a:p>
          </p:txBody>
        </p:sp>
      </p:grpSp>
      <p:pic>
        <p:nvPicPr>
          <p:cNvPr id="76805" name="Slika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00113" y="4243388"/>
            <a:ext cx="575945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76807" name="Ograda številke diapozitiva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0D466AA-18A9-4898-9B79-26B8E129CAEE}" type="slidenum">
              <a:rPr lang="en-GB" altLang="sl-SI" sz="1400" smtClean="0"/>
              <a:pPr>
                <a:spcBef>
                  <a:spcPct val="0"/>
                </a:spcBef>
                <a:buFontTx/>
                <a:buNone/>
              </a:pPr>
              <a:t>40</a:t>
            </a:fld>
            <a:endParaRPr lang="en-GB" altLang="sl-SI" sz="1400"/>
          </a:p>
        </p:txBody>
      </p:sp>
    </p:spTree>
  </p:cSld>
  <p:clrMapOvr>
    <a:masterClrMapping/>
  </p:clrMapOvr>
  <p:transition>
    <p:cove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ctrTitle"/>
          </p:nvPr>
        </p:nvSpPr>
        <p:spPr>
          <a:xfrm>
            <a:off x="611188" y="188913"/>
            <a:ext cx="7772400" cy="576262"/>
          </a:xfrm>
        </p:spPr>
        <p:txBody>
          <a:bodyPr/>
          <a:lstStyle/>
          <a:p>
            <a:pPr eaLnBrk="1" hangingPunct="1"/>
            <a:r>
              <a:rPr lang="sl-SI" altLang="en-US" sz="2800" b="1"/>
              <a:t>RAZCEP MATRIKE KAMERE</a:t>
            </a:r>
            <a:endParaRPr lang="en-GB" altLang="en-US" sz="2000"/>
          </a:p>
        </p:txBody>
      </p:sp>
      <p:sp>
        <p:nvSpPr>
          <p:cNvPr id="8" name="TextBox 7"/>
          <p:cNvSpPr txBox="1"/>
          <p:nvPr/>
        </p:nvSpPr>
        <p:spPr>
          <a:xfrm>
            <a:off x="827088" y="1125538"/>
            <a:ext cx="7561262" cy="3014662"/>
          </a:xfrm>
          <a:prstGeom prst="rect">
            <a:avLst/>
          </a:prstGeom>
          <a:noFill/>
        </p:spPr>
        <p:txBody>
          <a:bodyPr>
            <a:spAutoFit/>
          </a:bodyPr>
          <a:lstStyle/>
          <a:p>
            <a:pPr eaLnBrk="1" hangingPunct="1">
              <a:defRPr/>
            </a:pPr>
            <a:r>
              <a:rPr lang="sl-SI" dirty="0">
                <a:latin typeface="Arial" charset="0"/>
                <a:cs typeface="Arial" charset="0"/>
              </a:rPr>
              <a:t>1. Projekcijsko matriko kamere </a:t>
            </a:r>
            <a:r>
              <a:rPr lang="sl-SI" b="1" dirty="0">
                <a:latin typeface="Arial" charset="0"/>
                <a:cs typeface="Arial" charset="0"/>
              </a:rPr>
              <a:t>M </a:t>
            </a:r>
            <a:r>
              <a:rPr lang="sl-SI" dirty="0">
                <a:latin typeface="Arial" charset="0"/>
                <a:cs typeface="Arial" charset="0"/>
              </a:rPr>
              <a:t>v splošnem zapišemo kot:</a:t>
            </a: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marL="258763" eaLnBrk="1" hangingPunct="1">
              <a:defRPr/>
            </a:pPr>
            <a:r>
              <a:rPr lang="sl-SI" dirty="0">
                <a:latin typeface="Arial" charset="0"/>
                <a:cs typeface="Arial" charset="0"/>
              </a:rPr>
              <a:t>pri čemer </a:t>
            </a:r>
            <a:r>
              <a:rPr lang="sl-SI" i="1" dirty="0">
                <a:latin typeface="Arial" charset="0"/>
                <a:cs typeface="Arial" charset="0"/>
                <a:sym typeface="Symbol"/>
              </a:rPr>
              <a:t></a:t>
            </a:r>
            <a:r>
              <a:rPr lang="sl-SI" dirty="0">
                <a:latin typeface="Arial" charset="0"/>
                <a:cs typeface="Arial" charset="0"/>
              </a:rPr>
              <a:t> pomeni neznano povečavo, saj ima rekonstruirana matrika </a:t>
            </a:r>
            <a:r>
              <a:rPr lang="sl-SI" b="1" dirty="0">
                <a:latin typeface="Arial" charset="0"/>
                <a:cs typeface="Arial" charset="0"/>
              </a:rPr>
              <a:t>M</a:t>
            </a:r>
            <a:r>
              <a:rPr lang="sl-SI" dirty="0">
                <a:latin typeface="Arial" charset="0"/>
                <a:cs typeface="Arial" charset="0"/>
              </a:rPr>
              <a:t> vedno normo  (povečavo) 1. </a:t>
            </a:r>
          </a:p>
          <a:p>
            <a:pPr eaLnBrk="1" hangingPunct="1">
              <a:spcBef>
                <a:spcPts val="1200"/>
              </a:spcBef>
              <a:defRPr/>
            </a:pPr>
            <a:r>
              <a:rPr lang="sl-SI" dirty="0">
                <a:latin typeface="Arial" charset="0"/>
                <a:cs typeface="Arial" charset="0"/>
              </a:rPr>
              <a:t>2. Nadalje velja:</a:t>
            </a:r>
          </a:p>
          <a:p>
            <a:pPr eaLnBrk="1" hangingPunct="1">
              <a:defRPr/>
            </a:pPr>
            <a:endParaRPr lang="en-GB" b="1" dirty="0">
              <a:latin typeface="Arial" charset="0"/>
              <a:cs typeface="Arial" charset="0"/>
            </a:endParaRPr>
          </a:p>
        </p:txBody>
      </p:sp>
      <p:graphicFrame>
        <p:nvGraphicFramePr>
          <p:cNvPr id="78852" name="Object 3"/>
          <p:cNvGraphicFramePr>
            <a:graphicFrameLocks noChangeAspect="1"/>
          </p:cNvGraphicFramePr>
          <p:nvPr/>
        </p:nvGraphicFramePr>
        <p:xfrm>
          <a:off x="1168400" y="1465263"/>
          <a:ext cx="2755900" cy="1341437"/>
        </p:xfrm>
        <a:graphic>
          <a:graphicData uri="http://schemas.openxmlformats.org/presentationml/2006/ole">
            <mc:AlternateContent xmlns:mc="http://schemas.openxmlformats.org/markup-compatibility/2006">
              <mc:Choice xmlns:v="urn:schemas-microsoft-com:vml" Requires="v">
                <p:oleObj spid="_x0000_s78910" name="Equation" r:id="rId4" imgW="1333500" imgH="647700" progId="Equation.3">
                  <p:embed/>
                </p:oleObj>
              </mc:Choice>
              <mc:Fallback>
                <p:oleObj name="Equation" r:id="rId4" imgW="1333500" imgH="6477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8400" y="1465263"/>
                        <a:ext cx="2755900" cy="1341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3" name="Object 5"/>
          <p:cNvGraphicFramePr>
            <a:graphicFrameLocks noChangeAspect="1"/>
          </p:cNvGraphicFramePr>
          <p:nvPr/>
        </p:nvGraphicFramePr>
        <p:xfrm>
          <a:off x="1128713" y="3811588"/>
          <a:ext cx="3730625" cy="1549400"/>
        </p:xfrm>
        <a:graphic>
          <a:graphicData uri="http://schemas.openxmlformats.org/presentationml/2006/ole">
            <mc:AlternateContent xmlns:mc="http://schemas.openxmlformats.org/markup-compatibility/2006">
              <mc:Choice xmlns:v="urn:schemas-microsoft-com:vml" Requires="v">
                <p:oleObj spid="_x0000_s78911" name="Equation" r:id="rId6" imgW="1803400" imgH="749300" progId="Equation.3">
                  <p:embed/>
                </p:oleObj>
              </mc:Choice>
              <mc:Fallback>
                <p:oleObj name="Equation" r:id="rId6" imgW="1803400" imgH="7493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8713" y="3811588"/>
                        <a:ext cx="3730625" cy="154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54"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78855"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CD566A6-82F2-4281-A80B-81D3630EF27F}" type="slidenum">
              <a:rPr lang="en-GB" altLang="sl-SI" sz="1400" smtClean="0"/>
              <a:pPr>
                <a:spcBef>
                  <a:spcPct val="0"/>
                </a:spcBef>
                <a:buFontTx/>
                <a:buNone/>
              </a:pPr>
              <a:t>41</a:t>
            </a:fld>
            <a:endParaRPr lang="en-GB" altLang="sl-SI" sz="1400"/>
          </a:p>
        </p:txBody>
      </p:sp>
    </p:spTree>
  </p:cSld>
  <p:clrMapOvr>
    <a:masterClrMapping/>
  </p:clrMapOvr>
  <p:transition>
    <p:cove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ctrTitle"/>
          </p:nvPr>
        </p:nvSpPr>
        <p:spPr>
          <a:xfrm>
            <a:off x="611188" y="188913"/>
            <a:ext cx="7772400" cy="576262"/>
          </a:xfrm>
        </p:spPr>
        <p:txBody>
          <a:bodyPr/>
          <a:lstStyle/>
          <a:p>
            <a:pPr eaLnBrk="1" hangingPunct="1"/>
            <a:r>
              <a:rPr lang="sl-SI" altLang="en-US" sz="2800" b="1"/>
              <a:t>RAZCEP MATRIKE KAMERE</a:t>
            </a:r>
            <a:br>
              <a:rPr lang="sl-SI" altLang="en-US" sz="2800" b="1"/>
            </a:br>
            <a:r>
              <a:rPr lang="sl-SI" altLang="en-US" sz="2000"/>
              <a:t>(notranji parametri)</a:t>
            </a:r>
            <a:endParaRPr lang="en-GB" altLang="en-US" sz="2000"/>
          </a:p>
        </p:txBody>
      </p:sp>
      <p:sp>
        <p:nvSpPr>
          <p:cNvPr id="8" name="TextBox 7"/>
          <p:cNvSpPr txBox="1"/>
          <p:nvPr/>
        </p:nvSpPr>
        <p:spPr>
          <a:xfrm>
            <a:off x="827088" y="1125538"/>
            <a:ext cx="7561262" cy="3368675"/>
          </a:xfrm>
          <a:prstGeom prst="rect">
            <a:avLst/>
          </a:prstGeom>
          <a:noFill/>
        </p:spPr>
        <p:txBody>
          <a:bodyPr>
            <a:spAutoFit/>
          </a:bodyPr>
          <a:lstStyle/>
          <a:p>
            <a:pPr eaLnBrk="1" hangingPunct="1">
              <a:defRPr/>
            </a:pPr>
            <a:r>
              <a:rPr lang="sl-SI" dirty="0">
                <a:latin typeface="Arial" charset="0"/>
                <a:cs typeface="Arial" charset="0"/>
              </a:rPr>
              <a:t>3. Notranje parametre kamere določimo iz:</a:t>
            </a:r>
          </a:p>
          <a:p>
            <a:pPr eaLnBrk="1" hangingPunct="1">
              <a:defRPr/>
            </a:pPr>
            <a:endParaRPr lang="sl-SI" dirty="0">
              <a:latin typeface="Arial" charset="0"/>
              <a:cs typeface="Arial" charset="0"/>
            </a:endParaRPr>
          </a:p>
          <a:p>
            <a:pPr eaLnBrk="1" hangingPunct="1">
              <a:defRPr/>
            </a:pPr>
            <a:r>
              <a:rPr lang="sl-SI" dirty="0">
                <a:latin typeface="Arial" charset="0"/>
                <a:cs typeface="Arial" charset="0"/>
              </a:rPr>
              <a:t>                                      </a:t>
            </a: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marL="258763" eaLnBrk="1" hangingPunct="1">
              <a:spcBef>
                <a:spcPts val="600"/>
              </a:spcBef>
              <a:defRPr/>
            </a:pPr>
            <a:r>
              <a:rPr lang="sl-SI" dirty="0">
                <a:latin typeface="Arial" charset="0"/>
                <a:cs typeface="Arial" charset="0"/>
              </a:rPr>
              <a:t>pri čemer je </a:t>
            </a:r>
            <a:r>
              <a:rPr lang="sl-SI" dirty="0">
                <a:latin typeface="Arial" charset="0"/>
                <a:cs typeface="Arial" charset="0"/>
                <a:sym typeface="Symbol"/>
              </a:rPr>
              <a:t>=</a:t>
            </a:r>
            <a:r>
              <a:rPr lang="sl-SI" dirty="0">
                <a:latin typeface="Arial" charset="0"/>
                <a:cs typeface="Arial" charset="0"/>
              </a:rPr>
              <a:t> ±1. </a:t>
            </a:r>
          </a:p>
          <a:p>
            <a:pPr eaLnBrk="1" hangingPunct="1">
              <a:spcBef>
                <a:spcPts val="1200"/>
              </a:spcBef>
              <a:defRPr/>
            </a:pPr>
            <a:r>
              <a:rPr lang="sl-SI" dirty="0">
                <a:latin typeface="Arial" charset="0"/>
                <a:cs typeface="Arial" charset="0"/>
              </a:rPr>
              <a:t>4. </a:t>
            </a:r>
            <a:r>
              <a:rPr lang="sl-SI" i="1" dirty="0">
                <a:latin typeface="Arial" charset="0"/>
                <a:cs typeface="Arial" charset="0"/>
                <a:sym typeface="Symbol"/>
              </a:rPr>
              <a:t> </a:t>
            </a:r>
            <a:r>
              <a:rPr lang="sl-SI" dirty="0">
                <a:latin typeface="Arial" charset="0"/>
                <a:cs typeface="Arial" charset="0"/>
                <a:sym typeface="Symbol"/>
              </a:rPr>
              <a:t>je vedno blizu /2, zato je sin</a:t>
            </a:r>
            <a:r>
              <a:rPr lang="sl-SI" i="1" dirty="0">
                <a:latin typeface="Arial" charset="0"/>
                <a:cs typeface="Arial" charset="0"/>
                <a:sym typeface="Symbol"/>
              </a:rPr>
              <a:t> </a:t>
            </a:r>
            <a:r>
              <a:rPr lang="sl-SI" dirty="0">
                <a:latin typeface="Arial" charset="0"/>
                <a:cs typeface="Arial" charset="0"/>
                <a:sym typeface="Symbol"/>
              </a:rPr>
              <a:t> pozitiven in velja</a:t>
            </a:r>
            <a:r>
              <a:rPr lang="sl-SI" dirty="0">
                <a:latin typeface="Arial" charset="0"/>
                <a:cs typeface="Arial" charset="0"/>
              </a:rPr>
              <a:t>:</a:t>
            </a:r>
          </a:p>
          <a:p>
            <a:pPr eaLnBrk="1" hangingPunct="1">
              <a:defRPr/>
            </a:pPr>
            <a:endParaRPr lang="en-GB" b="1" dirty="0">
              <a:latin typeface="Arial" charset="0"/>
              <a:cs typeface="Arial" charset="0"/>
            </a:endParaRPr>
          </a:p>
        </p:txBody>
      </p:sp>
      <p:graphicFrame>
        <p:nvGraphicFramePr>
          <p:cNvPr id="80900" name="Object 3"/>
          <p:cNvGraphicFramePr>
            <a:graphicFrameLocks noChangeAspect="1"/>
          </p:cNvGraphicFramePr>
          <p:nvPr/>
        </p:nvGraphicFramePr>
        <p:xfrm>
          <a:off x="1155700" y="4149725"/>
          <a:ext cx="3048000" cy="1733550"/>
        </p:xfrm>
        <a:graphic>
          <a:graphicData uri="http://schemas.openxmlformats.org/presentationml/2006/ole">
            <mc:AlternateContent xmlns:mc="http://schemas.openxmlformats.org/markup-compatibility/2006">
              <mc:Choice xmlns:v="urn:schemas-microsoft-com:vml" Requires="v">
                <p:oleObj spid="_x0000_s80935" name="Equation" r:id="rId4" imgW="1473200" imgH="838200" progId="Equation.3">
                  <p:embed/>
                </p:oleObj>
              </mc:Choice>
              <mc:Fallback>
                <p:oleObj name="Equation" r:id="rId4" imgW="1473200" imgH="838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5700" y="4149725"/>
                        <a:ext cx="3048000" cy="173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1" name="PoljeZBesedilom 1"/>
          <p:cNvSpPr txBox="1">
            <a:spLocks noChangeArrowheads="1"/>
          </p:cNvSpPr>
          <p:nvPr/>
        </p:nvSpPr>
        <p:spPr bwMode="auto">
          <a:xfrm>
            <a:off x="3924300" y="1628775"/>
            <a:ext cx="4086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solidFill>
                  <a:srgbClr val="0000FF"/>
                </a:solidFill>
              </a:rPr>
              <a:t>Vrstice rotacijske matrike R imajo dolžino 1</a:t>
            </a:r>
          </a:p>
          <a:p>
            <a:pPr eaLnBrk="1" hangingPunct="1">
              <a:spcBef>
                <a:spcPct val="0"/>
              </a:spcBef>
              <a:buFontTx/>
              <a:buNone/>
            </a:pPr>
            <a:r>
              <a:rPr lang="sl-SI" altLang="en-US" sz="1600">
                <a:solidFill>
                  <a:srgbClr val="0000FF"/>
                </a:solidFill>
              </a:rPr>
              <a:t>in so ortogonalne. Iz tega sledijo relacije </a:t>
            </a:r>
          </a:p>
          <a:p>
            <a:pPr eaLnBrk="1" hangingPunct="1">
              <a:spcBef>
                <a:spcPct val="0"/>
              </a:spcBef>
              <a:buFontTx/>
              <a:buNone/>
            </a:pPr>
            <a:r>
              <a:rPr lang="sl-SI" altLang="en-US" sz="1600">
                <a:solidFill>
                  <a:srgbClr val="0000FF"/>
                </a:solidFill>
              </a:rPr>
              <a:t>za razcep.</a:t>
            </a:r>
          </a:p>
        </p:txBody>
      </p:sp>
      <p:grpSp>
        <p:nvGrpSpPr>
          <p:cNvPr id="80902" name="Skupina 2"/>
          <p:cNvGrpSpPr>
            <a:grpSpLocks/>
          </p:cNvGrpSpPr>
          <p:nvPr/>
        </p:nvGrpSpPr>
        <p:grpSpPr bwMode="auto">
          <a:xfrm>
            <a:off x="1201738" y="1387475"/>
            <a:ext cx="1570037" cy="2041525"/>
            <a:chOff x="1201738" y="1387475"/>
            <a:chExt cx="1570037" cy="2041525"/>
          </a:xfrm>
        </p:grpSpPr>
        <p:pic>
          <p:nvPicPr>
            <p:cNvPr id="80905" name="Slika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01738" y="1387475"/>
              <a:ext cx="1570037"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6" name="PoljeZBesedilom 3"/>
            <p:cNvSpPr txBox="1">
              <a:spLocks noChangeArrowheads="1"/>
            </p:cNvSpPr>
            <p:nvPr/>
          </p:nvSpPr>
          <p:spPr bwMode="auto">
            <a:xfrm>
              <a:off x="2061345" y="2547233"/>
              <a:ext cx="2712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i="1"/>
                <a:t>T</a:t>
              </a:r>
              <a:endParaRPr lang="en-US" altLang="en-US" sz="1100" i="1"/>
            </a:p>
          </p:txBody>
        </p:sp>
        <p:sp>
          <p:nvSpPr>
            <p:cNvPr id="80907" name="PoljeZBesedilom 9"/>
            <p:cNvSpPr txBox="1">
              <a:spLocks noChangeArrowheads="1"/>
            </p:cNvSpPr>
            <p:nvPr/>
          </p:nvSpPr>
          <p:spPr bwMode="auto">
            <a:xfrm>
              <a:off x="2060986" y="3023374"/>
              <a:ext cx="2712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i="1"/>
                <a:t>T</a:t>
              </a:r>
              <a:endParaRPr lang="en-US" altLang="en-US" sz="1100" i="1"/>
            </a:p>
          </p:txBody>
        </p:sp>
      </p:grpSp>
      <p:sp>
        <p:nvSpPr>
          <p:cNvPr id="80903"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80904"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5FB1239-9EDC-4ABC-960B-2E5751311EDF}" type="slidenum">
              <a:rPr lang="en-GB" altLang="sl-SI" sz="1400" smtClean="0"/>
              <a:pPr>
                <a:spcBef>
                  <a:spcPct val="0"/>
                </a:spcBef>
                <a:buFontTx/>
                <a:buNone/>
              </a:pPr>
              <a:t>42</a:t>
            </a:fld>
            <a:endParaRPr lang="en-GB" altLang="sl-SI" sz="1400"/>
          </a:p>
        </p:txBody>
      </p:sp>
    </p:spTree>
  </p:cSld>
  <p:clrMapOvr>
    <a:masterClrMapping/>
  </p:clrMapOvr>
  <p:transition>
    <p:cove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ctrTitle"/>
          </p:nvPr>
        </p:nvSpPr>
        <p:spPr>
          <a:xfrm>
            <a:off x="611188" y="188913"/>
            <a:ext cx="7772400" cy="576262"/>
          </a:xfrm>
        </p:spPr>
        <p:txBody>
          <a:bodyPr/>
          <a:lstStyle/>
          <a:p>
            <a:pPr eaLnBrk="1" hangingPunct="1"/>
            <a:r>
              <a:rPr lang="sl-SI" altLang="en-US" sz="2800" b="1"/>
              <a:t>RAZCEP MATRIKE KAMERE</a:t>
            </a:r>
            <a:br>
              <a:rPr lang="sl-SI" altLang="en-US" sz="2800" b="1"/>
            </a:br>
            <a:r>
              <a:rPr lang="sl-SI" altLang="en-US" sz="2000"/>
              <a:t>(zunanji parametri)</a:t>
            </a:r>
            <a:endParaRPr lang="en-GB" altLang="en-US" sz="2000"/>
          </a:p>
        </p:txBody>
      </p:sp>
      <p:sp>
        <p:nvSpPr>
          <p:cNvPr id="8" name="TextBox 7"/>
          <p:cNvSpPr txBox="1"/>
          <p:nvPr/>
        </p:nvSpPr>
        <p:spPr>
          <a:xfrm>
            <a:off x="827088" y="1125538"/>
            <a:ext cx="7561262" cy="5400675"/>
          </a:xfrm>
          <a:prstGeom prst="rect">
            <a:avLst/>
          </a:prstGeom>
          <a:noFill/>
        </p:spPr>
        <p:txBody>
          <a:bodyPr>
            <a:spAutoFit/>
          </a:bodyPr>
          <a:lstStyle/>
          <a:p>
            <a:pPr eaLnBrk="1" hangingPunct="1">
              <a:defRPr/>
            </a:pPr>
            <a:r>
              <a:rPr lang="sl-SI" dirty="0">
                <a:latin typeface="Arial" charset="0"/>
                <a:cs typeface="Arial" charset="0"/>
              </a:rPr>
              <a:t>5. Zasuk kamere (dve možnosti glede na </a:t>
            </a:r>
            <a:r>
              <a:rPr lang="sl-SI" dirty="0">
                <a:latin typeface="Arial" charset="0"/>
                <a:cs typeface="Arial" charset="0"/>
                <a:sym typeface="Symbol"/>
              </a:rPr>
              <a:t></a:t>
            </a:r>
            <a:r>
              <a:rPr lang="sl-SI" dirty="0">
                <a:latin typeface="Arial" charset="0"/>
                <a:cs typeface="Arial" charset="0"/>
              </a:rPr>
              <a:t>):</a:t>
            </a: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eaLnBrk="1" hangingPunct="1">
              <a:spcBef>
                <a:spcPts val="600"/>
              </a:spcBef>
              <a:defRPr/>
            </a:pPr>
            <a:endParaRPr lang="sl-SI" dirty="0">
              <a:latin typeface="Arial" charset="0"/>
              <a:cs typeface="Arial" charset="0"/>
            </a:endParaRPr>
          </a:p>
          <a:p>
            <a:pPr eaLnBrk="1" hangingPunct="1">
              <a:spcBef>
                <a:spcPts val="1200"/>
              </a:spcBef>
              <a:defRPr/>
            </a:pPr>
            <a:r>
              <a:rPr lang="sl-SI" dirty="0">
                <a:latin typeface="Arial" charset="0"/>
                <a:cs typeface="Arial" charset="0"/>
              </a:rPr>
              <a:t>6. Premik kamere – velja:</a:t>
            </a:r>
          </a:p>
          <a:p>
            <a:pPr eaLnBrk="1" hangingPunct="1">
              <a:spcBef>
                <a:spcPts val="1200"/>
              </a:spcBef>
              <a:defRPr/>
            </a:pPr>
            <a:endParaRPr lang="sl-SI" dirty="0">
              <a:latin typeface="Arial" charset="0"/>
              <a:cs typeface="Arial" charset="0"/>
            </a:endParaRPr>
          </a:p>
          <a:p>
            <a:pPr marL="258763" eaLnBrk="1" hangingPunct="1">
              <a:spcBef>
                <a:spcPts val="1200"/>
              </a:spcBef>
              <a:defRPr/>
            </a:pPr>
            <a:r>
              <a:rPr lang="sl-SI" dirty="0">
                <a:latin typeface="Arial" charset="0"/>
                <a:cs typeface="Arial" charset="0"/>
              </a:rPr>
              <a:t>Predznak za premik je v praksi odvisen od tega, ali je izhodišče svetovnega koordinatnega sistema pred kamero ali za njo.</a:t>
            </a:r>
          </a:p>
          <a:p>
            <a:pPr marL="258763" eaLnBrk="1" hangingPunct="1">
              <a:spcBef>
                <a:spcPts val="1200"/>
              </a:spcBef>
              <a:defRPr/>
            </a:pPr>
            <a:endParaRPr lang="sl-SI" dirty="0">
              <a:latin typeface="Arial" charset="0"/>
              <a:cs typeface="Arial" charset="0"/>
            </a:endParaRPr>
          </a:p>
          <a:p>
            <a:pPr eaLnBrk="1" hangingPunct="1">
              <a:spcBef>
                <a:spcPts val="1200"/>
              </a:spcBef>
              <a:defRPr/>
            </a:pPr>
            <a:r>
              <a:rPr lang="sl-SI" dirty="0">
                <a:latin typeface="Arial" charset="0"/>
                <a:cs typeface="Arial" charset="0"/>
              </a:rPr>
              <a:t>Minimalno število kalibracijskih točk:</a:t>
            </a:r>
          </a:p>
          <a:p>
            <a:pPr eaLnBrk="1" hangingPunct="1">
              <a:spcBef>
                <a:spcPts val="1200"/>
              </a:spcBef>
              <a:buFont typeface="Arial" pitchFamily="34" charset="0"/>
              <a:buChar char="•"/>
              <a:defRPr/>
            </a:pPr>
            <a:r>
              <a:rPr lang="sl-SI" dirty="0">
                <a:latin typeface="Arial" charset="0"/>
                <a:cs typeface="Arial" charset="0"/>
              </a:rPr>
              <a:t>  ker imamo  11 neznank (5 notranjih in 6 zunanjih parametrov), je načelno dovolj 6 točk – vsaka da 2 enačbi (za x- in y-koordinato)</a:t>
            </a:r>
          </a:p>
          <a:p>
            <a:pPr eaLnBrk="1" hangingPunct="1">
              <a:spcBef>
                <a:spcPts val="1200"/>
              </a:spcBef>
              <a:buFont typeface="Arial" pitchFamily="34" charset="0"/>
              <a:buChar char="•"/>
              <a:defRPr/>
            </a:pPr>
            <a:r>
              <a:rPr lang="sl-SI" dirty="0">
                <a:latin typeface="Arial" charset="0"/>
                <a:cs typeface="Arial" charset="0"/>
              </a:rPr>
              <a:t>  v praksi več kot 6 – izkustveno pravilo za </a:t>
            </a:r>
            <a:r>
              <a:rPr lang="sl-SI" i="1" dirty="0">
                <a:latin typeface="Arial" charset="0"/>
                <a:cs typeface="Arial" charset="0"/>
              </a:rPr>
              <a:t>n </a:t>
            </a:r>
            <a:r>
              <a:rPr lang="sl-SI" dirty="0">
                <a:latin typeface="Arial" charset="0"/>
                <a:cs typeface="Arial" charset="0"/>
              </a:rPr>
              <a:t>neznank svetuje 5</a:t>
            </a:r>
            <a:r>
              <a:rPr lang="sl-SI" i="1" dirty="0">
                <a:latin typeface="Arial" charset="0"/>
                <a:cs typeface="Arial" charset="0"/>
              </a:rPr>
              <a:t>n</a:t>
            </a:r>
            <a:r>
              <a:rPr lang="sl-SI" dirty="0">
                <a:latin typeface="Arial" charset="0"/>
                <a:cs typeface="Arial" charset="0"/>
              </a:rPr>
              <a:t> enačb</a:t>
            </a:r>
          </a:p>
          <a:p>
            <a:pPr eaLnBrk="1" hangingPunct="1">
              <a:defRPr/>
            </a:pPr>
            <a:endParaRPr lang="en-GB" b="1" dirty="0">
              <a:latin typeface="Arial" charset="0"/>
              <a:cs typeface="Arial" charset="0"/>
            </a:endParaRPr>
          </a:p>
        </p:txBody>
      </p:sp>
      <p:graphicFrame>
        <p:nvGraphicFramePr>
          <p:cNvPr id="82948" name="Object 2"/>
          <p:cNvGraphicFramePr>
            <a:graphicFrameLocks noChangeAspect="1"/>
          </p:cNvGraphicFramePr>
          <p:nvPr/>
        </p:nvGraphicFramePr>
        <p:xfrm>
          <a:off x="1116013" y="1427163"/>
          <a:ext cx="4357687" cy="1235075"/>
        </p:xfrm>
        <a:graphic>
          <a:graphicData uri="http://schemas.openxmlformats.org/presentationml/2006/ole">
            <mc:AlternateContent xmlns:mc="http://schemas.openxmlformats.org/markup-compatibility/2006">
              <mc:Choice xmlns:v="urn:schemas-microsoft-com:vml" Requires="v">
                <p:oleObj spid="_x0000_s83006" name="Equation" r:id="rId4" imgW="2108200" imgH="596900" progId="Equation.3">
                  <p:embed/>
                </p:oleObj>
              </mc:Choice>
              <mc:Fallback>
                <p:oleObj name="Equation" r:id="rId4" imgW="2108200" imgH="5969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427163"/>
                        <a:ext cx="4357687"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49" name="Object 3"/>
          <p:cNvGraphicFramePr>
            <a:graphicFrameLocks noChangeAspect="1"/>
          </p:cNvGraphicFramePr>
          <p:nvPr/>
        </p:nvGraphicFramePr>
        <p:xfrm>
          <a:off x="1123950" y="3049588"/>
          <a:ext cx="2943225" cy="447675"/>
        </p:xfrm>
        <a:graphic>
          <a:graphicData uri="http://schemas.openxmlformats.org/presentationml/2006/ole">
            <mc:AlternateContent xmlns:mc="http://schemas.openxmlformats.org/markup-compatibility/2006">
              <mc:Choice xmlns:v="urn:schemas-microsoft-com:vml" Requires="v">
                <p:oleObj spid="_x0000_s83007" name="Equation" r:id="rId6" imgW="1422400" imgH="215900" progId="Equation.3">
                  <p:embed/>
                </p:oleObj>
              </mc:Choice>
              <mc:Fallback>
                <p:oleObj name="Equation" r:id="rId6" imgW="1422400" imgH="2159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3950" y="3049588"/>
                        <a:ext cx="2943225"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50"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82951"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4FDDF30-7FC6-45E7-AA52-D4EC3D826D97}" type="slidenum">
              <a:rPr lang="en-GB" altLang="sl-SI" sz="1400" smtClean="0"/>
              <a:pPr>
                <a:spcBef>
                  <a:spcPct val="0"/>
                </a:spcBef>
                <a:buFontTx/>
                <a:buNone/>
              </a:pPr>
              <a:t>43</a:t>
            </a:fld>
            <a:endParaRPr lang="en-GB" altLang="sl-SI" sz="1400"/>
          </a:p>
        </p:txBody>
      </p:sp>
    </p:spTree>
  </p:cSld>
  <p:clrMapOvr>
    <a:masterClrMapping/>
  </p:clrMapOvr>
  <p:transition>
    <p:cove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ctrTitle"/>
          </p:nvPr>
        </p:nvSpPr>
        <p:spPr>
          <a:xfrm>
            <a:off x="611188" y="188913"/>
            <a:ext cx="7772400" cy="576262"/>
          </a:xfrm>
        </p:spPr>
        <p:txBody>
          <a:bodyPr/>
          <a:lstStyle/>
          <a:p>
            <a:pPr eaLnBrk="1" hangingPunct="1"/>
            <a:r>
              <a:rPr lang="sl-SI" altLang="en-US" sz="2800" b="1"/>
              <a:t>KALIBRACIJA KAMERE – PROBLEM RADIALNIH POPAČENJ</a:t>
            </a:r>
            <a:endParaRPr lang="en-GB" altLang="en-US" sz="2000"/>
          </a:p>
        </p:txBody>
      </p:sp>
      <p:sp>
        <p:nvSpPr>
          <p:cNvPr id="8" name="TextBox 7"/>
          <p:cNvSpPr txBox="1"/>
          <p:nvPr/>
        </p:nvSpPr>
        <p:spPr>
          <a:xfrm>
            <a:off x="827088" y="1000125"/>
            <a:ext cx="7561262" cy="5232400"/>
          </a:xfrm>
          <a:prstGeom prst="rect">
            <a:avLst/>
          </a:prstGeom>
          <a:noFill/>
        </p:spPr>
        <p:txBody>
          <a:bodyPr>
            <a:spAutoFit/>
          </a:bodyPr>
          <a:lstStyle/>
          <a:p>
            <a:pPr eaLnBrk="1" hangingPunct="1">
              <a:defRPr/>
            </a:pPr>
            <a:r>
              <a:rPr lang="sl-SI" dirty="0">
                <a:latin typeface="Arial" charset="0"/>
                <a:cs typeface="Arial" charset="0"/>
              </a:rPr>
              <a:t>1. Radialna popačenja nastanejo zaradi slabih (</a:t>
            </a:r>
            <a:r>
              <a:rPr lang="sl-SI" dirty="0" err="1">
                <a:latin typeface="Arial" charset="0"/>
                <a:cs typeface="Arial" charset="0"/>
              </a:rPr>
              <a:t>nesferičnih</a:t>
            </a:r>
            <a:r>
              <a:rPr lang="sl-SI" dirty="0">
                <a:latin typeface="Arial" charset="0"/>
                <a:cs typeface="Arial" charset="0"/>
              </a:rPr>
              <a:t>) leč:</a:t>
            </a: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eaLnBrk="1" hangingPunct="1">
              <a:defRPr/>
            </a:pPr>
            <a:endParaRPr lang="sl-SI" dirty="0">
              <a:latin typeface="Arial" charset="0"/>
              <a:cs typeface="Arial" charset="0"/>
            </a:endParaRPr>
          </a:p>
          <a:p>
            <a:pPr marL="258763" eaLnBrk="1" hangingPunct="1">
              <a:spcBef>
                <a:spcPts val="1200"/>
              </a:spcBef>
              <a:buFont typeface="Arial" pitchFamily="34" charset="0"/>
              <a:buChar char="•"/>
              <a:defRPr/>
            </a:pPr>
            <a:r>
              <a:rPr lang="sl-SI" i="1" dirty="0">
                <a:latin typeface="Arial" charset="0"/>
                <a:cs typeface="Arial" charset="0"/>
              </a:rPr>
              <a:t> </a:t>
            </a:r>
            <a:r>
              <a:rPr lang="sl-SI" sz="1600" i="1" dirty="0">
                <a:latin typeface="Arial" charset="0"/>
                <a:cs typeface="Arial" charset="0"/>
              </a:rPr>
              <a:t>d</a:t>
            </a:r>
            <a:r>
              <a:rPr lang="sl-SI" sz="1600" dirty="0">
                <a:latin typeface="Arial" charset="0"/>
                <a:cs typeface="Arial" charset="0"/>
              </a:rPr>
              <a:t> pomeni  razdaljo točke od središča slike, </a:t>
            </a:r>
            <a:r>
              <a:rPr lang="sl-SI" sz="1600" i="1" dirty="0">
                <a:latin typeface="Arial" charset="0"/>
                <a:cs typeface="Arial" charset="0"/>
              </a:rPr>
              <a:t>k</a:t>
            </a:r>
            <a:r>
              <a:rPr lang="sl-SI" sz="1600" i="1" baseline="-25000" dirty="0">
                <a:latin typeface="Arial" charset="0"/>
                <a:cs typeface="Arial" charset="0"/>
              </a:rPr>
              <a:t>i</a:t>
            </a:r>
            <a:r>
              <a:rPr lang="sl-SI" sz="1600" dirty="0">
                <a:latin typeface="Arial" charset="0"/>
                <a:cs typeface="Arial" charset="0"/>
              </a:rPr>
              <a:t> pa so koeficienti popačenja (navadno upoštevamo samo prva dva)</a:t>
            </a:r>
          </a:p>
          <a:p>
            <a:pPr marL="258763" eaLnBrk="1" hangingPunct="1">
              <a:spcBef>
                <a:spcPts val="0"/>
              </a:spcBef>
              <a:buFont typeface="Arial" pitchFamily="34" charset="0"/>
              <a:buChar char="•"/>
              <a:defRPr/>
            </a:pPr>
            <a:r>
              <a:rPr lang="sl-SI" sz="1600" i="1" dirty="0">
                <a:latin typeface="Arial" charset="0"/>
                <a:cs typeface="Arial" charset="0"/>
              </a:rPr>
              <a:t> </a:t>
            </a:r>
            <a:r>
              <a:rPr lang="sl-SI" sz="1600" i="1" dirty="0" err="1">
                <a:latin typeface="Arial" charset="0"/>
                <a:cs typeface="Arial" charset="0"/>
              </a:rPr>
              <a:t>x</a:t>
            </a:r>
            <a:r>
              <a:rPr lang="sl-SI" sz="1200" i="1" dirty="0" err="1">
                <a:latin typeface="Arial" charset="0"/>
                <a:cs typeface="Arial" charset="0"/>
              </a:rPr>
              <a:t>s</a:t>
            </a:r>
            <a:r>
              <a:rPr lang="sl-SI" sz="1200" i="1" dirty="0">
                <a:latin typeface="Arial" charset="0"/>
                <a:cs typeface="Arial" charset="0"/>
              </a:rPr>
              <a:t>,d</a:t>
            </a:r>
            <a:r>
              <a:rPr lang="sl-SI" sz="1600" dirty="0">
                <a:latin typeface="Arial" charset="0"/>
                <a:cs typeface="Arial" charset="0"/>
              </a:rPr>
              <a:t> in </a:t>
            </a:r>
            <a:r>
              <a:rPr lang="sl-SI" sz="1600" i="1" dirty="0" err="1">
                <a:latin typeface="Arial" charset="0"/>
                <a:cs typeface="Arial" charset="0"/>
              </a:rPr>
              <a:t>y</a:t>
            </a:r>
            <a:r>
              <a:rPr lang="sl-SI" sz="1200" i="1" dirty="0" err="1">
                <a:latin typeface="Arial" charset="0"/>
                <a:cs typeface="Arial" charset="0"/>
              </a:rPr>
              <a:t>s</a:t>
            </a:r>
            <a:r>
              <a:rPr lang="sl-SI" sz="1200" i="1" dirty="0">
                <a:latin typeface="Arial" charset="0"/>
                <a:cs typeface="Arial" charset="0"/>
              </a:rPr>
              <a:t>,d</a:t>
            </a:r>
            <a:r>
              <a:rPr lang="sl-SI" sz="1600" dirty="0">
                <a:latin typeface="Arial" charset="0"/>
                <a:cs typeface="Arial" charset="0"/>
              </a:rPr>
              <a:t> – koordinati popačene (premaknjene) točke</a:t>
            </a:r>
          </a:p>
          <a:p>
            <a:pPr eaLnBrk="1" hangingPunct="1">
              <a:spcBef>
                <a:spcPts val="0"/>
              </a:spcBef>
              <a:defRPr/>
            </a:pPr>
            <a:endParaRPr lang="sl-SI" dirty="0">
              <a:latin typeface="Arial" charset="0"/>
              <a:cs typeface="Arial" charset="0"/>
            </a:endParaRPr>
          </a:p>
          <a:p>
            <a:pPr eaLnBrk="1" hangingPunct="1">
              <a:spcBef>
                <a:spcPts val="0"/>
              </a:spcBef>
              <a:defRPr/>
            </a:pPr>
            <a:endParaRPr lang="sl-SI" dirty="0">
              <a:latin typeface="Arial" charset="0"/>
              <a:cs typeface="Arial" charset="0"/>
            </a:endParaRPr>
          </a:p>
          <a:p>
            <a:pPr eaLnBrk="1" hangingPunct="1">
              <a:spcBef>
                <a:spcPts val="0"/>
              </a:spcBef>
              <a:defRPr/>
            </a:pPr>
            <a:endParaRPr lang="sl-SI" dirty="0">
              <a:latin typeface="Arial" charset="0"/>
              <a:cs typeface="Arial" charset="0"/>
            </a:endParaRPr>
          </a:p>
          <a:p>
            <a:pPr eaLnBrk="1" hangingPunct="1">
              <a:spcBef>
                <a:spcPts val="0"/>
              </a:spcBef>
              <a:defRPr/>
            </a:pPr>
            <a:endParaRPr lang="sl-SI" dirty="0">
              <a:latin typeface="Arial" charset="0"/>
              <a:cs typeface="Arial" charset="0"/>
            </a:endParaRPr>
          </a:p>
          <a:p>
            <a:pPr eaLnBrk="1" hangingPunct="1">
              <a:spcBef>
                <a:spcPts val="0"/>
              </a:spcBef>
              <a:defRPr/>
            </a:pPr>
            <a:endParaRPr lang="sl-SI" dirty="0">
              <a:latin typeface="Arial" charset="0"/>
              <a:cs typeface="Arial" charset="0"/>
            </a:endParaRPr>
          </a:p>
          <a:p>
            <a:pPr eaLnBrk="1" hangingPunct="1">
              <a:spcBef>
                <a:spcPts val="0"/>
              </a:spcBef>
              <a:defRPr/>
            </a:pPr>
            <a:endParaRPr lang="sl-SI" dirty="0">
              <a:latin typeface="Arial" charset="0"/>
              <a:cs typeface="Arial" charset="0"/>
            </a:endParaRPr>
          </a:p>
          <a:p>
            <a:pPr eaLnBrk="1" hangingPunct="1">
              <a:spcBef>
                <a:spcPts val="1200"/>
              </a:spcBef>
              <a:defRPr/>
            </a:pPr>
            <a:r>
              <a:rPr lang="sl-SI" dirty="0">
                <a:latin typeface="Arial" charset="0"/>
                <a:cs typeface="Arial" charset="0"/>
              </a:rPr>
              <a:t>2. Kamero lahko </a:t>
            </a:r>
            <a:r>
              <a:rPr lang="sl-SI" dirty="0" err="1">
                <a:latin typeface="Arial" charset="0"/>
                <a:cs typeface="Arial" charset="0"/>
              </a:rPr>
              <a:t>kalibriramo</a:t>
            </a:r>
            <a:r>
              <a:rPr lang="sl-SI" dirty="0">
                <a:latin typeface="Arial" charset="0"/>
                <a:cs typeface="Arial" charset="0"/>
              </a:rPr>
              <a:t> tudi glede na radialno popačenje:</a:t>
            </a:r>
          </a:p>
          <a:p>
            <a:pPr eaLnBrk="1" hangingPunct="1">
              <a:spcBef>
                <a:spcPts val="0"/>
              </a:spcBef>
              <a:buFont typeface="Arial" pitchFamily="34" charset="0"/>
              <a:buChar char="•"/>
              <a:defRPr/>
            </a:pPr>
            <a:r>
              <a:rPr lang="sl-SI" dirty="0">
                <a:latin typeface="Arial" charset="0"/>
                <a:cs typeface="Arial" charset="0"/>
              </a:rPr>
              <a:t> </a:t>
            </a:r>
            <a:r>
              <a:rPr lang="sl-SI" sz="1600" dirty="0">
                <a:latin typeface="Arial" charset="0"/>
                <a:cs typeface="Arial" charset="0"/>
              </a:rPr>
              <a:t>matriko kamere določimo enako kot prej, a vsaj z 8 točkami</a:t>
            </a:r>
          </a:p>
          <a:p>
            <a:pPr eaLnBrk="1" hangingPunct="1">
              <a:spcBef>
                <a:spcPts val="0"/>
              </a:spcBef>
              <a:buFont typeface="Arial" pitchFamily="34" charset="0"/>
              <a:buChar char="•"/>
              <a:defRPr/>
            </a:pPr>
            <a:r>
              <a:rPr lang="sl-SI" sz="1600" dirty="0">
                <a:latin typeface="Arial" charset="0"/>
                <a:cs typeface="Arial" charset="0"/>
              </a:rPr>
              <a:t> podobno kot prej izračunamo notranje parametre (namesto </a:t>
            </a:r>
            <a:r>
              <a:rPr lang="sl-SI" sz="1600" i="1" dirty="0">
                <a:latin typeface="Arial" charset="0"/>
                <a:cs typeface="Arial" charset="0"/>
                <a:sym typeface="Symbol"/>
              </a:rPr>
              <a:t></a:t>
            </a:r>
            <a:r>
              <a:rPr lang="sl-SI" sz="1600" dirty="0">
                <a:latin typeface="Arial" charset="0"/>
                <a:cs typeface="Arial" charset="0"/>
                <a:sym typeface="Symbol"/>
              </a:rPr>
              <a:t> določimo aspekt)</a:t>
            </a:r>
            <a:endParaRPr lang="sl-SI" sz="1600" i="1" dirty="0">
              <a:latin typeface="Arial" charset="0"/>
              <a:cs typeface="Arial" charset="0"/>
            </a:endParaRPr>
          </a:p>
          <a:p>
            <a:pPr eaLnBrk="1" hangingPunct="1">
              <a:spcBef>
                <a:spcPts val="0"/>
              </a:spcBef>
              <a:buFont typeface="Arial" pitchFamily="34" charset="0"/>
              <a:buChar char="•"/>
              <a:defRPr/>
            </a:pPr>
            <a:r>
              <a:rPr lang="sl-SI" sz="1600" dirty="0">
                <a:latin typeface="Arial" charset="0"/>
                <a:cs typeface="Arial" charset="0"/>
              </a:rPr>
              <a:t> enako kot prej določimo zunanje parametre, razen premika v smeri </a:t>
            </a:r>
            <a:r>
              <a:rPr lang="sl-SI" sz="1600" i="1" dirty="0">
                <a:latin typeface="Arial" charset="0"/>
                <a:cs typeface="Arial" charset="0"/>
              </a:rPr>
              <a:t>z</a:t>
            </a:r>
            <a:endParaRPr lang="sl-SI" sz="1600" dirty="0">
              <a:latin typeface="Arial" charset="0"/>
              <a:cs typeface="Arial" charset="0"/>
            </a:endParaRPr>
          </a:p>
          <a:p>
            <a:pPr eaLnBrk="1" hangingPunct="1">
              <a:spcBef>
                <a:spcPts val="0"/>
              </a:spcBef>
              <a:buFont typeface="Arial" pitchFamily="34" charset="0"/>
              <a:buChar char="•"/>
              <a:defRPr/>
            </a:pPr>
            <a:r>
              <a:rPr lang="sl-SI" sz="1600" dirty="0">
                <a:latin typeface="Arial" charset="0"/>
                <a:cs typeface="Arial" charset="0"/>
              </a:rPr>
              <a:t> premik v smeri </a:t>
            </a:r>
            <a:r>
              <a:rPr lang="sl-SI" sz="1600" i="1" dirty="0">
                <a:latin typeface="Arial" charset="0"/>
                <a:cs typeface="Arial" charset="0"/>
              </a:rPr>
              <a:t>z</a:t>
            </a:r>
            <a:r>
              <a:rPr lang="sl-SI" sz="1600" dirty="0">
                <a:latin typeface="Arial" charset="0"/>
                <a:cs typeface="Arial" charset="0"/>
              </a:rPr>
              <a:t> (in </a:t>
            </a:r>
            <a:r>
              <a:rPr lang="sl-SI" sz="1600" i="1" dirty="0">
                <a:latin typeface="Arial" charset="0"/>
                <a:cs typeface="Arial" charset="0"/>
                <a:sym typeface="Symbol"/>
              </a:rPr>
              <a:t></a:t>
            </a:r>
            <a:r>
              <a:rPr lang="sl-SI" sz="1600" dirty="0">
                <a:latin typeface="Arial" charset="0"/>
                <a:cs typeface="Arial" charset="0"/>
              </a:rPr>
              <a:t>) določimo glede na popačenje s pomočjo dodatnih točk </a:t>
            </a:r>
          </a:p>
        </p:txBody>
      </p:sp>
      <p:graphicFrame>
        <p:nvGraphicFramePr>
          <p:cNvPr id="84996" name="Object 3"/>
          <p:cNvGraphicFramePr>
            <a:graphicFrameLocks noChangeAspect="1"/>
          </p:cNvGraphicFramePr>
          <p:nvPr/>
        </p:nvGraphicFramePr>
        <p:xfrm>
          <a:off x="1116013" y="1303338"/>
          <a:ext cx="4300537" cy="1079500"/>
        </p:xfrm>
        <a:graphic>
          <a:graphicData uri="http://schemas.openxmlformats.org/presentationml/2006/ole">
            <mc:AlternateContent xmlns:mc="http://schemas.openxmlformats.org/markup-compatibility/2006">
              <mc:Choice xmlns:v="urn:schemas-microsoft-com:vml" Requires="v">
                <p:oleObj spid="_x0000_s85029" name="Equation" r:id="rId4" imgW="1777229" imgH="444307" progId="Equation.3">
                  <p:embed/>
                </p:oleObj>
              </mc:Choice>
              <mc:Fallback>
                <p:oleObj name="Equation" r:id="rId4" imgW="1777229" imgH="444307"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303338"/>
                        <a:ext cx="4300537"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4997" name="Group 11"/>
          <p:cNvGrpSpPr>
            <a:grpSpLocks/>
          </p:cNvGrpSpPr>
          <p:nvPr/>
        </p:nvGrpSpPr>
        <p:grpSpPr bwMode="auto">
          <a:xfrm>
            <a:off x="1185863" y="3089275"/>
            <a:ext cx="5041900" cy="1727200"/>
            <a:chOff x="1943395" y="3645023"/>
            <a:chExt cx="5113641" cy="1755651"/>
          </a:xfrm>
        </p:grpSpPr>
        <p:pic>
          <p:nvPicPr>
            <p:cNvPr id="85000" name="Picture 3" descr="calib-before-larg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43395" y="3645023"/>
              <a:ext cx="2340573" cy="1755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1" name="Picture 4" descr="calib-after-larg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6463" y="3645023"/>
              <a:ext cx="2340573" cy="1755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4998"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84999"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447542A-5A7B-4051-98A0-B67934C09DB0}" type="slidenum">
              <a:rPr lang="en-GB" altLang="sl-SI" sz="1400" smtClean="0"/>
              <a:pPr>
                <a:spcBef>
                  <a:spcPct val="0"/>
                </a:spcBef>
                <a:buFontTx/>
                <a:buNone/>
              </a:pPr>
              <a:t>44</a:t>
            </a:fld>
            <a:endParaRPr lang="en-GB" altLang="sl-SI" sz="1400"/>
          </a:p>
        </p:txBody>
      </p:sp>
    </p:spTree>
  </p:cSld>
  <p:clrMapOvr>
    <a:masterClrMapping/>
  </p:clrMapOvr>
  <p:transition>
    <p:cov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ctrTitle"/>
          </p:nvPr>
        </p:nvSpPr>
        <p:spPr>
          <a:xfrm>
            <a:off x="250825" y="188913"/>
            <a:ext cx="8424863" cy="576262"/>
          </a:xfrm>
        </p:spPr>
        <p:txBody>
          <a:bodyPr/>
          <a:lstStyle/>
          <a:p>
            <a:pPr eaLnBrk="1" hangingPunct="1"/>
            <a:r>
              <a:rPr lang="sl-SI" altLang="en-US" sz="2800" b="1"/>
              <a:t>RAZLIČNE METODE ZA KALIBRACIJO KAMER</a:t>
            </a:r>
            <a:endParaRPr lang="en-GB" altLang="en-US" sz="2000"/>
          </a:p>
        </p:txBody>
      </p:sp>
      <p:sp>
        <p:nvSpPr>
          <p:cNvPr id="8" name="TextBox 7"/>
          <p:cNvSpPr txBox="1"/>
          <p:nvPr/>
        </p:nvSpPr>
        <p:spPr>
          <a:xfrm>
            <a:off x="827088" y="1000125"/>
            <a:ext cx="7561262" cy="2338388"/>
          </a:xfrm>
          <a:prstGeom prst="rect">
            <a:avLst/>
          </a:prstGeom>
          <a:noFill/>
        </p:spPr>
        <p:txBody>
          <a:bodyPr>
            <a:spAutoFit/>
          </a:bodyPr>
          <a:lstStyle/>
          <a:p>
            <a:pPr eaLnBrk="1" hangingPunct="1">
              <a:defRPr/>
            </a:pPr>
            <a:r>
              <a:rPr lang="sl-SI" dirty="0" err="1">
                <a:latin typeface="Arial" charset="0"/>
                <a:cs typeface="Arial" charset="0"/>
              </a:rPr>
              <a:t>Kalibracija</a:t>
            </a:r>
            <a:r>
              <a:rPr lang="sl-SI" dirty="0">
                <a:latin typeface="Arial" charset="0"/>
                <a:cs typeface="Arial" charset="0"/>
              </a:rPr>
              <a:t> kamer je zelo široko raziskano področje z mnogimi metodami, kot na primer:</a:t>
            </a:r>
          </a:p>
          <a:p>
            <a:pPr marL="342900" indent="-342900" eaLnBrk="1" hangingPunct="1">
              <a:spcBef>
                <a:spcPts val="600"/>
              </a:spcBef>
              <a:buFontTx/>
              <a:buAutoNum type="arabicPeriod"/>
              <a:defRPr/>
            </a:pPr>
            <a:r>
              <a:rPr lang="sl-SI" dirty="0">
                <a:latin typeface="Arial" charset="0"/>
                <a:cs typeface="Arial" charset="0"/>
              </a:rPr>
              <a:t>metoda z znanimi točkami (opisana tukaj)</a:t>
            </a:r>
          </a:p>
          <a:p>
            <a:pPr marL="342900" indent="-342900" eaLnBrk="1" hangingPunct="1">
              <a:spcBef>
                <a:spcPts val="600"/>
              </a:spcBef>
              <a:buFontTx/>
              <a:buAutoNum type="arabicPeriod"/>
              <a:defRPr/>
            </a:pPr>
            <a:r>
              <a:rPr lang="sl-SI" dirty="0">
                <a:latin typeface="Arial" charset="0"/>
                <a:cs typeface="Arial" charset="0"/>
              </a:rPr>
              <a:t>metoda s točkami na premici</a:t>
            </a:r>
          </a:p>
          <a:p>
            <a:pPr marL="342900" indent="-342900" eaLnBrk="1" hangingPunct="1">
              <a:spcBef>
                <a:spcPts val="600"/>
              </a:spcBef>
              <a:buFontTx/>
              <a:buAutoNum type="arabicPeriod"/>
              <a:defRPr/>
            </a:pPr>
            <a:r>
              <a:rPr lang="sl-SI" dirty="0">
                <a:latin typeface="Arial" charset="0"/>
                <a:cs typeface="Arial" charset="0"/>
              </a:rPr>
              <a:t>metoda s točkami na več ravninah (več kot 3 ravnine)</a:t>
            </a:r>
          </a:p>
          <a:p>
            <a:pPr marL="342900" indent="-342900" eaLnBrk="1" hangingPunct="1">
              <a:spcBef>
                <a:spcPts val="600"/>
              </a:spcBef>
              <a:buFontTx/>
              <a:buAutoNum type="arabicPeriod"/>
              <a:defRPr/>
            </a:pPr>
            <a:r>
              <a:rPr lang="sl-SI" dirty="0">
                <a:latin typeface="Arial" charset="0"/>
                <a:cs typeface="Arial" charset="0"/>
              </a:rPr>
              <a:t>metoda s ponornimi točkami  (</a:t>
            </a:r>
            <a:r>
              <a:rPr lang="sl-SI" i="1" dirty="0" err="1">
                <a:latin typeface="Arial" charset="0"/>
                <a:cs typeface="Arial" charset="0"/>
              </a:rPr>
              <a:t>vanishing</a:t>
            </a:r>
            <a:r>
              <a:rPr lang="sl-SI" i="1" dirty="0">
                <a:latin typeface="Arial" charset="0"/>
                <a:cs typeface="Arial" charset="0"/>
              </a:rPr>
              <a:t> </a:t>
            </a:r>
            <a:r>
              <a:rPr lang="sl-SI" i="1" dirty="0" err="1">
                <a:latin typeface="Arial" charset="0"/>
                <a:cs typeface="Arial" charset="0"/>
              </a:rPr>
              <a:t>points</a:t>
            </a:r>
            <a:r>
              <a:rPr lang="sl-SI" dirty="0">
                <a:latin typeface="Arial" charset="0"/>
                <a:cs typeface="Arial" charset="0"/>
              </a:rPr>
              <a:t>), točkami v neskončnosti</a:t>
            </a:r>
          </a:p>
        </p:txBody>
      </p:sp>
      <p:sp>
        <p:nvSpPr>
          <p:cNvPr id="87044"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87045"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579B8A4-87C7-4F4E-97B4-A5AC334D8C9A}" type="slidenum">
              <a:rPr lang="en-GB" altLang="sl-SI" sz="1400" smtClean="0"/>
              <a:pPr>
                <a:spcBef>
                  <a:spcPct val="0"/>
                </a:spcBef>
                <a:buFontTx/>
                <a:buNone/>
              </a:pPr>
              <a:t>45</a:t>
            </a:fld>
            <a:endParaRPr lang="en-GB" altLang="sl-SI" sz="1400"/>
          </a:p>
        </p:txBody>
      </p:sp>
    </p:spTree>
  </p:cSld>
  <p:clrMapOvr>
    <a:masterClrMapping/>
  </p:clrMapOvr>
  <p:transition>
    <p:cove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890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3F7749A-9017-45C2-A58D-9DDBDDAE3202}" type="slidenum">
              <a:rPr lang="en-GB" altLang="en-US" sz="1400" smtClean="0"/>
              <a:pPr>
                <a:spcBef>
                  <a:spcPct val="0"/>
                </a:spcBef>
                <a:buFontTx/>
                <a:buNone/>
              </a:pPr>
              <a:t>46</a:t>
            </a:fld>
            <a:endParaRPr lang="en-GB" altLang="en-US" sz="1400"/>
          </a:p>
        </p:txBody>
      </p:sp>
      <p:sp>
        <p:nvSpPr>
          <p:cNvPr id="89092" name="Rectangle 2"/>
          <p:cNvSpPr>
            <a:spLocks noGrp="1" noChangeArrowheads="1"/>
          </p:cNvSpPr>
          <p:nvPr>
            <p:ph type="body" idx="1"/>
          </p:nvPr>
        </p:nvSpPr>
        <p:spPr>
          <a:xfrm>
            <a:off x="468313" y="2708275"/>
            <a:ext cx="8229600" cy="1008063"/>
          </a:xfrm>
        </p:spPr>
        <p:txBody>
          <a:bodyPr/>
          <a:lstStyle/>
          <a:p>
            <a:pPr algn="ctr" eaLnBrk="1" hangingPunct="1">
              <a:buFontTx/>
              <a:buNone/>
            </a:pPr>
            <a:r>
              <a:rPr lang="sl-SI" altLang="en-US" sz="3600"/>
              <a:t>Epipolarna geometrija</a:t>
            </a:r>
          </a:p>
        </p:txBody>
      </p:sp>
    </p:spTree>
  </p:cSld>
  <p:clrMapOvr>
    <a:masterClrMapping/>
  </p:clrMapOvr>
  <p:transition>
    <p:cove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ctrTitle"/>
          </p:nvPr>
        </p:nvSpPr>
        <p:spPr>
          <a:xfrm>
            <a:off x="250825" y="188913"/>
            <a:ext cx="8424863" cy="576262"/>
          </a:xfrm>
        </p:spPr>
        <p:txBody>
          <a:bodyPr/>
          <a:lstStyle/>
          <a:p>
            <a:pPr eaLnBrk="1" hangingPunct="1"/>
            <a:r>
              <a:rPr lang="sl-SI" altLang="en-US" sz="2800" b="1"/>
              <a:t>DVA POGLEDA NA ISTO SCENO</a:t>
            </a:r>
            <a:endParaRPr lang="en-GB" altLang="en-US" sz="2000"/>
          </a:p>
        </p:txBody>
      </p:sp>
      <p:sp>
        <p:nvSpPr>
          <p:cNvPr id="91139" name="TextBox 7"/>
          <p:cNvSpPr txBox="1">
            <a:spLocks noChangeArrowheads="1"/>
          </p:cNvSpPr>
          <p:nvPr/>
        </p:nvSpPr>
        <p:spPr bwMode="auto">
          <a:xfrm>
            <a:off x="827088" y="908050"/>
            <a:ext cx="75612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Imejmo dve kameri, ki snemata isto sceno iz dveh različnih zornih kotov:</a:t>
            </a:r>
          </a:p>
          <a:p>
            <a:pPr eaLnBrk="1" hangingPunct="1">
              <a:spcBef>
                <a:spcPct val="0"/>
              </a:spcBef>
              <a:buFontTx/>
              <a:buNone/>
            </a:pPr>
            <a:endParaRPr lang="sl-SI" altLang="en-US" sz="1800"/>
          </a:p>
        </p:txBody>
      </p:sp>
      <p:sp>
        <p:nvSpPr>
          <p:cNvPr id="91140" name="TextBox 12"/>
          <p:cNvSpPr txBox="1">
            <a:spLocks noChangeArrowheads="1"/>
          </p:cNvSpPr>
          <p:nvPr/>
        </p:nvSpPr>
        <p:spPr bwMode="auto">
          <a:xfrm>
            <a:off x="971550" y="4221163"/>
            <a:ext cx="770413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9388" indent="-179388">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sl-SI" altLang="en-US" sz="1800" b="1"/>
              <a:t>O</a:t>
            </a:r>
            <a:r>
              <a:rPr lang="sl-SI" altLang="en-US" sz="1800"/>
              <a:t> in </a:t>
            </a:r>
            <a:r>
              <a:rPr lang="sl-SI" altLang="en-US" sz="1800" b="1"/>
              <a:t>O</a:t>
            </a:r>
            <a:r>
              <a:rPr lang="sl-SI" altLang="en-US" sz="1800"/>
              <a:t>’ – optični središči kamer, povezuje ju osnovnica</a:t>
            </a:r>
          </a:p>
          <a:p>
            <a:pPr eaLnBrk="1" hangingPunct="1">
              <a:spcBef>
                <a:spcPct val="0"/>
              </a:spcBef>
            </a:pPr>
            <a:r>
              <a:rPr lang="sl-SI" altLang="en-US" sz="1800" b="1"/>
              <a:t>e </a:t>
            </a:r>
            <a:r>
              <a:rPr lang="sl-SI" altLang="en-US" sz="1800"/>
              <a:t>in </a:t>
            </a:r>
            <a:r>
              <a:rPr lang="sl-SI" altLang="en-US" sz="1800" b="1"/>
              <a:t>e</a:t>
            </a:r>
            <a:r>
              <a:rPr lang="sl-SI" altLang="en-US" sz="1800"/>
              <a:t>’ – epipola: epipol je točka, ki ustreza sliki (virtualnega) središča druge kamere </a:t>
            </a:r>
          </a:p>
          <a:p>
            <a:pPr eaLnBrk="1" hangingPunct="1">
              <a:spcBef>
                <a:spcPct val="0"/>
              </a:spcBef>
            </a:pPr>
            <a:r>
              <a:rPr lang="sl-SI" altLang="en-US" sz="1800">
                <a:sym typeface="Symbol" panose="05050102010706020507" pitchFamily="18" charset="2"/>
              </a:rPr>
              <a:t> - epipolarna ravnina, določena z optičnima središčema </a:t>
            </a:r>
            <a:r>
              <a:rPr lang="sl-SI" altLang="en-US" sz="1800" b="1">
                <a:sym typeface="Symbol" panose="05050102010706020507" pitchFamily="18" charset="2"/>
              </a:rPr>
              <a:t>O </a:t>
            </a:r>
            <a:r>
              <a:rPr lang="sl-SI" altLang="en-US" sz="1800">
                <a:sym typeface="Symbol" panose="05050102010706020507" pitchFamily="18" charset="2"/>
              </a:rPr>
              <a:t>in </a:t>
            </a:r>
            <a:r>
              <a:rPr lang="sl-SI" altLang="en-US" sz="1800" b="1">
                <a:sym typeface="Symbol" panose="05050102010706020507" pitchFamily="18" charset="2"/>
              </a:rPr>
              <a:t>O</a:t>
            </a:r>
            <a:r>
              <a:rPr lang="sl-SI" altLang="en-US" sz="1800">
                <a:sym typeface="Symbol" panose="05050102010706020507" pitchFamily="18" charset="2"/>
              </a:rPr>
              <a:t>’ ter  točko </a:t>
            </a:r>
            <a:r>
              <a:rPr lang="sl-SI" altLang="en-US" sz="1800" b="1">
                <a:sym typeface="Symbol" panose="05050102010706020507" pitchFamily="18" charset="2"/>
              </a:rPr>
              <a:t>p </a:t>
            </a:r>
            <a:r>
              <a:rPr lang="sl-SI" altLang="en-US" sz="1800">
                <a:sym typeface="Symbol" panose="05050102010706020507" pitchFamily="18" charset="2"/>
              </a:rPr>
              <a:t>v prostoru</a:t>
            </a:r>
          </a:p>
          <a:p>
            <a:pPr eaLnBrk="1" hangingPunct="1">
              <a:spcBef>
                <a:spcPct val="0"/>
              </a:spcBef>
            </a:pPr>
            <a:r>
              <a:rPr lang="sl-SI" altLang="en-US" sz="1800" b="1">
                <a:sym typeface="Symbol" panose="05050102010706020507" pitchFamily="18" charset="2"/>
              </a:rPr>
              <a:t>l </a:t>
            </a:r>
            <a:r>
              <a:rPr lang="sl-SI" altLang="en-US" sz="1800">
                <a:sym typeface="Symbol" panose="05050102010706020507" pitchFamily="18" charset="2"/>
              </a:rPr>
              <a:t>in </a:t>
            </a:r>
            <a:r>
              <a:rPr lang="sl-SI" altLang="en-US" sz="1800" b="1">
                <a:sym typeface="Symbol" panose="05050102010706020507" pitchFamily="18" charset="2"/>
              </a:rPr>
              <a:t>l</a:t>
            </a:r>
            <a:r>
              <a:rPr lang="sl-SI" altLang="en-US" sz="1800">
                <a:sym typeface="Symbol" panose="05050102010706020507" pitchFamily="18" charset="2"/>
              </a:rPr>
              <a:t>’ – epipolarni premici, na kateri se projicirajo vse točke iz pripadajoče epipolarne ravnine</a:t>
            </a:r>
            <a:endParaRPr lang="en-GB" altLang="en-US" sz="1800"/>
          </a:p>
        </p:txBody>
      </p:sp>
      <p:grpSp>
        <p:nvGrpSpPr>
          <p:cNvPr id="91141" name="Group 28"/>
          <p:cNvGrpSpPr>
            <a:grpSpLocks/>
          </p:cNvGrpSpPr>
          <p:nvPr/>
        </p:nvGrpSpPr>
        <p:grpSpPr bwMode="auto">
          <a:xfrm>
            <a:off x="2251075" y="1295400"/>
            <a:ext cx="4684713" cy="2854325"/>
            <a:chOff x="2250884" y="1295686"/>
            <a:chExt cx="4685512" cy="2853394"/>
          </a:xfrm>
        </p:grpSpPr>
        <p:grpSp>
          <p:nvGrpSpPr>
            <p:cNvPr id="91144" name="Group 22"/>
            <p:cNvGrpSpPr>
              <a:grpSpLocks/>
            </p:cNvGrpSpPr>
            <p:nvPr/>
          </p:nvGrpSpPr>
          <p:grpSpPr bwMode="auto">
            <a:xfrm>
              <a:off x="2250884" y="1295686"/>
              <a:ext cx="4685512" cy="2853394"/>
              <a:chOff x="2250884" y="1340768"/>
              <a:chExt cx="4685512" cy="2853394"/>
            </a:xfrm>
          </p:grpSpPr>
          <p:grpSp>
            <p:nvGrpSpPr>
              <p:cNvPr id="91149" name="Group 21"/>
              <p:cNvGrpSpPr>
                <a:grpSpLocks/>
              </p:cNvGrpSpPr>
              <p:nvPr/>
            </p:nvGrpSpPr>
            <p:grpSpPr bwMode="auto">
              <a:xfrm>
                <a:off x="2411760" y="1340768"/>
                <a:ext cx="4392488" cy="2853394"/>
                <a:chOff x="2411760" y="1295686"/>
                <a:chExt cx="4392488" cy="2853394"/>
              </a:xfrm>
            </p:grpSpPr>
            <p:grpSp>
              <p:nvGrpSpPr>
                <p:cNvPr id="91152" name="Group 8"/>
                <p:cNvGrpSpPr>
                  <a:grpSpLocks/>
                </p:cNvGrpSpPr>
                <p:nvPr/>
              </p:nvGrpSpPr>
              <p:grpSpPr bwMode="auto">
                <a:xfrm>
                  <a:off x="2411760" y="1295686"/>
                  <a:ext cx="4392488" cy="2853394"/>
                  <a:chOff x="2411760" y="1340768"/>
                  <a:chExt cx="4392488" cy="2853394"/>
                </a:xfrm>
              </p:grpSpPr>
              <p:pic>
                <p:nvPicPr>
                  <p:cNvPr id="91157" name="Picture 2"/>
                  <p:cNvPicPr>
                    <a:picLocks noChangeAspect="1" noChangeArrowheads="1"/>
                  </p:cNvPicPr>
                  <p:nvPr/>
                </p:nvPicPr>
                <p:blipFill>
                  <a:blip r:embed="rId3">
                    <a:extLst>
                      <a:ext uri="{28A0092B-C50C-407E-A947-70E740481C1C}">
                        <a14:useLocalDpi xmlns:a14="http://schemas.microsoft.com/office/drawing/2010/main" val="0"/>
                      </a:ext>
                    </a:extLst>
                  </a:blip>
                  <a:srcRect l="4803" t="9169" r="7211"/>
                  <a:stretch>
                    <a:fillRect/>
                  </a:stretch>
                </p:blipFill>
                <p:spPr bwMode="auto">
                  <a:xfrm>
                    <a:off x="2411760" y="1340768"/>
                    <a:ext cx="4392488" cy="2853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8" name="TextBox 6"/>
                  <p:cNvSpPr txBox="1">
                    <a:spLocks noChangeArrowheads="1"/>
                  </p:cNvSpPr>
                  <p:nvPr/>
                </p:nvSpPr>
                <p:spPr bwMode="auto">
                  <a:xfrm>
                    <a:off x="3966965" y="3501008"/>
                    <a:ext cx="821059"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a:t>osnovnica</a:t>
                    </a:r>
                    <a:endParaRPr lang="en-GB" altLang="en-US" sz="1100"/>
                  </a:p>
                </p:txBody>
              </p:sp>
            </p:grpSp>
            <p:sp>
              <p:nvSpPr>
                <p:cNvPr id="91153" name="TextBox 14"/>
                <p:cNvSpPr txBox="1">
                  <a:spLocks noChangeArrowheads="1"/>
                </p:cNvSpPr>
                <p:nvPr/>
              </p:nvSpPr>
              <p:spPr bwMode="auto">
                <a:xfrm>
                  <a:off x="4920950" y="1392898"/>
                  <a:ext cx="279244"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p</a:t>
                  </a:r>
                  <a:endParaRPr lang="en-GB" altLang="en-US" sz="1200" b="1"/>
                </a:p>
              </p:txBody>
            </p:sp>
            <p:cxnSp>
              <p:nvCxnSpPr>
                <p:cNvPr id="17" name="Straight Connector 16"/>
                <p:cNvCxnSpPr/>
                <p:nvPr/>
              </p:nvCxnSpPr>
              <p:spPr>
                <a:xfrm flipV="1">
                  <a:off x="2516042" y="1709889"/>
                  <a:ext cx="2505502" cy="157587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flipV="1">
                  <a:off x="5040597" y="1728933"/>
                  <a:ext cx="1600473" cy="157587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4983438" y="1647996"/>
                  <a:ext cx="144487" cy="1444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sp>
            <p:nvSpPr>
              <p:cNvPr id="91150" name="TextBox 10"/>
              <p:cNvSpPr txBox="1">
                <a:spLocks noChangeArrowheads="1"/>
              </p:cNvSpPr>
              <p:nvPr/>
            </p:nvSpPr>
            <p:spPr bwMode="auto">
              <a:xfrm>
                <a:off x="2250884" y="3429000"/>
                <a:ext cx="30489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O</a:t>
                </a:r>
                <a:endParaRPr lang="en-GB" altLang="en-US" sz="1200" b="1"/>
              </a:p>
            </p:txBody>
          </p:sp>
          <p:sp>
            <p:nvSpPr>
              <p:cNvPr id="91151" name="TextBox 11"/>
              <p:cNvSpPr txBox="1">
                <a:spLocks noChangeArrowheads="1"/>
              </p:cNvSpPr>
              <p:nvPr/>
            </p:nvSpPr>
            <p:spPr bwMode="auto">
              <a:xfrm>
                <a:off x="6588224" y="3429000"/>
                <a:ext cx="34817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O’</a:t>
                </a:r>
                <a:endParaRPr lang="en-GB" altLang="en-US" sz="1200" b="1"/>
              </a:p>
            </p:txBody>
          </p:sp>
        </p:grpSp>
        <p:sp>
          <p:nvSpPr>
            <p:cNvPr id="24" name="Oval 23"/>
            <p:cNvSpPr/>
            <p:nvPr/>
          </p:nvSpPr>
          <p:spPr>
            <a:xfrm>
              <a:off x="3149562" y="2795385"/>
              <a:ext cx="142899" cy="14282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5" name="Oval 24"/>
            <p:cNvSpPr/>
            <p:nvPr/>
          </p:nvSpPr>
          <p:spPr>
            <a:xfrm>
              <a:off x="6083763" y="2760471"/>
              <a:ext cx="144488" cy="14441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91147" name="TextBox 26"/>
            <p:cNvSpPr txBox="1">
              <a:spLocks noChangeArrowheads="1"/>
            </p:cNvSpPr>
            <p:nvPr/>
          </p:nvSpPr>
          <p:spPr bwMode="auto">
            <a:xfrm>
              <a:off x="6236189" y="2709688"/>
              <a:ext cx="381901" cy="2769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p’</a:t>
              </a:r>
              <a:r>
                <a:rPr lang="sl-SI" altLang="en-US" sz="1400" i="1" baseline="-25000"/>
                <a:t>c</a:t>
              </a:r>
              <a:endParaRPr lang="en-GB" altLang="en-US" sz="1200" i="1" baseline="-25000"/>
            </a:p>
          </p:txBody>
        </p:sp>
        <p:sp>
          <p:nvSpPr>
            <p:cNvPr id="91148" name="TextBox 27"/>
            <p:cNvSpPr txBox="1">
              <a:spLocks noChangeArrowheads="1"/>
            </p:cNvSpPr>
            <p:nvPr/>
          </p:nvSpPr>
          <p:spPr bwMode="auto">
            <a:xfrm>
              <a:off x="2785963" y="2752536"/>
              <a:ext cx="338612" cy="2769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p</a:t>
              </a:r>
              <a:r>
                <a:rPr lang="sl-SI" altLang="en-US" sz="1400" i="1" baseline="-25000"/>
                <a:t>c</a:t>
              </a:r>
              <a:endParaRPr lang="en-GB" altLang="en-US" sz="1200" i="1" baseline="-25000"/>
            </a:p>
          </p:txBody>
        </p:sp>
      </p:grpSp>
      <p:sp>
        <p:nvSpPr>
          <p:cNvPr id="91142"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91143"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8AF3B15-2EB0-4345-9FA5-F574B564F805}" type="slidenum">
              <a:rPr lang="en-GB" altLang="sl-SI" sz="1400" smtClean="0"/>
              <a:pPr>
                <a:spcBef>
                  <a:spcPct val="0"/>
                </a:spcBef>
                <a:buFontTx/>
                <a:buNone/>
              </a:pPr>
              <a:t>47</a:t>
            </a:fld>
            <a:endParaRPr lang="en-GB" altLang="sl-SI" sz="1400"/>
          </a:p>
        </p:txBody>
      </p:sp>
    </p:spTree>
  </p:cSld>
  <p:clrMapOvr>
    <a:masterClrMapping/>
  </p:clrMapOvr>
  <p:transition>
    <p:cove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ctrTitle"/>
          </p:nvPr>
        </p:nvSpPr>
        <p:spPr>
          <a:xfrm>
            <a:off x="250825" y="188913"/>
            <a:ext cx="8424863" cy="576262"/>
          </a:xfrm>
        </p:spPr>
        <p:txBody>
          <a:bodyPr/>
          <a:lstStyle/>
          <a:p>
            <a:pPr eaLnBrk="1" hangingPunct="1"/>
            <a:r>
              <a:rPr lang="sl-SI" altLang="en-US" sz="2800" b="1"/>
              <a:t>EPIPOLARNE RAVNINE</a:t>
            </a:r>
            <a:endParaRPr lang="en-GB" altLang="en-US" sz="2000"/>
          </a:p>
        </p:txBody>
      </p:sp>
      <p:sp>
        <p:nvSpPr>
          <p:cNvPr id="8" name="TextBox 7"/>
          <p:cNvSpPr txBox="1"/>
          <p:nvPr/>
        </p:nvSpPr>
        <p:spPr>
          <a:xfrm>
            <a:off x="827088" y="908050"/>
            <a:ext cx="7561262" cy="4940300"/>
          </a:xfrm>
          <a:prstGeom prst="rect">
            <a:avLst/>
          </a:prstGeom>
          <a:noFill/>
        </p:spPr>
        <p:txBody>
          <a:bodyPr>
            <a:spAutoFit/>
          </a:bodyPr>
          <a:lstStyle/>
          <a:p>
            <a:pPr marL="342900" indent="-342900" eaLnBrk="1" hangingPunct="1">
              <a:buFont typeface="+mj-lt"/>
              <a:buAutoNum type="arabicPeriod"/>
              <a:defRPr/>
            </a:pPr>
            <a:r>
              <a:rPr lang="sl-SI" dirty="0">
                <a:latin typeface="Arial" charset="0"/>
                <a:cs typeface="Arial" charset="0"/>
              </a:rPr>
              <a:t>Vse ravnine, ki gredo skozi osnovnico, so </a:t>
            </a:r>
            <a:r>
              <a:rPr lang="sl-SI" dirty="0" err="1">
                <a:latin typeface="Arial" charset="0"/>
                <a:cs typeface="Arial" charset="0"/>
              </a:rPr>
              <a:t>epipolarne</a:t>
            </a:r>
            <a:r>
              <a:rPr lang="sl-SI" dirty="0">
                <a:latin typeface="Arial" charset="0"/>
                <a:cs typeface="Arial" charset="0"/>
              </a:rPr>
              <a:t> ravnine – šop ravnin.</a:t>
            </a:r>
          </a:p>
          <a:p>
            <a:pPr marL="342900" indent="-342900" eaLnBrk="1" hangingPunct="1">
              <a:spcBef>
                <a:spcPts val="600"/>
              </a:spcBef>
              <a:buFont typeface="+mj-lt"/>
              <a:buAutoNum type="arabicPeriod"/>
              <a:defRPr/>
            </a:pPr>
            <a:r>
              <a:rPr lang="sl-SI" dirty="0">
                <a:latin typeface="Arial" charset="0"/>
                <a:cs typeface="Arial" charset="0"/>
              </a:rPr>
              <a:t>Šop </a:t>
            </a:r>
            <a:r>
              <a:rPr lang="sl-SI" dirty="0" err="1">
                <a:latin typeface="Arial" charset="0"/>
                <a:cs typeface="Arial" charset="0"/>
              </a:rPr>
              <a:t>epipolarnih</a:t>
            </a:r>
            <a:r>
              <a:rPr lang="sl-SI" dirty="0">
                <a:latin typeface="Arial" charset="0"/>
                <a:cs typeface="Arial" charset="0"/>
              </a:rPr>
              <a:t> ravnin vsebuje vse točke prostora.</a:t>
            </a:r>
          </a:p>
          <a:p>
            <a:pPr marL="342900" indent="-342900" eaLnBrk="1" hangingPunct="1">
              <a:spcBef>
                <a:spcPts val="600"/>
              </a:spcBef>
              <a:buFont typeface="+mj-lt"/>
              <a:buAutoNum type="arabicPeriod"/>
              <a:defRPr/>
            </a:pPr>
            <a:r>
              <a:rPr lang="sl-SI" dirty="0">
                <a:latin typeface="Arial" charset="0"/>
                <a:cs typeface="Arial" charset="0"/>
              </a:rPr>
              <a:t>Vsaka </a:t>
            </a:r>
            <a:r>
              <a:rPr lang="sl-SI" dirty="0" err="1">
                <a:latin typeface="Arial" charset="0"/>
                <a:cs typeface="Arial" charset="0"/>
              </a:rPr>
              <a:t>epipolarna</a:t>
            </a:r>
            <a:r>
              <a:rPr lang="sl-SI" dirty="0">
                <a:latin typeface="Arial" charset="0"/>
                <a:cs typeface="Arial" charset="0"/>
              </a:rPr>
              <a:t> ravnina seka slikovno ravnino v </a:t>
            </a:r>
            <a:r>
              <a:rPr lang="sl-SI" dirty="0" err="1">
                <a:latin typeface="Arial" charset="0"/>
                <a:cs typeface="Arial" charset="0"/>
              </a:rPr>
              <a:t>epipolarni</a:t>
            </a:r>
            <a:r>
              <a:rPr lang="sl-SI" dirty="0">
                <a:latin typeface="Arial" charset="0"/>
                <a:cs typeface="Arial" charset="0"/>
              </a:rPr>
              <a:t> premici. </a:t>
            </a:r>
          </a:p>
          <a:p>
            <a:pPr marL="342900" indent="-342900" eaLnBrk="1" hangingPunct="1">
              <a:spcBef>
                <a:spcPts val="600"/>
              </a:spcBef>
              <a:buFont typeface="+mj-lt"/>
              <a:buAutoNum type="arabicPeriod"/>
              <a:defRPr/>
            </a:pPr>
            <a:r>
              <a:rPr lang="sl-SI" dirty="0">
                <a:latin typeface="Arial" charset="0"/>
                <a:cs typeface="Arial" charset="0"/>
              </a:rPr>
              <a:t>Vse </a:t>
            </a:r>
            <a:r>
              <a:rPr lang="sl-SI" dirty="0" err="1">
                <a:latin typeface="Arial" charset="0"/>
                <a:cs typeface="Arial" charset="0"/>
              </a:rPr>
              <a:t>epipolarne</a:t>
            </a:r>
            <a:r>
              <a:rPr lang="sl-SI" dirty="0">
                <a:latin typeface="Arial" charset="0"/>
                <a:cs typeface="Arial" charset="0"/>
              </a:rPr>
              <a:t> premice ene slikovne ravnine se sekajo v </a:t>
            </a:r>
            <a:r>
              <a:rPr lang="sl-SI" dirty="0" err="1">
                <a:latin typeface="Arial" charset="0"/>
                <a:cs typeface="Arial" charset="0"/>
              </a:rPr>
              <a:t>epipolu</a:t>
            </a:r>
            <a:r>
              <a:rPr lang="sl-SI" dirty="0">
                <a:latin typeface="Arial" charset="0"/>
                <a:cs typeface="Arial" charset="0"/>
              </a:rPr>
              <a:t> in tvorijo šop premic.</a:t>
            </a:r>
          </a:p>
          <a:p>
            <a:pPr marL="342900" indent="-342900" eaLnBrk="1" hangingPunct="1">
              <a:spcBef>
                <a:spcPts val="600"/>
              </a:spcBef>
              <a:buFont typeface="+mj-lt"/>
              <a:buAutoNum type="arabicPeriod"/>
              <a:defRPr/>
            </a:pPr>
            <a:endParaRPr lang="sl-SI" dirty="0">
              <a:latin typeface="Arial" charset="0"/>
              <a:cs typeface="Arial" charset="0"/>
            </a:endParaRPr>
          </a:p>
          <a:p>
            <a:pPr marL="342900" indent="-342900" eaLnBrk="1" hangingPunct="1">
              <a:spcBef>
                <a:spcPts val="600"/>
              </a:spcBef>
              <a:buFont typeface="+mj-lt"/>
              <a:buAutoNum type="arabicPeriod"/>
              <a:defRPr/>
            </a:pPr>
            <a:endParaRPr lang="sl-SI" dirty="0">
              <a:latin typeface="Arial" charset="0"/>
              <a:cs typeface="Arial" charset="0"/>
            </a:endParaRPr>
          </a:p>
          <a:p>
            <a:pPr marL="342900" indent="-342900" eaLnBrk="1" hangingPunct="1">
              <a:spcBef>
                <a:spcPts val="600"/>
              </a:spcBef>
              <a:buFont typeface="+mj-lt"/>
              <a:buAutoNum type="arabicPeriod"/>
              <a:defRPr/>
            </a:pPr>
            <a:endParaRPr lang="sl-SI" dirty="0">
              <a:latin typeface="Arial" charset="0"/>
              <a:cs typeface="Arial" charset="0"/>
            </a:endParaRPr>
          </a:p>
          <a:p>
            <a:pPr marL="342900" indent="-342900" eaLnBrk="1" hangingPunct="1">
              <a:spcBef>
                <a:spcPts val="600"/>
              </a:spcBef>
              <a:buFont typeface="+mj-lt"/>
              <a:buAutoNum type="arabicPeriod"/>
              <a:defRPr/>
            </a:pPr>
            <a:endParaRPr lang="sl-SI" dirty="0">
              <a:latin typeface="Arial" charset="0"/>
              <a:cs typeface="Arial" charset="0"/>
            </a:endParaRPr>
          </a:p>
          <a:p>
            <a:pPr marL="342900" indent="-342900" eaLnBrk="1" hangingPunct="1">
              <a:spcBef>
                <a:spcPts val="600"/>
              </a:spcBef>
              <a:buFont typeface="+mj-lt"/>
              <a:buAutoNum type="arabicPeriod"/>
              <a:defRPr/>
            </a:pPr>
            <a:endParaRPr lang="sl-SI" dirty="0">
              <a:latin typeface="Arial" charset="0"/>
              <a:cs typeface="Arial" charset="0"/>
            </a:endParaRPr>
          </a:p>
          <a:p>
            <a:pPr marL="342900" indent="-342900" eaLnBrk="1" hangingPunct="1">
              <a:spcBef>
                <a:spcPts val="600"/>
              </a:spcBef>
              <a:buFont typeface="+mj-lt"/>
              <a:buAutoNum type="arabicPeriod"/>
              <a:defRPr/>
            </a:pPr>
            <a:endParaRPr lang="sl-SI" dirty="0">
              <a:latin typeface="Arial" charset="0"/>
              <a:cs typeface="Arial" charset="0"/>
            </a:endParaRPr>
          </a:p>
          <a:p>
            <a:pPr marL="342900" indent="-342900" eaLnBrk="1" hangingPunct="1">
              <a:defRPr/>
            </a:pPr>
            <a:endParaRPr lang="sl-SI" dirty="0">
              <a:latin typeface="Arial" charset="0"/>
              <a:cs typeface="Arial" charset="0"/>
            </a:endParaRPr>
          </a:p>
          <a:p>
            <a:pPr eaLnBrk="1" hangingPunct="1">
              <a:defRPr/>
            </a:pPr>
            <a:r>
              <a:rPr lang="sl-SI" dirty="0" err="1">
                <a:latin typeface="Arial" charset="0"/>
                <a:cs typeface="Arial" charset="0"/>
              </a:rPr>
              <a:t>Epipol</a:t>
            </a:r>
            <a:r>
              <a:rPr lang="sl-SI" dirty="0">
                <a:latin typeface="Arial" charset="0"/>
                <a:cs typeface="Arial" charset="0"/>
              </a:rPr>
              <a:t> pomeni tudi ponorno točko pri premikih v smeri osnovnice – preprosto določljivo pri slikah kvadrov.</a:t>
            </a:r>
          </a:p>
        </p:txBody>
      </p:sp>
      <p:pic>
        <p:nvPicPr>
          <p:cNvPr id="9318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013" y="2852738"/>
            <a:ext cx="3609975"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93190"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FD2A8FB-0C44-49A2-9398-AA2595169F18}" type="slidenum">
              <a:rPr lang="en-GB" altLang="sl-SI" sz="1400" smtClean="0"/>
              <a:pPr>
                <a:spcBef>
                  <a:spcPct val="0"/>
                </a:spcBef>
                <a:buFontTx/>
                <a:buNone/>
              </a:pPr>
              <a:t>48</a:t>
            </a:fld>
            <a:endParaRPr lang="en-GB" altLang="sl-SI" sz="1400"/>
          </a:p>
        </p:txBody>
      </p:sp>
    </p:spTree>
  </p:cSld>
  <p:clrMapOvr>
    <a:masterClrMapping/>
  </p:clrMapOvr>
  <p:transition>
    <p:cove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ctrTitle"/>
          </p:nvPr>
        </p:nvSpPr>
        <p:spPr>
          <a:xfrm>
            <a:off x="250825" y="188913"/>
            <a:ext cx="8424863" cy="576262"/>
          </a:xfrm>
        </p:spPr>
        <p:txBody>
          <a:bodyPr/>
          <a:lstStyle/>
          <a:p>
            <a:pPr eaLnBrk="1" hangingPunct="1"/>
            <a:r>
              <a:rPr lang="sl-SI" altLang="en-US" sz="2800" b="1"/>
              <a:t>POMEN EPIPOLARNE GEOMETRIJE</a:t>
            </a:r>
            <a:endParaRPr lang="en-GB" altLang="en-US" sz="2000"/>
          </a:p>
        </p:txBody>
      </p:sp>
      <p:sp>
        <p:nvSpPr>
          <p:cNvPr id="8" name="TextBox 7"/>
          <p:cNvSpPr txBox="1"/>
          <p:nvPr/>
        </p:nvSpPr>
        <p:spPr>
          <a:xfrm>
            <a:off x="827088" y="1268413"/>
            <a:ext cx="7561262" cy="3446462"/>
          </a:xfrm>
          <a:prstGeom prst="rect">
            <a:avLst/>
          </a:prstGeom>
          <a:noFill/>
        </p:spPr>
        <p:txBody>
          <a:bodyPr>
            <a:spAutoFit/>
          </a:bodyPr>
          <a:lstStyle/>
          <a:p>
            <a:pPr eaLnBrk="1" hangingPunct="1">
              <a:defRPr/>
            </a:pPr>
            <a:r>
              <a:rPr lang="sl-SI" dirty="0">
                <a:latin typeface="Arial" charset="0"/>
                <a:cs typeface="Arial" charset="0"/>
              </a:rPr>
              <a:t>Z </a:t>
            </a:r>
            <a:r>
              <a:rPr lang="sl-SI" dirty="0" err="1">
                <a:latin typeface="Arial" charset="0"/>
                <a:cs typeface="Arial" charset="0"/>
              </a:rPr>
              <a:t>epipolarno</a:t>
            </a:r>
            <a:r>
              <a:rPr lang="sl-SI" dirty="0">
                <a:latin typeface="Arial" charset="0"/>
                <a:cs typeface="Arial" charset="0"/>
              </a:rPr>
              <a:t> geometrijo lahko odgovorimo na tri vprašanja:</a:t>
            </a:r>
          </a:p>
          <a:p>
            <a:pPr marL="342900" indent="-342900" eaLnBrk="1" hangingPunct="1">
              <a:spcBef>
                <a:spcPts val="600"/>
              </a:spcBef>
              <a:buFont typeface="+mj-lt"/>
              <a:buAutoNum type="arabicPeriod"/>
              <a:defRPr/>
            </a:pPr>
            <a:r>
              <a:rPr lang="sl-SI" dirty="0">
                <a:latin typeface="Arial" charset="0"/>
                <a:cs typeface="Arial" charset="0"/>
              </a:rPr>
              <a:t>Če poznamo točko </a:t>
            </a:r>
            <a:r>
              <a:rPr lang="sl-SI" b="1" dirty="0" err="1">
                <a:latin typeface="Arial" charset="0"/>
                <a:cs typeface="Arial" charset="0"/>
              </a:rPr>
              <a:t>p</a:t>
            </a:r>
            <a:r>
              <a:rPr lang="sl-SI" sz="1200" i="1" dirty="0" err="1">
                <a:latin typeface="Arial" charset="0"/>
                <a:cs typeface="Arial" charset="0"/>
              </a:rPr>
              <a:t>c</a:t>
            </a:r>
            <a:r>
              <a:rPr lang="sl-SI" dirty="0">
                <a:latin typeface="Arial" charset="0"/>
                <a:cs typeface="Arial" charset="0"/>
              </a:rPr>
              <a:t> na prvi sliki, kako to omejuje lego korespondenčne točke </a:t>
            </a:r>
            <a:r>
              <a:rPr lang="sl-SI" b="1" dirty="0">
                <a:latin typeface="Arial" charset="0"/>
                <a:cs typeface="Arial" charset="0"/>
              </a:rPr>
              <a:t>p</a:t>
            </a:r>
            <a:r>
              <a:rPr lang="sl-SI" sz="1600" dirty="0">
                <a:latin typeface="Arial" charset="0"/>
                <a:cs typeface="Arial" charset="0"/>
                <a:sym typeface="Symbol"/>
              </a:rPr>
              <a:t></a:t>
            </a:r>
            <a:r>
              <a:rPr lang="sl-SI" sz="1200" i="1" dirty="0">
                <a:latin typeface="Arial" charset="0"/>
                <a:cs typeface="Arial" charset="0"/>
                <a:sym typeface="Symbol"/>
              </a:rPr>
              <a:t>c</a:t>
            </a:r>
            <a:r>
              <a:rPr lang="sl-SI" sz="1200" dirty="0">
                <a:latin typeface="Arial" charset="0"/>
                <a:cs typeface="Arial" charset="0"/>
              </a:rPr>
              <a:t> </a:t>
            </a:r>
            <a:r>
              <a:rPr lang="sl-SI" dirty="0">
                <a:latin typeface="Arial" charset="0"/>
                <a:cs typeface="Arial" charset="0"/>
              </a:rPr>
              <a:t>na drugi sliki? (korespondenčna geometrija)</a:t>
            </a:r>
          </a:p>
          <a:p>
            <a:pPr marL="342900" indent="-342900" eaLnBrk="1" hangingPunct="1">
              <a:spcBef>
                <a:spcPts val="600"/>
              </a:spcBef>
              <a:buFont typeface="+mj-lt"/>
              <a:buAutoNum type="arabicPeriod"/>
              <a:defRPr/>
            </a:pPr>
            <a:r>
              <a:rPr lang="sl-SI" dirty="0">
                <a:latin typeface="Arial" charset="0"/>
                <a:cs typeface="Arial" charset="0"/>
              </a:rPr>
              <a:t>Če imamo množico korespondenčnih točk </a:t>
            </a:r>
            <a:r>
              <a:rPr lang="sl-SI" b="1" dirty="0" err="1">
                <a:latin typeface="Arial" charset="0"/>
                <a:cs typeface="Arial" charset="0"/>
              </a:rPr>
              <a:t>p</a:t>
            </a:r>
            <a:r>
              <a:rPr lang="sl-SI" sz="1200" i="1" dirty="0" err="1">
                <a:latin typeface="Arial" charset="0"/>
                <a:cs typeface="Arial" charset="0"/>
              </a:rPr>
              <a:t>c</a:t>
            </a:r>
            <a:r>
              <a:rPr lang="sl-SI" sz="1200" i="1" dirty="0">
                <a:latin typeface="Arial" charset="0"/>
                <a:cs typeface="Arial" charset="0"/>
              </a:rPr>
              <a:t>,i</a:t>
            </a:r>
            <a:r>
              <a:rPr lang="sl-SI" dirty="0">
                <a:latin typeface="Arial" charset="0"/>
                <a:cs typeface="Arial" charset="0"/>
              </a:rPr>
              <a:t> </a:t>
            </a:r>
            <a:r>
              <a:rPr lang="sl-SI" dirty="0">
                <a:latin typeface="Arial" charset="0"/>
                <a:cs typeface="Arial" charset="0"/>
                <a:sym typeface="Symbol"/>
              </a:rPr>
              <a:t> </a:t>
            </a:r>
            <a:r>
              <a:rPr lang="sl-SI" b="1" dirty="0">
                <a:latin typeface="Arial" charset="0"/>
                <a:cs typeface="Arial" charset="0"/>
                <a:sym typeface="Symbol"/>
              </a:rPr>
              <a:t>p</a:t>
            </a:r>
            <a:r>
              <a:rPr lang="sl-SI" dirty="0">
                <a:latin typeface="Arial" charset="0"/>
                <a:cs typeface="Arial" charset="0"/>
                <a:sym typeface="Symbol"/>
              </a:rPr>
              <a:t></a:t>
            </a:r>
            <a:r>
              <a:rPr lang="sl-SI" sz="1200" i="1" dirty="0">
                <a:latin typeface="Arial" charset="0"/>
                <a:cs typeface="Arial" charset="0"/>
                <a:sym typeface="Symbol"/>
              </a:rPr>
              <a:t>c,i</a:t>
            </a:r>
            <a:r>
              <a:rPr lang="sl-SI" dirty="0">
                <a:latin typeface="Arial" charset="0"/>
                <a:cs typeface="Arial" charset="0"/>
              </a:rPr>
              <a:t>; </a:t>
            </a:r>
            <a:r>
              <a:rPr lang="sl-SI" i="1" dirty="0">
                <a:latin typeface="Arial" charset="0"/>
                <a:cs typeface="Arial" charset="0"/>
              </a:rPr>
              <a:t>i</a:t>
            </a:r>
            <a:r>
              <a:rPr lang="sl-SI" dirty="0">
                <a:latin typeface="Arial" charset="0"/>
                <a:cs typeface="Arial" charset="0"/>
              </a:rPr>
              <a:t> = 1, …, </a:t>
            </a:r>
            <a:r>
              <a:rPr lang="sl-SI" i="1" dirty="0">
                <a:latin typeface="Arial" charset="0"/>
                <a:cs typeface="Arial" charset="0"/>
              </a:rPr>
              <a:t>N</a:t>
            </a:r>
            <a:r>
              <a:rPr lang="sl-SI" dirty="0">
                <a:latin typeface="Arial" charset="0"/>
                <a:cs typeface="Arial" charset="0"/>
              </a:rPr>
              <a:t>, ali lahko iz njih določimo geometrijsko transformacijo med slikama oz. pogledoma? (geometrija kamere – gibanje)</a:t>
            </a:r>
          </a:p>
          <a:p>
            <a:pPr marL="342900" indent="-342900" eaLnBrk="1" hangingPunct="1">
              <a:spcBef>
                <a:spcPts val="600"/>
              </a:spcBef>
              <a:buFont typeface="+mj-lt"/>
              <a:buAutoNum type="arabicPeriod"/>
              <a:defRPr/>
            </a:pPr>
            <a:r>
              <a:rPr lang="sl-SI" dirty="0">
                <a:latin typeface="Arial" charset="0"/>
                <a:cs typeface="Arial" charset="0"/>
              </a:rPr>
              <a:t>Če imamo korespondenčni točki </a:t>
            </a:r>
            <a:r>
              <a:rPr lang="sl-SI" b="1" dirty="0" err="1">
                <a:latin typeface="Arial" charset="0"/>
                <a:cs typeface="Arial" charset="0"/>
              </a:rPr>
              <a:t>p</a:t>
            </a:r>
            <a:r>
              <a:rPr lang="sl-SI" sz="1200" i="1" dirty="0" err="1">
                <a:latin typeface="Arial" charset="0"/>
                <a:cs typeface="Arial" charset="0"/>
              </a:rPr>
              <a:t>c</a:t>
            </a:r>
            <a:r>
              <a:rPr lang="sl-SI" dirty="0">
                <a:latin typeface="Arial" charset="0"/>
                <a:cs typeface="Arial" charset="0"/>
              </a:rPr>
              <a:t> </a:t>
            </a:r>
            <a:r>
              <a:rPr lang="sl-SI" dirty="0">
                <a:latin typeface="Arial" charset="0"/>
                <a:cs typeface="Arial" charset="0"/>
                <a:sym typeface="Symbol"/>
              </a:rPr>
              <a:t> </a:t>
            </a:r>
            <a:r>
              <a:rPr lang="sl-SI" b="1" dirty="0">
                <a:latin typeface="Arial" charset="0"/>
                <a:cs typeface="Arial" charset="0"/>
                <a:sym typeface="Symbol"/>
              </a:rPr>
              <a:t>p</a:t>
            </a:r>
            <a:r>
              <a:rPr lang="sl-SI" dirty="0">
                <a:latin typeface="Arial" charset="0"/>
                <a:cs typeface="Arial" charset="0"/>
                <a:sym typeface="Symbol"/>
              </a:rPr>
              <a:t></a:t>
            </a:r>
            <a:r>
              <a:rPr lang="sl-SI" sz="1200" i="1" dirty="0">
                <a:latin typeface="Arial" charset="0"/>
                <a:cs typeface="Arial" charset="0"/>
                <a:sym typeface="Symbol"/>
              </a:rPr>
              <a:t>c</a:t>
            </a:r>
            <a:r>
              <a:rPr lang="sl-SI" dirty="0">
                <a:latin typeface="Arial" charset="0"/>
                <a:cs typeface="Arial" charset="0"/>
              </a:rPr>
              <a:t> in podatke o kamerah, ali lahko rekonstruiramo lego točke </a:t>
            </a:r>
            <a:r>
              <a:rPr lang="sl-SI" b="1" dirty="0">
                <a:latin typeface="Arial" charset="0"/>
                <a:cs typeface="Arial" charset="0"/>
              </a:rPr>
              <a:t>p</a:t>
            </a:r>
            <a:r>
              <a:rPr lang="sl-SI" dirty="0">
                <a:latin typeface="Arial" charset="0"/>
                <a:cs typeface="Arial" charset="0"/>
              </a:rPr>
              <a:t> v prostoru? (scenska geometrija - struktura)</a:t>
            </a:r>
          </a:p>
          <a:p>
            <a:pPr eaLnBrk="1" hangingPunct="1">
              <a:spcBef>
                <a:spcPts val="600"/>
              </a:spcBef>
              <a:defRPr/>
            </a:pPr>
            <a:endParaRPr lang="sl-SI" dirty="0">
              <a:latin typeface="Arial" charset="0"/>
              <a:cs typeface="Arial" charset="0"/>
            </a:endParaRPr>
          </a:p>
        </p:txBody>
      </p:sp>
      <p:sp>
        <p:nvSpPr>
          <p:cNvPr id="9523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95237"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78C5F28-770A-42F1-ACF7-8BEBE3A2659D}" type="slidenum">
              <a:rPr lang="en-GB" altLang="sl-SI" sz="1400" smtClean="0"/>
              <a:pPr>
                <a:spcBef>
                  <a:spcPct val="0"/>
                </a:spcBef>
                <a:buFontTx/>
                <a:buNone/>
              </a:pPr>
              <a:t>49</a:t>
            </a:fld>
            <a:endParaRPr lang="en-GB" altLang="sl-SI" sz="1400"/>
          </a:p>
        </p:txBody>
      </p:sp>
    </p:spTree>
  </p:cSld>
  <p:clrMapOvr>
    <a:masterClrMapping/>
  </p:clrMapOvr>
  <p:transition>
    <p:cove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ctrTitle"/>
          </p:nvPr>
        </p:nvSpPr>
        <p:spPr>
          <a:xfrm>
            <a:off x="250825" y="188913"/>
            <a:ext cx="8424863" cy="576262"/>
          </a:xfrm>
        </p:spPr>
        <p:txBody>
          <a:bodyPr/>
          <a:lstStyle/>
          <a:p>
            <a:pPr eaLnBrk="1" hangingPunct="1"/>
            <a:r>
              <a:rPr lang="sl-SI" altLang="en-US" sz="2800" b="1"/>
              <a:t>Primer dveh konvergentnih kamer</a:t>
            </a:r>
            <a:endParaRPr lang="en-GB" altLang="en-US" sz="2000"/>
          </a:p>
        </p:txBody>
      </p:sp>
      <p:pic>
        <p:nvPicPr>
          <p:cNvPr id="97283" name="Picture 2" descr="fig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3219450"/>
            <a:ext cx="2903538"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4" name="Picture 3" descr="fig8"/>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31913" y="3219450"/>
            <a:ext cx="2905125"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fig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836613"/>
            <a:ext cx="3729037" cy="226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97287"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6A90C13-F75F-42FD-9799-09CB6B6E2DBB}" type="slidenum">
              <a:rPr lang="en-GB" altLang="sl-SI" sz="1400" smtClean="0"/>
              <a:pPr>
                <a:spcBef>
                  <a:spcPct val="0"/>
                </a:spcBef>
                <a:buFontTx/>
                <a:buNone/>
              </a:pPr>
              <a:t>50</a:t>
            </a:fld>
            <a:endParaRPr lang="en-GB" altLang="sl-SI" sz="1400"/>
          </a:p>
        </p:txBody>
      </p:sp>
    </p:spTree>
  </p:cSld>
  <p:clrMapOvr>
    <a:masterClrMapping/>
  </p:clrMapOvr>
  <p:transition>
    <p:cove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ctrTitle"/>
          </p:nvPr>
        </p:nvSpPr>
        <p:spPr>
          <a:xfrm>
            <a:off x="250825" y="188913"/>
            <a:ext cx="8424863" cy="863600"/>
          </a:xfrm>
        </p:spPr>
        <p:txBody>
          <a:bodyPr/>
          <a:lstStyle/>
          <a:p>
            <a:pPr eaLnBrk="1" hangingPunct="1"/>
            <a:r>
              <a:rPr lang="sl-SI" altLang="en-US" sz="2800" b="1"/>
              <a:t>Primer kamer, premaknjenih vzporedno s slikovno ravnino</a:t>
            </a:r>
            <a:endParaRPr lang="en-GB" altLang="en-US" sz="2000"/>
          </a:p>
        </p:txBody>
      </p:sp>
      <p:grpSp>
        <p:nvGrpSpPr>
          <p:cNvPr id="99331" name="Group 14"/>
          <p:cNvGrpSpPr>
            <a:grpSpLocks/>
          </p:cNvGrpSpPr>
          <p:nvPr/>
        </p:nvGrpSpPr>
        <p:grpSpPr bwMode="auto">
          <a:xfrm>
            <a:off x="492125" y="1254125"/>
            <a:ext cx="8183563" cy="4178300"/>
            <a:chOff x="492313" y="1254125"/>
            <a:chExt cx="8184143" cy="4178300"/>
          </a:xfrm>
        </p:grpSpPr>
        <p:pic>
          <p:nvPicPr>
            <p:cNvPr id="99334" name="Picture 3" descr="fig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3990" y="3413920"/>
              <a:ext cx="3370263" cy="201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5" name="Picture 4" descr="fig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1254125"/>
              <a:ext cx="7206157" cy="1742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6" name="Picture 5" descr="fig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640" y="3429001"/>
              <a:ext cx="3332163" cy="199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7" name="TextBox 10"/>
            <p:cNvSpPr txBox="1">
              <a:spLocks noChangeArrowheads="1"/>
            </p:cNvSpPr>
            <p:nvPr/>
          </p:nvSpPr>
          <p:spPr bwMode="auto">
            <a:xfrm>
              <a:off x="1259632" y="1556792"/>
              <a:ext cx="24878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 </a:t>
              </a:r>
              <a:endParaRPr lang="en-GB" altLang="en-US" sz="1800"/>
            </a:p>
          </p:txBody>
        </p:sp>
        <p:sp>
          <p:nvSpPr>
            <p:cNvPr id="99338" name="TextBox 11"/>
            <p:cNvSpPr txBox="1">
              <a:spLocks noChangeArrowheads="1"/>
            </p:cNvSpPr>
            <p:nvPr/>
          </p:nvSpPr>
          <p:spPr bwMode="auto">
            <a:xfrm>
              <a:off x="7923614" y="1547500"/>
              <a:ext cx="24878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 </a:t>
              </a:r>
              <a:endParaRPr lang="en-GB" altLang="en-US" sz="1800"/>
            </a:p>
          </p:txBody>
        </p:sp>
        <p:sp>
          <p:nvSpPr>
            <p:cNvPr id="99339" name="TextBox 12"/>
            <p:cNvSpPr txBox="1">
              <a:spLocks noChangeArrowheads="1"/>
            </p:cNvSpPr>
            <p:nvPr/>
          </p:nvSpPr>
          <p:spPr bwMode="auto">
            <a:xfrm>
              <a:off x="492313" y="2132856"/>
              <a:ext cx="1199367"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v neskončnosti</a:t>
              </a:r>
              <a:endParaRPr lang="en-GB" altLang="en-US" sz="1200"/>
            </a:p>
          </p:txBody>
        </p:sp>
        <p:sp>
          <p:nvSpPr>
            <p:cNvPr id="99340" name="TextBox 13"/>
            <p:cNvSpPr txBox="1">
              <a:spLocks noChangeArrowheads="1"/>
            </p:cNvSpPr>
            <p:nvPr/>
          </p:nvSpPr>
          <p:spPr bwMode="auto">
            <a:xfrm>
              <a:off x="7477089" y="2132856"/>
              <a:ext cx="1199367"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v neskončnosti</a:t>
              </a:r>
              <a:endParaRPr lang="en-GB" altLang="en-US" sz="1200"/>
            </a:p>
          </p:txBody>
        </p:sp>
      </p:grpSp>
      <p:sp>
        <p:nvSpPr>
          <p:cNvPr id="99332"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99333"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37BEC4F-65D8-4882-A146-A8586E462E40}" type="slidenum">
              <a:rPr lang="en-GB" altLang="sl-SI" sz="1400" smtClean="0"/>
              <a:pPr>
                <a:spcBef>
                  <a:spcPct val="0"/>
                </a:spcBef>
                <a:buFontTx/>
                <a:buNone/>
              </a:pPr>
              <a:t>51</a:t>
            </a:fld>
            <a:endParaRPr lang="en-GB" altLang="sl-SI" sz="1400"/>
          </a:p>
        </p:txBody>
      </p:sp>
    </p:spTree>
  </p:cSld>
  <p:clrMapOvr>
    <a:masterClrMapping/>
  </p:clrMapOvr>
  <p:transition>
    <p:cove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ctrTitle"/>
          </p:nvPr>
        </p:nvSpPr>
        <p:spPr>
          <a:xfrm>
            <a:off x="250825" y="188913"/>
            <a:ext cx="8424863" cy="576262"/>
          </a:xfrm>
        </p:spPr>
        <p:txBody>
          <a:bodyPr/>
          <a:lstStyle/>
          <a:p>
            <a:pPr eaLnBrk="1" hangingPunct="1"/>
            <a:r>
              <a:rPr lang="sl-SI" altLang="en-US" sz="2800" b="1"/>
              <a:t>Primer s premikanjem kamere naprej</a:t>
            </a:r>
            <a:endParaRPr lang="en-GB" altLang="en-US" sz="2000"/>
          </a:p>
        </p:txBody>
      </p:sp>
      <p:pic>
        <p:nvPicPr>
          <p:cNvPr id="101379" name="Picture 3" descr="fig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3711575"/>
            <a:ext cx="2682875" cy="245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0" name="Picture 4" descr="fig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6563" y="836613"/>
            <a:ext cx="2682875" cy="245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1" name="Rectangle 5"/>
          <p:cNvSpPr>
            <a:spLocks noChangeArrowheads="1"/>
          </p:cNvSpPr>
          <p:nvPr/>
        </p:nvSpPr>
        <p:spPr bwMode="auto">
          <a:xfrm>
            <a:off x="5351463" y="3541713"/>
            <a:ext cx="2049462" cy="17224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01382" name="Rectangle 6"/>
          <p:cNvSpPr>
            <a:spLocks noChangeArrowheads="1"/>
          </p:cNvSpPr>
          <p:nvPr/>
        </p:nvSpPr>
        <p:spPr bwMode="auto">
          <a:xfrm>
            <a:off x="5715000" y="2630488"/>
            <a:ext cx="1282700" cy="113506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01383" name="Freeform 7"/>
          <p:cNvSpPr>
            <a:spLocks/>
          </p:cNvSpPr>
          <p:nvPr/>
        </p:nvSpPr>
        <p:spPr bwMode="auto">
          <a:xfrm>
            <a:off x="5434013" y="2905125"/>
            <a:ext cx="914400" cy="1935163"/>
          </a:xfrm>
          <a:custGeom>
            <a:avLst/>
            <a:gdLst>
              <a:gd name="T0" fmla="*/ 2147483646 w 576"/>
              <a:gd name="T1" fmla="*/ 2147483646 h 1219"/>
              <a:gd name="T2" fmla="*/ 2147483646 w 576"/>
              <a:gd name="T3" fmla="*/ 2147483646 h 1219"/>
              <a:gd name="T4" fmla="*/ 2147483646 w 576"/>
              <a:gd name="T5" fmla="*/ 0 h 1219"/>
              <a:gd name="T6" fmla="*/ 0 w 576"/>
              <a:gd name="T7" fmla="*/ 2147483646 h 1219"/>
              <a:gd name="T8" fmla="*/ 2147483646 w 576"/>
              <a:gd name="T9" fmla="*/ 2147483646 h 1219"/>
              <a:gd name="T10" fmla="*/ 0 60000 65536"/>
              <a:gd name="T11" fmla="*/ 0 60000 65536"/>
              <a:gd name="T12" fmla="*/ 0 60000 65536"/>
              <a:gd name="T13" fmla="*/ 0 60000 65536"/>
              <a:gd name="T14" fmla="*/ 0 60000 65536"/>
              <a:gd name="T15" fmla="*/ 0 w 576"/>
              <a:gd name="T16" fmla="*/ 0 h 1219"/>
              <a:gd name="T17" fmla="*/ 576 w 576"/>
              <a:gd name="T18" fmla="*/ 1219 h 1219"/>
            </a:gdLst>
            <a:ahLst/>
            <a:cxnLst>
              <a:cxn ang="T10">
                <a:pos x="T0" y="T1"/>
              </a:cxn>
              <a:cxn ang="T11">
                <a:pos x="T2" y="T3"/>
              </a:cxn>
              <a:cxn ang="T12">
                <a:pos x="T4" y="T5"/>
              </a:cxn>
              <a:cxn ang="T13">
                <a:pos x="T6" y="T7"/>
              </a:cxn>
              <a:cxn ang="T14">
                <a:pos x="T8" y="T9"/>
              </a:cxn>
            </a:cxnLst>
            <a:rect l="T15" t="T16" r="T17" b="T18"/>
            <a:pathLst>
              <a:path w="576" h="1219">
                <a:moveTo>
                  <a:pt x="576" y="1219"/>
                </a:moveTo>
                <a:lnTo>
                  <a:pt x="571" y="108"/>
                </a:lnTo>
                <a:lnTo>
                  <a:pt x="266" y="0"/>
                </a:lnTo>
                <a:lnTo>
                  <a:pt x="0" y="1003"/>
                </a:lnTo>
                <a:lnTo>
                  <a:pt x="576" y="1219"/>
                </a:lnTo>
                <a:close/>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sl-SI"/>
          </a:p>
        </p:txBody>
      </p:sp>
      <p:sp>
        <p:nvSpPr>
          <p:cNvPr id="101384" name="Freeform 8"/>
          <p:cNvSpPr>
            <a:spLocks/>
          </p:cNvSpPr>
          <p:nvPr/>
        </p:nvSpPr>
        <p:spPr bwMode="auto">
          <a:xfrm flipH="1">
            <a:off x="6343650" y="2900363"/>
            <a:ext cx="914400" cy="1935162"/>
          </a:xfrm>
          <a:custGeom>
            <a:avLst/>
            <a:gdLst>
              <a:gd name="T0" fmla="*/ 2147483646 w 576"/>
              <a:gd name="T1" fmla="*/ 2147483646 h 1219"/>
              <a:gd name="T2" fmla="*/ 2147483646 w 576"/>
              <a:gd name="T3" fmla="*/ 2147483646 h 1219"/>
              <a:gd name="T4" fmla="*/ 2147483646 w 576"/>
              <a:gd name="T5" fmla="*/ 0 h 1219"/>
              <a:gd name="T6" fmla="*/ 0 w 576"/>
              <a:gd name="T7" fmla="*/ 2147483646 h 1219"/>
              <a:gd name="T8" fmla="*/ 2147483646 w 576"/>
              <a:gd name="T9" fmla="*/ 2147483646 h 1219"/>
              <a:gd name="T10" fmla="*/ 0 60000 65536"/>
              <a:gd name="T11" fmla="*/ 0 60000 65536"/>
              <a:gd name="T12" fmla="*/ 0 60000 65536"/>
              <a:gd name="T13" fmla="*/ 0 60000 65536"/>
              <a:gd name="T14" fmla="*/ 0 60000 65536"/>
              <a:gd name="T15" fmla="*/ 0 w 576"/>
              <a:gd name="T16" fmla="*/ 0 h 1219"/>
              <a:gd name="T17" fmla="*/ 576 w 576"/>
              <a:gd name="T18" fmla="*/ 1219 h 1219"/>
            </a:gdLst>
            <a:ahLst/>
            <a:cxnLst>
              <a:cxn ang="T10">
                <a:pos x="T0" y="T1"/>
              </a:cxn>
              <a:cxn ang="T11">
                <a:pos x="T2" y="T3"/>
              </a:cxn>
              <a:cxn ang="T12">
                <a:pos x="T4" y="T5"/>
              </a:cxn>
              <a:cxn ang="T13">
                <a:pos x="T6" y="T7"/>
              </a:cxn>
              <a:cxn ang="T14">
                <a:pos x="T8" y="T9"/>
              </a:cxn>
            </a:cxnLst>
            <a:rect l="T15" t="T16" r="T17" b="T18"/>
            <a:pathLst>
              <a:path w="576" h="1219">
                <a:moveTo>
                  <a:pt x="576" y="1219"/>
                </a:moveTo>
                <a:lnTo>
                  <a:pt x="571" y="108"/>
                </a:lnTo>
                <a:lnTo>
                  <a:pt x="266" y="0"/>
                </a:lnTo>
                <a:lnTo>
                  <a:pt x="0" y="1003"/>
                </a:lnTo>
                <a:lnTo>
                  <a:pt x="576" y="1219"/>
                </a:lnTo>
                <a:close/>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sl-SI"/>
          </a:p>
        </p:txBody>
      </p:sp>
      <p:sp>
        <p:nvSpPr>
          <p:cNvPr id="101385" name="Freeform 9"/>
          <p:cNvSpPr>
            <a:spLocks/>
          </p:cNvSpPr>
          <p:nvPr/>
        </p:nvSpPr>
        <p:spPr bwMode="auto">
          <a:xfrm>
            <a:off x="6346825" y="3090863"/>
            <a:ext cx="923925" cy="2001837"/>
          </a:xfrm>
          <a:custGeom>
            <a:avLst/>
            <a:gdLst>
              <a:gd name="T0" fmla="*/ 0 w 582"/>
              <a:gd name="T1" fmla="*/ 2147483646 h 1261"/>
              <a:gd name="T2" fmla="*/ 2147483646 w 582"/>
              <a:gd name="T3" fmla="*/ 0 h 1261"/>
              <a:gd name="T4" fmla="*/ 2147483646 w 582"/>
              <a:gd name="T5" fmla="*/ 2147483646 h 1261"/>
              <a:gd name="T6" fmla="*/ 2147483646 w 582"/>
              <a:gd name="T7" fmla="*/ 2147483646 h 1261"/>
              <a:gd name="T8" fmla="*/ 0 w 582"/>
              <a:gd name="T9" fmla="*/ 2147483646 h 1261"/>
              <a:gd name="T10" fmla="*/ 0 60000 65536"/>
              <a:gd name="T11" fmla="*/ 0 60000 65536"/>
              <a:gd name="T12" fmla="*/ 0 60000 65536"/>
              <a:gd name="T13" fmla="*/ 0 60000 65536"/>
              <a:gd name="T14" fmla="*/ 0 60000 65536"/>
              <a:gd name="T15" fmla="*/ 0 w 582"/>
              <a:gd name="T16" fmla="*/ 0 h 1261"/>
              <a:gd name="T17" fmla="*/ 582 w 582"/>
              <a:gd name="T18" fmla="*/ 1261 h 1261"/>
            </a:gdLst>
            <a:ahLst/>
            <a:cxnLst>
              <a:cxn ang="T10">
                <a:pos x="T0" y="T1"/>
              </a:cxn>
              <a:cxn ang="T11">
                <a:pos x="T2" y="T3"/>
              </a:cxn>
              <a:cxn ang="T12">
                <a:pos x="T4" y="T5"/>
              </a:cxn>
              <a:cxn ang="T13">
                <a:pos x="T6" y="T7"/>
              </a:cxn>
              <a:cxn ang="T14">
                <a:pos x="T8" y="T9"/>
              </a:cxn>
            </a:cxnLst>
            <a:rect l="T15" t="T16" r="T17" b="T18"/>
            <a:pathLst>
              <a:path w="582" h="1261">
                <a:moveTo>
                  <a:pt x="0" y="1111"/>
                </a:moveTo>
                <a:lnTo>
                  <a:pt x="5" y="0"/>
                </a:lnTo>
                <a:lnTo>
                  <a:pt x="269" y="68"/>
                </a:lnTo>
                <a:lnTo>
                  <a:pt x="582" y="1261"/>
                </a:lnTo>
                <a:lnTo>
                  <a:pt x="0" y="1111"/>
                </a:lnTo>
                <a:close/>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sl-SI"/>
          </a:p>
        </p:txBody>
      </p:sp>
      <p:sp>
        <p:nvSpPr>
          <p:cNvPr id="101386" name="Freeform 10"/>
          <p:cNvSpPr>
            <a:spLocks/>
          </p:cNvSpPr>
          <p:nvPr/>
        </p:nvSpPr>
        <p:spPr bwMode="auto">
          <a:xfrm flipH="1">
            <a:off x="5418138" y="3084513"/>
            <a:ext cx="923925" cy="2001837"/>
          </a:xfrm>
          <a:custGeom>
            <a:avLst/>
            <a:gdLst>
              <a:gd name="T0" fmla="*/ 0 w 582"/>
              <a:gd name="T1" fmla="*/ 2147483646 h 1261"/>
              <a:gd name="T2" fmla="*/ 2147483646 w 582"/>
              <a:gd name="T3" fmla="*/ 0 h 1261"/>
              <a:gd name="T4" fmla="*/ 2147483646 w 582"/>
              <a:gd name="T5" fmla="*/ 2147483646 h 1261"/>
              <a:gd name="T6" fmla="*/ 2147483646 w 582"/>
              <a:gd name="T7" fmla="*/ 2147483646 h 1261"/>
              <a:gd name="T8" fmla="*/ 0 w 582"/>
              <a:gd name="T9" fmla="*/ 2147483646 h 1261"/>
              <a:gd name="T10" fmla="*/ 0 60000 65536"/>
              <a:gd name="T11" fmla="*/ 0 60000 65536"/>
              <a:gd name="T12" fmla="*/ 0 60000 65536"/>
              <a:gd name="T13" fmla="*/ 0 60000 65536"/>
              <a:gd name="T14" fmla="*/ 0 60000 65536"/>
              <a:gd name="T15" fmla="*/ 0 w 582"/>
              <a:gd name="T16" fmla="*/ 0 h 1261"/>
              <a:gd name="T17" fmla="*/ 582 w 582"/>
              <a:gd name="T18" fmla="*/ 1261 h 1261"/>
            </a:gdLst>
            <a:ahLst/>
            <a:cxnLst>
              <a:cxn ang="T10">
                <a:pos x="T0" y="T1"/>
              </a:cxn>
              <a:cxn ang="T11">
                <a:pos x="T2" y="T3"/>
              </a:cxn>
              <a:cxn ang="T12">
                <a:pos x="T4" y="T5"/>
              </a:cxn>
              <a:cxn ang="T13">
                <a:pos x="T6" y="T7"/>
              </a:cxn>
              <a:cxn ang="T14">
                <a:pos x="T8" y="T9"/>
              </a:cxn>
            </a:cxnLst>
            <a:rect l="T15" t="T16" r="T17" b="T18"/>
            <a:pathLst>
              <a:path w="582" h="1261">
                <a:moveTo>
                  <a:pt x="0" y="1111"/>
                </a:moveTo>
                <a:lnTo>
                  <a:pt x="5" y="0"/>
                </a:lnTo>
                <a:lnTo>
                  <a:pt x="269" y="68"/>
                </a:lnTo>
                <a:lnTo>
                  <a:pt x="582" y="1261"/>
                </a:lnTo>
                <a:lnTo>
                  <a:pt x="0" y="1111"/>
                </a:lnTo>
                <a:close/>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sl-SI"/>
          </a:p>
        </p:txBody>
      </p:sp>
      <p:sp>
        <p:nvSpPr>
          <p:cNvPr id="101387" name="Line 11"/>
          <p:cNvSpPr>
            <a:spLocks noChangeShapeType="1"/>
          </p:cNvSpPr>
          <p:nvPr/>
        </p:nvSpPr>
        <p:spPr bwMode="auto">
          <a:xfrm>
            <a:off x="5548313" y="4089400"/>
            <a:ext cx="792162" cy="301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01388" name="Line 12"/>
          <p:cNvSpPr>
            <a:spLocks noChangeShapeType="1"/>
          </p:cNvSpPr>
          <p:nvPr/>
        </p:nvSpPr>
        <p:spPr bwMode="auto">
          <a:xfrm flipV="1">
            <a:off x="6359525" y="4108450"/>
            <a:ext cx="800100" cy="2778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01389" name="Line 13"/>
          <p:cNvSpPr>
            <a:spLocks noChangeShapeType="1"/>
          </p:cNvSpPr>
          <p:nvPr/>
        </p:nvSpPr>
        <p:spPr bwMode="auto">
          <a:xfrm>
            <a:off x="6354763" y="4397375"/>
            <a:ext cx="784225" cy="187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01390" name="Line 14"/>
          <p:cNvSpPr>
            <a:spLocks noChangeShapeType="1"/>
          </p:cNvSpPr>
          <p:nvPr/>
        </p:nvSpPr>
        <p:spPr bwMode="auto">
          <a:xfrm flipH="1">
            <a:off x="5549900" y="4383088"/>
            <a:ext cx="808038" cy="212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01391" name="Oval 15"/>
          <p:cNvSpPr>
            <a:spLocks noChangeArrowheads="1"/>
          </p:cNvSpPr>
          <p:nvPr/>
        </p:nvSpPr>
        <p:spPr bwMode="auto">
          <a:xfrm>
            <a:off x="6316663" y="4816475"/>
            <a:ext cx="65087" cy="55563"/>
          </a:xfrm>
          <a:prstGeom prst="ellipse">
            <a:avLst/>
          </a:prstGeom>
          <a:solidFill>
            <a:schemeClr val="tx1"/>
          </a:solidFill>
          <a:ln w="9525" algn="ctr">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01392" name="Oval 16"/>
          <p:cNvSpPr>
            <a:spLocks noChangeArrowheads="1"/>
          </p:cNvSpPr>
          <p:nvPr/>
        </p:nvSpPr>
        <p:spPr bwMode="auto">
          <a:xfrm>
            <a:off x="6311900" y="3284538"/>
            <a:ext cx="65088" cy="55562"/>
          </a:xfrm>
          <a:prstGeom prst="ellipse">
            <a:avLst/>
          </a:prstGeom>
          <a:solidFill>
            <a:schemeClr val="tx1"/>
          </a:solidFill>
          <a:ln w="9525" algn="ctr">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01393" name="Oval 17"/>
          <p:cNvSpPr>
            <a:spLocks noChangeArrowheads="1"/>
          </p:cNvSpPr>
          <p:nvPr/>
        </p:nvSpPr>
        <p:spPr bwMode="auto">
          <a:xfrm>
            <a:off x="6319838" y="4354513"/>
            <a:ext cx="65087" cy="55562"/>
          </a:xfrm>
          <a:prstGeom prst="ellipse">
            <a:avLst/>
          </a:prstGeom>
          <a:solidFill>
            <a:schemeClr val="tx1"/>
          </a:solidFill>
          <a:ln w="9525" algn="ctr">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01394" name="Oval 18"/>
          <p:cNvSpPr>
            <a:spLocks noChangeArrowheads="1"/>
          </p:cNvSpPr>
          <p:nvPr/>
        </p:nvSpPr>
        <p:spPr bwMode="auto">
          <a:xfrm>
            <a:off x="6315075" y="3051175"/>
            <a:ext cx="65088" cy="55563"/>
          </a:xfrm>
          <a:prstGeom prst="ellipse">
            <a:avLst/>
          </a:prstGeom>
          <a:solidFill>
            <a:schemeClr val="tx1"/>
          </a:solidFill>
          <a:ln w="9525" algn="ctr">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01395" name="Text Box 19"/>
          <p:cNvSpPr txBox="1">
            <a:spLocks noChangeArrowheads="1"/>
          </p:cNvSpPr>
          <p:nvPr/>
        </p:nvSpPr>
        <p:spPr bwMode="auto">
          <a:xfrm>
            <a:off x="6267450" y="47752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000"/>
              <a:t>e</a:t>
            </a:r>
          </a:p>
        </p:txBody>
      </p:sp>
      <p:sp>
        <p:nvSpPr>
          <p:cNvPr id="101396" name="Text Box 20"/>
          <p:cNvSpPr txBox="1">
            <a:spLocks noChangeArrowheads="1"/>
          </p:cNvSpPr>
          <p:nvPr/>
        </p:nvSpPr>
        <p:spPr bwMode="auto">
          <a:xfrm>
            <a:off x="6194425" y="2713038"/>
            <a:ext cx="382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000"/>
              <a:t>e’</a:t>
            </a:r>
          </a:p>
        </p:txBody>
      </p:sp>
      <p:sp>
        <p:nvSpPr>
          <p:cNvPr id="10139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01398"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C8BD624-2D83-49BA-9183-4D06743AA342}" type="slidenum">
              <a:rPr lang="en-GB" altLang="sl-SI" sz="1400" smtClean="0"/>
              <a:pPr>
                <a:spcBef>
                  <a:spcPct val="0"/>
                </a:spcBef>
                <a:buFontTx/>
                <a:buNone/>
              </a:pPr>
              <a:t>52</a:t>
            </a:fld>
            <a:endParaRPr lang="en-GB" altLang="sl-SI" sz="1400"/>
          </a:p>
        </p:txBody>
      </p:sp>
    </p:spTree>
  </p:cSld>
  <p:clrMapOvr>
    <a:masterClrMapping/>
  </p:clrMapOvr>
  <p:transition>
    <p:cove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Slika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4864100"/>
            <a:ext cx="30114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Slika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68413" y="3525838"/>
            <a:ext cx="532765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Rectangle 2"/>
          <p:cNvSpPr>
            <a:spLocks noGrp="1" noChangeArrowheads="1"/>
          </p:cNvSpPr>
          <p:nvPr>
            <p:ph type="ctrTitle"/>
          </p:nvPr>
        </p:nvSpPr>
        <p:spPr>
          <a:xfrm>
            <a:off x="250825" y="188913"/>
            <a:ext cx="8424863" cy="576262"/>
          </a:xfrm>
        </p:spPr>
        <p:txBody>
          <a:bodyPr/>
          <a:lstStyle/>
          <a:p>
            <a:pPr eaLnBrk="1" hangingPunct="1"/>
            <a:r>
              <a:rPr lang="sl-SI" altLang="en-US" sz="2800" b="1"/>
              <a:t>EPIPOLARNA OMEJITEV </a:t>
            </a:r>
            <a:endParaRPr lang="en-GB" altLang="en-US" sz="2000"/>
          </a:p>
        </p:txBody>
      </p:sp>
      <p:sp>
        <p:nvSpPr>
          <p:cNvPr id="8" name="TextBox 7"/>
          <p:cNvSpPr txBox="1">
            <a:spLocks noChangeArrowheads="1"/>
          </p:cNvSpPr>
          <p:nvPr/>
        </p:nvSpPr>
        <p:spPr bwMode="auto">
          <a:xfrm>
            <a:off x="827088" y="908050"/>
            <a:ext cx="7561262"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t>Imejmo prostorsko točko </a:t>
            </a:r>
            <a:r>
              <a:rPr lang="sl-SI" altLang="en-US" sz="1800" b="1"/>
              <a:t>p </a:t>
            </a:r>
            <a:r>
              <a:rPr lang="sl-SI" altLang="en-US" sz="1800"/>
              <a:t>in njeni sliki </a:t>
            </a:r>
            <a:r>
              <a:rPr lang="sl-SI" altLang="en-US" sz="1800" b="1"/>
              <a:t>p</a:t>
            </a:r>
            <a:r>
              <a:rPr lang="sl-SI" altLang="en-US" sz="1200"/>
              <a:t>c</a:t>
            </a:r>
            <a:r>
              <a:rPr lang="sl-SI" altLang="en-US" sz="1800"/>
              <a:t> in </a:t>
            </a:r>
            <a:r>
              <a:rPr lang="sl-SI" altLang="en-US" sz="1800" b="1"/>
              <a:t>p</a:t>
            </a:r>
            <a:r>
              <a:rPr lang="sl-SI" altLang="en-US" sz="1800"/>
              <a:t>’</a:t>
            </a:r>
            <a:r>
              <a:rPr lang="sl-SI" altLang="en-US" sz="1200"/>
              <a:t>c</a:t>
            </a:r>
            <a:r>
              <a:rPr lang="sl-SI" altLang="en-US" sz="1800"/>
              <a:t>.</a:t>
            </a:r>
          </a:p>
          <a:p>
            <a:pPr eaLnBrk="1" hangingPunct="1">
              <a:spcBef>
                <a:spcPts val="600"/>
              </a:spcBef>
              <a:buFontTx/>
              <a:buAutoNum type="arabicPeriod"/>
            </a:pPr>
            <a:r>
              <a:rPr lang="sl-SI" altLang="en-US" sz="1800"/>
              <a:t>Osnovnica in ena od slik točke definirata epipolarno ravnino, na kateri zanesljivo leži tudi druga slika točke:</a:t>
            </a:r>
          </a:p>
          <a:p>
            <a:pPr eaLnBrk="1" hangingPunct="1">
              <a:spcBef>
                <a:spcPts val="600"/>
              </a:spcBef>
              <a:buFontTx/>
              <a:buAutoNum type="arabicPeriod"/>
            </a:pPr>
            <a:endParaRPr lang="sl-SI" altLang="en-US" sz="1800"/>
          </a:p>
          <a:p>
            <a:pPr eaLnBrk="1" hangingPunct="1">
              <a:spcBef>
                <a:spcPts val="1200"/>
              </a:spcBef>
              <a:buFontTx/>
              <a:buAutoNum type="arabicPeriod"/>
            </a:pPr>
            <a:r>
              <a:rPr lang="sl-SI" altLang="en-US" sz="1800"/>
              <a:t>Ta pogoj lahko zapišemo v koordinatnem sistemu prve kamere:</a:t>
            </a:r>
          </a:p>
          <a:p>
            <a:pPr eaLnBrk="1" hangingPunct="1">
              <a:spcBef>
                <a:spcPts val="1200"/>
              </a:spcBef>
              <a:buFontTx/>
              <a:buAutoNum type="arabicPeriod"/>
            </a:pPr>
            <a:endParaRPr lang="sl-SI" altLang="en-US" sz="1800"/>
          </a:p>
          <a:p>
            <a:pPr eaLnBrk="1" hangingPunct="1">
              <a:spcBef>
                <a:spcPts val="1200"/>
              </a:spcBef>
              <a:buFontTx/>
              <a:buAutoNum type="arabicPeriod"/>
            </a:pPr>
            <a:r>
              <a:rPr lang="sl-SI" altLang="en-US" sz="1800"/>
              <a:t>Vektorski produkt se zapiše kot:</a:t>
            </a:r>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2400"/>
              </a:spcBef>
              <a:buFontTx/>
              <a:buNone/>
            </a:pPr>
            <a:r>
              <a:rPr lang="sl-SI" altLang="en-US" sz="1800"/>
              <a:t>zato:</a:t>
            </a:r>
          </a:p>
          <a:p>
            <a:pPr eaLnBrk="1" hangingPunct="1">
              <a:spcBef>
                <a:spcPts val="300"/>
              </a:spcBef>
              <a:buFontTx/>
              <a:buNone/>
            </a:pPr>
            <a:r>
              <a:rPr lang="sl-SI" altLang="en-US" sz="1800"/>
              <a:t>                                                     (Longuet-Higginsova relacija)</a:t>
            </a:r>
          </a:p>
          <a:p>
            <a:pPr eaLnBrk="1" hangingPunct="1">
              <a:spcBef>
                <a:spcPts val="1200"/>
              </a:spcBef>
              <a:buFontTx/>
              <a:buAutoNum type="arabicPeriod" startAt="5"/>
            </a:pPr>
            <a:r>
              <a:rPr lang="sl-SI" altLang="en-US" sz="1800"/>
              <a:t>Matriko </a:t>
            </a:r>
            <a:r>
              <a:rPr lang="sl-SI" altLang="en-US" sz="1800" b="1"/>
              <a:t>E</a:t>
            </a:r>
            <a:r>
              <a:rPr lang="sl-SI" altLang="en-US" sz="1800"/>
              <a:t> imenujemo osnovna (</a:t>
            </a:r>
            <a:r>
              <a:rPr lang="sl-SI" altLang="en-US" sz="1800" i="1"/>
              <a:t>essential matrix</a:t>
            </a:r>
            <a:r>
              <a:rPr lang="sl-SI" altLang="en-US" sz="1800"/>
              <a:t>) in velja v primeru, ko so kamere kalibrirane.</a:t>
            </a:r>
          </a:p>
        </p:txBody>
      </p:sp>
      <p:pic>
        <p:nvPicPr>
          <p:cNvPr id="103430" name="Slika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1916113"/>
            <a:ext cx="4005262"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1" name="Slika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2643188"/>
            <a:ext cx="2085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8"/>
          <p:cNvGrpSpPr>
            <a:grpSpLocks/>
          </p:cNvGrpSpPr>
          <p:nvPr/>
        </p:nvGrpSpPr>
        <p:grpSpPr bwMode="auto">
          <a:xfrm>
            <a:off x="1885950" y="3284538"/>
            <a:ext cx="4684713" cy="2854325"/>
            <a:chOff x="2250884" y="1295686"/>
            <a:chExt cx="4685512" cy="2853394"/>
          </a:xfrm>
        </p:grpSpPr>
        <p:grpSp>
          <p:nvGrpSpPr>
            <p:cNvPr id="103435" name="Group 22"/>
            <p:cNvGrpSpPr>
              <a:grpSpLocks/>
            </p:cNvGrpSpPr>
            <p:nvPr/>
          </p:nvGrpSpPr>
          <p:grpSpPr bwMode="auto">
            <a:xfrm>
              <a:off x="2250884" y="1295686"/>
              <a:ext cx="4685512" cy="2853394"/>
              <a:chOff x="2250884" y="1340768"/>
              <a:chExt cx="4685512" cy="2853394"/>
            </a:xfrm>
          </p:grpSpPr>
          <p:grpSp>
            <p:nvGrpSpPr>
              <p:cNvPr id="103440" name="Group 21"/>
              <p:cNvGrpSpPr>
                <a:grpSpLocks/>
              </p:cNvGrpSpPr>
              <p:nvPr/>
            </p:nvGrpSpPr>
            <p:grpSpPr bwMode="auto">
              <a:xfrm>
                <a:off x="2411760" y="1340768"/>
                <a:ext cx="4392488" cy="2853394"/>
                <a:chOff x="2411760" y="1295686"/>
                <a:chExt cx="4392488" cy="2853394"/>
              </a:xfrm>
            </p:grpSpPr>
            <p:grpSp>
              <p:nvGrpSpPr>
                <p:cNvPr id="103443" name="Group 8"/>
                <p:cNvGrpSpPr>
                  <a:grpSpLocks/>
                </p:cNvGrpSpPr>
                <p:nvPr/>
              </p:nvGrpSpPr>
              <p:grpSpPr bwMode="auto">
                <a:xfrm>
                  <a:off x="2411760" y="1295686"/>
                  <a:ext cx="4392488" cy="2853394"/>
                  <a:chOff x="2411760" y="1340768"/>
                  <a:chExt cx="4392488" cy="2853394"/>
                </a:xfrm>
              </p:grpSpPr>
              <p:pic>
                <p:nvPicPr>
                  <p:cNvPr id="103448" name="Picture 2"/>
                  <p:cNvPicPr>
                    <a:picLocks noChangeAspect="1" noChangeArrowheads="1"/>
                  </p:cNvPicPr>
                  <p:nvPr/>
                </p:nvPicPr>
                <p:blipFill>
                  <a:blip r:embed="rId7">
                    <a:extLst>
                      <a:ext uri="{28A0092B-C50C-407E-A947-70E740481C1C}">
                        <a14:useLocalDpi xmlns:a14="http://schemas.microsoft.com/office/drawing/2010/main" val="0"/>
                      </a:ext>
                    </a:extLst>
                  </a:blip>
                  <a:srcRect l="4803" t="9169" r="7211"/>
                  <a:stretch>
                    <a:fillRect/>
                  </a:stretch>
                </p:blipFill>
                <p:spPr bwMode="auto">
                  <a:xfrm>
                    <a:off x="2411760" y="1340768"/>
                    <a:ext cx="4392488" cy="2853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49" name="TextBox 6"/>
                  <p:cNvSpPr txBox="1">
                    <a:spLocks noChangeArrowheads="1"/>
                  </p:cNvSpPr>
                  <p:nvPr/>
                </p:nvSpPr>
                <p:spPr bwMode="auto">
                  <a:xfrm>
                    <a:off x="3966965" y="3501008"/>
                    <a:ext cx="821059"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a:t>osnovnica</a:t>
                    </a:r>
                    <a:endParaRPr lang="en-GB" altLang="en-US" sz="1100"/>
                  </a:p>
                </p:txBody>
              </p:sp>
            </p:grpSp>
            <p:sp>
              <p:nvSpPr>
                <p:cNvPr id="103444" name="TextBox 14"/>
                <p:cNvSpPr txBox="1">
                  <a:spLocks noChangeArrowheads="1"/>
                </p:cNvSpPr>
                <p:nvPr/>
              </p:nvSpPr>
              <p:spPr bwMode="auto">
                <a:xfrm>
                  <a:off x="4920950" y="1392898"/>
                  <a:ext cx="279244"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p</a:t>
                  </a:r>
                  <a:endParaRPr lang="en-GB" altLang="en-US" sz="1200" b="1"/>
                </a:p>
              </p:txBody>
            </p:sp>
            <p:cxnSp>
              <p:nvCxnSpPr>
                <p:cNvPr id="21" name="Straight Connector 16"/>
                <p:cNvCxnSpPr/>
                <p:nvPr/>
              </p:nvCxnSpPr>
              <p:spPr>
                <a:xfrm flipV="1">
                  <a:off x="2516042" y="1709888"/>
                  <a:ext cx="2505502" cy="157587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18"/>
                <p:cNvCxnSpPr/>
                <p:nvPr/>
              </p:nvCxnSpPr>
              <p:spPr>
                <a:xfrm flipH="1" flipV="1">
                  <a:off x="5040597" y="1728932"/>
                  <a:ext cx="1600473" cy="157587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Oval 20"/>
                <p:cNvSpPr/>
                <p:nvPr/>
              </p:nvSpPr>
              <p:spPr>
                <a:xfrm>
                  <a:off x="4983438" y="1647996"/>
                  <a:ext cx="144487" cy="14441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sp>
            <p:nvSpPr>
              <p:cNvPr id="103441" name="TextBox 10"/>
              <p:cNvSpPr txBox="1">
                <a:spLocks noChangeArrowheads="1"/>
              </p:cNvSpPr>
              <p:nvPr/>
            </p:nvSpPr>
            <p:spPr bwMode="auto">
              <a:xfrm>
                <a:off x="2250884" y="3429000"/>
                <a:ext cx="30489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O</a:t>
                </a:r>
                <a:endParaRPr lang="en-GB" altLang="en-US" sz="1200" b="1"/>
              </a:p>
            </p:txBody>
          </p:sp>
          <p:sp>
            <p:nvSpPr>
              <p:cNvPr id="103442" name="TextBox 11"/>
              <p:cNvSpPr txBox="1">
                <a:spLocks noChangeArrowheads="1"/>
              </p:cNvSpPr>
              <p:nvPr/>
            </p:nvSpPr>
            <p:spPr bwMode="auto">
              <a:xfrm>
                <a:off x="6588224" y="3429000"/>
                <a:ext cx="34817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O’</a:t>
                </a:r>
                <a:endParaRPr lang="en-GB" altLang="en-US" sz="1200" b="1"/>
              </a:p>
            </p:txBody>
          </p:sp>
        </p:grpSp>
        <p:sp>
          <p:nvSpPr>
            <p:cNvPr id="12" name="Oval 23"/>
            <p:cNvSpPr/>
            <p:nvPr/>
          </p:nvSpPr>
          <p:spPr>
            <a:xfrm>
              <a:off x="3149562" y="2795384"/>
              <a:ext cx="142899" cy="14282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 name="Oval 24"/>
            <p:cNvSpPr/>
            <p:nvPr/>
          </p:nvSpPr>
          <p:spPr>
            <a:xfrm>
              <a:off x="6083763" y="2760470"/>
              <a:ext cx="144488" cy="1444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3438" name="TextBox 26"/>
            <p:cNvSpPr txBox="1">
              <a:spLocks noChangeArrowheads="1"/>
            </p:cNvSpPr>
            <p:nvPr/>
          </p:nvSpPr>
          <p:spPr bwMode="auto">
            <a:xfrm>
              <a:off x="6236189" y="2709688"/>
              <a:ext cx="381901" cy="2769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p’</a:t>
              </a:r>
              <a:r>
                <a:rPr lang="sl-SI" altLang="en-US" sz="1400" i="1" baseline="-25000"/>
                <a:t>c</a:t>
              </a:r>
              <a:endParaRPr lang="en-GB" altLang="en-US" sz="1200" i="1" baseline="-25000"/>
            </a:p>
          </p:txBody>
        </p:sp>
        <p:sp>
          <p:nvSpPr>
            <p:cNvPr id="103439" name="TextBox 27"/>
            <p:cNvSpPr txBox="1">
              <a:spLocks noChangeArrowheads="1"/>
            </p:cNvSpPr>
            <p:nvPr/>
          </p:nvSpPr>
          <p:spPr bwMode="auto">
            <a:xfrm>
              <a:off x="2785963" y="2752536"/>
              <a:ext cx="338612" cy="2769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p</a:t>
              </a:r>
              <a:r>
                <a:rPr lang="sl-SI" altLang="en-US" sz="1400" i="1" baseline="-25000"/>
                <a:t>c</a:t>
              </a:r>
              <a:endParaRPr lang="en-GB" altLang="en-US" sz="1200" i="1" baseline="-25000"/>
            </a:p>
          </p:txBody>
        </p:sp>
      </p:grpSp>
      <p:sp>
        <p:nvSpPr>
          <p:cNvPr id="103433"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03434" name="Ograda številke diapozitiva 6"/>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8DC1536-E01E-4D7F-B398-95B3F1DE9708}" type="slidenum">
              <a:rPr lang="en-GB" altLang="sl-SI" sz="1400" smtClean="0"/>
              <a:pPr>
                <a:spcBef>
                  <a:spcPct val="0"/>
                </a:spcBef>
                <a:buFontTx/>
                <a:buNone/>
              </a:pPr>
              <a:t>53</a:t>
            </a:fld>
            <a:endParaRPr lang="en-GB" altLang="sl-SI" sz="1400"/>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xit" presetSubtype="32" fill="hold" nodeType="click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par>
                                <p:cTn id="10" presetID="2" presetClass="entr" presetSubtype="4" fill="hold" nodeType="with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 calcmode="lin" valueType="num">
                                      <p:cBhvr additive="base">
                                        <p:cTn id="12"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500"/>
                            </p:stCondLst>
                            <p:childTnLst>
                              <p:par>
                                <p:cTn id="15" presetID="53" presetClass="entr" presetSubtype="16"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2" presetClass="entr" presetSubtype="4" fill="hold" nodeType="withEffect">
                                  <p:stCondLst>
                                    <p:cond delay="0"/>
                                  </p:stCondLst>
                                  <p:childTnLst>
                                    <p:set>
                                      <p:cBhvr>
                                        <p:cTn id="21" dur="1" fill="hold">
                                          <p:stCondLst>
                                            <p:cond delay="0"/>
                                          </p:stCondLst>
                                        </p:cTn>
                                        <p:tgtEl>
                                          <p:spTgt spid="8">
                                            <p:txEl>
                                              <p:pRg st="8" end="8"/>
                                            </p:txEl>
                                          </p:spTgt>
                                        </p:tgtEl>
                                        <p:attrNameLst>
                                          <p:attrName>style.visibility</p:attrName>
                                        </p:attrNameLst>
                                      </p:cBhvr>
                                      <p:to>
                                        <p:strVal val="visible"/>
                                      </p:to>
                                    </p:set>
                                    <p:anim calcmode="lin" valueType="num">
                                      <p:cBhvr additive="base">
                                        <p:cTn id="22"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1000"/>
                            </p:stCondLst>
                            <p:childTnLst>
                              <p:par>
                                <p:cTn id="25" presetID="53" presetClass="entr" presetSubtype="16" fill="hold" nodeType="afterEffect">
                                  <p:stCondLst>
                                    <p:cond delay="50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2" presetClass="entr" presetSubtype="4" fill="hold" nodeType="withEffect">
                                  <p:stCondLst>
                                    <p:cond delay="500"/>
                                  </p:stCondLst>
                                  <p:childTnLst>
                                    <p:set>
                                      <p:cBhvr>
                                        <p:cTn id="31" dur="1" fill="hold">
                                          <p:stCondLst>
                                            <p:cond delay="0"/>
                                          </p:stCondLst>
                                        </p:cTn>
                                        <p:tgtEl>
                                          <p:spTgt spid="8">
                                            <p:txEl>
                                              <p:pRg st="9" end="9"/>
                                            </p:txEl>
                                          </p:spTgt>
                                        </p:tgtEl>
                                        <p:attrNameLst>
                                          <p:attrName>style.visibility</p:attrName>
                                        </p:attrNameLst>
                                      </p:cBhvr>
                                      <p:to>
                                        <p:strVal val="visible"/>
                                      </p:to>
                                    </p:set>
                                    <p:anim calcmode="lin" valueType="num">
                                      <p:cBhvr additive="base">
                                        <p:cTn id="32"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8">
                                            <p:txEl>
                                              <p:pRg st="9" end="9"/>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500"/>
                                  </p:stCondLst>
                                  <p:childTnLst>
                                    <p:set>
                                      <p:cBhvr>
                                        <p:cTn id="35" dur="1" fill="hold">
                                          <p:stCondLst>
                                            <p:cond delay="0"/>
                                          </p:stCondLst>
                                        </p:cTn>
                                        <p:tgtEl>
                                          <p:spTgt spid="8">
                                            <p:txEl>
                                              <p:pRg st="10" end="10"/>
                                            </p:txEl>
                                          </p:spTgt>
                                        </p:tgtEl>
                                        <p:attrNameLst>
                                          <p:attrName>style.visibility</p:attrName>
                                        </p:attrNameLst>
                                      </p:cBhvr>
                                      <p:to>
                                        <p:strVal val="visible"/>
                                      </p:to>
                                    </p:set>
                                    <p:anim calcmode="lin" valueType="num">
                                      <p:cBhvr additive="base">
                                        <p:cTn id="36"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ctrTitle"/>
          </p:nvPr>
        </p:nvSpPr>
        <p:spPr>
          <a:xfrm>
            <a:off x="250825" y="188913"/>
            <a:ext cx="8424863" cy="576262"/>
          </a:xfrm>
        </p:spPr>
        <p:txBody>
          <a:bodyPr/>
          <a:lstStyle/>
          <a:p>
            <a:pPr eaLnBrk="1" hangingPunct="1"/>
            <a:r>
              <a:rPr lang="sl-SI" altLang="en-US" sz="2800" b="1"/>
              <a:t>OSNOVNA MATRIKA </a:t>
            </a:r>
            <a:endParaRPr lang="en-GB" altLang="en-US" sz="2000"/>
          </a:p>
        </p:txBody>
      </p:sp>
      <p:sp>
        <p:nvSpPr>
          <p:cNvPr id="8" name="TextBox 7"/>
          <p:cNvSpPr txBox="1">
            <a:spLocks noChangeArrowheads="1"/>
          </p:cNvSpPr>
          <p:nvPr/>
        </p:nvSpPr>
        <p:spPr bwMode="auto">
          <a:xfrm>
            <a:off x="827088" y="908050"/>
            <a:ext cx="7561262"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Osnovna matrika </a:t>
            </a:r>
            <a:r>
              <a:rPr lang="sl-SI" altLang="en-US" sz="1800" b="1"/>
              <a:t>E</a:t>
            </a:r>
            <a:r>
              <a:rPr lang="sl-SI" altLang="en-US" sz="1800"/>
              <a:t> ima 9 koeficientov, vendar ima le 5 prostostnih stopenj: 3 za zasuk in 2 za premik, ker ima samo dve enaki singularni vrednosti.</a:t>
            </a:r>
          </a:p>
          <a:p>
            <a:pPr eaLnBrk="1" hangingPunct="1">
              <a:spcBef>
                <a:spcPts val="600"/>
              </a:spcBef>
              <a:buFontTx/>
              <a:buAutoNum type="arabicPeriod"/>
            </a:pPr>
            <a:r>
              <a:rPr lang="sl-SI" altLang="en-US" sz="1800"/>
              <a:t>Matrika </a:t>
            </a:r>
            <a:r>
              <a:rPr lang="sl-SI" altLang="en-US" sz="1800" b="1"/>
              <a:t>E</a:t>
            </a:r>
            <a:r>
              <a:rPr lang="sl-SI" altLang="en-US" sz="1800"/>
              <a:t> ne določa povečave in je od nje neodvisna.</a:t>
            </a:r>
          </a:p>
          <a:p>
            <a:pPr eaLnBrk="1" hangingPunct="1">
              <a:spcBef>
                <a:spcPts val="600"/>
              </a:spcBef>
              <a:buFontTx/>
              <a:buAutoNum type="arabicPeriod"/>
            </a:pPr>
            <a:r>
              <a:rPr lang="sl-SI" altLang="en-US" sz="1800"/>
              <a:t>Rang matrike </a:t>
            </a:r>
            <a:r>
              <a:rPr lang="sl-SI" altLang="en-US" sz="1800" b="1"/>
              <a:t>E</a:t>
            </a:r>
            <a:r>
              <a:rPr lang="sl-SI" altLang="en-US" sz="1800"/>
              <a:t> je 2.</a:t>
            </a:r>
          </a:p>
          <a:p>
            <a:pPr eaLnBrk="1" hangingPunct="1">
              <a:spcBef>
                <a:spcPts val="600"/>
              </a:spcBef>
              <a:buFontTx/>
              <a:buAutoNum type="arabicPeriod"/>
            </a:pPr>
            <a:r>
              <a:rPr lang="sl-SI" altLang="en-US" sz="1800"/>
              <a:t>Produkt </a:t>
            </a:r>
            <a:r>
              <a:rPr lang="sl-SI" altLang="en-US" sz="1800" b="1"/>
              <a:t>Ep</a:t>
            </a:r>
            <a:r>
              <a:rPr lang="sl-SI" altLang="en-US" sz="1800">
                <a:sym typeface="Symbol" panose="05050102010706020507" pitchFamily="18" charset="2"/>
              </a:rPr>
              <a:t></a:t>
            </a:r>
            <a:r>
              <a:rPr lang="sl-SI" altLang="en-US" sz="1400" i="1" baseline="-25000">
                <a:sym typeface="Symbol" panose="05050102010706020507" pitchFamily="18" charset="2"/>
              </a:rPr>
              <a:t>c</a:t>
            </a:r>
            <a:r>
              <a:rPr lang="sl-SI" altLang="en-US" sz="1200" i="1"/>
              <a:t> </a:t>
            </a:r>
            <a:r>
              <a:rPr lang="sl-SI" altLang="en-US" sz="1800"/>
              <a:t>določa epipolarno premico, ki gre skozi </a:t>
            </a:r>
            <a:r>
              <a:rPr lang="sl-SI" altLang="en-US" sz="1800" b="1"/>
              <a:t>p</a:t>
            </a:r>
            <a:r>
              <a:rPr lang="sl-SI" altLang="en-US" sz="1800" i="1" baseline="-25000"/>
              <a:t>c</a:t>
            </a:r>
            <a:r>
              <a:rPr lang="sl-SI" altLang="en-US" sz="1800"/>
              <a:t> in epipol </a:t>
            </a:r>
            <a:r>
              <a:rPr lang="sl-SI" altLang="en-US" sz="1800" b="1"/>
              <a:t>e</a:t>
            </a:r>
            <a:r>
              <a:rPr lang="sl-SI" altLang="en-US" sz="1800"/>
              <a:t> na prvi sliki: </a:t>
            </a:r>
            <a:r>
              <a:rPr lang="sl-SI" altLang="en-US" sz="1800" b="1"/>
              <a:t>l</a:t>
            </a:r>
            <a:r>
              <a:rPr lang="sl-SI" altLang="en-US" sz="1800"/>
              <a:t> = </a:t>
            </a:r>
            <a:r>
              <a:rPr lang="sl-SI" altLang="en-US" sz="1800" b="1"/>
              <a:t>Ep</a:t>
            </a:r>
            <a:r>
              <a:rPr lang="sl-SI" altLang="en-US" sz="1800">
                <a:sym typeface="Symbol" panose="05050102010706020507" pitchFamily="18" charset="2"/>
              </a:rPr>
              <a:t></a:t>
            </a:r>
            <a:r>
              <a:rPr lang="sl-SI" altLang="en-US" sz="1800" i="1" baseline="-25000">
                <a:sym typeface="Symbol" panose="05050102010706020507" pitchFamily="18" charset="2"/>
              </a:rPr>
              <a:t>c</a:t>
            </a:r>
            <a:r>
              <a:rPr lang="sl-SI" altLang="en-US" sz="1800" i="1"/>
              <a:t>.</a:t>
            </a:r>
            <a:r>
              <a:rPr lang="sl-SI" altLang="en-US" sz="1800"/>
              <a:t> Velja tudi: </a:t>
            </a:r>
            <a:r>
              <a:rPr lang="sl-SI" altLang="en-US" sz="1800" b="1"/>
              <a:t>l</a:t>
            </a:r>
            <a:r>
              <a:rPr lang="sl-SI" altLang="en-US" sz="1800">
                <a:sym typeface="Symbol" panose="05050102010706020507" pitchFamily="18" charset="2"/>
              </a:rPr>
              <a:t></a:t>
            </a:r>
            <a:r>
              <a:rPr lang="sl-SI" altLang="en-US" sz="1800"/>
              <a:t> = </a:t>
            </a:r>
            <a:r>
              <a:rPr lang="sl-SI" altLang="en-US" sz="1800" b="1"/>
              <a:t>E</a:t>
            </a:r>
            <a:r>
              <a:rPr lang="sl-SI" altLang="en-US" sz="1800" i="1" baseline="30000"/>
              <a:t>T</a:t>
            </a:r>
            <a:r>
              <a:rPr lang="sl-SI" altLang="en-US" sz="1800" b="1"/>
              <a:t>p</a:t>
            </a:r>
            <a:r>
              <a:rPr lang="sl-SI" altLang="en-US" sz="1800" i="1" baseline="-25000"/>
              <a:t>c</a:t>
            </a:r>
            <a:r>
              <a:rPr lang="sl-SI" altLang="en-US" sz="1800" i="1"/>
              <a:t>.</a:t>
            </a:r>
            <a:endParaRPr lang="sl-SI" altLang="en-US" sz="2800"/>
          </a:p>
          <a:p>
            <a:pPr eaLnBrk="1" hangingPunct="1">
              <a:spcBef>
                <a:spcPts val="600"/>
              </a:spcBef>
              <a:buFontTx/>
              <a:buAutoNum type="arabicPeriod"/>
            </a:pPr>
            <a:r>
              <a:rPr lang="sl-SI" altLang="en-US" sz="1800"/>
              <a:t>Osnovna matrika </a:t>
            </a:r>
            <a:r>
              <a:rPr lang="sl-SI" altLang="en-US" sz="1800" b="1"/>
              <a:t>E</a:t>
            </a:r>
            <a:r>
              <a:rPr lang="sl-SI" altLang="en-US" sz="1800"/>
              <a:t> torej preslikava točke z ene slike v epipolarne premice, na katerih lahko najdemo korespondenčne točke na drugi sliki.</a:t>
            </a:r>
          </a:p>
          <a:p>
            <a:pPr eaLnBrk="1" hangingPunct="1">
              <a:spcBef>
                <a:spcPts val="600"/>
              </a:spcBef>
              <a:buFontTx/>
              <a:buAutoNum type="arabicPeriod"/>
            </a:pPr>
            <a:r>
              <a:rPr lang="sl-SI" altLang="en-US" sz="1800"/>
              <a:t>Matrika </a:t>
            </a:r>
            <a:r>
              <a:rPr lang="sl-SI" altLang="en-US" sz="1800" b="1"/>
              <a:t>E</a:t>
            </a:r>
            <a:r>
              <a:rPr lang="sl-SI" altLang="en-US" sz="1800"/>
              <a:t> je singularna: ima dve od 0 različni enaki singularni vrednosti. </a:t>
            </a:r>
          </a:p>
          <a:p>
            <a:pPr eaLnBrk="1" hangingPunct="1">
              <a:spcBef>
                <a:spcPts val="600"/>
              </a:spcBef>
              <a:buFontTx/>
              <a:buAutoNum type="arabicPeriod"/>
            </a:pPr>
            <a:r>
              <a:rPr lang="sl-SI" altLang="en-US" sz="1800"/>
              <a:t>Singularni vektor matrike </a:t>
            </a:r>
            <a:r>
              <a:rPr lang="sl-SI" altLang="en-US" sz="1800" b="1"/>
              <a:t>E</a:t>
            </a:r>
            <a:r>
              <a:rPr lang="sl-SI" altLang="en-US" sz="1800"/>
              <a:t>, ki je povezan z ničelno singularno vrednostjo, je enak epipolu </a:t>
            </a:r>
            <a:r>
              <a:rPr lang="sl-SI" altLang="en-US" sz="1800" b="1"/>
              <a:t>e</a:t>
            </a:r>
            <a:r>
              <a:rPr lang="sl-SI" altLang="en-US" sz="1800"/>
              <a:t>‘.</a:t>
            </a:r>
          </a:p>
          <a:p>
            <a:pPr eaLnBrk="1" hangingPunct="1">
              <a:spcBef>
                <a:spcPts val="600"/>
              </a:spcBef>
              <a:buFontTx/>
              <a:buAutoNum type="arabicPeriod"/>
            </a:pPr>
            <a:r>
              <a:rPr lang="sl-SI" altLang="en-US" sz="1800"/>
              <a:t>Osnovna matrika vsebuje informacije o zunanjih parametrih kamere, zato jih lahko iz nje izluščimo.</a:t>
            </a:r>
          </a:p>
        </p:txBody>
      </p:sp>
      <p:grpSp>
        <p:nvGrpSpPr>
          <p:cNvPr id="2" name="Group 28"/>
          <p:cNvGrpSpPr>
            <a:grpSpLocks/>
          </p:cNvGrpSpPr>
          <p:nvPr/>
        </p:nvGrpSpPr>
        <p:grpSpPr bwMode="auto">
          <a:xfrm>
            <a:off x="1885950" y="3933825"/>
            <a:ext cx="4054475" cy="2087563"/>
            <a:chOff x="2250884" y="1295686"/>
            <a:chExt cx="4685512" cy="2853394"/>
          </a:xfrm>
        </p:grpSpPr>
        <p:grpSp>
          <p:nvGrpSpPr>
            <p:cNvPr id="105479" name="Group 22"/>
            <p:cNvGrpSpPr>
              <a:grpSpLocks/>
            </p:cNvGrpSpPr>
            <p:nvPr/>
          </p:nvGrpSpPr>
          <p:grpSpPr bwMode="auto">
            <a:xfrm>
              <a:off x="2250884" y="1295686"/>
              <a:ext cx="4685512" cy="2853394"/>
              <a:chOff x="2250884" y="1340768"/>
              <a:chExt cx="4685512" cy="2853394"/>
            </a:xfrm>
          </p:grpSpPr>
          <p:grpSp>
            <p:nvGrpSpPr>
              <p:cNvPr id="105484" name="Group 21"/>
              <p:cNvGrpSpPr>
                <a:grpSpLocks/>
              </p:cNvGrpSpPr>
              <p:nvPr/>
            </p:nvGrpSpPr>
            <p:grpSpPr bwMode="auto">
              <a:xfrm>
                <a:off x="2411760" y="1340768"/>
                <a:ext cx="4392488" cy="2853394"/>
                <a:chOff x="2411760" y="1295686"/>
                <a:chExt cx="4392488" cy="2853394"/>
              </a:xfrm>
            </p:grpSpPr>
            <p:grpSp>
              <p:nvGrpSpPr>
                <p:cNvPr id="105487" name="Group 8"/>
                <p:cNvGrpSpPr>
                  <a:grpSpLocks/>
                </p:cNvGrpSpPr>
                <p:nvPr/>
              </p:nvGrpSpPr>
              <p:grpSpPr bwMode="auto">
                <a:xfrm>
                  <a:off x="2411760" y="1295686"/>
                  <a:ext cx="4392488" cy="2853394"/>
                  <a:chOff x="2411760" y="1340768"/>
                  <a:chExt cx="4392488" cy="2853394"/>
                </a:xfrm>
              </p:grpSpPr>
              <p:pic>
                <p:nvPicPr>
                  <p:cNvPr id="105492" name="Picture 2"/>
                  <p:cNvPicPr>
                    <a:picLocks noChangeAspect="1" noChangeArrowheads="1"/>
                  </p:cNvPicPr>
                  <p:nvPr/>
                </p:nvPicPr>
                <p:blipFill>
                  <a:blip r:embed="rId3">
                    <a:extLst>
                      <a:ext uri="{28A0092B-C50C-407E-A947-70E740481C1C}">
                        <a14:useLocalDpi xmlns:a14="http://schemas.microsoft.com/office/drawing/2010/main" val="0"/>
                      </a:ext>
                    </a:extLst>
                  </a:blip>
                  <a:srcRect l="4803" t="9169" r="7211"/>
                  <a:stretch>
                    <a:fillRect/>
                  </a:stretch>
                </p:blipFill>
                <p:spPr bwMode="auto">
                  <a:xfrm>
                    <a:off x="2411760" y="1340768"/>
                    <a:ext cx="4392488" cy="2853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93" name="TextBox 6"/>
                  <p:cNvSpPr txBox="1">
                    <a:spLocks noChangeArrowheads="1"/>
                  </p:cNvSpPr>
                  <p:nvPr/>
                </p:nvSpPr>
                <p:spPr bwMode="auto">
                  <a:xfrm>
                    <a:off x="3966965" y="3501008"/>
                    <a:ext cx="821059"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a:t>osnovnica</a:t>
                    </a:r>
                    <a:endParaRPr lang="en-GB" altLang="en-US" sz="1100"/>
                  </a:p>
                </p:txBody>
              </p:sp>
            </p:grpSp>
            <p:sp>
              <p:nvSpPr>
                <p:cNvPr id="105488" name="TextBox 14"/>
                <p:cNvSpPr txBox="1">
                  <a:spLocks noChangeArrowheads="1"/>
                </p:cNvSpPr>
                <p:nvPr/>
              </p:nvSpPr>
              <p:spPr bwMode="auto">
                <a:xfrm>
                  <a:off x="4920950" y="1392898"/>
                  <a:ext cx="279244"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p</a:t>
                  </a:r>
                  <a:endParaRPr lang="en-GB" altLang="en-US" sz="1200" b="1"/>
                </a:p>
              </p:txBody>
            </p:sp>
            <p:cxnSp>
              <p:nvCxnSpPr>
                <p:cNvPr id="21" name="Straight Connector 16"/>
                <p:cNvCxnSpPr/>
                <p:nvPr/>
              </p:nvCxnSpPr>
              <p:spPr>
                <a:xfrm flipV="1">
                  <a:off x="2516899" y="1710134"/>
                  <a:ext cx="2504198" cy="157533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18"/>
                <p:cNvCxnSpPr/>
                <p:nvPr/>
              </p:nvCxnSpPr>
              <p:spPr>
                <a:xfrm flipH="1" flipV="1">
                  <a:off x="5041278" y="1729662"/>
                  <a:ext cx="1599752" cy="157533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Oval 20"/>
                <p:cNvSpPr/>
                <p:nvPr/>
              </p:nvSpPr>
              <p:spPr>
                <a:xfrm>
                  <a:off x="4984406" y="1647207"/>
                  <a:ext cx="143097" cy="14538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sp>
            <p:nvSpPr>
              <p:cNvPr id="105485" name="TextBox 10"/>
              <p:cNvSpPr txBox="1">
                <a:spLocks noChangeArrowheads="1"/>
              </p:cNvSpPr>
              <p:nvPr/>
            </p:nvSpPr>
            <p:spPr bwMode="auto">
              <a:xfrm>
                <a:off x="2250884" y="3429000"/>
                <a:ext cx="30489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O</a:t>
                </a:r>
                <a:endParaRPr lang="en-GB" altLang="en-US" sz="1200" b="1"/>
              </a:p>
            </p:txBody>
          </p:sp>
          <p:sp>
            <p:nvSpPr>
              <p:cNvPr id="105486" name="TextBox 11"/>
              <p:cNvSpPr txBox="1">
                <a:spLocks noChangeArrowheads="1"/>
              </p:cNvSpPr>
              <p:nvPr/>
            </p:nvSpPr>
            <p:spPr bwMode="auto">
              <a:xfrm>
                <a:off x="6588224" y="3429000"/>
                <a:ext cx="34817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O’</a:t>
                </a:r>
                <a:endParaRPr lang="en-GB" altLang="en-US" sz="1200" b="1"/>
              </a:p>
            </p:txBody>
          </p:sp>
        </p:grpSp>
        <p:sp>
          <p:nvSpPr>
            <p:cNvPr id="12" name="Oval 23"/>
            <p:cNvSpPr/>
            <p:nvPr/>
          </p:nvSpPr>
          <p:spPr>
            <a:xfrm>
              <a:off x="3149827" y="2795074"/>
              <a:ext cx="143097" cy="1432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 name="Oval 24"/>
            <p:cNvSpPr/>
            <p:nvPr/>
          </p:nvSpPr>
          <p:spPr>
            <a:xfrm>
              <a:off x="6083318" y="2760356"/>
              <a:ext cx="144931" cy="14538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5482" name="TextBox 26"/>
            <p:cNvSpPr txBox="1">
              <a:spLocks noChangeArrowheads="1"/>
            </p:cNvSpPr>
            <p:nvPr/>
          </p:nvSpPr>
          <p:spPr bwMode="auto">
            <a:xfrm>
              <a:off x="6236189" y="2709688"/>
              <a:ext cx="441377" cy="3784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p’</a:t>
              </a:r>
              <a:r>
                <a:rPr lang="sl-SI" altLang="en-US" sz="1400" baseline="-25000"/>
                <a:t>c</a:t>
              </a:r>
              <a:endParaRPr lang="en-GB" altLang="en-US" sz="1400" i="1" baseline="-25000"/>
            </a:p>
          </p:txBody>
        </p:sp>
        <p:sp>
          <p:nvSpPr>
            <p:cNvPr id="105483" name="TextBox 27"/>
            <p:cNvSpPr txBox="1">
              <a:spLocks noChangeArrowheads="1"/>
            </p:cNvSpPr>
            <p:nvPr/>
          </p:nvSpPr>
          <p:spPr bwMode="auto">
            <a:xfrm>
              <a:off x="2785963" y="2752536"/>
              <a:ext cx="391346" cy="3784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b="1"/>
                <a:t>p</a:t>
              </a:r>
              <a:r>
                <a:rPr lang="sl-SI" altLang="en-US" sz="1400" i="1" baseline="-25000"/>
                <a:t>c</a:t>
              </a:r>
              <a:endParaRPr lang="en-GB" altLang="en-US" sz="1200" i="1" baseline="-25000"/>
            </a:p>
          </p:txBody>
        </p:sp>
      </p:grpSp>
      <p:sp>
        <p:nvSpPr>
          <p:cNvPr id="105477"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05478"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70852DC-5A6E-4F47-98FB-3708002525A5}" type="slidenum">
              <a:rPr lang="en-GB" altLang="sl-SI" sz="1400" smtClean="0"/>
              <a:pPr>
                <a:spcBef>
                  <a:spcPct val="0"/>
                </a:spcBef>
                <a:buFontTx/>
                <a:buNone/>
              </a:pPr>
              <a:t>54</a:t>
            </a:fld>
            <a:endParaRPr lang="en-GB" altLang="sl-SI" sz="1400"/>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xit" presetSubtype="32" fill="hold" nodeType="click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childTnLst>
                          </p:cTn>
                        </p:par>
                        <p:par>
                          <p:cTn id="10" fill="hold" nodeType="afterGroup">
                            <p:stCondLst>
                              <p:cond delay="500"/>
                            </p:stCondLst>
                            <p:childTnLst>
                              <p:par>
                                <p:cTn id="11" presetID="2" presetClass="entr" presetSubtype="4" fill="hold" nodeType="afterEffect">
                                  <p:stCondLst>
                                    <p:cond delay="500"/>
                                  </p:stCondLst>
                                  <p:childTnLst>
                                    <p:set>
                                      <p:cBhvr>
                                        <p:cTn id="12" dur="1" fill="hold">
                                          <p:stCondLst>
                                            <p:cond delay="0"/>
                                          </p:stCondLst>
                                        </p:cTn>
                                        <p:tgtEl>
                                          <p:spTgt spid="8">
                                            <p:txEl>
                                              <p:pRg st="5" end="5"/>
                                            </p:txEl>
                                          </p:spTgt>
                                        </p:tgtEl>
                                        <p:attrNameLst>
                                          <p:attrName>style.visibility</p:attrName>
                                        </p:attrNameLst>
                                      </p:cBhvr>
                                      <p:to>
                                        <p:strVal val="visible"/>
                                      </p:to>
                                    </p:set>
                                    <p:anim calcmode="lin" valueType="num">
                                      <p:cBhvr additive="base">
                                        <p:cTn id="13"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500"/>
                                  </p:stCondLst>
                                  <p:childTnLst>
                                    <p:set>
                                      <p:cBhvr>
                                        <p:cTn id="16" dur="1" fill="hold">
                                          <p:stCondLst>
                                            <p:cond delay="0"/>
                                          </p:stCondLst>
                                        </p:cTn>
                                        <p:tgtEl>
                                          <p:spTgt spid="8">
                                            <p:txEl>
                                              <p:pRg st="6" end="6"/>
                                            </p:txEl>
                                          </p:spTgt>
                                        </p:tgtEl>
                                        <p:attrNameLst>
                                          <p:attrName>style.visibility</p:attrName>
                                        </p:attrNameLst>
                                      </p:cBhvr>
                                      <p:to>
                                        <p:strVal val="visible"/>
                                      </p:to>
                                    </p:set>
                                    <p:anim calcmode="lin" valueType="num">
                                      <p:cBhvr additive="base">
                                        <p:cTn id="1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7" end="7"/>
                                            </p:txEl>
                                          </p:spTgt>
                                        </p:tgtEl>
                                        <p:attrNameLst>
                                          <p:attrName>style.visibility</p:attrName>
                                        </p:attrNameLst>
                                      </p:cBhvr>
                                      <p:to>
                                        <p:strVal val="visible"/>
                                      </p:to>
                                    </p:set>
                                    <p:anim calcmode="lin" valueType="num">
                                      <p:cBhvr additive="base">
                                        <p:cTn id="21"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ctrTitle"/>
          </p:nvPr>
        </p:nvSpPr>
        <p:spPr>
          <a:xfrm>
            <a:off x="250825" y="188913"/>
            <a:ext cx="8424863" cy="576262"/>
          </a:xfrm>
        </p:spPr>
        <p:txBody>
          <a:bodyPr/>
          <a:lstStyle/>
          <a:p>
            <a:pPr eaLnBrk="1" hangingPunct="1"/>
            <a:r>
              <a:rPr lang="sl-SI" altLang="en-US" sz="2800" b="1"/>
              <a:t>TEMELJNA MATRIKA </a:t>
            </a:r>
            <a:endParaRPr lang="en-GB" altLang="en-US" sz="2000"/>
          </a:p>
        </p:txBody>
      </p:sp>
      <p:sp>
        <p:nvSpPr>
          <p:cNvPr id="107523" name="TextBox 7"/>
          <p:cNvSpPr txBox="1">
            <a:spLocks noChangeArrowheads="1"/>
          </p:cNvSpPr>
          <p:nvPr/>
        </p:nvSpPr>
        <p:spPr bwMode="auto">
          <a:xfrm>
            <a:off x="827088" y="908050"/>
            <a:ext cx="7561262"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Vzemimo matriko kamere </a:t>
            </a:r>
            <a:r>
              <a:rPr lang="sl-SI" altLang="en-US" sz="1800" b="1"/>
              <a:t>K</a:t>
            </a:r>
            <a:r>
              <a:rPr lang="sl-SI" altLang="en-US" sz="1800"/>
              <a:t> (3</a:t>
            </a:r>
            <a:r>
              <a:rPr lang="sl-SI" altLang="en-US" sz="1800">
                <a:sym typeface="Symbol" panose="05050102010706020507" pitchFamily="18" charset="2"/>
              </a:rPr>
              <a:t></a:t>
            </a:r>
            <a:r>
              <a:rPr lang="sl-SI" altLang="en-US" sz="1800"/>
              <a:t>3), ki vsebuje notranje kamerine parametre.</a:t>
            </a:r>
          </a:p>
          <a:p>
            <a:pPr eaLnBrk="1" hangingPunct="1">
              <a:spcBef>
                <a:spcPts val="600"/>
              </a:spcBef>
              <a:buFontTx/>
              <a:buAutoNum type="arabicPeriod"/>
            </a:pPr>
            <a:r>
              <a:rPr lang="sl-SI" altLang="en-US" sz="1800"/>
              <a:t>Slikovni točki </a:t>
            </a:r>
            <a:r>
              <a:rPr lang="sl-SI" altLang="en-US" sz="1800" b="1"/>
              <a:t>p</a:t>
            </a:r>
            <a:r>
              <a:rPr lang="sl-SI" altLang="en-US" sz="1800" i="1" baseline="-25000"/>
              <a:t>s</a:t>
            </a:r>
            <a:r>
              <a:rPr lang="sl-SI" altLang="en-US" sz="1800"/>
              <a:t> in </a:t>
            </a:r>
            <a:r>
              <a:rPr lang="sl-SI" altLang="en-US" sz="1800" b="1"/>
              <a:t>p</a:t>
            </a:r>
            <a:r>
              <a:rPr lang="sl-SI" altLang="en-US" sz="1800">
                <a:sym typeface="Symbol" panose="05050102010706020507" pitchFamily="18" charset="2"/>
              </a:rPr>
              <a:t> </a:t>
            </a:r>
            <a:r>
              <a:rPr lang="sl-SI" altLang="en-US" sz="1800" i="1" baseline="-25000"/>
              <a:t>s</a:t>
            </a:r>
            <a:r>
              <a:rPr lang="sl-SI" altLang="en-US" sz="1800"/>
              <a:t> imata koordinate v pikslih in pripadata točkama </a:t>
            </a:r>
            <a:r>
              <a:rPr lang="sl-SI" altLang="en-US" sz="1800" b="1"/>
              <a:t>p</a:t>
            </a:r>
            <a:r>
              <a:rPr lang="sl-SI" altLang="en-US" sz="1800" i="1" baseline="-25000"/>
              <a:t>c</a:t>
            </a:r>
            <a:r>
              <a:rPr lang="sl-SI" altLang="en-US" sz="1800"/>
              <a:t> in </a:t>
            </a:r>
            <a:r>
              <a:rPr lang="sl-SI" altLang="en-US" sz="1800" b="1"/>
              <a:t>p</a:t>
            </a:r>
            <a:r>
              <a:rPr lang="sl-SI" altLang="en-US" sz="1800">
                <a:sym typeface="Symbol" panose="05050102010706020507" pitchFamily="18" charset="2"/>
              </a:rPr>
              <a:t> </a:t>
            </a:r>
            <a:r>
              <a:rPr lang="sl-SI" altLang="en-US" sz="1800" i="1" baseline="-25000"/>
              <a:t>c</a:t>
            </a:r>
            <a:r>
              <a:rPr lang="sl-SI" altLang="en-US" sz="1800"/>
              <a:t>, ki sta v koordinatah kamere (za vse </a:t>
            </a:r>
            <a:r>
              <a:rPr lang="sl-SI" altLang="en-US" sz="1800" b="1"/>
              <a:t>p</a:t>
            </a:r>
            <a:r>
              <a:rPr lang="sl-SI" altLang="en-US" sz="1800"/>
              <a:t> = [</a:t>
            </a:r>
            <a:r>
              <a:rPr lang="sl-SI" altLang="en-US" sz="1800" i="1"/>
              <a:t>x</a:t>
            </a:r>
            <a:r>
              <a:rPr lang="sl-SI" altLang="en-US" sz="1800"/>
              <a:t> </a:t>
            </a:r>
            <a:r>
              <a:rPr lang="sl-SI" altLang="en-US" sz="1800" i="1"/>
              <a:t>y</a:t>
            </a:r>
            <a:r>
              <a:rPr lang="sl-SI" altLang="en-US" sz="1800"/>
              <a:t> 1]</a:t>
            </a:r>
            <a:r>
              <a:rPr lang="sl-SI" altLang="en-US" sz="1800" i="1" baseline="30000"/>
              <a:t>T</a:t>
            </a:r>
            <a:r>
              <a:rPr lang="sl-SI" altLang="en-US" sz="1800"/>
              <a:t>).</a:t>
            </a:r>
          </a:p>
          <a:p>
            <a:pPr eaLnBrk="1" hangingPunct="1">
              <a:spcBef>
                <a:spcPts val="1200"/>
              </a:spcBef>
              <a:spcAft>
                <a:spcPts val="600"/>
              </a:spcAft>
              <a:buFontTx/>
              <a:buAutoNum type="arabicPeriod"/>
            </a:pPr>
            <a:r>
              <a:rPr lang="sl-SI" altLang="en-US" sz="1800"/>
              <a:t>Velja:                     in  </a:t>
            </a:r>
            <a:endParaRPr lang="sl-SI" altLang="en-US" sz="1800" b="1"/>
          </a:p>
          <a:p>
            <a:pPr eaLnBrk="1" hangingPunct="1">
              <a:spcBef>
                <a:spcPct val="0"/>
              </a:spcBef>
              <a:buFontTx/>
              <a:buAutoNum type="arabicPeriod"/>
            </a:pPr>
            <a:r>
              <a:rPr lang="sl-SI" altLang="en-US" sz="1800"/>
              <a:t>In naprej:</a:t>
            </a:r>
          </a:p>
          <a:p>
            <a:pPr eaLnBrk="1" hangingPunct="1">
              <a:spcBef>
                <a:spcPct val="0"/>
              </a:spcBef>
              <a:buFontTx/>
              <a:buAutoNum type="arabicPeriod"/>
            </a:pPr>
            <a:endParaRPr lang="sl-SI" altLang="en-US" sz="1800"/>
          </a:p>
          <a:p>
            <a:pPr eaLnBrk="1" hangingPunct="1">
              <a:spcBef>
                <a:spcPct val="0"/>
              </a:spcBef>
              <a:buFontTx/>
              <a:buAutoNum type="arabicPeriod"/>
            </a:pPr>
            <a:endParaRPr lang="sl-SI" altLang="en-US" sz="1800"/>
          </a:p>
          <a:p>
            <a:pPr eaLnBrk="1" hangingPunct="1">
              <a:spcBef>
                <a:spcPct val="0"/>
              </a:spcBef>
              <a:buFontTx/>
              <a:buAutoNum type="arabicPeriod"/>
            </a:pPr>
            <a:r>
              <a:rPr lang="sl-SI" altLang="en-US" sz="1800"/>
              <a:t>Matriko </a:t>
            </a:r>
            <a:r>
              <a:rPr lang="sl-SI" altLang="en-US" sz="1800" b="1"/>
              <a:t>F</a:t>
            </a:r>
            <a:r>
              <a:rPr lang="sl-SI" altLang="en-US" sz="1800"/>
              <a:t> imenujemo temeljna matrika in opisuje nekalibrirane razmere:</a:t>
            </a:r>
          </a:p>
          <a:p>
            <a:pPr eaLnBrk="1" hangingPunct="1">
              <a:spcBef>
                <a:spcPct val="0"/>
              </a:spcBef>
              <a:buFontTx/>
              <a:buAutoNum type="arabicPeriod"/>
            </a:pPr>
            <a:endParaRPr lang="sl-SI" altLang="en-US" sz="1800"/>
          </a:p>
          <a:p>
            <a:pPr eaLnBrk="1" hangingPunct="1">
              <a:spcBef>
                <a:spcPts val="1200"/>
              </a:spcBef>
              <a:buFontTx/>
              <a:buAutoNum type="arabicPeriod"/>
            </a:pPr>
            <a:r>
              <a:rPr lang="sl-SI" altLang="en-US" sz="1800"/>
              <a:t>Temeljna matrika ima 7 prostostnih stopenj (rang 2) in povezuje točke na eni sliki s pripadajočimi epipolarnimi premicami na drugi sliki:</a:t>
            </a:r>
          </a:p>
          <a:p>
            <a:pPr eaLnBrk="1" hangingPunct="1">
              <a:spcBef>
                <a:spcPct val="0"/>
              </a:spcBef>
              <a:buFontTx/>
              <a:buNone/>
            </a:pPr>
            <a:r>
              <a:rPr lang="sl-SI" altLang="en-US" sz="1800" b="1"/>
              <a:t>	l</a:t>
            </a:r>
            <a:r>
              <a:rPr lang="sl-SI" altLang="en-US" sz="1800" i="1" baseline="-25000"/>
              <a:t>s</a:t>
            </a:r>
            <a:r>
              <a:rPr lang="sl-SI" altLang="en-US" sz="1800"/>
              <a:t> = </a:t>
            </a:r>
            <a:r>
              <a:rPr lang="sl-SI" altLang="en-US" sz="1800" b="1"/>
              <a:t>Fp</a:t>
            </a:r>
            <a:r>
              <a:rPr lang="sl-SI" altLang="en-US" sz="1800">
                <a:sym typeface="Symbol" panose="05050102010706020507" pitchFamily="18" charset="2"/>
              </a:rPr>
              <a:t></a:t>
            </a:r>
            <a:r>
              <a:rPr lang="sl-SI" altLang="en-US" sz="1800" i="1" baseline="-25000">
                <a:sym typeface="Symbol" panose="05050102010706020507" pitchFamily="18" charset="2"/>
              </a:rPr>
              <a:t>s</a:t>
            </a:r>
            <a:r>
              <a:rPr lang="sl-SI" altLang="en-US" sz="1800" i="1">
                <a:sym typeface="Symbol" panose="05050102010706020507" pitchFamily="18" charset="2"/>
              </a:rPr>
              <a:t>  </a:t>
            </a:r>
            <a:r>
              <a:rPr lang="sl-SI" altLang="en-US" sz="1800">
                <a:sym typeface="Symbol" panose="05050102010706020507" pitchFamily="18" charset="2"/>
              </a:rPr>
              <a:t>in</a:t>
            </a:r>
            <a:r>
              <a:rPr lang="sl-SI" altLang="en-US" sz="1800" i="1">
                <a:sym typeface="Symbol" panose="05050102010706020507" pitchFamily="18" charset="2"/>
              </a:rPr>
              <a:t>  </a:t>
            </a:r>
            <a:r>
              <a:rPr lang="sl-SI" altLang="en-US" sz="1800"/>
              <a:t> </a:t>
            </a:r>
            <a:r>
              <a:rPr lang="sl-SI" altLang="en-US" sz="1800" b="1"/>
              <a:t>l</a:t>
            </a:r>
            <a:r>
              <a:rPr lang="sl-SI" altLang="en-US" sz="1800">
                <a:sym typeface="Symbol" panose="05050102010706020507" pitchFamily="18" charset="2"/>
              </a:rPr>
              <a:t></a:t>
            </a:r>
            <a:r>
              <a:rPr lang="sl-SI" altLang="en-US" sz="1800" baseline="-25000">
                <a:sym typeface="Symbol" panose="05050102010706020507" pitchFamily="18" charset="2"/>
              </a:rPr>
              <a:t>s</a:t>
            </a:r>
            <a:r>
              <a:rPr lang="sl-SI" altLang="en-US" sz="1800"/>
              <a:t> = </a:t>
            </a:r>
            <a:r>
              <a:rPr lang="sl-SI" altLang="en-US" sz="1800" b="1"/>
              <a:t>F</a:t>
            </a:r>
            <a:r>
              <a:rPr lang="sl-SI" altLang="en-US" sz="1800" i="1" baseline="30000"/>
              <a:t>T</a:t>
            </a:r>
            <a:r>
              <a:rPr lang="sl-SI" altLang="en-US" sz="1800" b="1"/>
              <a:t>p</a:t>
            </a:r>
            <a:r>
              <a:rPr lang="sl-SI" altLang="en-US" sz="1800" i="1" baseline="-25000"/>
              <a:t>s</a:t>
            </a:r>
            <a:r>
              <a:rPr lang="sl-SI" altLang="en-US" sz="1800" i="1"/>
              <a:t>.</a:t>
            </a:r>
          </a:p>
          <a:p>
            <a:pPr eaLnBrk="1" hangingPunct="1">
              <a:spcBef>
                <a:spcPts val="600"/>
              </a:spcBef>
              <a:buFontTx/>
              <a:buAutoNum type="arabicPeriod" startAt="7"/>
            </a:pPr>
            <a:r>
              <a:rPr lang="sl-SI" altLang="en-US" sz="1800"/>
              <a:t>Temeljna matrika </a:t>
            </a:r>
            <a:r>
              <a:rPr lang="sl-SI" altLang="en-US" sz="1800" b="1"/>
              <a:t>F</a:t>
            </a:r>
            <a:r>
              <a:rPr lang="sl-SI" altLang="en-US" sz="1800"/>
              <a:t> določa s singularnim vektorjem, ki pripada singularni vrednosti 0, epipol </a:t>
            </a:r>
            <a:r>
              <a:rPr lang="sl-SI" altLang="en-US" sz="1800" b="1"/>
              <a:t>e</a:t>
            </a:r>
            <a:r>
              <a:rPr lang="sl-SI" altLang="en-US" sz="1800">
                <a:sym typeface="Symbol" panose="05050102010706020507" pitchFamily="18" charset="2"/>
              </a:rPr>
              <a:t>.</a:t>
            </a:r>
            <a:r>
              <a:rPr lang="sl-SI" altLang="en-US" sz="1800"/>
              <a:t> Epipol </a:t>
            </a:r>
            <a:r>
              <a:rPr lang="sl-SI" altLang="en-US" sz="1800" b="1"/>
              <a:t>e</a:t>
            </a:r>
            <a:r>
              <a:rPr lang="sl-SI" altLang="en-US" sz="1800"/>
              <a:t> določa matrika </a:t>
            </a:r>
            <a:r>
              <a:rPr lang="sl-SI" altLang="en-US" sz="1800" b="1"/>
              <a:t>F</a:t>
            </a:r>
            <a:r>
              <a:rPr lang="sl-SI" altLang="en-US" sz="1800" i="1" baseline="30000"/>
              <a:t>T</a:t>
            </a:r>
            <a:r>
              <a:rPr lang="sl-SI" altLang="en-US" sz="1800" i="1"/>
              <a:t>.</a:t>
            </a:r>
            <a:endParaRPr lang="sl-SI" altLang="en-US" sz="1800" b="1" i="1"/>
          </a:p>
        </p:txBody>
      </p:sp>
      <p:grpSp>
        <p:nvGrpSpPr>
          <p:cNvPr id="107524" name="Skupina 3"/>
          <p:cNvGrpSpPr>
            <a:grpSpLocks/>
          </p:cNvGrpSpPr>
          <p:nvPr/>
        </p:nvGrpSpPr>
        <p:grpSpPr bwMode="auto">
          <a:xfrm>
            <a:off x="1920875" y="2054225"/>
            <a:ext cx="2879725" cy="609600"/>
            <a:chOff x="1920875" y="2030413"/>
            <a:chExt cx="2879725" cy="609600"/>
          </a:xfrm>
        </p:grpSpPr>
        <p:graphicFrame>
          <p:nvGraphicFramePr>
            <p:cNvPr id="107529" name="Predmet 1"/>
            <p:cNvGraphicFramePr>
              <a:graphicFrameLocks noChangeAspect="1"/>
            </p:cNvGraphicFramePr>
            <p:nvPr/>
          </p:nvGraphicFramePr>
          <p:xfrm>
            <a:off x="1920875" y="2032000"/>
            <a:ext cx="1190625" cy="608013"/>
          </p:xfrm>
          <a:graphic>
            <a:graphicData uri="http://schemas.openxmlformats.org/presentationml/2006/ole">
              <mc:AlternateContent xmlns:mc="http://schemas.openxmlformats.org/markup-compatibility/2006">
                <mc:Choice xmlns:v="urn:schemas-microsoft-com:vml" Requires="v">
                  <p:oleObj spid="_x0000_s107639" name="Equation" r:id="rId4" imgW="596641" imgH="304668" progId="Equation.DSMT4">
                    <p:embed/>
                  </p:oleObj>
                </mc:Choice>
                <mc:Fallback>
                  <p:oleObj name="Equation" r:id="rId4" imgW="596641" imgH="304668" progId="Equation.DSMT4">
                    <p:embed/>
                    <p:pic>
                      <p:nvPicPr>
                        <p:cNvPr id="0" name="Predme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0875" y="2032000"/>
                          <a:ext cx="1190625"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7530" name="Predmet 2"/>
            <p:cNvGraphicFramePr>
              <a:graphicFrameLocks noChangeAspect="1"/>
            </p:cNvGraphicFramePr>
            <p:nvPr/>
          </p:nvGraphicFramePr>
          <p:xfrm>
            <a:off x="3432175" y="2030413"/>
            <a:ext cx="1368425" cy="608012"/>
          </p:xfrm>
          <a:graphic>
            <a:graphicData uri="http://schemas.openxmlformats.org/presentationml/2006/ole">
              <mc:AlternateContent xmlns:mc="http://schemas.openxmlformats.org/markup-compatibility/2006">
                <mc:Choice xmlns:v="urn:schemas-microsoft-com:vml" Requires="v">
                  <p:oleObj spid="_x0000_s107640" name="Equation" r:id="rId6" imgW="685502" imgH="304668" progId="Equation.DSMT4">
                    <p:embed/>
                  </p:oleObj>
                </mc:Choice>
                <mc:Fallback>
                  <p:oleObj name="Equation" r:id="rId6" imgW="685502" imgH="304668" progId="Equation.DSMT4">
                    <p:embed/>
                    <p:pic>
                      <p:nvPicPr>
                        <p:cNvPr id="0" name="Predme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2175" y="2030413"/>
                          <a:ext cx="1368425"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07525" name="Predmet 4"/>
          <p:cNvGraphicFramePr>
            <a:graphicFrameLocks noChangeAspect="1"/>
          </p:cNvGraphicFramePr>
          <p:nvPr/>
        </p:nvGraphicFramePr>
        <p:xfrm>
          <a:off x="1227138" y="2940050"/>
          <a:ext cx="4565650" cy="457200"/>
        </p:xfrm>
        <a:graphic>
          <a:graphicData uri="http://schemas.openxmlformats.org/presentationml/2006/ole">
            <mc:AlternateContent xmlns:mc="http://schemas.openxmlformats.org/markup-compatibility/2006">
              <mc:Choice xmlns:v="urn:schemas-microsoft-com:vml" Requires="v">
                <p:oleObj spid="_x0000_s107641" name="Equation" r:id="rId8" imgW="2413000" imgH="241300" progId="Equation.DSMT4">
                  <p:embed/>
                </p:oleObj>
              </mc:Choice>
              <mc:Fallback>
                <p:oleObj name="Equation" r:id="rId8" imgW="2413000" imgH="241300" progId="Equation.DSMT4">
                  <p:embed/>
                  <p:pic>
                    <p:nvPicPr>
                      <p:cNvPr id="0" name="Predme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27138" y="2940050"/>
                        <a:ext cx="4565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7526" name="Predmet 5"/>
          <p:cNvGraphicFramePr>
            <a:graphicFrameLocks noChangeAspect="1"/>
          </p:cNvGraphicFramePr>
          <p:nvPr/>
        </p:nvGraphicFramePr>
        <p:xfrm>
          <a:off x="1209675" y="3946525"/>
          <a:ext cx="1922463" cy="385763"/>
        </p:xfrm>
        <a:graphic>
          <a:graphicData uri="http://schemas.openxmlformats.org/presentationml/2006/ole">
            <mc:AlternateContent xmlns:mc="http://schemas.openxmlformats.org/markup-compatibility/2006">
              <mc:Choice xmlns:v="urn:schemas-microsoft-com:vml" Requires="v">
                <p:oleObj spid="_x0000_s107642" name="Equation" r:id="rId10" imgW="1016000" imgH="203200" progId="Equation.DSMT4">
                  <p:embed/>
                </p:oleObj>
              </mc:Choice>
              <mc:Fallback>
                <p:oleObj name="Equation" r:id="rId10" imgW="1016000" imgH="203200" progId="Equation.DSMT4">
                  <p:embed/>
                  <p:pic>
                    <p:nvPicPr>
                      <p:cNvPr id="0" name="Predme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09675" y="3946525"/>
                        <a:ext cx="192246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27"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07528"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20C1585-3C3C-4251-9394-DEB33D0AC852}" type="slidenum">
              <a:rPr lang="en-GB" altLang="sl-SI" sz="1400" smtClean="0"/>
              <a:pPr>
                <a:spcBef>
                  <a:spcPct val="0"/>
                </a:spcBef>
                <a:buFontTx/>
                <a:buNone/>
              </a:pPr>
              <a:t>55</a:t>
            </a:fld>
            <a:endParaRPr lang="en-GB" altLang="sl-SI" sz="1400"/>
          </a:p>
        </p:txBody>
      </p:sp>
    </p:spTree>
  </p:cSld>
  <p:clrMapOvr>
    <a:masterClrMapping/>
  </p:clrMapOvr>
  <p:transition>
    <p:cove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ctrTitle"/>
          </p:nvPr>
        </p:nvSpPr>
        <p:spPr>
          <a:xfrm>
            <a:off x="250825" y="188913"/>
            <a:ext cx="8424863" cy="576262"/>
          </a:xfrm>
        </p:spPr>
        <p:txBody>
          <a:bodyPr/>
          <a:lstStyle/>
          <a:p>
            <a:pPr eaLnBrk="1" hangingPunct="1"/>
            <a:r>
              <a:rPr lang="sl-SI" altLang="en-US" sz="2800" b="1"/>
              <a:t>RAČUNANJE TEMELJNE MATRIKE </a:t>
            </a:r>
            <a:endParaRPr lang="en-GB" altLang="en-US" sz="2000"/>
          </a:p>
        </p:txBody>
      </p:sp>
      <p:sp>
        <p:nvSpPr>
          <p:cNvPr id="109571" name="TextBox 7"/>
          <p:cNvSpPr txBox="1">
            <a:spLocks noChangeArrowheads="1"/>
          </p:cNvSpPr>
          <p:nvPr/>
        </p:nvSpPr>
        <p:spPr bwMode="auto">
          <a:xfrm>
            <a:off x="827088" y="765175"/>
            <a:ext cx="7561262"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Temeljno matriko lahko računamo iz korespondence točk na dveh slikah (pogledih na isto sceno), saj velja:</a:t>
            </a:r>
          </a:p>
          <a:p>
            <a:pPr eaLnBrk="1" hangingPunct="1">
              <a:spcBef>
                <a:spcPts val="600"/>
              </a:spcBef>
              <a:buFontTx/>
              <a:buNone/>
            </a:pPr>
            <a:r>
              <a:rPr lang="sl-SI" altLang="en-US" sz="1800"/>
              <a:t>                                  za </a:t>
            </a:r>
            <a:r>
              <a:rPr lang="sl-SI" altLang="en-US" sz="1800" i="1"/>
              <a:t>i</a:t>
            </a:r>
            <a:r>
              <a:rPr lang="sl-SI" altLang="en-US" sz="1800"/>
              <a:t>-to točko</a:t>
            </a:r>
          </a:p>
          <a:p>
            <a:pPr eaLnBrk="1" hangingPunct="1">
              <a:spcBef>
                <a:spcPts val="600"/>
              </a:spcBef>
              <a:buFontTx/>
              <a:buAutoNum type="arabicPeriod" startAt="2"/>
            </a:pPr>
            <a:r>
              <a:rPr lang="sl-SI" altLang="en-US" sz="1800"/>
              <a:t>Za par točk (x, y, 1)</a:t>
            </a:r>
            <a:r>
              <a:rPr lang="sl-SI" altLang="en-US" sz="1800" i="1" baseline="30000"/>
              <a:t>T</a:t>
            </a:r>
            <a:r>
              <a:rPr lang="sl-SI" altLang="en-US" sz="1800"/>
              <a:t> in (x</a:t>
            </a:r>
            <a:r>
              <a:rPr lang="sl-SI" altLang="en-US" sz="1800">
                <a:sym typeface="Symbol" panose="05050102010706020507" pitchFamily="18" charset="2"/>
              </a:rPr>
              <a:t></a:t>
            </a:r>
            <a:r>
              <a:rPr lang="sl-SI" altLang="en-US" sz="1800"/>
              <a:t>, y</a:t>
            </a:r>
            <a:r>
              <a:rPr lang="sl-SI" altLang="en-US" sz="1800">
                <a:sym typeface="Symbol" panose="05050102010706020507" pitchFamily="18" charset="2"/>
              </a:rPr>
              <a:t></a:t>
            </a:r>
            <a:r>
              <a:rPr lang="sl-SI" altLang="en-US" sz="1800"/>
              <a:t>, 1)</a:t>
            </a:r>
            <a:r>
              <a:rPr lang="sl-SI" altLang="en-US" sz="1800" i="1" baseline="30000"/>
              <a:t>T</a:t>
            </a:r>
            <a:r>
              <a:rPr lang="sl-SI" altLang="en-US" sz="1800"/>
              <a:t> torej velja:</a:t>
            </a:r>
          </a:p>
          <a:p>
            <a:pPr eaLnBrk="1" hangingPunct="1">
              <a:spcBef>
                <a:spcPct val="0"/>
              </a:spcBef>
              <a:buFontTx/>
              <a:buAutoNum type="arabicPeriod" startAt="2"/>
            </a:pPr>
            <a:endParaRPr lang="sl-SI" altLang="en-US" sz="1800"/>
          </a:p>
          <a:p>
            <a:pPr eaLnBrk="1" hangingPunct="1">
              <a:spcBef>
                <a:spcPct val="0"/>
              </a:spcBef>
              <a:buFontTx/>
              <a:buAutoNum type="arabicPeriod" startAt="2"/>
            </a:pPr>
            <a:endParaRPr lang="sl-SI" altLang="en-US" sz="1800"/>
          </a:p>
          <a:p>
            <a:pPr eaLnBrk="1" hangingPunct="1">
              <a:spcBef>
                <a:spcPct val="0"/>
              </a:spcBef>
              <a:buFontTx/>
              <a:buAutoNum type="arabicPeriod" startAt="2"/>
            </a:pPr>
            <a:r>
              <a:rPr lang="sl-SI" altLang="en-US" sz="1800"/>
              <a:t>Za </a:t>
            </a:r>
            <a:r>
              <a:rPr lang="sl-SI" altLang="en-US" sz="1800" i="1"/>
              <a:t>N</a:t>
            </a:r>
            <a:r>
              <a:rPr lang="sl-SI" altLang="en-US" sz="1800"/>
              <a:t> ujemajočih se točk:</a:t>
            </a:r>
          </a:p>
          <a:p>
            <a:pPr eaLnBrk="1" hangingPunct="1">
              <a:spcBef>
                <a:spcPct val="0"/>
              </a:spcBef>
              <a:buFontTx/>
              <a:buAutoNum type="arabicPeriod" startAt="2"/>
            </a:pPr>
            <a:endParaRPr lang="sl-SI" altLang="en-US" sz="1800"/>
          </a:p>
          <a:p>
            <a:pPr eaLnBrk="1" hangingPunct="1">
              <a:spcBef>
                <a:spcPct val="0"/>
              </a:spcBef>
              <a:buFontTx/>
              <a:buAutoNum type="arabicPeriod" startAt="2"/>
            </a:pPr>
            <a:endParaRPr lang="sl-SI" altLang="en-US" sz="1800"/>
          </a:p>
          <a:p>
            <a:pPr eaLnBrk="1" hangingPunct="1">
              <a:spcBef>
                <a:spcPct val="0"/>
              </a:spcBef>
              <a:buFontTx/>
              <a:buAutoNum type="arabicPeriod" startAt="2"/>
            </a:pPr>
            <a:endParaRPr lang="sl-SI" altLang="en-US" sz="1800"/>
          </a:p>
          <a:p>
            <a:pPr eaLnBrk="1" hangingPunct="1">
              <a:spcBef>
                <a:spcPct val="0"/>
              </a:spcBef>
              <a:buFontTx/>
              <a:buAutoNum type="arabicPeriod" startAt="2"/>
            </a:pPr>
            <a:endParaRPr lang="sl-SI" altLang="en-US" sz="1800"/>
          </a:p>
          <a:p>
            <a:pPr eaLnBrk="1" hangingPunct="1">
              <a:spcBef>
                <a:spcPct val="0"/>
              </a:spcBef>
              <a:buFontTx/>
              <a:buAutoNum type="arabicPeriod" startAt="2"/>
            </a:pPr>
            <a:endParaRPr lang="sl-SI" altLang="en-US" sz="1800"/>
          </a:p>
          <a:p>
            <a:pPr eaLnBrk="1" hangingPunct="1">
              <a:spcBef>
                <a:spcPct val="0"/>
              </a:spcBef>
              <a:buFontTx/>
              <a:buAutoNum type="arabicPeriod" startAt="2"/>
            </a:pPr>
            <a:endParaRPr lang="sl-SI" altLang="en-US" sz="1800"/>
          </a:p>
          <a:p>
            <a:pPr eaLnBrk="1" hangingPunct="1">
              <a:spcBef>
                <a:spcPct val="0"/>
              </a:spcBef>
              <a:buFontTx/>
              <a:buAutoNum type="arabicPeriod" startAt="2"/>
            </a:pPr>
            <a:endParaRPr lang="sl-SI" altLang="en-US" sz="1800"/>
          </a:p>
          <a:p>
            <a:pPr eaLnBrk="1" hangingPunct="1">
              <a:spcBef>
                <a:spcPct val="0"/>
              </a:spcBef>
              <a:buFontTx/>
              <a:buAutoNum type="arabicPeriod" startAt="2"/>
            </a:pPr>
            <a:endParaRPr lang="sl-SI" altLang="en-US" sz="1800"/>
          </a:p>
          <a:p>
            <a:pPr eaLnBrk="1" hangingPunct="1">
              <a:spcBef>
                <a:spcPct val="0"/>
              </a:spcBef>
              <a:buFontTx/>
              <a:buAutoNum type="arabicPeriod" startAt="2"/>
            </a:pPr>
            <a:endParaRPr lang="sl-SI" altLang="en-US" sz="1800"/>
          </a:p>
          <a:p>
            <a:pPr eaLnBrk="1" hangingPunct="1">
              <a:spcBef>
                <a:spcPct val="0"/>
              </a:spcBef>
              <a:buFontTx/>
              <a:buAutoNum type="arabicPeriod" startAt="2"/>
            </a:pPr>
            <a:r>
              <a:rPr lang="sl-SI" altLang="en-US" sz="1800"/>
              <a:t>Iščemo rešitev homogenega sistema enačb z 8 neodvisnimi spremenljivkami, zato potrebujemo najmanj 8 enačb oz. slikovnih parov točk – </a:t>
            </a:r>
            <a:r>
              <a:rPr lang="sl-SI" altLang="en-US" sz="1800">
                <a:solidFill>
                  <a:srgbClr val="0000FF"/>
                </a:solidFill>
              </a:rPr>
              <a:t>algoritem 8 točk</a:t>
            </a:r>
            <a:r>
              <a:rPr lang="sl-SI" altLang="en-US" sz="1800"/>
              <a:t>.</a:t>
            </a:r>
          </a:p>
          <a:p>
            <a:pPr eaLnBrk="1" hangingPunct="1">
              <a:spcBef>
                <a:spcPct val="0"/>
              </a:spcBef>
              <a:buFontTx/>
              <a:buAutoNum type="arabicPeriod" startAt="2"/>
            </a:pPr>
            <a:endParaRPr lang="sl-SI" altLang="en-US" sz="1800"/>
          </a:p>
        </p:txBody>
      </p:sp>
      <p:graphicFrame>
        <p:nvGraphicFramePr>
          <p:cNvPr id="109572" name="Predmet 1"/>
          <p:cNvGraphicFramePr>
            <a:graphicFrameLocks noChangeAspect="1"/>
          </p:cNvGraphicFramePr>
          <p:nvPr/>
        </p:nvGraphicFramePr>
        <p:xfrm>
          <a:off x="1268413" y="1385888"/>
          <a:ext cx="1268412" cy="438150"/>
        </p:xfrm>
        <a:graphic>
          <a:graphicData uri="http://schemas.openxmlformats.org/presentationml/2006/ole">
            <mc:AlternateContent xmlns:mc="http://schemas.openxmlformats.org/markup-compatibility/2006">
              <mc:Choice xmlns:v="urn:schemas-microsoft-com:vml" Requires="v">
                <p:oleObj spid="_x0000_s109604" name="Equation" r:id="rId4" imgW="774364" imgH="266584" progId="Equation.DSMT4">
                  <p:embed/>
                </p:oleObj>
              </mc:Choice>
              <mc:Fallback>
                <p:oleObj name="Equation" r:id="rId4" imgW="774364" imgH="266584" progId="Equation.DSMT4">
                  <p:embed/>
                  <p:pic>
                    <p:nvPicPr>
                      <p:cNvPr id="0" name="Predme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8413" y="1385888"/>
                        <a:ext cx="12684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9573" name="Slika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36600" y="2076450"/>
            <a:ext cx="788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4" name="Slika 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96850" y="2743200"/>
            <a:ext cx="880745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5" name="Ograda noge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09576" name="Ograda številke diapozitiva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45EBCD4-93F1-4DB4-8631-DC017BA13660}" type="slidenum">
              <a:rPr lang="en-GB" altLang="sl-SI" sz="1400" smtClean="0"/>
              <a:pPr>
                <a:spcBef>
                  <a:spcPct val="0"/>
                </a:spcBef>
                <a:buFontTx/>
                <a:buNone/>
              </a:pPr>
              <a:t>56</a:t>
            </a:fld>
            <a:endParaRPr lang="en-GB" altLang="sl-SI" sz="1400"/>
          </a:p>
        </p:txBody>
      </p:sp>
    </p:spTree>
  </p:cSld>
  <p:clrMapOvr>
    <a:masterClrMapping/>
  </p:clrMapOvr>
  <p:transition>
    <p:cov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ctrTitle"/>
          </p:nvPr>
        </p:nvSpPr>
        <p:spPr>
          <a:xfrm>
            <a:off x="250825" y="188913"/>
            <a:ext cx="8424863" cy="576262"/>
          </a:xfrm>
        </p:spPr>
        <p:txBody>
          <a:bodyPr/>
          <a:lstStyle/>
          <a:p>
            <a:pPr eaLnBrk="1" hangingPunct="1"/>
            <a:r>
              <a:rPr lang="sl-SI" altLang="en-US" sz="2800" b="1"/>
              <a:t>Algoritem 8 točk </a:t>
            </a:r>
            <a:endParaRPr lang="en-GB" altLang="en-US" sz="2000"/>
          </a:p>
        </p:txBody>
      </p:sp>
      <p:sp>
        <p:nvSpPr>
          <p:cNvPr id="8" name="TextBox 7"/>
          <p:cNvSpPr txBox="1">
            <a:spLocks noRot="1" noChangeAspect="1" noMove="1" noResize="1" noEditPoints="1" noAdjustHandles="1" noChangeArrowheads="1" noChangeShapeType="1" noTextEdit="1"/>
          </p:cNvSpPr>
          <p:nvPr/>
        </p:nvSpPr>
        <p:spPr bwMode="auto">
          <a:xfrm>
            <a:off x="827088" y="908720"/>
            <a:ext cx="7561262" cy="5776068"/>
          </a:xfrm>
          <a:prstGeom prst="rect">
            <a:avLst/>
          </a:prstGeom>
          <a:blipFill rotWithShape="1">
            <a:blip r:embed="rId3" cstate="print"/>
            <a:stretch>
              <a:fillRect l="-565" t="-527" r="-81"/>
            </a:stretch>
          </a:blipFill>
          <a:ln>
            <a:noFill/>
          </a:ln>
        </p:spPr>
        <p:txBody>
          <a:bodyPr/>
          <a:lstStyle/>
          <a:p>
            <a:pPr eaLnBrk="1" hangingPunct="1">
              <a:defRPr/>
            </a:pPr>
            <a:r>
              <a:rPr lang="sl-SI">
                <a:noFill/>
                <a:latin typeface="Arial" charset="0"/>
                <a:cs typeface="Arial" charset="0"/>
              </a:rPr>
              <a:t> </a:t>
            </a:r>
          </a:p>
        </p:txBody>
      </p:sp>
      <p:sp>
        <p:nvSpPr>
          <p:cNvPr id="111620"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11621"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25A7370-6470-4FC8-A0DE-CB4AABFEEAD1}" type="slidenum">
              <a:rPr lang="en-GB" altLang="sl-SI" sz="1400" smtClean="0"/>
              <a:pPr>
                <a:spcBef>
                  <a:spcPct val="0"/>
                </a:spcBef>
                <a:buFontTx/>
                <a:buNone/>
              </a:pPr>
              <a:t>57</a:t>
            </a:fld>
            <a:endParaRPr lang="en-GB" altLang="sl-SI" sz="1400"/>
          </a:p>
        </p:txBody>
      </p:sp>
    </p:spTree>
  </p:cSld>
  <p:clrMapOvr>
    <a:masterClrMapping/>
  </p:clrMapOvr>
  <p:transition>
    <p:cove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136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73D6A1D-6F46-4951-9383-D0D0261FEE59}" type="slidenum">
              <a:rPr lang="en-GB" altLang="en-US" sz="1400" smtClean="0"/>
              <a:pPr>
                <a:spcBef>
                  <a:spcPct val="0"/>
                </a:spcBef>
                <a:buFontTx/>
                <a:buNone/>
              </a:pPr>
              <a:t>58</a:t>
            </a:fld>
            <a:endParaRPr lang="en-GB" altLang="en-US" sz="1400"/>
          </a:p>
        </p:txBody>
      </p:sp>
      <p:sp>
        <p:nvSpPr>
          <p:cNvPr id="113668" name="Rectangle 2"/>
          <p:cNvSpPr>
            <a:spLocks noGrp="1" noChangeArrowheads="1"/>
          </p:cNvSpPr>
          <p:nvPr>
            <p:ph type="body" idx="1"/>
          </p:nvPr>
        </p:nvSpPr>
        <p:spPr>
          <a:xfrm>
            <a:off x="468313" y="2708275"/>
            <a:ext cx="8229600" cy="1008063"/>
          </a:xfrm>
        </p:spPr>
        <p:txBody>
          <a:bodyPr/>
          <a:lstStyle/>
          <a:p>
            <a:pPr algn="ctr" eaLnBrk="1" hangingPunct="1">
              <a:buFontTx/>
              <a:buNone/>
            </a:pPr>
            <a:r>
              <a:rPr lang="sl-SI" altLang="en-US" sz="3600"/>
              <a:t>Poravnava slik</a:t>
            </a:r>
          </a:p>
        </p:txBody>
      </p:sp>
    </p:spTree>
  </p:cSld>
  <p:clrMapOvr>
    <a:masterClrMapping/>
  </p:clrMapOvr>
  <p:transition>
    <p:cove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ctrTitle"/>
          </p:nvPr>
        </p:nvSpPr>
        <p:spPr>
          <a:xfrm>
            <a:off x="250825" y="188913"/>
            <a:ext cx="8424863" cy="576262"/>
          </a:xfrm>
        </p:spPr>
        <p:txBody>
          <a:bodyPr/>
          <a:lstStyle/>
          <a:p>
            <a:pPr eaLnBrk="1" hangingPunct="1"/>
            <a:r>
              <a:rPr lang="sl-SI" altLang="en-US" sz="2800" b="1"/>
              <a:t>IZHODIŠČA</a:t>
            </a:r>
            <a:endParaRPr lang="en-GB" altLang="en-US" sz="2000"/>
          </a:p>
        </p:txBody>
      </p:sp>
      <p:sp>
        <p:nvSpPr>
          <p:cNvPr id="115715" name="TextBox 5"/>
          <p:cNvSpPr txBox="1">
            <a:spLocks noChangeArrowheads="1"/>
          </p:cNvSpPr>
          <p:nvPr/>
        </p:nvSpPr>
        <p:spPr bwMode="auto">
          <a:xfrm>
            <a:off x="900113" y="981075"/>
            <a:ext cx="7704137"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u="sng"/>
              <a:t>Definicija</a:t>
            </a:r>
          </a:p>
          <a:p>
            <a:pPr eaLnBrk="1" hangingPunct="1">
              <a:spcBef>
                <a:spcPts val="600"/>
              </a:spcBef>
              <a:buFontTx/>
              <a:buNone/>
            </a:pPr>
            <a:r>
              <a:rPr lang="sl-SI" altLang="en-US" sz="1800"/>
              <a:t>	</a:t>
            </a:r>
            <a:r>
              <a:rPr lang="sl-SI" altLang="en-US" sz="1800" b="1"/>
              <a:t>Poravnava slik</a:t>
            </a:r>
            <a:r>
              <a:rPr lang="sl-SI" altLang="en-US" sz="1800"/>
              <a:t> (</a:t>
            </a:r>
            <a:r>
              <a:rPr lang="sl-SI" altLang="en-US" sz="1800" i="1"/>
              <a:t>image registration</a:t>
            </a:r>
            <a:r>
              <a:rPr lang="sl-SI" altLang="en-US" sz="1800"/>
              <a:t>) je postopek, pri katerem skušamo čim natančneje prekriti dve sliki, ki sta bili posneti v različnih časih, iz različnih zornih kotov ali z različnimi senzorji, ali pa primerjamo posneto sceno z modelom.</a:t>
            </a:r>
          </a:p>
          <a:p>
            <a:pPr eaLnBrk="1" hangingPunct="1">
              <a:spcBef>
                <a:spcPts val="600"/>
              </a:spcBef>
              <a:buFontTx/>
              <a:buNone/>
            </a:pPr>
            <a:r>
              <a:rPr lang="sl-SI" altLang="en-US" sz="1800"/>
              <a:t>	Izvorno (</a:t>
            </a:r>
            <a:r>
              <a:rPr lang="sl-SI" altLang="en-US" sz="1800" i="1"/>
              <a:t>source</a:t>
            </a:r>
            <a:r>
              <a:rPr lang="sl-SI" altLang="en-US" sz="1800"/>
              <a:t>) ali opazovano sliko (</a:t>
            </a:r>
            <a:r>
              <a:rPr lang="sl-SI" altLang="en-US" sz="1800" i="1"/>
              <a:t>sensed)</a:t>
            </a:r>
            <a:r>
              <a:rPr lang="sl-SI" altLang="en-US" sz="1800"/>
              <a:t> geometrijsko poravnavamo z referenčno (</a:t>
            </a:r>
            <a:r>
              <a:rPr lang="sl-SI" altLang="en-US" sz="1800" i="1"/>
              <a:t>reference</a:t>
            </a:r>
            <a:r>
              <a:rPr lang="sl-SI" altLang="en-US" sz="1800"/>
              <a:t>) ali ciljno sliko (</a:t>
            </a:r>
            <a:r>
              <a:rPr lang="sl-SI" altLang="en-US" sz="1800" i="1"/>
              <a:t>target)</a:t>
            </a:r>
            <a:r>
              <a:rPr lang="sl-SI" altLang="en-US" sz="1800"/>
              <a:t>.</a:t>
            </a:r>
            <a:r>
              <a:rPr lang="sl-SI" altLang="en-US" sz="1800" u="sng"/>
              <a:t> </a:t>
            </a:r>
          </a:p>
          <a:p>
            <a:pPr eaLnBrk="1" hangingPunct="1">
              <a:spcBef>
                <a:spcPts val="600"/>
              </a:spcBef>
              <a:buFontTx/>
              <a:buAutoNum type="arabicPeriod" startAt="2"/>
            </a:pPr>
            <a:r>
              <a:rPr lang="sl-SI" altLang="en-US" sz="1800" u="sng"/>
              <a:t>Razdelitev algoritmov za poravnavo</a:t>
            </a:r>
          </a:p>
          <a:p>
            <a:pPr lvl="1" eaLnBrk="1" hangingPunct="1">
              <a:spcBef>
                <a:spcPts val="600"/>
              </a:spcBef>
              <a:buFont typeface="Arial" panose="020B0604020202020204" pitchFamily="34" charset="0"/>
              <a:buAutoNum type="alphaLcParenR"/>
            </a:pPr>
            <a:r>
              <a:rPr lang="sl-SI" altLang="en-US" sz="1800"/>
              <a:t>slikovni prostor</a:t>
            </a:r>
            <a:endParaRPr lang="sl-SI" altLang="en-US" sz="1800" u="sng"/>
          </a:p>
          <a:p>
            <a:pPr lvl="2" eaLnBrk="1" hangingPunct="1">
              <a:spcBef>
                <a:spcPts val="600"/>
              </a:spcBef>
            </a:pPr>
            <a:r>
              <a:rPr lang="sl-SI" altLang="en-US" sz="1800"/>
              <a:t>temelječi na intenziteti pikslov</a:t>
            </a:r>
          </a:p>
          <a:p>
            <a:pPr lvl="2" eaLnBrk="1" hangingPunct="1">
              <a:spcBef>
                <a:spcPts val="600"/>
              </a:spcBef>
            </a:pPr>
            <a:r>
              <a:rPr lang="sl-SI" altLang="en-US" sz="1800"/>
              <a:t>temelječi na značilnicah slik</a:t>
            </a:r>
          </a:p>
          <a:p>
            <a:pPr lvl="2" eaLnBrk="1" hangingPunct="1">
              <a:spcBef>
                <a:spcPts val="600"/>
              </a:spcBef>
            </a:pPr>
            <a:r>
              <a:rPr lang="sl-SI" altLang="en-US" sz="1800"/>
              <a:t>temelječi na linearnih transformacijah (toge, afine)</a:t>
            </a:r>
          </a:p>
          <a:p>
            <a:pPr lvl="2" eaLnBrk="1" hangingPunct="1">
              <a:spcBef>
                <a:spcPts val="600"/>
              </a:spcBef>
            </a:pPr>
            <a:r>
              <a:rPr lang="sl-SI" altLang="en-US" sz="1800"/>
              <a:t>temelječi na nelinearnih transformacijah (netoge – elastične)</a:t>
            </a:r>
          </a:p>
          <a:p>
            <a:pPr lvl="1" eaLnBrk="1" hangingPunct="1">
              <a:spcBef>
                <a:spcPts val="600"/>
              </a:spcBef>
              <a:buFont typeface="Arial" panose="020B0604020202020204" pitchFamily="34" charset="0"/>
              <a:buAutoNum type="alphaLcParenR"/>
            </a:pPr>
            <a:r>
              <a:rPr lang="sl-SI" altLang="en-US" sz="1800"/>
              <a:t>frekvenčni prostor</a:t>
            </a:r>
          </a:p>
          <a:p>
            <a:pPr lvl="2" eaLnBrk="1" hangingPunct="1">
              <a:spcBef>
                <a:spcPts val="600"/>
              </a:spcBef>
            </a:pPr>
            <a:r>
              <a:rPr lang="sl-SI" altLang="en-US" sz="1800"/>
              <a:t>temelječi na faznem in amplitudnem spektru</a:t>
            </a:r>
            <a:endParaRPr lang="en-GB" altLang="en-US" sz="1800"/>
          </a:p>
        </p:txBody>
      </p:sp>
      <p:sp>
        <p:nvSpPr>
          <p:cNvPr id="11571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15717"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0A7E30C-300C-4EA3-BCEB-4F6E7348A508}" type="slidenum">
              <a:rPr lang="en-GB" altLang="sl-SI" sz="1400" smtClean="0"/>
              <a:pPr>
                <a:spcBef>
                  <a:spcPct val="0"/>
                </a:spcBef>
                <a:buFontTx/>
                <a:buNone/>
              </a:pPr>
              <a:t>59</a:t>
            </a:fld>
            <a:endParaRPr lang="en-GB" altLang="sl-SI" sz="1400"/>
          </a:p>
        </p:txBody>
      </p:sp>
    </p:spTree>
  </p:cSld>
  <p:clrMapOvr>
    <a:masterClrMapping/>
  </p:clrMapOvr>
  <p:transition>
    <p:cove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ctrTitle"/>
          </p:nvPr>
        </p:nvSpPr>
        <p:spPr>
          <a:xfrm>
            <a:off x="250825" y="188913"/>
            <a:ext cx="8424863" cy="576262"/>
          </a:xfrm>
        </p:spPr>
        <p:txBody>
          <a:bodyPr/>
          <a:lstStyle/>
          <a:p>
            <a:pPr eaLnBrk="1" hangingPunct="1"/>
            <a:r>
              <a:rPr lang="sl-SI" altLang="en-US" sz="2800" b="1"/>
              <a:t>UPORABNOST PORAVNAVE SLIK</a:t>
            </a:r>
            <a:endParaRPr lang="en-GB" altLang="en-US" sz="2000"/>
          </a:p>
        </p:txBody>
      </p:sp>
      <p:sp>
        <p:nvSpPr>
          <p:cNvPr id="117763" name="TextBox 5"/>
          <p:cNvSpPr txBox="1">
            <a:spLocks noChangeArrowheads="1"/>
          </p:cNvSpPr>
          <p:nvPr/>
        </p:nvSpPr>
        <p:spPr bwMode="auto">
          <a:xfrm>
            <a:off x="900113" y="712788"/>
            <a:ext cx="7704137" cy="566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t>Poravnava je potrebna, če hočemo primerjati ali združevati (spajati) slike, ki izhajajo iz različnih meritev (snemanj).</a:t>
            </a:r>
          </a:p>
          <a:p>
            <a:pPr eaLnBrk="1" hangingPunct="1">
              <a:spcBef>
                <a:spcPts val="600"/>
              </a:spcBef>
              <a:buFontTx/>
              <a:buAutoNum type="arabicPeriod"/>
            </a:pPr>
            <a:r>
              <a:rPr lang="sl-SI" altLang="en-US" sz="1800" u="sng"/>
              <a:t>Področja uporabe</a:t>
            </a:r>
          </a:p>
          <a:p>
            <a:pPr lvl="1" eaLnBrk="1" hangingPunct="1">
              <a:spcBef>
                <a:spcPts val="600"/>
              </a:spcBef>
              <a:buFont typeface="Arial" panose="020B0604020202020204" pitchFamily="34" charset="0"/>
              <a:buAutoNum type="alphaLcParenR"/>
            </a:pPr>
            <a:r>
              <a:rPr lang="sl-SI" altLang="en-US" sz="1600"/>
              <a:t>daljinsko zaznavanje (</a:t>
            </a:r>
            <a:r>
              <a:rPr lang="sl-SI" altLang="en-US" sz="1600" i="1"/>
              <a:t>remote sensing</a:t>
            </a:r>
            <a:r>
              <a:rPr lang="sl-SI" altLang="en-US" sz="1600"/>
              <a:t>)</a:t>
            </a:r>
          </a:p>
          <a:p>
            <a:pPr lvl="2" eaLnBrk="1" hangingPunct="1">
              <a:spcBef>
                <a:spcPct val="0"/>
              </a:spcBef>
            </a:pPr>
            <a:r>
              <a:rPr lang="sl-SI" altLang="en-US" sz="1400"/>
              <a:t>multispektralna klasifikacija</a:t>
            </a:r>
          </a:p>
          <a:p>
            <a:pPr lvl="2" eaLnBrk="1" hangingPunct="1">
              <a:spcBef>
                <a:spcPct val="0"/>
              </a:spcBef>
            </a:pPr>
            <a:r>
              <a:rPr lang="sl-SI" altLang="en-US" sz="1400"/>
              <a:t>opazovanje okolja in sprememb</a:t>
            </a:r>
          </a:p>
          <a:p>
            <a:pPr lvl="2" eaLnBrk="1" hangingPunct="1">
              <a:spcBef>
                <a:spcPct val="0"/>
              </a:spcBef>
            </a:pPr>
            <a:r>
              <a:rPr lang="sl-SI" altLang="en-US" sz="1400"/>
              <a:t>tvorba mozaičnih slik</a:t>
            </a:r>
          </a:p>
          <a:p>
            <a:pPr lvl="2" eaLnBrk="1" hangingPunct="1">
              <a:spcBef>
                <a:spcPct val="0"/>
              </a:spcBef>
            </a:pPr>
            <a:r>
              <a:rPr lang="sl-SI" altLang="en-US" sz="1400"/>
              <a:t>napovedovanje vremena</a:t>
            </a:r>
          </a:p>
          <a:p>
            <a:pPr lvl="2" eaLnBrk="1" hangingPunct="1">
              <a:spcBef>
                <a:spcPct val="0"/>
              </a:spcBef>
            </a:pPr>
            <a:r>
              <a:rPr lang="sl-SI" altLang="en-US" sz="1400"/>
              <a:t>vključevanje v geografske informacijske sisteme (GIS)</a:t>
            </a:r>
          </a:p>
          <a:p>
            <a:pPr lvl="1" eaLnBrk="1" hangingPunct="1">
              <a:spcBef>
                <a:spcPts val="600"/>
              </a:spcBef>
              <a:buFont typeface="Arial" panose="020B0604020202020204" pitchFamily="34" charset="0"/>
              <a:buAutoNum type="alphaLcParenR"/>
            </a:pPr>
            <a:r>
              <a:rPr lang="sl-SI" altLang="en-US" sz="1600"/>
              <a:t>medicina</a:t>
            </a:r>
          </a:p>
          <a:p>
            <a:pPr lvl="2" eaLnBrk="1" hangingPunct="1">
              <a:spcBef>
                <a:spcPct val="0"/>
              </a:spcBef>
            </a:pPr>
            <a:r>
              <a:rPr lang="sl-SI" altLang="en-US" sz="1400"/>
              <a:t>združevanje posnetkov CT in NMR</a:t>
            </a:r>
          </a:p>
          <a:p>
            <a:pPr lvl="2" eaLnBrk="1" hangingPunct="1">
              <a:spcBef>
                <a:spcPct val="0"/>
              </a:spcBef>
            </a:pPr>
            <a:r>
              <a:rPr lang="sl-SI" altLang="en-US" sz="1400"/>
              <a:t>opazovanje rasti tumorjev</a:t>
            </a:r>
          </a:p>
          <a:p>
            <a:pPr lvl="2" eaLnBrk="1" hangingPunct="1">
              <a:spcBef>
                <a:spcPct val="0"/>
              </a:spcBef>
            </a:pPr>
            <a:r>
              <a:rPr lang="sl-SI" altLang="en-US" sz="1400"/>
              <a:t>preverjanje učinkov terapije</a:t>
            </a:r>
          </a:p>
          <a:p>
            <a:pPr lvl="2" eaLnBrk="1" hangingPunct="1">
              <a:spcBef>
                <a:spcPct val="0"/>
              </a:spcBef>
            </a:pPr>
            <a:r>
              <a:rPr lang="sl-SI" altLang="en-US" sz="1400"/>
              <a:t>primerjava posnetkov z anatomskimi atlasi</a:t>
            </a:r>
          </a:p>
          <a:p>
            <a:pPr lvl="2" eaLnBrk="1" hangingPunct="1">
              <a:spcBef>
                <a:spcPct val="0"/>
              </a:spcBef>
            </a:pPr>
            <a:r>
              <a:rPr lang="sl-SI" altLang="en-US" sz="1400"/>
              <a:t>usklajevanje operativnih modelov in pacienta med operacijo</a:t>
            </a:r>
          </a:p>
          <a:p>
            <a:pPr lvl="1" eaLnBrk="1" hangingPunct="1">
              <a:spcBef>
                <a:spcPts val="600"/>
              </a:spcBef>
              <a:buFont typeface="Arial" panose="020B0604020202020204" pitchFamily="34" charset="0"/>
              <a:buAutoNum type="alphaLcParenR"/>
            </a:pPr>
            <a:r>
              <a:rPr lang="sl-SI" altLang="en-US" sz="1600"/>
              <a:t>kartografija</a:t>
            </a:r>
          </a:p>
          <a:p>
            <a:pPr lvl="2" eaLnBrk="1" hangingPunct="1">
              <a:spcBef>
                <a:spcPct val="0"/>
              </a:spcBef>
            </a:pPr>
            <a:r>
              <a:rPr lang="sl-SI" altLang="en-US" sz="1400"/>
              <a:t>posodabljanje zemljevidov</a:t>
            </a:r>
          </a:p>
          <a:p>
            <a:pPr lvl="1" eaLnBrk="1" hangingPunct="1">
              <a:spcBef>
                <a:spcPts val="600"/>
              </a:spcBef>
              <a:buFont typeface="Arial" panose="020B0604020202020204" pitchFamily="34" charset="0"/>
              <a:buAutoNum type="alphaLcParenR"/>
            </a:pPr>
            <a:r>
              <a:rPr lang="sl-SI" altLang="en-US" sz="1600"/>
              <a:t>vojska</a:t>
            </a:r>
          </a:p>
          <a:p>
            <a:pPr lvl="2" eaLnBrk="1" hangingPunct="1">
              <a:spcBef>
                <a:spcPct val="0"/>
              </a:spcBef>
            </a:pPr>
            <a:r>
              <a:rPr lang="sl-SI" altLang="en-US" sz="1400"/>
              <a:t>razpoznavanje objektov</a:t>
            </a:r>
          </a:p>
          <a:p>
            <a:pPr lvl="2" eaLnBrk="1" hangingPunct="1">
              <a:spcBef>
                <a:spcPct val="0"/>
              </a:spcBef>
            </a:pPr>
            <a:r>
              <a:rPr lang="sl-SI" altLang="en-US" sz="1400"/>
              <a:t>slednje objektom</a:t>
            </a:r>
          </a:p>
          <a:p>
            <a:pPr lvl="1" eaLnBrk="1" hangingPunct="1">
              <a:spcBef>
                <a:spcPts val="600"/>
              </a:spcBef>
              <a:buFont typeface="Arial" panose="020B0604020202020204" pitchFamily="34" charset="0"/>
              <a:buAutoNum type="alphaLcParenR" startAt="5"/>
            </a:pPr>
            <a:r>
              <a:rPr lang="sl-SI" altLang="en-US" sz="1600"/>
              <a:t>šport</a:t>
            </a:r>
          </a:p>
          <a:p>
            <a:pPr lvl="2" eaLnBrk="1" hangingPunct="1">
              <a:spcBef>
                <a:spcPct val="0"/>
              </a:spcBef>
            </a:pPr>
            <a:r>
              <a:rPr lang="sl-SI" altLang="en-US" sz="1400"/>
              <a:t>razpoznavanje elementov igre in sledenje igri itd.</a:t>
            </a:r>
            <a:endParaRPr lang="en-GB" altLang="en-US" sz="1400"/>
          </a:p>
        </p:txBody>
      </p:sp>
      <p:sp>
        <p:nvSpPr>
          <p:cNvPr id="117764"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17765"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8606ED7-FBD8-440E-A9AF-B653C7161FF9}" type="slidenum">
              <a:rPr lang="en-GB" altLang="sl-SI" sz="1400" smtClean="0"/>
              <a:pPr>
                <a:spcBef>
                  <a:spcPct val="0"/>
                </a:spcBef>
                <a:buFontTx/>
                <a:buNone/>
              </a:pPr>
              <a:t>60</a:t>
            </a:fld>
            <a:endParaRPr lang="en-GB" altLang="sl-SI" sz="1400"/>
          </a:p>
        </p:txBody>
      </p:sp>
    </p:spTree>
  </p:cSld>
  <p:clrMapOvr>
    <a:masterClrMapping/>
  </p:clrMapOvr>
  <p:transition>
    <p:cove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ctrTitle"/>
          </p:nvPr>
        </p:nvSpPr>
        <p:spPr>
          <a:xfrm>
            <a:off x="250825" y="188913"/>
            <a:ext cx="8424863" cy="576262"/>
          </a:xfrm>
        </p:spPr>
        <p:txBody>
          <a:bodyPr/>
          <a:lstStyle/>
          <a:p>
            <a:pPr eaLnBrk="1" hangingPunct="1"/>
            <a:r>
              <a:rPr lang="sl-SI" altLang="en-US" sz="2800" b="1"/>
              <a:t>Zgled za poravnavo slik</a:t>
            </a:r>
            <a:endParaRPr lang="en-GB" altLang="en-US" sz="2000"/>
          </a:p>
        </p:txBody>
      </p:sp>
      <p:pic>
        <p:nvPicPr>
          <p:cNvPr id="119811" name="Picture 1" descr="1.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125538"/>
            <a:ext cx="2155825"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2" name="Picture 2" descr="2.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3313" y="1125538"/>
            <a:ext cx="2155825"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3" name="Picture 10" descr="p6-2-b.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3725" y="3213100"/>
            <a:ext cx="287655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4" name="PoljeZBesedilom 1"/>
          <p:cNvSpPr txBox="1">
            <a:spLocks noChangeArrowheads="1"/>
          </p:cNvSpPr>
          <p:nvPr/>
        </p:nvSpPr>
        <p:spPr bwMode="auto">
          <a:xfrm>
            <a:off x="2916238" y="1897063"/>
            <a:ext cx="1149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Opazovana </a:t>
            </a:r>
          </a:p>
          <a:p>
            <a:pPr eaLnBrk="1" hangingPunct="1">
              <a:spcBef>
                <a:spcPct val="0"/>
              </a:spcBef>
              <a:buFontTx/>
              <a:buNone/>
            </a:pPr>
            <a:r>
              <a:rPr lang="sl-SI" altLang="en-US" sz="1400"/>
              <a:t>slika</a:t>
            </a:r>
          </a:p>
        </p:txBody>
      </p:sp>
      <p:sp>
        <p:nvSpPr>
          <p:cNvPr id="119815" name="PoljeZBesedilom 9"/>
          <p:cNvSpPr txBox="1">
            <a:spLocks noChangeArrowheads="1"/>
          </p:cNvSpPr>
          <p:nvPr/>
        </p:nvSpPr>
        <p:spPr bwMode="auto">
          <a:xfrm>
            <a:off x="5006975" y="1916113"/>
            <a:ext cx="115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Referenčna </a:t>
            </a:r>
          </a:p>
          <a:p>
            <a:pPr eaLnBrk="1" hangingPunct="1">
              <a:spcBef>
                <a:spcPct val="0"/>
              </a:spcBef>
              <a:buFontTx/>
              <a:buNone/>
            </a:pPr>
            <a:r>
              <a:rPr lang="sl-SI" altLang="en-US" sz="1400"/>
              <a:t>slika</a:t>
            </a:r>
          </a:p>
        </p:txBody>
      </p:sp>
      <p:sp>
        <p:nvSpPr>
          <p:cNvPr id="3" name="Desna puščica 2"/>
          <p:cNvSpPr/>
          <p:nvPr/>
        </p:nvSpPr>
        <p:spPr>
          <a:xfrm>
            <a:off x="4211638" y="2068513"/>
            <a:ext cx="576262" cy="2809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sl-SI"/>
          </a:p>
        </p:txBody>
      </p:sp>
      <p:sp>
        <p:nvSpPr>
          <p:cNvPr id="119817" name="Ograda noge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19818" name="Ograda številke diapozitiva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947C26F-AF45-404E-8F20-D1F601C1D09D}" type="slidenum">
              <a:rPr lang="en-GB" altLang="sl-SI" sz="1400" smtClean="0"/>
              <a:pPr>
                <a:spcBef>
                  <a:spcPct val="0"/>
                </a:spcBef>
                <a:buFontTx/>
                <a:buNone/>
              </a:pPr>
              <a:t>61</a:t>
            </a:fld>
            <a:endParaRPr lang="en-GB" altLang="sl-SI" sz="1400"/>
          </a:p>
        </p:txBody>
      </p:sp>
    </p:spTree>
  </p:cSld>
  <p:clrMapOvr>
    <a:masterClrMapping/>
  </p:clrMapOvr>
  <p:transition>
    <p:cove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ctrTitle"/>
          </p:nvPr>
        </p:nvSpPr>
        <p:spPr>
          <a:xfrm>
            <a:off x="250825" y="188913"/>
            <a:ext cx="8424863" cy="576262"/>
          </a:xfrm>
        </p:spPr>
        <p:txBody>
          <a:bodyPr/>
          <a:lstStyle/>
          <a:p>
            <a:pPr eaLnBrk="1" hangingPunct="1"/>
            <a:r>
              <a:rPr lang="sl-SI" altLang="en-US" sz="2800" b="1"/>
              <a:t>PARAMETRIČNA PORAVNAVA SLIK</a:t>
            </a:r>
            <a:endParaRPr lang="en-GB" altLang="en-US" sz="2000"/>
          </a:p>
        </p:txBody>
      </p:sp>
      <p:sp>
        <p:nvSpPr>
          <p:cNvPr id="121859" name="TextBox 5"/>
          <p:cNvSpPr txBox="1">
            <a:spLocks noChangeArrowheads="1"/>
          </p:cNvSpPr>
          <p:nvPr/>
        </p:nvSpPr>
        <p:spPr bwMode="auto">
          <a:xfrm>
            <a:off x="900113" y="981075"/>
            <a:ext cx="7704137"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t>O parametrični poravnavi govorimo, če je transformacija izvorne (opazovane) slike predstavljena z manjšim številom parametrov, recimo z rotacijo in premikom cele slike. V nasprotnem primeru govorimo o neparametrični poravnavi slik, recimo s funkcijsko relacijo vseh slikovnih pikslov.</a:t>
            </a:r>
          </a:p>
          <a:p>
            <a:pPr eaLnBrk="1" hangingPunct="1">
              <a:spcBef>
                <a:spcPts val="600"/>
              </a:spcBef>
              <a:buFontTx/>
              <a:buAutoNum type="arabicPeriod"/>
            </a:pPr>
            <a:r>
              <a:rPr lang="sl-SI" altLang="en-US" sz="1800" u="sng"/>
              <a:t>Parametrični model</a:t>
            </a:r>
          </a:p>
          <a:p>
            <a:pPr lvl="1" eaLnBrk="1" hangingPunct="1">
              <a:spcBef>
                <a:spcPts val="600"/>
              </a:spcBef>
              <a:buFont typeface="Arial" panose="020B0604020202020204" pitchFamily="34" charset="0"/>
              <a:buAutoNum type="alphaLcParenR"/>
            </a:pPr>
            <a:r>
              <a:rPr lang="sl-SI" altLang="en-US" sz="1600"/>
              <a:t>s slikovnimi značilnicami</a:t>
            </a:r>
          </a:p>
          <a:p>
            <a:pPr lvl="2" eaLnBrk="1" hangingPunct="1">
              <a:spcBef>
                <a:spcPct val="0"/>
              </a:spcBef>
            </a:pPr>
            <a:r>
              <a:rPr lang="sl-SI" altLang="en-US" sz="1400"/>
              <a:t>na izvorni in ciljni sliki določimo značilne ali nadzorne točke (</a:t>
            </a:r>
            <a:r>
              <a:rPr lang="sl-SI" altLang="en-US" sz="1400" i="1"/>
              <a:t>control points</a:t>
            </a:r>
            <a:r>
              <a:rPr lang="sl-SI" altLang="en-US" sz="1400"/>
              <a:t>)</a:t>
            </a:r>
          </a:p>
          <a:p>
            <a:pPr lvl="2" eaLnBrk="1" hangingPunct="1">
              <a:spcBef>
                <a:spcPct val="0"/>
              </a:spcBef>
            </a:pPr>
            <a:r>
              <a:rPr lang="sl-SI" altLang="en-US" sz="1400"/>
              <a:t>odstranimo nezanesljive točke</a:t>
            </a:r>
          </a:p>
          <a:p>
            <a:pPr lvl="2" eaLnBrk="1" hangingPunct="1">
              <a:spcBef>
                <a:spcPct val="0"/>
              </a:spcBef>
            </a:pPr>
            <a:r>
              <a:rPr lang="sl-SI" altLang="en-US" sz="1400"/>
              <a:t>točke z obeh slik transformiramo po parametričnem modelu </a:t>
            </a:r>
          </a:p>
          <a:p>
            <a:pPr lvl="2" eaLnBrk="1" hangingPunct="1">
              <a:spcBef>
                <a:spcPct val="0"/>
              </a:spcBef>
            </a:pPr>
            <a:r>
              <a:rPr lang="sl-SI" altLang="en-US" sz="1400"/>
              <a:t>poiščemo korespondenco (ujemanje) med točkami izvorne in ciljne slike</a:t>
            </a:r>
          </a:p>
          <a:p>
            <a:pPr lvl="2" eaLnBrk="1" hangingPunct="1">
              <a:spcBef>
                <a:spcPct val="0"/>
              </a:spcBef>
            </a:pPr>
            <a:r>
              <a:rPr lang="sl-SI" altLang="en-US" sz="1400"/>
              <a:t>optimiziramo ujemanje in glede na to določimo parametre za poravnavo</a:t>
            </a:r>
          </a:p>
          <a:p>
            <a:pPr lvl="1" eaLnBrk="1" hangingPunct="1">
              <a:spcBef>
                <a:spcPts val="600"/>
              </a:spcBef>
              <a:buFont typeface="Arial" panose="020B0604020202020204" pitchFamily="34" charset="0"/>
              <a:buAutoNum type="alphaLcParenR"/>
            </a:pPr>
            <a:r>
              <a:rPr lang="sl-SI" altLang="en-US" sz="1600"/>
              <a:t>s slikovnimi piksli (intenzivnostjo pikslov)</a:t>
            </a:r>
          </a:p>
          <a:p>
            <a:pPr lvl="2" eaLnBrk="1" hangingPunct="1">
              <a:spcBef>
                <a:spcPct val="0"/>
              </a:spcBef>
            </a:pPr>
            <a:r>
              <a:rPr lang="sl-SI" altLang="en-US" sz="1400"/>
              <a:t>piksle izvorne slike premaknemo in spremenimo njihovo intenzivnost glede na parametrični model </a:t>
            </a:r>
          </a:p>
          <a:p>
            <a:pPr lvl="2" eaLnBrk="1" hangingPunct="1">
              <a:spcBef>
                <a:spcPct val="0"/>
              </a:spcBef>
            </a:pPr>
            <a:r>
              <a:rPr lang="sl-SI" altLang="en-US" sz="1400"/>
              <a:t>po izbranem optimizacijskem kriteriju kar najbolje poravnamo transformirano izvorno sliko s ciljno sliko</a:t>
            </a:r>
          </a:p>
          <a:p>
            <a:pPr lvl="2" eaLnBrk="1" hangingPunct="1">
              <a:spcBef>
                <a:spcPct val="0"/>
              </a:spcBef>
            </a:pPr>
            <a:r>
              <a:rPr lang="sl-SI" altLang="en-US" sz="1400"/>
              <a:t>pri optimalnem ujemanju določimo parametre za poravnavo</a:t>
            </a:r>
          </a:p>
        </p:txBody>
      </p:sp>
      <p:sp>
        <p:nvSpPr>
          <p:cNvPr id="121860"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21861"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C45421C-05CD-4AA9-AE97-5A3108D5D602}" type="slidenum">
              <a:rPr lang="en-GB" altLang="sl-SI" sz="1400" smtClean="0"/>
              <a:pPr>
                <a:spcBef>
                  <a:spcPct val="0"/>
                </a:spcBef>
                <a:buFontTx/>
                <a:buNone/>
              </a:pPr>
              <a:t>62</a:t>
            </a:fld>
            <a:endParaRPr lang="en-GB" altLang="sl-SI" sz="1400"/>
          </a:p>
        </p:txBody>
      </p:sp>
    </p:spTree>
  </p:cSld>
  <p:clrMapOvr>
    <a:masterClrMapping/>
  </p:clrMapOvr>
  <p:transition>
    <p:cove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ctrTitle"/>
          </p:nvPr>
        </p:nvSpPr>
        <p:spPr>
          <a:xfrm>
            <a:off x="250825" y="188913"/>
            <a:ext cx="8424863" cy="576262"/>
          </a:xfrm>
        </p:spPr>
        <p:txBody>
          <a:bodyPr/>
          <a:lstStyle/>
          <a:p>
            <a:pPr eaLnBrk="1" hangingPunct="1"/>
            <a:r>
              <a:rPr lang="sl-SI" altLang="en-US" sz="2800" b="1"/>
              <a:t>PARAMETRIČNI MODEL ZA PORAVNAVO</a:t>
            </a:r>
            <a:endParaRPr lang="en-GB" altLang="en-US" sz="2000"/>
          </a:p>
        </p:txBody>
      </p:sp>
      <p:sp>
        <p:nvSpPr>
          <p:cNvPr id="123907" name="TextBox 5"/>
          <p:cNvSpPr txBox="1">
            <a:spLocks noChangeArrowheads="1"/>
          </p:cNvSpPr>
          <p:nvPr/>
        </p:nvSpPr>
        <p:spPr bwMode="auto">
          <a:xfrm>
            <a:off x="755650" y="836613"/>
            <a:ext cx="7704138" cy="549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Imejmo izvorno sliko </a:t>
            </a:r>
            <a:r>
              <a:rPr lang="sl-SI" altLang="en-US" sz="1800" b="1"/>
              <a:t>I </a:t>
            </a:r>
            <a:r>
              <a:rPr lang="sl-SI" altLang="en-US" sz="1800"/>
              <a:t>s piksli </a:t>
            </a:r>
            <a:r>
              <a:rPr lang="sl-SI" altLang="en-US" sz="1800" i="1"/>
              <a:t>I</a:t>
            </a:r>
            <a:r>
              <a:rPr lang="sl-SI" altLang="en-US" sz="1800"/>
              <a:t>(</a:t>
            </a:r>
            <a:r>
              <a:rPr lang="sl-SI" altLang="en-US" sz="1800" i="1"/>
              <a:t>i</a:t>
            </a:r>
            <a:r>
              <a:rPr lang="sl-SI" altLang="en-US" sz="1800"/>
              <a:t>,</a:t>
            </a:r>
            <a:r>
              <a:rPr lang="sl-SI" altLang="en-US" sz="1800" i="1"/>
              <a:t>j</a:t>
            </a:r>
            <a:r>
              <a:rPr lang="sl-SI" altLang="en-US" sz="1800"/>
              <a:t>) na koordinatah (</a:t>
            </a:r>
            <a:r>
              <a:rPr lang="sl-SI" altLang="en-US" sz="1800" i="1"/>
              <a:t>i</a:t>
            </a:r>
            <a:r>
              <a:rPr lang="sl-SI" altLang="en-US" sz="1800"/>
              <a:t>,</a:t>
            </a:r>
            <a:r>
              <a:rPr lang="sl-SI" altLang="en-US" sz="1800" i="1"/>
              <a:t>j</a:t>
            </a:r>
            <a:r>
              <a:rPr lang="sl-SI" altLang="en-US" sz="1800"/>
              <a:t>) in ciljno sliko s piksli </a:t>
            </a:r>
            <a:r>
              <a:rPr lang="sl-SI" altLang="en-US" sz="1800" i="1"/>
              <a:t>I</a:t>
            </a:r>
            <a:r>
              <a:rPr lang="sl-SI" altLang="en-US" sz="1800" i="1" baseline="-25000"/>
              <a:t>r</a:t>
            </a:r>
            <a:r>
              <a:rPr lang="sl-SI" altLang="en-US" sz="1800"/>
              <a:t>(</a:t>
            </a:r>
            <a:r>
              <a:rPr lang="sl-SI" altLang="en-US" sz="1800" i="1"/>
              <a:t>i</a:t>
            </a:r>
            <a:r>
              <a:rPr lang="sl-SI" altLang="en-US" sz="1800"/>
              <a:t>,</a:t>
            </a:r>
            <a:r>
              <a:rPr lang="sl-SI" altLang="en-US" sz="1800" i="1"/>
              <a:t>j</a:t>
            </a:r>
            <a:r>
              <a:rPr lang="sl-SI" altLang="en-US" sz="1800"/>
              <a:t>).</a:t>
            </a:r>
          </a:p>
          <a:p>
            <a:pPr eaLnBrk="1" hangingPunct="1">
              <a:spcBef>
                <a:spcPts val="600"/>
              </a:spcBef>
              <a:buFontTx/>
              <a:buAutoNum type="arabicPeriod"/>
            </a:pPr>
            <a:r>
              <a:rPr lang="sl-SI" altLang="en-US" sz="1800"/>
              <a:t>Izvorno sliko želimo poravnati s ciljno sliko, zato jo transformiramo s parametri </a:t>
            </a:r>
            <a:r>
              <a:rPr lang="el-GR" altLang="en-US" sz="1800" b="1"/>
              <a:t>Θ</a:t>
            </a:r>
            <a:r>
              <a:rPr lang="sl-SI" altLang="en-US" sz="1800"/>
              <a:t> in dobimo transformirano sliko </a:t>
            </a:r>
            <a:r>
              <a:rPr lang="sl-SI" altLang="en-US" sz="1800" b="1"/>
              <a:t>I</a:t>
            </a:r>
            <a:r>
              <a:rPr lang="sl-SI" altLang="en-US" sz="1800" i="1" baseline="-25000"/>
              <a:t>t</a:t>
            </a:r>
            <a:r>
              <a:rPr lang="sl-SI" altLang="en-US" sz="1800"/>
              <a:t> s piksli </a:t>
            </a:r>
            <a:r>
              <a:rPr lang="sl-SI" altLang="en-US" sz="1800" i="1"/>
              <a:t>I</a:t>
            </a:r>
            <a:r>
              <a:rPr lang="sl-SI" altLang="en-US" sz="1800" i="1" baseline="-25000"/>
              <a:t>t</a:t>
            </a:r>
            <a:r>
              <a:rPr lang="sl-SI" altLang="en-US" sz="1800"/>
              <a:t>(</a:t>
            </a:r>
            <a:r>
              <a:rPr lang="sl-SI" altLang="en-US" sz="1800" i="1"/>
              <a:t>i</a:t>
            </a:r>
            <a:r>
              <a:rPr lang="sl-SI" altLang="en-US" sz="1800"/>
              <a:t>,</a:t>
            </a:r>
            <a:r>
              <a:rPr lang="sl-SI" altLang="en-US" sz="1800" i="1"/>
              <a:t>j</a:t>
            </a:r>
            <a:r>
              <a:rPr lang="sl-SI" altLang="en-US" sz="1800"/>
              <a:t>).</a:t>
            </a:r>
          </a:p>
          <a:p>
            <a:pPr eaLnBrk="1" hangingPunct="1">
              <a:spcBef>
                <a:spcPts val="600"/>
              </a:spcBef>
              <a:buFontTx/>
              <a:buAutoNum type="arabicPeriod"/>
            </a:pPr>
            <a:r>
              <a:rPr lang="sl-SI" altLang="en-US" sz="1800"/>
              <a:t>Koordinati pikslov (</a:t>
            </a:r>
            <a:r>
              <a:rPr lang="sl-SI" altLang="en-US" sz="1800" i="1"/>
              <a:t>i</a:t>
            </a:r>
            <a:r>
              <a:rPr lang="sl-SI" altLang="en-US" sz="1800"/>
              <a:t>,</a:t>
            </a:r>
            <a:r>
              <a:rPr lang="sl-SI" altLang="en-US" sz="1800" i="1"/>
              <a:t>j</a:t>
            </a:r>
            <a:r>
              <a:rPr lang="sl-SI" altLang="en-US" sz="1800"/>
              <a:t>) v izvorni sliki parametrično pretvorimo v koordinati </a:t>
            </a:r>
            <a:r>
              <a:rPr lang="sl-SI" altLang="en-US" sz="1800" i="1"/>
              <a:t>x</a:t>
            </a:r>
            <a:r>
              <a:rPr lang="el-GR" altLang="en-US" sz="1800" i="1" baseline="-25000"/>
              <a:t>Θ</a:t>
            </a:r>
            <a:r>
              <a:rPr lang="sl-SI" altLang="en-US" sz="1800"/>
              <a:t>(</a:t>
            </a:r>
            <a:r>
              <a:rPr lang="sl-SI" altLang="en-US" sz="1800" i="1"/>
              <a:t>i</a:t>
            </a:r>
            <a:r>
              <a:rPr lang="sl-SI" altLang="en-US" sz="1800"/>
              <a:t>,</a:t>
            </a:r>
            <a:r>
              <a:rPr lang="sl-SI" altLang="en-US" sz="1800" i="1"/>
              <a:t>j</a:t>
            </a:r>
            <a:r>
              <a:rPr lang="sl-SI" altLang="en-US" sz="1800"/>
              <a:t>) in </a:t>
            </a:r>
            <a:r>
              <a:rPr lang="sl-SI" altLang="en-US" sz="1800" i="1"/>
              <a:t>y</a:t>
            </a:r>
            <a:r>
              <a:rPr lang="el-GR" altLang="en-US" sz="1800" i="1" baseline="-25000"/>
              <a:t>Θ</a:t>
            </a:r>
            <a:r>
              <a:rPr lang="sl-SI" altLang="en-US" sz="1800"/>
              <a:t>(</a:t>
            </a:r>
            <a:r>
              <a:rPr lang="sl-SI" altLang="en-US" sz="1800" i="1"/>
              <a:t>i</a:t>
            </a:r>
            <a:r>
              <a:rPr lang="sl-SI" altLang="en-US" sz="1800"/>
              <a:t>,</a:t>
            </a:r>
            <a:r>
              <a:rPr lang="sl-SI" altLang="en-US" sz="1800" i="1"/>
              <a:t>j</a:t>
            </a:r>
            <a:r>
              <a:rPr lang="sl-SI" altLang="en-US" sz="1800"/>
              <a:t>).</a:t>
            </a:r>
          </a:p>
          <a:p>
            <a:pPr eaLnBrk="1" hangingPunct="1">
              <a:spcBef>
                <a:spcPts val="600"/>
              </a:spcBef>
              <a:buFontTx/>
              <a:buAutoNum type="arabicPeriod"/>
            </a:pPr>
            <a:r>
              <a:rPr lang="sl-SI" altLang="en-US" sz="1800"/>
              <a:t>Na transformirani sliki dobimo  zato piksle</a:t>
            </a:r>
          </a:p>
          <a:p>
            <a:pPr eaLnBrk="1" hangingPunct="1">
              <a:spcBef>
                <a:spcPts val="600"/>
              </a:spcBef>
              <a:buFontTx/>
              <a:buNone/>
            </a:pPr>
            <a:r>
              <a:rPr lang="sl-SI" altLang="en-US" sz="1800"/>
              <a:t>	</a:t>
            </a:r>
            <a:r>
              <a:rPr lang="sl-SI" altLang="en-US" sz="1800" i="1"/>
              <a:t>I</a:t>
            </a:r>
            <a:r>
              <a:rPr lang="sl-SI" altLang="en-US" sz="1800" i="1" baseline="-25000"/>
              <a:t>t</a:t>
            </a:r>
            <a:r>
              <a:rPr lang="sl-SI" altLang="en-US" sz="1800"/>
              <a:t>(</a:t>
            </a:r>
            <a:r>
              <a:rPr lang="sl-SI" altLang="en-US" sz="1800" i="1"/>
              <a:t>i</a:t>
            </a:r>
            <a:r>
              <a:rPr lang="sl-SI" altLang="en-US" sz="1800"/>
              <a:t>,</a:t>
            </a:r>
            <a:r>
              <a:rPr lang="sl-SI" altLang="en-US" sz="1800" i="1"/>
              <a:t>j</a:t>
            </a:r>
            <a:r>
              <a:rPr lang="sl-SI" altLang="en-US" sz="1800"/>
              <a:t>) =</a:t>
            </a:r>
            <a:r>
              <a:rPr lang="sl-SI" altLang="en-US" sz="1800" i="1"/>
              <a:t> I</a:t>
            </a:r>
            <a:r>
              <a:rPr lang="sl-SI" altLang="en-US" sz="1800"/>
              <a:t>(</a:t>
            </a:r>
            <a:r>
              <a:rPr lang="sl-SI" altLang="en-US" sz="1800" i="1"/>
              <a:t>x</a:t>
            </a:r>
            <a:r>
              <a:rPr lang="el-GR" altLang="en-US" sz="1800" i="1" baseline="-25000"/>
              <a:t>Θ</a:t>
            </a:r>
            <a:r>
              <a:rPr lang="sl-SI" altLang="en-US" sz="1800"/>
              <a:t>(</a:t>
            </a:r>
            <a:r>
              <a:rPr lang="sl-SI" altLang="en-US" sz="1800" i="1"/>
              <a:t>i</a:t>
            </a:r>
            <a:r>
              <a:rPr lang="sl-SI" altLang="en-US" sz="1800"/>
              <a:t>,</a:t>
            </a:r>
            <a:r>
              <a:rPr lang="sl-SI" altLang="en-US" sz="1800" i="1"/>
              <a:t>j</a:t>
            </a:r>
            <a:r>
              <a:rPr lang="sl-SI" altLang="en-US" sz="1800"/>
              <a:t>),</a:t>
            </a:r>
            <a:r>
              <a:rPr lang="sl-SI" altLang="en-US" sz="1800" i="1"/>
              <a:t>y</a:t>
            </a:r>
            <a:r>
              <a:rPr lang="el-GR" altLang="en-US" sz="1800" i="1" baseline="-25000"/>
              <a:t>Θ</a:t>
            </a:r>
            <a:r>
              <a:rPr lang="sl-SI" altLang="en-US" sz="1800"/>
              <a:t>(</a:t>
            </a:r>
            <a:r>
              <a:rPr lang="sl-SI" altLang="en-US" sz="1800" i="1"/>
              <a:t>i</a:t>
            </a:r>
            <a:r>
              <a:rPr lang="sl-SI" altLang="en-US" sz="1800"/>
              <a:t>,</a:t>
            </a:r>
            <a:r>
              <a:rPr lang="sl-SI" altLang="en-US" sz="1800" i="1"/>
              <a:t>j</a:t>
            </a:r>
            <a:r>
              <a:rPr lang="sl-SI" altLang="en-US" sz="1800"/>
              <a:t>)).</a:t>
            </a:r>
          </a:p>
          <a:p>
            <a:pPr eaLnBrk="1" hangingPunct="1">
              <a:spcBef>
                <a:spcPts val="600"/>
              </a:spcBef>
              <a:buFontTx/>
              <a:buAutoNum type="arabicPeriod" startAt="5"/>
            </a:pPr>
            <a:r>
              <a:rPr lang="sl-SI" altLang="en-US" sz="1800"/>
              <a:t>Iščemo največje možno ujemanje med transformirano izvorno sliko </a:t>
            </a:r>
            <a:r>
              <a:rPr lang="sl-SI" altLang="en-US" sz="1800" i="1"/>
              <a:t>I</a:t>
            </a:r>
            <a:r>
              <a:rPr lang="sl-SI" altLang="en-US" sz="1800" i="1" baseline="-25000"/>
              <a:t>t</a:t>
            </a:r>
            <a:r>
              <a:rPr lang="sl-SI" altLang="en-US" sz="1800"/>
              <a:t>(</a:t>
            </a:r>
            <a:r>
              <a:rPr lang="sl-SI" altLang="en-US" sz="1800" i="1"/>
              <a:t>i</a:t>
            </a:r>
            <a:r>
              <a:rPr lang="sl-SI" altLang="en-US" sz="1800"/>
              <a:t>,</a:t>
            </a:r>
            <a:r>
              <a:rPr lang="sl-SI" altLang="en-US" sz="1800" i="1"/>
              <a:t>j</a:t>
            </a:r>
            <a:r>
              <a:rPr lang="sl-SI" altLang="en-US" sz="1800"/>
              <a:t>) in ciljno sliko </a:t>
            </a:r>
            <a:r>
              <a:rPr lang="sl-SI" altLang="en-US" sz="1800" i="1"/>
              <a:t>I</a:t>
            </a:r>
            <a:r>
              <a:rPr lang="sl-SI" altLang="en-US" sz="1800" i="1" baseline="-25000"/>
              <a:t>r</a:t>
            </a:r>
            <a:r>
              <a:rPr lang="sl-SI" altLang="en-US" sz="1800"/>
              <a:t>(</a:t>
            </a:r>
            <a:r>
              <a:rPr lang="sl-SI" altLang="en-US" sz="1800" i="1"/>
              <a:t>i</a:t>
            </a:r>
            <a:r>
              <a:rPr lang="sl-SI" altLang="en-US" sz="1800"/>
              <a:t>,</a:t>
            </a:r>
            <a:r>
              <a:rPr lang="sl-SI" altLang="en-US" sz="1800" i="1"/>
              <a:t>j</a:t>
            </a:r>
            <a:r>
              <a:rPr lang="sl-SI" altLang="en-US" sz="1800"/>
              <a:t>). </a:t>
            </a:r>
          </a:p>
          <a:p>
            <a:pPr eaLnBrk="1" hangingPunct="1">
              <a:spcBef>
                <a:spcPts val="600"/>
              </a:spcBef>
              <a:buFontTx/>
              <a:buAutoNum type="arabicPeriod" startAt="5"/>
            </a:pPr>
            <a:r>
              <a:rPr lang="sl-SI" altLang="en-US" sz="1800"/>
              <a:t>Najboljše ujemanje iščemo z eno od optimizacijskim metod, recimo z najmanjšo vsoto kvadratnih razlik (</a:t>
            </a:r>
            <a:r>
              <a:rPr lang="sl-SI" altLang="en-US" sz="1800" i="1"/>
              <a:t>sum of squared differences </a:t>
            </a:r>
            <a:r>
              <a:rPr lang="sl-SI" altLang="en-US" sz="1800"/>
              <a:t>- SSD):</a:t>
            </a:r>
          </a:p>
          <a:p>
            <a:pPr eaLnBrk="1" hangingPunct="1">
              <a:spcBef>
                <a:spcPts val="600"/>
              </a:spcBef>
              <a:buFontTx/>
              <a:buAutoNum type="arabicPeriod" startAt="5"/>
            </a:pPr>
            <a:endParaRPr lang="sl-SI" altLang="en-US" sz="1800"/>
          </a:p>
          <a:p>
            <a:pPr eaLnBrk="1" hangingPunct="1">
              <a:spcBef>
                <a:spcPts val="600"/>
              </a:spcBef>
              <a:buFontTx/>
              <a:buAutoNum type="arabicPeriod" startAt="5"/>
            </a:pPr>
            <a:endParaRPr lang="sl-SI" altLang="en-US" sz="1800"/>
          </a:p>
          <a:p>
            <a:pPr eaLnBrk="1" hangingPunct="1">
              <a:spcBef>
                <a:spcPts val="600"/>
              </a:spcBef>
              <a:buFontTx/>
              <a:buAutoNum type="arabicPeriod" startAt="5"/>
            </a:pPr>
            <a:r>
              <a:rPr lang="sl-SI" altLang="en-US" sz="1800"/>
              <a:t>Transformirani koordinati (</a:t>
            </a:r>
            <a:r>
              <a:rPr lang="sl-SI" altLang="en-US" sz="1800" i="1"/>
              <a:t>x</a:t>
            </a:r>
            <a:r>
              <a:rPr lang="el-GR" altLang="en-US" sz="1800" i="1" baseline="-25000"/>
              <a:t>Θ</a:t>
            </a:r>
            <a:r>
              <a:rPr lang="sl-SI" altLang="en-US" sz="1800"/>
              <a:t>,</a:t>
            </a:r>
            <a:r>
              <a:rPr lang="sl-SI" altLang="en-US" sz="1800" i="1"/>
              <a:t> y</a:t>
            </a:r>
            <a:r>
              <a:rPr lang="el-GR" altLang="en-US" sz="1800" i="1" baseline="-25000"/>
              <a:t>Θ</a:t>
            </a:r>
            <a:r>
              <a:rPr lang="sl-SI" altLang="en-US" sz="1800"/>
              <a:t>) bi morali biti celoštevilski, a večinoma nista, zato je potreba korekcija – recimo z bilinearno interpolacijo.</a:t>
            </a:r>
          </a:p>
        </p:txBody>
      </p:sp>
      <p:graphicFrame>
        <p:nvGraphicFramePr>
          <p:cNvPr id="123908" name="Object 6"/>
          <p:cNvGraphicFramePr>
            <a:graphicFrameLocks noChangeAspect="1"/>
          </p:cNvGraphicFramePr>
          <p:nvPr/>
        </p:nvGraphicFramePr>
        <p:xfrm>
          <a:off x="1238250" y="4635500"/>
          <a:ext cx="5381625" cy="808038"/>
        </p:xfrm>
        <a:graphic>
          <a:graphicData uri="http://schemas.openxmlformats.org/presentationml/2006/ole">
            <mc:AlternateContent xmlns:mc="http://schemas.openxmlformats.org/markup-compatibility/2006">
              <mc:Choice xmlns:v="urn:schemas-microsoft-com:vml" Requires="v">
                <p:oleObj spid="_x0000_s123938" name="Equation" r:id="rId4" imgW="2197100" imgH="330200" progId="Equation.3">
                  <p:embed/>
                </p:oleObj>
              </mc:Choice>
              <mc:Fallback>
                <p:oleObj name="Equation" r:id="rId4" imgW="2197100" imgH="330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0" y="4635500"/>
                        <a:ext cx="5381625"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09"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23910"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C40E3F8-1932-4526-A713-789E097C7E7A}" type="slidenum">
              <a:rPr lang="en-GB" altLang="sl-SI" sz="1400" smtClean="0"/>
              <a:pPr>
                <a:spcBef>
                  <a:spcPct val="0"/>
                </a:spcBef>
                <a:buFontTx/>
                <a:buNone/>
              </a:pPr>
              <a:t>63</a:t>
            </a:fld>
            <a:endParaRPr lang="en-GB" altLang="sl-SI" sz="1400"/>
          </a:p>
        </p:txBody>
      </p:sp>
    </p:spTree>
  </p:cSld>
  <p:clrMapOvr>
    <a:masterClrMapping/>
  </p:clrMapOvr>
  <p:transition>
    <p:cove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ctrTitle"/>
          </p:nvPr>
        </p:nvSpPr>
        <p:spPr>
          <a:xfrm>
            <a:off x="250825" y="188913"/>
            <a:ext cx="8424863" cy="576262"/>
          </a:xfrm>
        </p:spPr>
        <p:txBody>
          <a:bodyPr/>
          <a:lstStyle/>
          <a:p>
            <a:pPr eaLnBrk="1" hangingPunct="1"/>
            <a:r>
              <a:rPr lang="sl-SI" altLang="en-US" sz="2800" b="1"/>
              <a:t>BILINEARNA INTERPOLACIJA</a:t>
            </a:r>
            <a:endParaRPr lang="en-GB" altLang="en-US" sz="2000"/>
          </a:p>
        </p:txBody>
      </p:sp>
      <p:sp>
        <p:nvSpPr>
          <p:cNvPr id="125955" name="TextBox 5"/>
          <p:cNvSpPr txBox="1">
            <a:spLocks noChangeArrowheads="1"/>
          </p:cNvSpPr>
          <p:nvPr/>
        </p:nvSpPr>
        <p:spPr bwMode="auto">
          <a:xfrm>
            <a:off x="755650" y="836613"/>
            <a:ext cx="7704138"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Vzemimo, da sta transformirani koordinati piksla (</a:t>
            </a:r>
            <a:r>
              <a:rPr lang="sl-SI" altLang="en-US" sz="1800" i="1"/>
              <a:t>x</a:t>
            </a:r>
            <a:r>
              <a:rPr lang="el-GR" altLang="en-US" sz="1800" i="1" baseline="-25000"/>
              <a:t>Θ</a:t>
            </a:r>
            <a:r>
              <a:rPr lang="sl-SI" altLang="en-US" sz="1800"/>
              <a:t>,</a:t>
            </a:r>
            <a:r>
              <a:rPr lang="sl-SI" altLang="en-US" sz="1800" i="1"/>
              <a:t> y</a:t>
            </a:r>
            <a:r>
              <a:rPr lang="el-GR" altLang="en-US" sz="1800" i="1" baseline="-25000"/>
              <a:t>Θ</a:t>
            </a:r>
            <a:r>
              <a:rPr lang="sl-SI" altLang="en-US" sz="1800"/>
              <a:t>) neceloštevilski, zato ju zapišemo kot vsoto celoštevilskega in frakcijskega dela:</a:t>
            </a:r>
          </a:p>
          <a:p>
            <a:pPr eaLnBrk="1" hangingPunct="1">
              <a:spcBef>
                <a:spcPts val="600"/>
              </a:spcBef>
              <a:buFontTx/>
              <a:buNone/>
            </a:pPr>
            <a:r>
              <a:rPr lang="sl-SI" altLang="en-US" sz="1800"/>
              <a:t>	</a:t>
            </a:r>
            <a:r>
              <a:rPr lang="sl-SI" altLang="en-US" sz="1800" i="1"/>
              <a:t>x</a:t>
            </a:r>
            <a:r>
              <a:rPr lang="el-GR" altLang="en-US" sz="1800" i="1" baseline="-25000"/>
              <a:t>Θ</a:t>
            </a:r>
            <a:r>
              <a:rPr lang="sl-SI" altLang="en-US" sz="1800"/>
              <a:t> = </a:t>
            </a:r>
            <a:r>
              <a:rPr lang="sl-SI" altLang="en-US" sz="1800" i="1"/>
              <a:t>x</a:t>
            </a:r>
            <a:r>
              <a:rPr lang="sl-SI" altLang="en-US" sz="1800" i="1" baseline="-25000"/>
              <a:t>i</a:t>
            </a:r>
            <a:r>
              <a:rPr lang="sl-SI" altLang="en-US" sz="1800"/>
              <a:t> + </a:t>
            </a:r>
            <a:r>
              <a:rPr lang="sl-SI" altLang="en-US" sz="1800" i="1"/>
              <a:t>x</a:t>
            </a:r>
            <a:r>
              <a:rPr lang="sl-SI" altLang="en-US" sz="1800" i="1" baseline="-25000"/>
              <a:t>f </a:t>
            </a:r>
            <a:r>
              <a:rPr lang="sl-SI" altLang="en-US" sz="1800"/>
              <a:t> in </a:t>
            </a:r>
            <a:r>
              <a:rPr lang="sl-SI" altLang="en-US" sz="1800" i="1"/>
              <a:t>y</a:t>
            </a:r>
            <a:r>
              <a:rPr lang="el-GR" altLang="en-US" sz="1800" i="1" baseline="-25000"/>
              <a:t>Θ</a:t>
            </a:r>
            <a:r>
              <a:rPr lang="sl-SI" altLang="en-US" sz="1800"/>
              <a:t> = </a:t>
            </a:r>
            <a:r>
              <a:rPr lang="sl-SI" altLang="en-US" sz="1800" i="1"/>
              <a:t>y</a:t>
            </a:r>
            <a:r>
              <a:rPr lang="sl-SI" altLang="en-US" sz="1800" i="1" baseline="-25000"/>
              <a:t>i</a:t>
            </a:r>
            <a:r>
              <a:rPr lang="sl-SI" altLang="en-US" sz="1800"/>
              <a:t> + </a:t>
            </a:r>
            <a:r>
              <a:rPr lang="sl-SI" altLang="en-US" sz="1800" i="1"/>
              <a:t>y</a:t>
            </a:r>
            <a:r>
              <a:rPr lang="sl-SI" altLang="en-US" sz="1800" i="1" baseline="-25000"/>
              <a:t>f </a:t>
            </a:r>
            <a:endParaRPr lang="sl-SI" altLang="en-US" sz="1800"/>
          </a:p>
          <a:p>
            <a:pPr eaLnBrk="1" hangingPunct="1">
              <a:spcBef>
                <a:spcPts val="600"/>
              </a:spcBef>
              <a:buFontTx/>
              <a:buAutoNum type="arabicPeriod" startAt="2"/>
            </a:pPr>
            <a:r>
              <a:rPr lang="sl-SI" altLang="en-US" sz="1800"/>
              <a:t>V okolici teh neceloštevilskih koordinat izberemo štiri točke s celoštevilskimi koordinatami:</a:t>
            </a:r>
          </a:p>
          <a:p>
            <a:pPr eaLnBrk="1" hangingPunct="1">
              <a:spcBef>
                <a:spcPts val="600"/>
              </a:spcBef>
              <a:buFontTx/>
              <a:buNone/>
            </a:pPr>
            <a:r>
              <a:rPr lang="sl-SI" altLang="en-US" sz="1800"/>
              <a:t>	(</a:t>
            </a:r>
            <a:r>
              <a:rPr lang="sl-SI" altLang="en-US" sz="1800" i="1"/>
              <a:t>x</a:t>
            </a:r>
            <a:r>
              <a:rPr lang="sl-SI" altLang="en-US" sz="1800" i="1" baseline="-25000"/>
              <a:t>i</a:t>
            </a:r>
            <a:r>
              <a:rPr lang="sl-SI" altLang="en-US" sz="1800"/>
              <a:t>,</a:t>
            </a:r>
            <a:r>
              <a:rPr lang="sl-SI" altLang="en-US" sz="1800" i="1"/>
              <a:t>y</a:t>
            </a:r>
            <a:r>
              <a:rPr lang="sl-SI" altLang="en-US" sz="1800" i="1" baseline="-25000"/>
              <a:t>i</a:t>
            </a:r>
            <a:r>
              <a:rPr lang="sl-SI" altLang="en-US" sz="1800"/>
              <a:t>), (</a:t>
            </a:r>
            <a:r>
              <a:rPr lang="sl-SI" altLang="en-US" sz="1800" i="1"/>
              <a:t>x</a:t>
            </a:r>
            <a:r>
              <a:rPr lang="sl-SI" altLang="en-US" sz="1800" i="1" baseline="-25000"/>
              <a:t>i</a:t>
            </a:r>
            <a:r>
              <a:rPr lang="sl-SI" altLang="en-US" sz="1800"/>
              <a:t>+1,</a:t>
            </a:r>
            <a:r>
              <a:rPr lang="sl-SI" altLang="en-US" sz="1800" i="1"/>
              <a:t>y</a:t>
            </a:r>
            <a:r>
              <a:rPr lang="sl-SI" altLang="en-US" sz="1800" i="1" baseline="-25000"/>
              <a:t>i</a:t>
            </a:r>
            <a:r>
              <a:rPr lang="sl-SI" altLang="en-US" sz="1800"/>
              <a:t>), (</a:t>
            </a:r>
            <a:r>
              <a:rPr lang="sl-SI" altLang="en-US" sz="1800" i="1"/>
              <a:t>x</a:t>
            </a:r>
            <a:r>
              <a:rPr lang="sl-SI" altLang="en-US" sz="1800" i="1" baseline="-25000"/>
              <a:t>i</a:t>
            </a:r>
            <a:r>
              <a:rPr lang="sl-SI" altLang="en-US" sz="1800"/>
              <a:t>,</a:t>
            </a:r>
            <a:r>
              <a:rPr lang="sl-SI" altLang="en-US" sz="1800" i="1"/>
              <a:t>y</a:t>
            </a:r>
            <a:r>
              <a:rPr lang="sl-SI" altLang="en-US" sz="1800" i="1" baseline="-25000"/>
              <a:t>i</a:t>
            </a:r>
            <a:r>
              <a:rPr lang="sl-SI" altLang="en-US" sz="1800"/>
              <a:t>+1), (</a:t>
            </a:r>
            <a:r>
              <a:rPr lang="sl-SI" altLang="en-US" sz="1800" i="1"/>
              <a:t>x</a:t>
            </a:r>
            <a:r>
              <a:rPr lang="sl-SI" altLang="en-US" sz="1800" i="1" baseline="-25000"/>
              <a:t>i</a:t>
            </a:r>
            <a:r>
              <a:rPr lang="sl-SI" altLang="en-US" sz="1800"/>
              <a:t>+1,</a:t>
            </a:r>
            <a:r>
              <a:rPr lang="sl-SI" altLang="en-US" sz="1800" i="1"/>
              <a:t>y</a:t>
            </a:r>
            <a:r>
              <a:rPr lang="sl-SI" altLang="en-US" sz="1800" i="1" baseline="-25000"/>
              <a:t>i</a:t>
            </a:r>
            <a:r>
              <a:rPr lang="sl-SI" altLang="en-US" sz="1800"/>
              <a:t>+1)</a:t>
            </a:r>
          </a:p>
          <a:p>
            <a:pPr eaLnBrk="1" hangingPunct="1">
              <a:spcBef>
                <a:spcPts val="600"/>
              </a:spcBef>
              <a:buFontTx/>
              <a:buAutoNum type="arabicPeriod" startAt="3"/>
            </a:pPr>
            <a:r>
              <a:rPr lang="sl-SI" altLang="en-US" sz="1800"/>
              <a:t>Vrednost piksla pri neceloštevilskih koordinatah interpoliramo po naslednjem postopku:</a:t>
            </a:r>
          </a:p>
        </p:txBody>
      </p:sp>
      <p:graphicFrame>
        <p:nvGraphicFramePr>
          <p:cNvPr id="125956" name="Object 2"/>
          <p:cNvGraphicFramePr>
            <a:graphicFrameLocks noChangeAspect="1"/>
          </p:cNvGraphicFramePr>
          <p:nvPr/>
        </p:nvGraphicFramePr>
        <p:xfrm>
          <a:off x="827088" y="3665538"/>
          <a:ext cx="7777162" cy="1493837"/>
        </p:xfrm>
        <a:graphic>
          <a:graphicData uri="http://schemas.openxmlformats.org/presentationml/2006/ole">
            <mc:AlternateContent xmlns:mc="http://schemas.openxmlformats.org/markup-compatibility/2006">
              <mc:Choice xmlns:v="urn:schemas-microsoft-com:vml" Requires="v">
                <p:oleObj spid="_x0000_s125986" name="Equation" r:id="rId4" imgW="3302000" imgH="635000" progId="Equation.3">
                  <p:embed/>
                </p:oleObj>
              </mc:Choice>
              <mc:Fallback>
                <p:oleObj name="Equation" r:id="rId4" imgW="3302000" imgH="6350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3665538"/>
                        <a:ext cx="7777162" cy="1493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5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25958"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21C05D9-C482-48D4-A97E-7345E15E82A9}" type="slidenum">
              <a:rPr lang="en-GB" altLang="sl-SI" sz="1400" smtClean="0"/>
              <a:pPr>
                <a:spcBef>
                  <a:spcPct val="0"/>
                </a:spcBef>
                <a:buFontTx/>
                <a:buNone/>
              </a:pPr>
              <a:t>64</a:t>
            </a:fld>
            <a:endParaRPr lang="en-GB" altLang="sl-SI" sz="1400"/>
          </a:p>
        </p:txBody>
      </p:sp>
    </p:spTree>
  </p:cSld>
  <p:clrMapOvr>
    <a:masterClrMapping/>
  </p:clrMapOvr>
  <p:transition>
    <p:cove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250825" y="188913"/>
            <a:ext cx="8424863" cy="576262"/>
          </a:xfrm>
        </p:spPr>
        <p:txBody>
          <a:bodyPr/>
          <a:lstStyle/>
          <a:p>
            <a:pPr eaLnBrk="1" hangingPunct="1"/>
            <a:r>
              <a:rPr lang="sl-SI" altLang="en-US" sz="2800" b="1"/>
              <a:t>PORAVNAVA SLIK Z NADZORNIMI TOČKAMI</a:t>
            </a:r>
            <a:endParaRPr lang="en-GB" altLang="en-US" sz="2000"/>
          </a:p>
        </p:txBody>
      </p:sp>
      <p:sp>
        <p:nvSpPr>
          <p:cNvPr id="128003" name="TextBox 5"/>
          <p:cNvSpPr txBox="1">
            <a:spLocks noChangeArrowheads="1"/>
          </p:cNvSpPr>
          <p:nvPr/>
        </p:nvSpPr>
        <p:spPr bwMode="auto">
          <a:xfrm>
            <a:off x="755650" y="836613"/>
            <a:ext cx="77041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Na slikah iste scene, posnete iz dveh zornih kotov, najdemo korespondenčne nadzorne točke:</a:t>
            </a:r>
          </a:p>
        </p:txBody>
      </p:sp>
      <p:pic>
        <p:nvPicPr>
          <p:cNvPr id="12800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100" y="1484313"/>
            <a:ext cx="6337300" cy="338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5" name="TextBox 5"/>
          <p:cNvSpPr txBox="1">
            <a:spLocks noChangeArrowheads="1"/>
          </p:cNvSpPr>
          <p:nvPr/>
        </p:nvSpPr>
        <p:spPr bwMode="auto">
          <a:xfrm>
            <a:off x="755650" y="4941888"/>
            <a:ext cx="7704138"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startAt="2"/>
            </a:pPr>
            <a:r>
              <a:rPr lang="sl-SI" altLang="en-US" sz="1800"/>
              <a:t>Izračunamo transformacijsko matriko, ki preslika točke ene slike v korespondenčne točke druge slike.</a:t>
            </a:r>
          </a:p>
          <a:p>
            <a:pPr eaLnBrk="1" hangingPunct="1">
              <a:spcBef>
                <a:spcPts val="600"/>
              </a:spcBef>
              <a:buFontTx/>
              <a:buAutoNum type="arabicPeriod" startAt="2"/>
            </a:pPr>
            <a:r>
              <a:rPr lang="sl-SI" altLang="en-US" sz="1800"/>
              <a:t>S to matriko lahko nato sliki medsebojno poravnamo (obdelamo vse točke).</a:t>
            </a:r>
          </a:p>
        </p:txBody>
      </p:sp>
      <p:sp>
        <p:nvSpPr>
          <p:cNvPr id="12800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28007"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72E6370-DA21-4445-99FA-5D6B3B9B578C}" type="slidenum">
              <a:rPr lang="en-GB" altLang="sl-SI" sz="1400" smtClean="0"/>
              <a:pPr>
                <a:spcBef>
                  <a:spcPct val="0"/>
                </a:spcBef>
                <a:buFontTx/>
                <a:buNone/>
              </a:pPr>
              <a:t>65</a:t>
            </a:fld>
            <a:endParaRPr lang="en-GB" altLang="sl-SI" sz="1400"/>
          </a:p>
        </p:txBody>
      </p:sp>
    </p:spTree>
  </p:cSld>
  <p:clrMapOvr>
    <a:masterClrMapping/>
  </p:clrMapOvr>
  <p:transition>
    <p:cove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ctrTitle"/>
          </p:nvPr>
        </p:nvSpPr>
        <p:spPr>
          <a:xfrm>
            <a:off x="250825" y="188913"/>
            <a:ext cx="8424863" cy="576262"/>
          </a:xfrm>
        </p:spPr>
        <p:txBody>
          <a:bodyPr/>
          <a:lstStyle/>
          <a:p>
            <a:pPr eaLnBrk="1" hangingPunct="1"/>
            <a:r>
              <a:rPr lang="sl-SI" altLang="en-US" sz="2800" b="1"/>
              <a:t>NADZORNE TOČKE – OGLIŠČA</a:t>
            </a:r>
            <a:endParaRPr lang="en-GB" altLang="en-US" sz="2000"/>
          </a:p>
        </p:txBody>
      </p:sp>
      <p:sp>
        <p:nvSpPr>
          <p:cNvPr id="130051" name="TextBox 5"/>
          <p:cNvSpPr txBox="1">
            <a:spLocks noChangeArrowheads="1"/>
          </p:cNvSpPr>
          <p:nvPr/>
        </p:nvSpPr>
        <p:spPr bwMode="auto">
          <a:xfrm>
            <a:off x="755650" y="836613"/>
            <a:ext cx="7704138" cy="127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Nadzorne točke za poravnavo slik  so lahko maloštevilne, a morajo biti izrazite - na primer oglišča.</a:t>
            </a:r>
          </a:p>
          <a:p>
            <a:pPr eaLnBrk="1" hangingPunct="1">
              <a:spcBef>
                <a:spcPts val="600"/>
              </a:spcBef>
              <a:buFontTx/>
              <a:buAutoNum type="arabicPeriod" startAt="2"/>
            </a:pPr>
            <a:r>
              <a:rPr lang="sl-SI" altLang="en-US" sz="1800"/>
              <a:t>Za določanje oglišč se uporablja Harrisov detektor, ki uporablja ustrezno majhen  operator (okno).</a:t>
            </a:r>
          </a:p>
        </p:txBody>
      </p:sp>
      <p:grpSp>
        <p:nvGrpSpPr>
          <p:cNvPr id="130052" name="Group 150"/>
          <p:cNvGrpSpPr>
            <a:grpSpLocks/>
          </p:cNvGrpSpPr>
          <p:nvPr/>
        </p:nvGrpSpPr>
        <p:grpSpPr bwMode="auto">
          <a:xfrm>
            <a:off x="533400" y="2214563"/>
            <a:ext cx="8153400" cy="3614737"/>
            <a:chOff x="533400" y="2215034"/>
            <a:chExt cx="8153400" cy="3614142"/>
          </a:xfrm>
        </p:grpSpPr>
        <p:sp>
          <p:nvSpPr>
            <p:cNvPr id="130055" name="Rectangle 3"/>
            <p:cNvSpPr>
              <a:spLocks noChangeArrowheads="1"/>
            </p:cNvSpPr>
            <p:nvPr/>
          </p:nvSpPr>
          <p:spPr bwMode="auto">
            <a:xfrm>
              <a:off x="533400" y="2238846"/>
              <a:ext cx="2362200" cy="22098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056" name="Text Box 4"/>
            <p:cNvSpPr txBox="1">
              <a:spLocks noChangeArrowheads="1"/>
            </p:cNvSpPr>
            <p:nvPr/>
          </p:nvSpPr>
          <p:spPr bwMode="auto">
            <a:xfrm>
              <a:off x="611560" y="4905846"/>
              <a:ext cx="220784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003399"/>
                  </a:solidFill>
                  <a:cs typeface="Times New Roman" panose="02020603050405020304" pitchFamily="18" charset="0"/>
                </a:rPr>
                <a:t>Enotno območje</a:t>
              </a:r>
              <a:r>
                <a:rPr lang="en-US" altLang="en-US" sz="1800">
                  <a:cs typeface="Times New Roman" panose="02020603050405020304" pitchFamily="18" charset="0"/>
                </a:rPr>
                <a:t>:</a:t>
              </a:r>
              <a:br>
                <a:rPr lang="en-US" altLang="en-US" sz="1800">
                  <a:cs typeface="Times New Roman" panose="02020603050405020304" pitchFamily="18" charset="0"/>
                </a:rPr>
              </a:br>
              <a:r>
                <a:rPr lang="sl-SI" altLang="en-US" sz="1800">
                  <a:cs typeface="Times New Roman" panose="02020603050405020304" pitchFamily="18" charset="0"/>
                </a:rPr>
                <a:t>v nobeni smeri ne sme biti sprememb</a:t>
              </a:r>
              <a:endParaRPr lang="ru-RU" altLang="en-US" sz="1800">
                <a:cs typeface="Times New Roman" panose="02020603050405020304" pitchFamily="18" charset="0"/>
              </a:endParaRPr>
            </a:p>
          </p:txBody>
        </p:sp>
        <p:grpSp>
          <p:nvGrpSpPr>
            <p:cNvPr id="130057" name="Group 5"/>
            <p:cNvGrpSpPr>
              <a:grpSpLocks/>
            </p:cNvGrpSpPr>
            <p:nvPr/>
          </p:nvGrpSpPr>
          <p:grpSpPr bwMode="auto">
            <a:xfrm>
              <a:off x="1371600" y="3458046"/>
              <a:ext cx="703263" cy="677863"/>
              <a:chOff x="892" y="1801"/>
              <a:chExt cx="443" cy="427"/>
            </a:xfrm>
          </p:grpSpPr>
          <p:sp>
            <p:nvSpPr>
              <p:cNvPr id="130193" name="Rectangle 6"/>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94" name="Line 7"/>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95" name="Line 8"/>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96" name="Line 9"/>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97" name="Line 10"/>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58" name="Group 11"/>
            <p:cNvGrpSpPr>
              <a:grpSpLocks/>
            </p:cNvGrpSpPr>
            <p:nvPr/>
          </p:nvGrpSpPr>
          <p:grpSpPr bwMode="auto">
            <a:xfrm>
              <a:off x="1447800" y="3381846"/>
              <a:ext cx="703263" cy="677863"/>
              <a:chOff x="892" y="1801"/>
              <a:chExt cx="443" cy="427"/>
            </a:xfrm>
          </p:grpSpPr>
          <p:sp>
            <p:nvSpPr>
              <p:cNvPr id="130188" name="Rectangle 12"/>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89" name="Line 13"/>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90" name="Line 14"/>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91" name="Line 15"/>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92" name="Line 16"/>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59" name="Group 17"/>
            <p:cNvGrpSpPr>
              <a:grpSpLocks/>
            </p:cNvGrpSpPr>
            <p:nvPr/>
          </p:nvGrpSpPr>
          <p:grpSpPr bwMode="auto">
            <a:xfrm>
              <a:off x="1493838" y="3442171"/>
              <a:ext cx="703262" cy="677863"/>
              <a:chOff x="892" y="1801"/>
              <a:chExt cx="443" cy="427"/>
            </a:xfrm>
          </p:grpSpPr>
          <p:sp>
            <p:nvSpPr>
              <p:cNvPr id="130183" name="Rectangle 18"/>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84" name="Line 19"/>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85" name="Line 20"/>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86" name="Line 21"/>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87" name="Line 22"/>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60" name="Group 23"/>
            <p:cNvGrpSpPr>
              <a:grpSpLocks/>
            </p:cNvGrpSpPr>
            <p:nvPr/>
          </p:nvGrpSpPr>
          <p:grpSpPr bwMode="auto">
            <a:xfrm>
              <a:off x="1436688" y="3543771"/>
              <a:ext cx="703262" cy="677863"/>
              <a:chOff x="892" y="1801"/>
              <a:chExt cx="443" cy="427"/>
            </a:xfrm>
          </p:grpSpPr>
          <p:sp>
            <p:nvSpPr>
              <p:cNvPr id="130178" name="Rectangle 24"/>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79" name="Line 25"/>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80" name="Line 26"/>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81" name="Line 27"/>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82" name="Line 28"/>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61" name="Group 29"/>
            <p:cNvGrpSpPr>
              <a:grpSpLocks/>
            </p:cNvGrpSpPr>
            <p:nvPr/>
          </p:nvGrpSpPr>
          <p:grpSpPr bwMode="auto">
            <a:xfrm>
              <a:off x="1349375" y="3500909"/>
              <a:ext cx="703263" cy="677862"/>
              <a:chOff x="892" y="1801"/>
              <a:chExt cx="443" cy="427"/>
            </a:xfrm>
          </p:grpSpPr>
          <p:sp>
            <p:nvSpPr>
              <p:cNvPr id="130173" name="Rectangle 30"/>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74" name="Line 31"/>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75" name="Line 32"/>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76" name="Line 33"/>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77" name="Line 34"/>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62" name="Group 35"/>
            <p:cNvGrpSpPr>
              <a:grpSpLocks/>
            </p:cNvGrpSpPr>
            <p:nvPr/>
          </p:nvGrpSpPr>
          <p:grpSpPr bwMode="auto">
            <a:xfrm>
              <a:off x="1408113" y="3427884"/>
              <a:ext cx="703262" cy="677862"/>
              <a:chOff x="892" y="1801"/>
              <a:chExt cx="443" cy="427"/>
            </a:xfrm>
          </p:grpSpPr>
          <p:sp>
            <p:nvSpPr>
              <p:cNvPr id="130168" name="Rectangle 36"/>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69" name="Line 37"/>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70" name="Line 38"/>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71" name="Line 39"/>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72" name="Line 40"/>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sp>
          <p:nvSpPr>
            <p:cNvPr id="130063" name="Freeform 41"/>
            <p:cNvSpPr>
              <a:spLocks/>
            </p:cNvSpPr>
            <p:nvPr/>
          </p:nvSpPr>
          <p:spPr bwMode="auto">
            <a:xfrm>
              <a:off x="990600" y="2619846"/>
              <a:ext cx="1600200" cy="1447800"/>
            </a:xfrm>
            <a:custGeom>
              <a:avLst/>
              <a:gdLst>
                <a:gd name="T0" fmla="*/ 0 w 1008"/>
                <a:gd name="T1" fmla="*/ 2147483646 h 912"/>
                <a:gd name="T2" fmla="*/ 0 w 1008"/>
                <a:gd name="T3" fmla="*/ 0 h 912"/>
                <a:gd name="T4" fmla="*/ 2147483646 w 1008"/>
                <a:gd name="T5" fmla="*/ 2147483646 h 912"/>
                <a:gd name="T6" fmla="*/ 0 60000 65536"/>
                <a:gd name="T7" fmla="*/ 0 60000 65536"/>
                <a:gd name="T8" fmla="*/ 0 60000 65536"/>
                <a:gd name="T9" fmla="*/ 0 w 1008"/>
                <a:gd name="T10" fmla="*/ 0 h 912"/>
                <a:gd name="T11" fmla="*/ 1008 w 1008"/>
                <a:gd name="T12" fmla="*/ 912 h 912"/>
              </a:gdLst>
              <a:ahLst/>
              <a:cxnLst>
                <a:cxn ang="T6">
                  <a:pos x="T0" y="T1"/>
                </a:cxn>
                <a:cxn ang="T7">
                  <a:pos x="T2" y="T3"/>
                </a:cxn>
                <a:cxn ang="T8">
                  <a:pos x="T4" y="T5"/>
                </a:cxn>
              </a:cxnLst>
              <a:rect l="T9" t="T10" r="T11" b="T12"/>
              <a:pathLst>
                <a:path w="1008" h="912">
                  <a:moveTo>
                    <a:pt x="0" y="912"/>
                  </a:moveTo>
                  <a:lnTo>
                    <a:pt x="0" y="0"/>
                  </a:lnTo>
                  <a:lnTo>
                    <a:pt x="1008" y="528"/>
                  </a:lnTo>
                </a:path>
              </a:pathLst>
            </a:custGeom>
            <a:noFill/>
            <a:ln w="4127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sl-SI"/>
            </a:p>
          </p:txBody>
        </p:sp>
        <p:grpSp>
          <p:nvGrpSpPr>
            <p:cNvPr id="130064" name="Group 42"/>
            <p:cNvGrpSpPr>
              <a:grpSpLocks/>
            </p:cNvGrpSpPr>
            <p:nvPr/>
          </p:nvGrpSpPr>
          <p:grpSpPr bwMode="auto">
            <a:xfrm>
              <a:off x="3429000" y="2238846"/>
              <a:ext cx="2362200" cy="2209800"/>
              <a:chOff x="2208" y="1104"/>
              <a:chExt cx="1488" cy="1392"/>
            </a:xfrm>
          </p:grpSpPr>
          <p:sp>
            <p:nvSpPr>
              <p:cNvPr id="130166" name="Rectangle 43"/>
              <p:cNvSpPr>
                <a:spLocks noChangeArrowheads="1"/>
              </p:cNvSpPr>
              <p:nvPr/>
            </p:nvSpPr>
            <p:spPr bwMode="auto">
              <a:xfrm>
                <a:off x="2208" y="1104"/>
                <a:ext cx="1488" cy="1392"/>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67" name="Freeform 44"/>
              <p:cNvSpPr>
                <a:spLocks/>
              </p:cNvSpPr>
              <p:nvPr/>
            </p:nvSpPr>
            <p:spPr bwMode="auto">
              <a:xfrm>
                <a:off x="2496" y="1344"/>
                <a:ext cx="1008" cy="912"/>
              </a:xfrm>
              <a:custGeom>
                <a:avLst/>
                <a:gdLst>
                  <a:gd name="T0" fmla="*/ 0 w 1008"/>
                  <a:gd name="T1" fmla="*/ 912 h 912"/>
                  <a:gd name="T2" fmla="*/ 0 w 1008"/>
                  <a:gd name="T3" fmla="*/ 0 h 912"/>
                  <a:gd name="T4" fmla="*/ 1008 w 1008"/>
                  <a:gd name="T5" fmla="*/ 528 h 912"/>
                  <a:gd name="T6" fmla="*/ 0 60000 65536"/>
                  <a:gd name="T7" fmla="*/ 0 60000 65536"/>
                  <a:gd name="T8" fmla="*/ 0 60000 65536"/>
                  <a:gd name="T9" fmla="*/ 0 w 1008"/>
                  <a:gd name="T10" fmla="*/ 0 h 912"/>
                  <a:gd name="T11" fmla="*/ 1008 w 1008"/>
                  <a:gd name="T12" fmla="*/ 912 h 912"/>
                </a:gdLst>
                <a:ahLst/>
                <a:cxnLst>
                  <a:cxn ang="T6">
                    <a:pos x="T0" y="T1"/>
                  </a:cxn>
                  <a:cxn ang="T7">
                    <a:pos x="T2" y="T3"/>
                  </a:cxn>
                  <a:cxn ang="T8">
                    <a:pos x="T4" y="T5"/>
                  </a:cxn>
                </a:cxnLst>
                <a:rect l="T9" t="T10" r="T11" b="T12"/>
                <a:pathLst>
                  <a:path w="1008" h="912">
                    <a:moveTo>
                      <a:pt x="0" y="912"/>
                    </a:moveTo>
                    <a:lnTo>
                      <a:pt x="0" y="0"/>
                    </a:lnTo>
                    <a:lnTo>
                      <a:pt x="1008" y="528"/>
                    </a:lnTo>
                  </a:path>
                </a:pathLst>
              </a:custGeom>
              <a:noFill/>
              <a:ln w="4127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sl-SI"/>
              </a:p>
            </p:txBody>
          </p:sp>
        </p:grpSp>
        <p:grpSp>
          <p:nvGrpSpPr>
            <p:cNvPr id="130065" name="Group 45"/>
            <p:cNvGrpSpPr>
              <a:grpSpLocks/>
            </p:cNvGrpSpPr>
            <p:nvPr/>
          </p:nvGrpSpPr>
          <p:grpSpPr bwMode="auto">
            <a:xfrm>
              <a:off x="3581400" y="3077046"/>
              <a:ext cx="703263" cy="677863"/>
              <a:chOff x="892" y="1801"/>
              <a:chExt cx="443" cy="427"/>
            </a:xfrm>
          </p:grpSpPr>
          <p:sp>
            <p:nvSpPr>
              <p:cNvPr id="130161" name="Rectangle 46"/>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62" name="Line 47"/>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63" name="Line 48"/>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64" name="Line 49"/>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65" name="Line 50"/>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66" name="Group 51"/>
            <p:cNvGrpSpPr>
              <a:grpSpLocks/>
            </p:cNvGrpSpPr>
            <p:nvPr/>
          </p:nvGrpSpPr>
          <p:grpSpPr bwMode="auto">
            <a:xfrm>
              <a:off x="3657600" y="3077046"/>
              <a:ext cx="703263" cy="677863"/>
              <a:chOff x="892" y="1801"/>
              <a:chExt cx="443" cy="427"/>
            </a:xfrm>
          </p:grpSpPr>
          <p:sp>
            <p:nvSpPr>
              <p:cNvPr id="130156" name="Rectangle 52"/>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57" name="Line 53"/>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58" name="Line 54"/>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59" name="Line 55"/>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60" name="Line 56"/>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67" name="Group 57"/>
            <p:cNvGrpSpPr>
              <a:grpSpLocks/>
            </p:cNvGrpSpPr>
            <p:nvPr/>
          </p:nvGrpSpPr>
          <p:grpSpPr bwMode="auto">
            <a:xfrm>
              <a:off x="3617913" y="2896071"/>
              <a:ext cx="703262" cy="677863"/>
              <a:chOff x="892" y="1801"/>
              <a:chExt cx="443" cy="427"/>
            </a:xfrm>
          </p:grpSpPr>
          <p:sp>
            <p:nvSpPr>
              <p:cNvPr id="130151" name="Rectangle 58"/>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52" name="Line 59"/>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53" name="Line 60"/>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54" name="Line 61"/>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55" name="Line 62"/>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68" name="Group 63"/>
            <p:cNvGrpSpPr>
              <a:grpSpLocks/>
            </p:cNvGrpSpPr>
            <p:nvPr/>
          </p:nvGrpSpPr>
          <p:grpSpPr bwMode="auto">
            <a:xfrm>
              <a:off x="3508375" y="3011959"/>
              <a:ext cx="703263" cy="677862"/>
              <a:chOff x="892" y="1801"/>
              <a:chExt cx="443" cy="427"/>
            </a:xfrm>
          </p:grpSpPr>
          <p:sp>
            <p:nvSpPr>
              <p:cNvPr id="130146" name="Rectangle 64"/>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47" name="Line 65"/>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48" name="Line 66"/>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49" name="Line 67"/>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50" name="Line 68"/>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69" name="Group 69"/>
            <p:cNvGrpSpPr>
              <a:grpSpLocks/>
            </p:cNvGrpSpPr>
            <p:nvPr/>
          </p:nvGrpSpPr>
          <p:grpSpPr bwMode="auto">
            <a:xfrm>
              <a:off x="3505200" y="3077046"/>
              <a:ext cx="703263" cy="677863"/>
              <a:chOff x="892" y="1801"/>
              <a:chExt cx="443" cy="427"/>
            </a:xfrm>
          </p:grpSpPr>
          <p:sp>
            <p:nvSpPr>
              <p:cNvPr id="130141" name="Rectangle 70"/>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42" name="Line 71"/>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43" name="Line 72"/>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44" name="Line 73"/>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45" name="Line 74"/>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70" name="Group 75"/>
            <p:cNvGrpSpPr>
              <a:grpSpLocks/>
            </p:cNvGrpSpPr>
            <p:nvPr/>
          </p:nvGrpSpPr>
          <p:grpSpPr bwMode="auto">
            <a:xfrm>
              <a:off x="3505200" y="3153246"/>
              <a:ext cx="703263" cy="677863"/>
              <a:chOff x="892" y="1801"/>
              <a:chExt cx="443" cy="427"/>
            </a:xfrm>
          </p:grpSpPr>
          <p:sp>
            <p:nvSpPr>
              <p:cNvPr id="130136" name="Rectangle 76"/>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37" name="Line 77"/>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38" name="Line 78"/>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39" name="Line 79"/>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40" name="Line 80"/>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71" name="Group 81"/>
            <p:cNvGrpSpPr>
              <a:grpSpLocks/>
            </p:cNvGrpSpPr>
            <p:nvPr/>
          </p:nvGrpSpPr>
          <p:grpSpPr bwMode="auto">
            <a:xfrm>
              <a:off x="3505200" y="3000846"/>
              <a:ext cx="703263" cy="677863"/>
              <a:chOff x="892" y="1801"/>
              <a:chExt cx="443" cy="427"/>
            </a:xfrm>
          </p:grpSpPr>
          <p:sp>
            <p:nvSpPr>
              <p:cNvPr id="130131" name="Rectangle 82"/>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32" name="Line 83"/>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33" name="Line 84"/>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34" name="Line 85"/>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35" name="Line 86"/>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72" name="Group 87"/>
            <p:cNvGrpSpPr>
              <a:grpSpLocks/>
            </p:cNvGrpSpPr>
            <p:nvPr/>
          </p:nvGrpSpPr>
          <p:grpSpPr bwMode="auto">
            <a:xfrm>
              <a:off x="3505200" y="2924646"/>
              <a:ext cx="703263" cy="677863"/>
              <a:chOff x="892" y="1801"/>
              <a:chExt cx="443" cy="427"/>
            </a:xfrm>
          </p:grpSpPr>
          <p:sp>
            <p:nvSpPr>
              <p:cNvPr id="130126" name="Rectangle 88"/>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27" name="Line 89"/>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28" name="Line 90"/>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29" name="Line 91"/>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30" name="Line 92"/>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sp>
          <p:nvSpPr>
            <p:cNvPr id="130073" name="Text Box 93"/>
            <p:cNvSpPr txBox="1">
              <a:spLocks noChangeArrowheads="1"/>
            </p:cNvSpPr>
            <p:nvPr/>
          </p:nvSpPr>
          <p:spPr bwMode="auto">
            <a:xfrm>
              <a:off x="3429000" y="4905846"/>
              <a:ext cx="24384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003399"/>
                  </a:solidFill>
                  <a:cs typeface="Times New Roman" panose="02020603050405020304" pitchFamily="18" charset="0"/>
                </a:rPr>
                <a:t>Rob</a:t>
              </a:r>
              <a:r>
                <a:rPr lang="en-US" altLang="en-US" sz="1800">
                  <a:cs typeface="Times New Roman" panose="02020603050405020304" pitchFamily="18" charset="0"/>
                </a:rPr>
                <a:t>:</a:t>
              </a:r>
              <a:br>
                <a:rPr lang="en-US" altLang="en-US" sz="1800">
                  <a:cs typeface="Times New Roman" panose="02020603050405020304" pitchFamily="18" charset="0"/>
                </a:rPr>
              </a:br>
              <a:r>
                <a:rPr lang="sl-SI" altLang="en-US" sz="1800">
                  <a:cs typeface="Times New Roman" panose="02020603050405020304" pitchFamily="18" charset="0"/>
                </a:rPr>
                <a:t>ne sme biti sprememb v smeri roba</a:t>
              </a:r>
              <a:endParaRPr lang="ru-RU" altLang="en-US" sz="1800">
                <a:cs typeface="Times New Roman" panose="02020603050405020304" pitchFamily="18" charset="0"/>
              </a:endParaRPr>
            </a:p>
          </p:txBody>
        </p:sp>
        <p:grpSp>
          <p:nvGrpSpPr>
            <p:cNvPr id="130074" name="Group 94"/>
            <p:cNvGrpSpPr>
              <a:grpSpLocks/>
            </p:cNvGrpSpPr>
            <p:nvPr/>
          </p:nvGrpSpPr>
          <p:grpSpPr bwMode="auto">
            <a:xfrm>
              <a:off x="6248400" y="2238846"/>
              <a:ext cx="2362200" cy="2209800"/>
              <a:chOff x="2208" y="1104"/>
              <a:chExt cx="1488" cy="1392"/>
            </a:xfrm>
          </p:grpSpPr>
          <p:sp>
            <p:nvSpPr>
              <p:cNvPr id="130124" name="Rectangle 95"/>
              <p:cNvSpPr>
                <a:spLocks noChangeArrowheads="1"/>
              </p:cNvSpPr>
              <p:nvPr/>
            </p:nvSpPr>
            <p:spPr bwMode="auto">
              <a:xfrm>
                <a:off x="2208" y="1104"/>
                <a:ext cx="1488" cy="1392"/>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25" name="Freeform 96"/>
              <p:cNvSpPr>
                <a:spLocks/>
              </p:cNvSpPr>
              <p:nvPr/>
            </p:nvSpPr>
            <p:spPr bwMode="auto">
              <a:xfrm>
                <a:off x="2496" y="1344"/>
                <a:ext cx="1008" cy="912"/>
              </a:xfrm>
              <a:custGeom>
                <a:avLst/>
                <a:gdLst>
                  <a:gd name="T0" fmla="*/ 0 w 1008"/>
                  <a:gd name="T1" fmla="*/ 912 h 912"/>
                  <a:gd name="T2" fmla="*/ 0 w 1008"/>
                  <a:gd name="T3" fmla="*/ 0 h 912"/>
                  <a:gd name="T4" fmla="*/ 1008 w 1008"/>
                  <a:gd name="T5" fmla="*/ 528 h 912"/>
                  <a:gd name="T6" fmla="*/ 0 60000 65536"/>
                  <a:gd name="T7" fmla="*/ 0 60000 65536"/>
                  <a:gd name="T8" fmla="*/ 0 60000 65536"/>
                  <a:gd name="T9" fmla="*/ 0 w 1008"/>
                  <a:gd name="T10" fmla="*/ 0 h 912"/>
                  <a:gd name="T11" fmla="*/ 1008 w 1008"/>
                  <a:gd name="T12" fmla="*/ 912 h 912"/>
                </a:gdLst>
                <a:ahLst/>
                <a:cxnLst>
                  <a:cxn ang="T6">
                    <a:pos x="T0" y="T1"/>
                  </a:cxn>
                  <a:cxn ang="T7">
                    <a:pos x="T2" y="T3"/>
                  </a:cxn>
                  <a:cxn ang="T8">
                    <a:pos x="T4" y="T5"/>
                  </a:cxn>
                </a:cxnLst>
                <a:rect l="T9" t="T10" r="T11" b="T12"/>
                <a:pathLst>
                  <a:path w="1008" h="912">
                    <a:moveTo>
                      <a:pt x="0" y="912"/>
                    </a:moveTo>
                    <a:lnTo>
                      <a:pt x="0" y="0"/>
                    </a:lnTo>
                    <a:lnTo>
                      <a:pt x="1008" y="528"/>
                    </a:lnTo>
                  </a:path>
                </a:pathLst>
              </a:custGeom>
              <a:noFill/>
              <a:ln w="4127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sl-SI"/>
              </a:p>
            </p:txBody>
          </p:sp>
        </p:grpSp>
        <p:grpSp>
          <p:nvGrpSpPr>
            <p:cNvPr id="130075" name="Group 97"/>
            <p:cNvGrpSpPr>
              <a:grpSpLocks/>
            </p:cNvGrpSpPr>
            <p:nvPr/>
          </p:nvGrpSpPr>
          <p:grpSpPr bwMode="auto">
            <a:xfrm>
              <a:off x="6400800" y="2315046"/>
              <a:ext cx="703263" cy="677863"/>
              <a:chOff x="892" y="1801"/>
              <a:chExt cx="443" cy="427"/>
            </a:xfrm>
          </p:grpSpPr>
          <p:sp>
            <p:nvSpPr>
              <p:cNvPr id="130119" name="Rectangle 98"/>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20" name="Line 99"/>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21" name="Line 100"/>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22" name="Line 101"/>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23" name="Line 102"/>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76" name="Group 103"/>
            <p:cNvGrpSpPr>
              <a:grpSpLocks/>
            </p:cNvGrpSpPr>
            <p:nvPr/>
          </p:nvGrpSpPr>
          <p:grpSpPr bwMode="auto">
            <a:xfrm>
              <a:off x="6469063" y="2383309"/>
              <a:ext cx="703262" cy="677862"/>
              <a:chOff x="892" y="1801"/>
              <a:chExt cx="443" cy="427"/>
            </a:xfrm>
          </p:grpSpPr>
          <p:sp>
            <p:nvSpPr>
              <p:cNvPr id="130114" name="Rectangle 104"/>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15" name="Line 105"/>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16" name="Line 106"/>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17" name="Line 107"/>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18" name="Line 108"/>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77" name="Group 109"/>
            <p:cNvGrpSpPr>
              <a:grpSpLocks/>
            </p:cNvGrpSpPr>
            <p:nvPr/>
          </p:nvGrpSpPr>
          <p:grpSpPr bwMode="auto">
            <a:xfrm>
              <a:off x="6432550" y="2448396"/>
              <a:ext cx="703263" cy="677863"/>
              <a:chOff x="892" y="1801"/>
              <a:chExt cx="443" cy="427"/>
            </a:xfrm>
          </p:grpSpPr>
          <p:sp>
            <p:nvSpPr>
              <p:cNvPr id="130109" name="Rectangle 110"/>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10" name="Line 111"/>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11" name="Line 112"/>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12" name="Line 113"/>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13" name="Line 114"/>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78" name="Group 115"/>
            <p:cNvGrpSpPr>
              <a:grpSpLocks/>
            </p:cNvGrpSpPr>
            <p:nvPr/>
          </p:nvGrpSpPr>
          <p:grpSpPr bwMode="auto">
            <a:xfrm>
              <a:off x="6345238" y="2403946"/>
              <a:ext cx="703262" cy="677863"/>
              <a:chOff x="892" y="1801"/>
              <a:chExt cx="443" cy="427"/>
            </a:xfrm>
          </p:grpSpPr>
          <p:sp>
            <p:nvSpPr>
              <p:cNvPr id="130104" name="Rectangle 116"/>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05" name="Line 117"/>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06" name="Line 118"/>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07" name="Line 119"/>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08" name="Line 120"/>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79" name="Group 121"/>
            <p:cNvGrpSpPr>
              <a:grpSpLocks/>
            </p:cNvGrpSpPr>
            <p:nvPr/>
          </p:nvGrpSpPr>
          <p:grpSpPr bwMode="auto">
            <a:xfrm>
              <a:off x="6286500" y="2288059"/>
              <a:ext cx="703263" cy="677862"/>
              <a:chOff x="892" y="1801"/>
              <a:chExt cx="443" cy="427"/>
            </a:xfrm>
          </p:grpSpPr>
          <p:sp>
            <p:nvSpPr>
              <p:cNvPr id="130099" name="Rectangle 122"/>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100" name="Line 123"/>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01" name="Line 124"/>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02" name="Line 125"/>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103" name="Line 126"/>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80" name="Group 127"/>
            <p:cNvGrpSpPr>
              <a:grpSpLocks/>
            </p:cNvGrpSpPr>
            <p:nvPr/>
          </p:nvGrpSpPr>
          <p:grpSpPr bwMode="auto">
            <a:xfrm>
              <a:off x="6345238" y="2215034"/>
              <a:ext cx="703262" cy="677862"/>
              <a:chOff x="892" y="1801"/>
              <a:chExt cx="443" cy="427"/>
            </a:xfrm>
          </p:grpSpPr>
          <p:sp>
            <p:nvSpPr>
              <p:cNvPr id="130094" name="Rectangle 128"/>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095" name="Line 129"/>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096" name="Line 130"/>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097" name="Line 131"/>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098" name="Line 132"/>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81" name="Group 133"/>
            <p:cNvGrpSpPr>
              <a:grpSpLocks/>
            </p:cNvGrpSpPr>
            <p:nvPr/>
          </p:nvGrpSpPr>
          <p:grpSpPr bwMode="auto">
            <a:xfrm>
              <a:off x="6489700" y="2272184"/>
              <a:ext cx="703263" cy="677862"/>
              <a:chOff x="892" y="1801"/>
              <a:chExt cx="443" cy="427"/>
            </a:xfrm>
          </p:grpSpPr>
          <p:sp>
            <p:nvSpPr>
              <p:cNvPr id="130089" name="Rectangle 134"/>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090" name="Line 135"/>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091" name="Line 136"/>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092" name="Line 137"/>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093" name="Line 138"/>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grpSp>
          <p:nvGrpSpPr>
            <p:cNvPr id="130082" name="Group 139"/>
            <p:cNvGrpSpPr>
              <a:grpSpLocks/>
            </p:cNvGrpSpPr>
            <p:nvPr/>
          </p:nvGrpSpPr>
          <p:grpSpPr bwMode="auto">
            <a:xfrm>
              <a:off x="6430963" y="2315046"/>
              <a:ext cx="703262" cy="677863"/>
              <a:chOff x="892" y="1801"/>
              <a:chExt cx="443" cy="427"/>
            </a:xfrm>
          </p:grpSpPr>
          <p:sp>
            <p:nvSpPr>
              <p:cNvPr id="130084" name="Rectangle 140"/>
              <p:cNvSpPr>
                <a:spLocks noChangeArrowheads="1"/>
              </p:cNvSpPr>
              <p:nvPr/>
            </p:nvSpPr>
            <p:spPr bwMode="auto">
              <a:xfrm>
                <a:off x="960" y="1872"/>
                <a:ext cx="306" cy="296"/>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0085" name="Line 141"/>
              <p:cNvSpPr>
                <a:spLocks noChangeShapeType="1"/>
              </p:cNvSpPr>
              <p:nvPr/>
            </p:nvSpPr>
            <p:spPr bwMode="auto">
              <a:xfrm flipV="1">
                <a:off x="1263" y="1811"/>
                <a:ext cx="57" cy="6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086" name="Line 142"/>
              <p:cNvSpPr>
                <a:spLocks noChangeShapeType="1"/>
              </p:cNvSpPr>
              <p:nvPr/>
            </p:nvSpPr>
            <p:spPr bwMode="auto">
              <a:xfrm>
                <a:off x="1275" y="2169"/>
                <a:ext cx="60" cy="5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087" name="Line 143"/>
              <p:cNvSpPr>
                <a:spLocks noChangeShapeType="1"/>
              </p:cNvSpPr>
              <p:nvPr/>
            </p:nvSpPr>
            <p:spPr bwMode="auto">
              <a:xfrm flipH="1">
                <a:off x="892" y="2170"/>
                <a:ext cx="68" cy="58"/>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sp>
            <p:nvSpPr>
              <p:cNvPr id="130088" name="Line 144"/>
              <p:cNvSpPr>
                <a:spLocks noChangeShapeType="1"/>
              </p:cNvSpPr>
              <p:nvPr/>
            </p:nvSpPr>
            <p:spPr bwMode="auto">
              <a:xfrm flipH="1" flipV="1">
                <a:off x="898" y="1801"/>
                <a:ext cx="62" cy="71"/>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sl-SI"/>
              </a:p>
            </p:txBody>
          </p:sp>
        </p:grpSp>
        <p:sp>
          <p:nvSpPr>
            <p:cNvPr id="130083" name="Text Box 145"/>
            <p:cNvSpPr txBox="1">
              <a:spLocks noChangeArrowheads="1"/>
            </p:cNvSpPr>
            <p:nvPr/>
          </p:nvSpPr>
          <p:spPr bwMode="auto">
            <a:xfrm>
              <a:off x="6248400" y="4905846"/>
              <a:ext cx="24384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003399"/>
                  </a:solidFill>
                  <a:cs typeface="Times New Roman" panose="02020603050405020304" pitchFamily="18" charset="0"/>
                </a:rPr>
                <a:t>Oglišče</a:t>
              </a:r>
              <a:r>
                <a:rPr lang="en-US" altLang="en-US" sz="1800">
                  <a:cs typeface="Times New Roman" panose="02020603050405020304" pitchFamily="18" charset="0"/>
                </a:rPr>
                <a:t>:</a:t>
              </a:r>
              <a:br>
                <a:rPr lang="en-US" altLang="en-US" sz="1800">
                  <a:cs typeface="Times New Roman" panose="02020603050405020304" pitchFamily="18" charset="0"/>
                </a:rPr>
              </a:br>
              <a:r>
                <a:rPr lang="sl-SI" altLang="en-US" sz="1800">
                  <a:cs typeface="Times New Roman" panose="02020603050405020304" pitchFamily="18" charset="0"/>
                </a:rPr>
                <a:t>opazne spremembe v vseh smereh</a:t>
              </a:r>
              <a:endParaRPr lang="ru-RU" altLang="en-US" sz="1800">
                <a:cs typeface="Times New Roman" panose="02020603050405020304" pitchFamily="18" charset="0"/>
              </a:endParaRPr>
            </a:p>
          </p:txBody>
        </p:sp>
      </p:grpSp>
      <p:sp>
        <p:nvSpPr>
          <p:cNvPr id="130053"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30054"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24DED90-F0AF-48AA-9BEC-C201B5B07DDA}" type="slidenum">
              <a:rPr lang="en-GB" altLang="sl-SI" sz="1400" smtClean="0"/>
              <a:pPr>
                <a:spcBef>
                  <a:spcPct val="0"/>
                </a:spcBef>
                <a:buFontTx/>
                <a:buNone/>
              </a:pPr>
              <a:t>66</a:t>
            </a:fld>
            <a:endParaRPr lang="en-GB" altLang="sl-SI" sz="1400"/>
          </a:p>
        </p:txBody>
      </p:sp>
    </p:spTree>
  </p:cSld>
  <p:clrMapOvr>
    <a:masterClrMapping/>
  </p:clrMapOvr>
  <p:transition>
    <p:cove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ctrTitle"/>
          </p:nvPr>
        </p:nvSpPr>
        <p:spPr>
          <a:xfrm>
            <a:off x="250825" y="188913"/>
            <a:ext cx="8424863" cy="576262"/>
          </a:xfrm>
        </p:spPr>
        <p:txBody>
          <a:bodyPr/>
          <a:lstStyle/>
          <a:p>
            <a:pPr eaLnBrk="1" hangingPunct="1"/>
            <a:r>
              <a:rPr lang="sl-SI" altLang="en-US" sz="2800" b="1"/>
              <a:t>ZASNOVA HARRISOVEGA DETEKTORJA</a:t>
            </a:r>
            <a:endParaRPr lang="en-GB" altLang="en-US" sz="2000"/>
          </a:p>
        </p:txBody>
      </p:sp>
      <p:sp>
        <p:nvSpPr>
          <p:cNvPr id="132099" name="TextBox 5"/>
          <p:cNvSpPr txBox="1">
            <a:spLocks noChangeArrowheads="1"/>
          </p:cNvSpPr>
          <p:nvPr/>
        </p:nvSpPr>
        <p:spPr bwMode="auto">
          <a:xfrm>
            <a:off x="755650" y="836613"/>
            <a:ext cx="7704138"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Imejmo sliko </a:t>
            </a:r>
            <a:r>
              <a:rPr lang="sl-SI" altLang="en-US" sz="1800" b="1"/>
              <a:t>I</a:t>
            </a:r>
            <a:r>
              <a:rPr lang="sl-SI" altLang="en-US" sz="1800"/>
              <a:t> s pikslom </a:t>
            </a:r>
            <a:r>
              <a:rPr lang="sl-SI" altLang="en-US" sz="1800" i="1"/>
              <a:t>I</a:t>
            </a:r>
            <a:r>
              <a:rPr lang="sl-SI" altLang="en-US" sz="1800"/>
              <a:t>(</a:t>
            </a:r>
            <a:r>
              <a:rPr lang="sl-SI" altLang="en-US" sz="1800" i="1"/>
              <a:t>x</a:t>
            </a:r>
            <a:r>
              <a:rPr lang="sl-SI" altLang="en-US" sz="1800"/>
              <a:t>,</a:t>
            </a:r>
            <a:r>
              <a:rPr lang="sl-SI" altLang="en-US" sz="1800" i="1"/>
              <a:t>y</a:t>
            </a:r>
            <a:r>
              <a:rPr lang="sl-SI" altLang="en-US" sz="1800"/>
              <a:t>) na koordinatah (</a:t>
            </a:r>
            <a:r>
              <a:rPr lang="sl-SI" altLang="en-US" sz="1800" i="1"/>
              <a:t>x</a:t>
            </a:r>
            <a:r>
              <a:rPr lang="sl-SI" altLang="en-US" sz="1800"/>
              <a:t>,</a:t>
            </a:r>
            <a:r>
              <a:rPr lang="sl-SI" altLang="en-US" sz="1800" i="1"/>
              <a:t>y</a:t>
            </a:r>
            <a:r>
              <a:rPr lang="sl-SI" altLang="en-US" sz="1800"/>
              <a:t>). </a:t>
            </a:r>
          </a:p>
          <a:p>
            <a:pPr eaLnBrk="1" hangingPunct="1">
              <a:spcBef>
                <a:spcPts val="600"/>
              </a:spcBef>
              <a:buFontTx/>
              <a:buAutoNum type="arabicPeriod" startAt="2"/>
            </a:pPr>
            <a:r>
              <a:rPr lang="sl-SI" altLang="en-US" sz="1800"/>
              <a:t>Premaknimo se za (</a:t>
            </a:r>
            <a:r>
              <a:rPr lang="el-GR" altLang="en-US" sz="1800"/>
              <a:t>Δ</a:t>
            </a:r>
            <a:r>
              <a:rPr lang="sl-SI" altLang="en-US" sz="1800" i="1"/>
              <a:t>x</a:t>
            </a:r>
            <a:r>
              <a:rPr lang="sl-SI" altLang="en-US" sz="1800"/>
              <a:t>,</a:t>
            </a:r>
            <a:r>
              <a:rPr lang="el-GR" altLang="en-US" sz="1800"/>
              <a:t> Δ</a:t>
            </a:r>
            <a:r>
              <a:rPr lang="sl-SI" altLang="en-US" sz="1800" i="1"/>
              <a:t>y</a:t>
            </a:r>
            <a:r>
              <a:rPr lang="sl-SI" altLang="en-US" sz="1800"/>
              <a:t>) in izračunajmo vsoto kvadriranih razlik v izbranem oknu:</a:t>
            </a:r>
          </a:p>
          <a:p>
            <a:pPr eaLnBrk="1" hangingPunct="1">
              <a:spcBef>
                <a:spcPts val="600"/>
              </a:spcBef>
              <a:buFontTx/>
              <a:buAutoNum type="arabicPeriod" startAt="2"/>
            </a:pPr>
            <a:endParaRPr lang="sl-SI" altLang="en-US" sz="1800"/>
          </a:p>
          <a:p>
            <a:pPr eaLnBrk="1" hangingPunct="1">
              <a:spcBef>
                <a:spcPts val="600"/>
              </a:spcBef>
              <a:buFontTx/>
              <a:buAutoNum type="arabicPeriod" startAt="2"/>
            </a:pPr>
            <a:endParaRPr lang="sl-SI" altLang="en-US" sz="1800"/>
          </a:p>
          <a:p>
            <a:pPr eaLnBrk="1" hangingPunct="1">
              <a:spcBef>
                <a:spcPts val="600"/>
              </a:spcBef>
              <a:buFontTx/>
              <a:buNone/>
            </a:pPr>
            <a:r>
              <a:rPr lang="sl-SI" altLang="en-US" sz="1800"/>
              <a:t>	pri čemer pomeni </a:t>
            </a:r>
            <a:r>
              <a:rPr lang="sl-SI" altLang="en-US" sz="1800" i="1"/>
              <a:t>w</a:t>
            </a:r>
            <a:r>
              <a:rPr lang="sl-SI" altLang="en-US" sz="1800"/>
              <a:t>(</a:t>
            </a:r>
            <a:r>
              <a:rPr lang="sl-SI" altLang="en-US" sz="1800" i="1"/>
              <a:t>x</a:t>
            </a:r>
            <a:r>
              <a:rPr lang="sl-SI" altLang="en-US" sz="1800"/>
              <a:t>,</a:t>
            </a:r>
            <a:r>
              <a:rPr lang="sl-SI" altLang="en-US" sz="1800" i="1"/>
              <a:t>y</a:t>
            </a:r>
            <a:r>
              <a:rPr lang="sl-SI" altLang="en-US" sz="1800"/>
              <a:t>) okensko funkcijo, recimo pravokotno ali Gaussovo.</a:t>
            </a:r>
          </a:p>
          <a:p>
            <a:pPr eaLnBrk="1" hangingPunct="1">
              <a:spcBef>
                <a:spcPts val="600"/>
              </a:spcBef>
              <a:buFontTx/>
              <a:buAutoNum type="arabicPeriod" startAt="3"/>
            </a:pPr>
            <a:r>
              <a:rPr lang="sl-SI" altLang="en-US" sz="1800" i="1"/>
              <a:t>I</a:t>
            </a:r>
            <a:r>
              <a:rPr lang="sl-SI" altLang="en-US" sz="1800"/>
              <a:t>(</a:t>
            </a:r>
            <a:r>
              <a:rPr lang="sl-SI" altLang="en-US" sz="1800" i="1"/>
              <a:t>x</a:t>
            </a:r>
            <a:r>
              <a:rPr lang="sl-SI" altLang="en-US" sz="1800"/>
              <a:t>+</a:t>
            </a:r>
            <a:r>
              <a:rPr lang="el-GR" altLang="en-US" sz="1800"/>
              <a:t>Δ</a:t>
            </a:r>
            <a:r>
              <a:rPr lang="sl-SI" altLang="en-US" sz="1800" i="1"/>
              <a:t>x</a:t>
            </a:r>
            <a:r>
              <a:rPr lang="sl-SI" altLang="en-US" sz="1800"/>
              <a:t>,</a:t>
            </a:r>
            <a:r>
              <a:rPr lang="el-GR" altLang="en-US" sz="1800"/>
              <a:t> </a:t>
            </a:r>
            <a:r>
              <a:rPr lang="sl-SI" altLang="en-US" sz="1800" i="1"/>
              <a:t>y</a:t>
            </a:r>
            <a:r>
              <a:rPr lang="sl-SI" altLang="en-US" sz="1800"/>
              <a:t>+</a:t>
            </a:r>
            <a:r>
              <a:rPr lang="el-GR" altLang="en-US" sz="1800"/>
              <a:t>Δ</a:t>
            </a:r>
            <a:r>
              <a:rPr lang="sl-SI" altLang="en-US" sz="1800" i="1"/>
              <a:t>y</a:t>
            </a:r>
            <a:r>
              <a:rPr lang="sl-SI" altLang="en-US" sz="1800"/>
              <a:t>) izrazimo s prvim členom razvoja v Taylorjevo vrsto:</a:t>
            </a:r>
          </a:p>
          <a:p>
            <a:pPr eaLnBrk="1" hangingPunct="1">
              <a:spcBef>
                <a:spcPts val="600"/>
              </a:spcBef>
              <a:buFontTx/>
              <a:buNone/>
            </a:pPr>
            <a:endParaRPr lang="sl-SI" altLang="en-US" sz="1800"/>
          </a:p>
          <a:p>
            <a:pPr eaLnBrk="1" hangingPunct="1">
              <a:spcBef>
                <a:spcPts val="600"/>
              </a:spcBef>
              <a:buFontTx/>
              <a:buNone/>
            </a:pPr>
            <a:endParaRPr lang="sl-SI" altLang="en-US" sz="1800"/>
          </a:p>
          <a:p>
            <a:pPr eaLnBrk="1" hangingPunct="1">
              <a:spcBef>
                <a:spcPts val="600"/>
              </a:spcBef>
              <a:buFontTx/>
              <a:buNone/>
            </a:pPr>
            <a:endParaRPr lang="sl-SI" altLang="en-US" sz="1800"/>
          </a:p>
          <a:p>
            <a:pPr eaLnBrk="1" hangingPunct="1">
              <a:spcBef>
                <a:spcPts val="600"/>
              </a:spcBef>
              <a:buFontTx/>
              <a:buNone/>
            </a:pPr>
            <a:endParaRPr lang="sl-SI" altLang="en-US" sz="1800"/>
          </a:p>
          <a:p>
            <a:pPr eaLnBrk="1" hangingPunct="1">
              <a:spcBef>
                <a:spcPts val="600"/>
              </a:spcBef>
              <a:buFontTx/>
              <a:buNone/>
            </a:pPr>
            <a:r>
              <a:rPr lang="sl-SI" altLang="en-US" sz="1800"/>
              <a:t>					</a:t>
            </a:r>
            <a:r>
              <a:rPr lang="sl-SI" altLang="en-US" sz="1800">
                <a:sym typeface="Symbol" panose="05050102010706020507" pitchFamily="18" charset="2"/>
              </a:rPr>
              <a:t></a:t>
            </a:r>
          </a:p>
          <a:p>
            <a:pPr eaLnBrk="1" hangingPunct="1">
              <a:spcBef>
                <a:spcPts val="600"/>
              </a:spcBef>
              <a:buFontTx/>
              <a:buNone/>
            </a:pPr>
            <a:endParaRPr lang="sl-SI" altLang="en-US" sz="1800"/>
          </a:p>
        </p:txBody>
      </p:sp>
      <p:graphicFrame>
        <p:nvGraphicFramePr>
          <p:cNvPr id="132100" name="Object 2"/>
          <p:cNvGraphicFramePr>
            <a:graphicFrameLocks noChangeAspect="1"/>
          </p:cNvGraphicFramePr>
          <p:nvPr/>
        </p:nvGraphicFramePr>
        <p:xfrm>
          <a:off x="1116013" y="1820863"/>
          <a:ext cx="5903912" cy="723900"/>
        </p:xfrm>
        <a:graphic>
          <a:graphicData uri="http://schemas.openxmlformats.org/presentationml/2006/ole">
            <mc:AlternateContent xmlns:mc="http://schemas.openxmlformats.org/markup-compatibility/2006">
              <mc:Choice xmlns:v="urn:schemas-microsoft-com:vml" Requires="v">
                <p:oleObj spid="_x0000_s132186" name="Equation" r:id="rId4" imgW="2590800" imgH="317500" progId="Equation.3">
                  <p:embed/>
                </p:oleObj>
              </mc:Choice>
              <mc:Fallback>
                <p:oleObj name="Equation" r:id="rId4" imgW="2590800" imgH="3175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820863"/>
                        <a:ext cx="5903912"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1" name="Object 3"/>
          <p:cNvGraphicFramePr>
            <a:graphicFrameLocks noChangeAspect="1"/>
          </p:cNvGraphicFramePr>
          <p:nvPr/>
        </p:nvGraphicFramePr>
        <p:xfrm>
          <a:off x="1135063" y="3533775"/>
          <a:ext cx="5957887" cy="1403350"/>
        </p:xfrm>
        <a:graphic>
          <a:graphicData uri="http://schemas.openxmlformats.org/presentationml/2006/ole">
            <mc:AlternateContent xmlns:mc="http://schemas.openxmlformats.org/markup-compatibility/2006">
              <mc:Choice xmlns:v="urn:schemas-microsoft-com:vml" Requires="v">
                <p:oleObj spid="_x0000_s132187" name="Equation" r:id="rId6" imgW="2641600" imgH="622300" progId="Equation.3">
                  <p:embed/>
                </p:oleObj>
              </mc:Choice>
              <mc:Fallback>
                <p:oleObj name="Equation" r:id="rId6" imgW="2641600" imgH="6223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5063" y="3533775"/>
                        <a:ext cx="5957887" cy="1403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2" name="Object 4"/>
          <p:cNvGraphicFramePr>
            <a:graphicFrameLocks noChangeAspect="1"/>
          </p:cNvGraphicFramePr>
          <p:nvPr/>
        </p:nvGraphicFramePr>
        <p:xfrm>
          <a:off x="458788" y="5022850"/>
          <a:ext cx="8307387" cy="1042988"/>
        </p:xfrm>
        <a:graphic>
          <a:graphicData uri="http://schemas.openxmlformats.org/presentationml/2006/ole">
            <mc:AlternateContent xmlns:mc="http://schemas.openxmlformats.org/markup-compatibility/2006">
              <mc:Choice xmlns:v="urn:schemas-microsoft-com:vml" Requires="v">
                <p:oleObj spid="_x0000_s132188" name="Equation" r:id="rId8" imgW="3644900" imgH="457200" progId="Equation.3">
                  <p:embed/>
                </p:oleObj>
              </mc:Choice>
              <mc:Fallback>
                <p:oleObj name="Equation" r:id="rId8" imgW="3644900" imgH="4572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8788" y="5022850"/>
                        <a:ext cx="8307387"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03"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32104"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43556D1-21F1-4F3B-BB12-D4578CB5B930}" type="slidenum">
              <a:rPr lang="en-GB" altLang="sl-SI" sz="1400" smtClean="0"/>
              <a:pPr>
                <a:spcBef>
                  <a:spcPct val="0"/>
                </a:spcBef>
                <a:buFontTx/>
                <a:buNone/>
              </a:pPr>
              <a:t>67</a:t>
            </a:fld>
            <a:endParaRPr lang="en-GB" altLang="sl-SI" sz="1400"/>
          </a:p>
        </p:txBody>
      </p:sp>
    </p:spTree>
  </p:cSld>
  <p:clrMapOvr>
    <a:masterClrMapping/>
  </p:clrMapOvr>
  <p:transition>
    <p:cove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ctrTitle"/>
          </p:nvPr>
        </p:nvSpPr>
        <p:spPr>
          <a:xfrm>
            <a:off x="250825" y="188913"/>
            <a:ext cx="8424863" cy="576262"/>
          </a:xfrm>
        </p:spPr>
        <p:txBody>
          <a:bodyPr/>
          <a:lstStyle/>
          <a:p>
            <a:pPr eaLnBrk="1" hangingPunct="1"/>
            <a:r>
              <a:rPr lang="sl-SI" altLang="en-US" sz="2800" b="1"/>
              <a:t>ZASNOVA HARRISOVEGA DETEKTORJA (2)</a:t>
            </a:r>
            <a:endParaRPr lang="en-GB" altLang="en-US" sz="2000"/>
          </a:p>
        </p:txBody>
      </p:sp>
      <p:sp>
        <p:nvSpPr>
          <p:cNvPr id="134147" name="TextBox 5"/>
          <p:cNvSpPr txBox="1">
            <a:spLocks noChangeArrowheads="1"/>
          </p:cNvSpPr>
          <p:nvPr/>
        </p:nvSpPr>
        <p:spPr bwMode="auto">
          <a:xfrm>
            <a:off x="755650" y="836613"/>
            <a:ext cx="7704138"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Matrika </a:t>
            </a:r>
            <a:r>
              <a:rPr lang="sl-SI" altLang="en-US" sz="1800" b="1"/>
              <a:t>Q</a:t>
            </a:r>
            <a:r>
              <a:rPr lang="sl-SI" altLang="en-US" sz="1800"/>
              <a:t>(</a:t>
            </a:r>
            <a:r>
              <a:rPr lang="sl-SI" altLang="en-US" sz="1800" i="1"/>
              <a:t>x</a:t>
            </a:r>
            <a:r>
              <a:rPr lang="sl-SI" altLang="en-US" sz="1800"/>
              <a:t>,</a:t>
            </a:r>
            <a:r>
              <a:rPr lang="sl-SI" altLang="en-US" sz="1800" i="1"/>
              <a:t>y</a:t>
            </a:r>
            <a:r>
              <a:rPr lang="sl-SI" altLang="en-US" sz="1800"/>
              <a:t>) vsebuje vsote odvodov po </a:t>
            </a:r>
            <a:r>
              <a:rPr lang="sl-SI" altLang="en-US" sz="1800" i="1"/>
              <a:t>x</a:t>
            </a:r>
            <a:r>
              <a:rPr lang="sl-SI" altLang="en-US" sz="1800"/>
              <a:t> in </a:t>
            </a:r>
            <a:r>
              <a:rPr lang="sl-SI" altLang="en-US" sz="1800" i="1"/>
              <a:t>y</a:t>
            </a:r>
            <a:r>
              <a:rPr lang="sl-SI" altLang="en-US" sz="1800"/>
              <a:t>, torej </a:t>
            </a:r>
            <a:r>
              <a:rPr lang="sl-SI" altLang="en-US" sz="1800" i="1"/>
              <a:t>I</a:t>
            </a:r>
            <a:r>
              <a:rPr lang="sl-SI" altLang="en-US" sz="1800" i="1" baseline="-25000"/>
              <a:t>x</a:t>
            </a:r>
            <a:r>
              <a:rPr lang="sl-SI" altLang="en-US" sz="1800"/>
              <a:t>(</a:t>
            </a:r>
            <a:r>
              <a:rPr lang="sl-SI" altLang="en-US" sz="1800" i="1"/>
              <a:t>x</a:t>
            </a:r>
            <a:r>
              <a:rPr lang="sl-SI" altLang="en-US" sz="1800"/>
              <a:t>,</a:t>
            </a:r>
            <a:r>
              <a:rPr lang="sl-SI" altLang="en-US" sz="1800" i="1"/>
              <a:t>y</a:t>
            </a:r>
            <a:r>
              <a:rPr lang="sl-SI" altLang="en-US" sz="1800"/>
              <a:t>) in </a:t>
            </a:r>
            <a:r>
              <a:rPr lang="sl-SI" altLang="en-US" sz="1800" i="1"/>
              <a:t>I</a:t>
            </a:r>
            <a:r>
              <a:rPr lang="sl-SI" altLang="en-US" sz="1800" i="1" baseline="-25000"/>
              <a:t>y</a:t>
            </a:r>
            <a:r>
              <a:rPr lang="sl-SI" altLang="en-US" sz="1800"/>
              <a:t>(</a:t>
            </a:r>
            <a:r>
              <a:rPr lang="sl-SI" altLang="en-US" sz="1800" i="1"/>
              <a:t>x</a:t>
            </a:r>
            <a:r>
              <a:rPr lang="sl-SI" altLang="en-US" sz="1800"/>
              <a:t>,</a:t>
            </a:r>
            <a:r>
              <a:rPr lang="sl-SI" altLang="en-US" sz="1800" i="1"/>
              <a:t>y</a:t>
            </a:r>
            <a:r>
              <a:rPr lang="sl-SI" altLang="en-US" sz="1800"/>
              <a:t>), za vse piksle v oknu </a:t>
            </a:r>
            <a:r>
              <a:rPr lang="sl-SI" altLang="en-US" sz="1800" i="1"/>
              <a:t>w</a:t>
            </a:r>
            <a:r>
              <a:rPr lang="sl-SI" altLang="en-US" sz="1800"/>
              <a:t>(</a:t>
            </a:r>
            <a:r>
              <a:rPr lang="sl-SI" altLang="en-US" sz="1800" i="1"/>
              <a:t>x</a:t>
            </a:r>
            <a:r>
              <a:rPr lang="sl-SI" altLang="en-US" sz="1800"/>
              <a:t>,</a:t>
            </a:r>
            <a:r>
              <a:rPr lang="sl-SI" altLang="en-US" sz="1800" i="1"/>
              <a:t>y</a:t>
            </a:r>
            <a:r>
              <a:rPr lang="sl-SI" altLang="en-US" sz="1800"/>
              <a:t>):</a:t>
            </a:r>
          </a:p>
          <a:p>
            <a:pPr eaLnBrk="1" hangingPunct="1">
              <a:spcBef>
                <a:spcPts val="600"/>
              </a:spcBef>
              <a:buFontTx/>
              <a:buNone/>
            </a:pPr>
            <a:endParaRPr lang="sl-SI" altLang="en-US" sz="1800"/>
          </a:p>
          <a:p>
            <a:pPr eaLnBrk="1" hangingPunct="1">
              <a:spcBef>
                <a:spcPts val="600"/>
              </a:spcBef>
              <a:buFontTx/>
              <a:buAutoNum type="arabicPeriod" startAt="2"/>
            </a:pPr>
            <a:endParaRPr lang="sl-SI" altLang="en-US" sz="1800"/>
          </a:p>
          <a:p>
            <a:pPr eaLnBrk="1" hangingPunct="1">
              <a:spcBef>
                <a:spcPts val="600"/>
              </a:spcBef>
              <a:buFontTx/>
              <a:buNone/>
            </a:pPr>
            <a:r>
              <a:rPr lang="sl-SI" altLang="en-US" sz="1800"/>
              <a:t>	</a:t>
            </a:r>
          </a:p>
          <a:p>
            <a:pPr eaLnBrk="1" hangingPunct="1">
              <a:spcBef>
                <a:spcPts val="600"/>
              </a:spcBef>
              <a:buFontTx/>
              <a:buNone/>
            </a:pPr>
            <a:endParaRPr lang="sl-SI" altLang="en-US" sz="1800"/>
          </a:p>
          <a:p>
            <a:pPr eaLnBrk="1" hangingPunct="1">
              <a:spcBef>
                <a:spcPts val="1200"/>
              </a:spcBef>
              <a:buFontTx/>
              <a:buAutoNum type="arabicPeriod" startAt="2"/>
            </a:pPr>
            <a:r>
              <a:rPr lang="sl-SI" altLang="en-US" sz="1800" i="1"/>
              <a:t>E</a:t>
            </a:r>
            <a:r>
              <a:rPr lang="sl-SI" altLang="en-US" sz="1800"/>
              <a:t>(</a:t>
            </a:r>
            <a:r>
              <a:rPr lang="el-GR" altLang="en-US" sz="1800"/>
              <a:t>Δ</a:t>
            </a:r>
            <a:r>
              <a:rPr lang="sl-SI" altLang="en-US" sz="1800" i="1"/>
              <a:t>x</a:t>
            </a:r>
            <a:r>
              <a:rPr lang="sl-SI" altLang="en-US" sz="1800"/>
              <a:t>,</a:t>
            </a:r>
            <a:r>
              <a:rPr lang="el-GR" altLang="en-US" sz="1800"/>
              <a:t> Δ</a:t>
            </a:r>
            <a:r>
              <a:rPr lang="sl-SI" altLang="en-US" sz="1800" i="1"/>
              <a:t>y</a:t>
            </a:r>
            <a:r>
              <a:rPr lang="sl-SI" altLang="en-US" sz="1800"/>
              <a:t>) = konst.  pomeni elipso, katere osi sta določeni z lastnima vrednostma matrike </a:t>
            </a:r>
            <a:r>
              <a:rPr lang="sl-SI" altLang="en-US" sz="1800" b="1"/>
              <a:t>Q</a:t>
            </a:r>
            <a:r>
              <a:rPr lang="sl-SI" altLang="en-US" sz="1800"/>
              <a:t>, to sta </a:t>
            </a:r>
            <a:r>
              <a:rPr lang="sl-SI" altLang="en-US" sz="1800" i="1">
                <a:sym typeface="Symbol" panose="05050102010706020507" pitchFamily="18" charset="2"/>
              </a:rPr>
              <a:t></a:t>
            </a:r>
            <a:r>
              <a:rPr lang="sl-SI" altLang="en-US" sz="1800" i="1" baseline="-25000">
                <a:sym typeface="Symbol" panose="05050102010706020507" pitchFamily="18" charset="2"/>
              </a:rPr>
              <a:t>maks</a:t>
            </a:r>
            <a:r>
              <a:rPr lang="sl-SI" altLang="en-US" sz="1800" i="1">
                <a:sym typeface="Symbol" panose="05050102010706020507" pitchFamily="18" charset="2"/>
              </a:rPr>
              <a:t> </a:t>
            </a:r>
            <a:r>
              <a:rPr lang="sl-SI" altLang="en-US" sz="1800">
                <a:sym typeface="Symbol" panose="05050102010706020507" pitchFamily="18" charset="2"/>
              </a:rPr>
              <a:t>in </a:t>
            </a:r>
            <a:r>
              <a:rPr lang="sl-SI" altLang="en-US" sz="1800" i="1">
                <a:sym typeface="Symbol" panose="05050102010706020507" pitchFamily="18" charset="2"/>
              </a:rPr>
              <a:t></a:t>
            </a:r>
            <a:r>
              <a:rPr lang="sl-SI" altLang="en-US" sz="1800" i="1" baseline="-25000">
                <a:sym typeface="Symbol" panose="05050102010706020507" pitchFamily="18" charset="2"/>
              </a:rPr>
              <a:t>min</a:t>
            </a:r>
            <a:r>
              <a:rPr lang="sl-SI" altLang="en-US" sz="1800"/>
              <a:t>, medtem ko njeno rotacijo določajo lastni vektorji matrike </a:t>
            </a:r>
            <a:r>
              <a:rPr lang="sl-SI" altLang="en-US" sz="1800" b="1"/>
              <a:t>Q</a:t>
            </a:r>
            <a:r>
              <a:rPr lang="sl-SI" altLang="en-US" sz="1800"/>
              <a:t>.</a:t>
            </a:r>
          </a:p>
        </p:txBody>
      </p:sp>
      <p:graphicFrame>
        <p:nvGraphicFramePr>
          <p:cNvPr id="134148" name="Object 2"/>
          <p:cNvGraphicFramePr>
            <a:graphicFrameLocks noChangeAspect="1"/>
          </p:cNvGraphicFramePr>
          <p:nvPr/>
        </p:nvGraphicFramePr>
        <p:xfrm>
          <a:off x="1143000" y="1427163"/>
          <a:ext cx="6165850" cy="1477962"/>
        </p:xfrm>
        <a:graphic>
          <a:graphicData uri="http://schemas.openxmlformats.org/presentationml/2006/ole">
            <mc:AlternateContent xmlns:mc="http://schemas.openxmlformats.org/markup-compatibility/2006">
              <mc:Choice xmlns:v="urn:schemas-microsoft-com:vml" Requires="v">
                <p:oleObj spid="_x0000_s134189" name="Equation" r:id="rId4" imgW="2705100" imgH="647700" progId="Equation.3">
                  <p:embed/>
                </p:oleObj>
              </mc:Choice>
              <mc:Fallback>
                <p:oleObj name="Equation" r:id="rId4" imgW="2705100" imgH="6477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427163"/>
                        <a:ext cx="6165850" cy="1477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4149" name="Group 18"/>
          <p:cNvGrpSpPr>
            <a:grpSpLocks/>
          </p:cNvGrpSpPr>
          <p:nvPr/>
        </p:nvGrpSpPr>
        <p:grpSpPr bwMode="auto">
          <a:xfrm>
            <a:off x="2824163" y="3789363"/>
            <a:ext cx="5995987" cy="2606675"/>
            <a:chOff x="2823592" y="3789040"/>
            <a:chExt cx="5996880" cy="2606868"/>
          </a:xfrm>
        </p:grpSpPr>
        <p:sp>
          <p:nvSpPr>
            <p:cNvPr id="134152" name="Text Box 6"/>
            <p:cNvSpPr txBox="1">
              <a:spLocks noChangeArrowheads="1"/>
            </p:cNvSpPr>
            <p:nvPr/>
          </p:nvSpPr>
          <p:spPr bwMode="auto">
            <a:xfrm>
              <a:off x="7220272" y="4135308"/>
              <a:ext cx="1600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600" b="1">
                  <a:solidFill>
                    <a:srgbClr val="FF3300"/>
                  </a:solidFill>
                  <a:cs typeface="Times New Roman" panose="02020603050405020304" pitchFamily="18" charset="0"/>
                </a:rPr>
                <a:t>Smer najpočasnejše spremembe</a:t>
              </a:r>
              <a:endParaRPr lang="ru-RU" altLang="en-US" sz="1600" b="1">
                <a:solidFill>
                  <a:srgbClr val="FF3300"/>
                </a:solidFill>
                <a:cs typeface="Times New Roman" panose="02020603050405020304" pitchFamily="18" charset="0"/>
              </a:endParaRPr>
            </a:p>
          </p:txBody>
        </p:sp>
        <p:sp>
          <p:nvSpPr>
            <p:cNvPr id="134153" name="Text Box 7"/>
            <p:cNvSpPr txBox="1">
              <a:spLocks noChangeArrowheads="1"/>
            </p:cNvSpPr>
            <p:nvPr/>
          </p:nvSpPr>
          <p:spPr bwMode="auto">
            <a:xfrm>
              <a:off x="2823592" y="3789040"/>
              <a:ext cx="167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600" b="1">
                  <a:solidFill>
                    <a:srgbClr val="0033CC"/>
                  </a:solidFill>
                  <a:cs typeface="Times New Roman" panose="02020603050405020304" pitchFamily="18" charset="0"/>
                </a:rPr>
                <a:t>Smer najhitrejše</a:t>
              </a:r>
              <a:r>
                <a:rPr lang="en-US" altLang="en-US" sz="1600" b="1">
                  <a:solidFill>
                    <a:srgbClr val="0033CC"/>
                  </a:solidFill>
                  <a:cs typeface="Times New Roman" panose="02020603050405020304" pitchFamily="18" charset="0"/>
                </a:rPr>
                <a:t> </a:t>
              </a:r>
              <a:r>
                <a:rPr lang="sl-SI" altLang="en-US" sz="1600" b="1">
                  <a:solidFill>
                    <a:srgbClr val="0033CC"/>
                  </a:solidFill>
                  <a:cs typeface="Times New Roman" panose="02020603050405020304" pitchFamily="18" charset="0"/>
                </a:rPr>
                <a:t>spremembe</a:t>
              </a:r>
              <a:endParaRPr lang="ru-RU" altLang="en-US" sz="1600" b="1">
                <a:solidFill>
                  <a:srgbClr val="0033CC"/>
                </a:solidFill>
                <a:cs typeface="Times New Roman" panose="02020603050405020304" pitchFamily="18" charset="0"/>
              </a:endParaRPr>
            </a:p>
          </p:txBody>
        </p:sp>
        <p:grpSp>
          <p:nvGrpSpPr>
            <p:cNvPr id="134154" name="Group 8"/>
            <p:cNvGrpSpPr>
              <a:grpSpLocks/>
            </p:cNvGrpSpPr>
            <p:nvPr/>
          </p:nvGrpSpPr>
          <p:grpSpPr bwMode="auto">
            <a:xfrm rot="1280297">
              <a:off x="3334072" y="3906708"/>
              <a:ext cx="3886200" cy="2489200"/>
              <a:chOff x="1584" y="2793"/>
              <a:chExt cx="1824" cy="1175"/>
            </a:xfrm>
          </p:grpSpPr>
          <p:sp>
            <p:nvSpPr>
              <p:cNvPr id="134157" name="Oval 9"/>
              <p:cNvSpPr>
                <a:spLocks noChangeArrowheads="1"/>
              </p:cNvSpPr>
              <p:nvPr/>
            </p:nvSpPr>
            <p:spPr bwMode="auto">
              <a:xfrm rot="-2387176">
                <a:off x="1584" y="2928"/>
                <a:ext cx="1824" cy="912"/>
              </a:xfrm>
              <a:prstGeom prst="ellipse">
                <a:avLst/>
              </a:prstGeom>
              <a:solidFill>
                <a:srgbClr val="7CF6D3"/>
              </a:solidFill>
              <a:ln w="1905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4158" name="Line 10"/>
              <p:cNvSpPr>
                <a:spLocks noChangeShapeType="1"/>
              </p:cNvSpPr>
              <p:nvPr/>
            </p:nvSpPr>
            <p:spPr bwMode="auto">
              <a:xfrm flipV="1">
                <a:off x="1808" y="2793"/>
                <a:ext cx="1397" cy="1175"/>
              </a:xfrm>
              <a:prstGeom prst="line">
                <a:avLst/>
              </a:prstGeom>
              <a:noFill/>
              <a:ln w="19050">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endParaRPr lang="sl-SI"/>
              </a:p>
            </p:txBody>
          </p:sp>
          <p:sp>
            <p:nvSpPr>
              <p:cNvPr id="134159" name="Line 11"/>
              <p:cNvSpPr>
                <a:spLocks noChangeShapeType="1"/>
              </p:cNvSpPr>
              <p:nvPr/>
            </p:nvSpPr>
            <p:spPr bwMode="auto">
              <a:xfrm flipH="1" flipV="1">
                <a:off x="2208" y="3024"/>
                <a:ext cx="594" cy="704"/>
              </a:xfrm>
              <a:prstGeom prst="line">
                <a:avLst/>
              </a:prstGeom>
              <a:noFill/>
              <a:ln w="19050">
                <a:solidFill>
                  <a:schemeClr val="accent2"/>
                </a:solidFill>
                <a:round/>
                <a:headEnd/>
                <a:tailEnd type="stealth" w="med" len="lg"/>
              </a:ln>
              <a:extLst>
                <a:ext uri="{909E8E84-426E-40DD-AFC4-6F175D3DCCD1}">
                  <a14:hiddenFill xmlns:a14="http://schemas.microsoft.com/office/drawing/2010/main">
                    <a:noFill/>
                  </a14:hiddenFill>
                </a:ext>
              </a:extLst>
            </p:spPr>
            <p:txBody>
              <a:bodyPr/>
              <a:lstStyle/>
              <a:p>
                <a:endParaRPr lang="sl-SI"/>
              </a:p>
            </p:txBody>
          </p:sp>
          <p:sp>
            <p:nvSpPr>
              <p:cNvPr id="134160" name="AutoShape 12"/>
              <p:cNvSpPr>
                <a:spLocks/>
              </p:cNvSpPr>
              <p:nvPr/>
            </p:nvSpPr>
            <p:spPr bwMode="auto">
              <a:xfrm rot="-7858971">
                <a:off x="2850" y="2776"/>
                <a:ext cx="144" cy="816"/>
              </a:xfrm>
              <a:prstGeom prst="leftBrace">
                <a:avLst>
                  <a:gd name="adj1" fmla="val 47222"/>
                  <a:gd name="adj2" fmla="val 49065"/>
                </a:avLst>
              </a:pr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4161" name="AutoShape 13"/>
              <p:cNvSpPr>
                <a:spLocks/>
              </p:cNvSpPr>
              <p:nvPr/>
            </p:nvSpPr>
            <p:spPr bwMode="auto">
              <a:xfrm rot="-2458971">
                <a:off x="2170" y="3090"/>
                <a:ext cx="182" cy="384"/>
              </a:xfrm>
              <a:prstGeom prst="leftBrace">
                <a:avLst>
                  <a:gd name="adj1" fmla="val 17582"/>
                  <a:gd name="adj2" fmla="val 49065"/>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sp>
          <p:nvSpPr>
            <p:cNvPr id="134155" name="Rectangle 14"/>
            <p:cNvSpPr>
              <a:spLocks noChangeArrowheads="1"/>
            </p:cNvSpPr>
            <p:nvPr/>
          </p:nvSpPr>
          <p:spPr bwMode="auto">
            <a:xfrm>
              <a:off x="3334072" y="4821108"/>
              <a:ext cx="1752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solidFill>
                    <a:srgbClr val="0033CC"/>
                  </a:solidFill>
                  <a:cs typeface="Times New Roman" panose="02020603050405020304" pitchFamily="18" charset="0"/>
                  <a:sym typeface="Symbol" panose="05050102010706020507" pitchFamily="18" charset="2"/>
                </a:rPr>
                <a:t>(</a:t>
              </a:r>
              <a:r>
                <a:rPr lang="ru-RU" altLang="en-US" sz="1800" i="1">
                  <a:solidFill>
                    <a:srgbClr val="0033CC"/>
                  </a:solidFill>
                  <a:cs typeface="Times New Roman" panose="02020603050405020304" pitchFamily="18" charset="0"/>
                  <a:sym typeface="Symbol" panose="05050102010706020507" pitchFamily="18" charset="2"/>
                </a:rPr>
                <a:t></a:t>
              </a:r>
              <a:r>
                <a:rPr lang="en-US" altLang="en-US" sz="1800" i="1" baseline="-25000">
                  <a:solidFill>
                    <a:srgbClr val="0033CC"/>
                  </a:solidFill>
                  <a:cs typeface="Times New Roman" panose="02020603050405020304" pitchFamily="18" charset="0"/>
                  <a:sym typeface="Symbol" panose="05050102010706020507" pitchFamily="18" charset="2"/>
                </a:rPr>
                <a:t>ma</a:t>
              </a:r>
              <a:r>
                <a:rPr lang="sl-SI" altLang="en-US" sz="1800" i="1" baseline="-25000">
                  <a:solidFill>
                    <a:srgbClr val="0033CC"/>
                  </a:solidFill>
                  <a:cs typeface="Times New Roman" panose="02020603050405020304" pitchFamily="18" charset="0"/>
                  <a:sym typeface="Symbol" panose="05050102010706020507" pitchFamily="18" charset="2"/>
                </a:rPr>
                <a:t>ks</a:t>
              </a:r>
              <a:r>
                <a:rPr lang="en-US" altLang="en-US" sz="1800">
                  <a:solidFill>
                    <a:srgbClr val="0033CC"/>
                  </a:solidFill>
                  <a:cs typeface="Times New Roman" panose="02020603050405020304" pitchFamily="18" charset="0"/>
                  <a:sym typeface="Symbol" panose="05050102010706020507" pitchFamily="18" charset="2"/>
                </a:rPr>
                <a:t>)</a:t>
              </a:r>
              <a:r>
                <a:rPr lang="en-US" altLang="en-US" sz="1800" baseline="30000">
                  <a:solidFill>
                    <a:srgbClr val="0033CC"/>
                  </a:solidFill>
                  <a:cs typeface="Times New Roman" panose="02020603050405020304" pitchFamily="18" charset="0"/>
                  <a:sym typeface="Symbol" panose="05050102010706020507" pitchFamily="18" charset="2"/>
                </a:rPr>
                <a:t>-1/2</a:t>
              </a:r>
              <a:endParaRPr lang="ru-RU" altLang="en-US" sz="1800" baseline="30000">
                <a:solidFill>
                  <a:srgbClr val="0033CC"/>
                </a:solidFill>
                <a:cs typeface="Times New Roman" panose="02020603050405020304" pitchFamily="18" charset="0"/>
                <a:sym typeface="Symbol" panose="05050102010706020507" pitchFamily="18" charset="2"/>
              </a:endParaRPr>
            </a:p>
          </p:txBody>
        </p:sp>
        <p:sp>
          <p:nvSpPr>
            <p:cNvPr id="134156" name="Rectangle 15"/>
            <p:cNvSpPr>
              <a:spLocks noChangeArrowheads="1"/>
            </p:cNvSpPr>
            <p:nvPr/>
          </p:nvSpPr>
          <p:spPr bwMode="auto">
            <a:xfrm>
              <a:off x="5467672" y="5354508"/>
              <a:ext cx="1752600" cy="36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solidFill>
                    <a:srgbClr val="FF3300"/>
                  </a:solidFill>
                  <a:cs typeface="Times New Roman" panose="02020603050405020304" pitchFamily="18" charset="0"/>
                  <a:sym typeface="Symbol" panose="05050102010706020507" pitchFamily="18" charset="2"/>
                </a:rPr>
                <a:t>(</a:t>
              </a:r>
              <a:r>
                <a:rPr lang="ru-RU" altLang="en-US" sz="1800" i="1">
                  <a:solidFill>
                    <a:srgbClr val="FF3300"/>
                  </a:solidFill>
                  <a:cs typeface="Times New Roman" panose="02020603050405020304" pitchFamily="18" charset="0"/>
                  <a:sym typeface="Symbol" panose="05050102010706020507" pitchFamily="18" charset="2"/>
                </a:rPr>
                <a:t></a:t>
              </a:r>
              <a:r>
                <a:rPr lang="en-US" altLang="en-US" sz="1800" i="1" baseline="-25000">
                  <a:solidFill>
                    <a:srgbClr val="FF3300"/>
                  </a:solidFill>
                  <a:cs typeface="Times New Roman" panose="02020603050405020304" pitchFamily="18" charset="0"/>
                  <a:sym typeface="Symbol" panose="05050102010706020507" pitchFamily="18" charset="2"/>
                </a:rPr>
                <a:t>min</a:t>
              </a:r>
              <a:r>
                <a:rPr lang="en-US" altLang="en-US" sz="1800">
                  <a:solidFill>
                    <a:srgbClr val="FF3300"/>
                  </a:solidFill>
                  <a:cs typeface="Times New Roman" panose="02020603050405020304" pitchFamily="18" charset="0"/>
                  <a:sym typeface="Symbol" panose="05050102010706020507" pitchFamily="18" charset="2"/>
                </a:rPr>
                <a:t>)</a:t>
              </a:r>
              <a:r>
                <a:rPr lang="en-US" altLang="en-US" sz="1800" baseline="30000">
                  <a:solidFill>
                    <a:srgbClr val="FF3300"/>
                  </a:solidFill>
                  <a:cs typeface="Times New Roman" panose="02020603050405020304" pitchFamily="18" charset="0"/>
                  <a:sym typeface="Symbol" panose="05050102010706020507" pitchFamily="18" charset="2"/>
                </a:rPr>
                <a:t>-1/2</a:t>
              </a:r>
              <a:endParaRPr lang="ru-RU" altLang="en-US" sz="1800" baseline="30000">
                <a:solidFill>
                  <a:srgbClr val="FF3300"/>
                </a:solidFill>
                <a:cs typeface="Times New Roman" panose="02020603050405020304" pitchFamily="18" charset="0"/>
                <a:sym typeface="Symbol" panose="05050102010706020507" pitchFamily="18" charset="2"/>
              </a:endParaRPr>
            </a:p>
          </p:txBody>
        </p:sp>
      </p:grpSp>
      <p:sp>
        <p:nvSpPr>
          <p:cNvPr id="134150"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34151"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3FE9B8D-DEA4-4A6E-8738-B54D6C59E247}" type="slidenum">
              <a:rPr lang="en-GB" altLang="sl-SI" sz="1400" smtClean="0"/>
              <a:pPr>
                <a:spcBef>
                  <a:spcPct val="0"/>
                </a:spcBef>
                <a:buFontTx/>
                <a:buNone/>
              </a:pPr>
              <a:t>68</a:t>
            </a:fld>
            <a:endParaRPr lang="en-GB" altLang="sl-SI" sz="1400"/>
          </a:p>
        </p:txBody>
      </p:sp>
    </p:spTree>
  </p:cSld>
  <p:clrMapOvr>
    <a:masterClrMapping/>
  </p:clrMapOvr>
  <p:transition>
    <p:cove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ctrTitle"/>
          </p:nvPr>
        </p:nvSpPr>
        <p:spPr>
          <a:xfrm>
            <a:off x="250825" y="188913"/>
            <a:ext cx="8424863" cy="576262"/>
          </a:xfrm>
        </p:spPr>
        <p:txBody>
          <a:bodyPr/>
          <a:lstStyle/>
          <a:p>
            <a:pPr eaLnBrk="1" hangingPunct="1"/>
            <a:r>
              <a:rPr lang="sl-SI" altLang="en-US" sz="2800" b="1"/>
              <a:t>ZASNOVA HARRISOVEGA DETEKTORJA (3)</a:t>
            </a:r>
            <a:endParaRPr lang="en-GB" altLang="en-US" sz="2000"/>
          </a:p>
        </p:txBody>
      </p:sp>
      <p:sp>
        <p:nvSpPr>
          <p:cNvPr id="6" name="TextBox 5"/>
          <p:cNvSpPr txBox="1">
            <a:spLocks noChangeArrowheads="1"/>
          </p:cNvSpPr>
          <p:nvPr/>
        </p:nvSpPr>
        <p:spPr bwMode="auto">
          <a:xfrm>
            <a:off x="755650" y="836613"/>
            <a:ext cx="7704138" cy="2062162"/>
          </a:xfrm>
          <a:prstGeom prst="rect">
            <a:avLst/>
          </a:prstGeom>
          <a:noFill/>
          <a:ln w="9525">
            <a:noFill/>
            <a:miter lim="800000"/>
            <a:headEnd/>
            <a:tailEnd/>
          </a:ln>
        </p:spPr>
        <p:txBody>
          <a:bodyPr>
            <a:spAutoFit/>
          </a:bodyPr>
          <a:lstStyle/>
          <a:p>
            <a:pPr eaLnBrk="1" hangingPunct="1">
              <a:spcBef>
                <a:spcPts val="600"/>
              </a:spcBef>
              <a:defRPr/>
            </a:pPr>
            <a:r>
              <a:rPr lang="sl-SI" dirty="0">
                <a:latin typeface="Arial" charset="0"/>
                <a:cs typeface="Arial" charset="0"/>
              </a:rPr>
              <a:t>Lastni vrednosti matrike </a:t>
            </a:r>
            <a:r>
              <a:rPr lang="sl-SI" b="1" dirty="0">
                <a:latin typeface="Arial" charset="0"/>
                <a:cs typeface="Arial" charset="0"/>
              </a:rPr>
              <a:t>Q </a:t>
            </a:r>
            <a:r>
              <a:rPr lang="sl-SI" dirty="0">
                <a:latin typeface="Arial" charset="0"/>
                <a:cs typeface="Arial" charset="0"/>
              </a:rPr>
              <a:t>opredeljujeta elipso, ki </a:t>
            </a:r>
            <a:r>
              <a:rPr lang="sl-SI">
                <a:latin typeface="Arial" charset="0"/>
                <a:cs typeface="Arial" charset="0"/>
              </a:rPr>
              <a:t>se prilega </a:t>
            </a:r>
            <a:r>
              <a:rPr lang="sl-SI" dirty="0">
                <a:latin typeface="Arial" charset="0"/>
                <a:cs typeface="Arial" charset="0"/>
              </a:rPr>
              <a:t>elementu slike: enotnemu območju, robu ali oglišču.</a:t>
            </a:r>
          </a:p>
          <a:p>
            <a:pPr marL="342900" indent="-342900" eaLnBrk="1" hangingPunct="1">
              <a:spcBef>
                <a:spcPts val="600"/>
              </a:spcBef>
              <a:defRPr/>
            </a:pPr>
            <a:endParaRPr lang="sl-SI" dirty="0">
              <a:latin typeface="Arial" charset="0"/>
              <a:cs typeface="Arial" charset="0"/>
            </a:endParaRPr>
          </a:p>
          <a:p>
            <a:pPr marL="342900" indent="-342900" eaLnBrk="1" hangingPunct="1">
              <a:spcBef>
                <a:spcPts val="600"/>
              </a:spcBef>
              <a:buFont typeface="Arial" charset="0"/>
              <a:buAutoNum type="arabicPeriod" startAt="2"/>
              <a:defRPr/>
            </a:pPr>
            <a:endParaRPr lang="sl-SI" dirty="0">
              <a:latin typeface="Arial" charset="0"/>
              <a:cs typeface="Arial" charset="0"/>
            </a:endParaRPr>
          </a:p>
          <a:p>
            <a:pPr marL="342900" indent="-342900" eaLnBrk="1" hangingPunct="1">
              <a:spcBef>
                <a:spcPts val="600"/>
              </a:spcBef>
              <a:defRPr/>
            </a:pPr>
            <a:r>
              <a:rPr lang="sl-SI" dirty="0">
                <a:latin typeface="Arial" charset="0"/>
                <a:cs typeface="Arial" charset="0"/>
              </a:rPr>
              <a:t>	</a:t>
            </a:r>
          </a:p>
          <a:p>
            <a:pPr marL="342900" indent="-342900" eaLnBrk="1" hangingPunct="1">
              <a:spcBef>
                <a:spcPts val="600"/>
              </a:spcBef>
              <a:defRPr/>
            </a:pPr>
            <a:endParaRPr lang="sl-SI" dirty="0">
              <a:latin typeface="Arial" charset="0"/>
              <a:cs typeface="Arial" charset="0"/>
            </a:endParaRPr>
          </a:p>
        </p:txBody>
      </p:sp>
      <p:pic>
        <p:nvPicPr>
          <p:cNvPr id="136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557338"/>
            <a:ext cx="8682038"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197" name="TextBox 19"/>
          <p:cNvSpPr txBox="1">
            <a:spLocks noChangeArrowheads="1"/>
          </p:cNvSpPr>
          <p:nvPr/>
        </p:nvSpPr>
        <p:spPr bwMode="auto">
          <a:xfrm>
            <a:off x="490538" y="4160838"/>
            <a:ext cx="22367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0000FF"/>
                </a:solidFill>
              </a:rPr>
              <a:t>Enotno območje</a:t>
            </a:r>
            <a:r>
              <a:rPr lang="sl-SI" altLang="en-US" sz="1800"/>
              <a:t>:</a:t>
            </a:r>
          </a:p>
          <a:p>
            <a:pPr eaLnBrk="1" hangingPunct="1">
              <a:spcBef>
                <a:spcPct val="0"/>
              </a:spcBef>
              <a:buFontTx/>
              <a:buNone/>
            </a:pPr>
            <a:r>
              <a:rPr lang="sl-SI" altLang="en-US" sz="1800"/>
              <a:t>obe lastni vrednosti </a:t>
            </a:r>
          </a:p>
          <a:p>
            <a:pPr eaLnBrk="1" hangingPunct="1">
              <a:spcBef>
                <a:spcPct val="0"/>
              </a:spcBef>
              <a:buFontTx/>
              <a:buNone/>
            </a:pPr>
            <a:r>
              <a:rPr lang="sl-SI" altLang="en-US" sz="1800"/>
              <a:t>majhni</a:t>
            </a:r>
            <a:endParaRPr lang="en-GB" altLang="en-US" sz="1800"/>
          </a:p>
        </p:txBody>
      </p:sp>
      <p:sp>
        <p:nvSpPr>
          <p:cNvPr id="136198" name="TextBox 20"/>
          <p:cNvSpPr txBox="1">
            <a:spLocks noChangeArrowheads="1"/>
          </p:cNvSpPr>
          <p:nvPr/>
        </p:nvSpPr>
        <p:spPr bwMode="auto">
          <a:xfrm>
            <a:off x="3440113" y="4149725"/>
            <a:ext cx="231298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0000FF"/>
                </a:solidFill>
              </a:rPr>
              <a:t>Robovi</a:t>
            </a:r>
            <a:r>
              <a:rPr lang="sl-SI" altLang="en-US" sz="1800"/>
              <a:t>:</a:t>
            </a:r>
          </a:p>
          <a:p>
            <a:pPr eaLnBrk="1" hangingPunct="1">
              <a:spcBef>
                <a:spcPct val="0"/>
              </a:spcBef>
              <a:buFontTx/>
              <a:buNone/>
            </a:pPr>
            <a:r>
              <a:rPr lang="sl-SI" altLang="en-US" sz="1800"/>
              <a:t>ena lastna vrednost </a:t>
            </a:r>
          </a:p>
          <a:p>
            <a:pPr eaLnBrk="1" hangingPunct="1">
              <a:spcBef>
                <a:spcPct val="0"/>
              </a:spcBef>
              <a:buFontTx/>
              <a:buNone/>
            </a:pPr>
            <a:r>
              <a:rPr lang="sl-SI" altLang="en-US" sz="1800"/>
              <a:t>majhna, ena velika</a:t>
            </a:r>
            <a:endParaRPr lang="en-GB" altLang="en-US" sz="1800"/>
          </a:p>
        </p:txBody>
      </p:sp>
      <p:sp>
        <p:nvSpPr>
          <p:cNvPr id="136199" name="TextBox 21"/>
          <p:cNvSpPr txBox="1">
            <a:spLocks noChangeArrowheads="1"/>
          </p:cNvSpPr>
          <p:nvPr/>
        </p:nvSpPr>
        <p:spPr bwMode="auto">
          <a:xfrm>
            <a:off x="6370638" y="4160838"/>
            <a:ext cx="22367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0000FF"/>
                </a:solidFill>
              </a:rPr>
              <a:t>Oglišča</a:t>
            </a:r>
            <a:r>
              <a:rPr lang="sl-SI" altLang="en-US" sz="1800"/>
              <a:t>:</a:t>
            </a:r>
          </a:p>
          <a:p>
            <a:pPr eaLnBrk="1" hangingPunct="1">
              <a:spcBef>
                <a:spcPct val="0"/>
              </a:spcBef>
              <a:buFontTx/>
              <a:buNone/>
            </a:pPr>
            <a:r>
              <a:rPr lang="sl-SI" altLang="en-US" sz="1800"/>
              <a:t>obe lastni vrednosti </a:t>
            </a:r>
          </a:p>
          <a:p>
            <a:pPr eaLnBrk="1" hangingPunct="1">
              <a:spcBef>
                <a:spcPct val="0"/>
              </a:spcBef>
              <a:buFontTx/>
              <a:buNone/>
            </a:pPr>
            <a:r>
              <a:rPr lang="sl-SI" altLang="en-US" sz="1800"/>
              <a:t>veliki</a:t>
            </a:r>
            <a:endParaRPr lang="en-GB" altLang="en-US" sz="1800"/>
          </a:p>
        </p:txBody>
      </p:sp>
      <p:sp>
        <p:nvSpPr>
          <p:cNvPr id="136200"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36201"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66F9D3F-C1D2-4155-BA29-460CC1FA4875}" type="slidenum">
              <a:rPr lang="en-GB" altLang="sl-SI" sz="1400" smtClean="0"/>
              <a:pPr>
                <a:spcBef>
                  <a:spcPct val="0"/>
                </a:spcBef>
                <a:buFontTx/>
                <a:buNone/>
              </a:pPr>
              <a:t>69</a:t>
            </a:fld>
            <a:endParaRPr lang="en-GB" altLang="sl-SI" sz="1400"/>
          </a:p>
        </p:txBody>
      </p:sp>
    </p:spTree>
  </p:cSld>
  <p:clrMapOvr>
    <a:masterClrMapping/>
  </p:clrMapOvr>
  <p:transition>
    <p:cove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ctrTitle"/>
          </p:nvPr>
        </p:nvSpPr>
        <p:spPr>
          <a:xfrm>
            <a:off x="250825" y="188913"/>
            <a:ext cx="8424863" cy="576262"/>
          </a:xfrm>
        </p:spPr>
        <p:txBody>
          <a:bodyPr/>
          <a:lstStyle/>
          <a:p>
            <a:pPr eaLnBrk="1" hangingPunct="1"/>
            <a:r>
              <a:rPr lang="sl-SI" altLang="en-US" sz="2800" b="1"/>
              <a:t>HARRISOV DETEKTOR – MERA ZA OGLIŠČA</a:t>
            </a:r>
            <a:endParaRPr lang="en-GB" altLang="en-US" sz="2000"/>
          </a:p>
        </p:txBody>
      </p:sp>
      <p:sp>
        <p:nvSpPr>
          <p:cNvPr id="138243" name="TextBox 5"/>
          <p:cNvSpPr txBox="1">
            <a:spLocks noChangeArrowheads="1"/>
          </p:cNvSpPr>
          <p:nvPr/>
        </p:nvSpPr>
        <p:spPr bwMode="auto">
          <a:xfrm>
            <a:off x="539750" y="836613"/>
            <a:ext cx="7704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Determinanto in sled matrike </a:t>
            </a:r>
            <a:r>
              <a:rPr lang="sl-SI" altLang="en-US" sz="1800" b="1"/>
              <a:t>Q</a:t>
            </a:r>
            <a:r>
              <a:rPr lang="sl-SI" altLang="en-US" sz="1800"/>
              <a:t> izkoristimo za mero, ki kaže na oglišča:</a:t>
            </a:r>
          </a:p>
        </p:txBody>
      </p:sp>
      <p:sp>
        <p:nvSpPr>
          <p:cNvPr id="138244" name="Rectangle 11"/>
          <p:cNvSpPr>
            <a:spLocks noChangeArrowheads="1"/>
          </p:cNvSpPr>
          <p:nvPr/>
        </p:nvSpPr>
        <p:spPr bwMode="auto">
          <a:xfrm>
            <a:off x="2051050" y="2605088"/>
            <a:ext cx="45259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cs typeface="Times New Roman" panose="02020603050405020304" pitchFamily="18" charset="0"/>
              </a:rPr>
              <a:t>(</a:t>
            </a:r>
            <a:r>
              <a:rPr lang="en-US" altLang="en-US" sz="1800" i="1">
                <a:cs typeface="Times New Roman" panose="02020603050405020304" pitchFamily="18" charset="0"/>
              </a:rPr>
              <a:t>k</a:t>
            </a:r>
            <a:r>
              <a:rPr lang="en-US" altLang="en-US" sz="1800">
                <a:cs typeface="Times New Roman" panose="02020603050405020304" pitchFamily="18" charset="0"/>
              </a:rPr>
              <a:t> – </a:t>
            </a:r>
            <a:r>
              <a:rPr lang="sl-SI" altLang="en-US" sz="1800">
                <a:cs typeface="Times New Roman" panose="02020603050405020304" pitchFamily="18" charset="0"/>
              </a:rPr>
              <a:t>izkustvena k</a:t>
            </a:r>
            <a:r>
              <a:rPr lang="en-US" altLang="en-US" sz="1800">
                <a:cs typeface="Times New Roman" panose="02020603050405020304" pitchFamily="18" charset="0"/>
              </a:rPr>
              <a:t>onstan</a:t>
            </a:r>
            <a:r>
              <a:rPr lang="sl-SI" altLang="en-US" sz="1800">
                <a:cs typeface="Times New Roman" panose="02020603050405020304" pitchFamily="18" charset="0"/>
              </a:rPr>
              <a:t>ta</a:t>
            </a:r>
            <a:r>
              <a:rPr lang="en-US" altLang="en-US" sz="1800">
                <a:cs typeface="Times New Roman" panose="02020603050405020304" pitchFamily="18" charset="0"/>
              </a:rPr>
              <a:t>, </a:t>
            </a:r>
            <a:r>
              <a:rPr lang="en-US" altLang="en-US" sz="1800" i="1">
                <a:cs typeface="Times New Roman" panose="02020603050405020304" pitchFamily="18" charset="0"/>
              </a:rPr>
              <a:t>k </a:t>
            </a:r>
            <a:r>
              <a:rPr lang="en-US" altLang="en-US" sz="1800">
                <a:cs typeface="Times New Roman" panose="02020603050405020304" pitchFamily="18" charset="0"/>
              </a:rPr>
              <a:t>= 0</a:t>
            </a:r>
            <a:r>
              <a:rPr lang="sl-SI" altLang="en-US" sz="1800">
                <a:cs typeface="Times New Roman" panose="02020603050405020304" pitchFamily="18" charset="0"/>
              </a:rPr>
              <a:t>,</a:t>
            </a:r>
            <a:r>
              <a:rPr lang="en-US" altLang="en-US" sz="1800">
                <a:cs typeface="Times New Roman" panose="02020603050405020304" pitchFamily="18" charset="0"/>
              </a:rPr>
              <a:t>04</a:t>
            </a:r>
            <a:r>
              <a:rPr lang="sl-SI" altLang="en-US" sz="1800">
                <a:cs typeface="Times New Roman" panose="02020603050405020304" pitchFamily="18" charset="0"/>
              </a:rPr>
              <a:t> – </a:t>
            </a:r>
            <a:r>
              <a:rPr lang="en-US" altLang="en-US" sz="1800">
                <a:cs typeface="Times New Roman" panose="02020603050405020304" pitchFamily="18" charset="0"/>
              </a:rPr>
              <a:t>0</a:t>
            </a:r>
            <a:r>
              <a:rPr lang="sl-SI" altLang="en-US" sz="1800">
                <a:cs typeface="Times New Roman" panose="02020603050405020304" pitchFamily="18" charset="0"/>
              </a:rPr>
              <a:t>,</a:t>
            </a:r>
            <a:r>
              <a:rPr lang="en-US" altLang="en-US" sz="1800">
                <a:cs typeface="Times New Roman" panose="02020603050405020304" pitchFamily="18" charset="0"/>
              </a:rPr>
              <a:t>06)</a:t>
            </a:r>
            <a:endParaRPr lang="ru-RU" altLang="en-US" sz="1800">
              <a:cs typeface="Times New Roman" panose="02020603050405020304" pitchFamily="18" charset="0"/>
            </a:endParaRPr>
          </a:p>
        </p:txBody>
      </p:sp>
      <p:graphicFrame>
        <p:nvGraphicFramePr>
          <p:cNvPr id="138245" name="Object 4"/>
          <p:cNvGraphicFramePr>
            <a:graphicFrameLocks noChangeAspect="1"/>
          </p:cNvGraphicFramePr>
          <p:nvPr/>
        </p:nvGraphicFramePr>
        <p:xfrm>
          <a:off x="2771775" y="1301750"/>
          <a:ext cx="2819400" cy="1296988"/>
        </p:xfrm>
        <a:graphic>
          <a:graphicData uri="http://schemas.openxmlformats.org/presentationml/2006/ole">
            <mc:AlternateContent xmlns:mc="http://schemas.openxmlformats.org/markup-compatibility/2006">
              <mc:Choice xmlns:v="urn:schemas-microsoft-com:vml" Requires="v">
                <p:oleObj spid="_x0000_s138290" name="Equation" r:id="rId4" imgW="1295400" imgH="596900" progId="Equation.3">
                  <p:embed/>
                </p:oleObj>
              </mc:Choice>
              <mc:Fallback>
                <p:oleObj name="Equation" r:id="rId4" imgW="1295400" imgH="596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1301750"/>
                        <a:ext cx="2819400"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8246" name="Group 39"/>
          <p:cNvGrpSpPr>
            <a:grpSpLocks/>
          </p:cNvGrpSpPr>
          <p:nvPr/>
        </p:nvGrpSpPr>
        <p:grpSpPr bwMode="auto">
          <a:xfrm>
            <a:off x="3340100" y="2976563"/>
            <a:ext cx="5048250" cy="3586162"/>
            <a:chOff x="3124200" y="1752600"/>
            <a:chExt cx="5410200" cy="4841998"/>
          </a:xfrm>
        </p:grpSpPr>
        <p:sp>
          <p:nvSpPr>
            <p:cNvPr id="138250" name="Rectangle 3"/>
            <p:cNvSpPr>
              <a:spLocks noChangeArrowheads="1"/>
            </p:cNvSpPr>
            <p:nvPr/>
          </p:nvSpPr>
          <p:spPr bwMode="auto">
            <a:xfrm>
              <a:off x="4038600" y="1752600"/>
              <a:ext cx="4343400" cy="4343400"/>
            </a:xfrm>
            <a:prstGeom prst="rect">
              <a:avLst/>
            </a:prstGeom>
            <a:solidFill>
              <a:srgbClr val="F38F67"/>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8251" name="Rectangle 4"/>
            <p:cNvSpPr>
              <a:spLocks noChangeArrowheads="1"/>
            </p:cNvSpPr>
            <p:nvPr/>
          </p:nvSpPr>
          <p:spPr bwMode="auto">
            <a:xfrm>
              <a:off x="7772400" y="6096000"/>
              <a:ext cx="762000"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ru-RU" altLang="en-US" sz="1800" i="1">
                  <a:cs typeface="Times New Roman" panose="02020603050405020304" pitchFamily="18" charset="0"/>
                  <a:sym typeface="Symbol" panose="05050102010706020507" pitchFamily="18" charset="2"/>
                </a:rPr>
                <a:t></a:t>
              </a:r>
              <a:r>
                <a:rPr lang="en-US" altLang="en-US" sz="1800" baseline="-25000">
                  <a:cs typeface="Times New Roman" panose="02020603050405020304" pitchFamily="18" charset="0"/>
                  <a:sym typeface="Symbol" panose="05050102010706020507" pitchFamily="18" charset="2"/>
                </a:rPr>
                <a:t>1</a:t>
              </a:r>
              <a:endParaRPr lang="ru-RU" altLang="en-US" sz="1800" baseline="-25000">
                <a:cs typeface="Times New Roman" panose="02020603050405020304" pitchFamily="18" charset="0"/>
                <a:sym typeface="Symbol" panose="05050102010706020507" pitchFamily="18" charset="2"/>
              </a:endParaRPr>
            </a:p>
          </p:txBody>
        </p:sp>
        <p:sp>
          <p:nvSpPr>
            <p:cNvPr id="138252" name="Rectangle 5"/>
            <p:cNvSpPr>
              <a:spLocks noChangeArrowheads="1"/>
            </p:cNvSpPr>
            <p:nvPr/>
          </p:nvSpPr>
          <p:spPr bwMode="auto">
            <a:xfrm>
              <a:off x="3124200" y="1828799"/>
              <a:ext cx="1066800"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ru-RU" altLang="en-US" sz="1800" i="1">
                  <a:cs typeface="Times New Roman" panose="02020603050405020304" pitchFamily="18" charset="0"/>
                  <a:sym typeface="Symbol" panose="05050102010706020507" pitchFamily="18" charset="2"/>
                </a:rPr>
                <a:t></a:t>
              </a:r>
              <a:r>
                <a:rPr lang="en-US" altLang="en-US" sz="1800" baseline="-25000">
                  <a:cs typeface="Times New Roman" panose="02020603050405020304" pitchFamily="18" charset="0"/>
                  <a:sym typeface="Symbol" panose="05050102010706020507" pitchFamily="18" charset="2"/>
                </a:rPr>
                <a:t>2</a:t>
              </a:r>
              <a:endParaRPr lang="ru-RU" altLang="en-US" sz="1800" baseline="-25000">
                <a:cs typeface="Times New Roman" panose="02020603050405020304" pitchFamily="18" charset="0"/>
                <a:sym typeface="Symbol" panose="05050102010706020507" pitchFamily="18" charset="2"/>
              </a:endParaRPr>
            </a:p>
          </p:txBody>
        </p:sp>
        <p:sp>
          <p:nvSpPr>
            <p:cNvPr id="138253" name="Freeform 6"/>
            <p:cNvSpPr>
              <a:spLocks/>
            </p:cNvSpPr>
            <p:nvPr/>
          </p:nvSpPr>
          <p:spPr bwMode="auto">
            <a:xfrm>
              <a:off x="4495800" y="1752600"/>
              <a:ext cx="3886200" cy="3937000"/>
            </a:xfrm>
            <a:custGeom>
              <a:avLst/>
              <a:gdLst>
                <a:gd name="T0" fmla="*/ 0 w 2448"/>
                <a:gd name="T1" fmla="*/ 2147483646 h 2480"/>
                <a:gd name="T2" fmla="*/ 2147483646 w 2448"/>
                <a:gd name="T3" fmla="*/ 0 h 2480"/>
                <a:gd name="T4" fmla="*/ 2147483646 w 2448"/>
                <a:gd name="T5" fmla="*/ 0 h 2480"/>
                <a:gd name="T6" fmla="*/ 2147483646 w 2448"/>
                <a:gd name="T7" fmla="*/ 2147483646 h 2480"/>
                <a:gd name="T8" fmla="*/ 2147483646 w 2448"/>
                <a:gd name="T9" fmla="*/ 2147483646 h 2480"/>
                <a:gd name="T10" fmla="*/ 0 w 2448"/>
                <a:gd name="T11" fmla="*/ 2147483646 h 2480"/>
                <a:gd name="T12" fmla="*/ 0 60000 65536"/>
                <a:gd name="T13" fmla="*/ 0 60000 65536"/>
                <a:gd name="T14" fmla="*/ 0 60000 65536"/>
                <a:gd name="T15" fmla="*/ 0 60000 65536"/>
                <a:gd name="T16" fmla="*/ 0 60000 65536"/>
                <a:gd name="T17" fmla="*/ 0 60000 65536"/>
                <a:gd name="T18" fmla="*/ 0 w 2448"/>
                <a:gd name="T19" fmla="*/ 0 h 2480"/>
                <a:gd name="T20" fmla="*/ 2448 w 2448"/>
                <a:gd name="T21" fmla="*/ 2480 h 2480"/>
              </a:gdLst>
              <a:ahLst/>
              <a:cxnLst>
                <a:cxn ang="T12">
                  <a:pos x="T0" y="T1"/>
                </a:cxn>
                <a:cxn ang="T13">
                  <a:pos x="T2" y="T3"/>
                </a:cxn>
                <a:cxn ang="T14">
                  <a:pos x="T4" y="T5"/>
                </a:cxn>
                <a:cxn ang="T15">
                  <a:pos x="T6" y="T7"/>
                </a:cxn>
                <a:cxn ang="T16">
                  <a:pos x="T8" y="T9"/>
                </a:cxn>
                <a:cxn ang="T17">
                  <a:pos x="T10" y="T11"/>
                </a:cxn>
              </a:cxnLst>
              <a:rect l="T18" t="T19" r="T20" b="T21"/>
              <a:pathLst>
                <a:path w="2448" h="2480">
                  <a:moveTo>
                    <a:pt x="0" y="1920"/>
                  </a:moveTo>
                  <a:lnTo>
                    <a:pt x="672" y="0"/>
                  </a:lnTo>
                  <a:lnTo>
                    <a:pt x="2448" y="0"/>
                  </a:lnTo>
                  <a:lnTo>
                    <a:pt x="2448" y="1872"/>
                  </a:lnTo>
                  <a:lnTo>
                    <a:pt x="555" y="2480"/>
                  </a:lnTo>
                  <a:lnTo>
                    <a:pt x="0" y="1920"/>
                  </a:lnTo>
                  <a:close/>
                </a:path>
              </a:pathLst>
            </a:custGeom>
            <a:solidFill>
              <a:schemeClr val="accent1"/>
            </a:solidFill>
            <a:ln w="9525" cap="flat" cmpd="sng">
              <a:solidFill>
                <a:schemeClr val="tx1"/>
              </a:solidFill>
              <a:prstDash val="solid"/>
              <a:round/>
              <a:headEnd/>
              <a:tailEnd/>
            </a:ln>
          </p:spPr>
          <p:txBody>
            <a:bodyPr/>
            <a:lstStyle/>
            <a:p>
              <a:endParaRPr lang="sl-SI"/>
            </a:p>
          </p:txBody>
        </p:sp>
        <p:sp>
          <p:nvSpPr>
            <p:cNvPr id="138254" name="AutoShape 7"/>
            <p:cNvSpPr>
              <a:spLocks noChangeArrowheads="1"/>
            </p:cNvSpPr>
            <p:nvPr/>
          </p:nvSpPr>
          <p:spPr bwMode="auto">
            <a:xfrm>
              <a:off x="4038600" y="4343400"/>
              <a:ext cx="1749425" cy="1752600"/>
            </a:xfrm>
            <a:prstGeom prst="rtTriangle">
              <a:avLst/>
            </a:prstGeom>
            <a:solidFill>
              <a:srgbClr val="B2B2B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38255" name="Rectangle 8"/>
            <p:cNvSpPr>
              <a:spLocks noChangeArrowheads="1"/>
            </p:cNvSpPr>
            <p:nvPr/>
          </p:nvSpPr>
          <p:spPr bwMode="auto">
            <a:xfrm>
              <a:off x="5791200" y="1981200"/>
              <a:ext cx="2667000" cy="52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0033CC"/>
                  </a:solidFill>
                  <a:cs typeface="Times New Roman" panose="02020603050405020304" pitchFamily="18" charset="0"/>
                  <a:sym typeface="Symbol" panose="05050102010706020507" pitchFamily="18" charset="2"/>
                </a:rPr>
                <a:t>Oglišče</a:t>
              </a:r>
              <a:endParaRPr lang="ru-RU" altLang="en-US" sz="2000">
                <a:cs typeface="Times New Roman" panose="02020603050405020304" pitchFamily="18" charset="0"/>
                <a:sym typeface="Symbol" panose="05050102010706020507" pitchFamily="18" charset="2"/>
              </a:endParaRPr>
            </a:p>
          </p:txBody>
        </p:sp>
        <p:sp>
          <p:nvSpPr>
            <p:cNvPr id="138256" name="Rectangle 9"/>
            <p:cNvSpPr>
              <a:spLocks noChangeArrowheads="1"/>
            </p:cNvSpPr>
            <p:nvPr/>
          </p:nvSpPr>
          <p:spPr bwMode="auto">
            <a:xfrm>
              <a:off x="7162800" y="5105400"/>
              <a:ext cx="1295400" cy="52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0033CC"/>
                  </a:solidFill>
                  <a:cs typeface="Times New Roman" panose="02020603050405020304" pitchFamily="18" charset="0"/>
                  <a:sym typeface="Symbol" panose="05050102010706020507" pitchFamily="18" charset="2"/>
                </a:rPr>
                <a:t>Rob</a:t>
              </a:r>
              <a:r>
                <a:rPr lang="en-US" altLang="en-US" sz="1800">
                  <a:solidFill>
                    <a:srgbClr val="0033CC"/>
                  </a:solidFill>
                  <a:cs typeface="Times New Roman" panose="02020603050405020304" pitchFamily="18" charset="0"/>
                  <a:sym typeface="Symbol" panose="05050102010706020507" pitchFamily="18" charset="2"/>
                </a:rPr>
                <a:t> </a:t>
              </a:r>
              <a:endParaRPr lang="ru-RU" altLang="en-US" sz="2000">
                <a:cs typeface="Times New Roman" panose="02020603050405020304" pitchFamily="18" charset="0"/>
                <a:sym typeface="Symbol" panose="05050102010706020507" pitchFamily="18" charset="2"/>
              </a:endParaRPr>
            </a:p>
          </p:txBody>
        </p:sp>
        <p:sp>
          <p:nvSpPr>
            <p:cNvPr id="138257" name="Rectangle 10"/>
            <p:cNvSpPr>
              <a:spLocks noChangeArrowheads="1"/>
            </p:cNvSpPr>
            <p:nvPr/>
          </p:nvSpPr>
          <p:spPr bwMode="auto">
            <a:xfrm>
              <a:off x="4114800" y="1905000"/>
              <a:ext cx="1295400" cy="52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0033CC"/>
                  </a:solidFill>
                  <a:cs typeface="Times New Roman" panose="02020603050405020304" pitchFamily="18" charset="0"/>
                  <a:sym typeface="Symbol" panose="05050102010706020507" pitchFamily="18" charset="2"/>
                </a:rPr>
                <a:t>Rob</a:t>
              </a:r>
              <a:r>
                <a:rPr lang="en-US" altLang="en-US" sz="1800">
                  <a:solidFill>
                    <a:srgbClr val="0033CC"/>
                  </a:solidFill>
                  <a:cs typeface="Times New Roman" panose="02020603050405020304" pitchFamily="18" charset="0"/>
                  <a:sym typeface="Symbol" panose="05050102010706020507" pitchFamily="18" charset="2"/>
                </a:rPr>
                <a:t> </a:t>
              </a:r>
              <a:endParaRPr lang="ru-RU" altLang="en-US" sz="2000">
                <a:cs typeface="Times New Roman" panose="02020603050405020304" pitchFamily="18" charset="0"/>
                <a:sym typeface="Symbol" panose="05050102010706020507" pitchFamily="18" charset="2"/>
              </a:endParaRPr>
            </a:p>
          </p:txBody>
        </p:sp>
        <p:sp>
          <p:nvSpPr>
            <p:cNvPr id="138258" name="Rectangle 11"/>
            <p:cNvSpPr>
              <a:spLocks noChangeArrowheads="1"/>
            </p:cNvSpPr>
            <p:nvPr/>
          </p:nvSpPr>
          <p:spPr bwMode="auto">
            <a:xfrm>
              <a:off x="3886200" y="5105400"/>
              <a:ext cx="1219200" cy="488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sl-SI" altLang="en-US" sz="1800">
                  <a:solidFill>
                    <a:srgbClr val="0033CC"/>
                  </a:solidFill>
                  <a:cs typeface="Times New Roman" panose="02020603050405020304" pitchFamily="18" charset="0"/>
                  <a:sym typeface="Symbol" panose="05050102010706020507" pitchFamily="18" charset="2"/>
                </a:rPr>
                <a:t>Enotno</a:t>
              </a:r>
              <a:endParaRPr lang="ru-RU" altLang="en-US" sz="1800">
                <a:solidFill>
                  <a:srgbClr val="0033CC"/>
                </a:solidFill>
                <a:cs typeface="Times New Roman" panose="02020603050405020304" pitchFamily="18" charset="0"/>
                <a:sym typeface="Symbol" panose="05050102010706020507" pitchFamily="18" charset="2"/>
              </a:endParaRPr>
            </a:p>
          </p:txBody>
        </p:sp>
        <p:sp>
          <p:nvSpPr>
            <p:cNvPr id="138259" name="Text Box 13"/>
            <p:cNvSpPr txBox="1">
              <a:spLocks noChangeArrowheads="1"/>
            </p:cNvSpPr>
            <p:nvPr/>
          </p:nvSpPr>
          <p:spPr bwMode="auto">
            <a:xfrm>
              <a:off x="6029325" y="3276600"/>
              <a:ext cx="846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i="1">
                  <a:cs typeface="Times New Roman" panose="02020603050405020304" pitchFamily="18" charset="0"/>
                </a:rPr>
                <a:t>R</a:t>
              </a:r>
              <a:r>
                <a:rPr lang="en-US" altLang="en-US" sz="1800">
                  <a:cs typeface="Times New Roman" panose="02020603050405020304" pitchFamily="18" charset="0"/>
                </a:rPr>
                <a:t> &gt; 0</a:t>
              </a:r>
              <a:endParaRPr lang="ru-RU" altLang="en-US" sz="1800">
                <a:cs typeface="Times New Roman" panose="02020603050405020304" pitchFamily="18" charset="0"/>
              </a:endParaRPr>
            </a:p>
          </p:txBody>
        </p:sp>
        <p:sp>
          <p:nvSpPr>
            <p:cNvPr id="138260" name="Text Box 14"/>
            <p:cNvSpPr txBox="1">
              <a:spLocks noChangeArrowheads="1"/>
            </p:cNvSpPr>
            <p:nvPr/>
          </p:nvSpPr>
          <p:spPr bwMode="auto">
            <a:xfrm>
              <a:off x="4191000" y="2362200"/>
              <a:ext cx="846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i="1">
                  <a:cs typeface="Times New Roman" panose="02020603050405020304" pitchFamily="18" charset="0"/>
                </a:rPr>
                <a:t>R</a:t>
              </a:r>
              <a:r>
                <a:rPr lang="en-US" altLang="en-US" sz="1800">
                  <a:cs typeface="Times New Roman" panose="02020603050405020304" pitchFamily="18" charset="0"/>
                </a:rPr>
                <a:t> &lt; 0</a:t>
              </a:r>
              <a:endParaRPr lang="ru-RU" altLang="en-US" sz="1800">
                <a:cs typeface="Times New Roman" panose="02020603050405020304" pitchFamily="18" charset="0"/>
              </a:endParaRPr>
            </a:p>
          </p:txBody>
        </p:sp>
        <p:sp>
          <p:nvSpPr>
            <p:cNvPr id="138261" name="Text Box 15"/>
            <p:cNvSpPr txBox="1">
              <a:spLocks noChangeArrowheads="1"/>
            </p:cNvSpPr>
            <p:nvPr/>
          </p:nvSpPr>
          <p:spPr bwMode="auto">
            <a:xfrm>
              <a:off x="7315200" y="5562600"/>
              <a:ext cx="846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i="1">
                  <a:cs typeface="Times New Roman" panose="02020603050405020304" pitchFamily="18" charset="0"/>
                </a:rPr>
                <a:t>R</a:t>
              </a:r>
              <a:r>
                <a:rPr lang="en-US" altLang="en-US" sz="1800">
                  <a:cs typeface="Times New Roman" panose="02020603050405020304" pitchFamily="18" charset="0"/>
                </a:rPr>
                <a:t> &lt; 0</a:t>
              </a:r>
              <a:endParaRPr lang="ru-RU" altLang="en-US" sz="1800">
                <a:cs typeface="Times New Roman" panose="02020603050405020304" pitchFamily="18" charset="0"/>
              </a:endParaRPr>
            </a:p>
          </p:txBody>
        </p:sp>
        <p:sp>
          <p:nvSpPr>
            <p:cNvPr id="138262" name="Text Box 16"/>
            <p:cNvSpPr txBox="1">
              <a:spLocks noChangeArrowheads="1"/>
            </p:cNvSpPr>
            <p:nvPr/>
          </p:nvSpPr>
          <p:spPr bwMode="auto">
            <a:xfrm>
              <a:off x="4005766" y="5562600"/>
              <a:ext cx="1383295" cy="488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i="1">
                  <a:cs typeface="Times New Roman" panose="02020603050405020304" pitchFamily="18" charset="0"/>
                </a:rPr>
                <a:t>|R|</a:t>
              </a:r>
              <a:r>
                <a:rPr lang="en-US" altLang="en-US" sz="1800">
                  <a:cs typeface="Times New Roman" panose="02020603050405020304" pitchFamily="18" charset="0"/>
                </a:rPr>
                <a:t> </a:t>
              </a:r>
              <a:r>
                <a:rPr lang="sl-SI" altLang="en-US" sz="1800">
                  <a:cs typeface="Times New Roman" panose="02020603050405020304" pitchFamily="18" charset="0"/>
                </a:rPr>
                <a:t>majhen</a:t>
              </a:r>
              <a:endParaRPr lang="ru-RU" altLang="en-US" sz="1800">
                <a:cs typeface="Times New Roman" panose="02020603050405020304" pitchFamily="18" charset="0"/>
              </a:endParaRPr>
            </a:p>
          </p:txBody>
        </p:sp>
      </p:grpSp>
      <p:sp>
        <p:nvSpPr>
          <p:cNvPr id="41" name="Text Box 12"/>
          <p:cNvSpPr txBox="1">
            <a:spLocks noChangeArrowheads="1"/>
          </p:cNvSpPr>
          <p:nvPr/>
        </p:nvSpPr>
        <p:spPr bwMode="auto">
          <a:xfrm>
            <a:off x="381000" y="3041650"/>
            <a:ext cx="3505200" cy="1892300"/>
          </a:xfrm>
          <a:prstGeom prst="rect">
            <a:avLst/>
          </a:prstGeom>
          <a:noFill/>
          <a:ln w="9525">
            <a:noFill/>
            <a:miter lim="800000"/>
            <a:headEnd/>
            <a:tailEnd/>
          </a:ln>
        </p:spPr>
        <p:txBody>
          <a:bodyPr>
            <a:spAutoFit/>
          </a:bodyPr>
          <a:lstStyle/>
          <a:p>
            <a:pPr eaLnBrk="1" hangingPunct="1">
              <a:spcBef>
                <a:spcPct val="50000"/>
              </a:spcBef>
              <a:defRPr/>
            </a:pPr>
            <a:endParaRPr lang="en-US" dirty="0">
              <a:latin typeface="Arial" charset="0"/>
              <a:cs typeface="Times New Roman" pitchFamily="18" charset="0"/>
            </a:endParaRPr>
          </a:p>
          <a:p>
            <a:pPr marL="179388" indent="-179388" eaLnBrk="1" hangingPunct="1">
              <a:spcBef>
                <a:spcPct val="50000"/>
              </a:spcBef>
              <a:buFontTx/>
              <a:buChar char="•"/>
              <a:defRPr/>
            </a:pPr>
            <a:r>
              <a:rPr lang="en-US" dirty="0">
                <a:latin typeface="Arial" charset="0"/>
                <a:cs typeface="Times New Roman" pitchFamily="18" charset="0"/>
              </a:rPr>
              <a:t> </a:t>
            </a:r>
            <a:r>
              <a:rPr lang="en-US" i="1" dirty="0">
                <a:latin typeface="Arial" charset="0"/>
                <a:cs typeface="Times New Roman" pitchFamily="18" charset="0"/>
              </a:rPr>
              <a:t>R</a:t>
            </a:r>
            <a:r>
              <a:rPr lang="en-US" dirty="0">
                <a:latin typeface="Arial" charset="0"/>
                <a:cs typeface="Times New Roman" pitchFamily="18" charset="0"/>
              </a:rPr>
              <a:t> </a:t>
            </a:r>
            <a:r>
              <a:rPr lang="sl-SI" dirty="0">
                <a:latin typeface="Arial" charset="0"/>
                <a:cs typeface="Times New Roman" pitchFamily="18" charset="0"/>
              </a:rPr>
              <a:t>je velik za</a:t>
            </a:r>
            <a:r>
              <a:rPr lang="en-US" dirty="0">
                <a:latin typeface="Arial" charset="0"/>
                <a:cs typeface="Times New Roman" pitchFamily="18" charset="0"/>
              </a:rPr>
              <a:t> </a:t>
            </a:r>
            <a:r>
              <a:rPr lang="en-US" dirty="0">
                <a:solidFill>
                  <a:srgbClr val="0033CC"/>
                </a:solidFill>
                <a:latin typeface="Arial" charset="0"/>
                <a:cs typeface="Times New Roman" pitchFamily="18" charset="0"/>
              </a:rPr>
              <a:t>o</a:t>
            </a:r>
            <a:r>
              <a:rPr lang="sl-SI" dirty="0" err="1">
                <a:solidFill>
                  <a:srgbClr val="0033CC"/>
                </a:solidFill>
                <a:latin typeface="Arial" charset="0"/>
                <a:cs typeface="Times New Roman" pitchFamily="18" charset="0"/>
              </a:rPr>
              <a:t>glišča</a:t>
            </a:r>
            <a:endParaRPr lang="en-US" dirty="0">
              <a:solidFill>
                <a:srgbClr val="0033CC"/>
              </a:solidFill>
              <a:latin typeface="Arial" charset="0"/>
              <a:cs typeface="Times New Roman" pitchFamily="18" charset="0"/>
            </a:endParaRPr>
          </a:p>
          <a:p>
            <a:pPr marL="179388" indent="-179388" eaLnBrk="1" hangingPunct="1">
              <a:spcBef>
                <a:spcPct val="50000"/>
              </a:spcBef>
              <a:buFontTx/>
              <a:buChar char="•"/>
              <a:defRPr/>
            </a:pPr>
            <a:r>
              <a:rPr lang="en-US" dirty="0">
                <a:latin typeface="Arial" charset="0"/>
                <a:cs typeface="Times New Roman" pitchFamily="18" charset="0"/>
              </a:rPr>
              <a:t> </a:t>
            </a:r>
            <a:r>
              <a:rPr lang="en-US" i="1" dirty="0">
                <a:latin typeface="Arial" charset="0"/>
                <a:cs typeface="Times New Roman" pitchFamily="18" charset="0"/>
              </a:rPr>
              <a:t>R</a:t>
            </a:r>
            <a:r>
              <a:rPr lang="en-US" dirty="0">
                <a:latin typeface="Arial" charset="0"/>
                <a:cs typeface="Times New Roman" pitchFamily="18" charset="0"/>
              </a:rPr>
              <a:t> </a:t>
            </a:r>
            <a:r>
              <a:rPr lang="sl-SI" dirty="0">
                <a:latin typeface="Arial" charset="0"/>
                <a:cs typeface="Times New Roman" pitchFamily="18" charset="0"/>
              </a:rPr>
              <a:t>je</a:t>
            </a:r>
            <a:r>
              <a:rPr lang="en-US" dirty="0">
                <a:latin typeface="Arial" charset="0"/>
                <a:cs typeface="Times New Roman" pitchFamily="18" charset="0"/>
              </a:rPr>
              <a:t> </a:t>
            </a:r>
            <a:r>
              <a:rPr lang="sl-SI" dirty="0">
                <a:latin typeface="Arial" charset="0"/>
                <a:cs typeface="Times New Roman" pitchFamily="18" charset="0"/>
              </a:rPr>
              <a:t>zelo </a:t>
            </a:r>
            <a:r>
              <a:rPr lang="en-US" dirty="0" err="1">
                <a:latin typeface="Arial" charset="0"/>
                <a:cs typeface="Times New Roman" pitchFamily="18" charset="0"/>
              </a:rPr>
              <a:t>negativ</a:t>
            </a:r>
            <a:r>
              <a:rPr lang="sl-SI" dirty="0">
                <a:latin typeface="Arial" charset="0"/>
                <a:cs typeface="Times New Roman" pitchFamily="18" charset="0"/>
              </a:rPr>
              <a:t>en za</a:t>
            </a:r>
            <a:r>
              <a:rPr lang="en-US" dirty="0">
                <a:latin typeface="Arial" charset="0"/>
                <a:cs typeface="Times New Roman" pitchFamily="18" charset="0"/>
              </a:rPr>
              <a:t> </a:t>
            </a:r>
            <a:r>
              <a:rPr lang="sl-SI" dirty="0">
                <a:solidFill>
                  <a:srgbClr val="0033CC"/>
                </a:solidFill>
                <a:latin typeface="Arial" charset="0"/>
                <a:cs typeface="Times New Roman" pitchFamily="18" charset="0"/>
              </a:rPr>
              <a:t>robove</a:t>
            </a:r>
            <a:endParaRPr lang="en-US" dirty="0">
              <a:solidFill>
                <a:srgbClr val="0033CC"/>
              </a:solidFill>
              <a:latin typeface="Arial" charset="0"/>
              <a:cs typeface="Times New Roman" pitchFamily="18" charset="0"/>
            </a:endParaRPr>
          </a:p>
          <a:p>
            <a:pPr marL="179388" indent="-179388" eaLnBrk="1" hangingPunct="1">
              <a:spcBef>
                <a:spcPct val="50000"/>
              </a:spcBef>
              <a:buFontTx/>
              <a:buChar char="•"/>
              <a:defRPr/>
            </a:pPr>
            <a:r>
              <a:rPr lang="en-US" dirty="0">
                <a:latin typeface="Arial" charset="0"/>
                <a:cs typeface="Times New Roman" pitchFamily="18" charset="0"/>
              </a:rPr>
              <a:t> |</a:t>
            </a:r>
            <a:r>
              <a:rPr lang="en-US" i="1" dirty="0">
                <a:latin typeface="Arial" charset="0"/>
                <a:cs typeface="Times New Roman" pitchFamily="18" charset="0"/>
              </a:rPr>
              <a:t>R</a:t>
            </a:r>
            <a:r>
              <a:rPr lang="en-US" dirty="0">
                <a:latin typeface="Arial" charset="0"/>
                <a:cs typeface="Times New Roman" pitchFamily="18" charset="0"/>
              </a:rPr>
              <a:t>| </a:t>
            </a:r>
            <a:r>
              <a:rPr lang="sl-SI" dirty="0">
                <a:latin typeface="Arial" charset="0"/>
                <a:cs typeface="Times New Roman" pitchFamily="18" charset="0"/>
              </a:rPr>
              <a:t>je majhen za</a:t>
            </a:r>
            <a:r>
              <a:rPr lang="en-US" dirty="0">
                <a:latin typeface="Arial" charset="0"/>
                <a:cs typeface="Times New Roman" pitchFamily="18" charset="0"/>
              </a:rPr>
              <a:t> </a:t>
            </a:r>
            <a:r>
              <a:rPr lang="sl-SI" dirty="0">
                <a:solidFill>
                  <a:srgbClr val="0033CC"/>
                </a:solidFill>
                <a:latin typeface="Arial" charset="0"/>
                <a:cs typeface="Times New Roman" pitchFamily="18" charset="0"/>
              </a:rPr>
              <a:t>enotna območja</a:t>
            </a:r>
            <a:endParaRPr lang="ru-RU" dirty="0">
              <a:latin typeface="Arial" charset="0"/>
              <a:cs typeface="Times New Roman" pitchFamily="18" charset="0"/>
            </a:endParaRPr>
          </a:p>
        </p:txBody>
      </p:sp>
      <p:sp>
        <p:nvSpPr>
          <p:cNvPr id="138248"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38249"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668035C-AA67-41B1-BC42-5ECAEF7DAB4E}" type="slidenum">
              <a:rPr lang="en-GB" altLang="sl-SI" sz="1400" smtClean="0"/>
              <a:pPr>
                <a:spcBef>
                  <a:spcPct val="0"/>
                </a:spcBef>
                <a:buFontTx/>
                <a:buNone/>
              </a:pPr>
              <a:t>70</a:t>
            </a:fld>
            <a:endParaRPr lang="en-GB" altLang="sl-SI" sz="1400"/>
          </a:p>
        </p:txBody>
      </p:sp>
    </p:spTree>
  </p:cSld>
  <p:clrMapOvr>
    <a:masterClrMapping/>
  </p:clrMapOvr>
  <p:transition>
    <p:cove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ctrTitle"/>
          </p:nvPr>
        </p:nvSpPr>
        <p:spPr>
          <a:xfrm>
            <a:off x="250825" y="188913"/>
            <a:ext cx="8424863" cy="792162"/>
          </a:xfrm>
        </p:spPr>
        <p:txBody>
          <a:bodyPr/>
          <a:lstStyle/>
          <a:p>
            <a:pPr eaLnBrk="1" hangingPunct="1"/>
            <a:r>
              <a:rPr lang="sl-SI" altLang="en-US" sz="2800" b="1"/>
              <a:t>HARRISOV DETEKTOR – ALGORITEM IN LASTNOSTI</a:t>
            </a:r>
            <a:endParaRPr lang="en-GB" altLang="en-US" sz="2000"/>
          </a:p>
        </p:txBody>
      </p:sp>
      <p:sp>
        <p:nvSpPr>
          <p:cNvPr id="140291" name="TextBox 5"/>
          <p:cNvSpPr txBox="1">
            <a:spLocks noChangeArrowheads="1"/>
          </p:cNvSpPr>
          <p:nvPr/>
        </p:nvSpPr>
        <p:spPr bwMode="auto">
          <a:xfrm>
            <a:off x="612775" y="1125538"/>
            <a:ext cx="7704138"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Povzetek Harrisovega algoritma za iskanje oglišč na slikah:</a:t>
            </a:r>
          </a:p>
          <a:p>
            <a:pPr lvl="1" eaLnBrk="1" hangingPunct="1">
              <a:spcBef>
                <a:spcPts val="600"/>
              </a:spcBef>
              <a:buFont typeface="Arial" panose="020B0604020202020204" pitchFamily="34" charset="0"/>
              <a:buChar char="•"/>
            </a:pPr>
            <a:r>
              <a:rPr lang="sl-SI" altLang="en-US" sz="1800"/>
              <a:t>v oknih 3</a:t>
            </a:r>
            <a:r>
              <a:rPr lang="sl-SI" altLang="en-US" sz="1800">
                <a:sym typeface="Symbol" panose="05050102010706020507" pitchFamily="18" charset="2"/>
              </a:rPr>
              <a:t>3 ali 55 s središči (</a:t>
            </a:r>
            <a:r>
              <a:rPr lang="sl-SI" altLang="en-US" sz="1800" i="1">
                <a:sym typeface="Symbol" panose="05050102010706020507" pitchFamily="18" charset="2"/>
              </a:rPr>
              <a:t>x</a:t>
            </a:r>
            <a:r>
              <a:rPr lang="sl-SI" altLang="en-US" sz="1800">
                <a:sym typeface="Symbol" panose="05050102010706020507" pitchFamily="18" charset="2"/>
              </a:rPr>
              <a:t>,</a:t>
            </a:r>
            <a:r>
              <a:rPr lang="sl-SI" altLang="en-US" sz="1800" i="1">
                <a:sym typeface="Symbol" panose="05050102010706020507" pitchFamily="18" charset="2"/>
              </a:rPr>
              <a:t>y</a:t>
            </a:r>
            <a:r>
              <a:rPr lang="sl-SI" altLang="en-US" sz="1800">
                <a:sym typeface="Symbol" panose="05050102010706020507" pitchFamily="18" charset="2"/>
              </a:rPr>
              <a:t>) izračunamo elemente matrike </a:t>
            </a:r>
            <a:r>
              <a:rPr lang="sl-SI" altLang="en-US" sz="1800" b="1">
                <a:sym typeface="Symbol" panose="05050102010706020507" pitchFamily="18" charset="2"/>
              </a:rPr>
              <a:t>Q</a:t>
            </a:r>
            <a:r>
              <a:rPr lang="sl-SI" altLang="en-US" sz="1800">
                <a:sym typeface="Symbol" panose="05050102010706020507" pitchFamily="18" charset="2"/>
              </a:rPr>
              <a:t>(</a:t>
            </a:r>
            <a:r>
              <a:rPr lang="sl-SI" altLang="en-US" sz="1800" i="1">
                <a:sym typeface="Symbol" panose="05050102010706020507" pitchFamily="18" charset="2"/>
              </a:rPr>
              <a:t>x</a:t>
            </a:r>
            <a:r>
              <a:rPr lang="sl-SI" altLang="en-US" sz="1800">
                <a:sym typeface="Symbol" panose="05050102010706020507" pitchFamily="18" charset="2"/>
              </a:rPr>
              <a:t>,</a:t>
            </a:r>
            <a:r>
              <a:rPr lang="sl-SI" altLang="en-US" sz="1800" i="1">
                <a:sym typeface="Symbol" panose="05050102010706020507" pitchFamily="18" charset="2"/>
              </a:rPr>
              <a:t>y</a:t>
            </a:r>
            <a:r>
              <a:rPr lang="sl-SI" altLang="en-US" sz="1800">
                <a:sym typeface="Symbol" panose="05050102010706020507" pitchFamily="18" charset="2"/>
              </a:rPr>
              <a:t>)</a:t>
            </a:r>
          </a:p>
          <a:p>
            <a:pPr lvl="1" eaLnBrk="1" hangingPunct="1">
              <a:spcBef>
                <a:spcPts val="600"/>
              </a:spcBef>
              <a:buFont typeface="Arial" panose="020B0604020202020204" pitchFamily="34" charset="0"/>
              <a:buChar char="•"/>
            </a:pPr>
            <a:r>
              <a:rPr lang="sl-SI" altLang="en-US" sz="1800">
                <a:sym typeface="Symbol" panose="05050102010706020507" pitchFamily="18" charset="2"/>
              </a:rPr>
              <a:t>z razcepom matrike </a:t>
            </a:r>
            <a:r>
              <a:rPr lang="sl-SI" altLang="en-US" sz="1800" b="1">
                <a:sym typeface="Symbol" panose="05050102010706020507" pitchFamily="18" charset="2"/>
              </a:rPr>
              <a:t>Q</a:t>
            </a:r>
            <a:r>
              <a:rPr lang="sl-SI" altLang="en-US" sz="1800">
                <a:sym typeface="Symbol" panose="05050102010706020507" pitchFamily="18" charset="2"/>
              </a:rPr>
              <a:t> dobimo lastni vrednosti </a:t>
            </a:r>
            <a:r>
              <a:rPr lang="sl-SI" altLang="en-US" sz="1800" i="1">
                <a:sym typeface="Symbol" panose="05050102010706020507" pitchFamily="18" charset="2"/>
              </a:rPr>
              <a:t></a:t>
            </a:r>
            <a:r>
              <a:rPr lang="sl-SI" altLang="en-US" sz="1800" baseline="-25000">
                <a:sym typeface="Symbol" panose="05050102010706020507" pitchFamily="18" charset="2"/>
              </a:rPr>
              <a:t>1</a:t>
            </a:r>
            <a:r>
              <a:rPr lang="sl-SI" altLang="en-US" sz="1800">
                <a:sym typeface="Symbol" panose="05050102010706020507" pitchFamily="18" charset="2"/>
              </a:rPr>
              <a:t> in </a:t>
            </a:r>
            <a:r>
              <a:rPr lang="sl-SI" altLang="en-US" sz="1800" i="1">
                <a:sym typeface="Symbol" panose="05050102010706020507" pitchFamily="18" charset="2"/>
              </a:rPr>
              <a:t></a:t>
            </a:r>
            <a:r>
              <a:rPr lang="sl-SI" altLang="en-US" sz="1800" baseline="-25000">
                <a:sym typeface="Symbol" panose="05050102010706020507" pitchFamily="18" charset="2"/>
              </a:rPr>
              <a:t>2</a:t>
            </a:r>
          </a:p>
          <a:p>
            <a:pPr lvl="1" eaLnBrk="1" hangingPunct="1">
              <a:spcBef>
                <a:spcPts val="600"/>
              </a:spcBef>
              <a:buFont typeface="Arial" panose="020B0604020202020204" pitchFamily="34" charset="0"/>
              <a:buChar char="•"/>
            </a:pPr>
            <a:r>
              <a:rPr lang="sl-SI" altLang="en-US" sz="1800">
                <a:sym typeface="Symbol" panose="05050102010706020507" pitchFamily="18" charset="2"/>
              </a:rPr>
              <a:t>izračunamo  </a:t>
            </a:r>
            <a:r>
              <a:rPr lang="sl-SI" altLang="en-US" sz="1800" i="1">
                <a:sym typeface="Symbol" panose="05050102010706020507" pitchFamily="18" charset="2"/>
              </a:rPr>
              <a:t>R</a:t>
            </a:r>
          </a:p>
          <a:p>
            <a:pPr lvl="1" eaLnBrk="1" hangingPunct="1">
              <a:spcBef>
                <a:spcPts val="600"/>
              </a:spcBef>
              <a:buFont typeface="Arial" panose="020B0604020202020204" pitchFamily="34" charset="0"/>
              <a:buChar char="•"/>
            </a:pPr>
            <a:r>
              <a:rPr lang="sl-SI" altLang="en-US" sz="1800">
                <a:sym typeface="Symbol" panose="05050102010706020507" pitchFamily="18" charset="2"/>
              </a:rPr>
              <a:t>največje vrednosti </a:t>
            </a:r>
            <a:r>
              <a:rPr lang="sl-SI" altLang="en-US" sz="1800" i="1">
                <a:sym typeface="Symbol" panose="05050102010706020507" pitchFamily="18" charset="2"/>
              </a:rPr>
              <a:t>R </a:t>
            </a:r>
            <a:r>
              <a:rPr lang="sl-SI" altLang="en-US" sz="1800">
                <a:sym typeface="Symbol" panose="05050102010706020507" pitchFamily="18" charset="2"/>
              </a:rPr>
              <a:t>(lokalni maksimumi) določajo položaje oglišč</a:t>
            </a:r>
          </a:p>
          <a:p>
            <a:pPr eaLnBrk="1" hangingPunct="1">
              <a:spcBef>
                <a:spcPts val="1200"/>
              </a:spcBef>
              <a:buFontTx/>
              <a:buAutoNum type="arabicPeriod"/>
            </a:pPr>
            <a:r>
              <a:rPr lang="sl-SI" altLang="en-US" sz="1800">
                <a:solidFill>
                  <a:srgbClr val="FF9933"/>
                </a:solidFill>
                <a:sym typeface="Symbol" panose="05050102010706020507" pitchFamily="18" charset="2"/>
              </a:rPr>
              <a:t>Lastnosti Harrisovega detektorja:</a:t>
            </a:r>
          </a:p>
          <a:p>
            <a:pPr lvl="1" eaLnBrk="1" hangingPunct="1">
              <a:spcBef>
                <a:spcPts val="600"/>
              </a:spcBef>
              <a:buFont typeface="Arial" panose="020B0604020202020204" pitchFamily="34" charset="0"/>
              <a:buChar char="•"/>
            </a:pPr>
            <a:r>
              <a:rPr lang="sl-SI" altLang="en-US" sz="1800">
                <a:solidFill>
                  <a:srgbClr val="FF9933"/>
                </a:solidFill>
                <a:sym typeface="Symbol" panose="05050102010706020507" pitchFamily="18" charset="2"/>
              </a:rPr>
              <a:t>rotacijsko neodvisen, neobčutljiv na zasuke slike</a:t>
            </a:r>
          </a:p>
          <a:p>
            <a:pPr lvl="1" eaLnBrk="1" hangingPunct="1">
              <a:spcBef>
                <a:spcPts val="600"/>
              </a:spcBef>
              <a:buFont typeface="Arial" panose="020B0604020202020204" pitchFamily="34" charset="0"/>
              <a:buChar char="•"/>
            </a:pPr>
            <a:r>
              <a:rPr lang="sl-SI" altLang="en-US" sz="1800">
                <a:solidFill>
                  <a:srgbClr val="FF9933"/>
                </a:solidFill>
              </a:rPr>
              <a:t>neodvisen od globalnih premikov pikselskih intenzivnosti (sivin)</a:t>
            </a:r>
          </a:p>
          <a:p>
            <a:pPr lvl="1" eaLnBrk="1" hangingPunct="1">
              <a:spcBef>
                <a:spcPts val="600"/>
              </a:spcBef>
              <a:buFont typeface="Arial" panose="020B0604020202020204" pitchFamily="34" charset="0"/>
              <a:buChar char="•"/>
            </a:pPr>
            <a:r>
              <a:rPr lang="sl-SI" altLang="en-US" sz="1800">
                <a:solidFill>
                  <a:srgbClr val="FF9933"/>
                </a:solidFill>
              </a:rPr>
              <a:t>odvisen od merila (skale):</a:t>
            </a:r>
          </a:p>
          <a:p>
            <a:pPr lvl="2" eaLnBrk="1" hangingPunct="1">
              <a:spcBef>
                <a:spcPts val="600"/>
              </a:spcBef>
            </a:pPr>
            <a:r>
              <a:rPr lang="sl-SI" altLang="en-US" sz="1800">
                <a:solidFill>
                  <a:srgbClr val="00B050"/>
                </a:solidFill>
              </a:rPr>
              <a:t>neodvisnost od merila lahko dosežemo z uvedbo merilno neodvisne funkcije, na primer povprečja sivin, ki jo računamo v različno velikih območjih na slikah različnih meril</a:t>
            </a:r>
          </a:p>
          <a:p>
            <a:pPr lvl="2" eaLnBrk="1" hangingPunct="1">
              <a:spcBef>
                <a:spcPts val="600"/>
              </a:spcBef>
            </a:pPr>
            <a:r>
              <a:rPr lang="sl-SI" altLang="en-US" sz="1800">
                <a:solidFill>
                  <a:srgbClr val="00B050"/>
                </a:solidFill>
              </a:rPr>
              <a:t>maksimum izbrane funkcije določa za vsako sliko merilo, pri katerem velja merilna neodvisnost med temi slikami</a:t>
            </a:r>
          </a:p>
        </p:txBody>
      </p:sp>
      <p:sp>
        <p:nvSpPr>
          <p:cNvPr id="140292"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40293"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FB39D0C-C754-46D9-AB5E-E294F63E76F1}" type="slidenum">
              <a:rPr lang="en-GB" altLang="sl-SI" sz="1400" smtClean="0"/>
              <a:pPr>
                <a:spcBef>
                  <a:spcPct val="0"/>
                </a:spcBef>
                <a:buFontTx/>
                <a:buNone/>
              </a:pPr>
              <a:t>71</a:t>
            </a:fld>
            <a:endParaRPr lang="en-GB" altLang="sl-SI" sz="1400"/>
          </a:p>
        </p:txBody>
      </p:sp>
    </p:spTree>
  </p:cSld>
  <p:clrMapOvr>
    <a:masterClrMapping/>
  </p:clrMapOvr>
  <p:transition>
    <p:cove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ctrTitle"/>
          </p:nvPr>
        </p:nvSpPr>
        <p:spPr>
          <a:xfrm>
            <a:off x="250825" y="188913"/>
            <a:ext cx="8424863" cy="792162"/>
          </a:xfrm>
        </p:spPr>
        <p:txBody>
          <a:bodyPr/>
          <a:lstStyle/>
          <a:p>
            <a:pPr eaLnBrk="1" hangingPunct="1"/>
            <a:r>
              <a:rPr lang="sl-SI" altLang="en-US" sz="2800" b="1"/>
              <a:t>PRIMER DELOVANJA HARRISOVEGA DETEKTORJA</a:t>
            </a:r>
            <a:endParaRPr lang="en-GB" altLang="en-US" sz="2000"/>
          </a:p>
        </p:txBody>
      </p:sp>
      <p:pic>
        <p:nvPicPr>
          <p:cNvPr id="14233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4588" y="1252538"/>
            <a:ext cx="4314825"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0"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42341"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530B66D-D70F-4F4D-9BDC-5610875EA753}" type="slidenum">
              <a:rPr lang="en-GB" altLang="sl-SI" sz="1400" smtClean="0"/>
              <a:pPr>
                <a:spcBef>
                  <a:spcPct val="0"/>
                </a:spcBef>
                <a:buFontTx/>
                <a:buNone/>
              </a:pPr>
              <a:t>72</a:t>
            </a:fld>
            <a:endParaRPr lang="en-GB" altLang="sl-SI" sz="1400"/>
          </a:p>
        </p:txBody>
      </p:sp>
    </p:spTree>
  </p:cSld>
  <p:clrMapOvr>
    <a:masterClrMapping/>
  </p:clrMapOvr>
  <p:transition>
    <p:cove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ctrTitle"/>
          </p:nvPr>
        </p:nvSpPr>
        <p:spPr>
          <a:xfrm>
            <a:off x="250825" y="188913"/>
            <a:ext cx="8424863" cy="576262"/>
          </a:xfrm>
        </p:spPr>
        <p:txBody>
          <a:bodyPr/>
          <a:lstStyle/>
          <a:p>
            <a:pPr eaLnBrk="1" hangingPunct="1"/>
            <a:r>
              <a:rPr lang="sl-SI" altLang="en-US" sz="2800" b="1"/>
              <a:t>RANSAC</a:t>
            </a:r>
            <a:endParaRPr lang="en-GB" altLang="en-US" sz="2000"/>
          </a:p>
        </p:txBody>
      </p:sp>
      <p:sp>
        <p:nvSpPr>
          <p:cNvPr id="144387" name="TextBox 5"/>
          <p:cNvSpPr txBox="1">
            <a:spLocks noChangeArrowheads="1"/>
          </p:cNvSpPr>
          <p:nvPr/>
        </p:nvSpPr>
        <p:spPr bwMode="auto">
          <a:xfrm>
            <a:off x="539750" y="836613"/>
            <a:ext cx="7704138" cy="460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Kadar imamo opravka z množico vzorcev, ki opisujejo neki pojav ali obliko, se med njimi zaradi motenj, napak ali nenatančnosti pojavijo tudi prekomerno odstopajoče vrednosti, t. i. </a:t>
            </a:r>
            <a:r>
              <a:rPr lang="sl-SI" altLang="en-US" sz="1800">
                <a:solidFill>
                  <a:srgbClr val="0000FF"/>
                </a:solidFill>
              </a:rPr>
              <a:t>osamelci (</a:t>
            </a:r>
            <a:r>
              <a:rPr lang="sl-SI" altLang="en-US" sz="1800" i="1">
                <a:solidFill>
                  <a:srgbClr val="0000FF"/>
                </a:solidFill>
              </a:rPr>
              <a:t>outliers</a:t>
            </a:r>
            <a:r>
              <a:rPr lang="sl-SI" altLang="en-US" sz="1800">
                <a:solidFill>
                  <a:srgbClr val="0000FF"/>
                </a:solidFill>
              </a:rPr>
              <a:t>)</a:t>
            </a:r>
            <a:r>
              <a:rPr lang="sl-SI" altLang="en-US" sz="1800"/>
              <a:t>.</a:t>
            </a:r>
          </a:p>
          <a:p>
            <a:pPr eaLnBrk="1" hangingPunct="1">
              <a:spcBef>
                <a:spcPts val="600"/>
              </a:spcBef>
              <a:buFontTx/>
              <a:buAutoNum type="arabicPeriod"/>
            </a:pPr>
            <a:r>
              <a:rPr lang="sl-SI" altLang="en-US" sz="1800"/>
              <a:t>Osamelce moramo odstraniti in upoštevati vzorce, ki z največjo verjetnostjo pripadajo iskani obliki ali modelu.</a:t>
            </a:r>
          </a:p>
          <a:p>
            <a:pPr eaLnBrk="1" hangingPunct="1">
              <a:spcBef>
                <a:spcPts val="600"/>
              </a:spcBef>
              <a:buFontTx/>
              <a:buAutoNum type="arabicPeriod"/>
            </a:pPr>
            <a:r>
              <a:rPr lang="sl-SI" altLang="en-US" sz="1800"/>
              <a:t>Zelo razširjen algoritem za to nalogo je imenovan </a:t>
            </a:r>
            <a:r>
              <a:rPr lang="sl-SI" altLang="en-US" sz="1800">
                <a:solidFill>
                  <a:srgbClr val="0000FF"/>
                </a:solidFill>
              </a:rPr>
              <a:t>RANSAC (</a:t>
            </a:r>
            <a:r>
              <a:rPr lang="sl-SI" altLang="en-US" sz="1800" i="1">
                <a:solidFill>
                  <a:srgbClr val="0000FF"/>
                </a:solidFill>
              </a:rPr>
              <a:t>random sample consesus</a:t>
            </a:r>
            <a:r>
              <a:rPr lang="sl-SI" altLang="en-US" sz="1800">
                <a:solidFill>
                  <a:srgbClr val="0000FF"/>
                </a:solidFill>
              </a:rPr>
              <a:t>)</a:t>
            </a:r>
            <a:r>
              <a:rPr lang="sl-SI" altLang="en-US" sz="1800"/>
              <a:t>, prvič predlagan 1981 od avtorjev Fischlerja in Bollesa.</a:t>
            </a:r>
          </a:p>
          <a:p>
            <a:pPr eaLnBrk="1" hangingPunct="1">
              <a:spcBef>
                <a:spcPts val="600"/>
              </a:spcBef>
              <a:buFontTx/>
              <a:buAutoNum type="arabicPeriod"/>
            </a:pPr>
            <a:r>
              <a:rPr lang="sl-SI" altLang="en-US" sz="1800"/>
              <a:t>Algoritem uporablja tri vrste vhodnih podatkov:</a:t>
            </a:r>
          </a:p>
          <a:p>
            <a:pPr lvl="1" eaLnBrk="1" hangingPunct="1">
              <a:spcBef>
                <a:spcPts val="600"/>
              </a:spcBef>
              <a:buFont typeface="Arial" panose="020B0604020202020204" pitchFamily="34" charset="0"/>
              <a:buChar char="•"/>
            </a:pPr>
            <a:r>
              <a:rPr lang="sl-SI" altLang="en-US" sz="1600"/>
              <a:t>množico izmerjenih vzorcev (ustreznih in odstopajočih osamelcev)</a:t>
            </a:r>
          </a:p>
          <a:p>
            <a:pPr lvl="1" eaLnBrk="1" hangingPunct="1">
              <a:spcBef>
                <a:spcPts val="600"/>
              </a:spcBef>
              <a:buFont typeface="Arial" panose="020B0604020202020204" pitchFamily="34" charset="0"/>
              <a:buChar char="•"/>
            </a:pPr>
            <a:r>
              <a:rPr lang="sl-SI" altLang="en-US" sz="1600"/>
              <a:t>parametriziran model pojava ali oblike, za katerega predvidevamo, da mu pripadajo opazovani vzorci</a:t>
            </a:r>
          </a:p>
          <a:p>
            <a:pPr lvl="1" eaLnBrk="1" hangingPunct="1">
              <a:spcBef>
                <a:spcPts val="600"/>
              </a:spcBef>
              <a:buFont typeface="Arial" panose="020B0604020202020204" pitchFamily="34" charset="0"/>
              <a:buChar char="•"/>
            </a:pPr>
            <a:r>
              <a:rPr lang="sl-SI" altLang="en-US" sz="1600"/>
              <a:t>kriterijsko funkcijo, s katero potrdimo ali zavrnemo izračunane modelne parametre</a:t>
            </a:r>
          </a:p>
          <a:p>
            <a:pPr eaLnBrk="1" hangingPunct="1">
              <a:spcBef>
                <a:spcPts val="600"/>
              </a:spcBef>
              <a:buFontTx/>
              <a:buAutoNum type="arabicPeriod"/>
            </a:pPr>
            <a:r>
              <a:rPr lang="sl-SI" altLang="en-US" sz="1600"/>
              <a:t>Primer za premico:</a:t>
            </a:r>
          </a:p>
        </p:txBody>
      </p:sp>
      <p:pic>
        <p:nvPicPr>
          <p:cNvPr id="144388" name="Picture 2" descr="http://upload.wikimedia.org/wikipedia/commons/thumb/d/de/Fitted_line.svg/255px-Fitted_line.svg.pn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5084763"/>
            <a:ext cx="331152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9"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44390"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C6B5B93-6D81-4C29-B4C4-2B3888C9E3EB}" type="slidenum">
              <a:rPr lang="en-GB" altLang="sl-SI" sz="1400" smtClean="0"/>
              <a:pPr>
                <a:spcBef>
                  <a:spcPct val="0"/>
                </a:spcBef>
                <a:buFontTx/>
                <a:buNone/>
              </a:pPr>
              <a:t>73</a:t>
            </a:fld>
            <a:endParaRPr lang="en-GB" altLang="sl-SI" sz="1400"/>
          </a:p>
        </p:txBody>
      </p:sp>
    </p:spTree>
  </p:cSld>
  <p:clrMapOvr>
    <a:masterClrMapping/>
  </p:clrMapOvr>
  <p:transition>
    <p:cove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ctrTitle"/>
          </p:nvPr>
        </p:nvSpPr>
        <p:spPr>
          <a:xfrm>
            <a:off x="0" y="188913"/>
            <a:ext cx="9144000" cy="576262"/>
          </a:xfrm>
        </p:spPr>
        <p:txBody>
          <a:bodyPr/>
          <a:lstStyle/>
          <a:p>
            <a:pPr eaLnBrk="1" hangingPunct="1"/>
            <a:r>
              <a:rPr lang="sl-SI" altLang="en-US" sz="2800" b="1"/>
              <a:t>RANSAC – ALGORITEM</a:t>
            </a:r>
            <a:endParaRPr lang="en-GB" altLang="en-US" sz="2000"/>
          </a:p>
        </p:txBody>
      </p:sp>
      <p:sp>
        <p:nvSpPr>
          <p:cNvPr id="146435" name="TextBox 5"/>
          <p:cNvSpPr txBox="1">
            <a:spLocks noChangeArrowheads="1"/>
          </p:cNvSpPr>
          <p:nvPr/>
        </p:nvSpPr>
        <p:spPr bwMode="auto">
          <a:xfrm>
            <a:off x="539750" y="836613"/>
            <a:ext cx="8064500" cy="447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ts val="600"/>
              </a:spcBef>
              <a:buFontTx/>
              <a:buNone/>
            </a:pPr>
            <a:r>
              <a:rPr lang="sl-SI" altLang="en-US" sz="1600"/>
              <a:t>Vhod: 	</a:t>
            </a:r>
            <a:r>
              <a:rPr lang="sl-SI" altLang="en-US" sz="1600" b="1"/>
              <a:t>D</a:t>
            </a:r>
            <a:r>
              <a:rPr lang="sl-SI" altLang="en-US" sz="1600"/>
              <a:t> 	vzorčeni podatki</a:t>
            </a:r>
          </a:p>
          <a:p>
            <a:pPr>
              <a:spcBef>
                <a:spcPct val="0"/>
              </a:spcBef>
              <a:buFontTx/>
              <a:buNone/>
            </a:pPr>
            <a:r>
              <a:rPr lang="sl-SI" altLang="en-US" sz="1600"/>
              <a:t>		</a:t>
            </a:r>
            <a:r>
              <a:rPr lang="sl-SI" altLang="en-US" sz="1600" i="1"/>
              <a:t>k	</a:t>
            </a:r>
            <a:r>
              <a:rPr lang="sl-SI" altLang="en-US" sz="1600"/>
              <a:t>število modelnih parametrov</a:t>
            </a:r>
          </a:p>
          <a:p>
            <a:pPr>
              <a:spcBef>
                <a:spcPct val="0"/>
              </a:spcBef>
              <a:buFontTx/>
              <a:buNone/>
            </a:pPr>
            <a:r>
              <a:rPr lang="sl-SI" altLang="en-US" sz="1600"/>
              <a:t>		</a:t>
            </a:r>
            <a:r>
              <a:rPr lang="sl-SI" altLang="en-US" sz="1600" i="1"/>
              <a:t>f</a:t>
            </a:r>
            <a:r>
              <a:rPr lang="sl-SI" altLang="en-US" sz="1600" i="1" baseline="-25000"/>
              <a:t>c	</a:t>
            </a:r>
            <a:r>
              <a:rPr lang="sl-SI" altLang="en-US" sz="1600"/>
              <a:t>kriterijska funkcija za preverjanje ustreznosti modelnih parametrov</a:t>
            </a:r>
          </a:p>
          <a:p>
            <a:pPr>
              <a:spcBef>
                <a:spcPct val="0"/>
              </a:spcBef>
              <a:buFontTx/>
              <a:buNone/>
            </a:pPr>
            <a:r>
              <a:rPr lang="sl-SI" altLang="en-US" sz="1600" i="1" baseline="-25000"/>
              <a:t>		</a:t>
            </a:r>
            <a:r>
              <a:rPr lang="sl-SI" altLang="en-US" sz="1600" i="1"/>
              <a:t>N</a:t>
            </a:r>
            <a:r>
              <a:rPr lang="sl-SI" altLang="en-US" sz="1600" i="1" baseline="-25000"/>
              <a:t>maks	</a:t>
            </a:r>
            <a:r>
              <a:rPr lang="sl-SI" altLang="en-US" sz="1600"/>
              <a:t>največje število poskusov</a:t>
            </a:r>
            <a:endParaRPr lang="sl-SI" altLang="en-US" sz="1600" i="1" baseline="-25000"/>
          </a:p>
          <a:p>
            <a:pPr>
              <a:spcBef>
                <a:spcPts val="600"/>
              </a:spcBef>
              <a:buFontTx/>
              <a:buNone/>
            </a:pPr>
            <a:r>
              <a:rPr lang="sl-SI" altLang="en-US" sz="1600"/>
              <a:t>Izhod: 	</a:t>
            </a:r>
            <a:r>
              <a:rPr lang="sl-SI" altLang="en-US" sz="1600" b="1"/>
              <a:t>B</a:t>
            </a:r>
            <a:r>
              <a:rPr lang="sl-SI" altLang="en-US" sz="1600"/>
              <a:t> 	vzorci, ki najbolje ustrezajo iskanemu modelu</a:t>
            </a:r>
          </a:p>
          <a:p>
            <a:pPr>
              <a:spcBef>
                <a:spcPct val="0"/>
              </a:spcBef>
              <a:buFontTx/>
              <a:buNone/>
            </a:pPr>
            <a:r>
              <a:rPr lang="sl-SI" altLang="en-US" sz="1600"/>
              <a:t>		</a:t>
            </a:r>
            <a:r>
              <a:rPr lang="sl-SI" altLang="en-US" sz="1600" b="1"/>
              <a:t>m</a:t>
            </a:r>
            <a:r>
              <a:rPr lang="sl-SI" altLang="en-US" sz="1600"/>
              <a:t>	modelni parametri, ki maksimirajo kriterijsko funkcijo</a:t>
            </a:r>
          </a:p>
          <a:p>
            <a:pPr>
              <a:spcBef>
                <a:spcPts val="600"/>
              </a:spcBef>
              <a:buFontTx/>
              <a:buNone/>
            </a:pPr>
            <a:r>
              <a:rPr lang="sl-SI" altLang="en-US" sz="1600"/>
              <a:t> </a:t>
            </a:r>
          </a:p>
          <a:p>
            <a:pPr>
              <a:spcBef>
                <a:spcPts val="600"/>
              </a:spcBef>
              <a:buFontTx/>
              <a:buNone/>
            </a:pPr>
            <a:r>
              <a:rPr lang="sl-SI" altLang="en-US" sz="1600"/>
              <a:t>	1: 	</a:t>
            </a:r>
            <a:r>
              <a:rPr lang="sl-SI" altLang="en-US" sz="1600" b="1"/>
              <a:t>ponavljaj</a:t>
            </a:r>
            <a:endParaRPr lang="sl-SI" altLang="en-US" sz="1600"/>
          </a:p>
          <a:p>
            <a:pPr>
              <a:spcBef>
                <a:spcPts val="600"/>
              </a:spcBef>
              <a:buFontTx/>
              <a:buNone/>
            </a:pPr>
            <a:r>
              <a:rPr lang="sl-SI" altLang="en-US" sz="1600"/>
              <a:t>	2: 		naključno izberi </a:t>
            </a:r>
            <a:r>
              <a:rPr lang="sl-SI" altLang="en-US" sz="1600" i="1"/>
              <a:t>k</a:t>
            </a:r>
            <a:r>
              <a:rPr lang="sl-SI" altLang="en-US" sz="1600"/>
              <a:t> vzorcev iz nabora </a:t>
            </a:r>
            <a:r>
              <a:rPr lang="sl-SI" altLang="en-US" sz="1600" b="1"/>
              <a:t>D</a:t>
            </a:r>
            <a:endParaRPr lang="sl-SI" altLang="en-US" sz="1600"/>
          </a:p>
          <a:p>
            <a:pPr>
              <a:spcBef>
                <a:spcPts val="600"/>
              </a:spcBef>
              <a:buFontTx/>
              <a:buNone/>
            </a:pPr>
            <a:r>
              <a:rPr lang="sl-SI" altLang="en-US" sz="1600"/>
              <a:t>	3: 		izračunaj modelne parametre </a:t>
            </a:r>
            <a:r>
              <a:rPr lang="sl-SI" altLang="en-US" sz="1600" b="1"/>
              <a:t>m</a:t>
            </a:r>
            <a:r>
              <a:rPr lang="sl-SI" altLang="en-US" sz="1600"/>
              <a:t> iz izbranih </a:t>
            </a:r>
            <a:r>
              <a:rPr lang="sl-SI" altLang="en-US" sz="1600" i="1"/>
              <a:t>k</a:t>
            </a:r>
            <a:r>
              <a:rPr lang="sl-SI" altLang="en-US" sz="1600"/>
              <a:t> vzorcev</a:t>
            </a:r>
          </a:p>
          <a:p>
            <a:pPr>
              <a:spcBef>
                <a:spcPts val="600"/>
              </a:spcBef>
              <a:buFontTx/>
              <a:buNone/>
            </a:pPr>
            <a:r>
              <a:rPr lang="sl-SI" altLang="en-US" sz="1600"/>
              <a:t>	4: 		s kriterijsko funkcijo </a:t>
            </a:r>
            <a:r>
              <a:rPr lang="sl-SI" altLang="en-US" sz="1600" i="1"/>
              <a:t>f</a:t>
            </a:r>
            <a:r>
              <a:rPr lang="sl-SI" altLang="en-US" sz="1600" i="1" baseline="-25000"/>
              <a:t>c</a:t>
            </a:r>
            <a:r>
              <a:rPr lang="sl-SI" altLang="en-US" sz="1600"/>
              <a:t> preveri podporo modelu </a:t>
            </a:r>
            <a:r>
              <a:rPr lang="sl-SI" altLang="en-US" sz="1600" b="1"/>
              <a:t>m</a:t>
            </a:r>
            <a:r>
              <a:rPr lang="sl-SI" altLang="en-US" sz="1600"/>
              <a:t> z ugotavljanjem, 		koliko odstopajo preostali elementi iz </a:t>
            </a:r>
            <a:r>
              <a:rPr lang="sl-SI" altLang="en-US" sz="1600" b="1"/>
              <a:t>D</a:t>
            </a:r>
            <a:r>
              <a:rPr lang="sl-SI" altLang="en-US" sz="1600"/>
              <a:t> od modela</a:t>
            </a:r>
          </a:p>
          <a:p>
            <a:pPr>
              <a:spcBef>
                <a:spcPts val="600"/>
              </a:spcBef>
              <a:buFontTx/>
              <a:buNone/>
            </a:pPr>
            <a:r>
              <a:rPr lang="sl-SI" altLang="en-US" sz="1600"/>
              <a:t>	5:		v </a:t>
            </a:r>
            <a:r>
              <a:rPr lang="sl-SI" altLang="en-US" sz="1600" b="1"/>
              <a:t>B</a:t>
            </a:r>
            <a:r>
              <a:rPr lang="sl-SI" altLang="en-US" sz="1600"/>
              <a:t> prenesi vzorce, ki v </a:t>
            </a:r>
            <a:r>
              <a:rPr lang="sl-SI" altLang="en-US" sz="1600" b="1"/>
              <a:t>D</a:t>
            </a:r>
            <a:r>
              <a:rPr lang="sl-SI" altLang="en-US" sz="1600"/>
              <a:t> ustrezajo modelu </a:t>
            </a:r>
            <a:r>
              <a:rPr lang="sl-SI" altLang="en-US" sz="1600" b="1"/>
              <a:t>m</a:t>
            </a:r>
            <a:r>
              <a:rPr lang="sl-SI" altLang="en-US" sz="1600"/>
              <a:t> glede na funkcijo </a:t>
            </a:r>
            <a:r>
              <a:rPr lang="sl-SI" altLang="en-US" sz="1600" i="1"/>
              <a:t>f</a:t>
            </a:r>
            <a:r>
              <a:rPr lang="sl-SI" altLang="en-US" sz="1600" i="1" baseline="-25000"/>
              <a:t>c</a:t>
            </a:r>
            <a:endParaRPr lang="sl-SI" altLang="en-US" sz="1600"/>
          </a:p>
          <a:p>
            <a:pPr>
              <a:spcBef>
                <a:spcPts val="600"/>
              </a:spcBef>
              <a:buFontTx/>
              <a:buNone/>
            </a:pPr>
            <a:r>
              <a:rPr lang="sl-SI" altLang="en-US" sz="1600"/>
              <a:t>	6: 	</a:t>
            </a:r>
            <a:r>
              <a:rPr lang="sl-SI" altLang="en-US" sz="1600" b="1"/>
              <a:t>dokler</a:t>
            </a:r>
            <a:r>
              <a:rPr lang="sl-SI" altLang="en-US" sz="1600"/>
              <a:t> 	modelni parametri </a:t>
            </a:r>
            <a:r>
              <a:rPr lang="sl-SI" altLang="en-US" sz="1600" b="1"/>
              <a:t>m</a:t>
            </a:r>
            <a:r>
              <a:rPr lang="sl-SI" altLang="en-US" sz="1600"/>
              <a:t> ne ustrezajo največjemu številu vzorcev v </a:t>
            </a:r>
            <a:r>
              <a:rPr lang="sl-SI" altLang="en-US" sz="1600" b="1"/>
              <a:t>D</a:t>
            </a:r>
            <a:r>
              <a:rPr lang="sl-SI" altLang="en-US" sz="1600"/>
              <a:t> </a:t>
            </a:r>
          </a:p>
          <a:p>
            <a:pPr>
              <a:spcBef>
                <a:spcPct val="0"/>
              </a:spcBef>
              <a:buFontTx/>
              <a:buNone/>
            </a:pPr>
            <a:r>
              <a:rPr lang="sl-SI" altLang="en-US" sz="1600" b="1"/>
              <a:t>			ali</a:t>
            </a:r>
            <a:r>
              <a:rPr lang="sl-SI" altLang="en-US" sz="1600"/>
              <a:t> ni preseženo število poskusov </a:t>
            </a:r>
            <a:r>
              <a:rPr lang="sl-SI" altLang="en-US" sz="1600" i="1"/>
              <a:t>N</a:t>
            </a:r>
            <a:r>
              <a:rPr lang="sl-SI" altLang="en-US" sz="1600" i="1" baseline="-25000"/>
              <a:t>maks</a:t>
            </a:r>
            <a:endParaRPr lang="sl-SI" altLang="en-US" sz="1600"/>
          </a:p>
        </p:txBody>
      </p:sp>
      <p:sp>
        <p:nvSpPr>
          <p:cNvPr id="14643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46437"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66B59E7-4AA1-4B8D-A067-F409989DBCBD}" type="slidenum">
              <a:rPr lang="en-GB" altLang="sl-SI" sz="1400" smtClean="0"/>
              <a:pPr>
                <a:spcBef>
                  <a:spcPct val="0"/>
                </a:spcBef>
                <a:buFontTx/>
                <a:buNone/>
              </a:pPr>
              <a:t>74</a:t>
            </a:fld>
            <a:endParaRPr lang="en-GB" altLang="sl-SI" sz="1400"/>
          </a:p>
        </p:txBody>
      </p:sp>
    </p:spTree>
  </p:cSld>
  <p:clrMapOvr>
    <a:masterClrMapping/>
  </p:clrMapOvr>
  <p:transition>
    <p:cove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ctrTitle"/>
          </p:nvPr>
        </p:nvSpPr>
        <p:spPr>
          <a:xfrm>
            <a:off x="0" y="188913"/>
            <a:ext cx="9144000" cy="576262"/>
          </a:xfrm>
        </p:spPr>
        <p:txBody>
          <a:bodyPr/>
          <a:lstStyle/>
          <a:p>
            <a:pPr eaLnBrk="1" hangingPunct="1"/>
            <a:r>
              <a:rPr lang="sl-SI" altLang="en-US" sz="2800" b="1"/>
              <a:t>RANSAC – DOLOČANJE VHODNIH PARAMETROV</a:t>
            </a:r>
            <a:endParaRPr lang="en-GB" altLang="en-US" sz="2000"/>
          </a:p>
        </p:txBody>
      </p:sp>
      <p:sp>
        <p:nvSpPr>
          <p:cNvPr id="148483" name="TextBox 5"/>
          <p:cNvSpPr txBox="1">
            <a:spLocks noChangeArrowheads="1"/>
          </p:cNvSpPr>
          <p:nvPr/>
        </p:nvSpPr>
        <p:spPr bwMode="auto">
          <a:xfrm>
            <a:off x="539750" y="836613"/>
            <a:ext cx="8064500" cy="617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ts val="600"/>
              </a:spcBef>
              <a:buFontTx/>
              <a:buAutoNum type="arabicPeriod"/>
            </a:pPr>
            <a:r>
              <a:rPr lang="sl-SI" altLang="en-US" sz="1600"/>
              <a:t>Kriterijska funkcija </a:t>
            </a:r>
            <a:r>
              <a:rPr lang="sl-SI" altLang="en-US" sz="1600" i="1"/>
              <a:t>f</a:t>
            </a:r>
            <a:r>
              <a:rPr lang="sl-SI" altLang="en-US" sz="1600" i="1" baseline="-25000"/>
              <a:t>c</a:t>
            </a:r>
            <a:r>
              <a:rPr lang="sl-SI" altLang="en-US" sz="1600"/>
              <a:t>, ki odredi, ali poljubni vhodni vzorec ustreza trenutnemu modelu (parametri </a:t>
            </a:r>
            <a:r>
              <a:rPr lang="sl-SI" altLang="en-US" sz="1600" b="1"/>
              <a:t>m</a:t>
            </a:r>
            <a:r>
              <a:rPr lang="sl-SI" altLang="en-US" sz="1600"/>
              <a:t>), mora biti določena izkustveno – na primer kot največja oddaljenost od iskane premice.</a:t>
            </a:r>
          </a:p>
          <a:p>
            <a:pPr>
              <a:spcBef>
                <a:spcPts val="600"/>
              </a:spcBef>
              <a:buFontTx/>
              <a:buAutoNum type="arabicPeriod"/>
            </a:pPr>
            <a:r>
              <a:rPr lang="sl-SI" altLang="en-US" sz="1600"/>
              <a:t>Število vzorcev, ki morajo glede na kriterijsko funkcijo </a:t>
            </a:r>
            <a:r>
              <a:rPr lang="sl-SI" altLang="en-US" sz="1600" i="1"/>
              <a:t>f</a:t>
            </a:r>
            <a:r>
              <a:rPr lang="sl-SI" altLang="en-US" sz="1600" i="1" baseline="-25000"/>
              <a:t>c</a:t>
            </a:r>
            <a:r>
              <a:rPr lang="sl-SI" altLang="en-US" sz="1600"/>
              <a:t> pripadati modelu, da izračunane parametre </a:t>
            </a:r>
            <a:r>
              <a:rPr lang="sl-SI" altLang="en-US" sz="1600" b="1"/>
              <a:t>m</a:t>
            </a:r>
            <a:r>
              <a:rPr lang="sl-SI" altLang="en-US" sz="1600"/>
              <a:t> vzamemo kot verjeten pravilni rezultat, tudi določimo izkustveno.</a:t>
            </a:r>
          </a:p>
          <a:p>
            <a:pPr>
              <a:spcBef>
                <a:spcPts val="600"/>
              </a:spcBef>
              <a:buFontTx/>
              <a:buAutoNum type="arabicPeriod"/>
            </a:pPr>
            <a:r>
              <a:rPr lang="sl-SI" altLang="en-US" sz="1600"/>
              <a:t>Število ponovitev poskusa pa se da oceniti vnaprej z naslednjim sklepanjem:</a:t>
            </a:r>
          </a:p>
          <a:p>
            <a:pPr lvl="1">
              <a:spcBef>
                <a:spcPts val="600"/>
              </a:spcBef>
              <a:buFont typeface="Arial" panose="020B0604020202020204" pitchFamily="34" charset="0"/>
              <a:buChar char="•"/>
            </a:pPr>
            <a:r>
              <a:rPr lang="sl-SI" altLang="en-US" sz="1600"/>
              <a:t>naj bo </a:t>
            </a:r>
            <a:r>
              <a:rPr lang="sl-SI" altLang="en-US" sz="1600" i="1">
                <a:sym typeface="Symbol" panose="05050102010706020507" pitchFamily="18" charset="2"/>
              </a:rPr>
              <a:t></a:t>
            </a:r>
            <a:r>
              <a:rPr lang="sl-SI" altLang="en-US" sz="1600">
                <a:sym typeface="Symbol" panose="05050102010706020507" pitchFamily="18" charset="2"/>
              </a:rPr>
              <a:t> verjetnost, da z večkratnim naključnim poskušanjem zberemo skupek </a:t>
            </a:r>
            <a:r>
              <a:rPr lang="sl-SI" altLang="en-US" sz="1600" i="1">
                <a:sym typeface="Symbol" panose="05050102010706020507" pitchFamily="18" charset="2"/>
              </a:rPr>
              <a:t>n</a:t>
            </a:r>
            <a:r>
              <a:rPr lang="sl-SI" altLang="en-US" sz="1600">
                <a:sym typeface="Symbol" panose="05050102010706020507" pitchFamily="18" charset="2"/>
              </a:rPr>
              <a:t> vzorcev, ki vsi ustrezajo pravemu modelu (v praksi vzamemo </a:t>
            </a:r>
            <a:r>
              <a:rPr lang="sl-SI" altLang="en-US" sz="1600" i="1">
                <a:sym typeface="Symbol" panose="05050102010706020507" pitchFamily="18" charset="2"/>
              </a:rPr>
              <a:t> </a:t>
            </a:r>
            <a:r>
              <a:rPr lang="sl-SI" altLang="en-US" sz="1600">
                <a:sym typeface="Symbol" panose="05050102010706020507" pitchFamily="18" charset="2"/>
              </a:rPr>
              <a:t>= 0,99)</a:t>
            </a:r>
            <a:endParaRPr lang="sl-SI" altLang="en-US" sz="1600"/>
          </a:p>
          <a:p>
            <a:pPr lvl="1">
              <a:spcBef>
                <a:spcPts val="600"/>
              </a:spcBef>
              <a:buFont typeface="Arial" panose="020B0604020202020204" pitchFamily="34" charset="0"/>
              <a:buChar char="•"/>
            </a:pPr>
            <a:r>
              <a:rPr lang="sl-SI" altLang="en-US" sz="1600"/>
              <a:t>naj bo </a:t>
            </a:r>
            <a:r>
              <a:rPr lang="sl-SI" altLang="en-US" sz="1600" i="1">
                <a:sym typeface="Symbol" panose="05050102010706020507" pitchFamily="18" charset="2"/>
              </a:rPr>
              <a:t></a:t>
            </a:r>
            <a:r>
              <a:rPr lang="sl-SI" altLang="en-US" sz="1600">
                <a:sym typeface="Symbol" panose="05050102010706020507" pitchFamily="18" charset="2"/>
              </a:rPr>
              <a:t> verjetnost, da izberemo vzorec, ki ustreza pravemu modelu:</a:t>
            </a:r>
          </a:p>
          <a:p>
            <a:pPr lvl="1">
              <a:spcBef>
                <a:spcPts val="600"/>
              </a:spcBef>
              <a:buFontTx/>
              <a:buNone/>
            </a:pPr>
            <a:r>
              <a:rPr lang="sl-SI" altLang="en-US" sz="1600">
                <a:sym typeface="Symbol" panose="05050102010706020507" pitchFamily="18" charset="2"/>
              </a:rPr>
              <a:t>	                                                         (izkustveno ocenimo)</a:t>
            </a:r>
          </a:p>
          <a:p>
            <a:pPr lvl="1">
              <a:spcBef>
                <a:spcPts val="1200"/>
              </a:spcBef>
              <a:buFont typeface="Arial" panose="020B0604020202020204" pitchFamily="34" charset="0"/>
              <a:buChar char="•"/>
            </a:pPr>
            <a:r>
              <a:rPr lang="sl-SI" altLang="en-US" sz="1600">
                <a:sym typeface="Symbol" panose="05050102010706020507" pitchFamily="18" charset="2"/>
              </a:rPr>
              <a:t>verjetnost, da v </a:t>
            </a:r>
            <a:r>
              <a:rPr lang="sl-SI" altLang="en-US" sz="1600" i="1">
                <a:sym typeface="Symbol" panose="05050102010706020507" pitchFamily="18" charset="2"/>
              </a:rPr>
              <a:t>N</a:t>
            </a:r>
            <a:r>
              <a:rPr lang="sl-SI" altLang="en-US" sz="1600">
                <a:sym typeface="Symbol" panose="05050102010706020507" pitchFamily="18" charset="2"/>
              </a:rPr>
              <a:t> poskusih nikoli nismo uspeli najti </a:t>
            </a:r>
            <a:r>
              <a:rPr lang="sl-SI" altLang="en-US" sz="1600" i="1">
                <a:sym typeface="Symbol" panose="05050102010706020507" pitchFamily="18" charset="2"/>
              </a:rPr>
              <a:t>n</a:t>
            </a:r>
            <a:r>
              <a:rPr lang="sl-SI" altLang="en-US" sz="1600">
                <a:sym typeface="Symbol" panose="05050102010706020507" pitchFamily="18" charset="2"/>
              </a:rPr>
              <a:t> vzorcev, ki bi bili vsi ustrezni, je zato:</a:t>
            </a:r>
          </a:p>
          <a:p>
            <a:pPr lvl="1">
              <a:spcBef>
                <a:spcPct val="0"/>
              </a:spcBef>
              <a:buFontTx/>
              <a:buNone/>
            </a:pPr>
            <a:r>
              <a:rPr lang="sl-SI" altLang="en-US" sz="1600">
                <a:sym typeface="Symbol" panose="05050102010706020507" pitchFamily="18" charset="2"/>
              </a:rPr>
              <a:t>	(1 – </a:t>
            </a:r>
            <a:r>
              <a:rPr lang="sl-SI" altLang="en-US" sz="1600" i="1">
                <a:sym typeface="Symbol" panose="05050102010706020507" pitchFamily="18" charset="2"/>
              </a:rPr>
              <a:t></a:t>
            </a:r>
            <a:r>
              <a:rPr lang="sl-SI" altLang="en-US" sz="1600" i="1" baseline="30000">
                <a:sym typeface="Symbol" panose="05050102010706020507" pitchFamily="18" charset="2"/>
              </a:rPr>
              <a:t>n</a:t>
            </a:r>
            <a:r>
              <a:rPr lang="sl-SI" altLang="en-US" sz="1600">
                <a:sym typeface="Symbol" panose="05050102010706020507" pitchFamily="18" charset="2"/>
              </a:rPr>
              <a:t>)</a:t>
            </a:r>
            <a:r>
              <a:rPr lang="sl-SI" altLang="en-US" sz="1600" i="1" baseline="30000">
                <a:sym typeface="Symbol" panose="05050102010706020507" pitchFamily="18" charset="2"/>
              </a:rPr>
              <a:t>N</a:t>
            </a:r>
            <a:r>
              <a:rPr lang="sl-SI" altLang="en-US" sz="1600">
                <a:sym typeface="Symbol" panose="05050102010706020507" pitchFamily="18" charset="2"/>
              </a:rPr>
              <a:t> = 1 – </a:t>
            </a:r>
            <a:r>
              <a:rPr lang="sl-SI" altLang="en-US" sz="1600" i="1">
                <a:sym typeface="Symbol" panose="05050102010706020507" pitchFamily="18" charset="2"/>
              </a:rPr>
              <a:t></a:t>
            </a:r>
            <a:endParaRPr lang="sl-SI" altLang="en-US" sz="1600">
              <a:sym typeface="Symbol" panose="05050102010706020507" pitchFamily="18" charset="2"/>
            </a:endParaRPr>
          </a:p>
          <a:p>
            <a:pPr lvl="1">
              <a:spcBef>
                <a:spcPts val="600"/>
              </a:spcBef>
              <a:buFont typeface="Arial" panose="020B0604020202020204" pitchFamily="34" charset="0"/>
              <a:buChar char="•"/>
            </a:pPr>
            <a:r>
              <a:rPr lang="sl-SI" altLang="en-US" sz="1600">
                <a:sym typeface="Symbol" panose="05050102010706020507" pitchFamily="18" charset="2"/>
              </a:rPr>
              <a:t>sledi:   </a:t>
            </a:r>
          </a:p>
          <a:p>
            <a:pPr lvl="1">
              <a:spcBef>
                <a:spcPts val="600"/>
              </a:spcBef>
              <a:buFont typeface="Arial" panose="020B0604020202020204" pitchFamily="34" charset="0"/>
              <a:buChar char="•"/>
            </a:pPr>
            <a:endParaRPr lang="sl-SI" altLang="en-US" sz="1600">
              <a:sym typeface="Symbol" panose="05050102010706020507" pitchFamily="18" charset="2"/>
            </a:endParaRPr>
          </a:p>
          <a:p>
            <a:pPr lvl="1">
              <a:spcBef>
                <a:spcPts val="1800"/>
              </a:spcBef>
              <a:buFontTx/>
              <a:buNone/>
            </a:pPr>
            <a:r>
              <a:rPr lang="sl-SI" altLang="en-US" sz="1600">
                <a:sym typeface="Symbol" panose="05050102010706020507" pitchFamily="18" charset="2"/>
              </a:rPr>
              <a:t>	kar vzamemo kot največje potrebno število poskusov, tj. </a:t>
            </a:r>
            <a:r>
              <a:rPr lang="sl-SI" altLang="en-US" sz="1600" i="1">
                <a:sym typeface="Symbol" panose="05050102010706020507" pitchFamily="18" charset="2"/>
              </a:rPr>
              <a:t>N</a:t>
            </a:r>
            <a:r>
              <a:rPr lang="sl-SI" altLang="en-US" sz="1600" i="1" baseline="-25000">
                <a:sym typeface="Symbol" panose="05050102010706020507" pitchFamily="18" charset="2"/>
              </a:rPr>
              <a:t>maks</a:t>
            </a:r>
            <a:endParaRPr lang="sl-SI" altLang="en-US" sz="1600">
              <a:sym typeface="Symbol" panose="05050102010706020507" pitchFamily="18" charset="2"/>
            </a:endParaRPr>
          </a:p>
          <a:p>
            <a:pPr lvl="1">
              <a:spcBef>
                <a:spcPts val="600"/>
              </a:spcBef>
              <a:buFontTx/>
              <a:buNone/>
            </a:pPr>
            <a:endParaRPr lang="sl-SI" altLang="en-US" sz="1600">
              <a:sym typeface="Symbol" panose="05050102010706020507" pitchFamily="18" charset="2"/>
            </a:endParaRPr>
          </a:p>
          <a:p>
            <a:pPr lvl="1">
              <a:spcBef>
                <a:spcPts val="600"/>
              </a:spcBef>
              <a:buFontTx/>
              <a:buNone/>
            </a:pPr>
            <a:endParaRPr lang="sl-SI" altLang="en-US" sz="1600">
              <a:sym typeface="Symbol" panose="05050102010706020507" pitchFamily="18" charset="2"/>
            </a:endParaRPr>
          </a:p>
          <a:p>
            <a:pPr lvl="1">
              <a:spcBef>
                <a:spcPts val="600"/>
              </a:spcBef>
              <a:buFont typeface="Arial" panose="020B0604020202020204" pitchFamily="34" charset="0"/>
              <a:buChar char="•"/>
            </a:pPr>
            <a:endParaRPr lang="sl-SI" altLang="en-US" sz="1600"/>
          </a:p>
        </p:txBody>
      </p:sp>
      <p:pic>
        <p:nvPicPr>
          <p:cNvPr id="148484" name="Slika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60488" y="3611563"/>
            <a:ext cx="28638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8485" name="Slika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52575" y="5138738"/>
            <a:ext cx="1298575"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8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48487"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6034A60-141B-4561-B91F-4E138162BFE8}" type="slidenum">
              <a:rPr lang="en-GB" altLang="sl-SI" sz="1400" smtClean="0"/>
              <a:pPr>
                <a:spcBef>
                  <a:spcPct val="0"/>
                </a:spcBef>
                <a:buFontTx/>
                <a:buNone/>
              </a:pPr>
              <a:t>75</a:t>
            </a:fld>
            <a:endParaRPr lang="en-GB" altLang="sl-SI" sz="1400"/>
          </a:p>
        </p:txBody>
      </p:sp>
    </p:spTree>
  </p:cSld>
  <p:clrMapOvr>
    <a:masterClrMapping/>
  </p:clrMapOvr>
  <p:transition>
    <p:cove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ctrTitle"/>
          </p:nvPr>
        </p:nvSpPr>
        <p:spPr>
          <a:xfrm>
            <a:off x="0" y="188913"/>
            <a:ext cx="9144000" cy="576262"/>
          </a:xfrm>
        </p:spPr>
        <p:txBody>
          <a:bodyPr/>
          <a:lstStyle/>
          <a:p>
            <a:pPr eaLnBrk="1" hangingPunct="1"/>
            <a:r>
              <a:rPr lang="sl-SI" altLang="en-US" sz="2800" b="1"/>
              <a:t>Primer iskanja premice z RANSAC</a:t>
            </a:r>
            <a:endParaRPr lang="en-GB" altLang="en-US" sz="2000"/>
          </a:p>
        </p:txBody>
      </p:sp>
      <p:sp>
        <p:nvSpPr>
          <p:cNvPr id="150531" name="TextBox 5"/>
          <p:cNvSpPr txBox="1">
            <a:spLocks noChangeArrowheads="1"/>
          </p:cNvSpPr>
          <p:nvPr/>
        </p:nvSpPr>
        <p:spPr bwMode="auto">
          <a:xfrm>
            <a:off x="539750" y="836613"/>
            <a:ext cx="8064500" cy="543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ts val="600"/>
              </a:spcBef>
              <a:buFontTx/>
              <a:buAutoNum type="arabicPeriod"/>
            </a:pPr>
            <a:r>
              <a:rPr lang="sl-SI" altLang="en-US" sz="1600"/>
              <a:t>Pri iskanju premice moramo naključno jemati po dva vzorca (točki) – </a:t>
            </a:r>
            <a:r>
              <a:rPr lang="sl-SI" altLang="en-US" sz="1600" i="1"/>
              <a:t>k</a:t>
            </a:r>
            <a:r>
              <a:rPr lang="sl-SI" altLang="en-US" sz="1600"/>
              <a:t> = 2.</a:t>
            </a:r>
          </a:p>
          <a:p>
            <a:pPr>
              <a:spcBef>
                <a:spcPts val="600"/>
              </a:spcBef>
              <a:buFontTx/>
              <a:buAutoNum type="arabicPeriod"/>
            </a:pPr>
            <a:r>
              <a:rPr lang="sl-SI" altLang="en-US" sz="1600"/>
              <a:t>Nato pogledamo, koliko ostalih vzorcev se pojavi v okolici, ki jo izberemo za preverjanje pravega modela (prav postavljene premice).</a:t>
            </a:r>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lvl="1">
              <a:spcBef>
                <a:spcPts val="600"/>
              </a:spcBef>
              <a:buFontTx/>
              <a:buNone/>
            </a:pPr>
            <a:endParaRPr lang="sl-SI" altLang="en-US" sz="1600">
              <a:sym typeface="Symbol" panose="05050102010706020507" pitchFamily="18" charset="2"/>
            </a:endParaRPr>
          </a:p>
          <a:p>
            <a:pPr lvl="1">
              <a:spcBef>
                <a:spcPts val="600"/>
              </a:spcBef>
              <a:buFont typeface="Arial" panose="020B0604020202020204" pitchFamily="34" charset="0"/>
              <a:buChar char="•"/>
            </a:pPr>
            <a:endParaRPr lang="sl-SI" altLang="en-US" sz="1600"/>
          </a:p>
        </p:txBody>
      </p:sp>
      <p:pic>
        <p:nvPicPr>
          <p:cNvPr id="15053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835150"/>
            <a:ext cx="3511550"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053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1844675"/>
            <a:ext cx="3457575" cy="367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0534" name="Skupina 9"/>
          <p:cNvGrpSpPr>
            <a:grpSpLocks/>
          </p:cNvGrpSpPr>
          <p:nvPr/>
        </p:nvGrpSpPr>
        <p:grpSpPr bwMode="auto">
          <a:xfrm>
            <a:off x="4716463" y="2349500"/>
            <a:ext cx="2303462" cy="522288"/>
            <a:chOff x="4716016" y="2348880"/>
            <a:chExt cx="2304256" cy="523220"/>
          </a:xfrm>
        </p:grpSpPr>
        <p:sp>
          <p:nvSpPr>
            <p:cNvPr id="150537" name="PoljeZBesedilom 3"/>
            <p:cNvSpPr txBox="1">
              <a:spLocks noChangeArrowheads="1"/>
            </p:cNvSpPr>
            <p:nvPr/>
          </p:nvSpPr>
          <p:spPr bwMode="auto">
            <a:xfrm>
              <a:off x="4716016" y="2348880"/>
              <a:ext cx="9412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kriterijska</a:t>
              </a:r>
            </a:p>
            <a:p>
              <a:pPr eaLnBrk="1" hangingPunct="1">
                <a:spcBef>
                  <a:spcPct val="0"/>
                </a:spcBef>
                <a:buFontTx/>
                <a:buNone/>
              </a:pPr>
              <a:r>
                <a:rPr lang="sl-SI" altLang="en-US" sz="1400"/>
                <a:t>funkcija</a:t>
              </a:r>
            </a:p>
          </p:txBody>
        </p:sp>
        <p:grpSp>
          <p:nvGrpSpPr>
            <p:cNvPr id="150538" name="Skupina 8"/>
            <p:cNvGrpSpPr>
              <a:grpSpLocks/>
            </p:cNvGrpSpPr>
            <p:nvPr/>
          </p:nvGrpSpPr>
          <p:grpSpPr bwMode="auto">
            <a:xfrm>
              <a:off x="5657299" y="2348880"/>
              <a:ext cx="1362973" cy="432048"/>
              <a:chOff x="5657299" y="2348880"/>
              <a:chExt cx="1362973" cy="432048"/>
            </a:xfrm>
          </p:grpSpPr>
          <p:cxnSp>
            <p:nvCxnSpPr>
              <p:cNvPr id="6" name="Raven puščični povezovalnik 5"/>
              <p:cNvCxnSpPr/>
              <p:nvPr/>
            </p:nvCxnSpPr>
            <p:spPr>
              <a:xfrm flipV="1">
                <a:off x="5657727" y="2348880"/>
                <a:ext cx="859134" cy="262406"/>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8" name="Raven puščični povezovalnik 7"/>
              <p:cNvCxnSpPr>
                <a:stCxn id="150537" idx="3"/>
              </p:cNvCxnSpPr>
              <p:nvPr/>
            </p:nvCxnSpPr>
            <p:spPr>
              <a:xfrm>
                <a:off x="5657727" y="2611286"/>
                <a:ext cx="1362545" cy="170165"/>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grpSp>
      <p:sp>
        <p:nvSpPr>
          <p:cNvPr id="150535"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50536" name="Ograda številke diapozitiva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FE49493-3BA1-4DE3-88E3-D18A48629136}" type="slidenum">
              <a:rPr lang="en-GB" altLang="sl-SI" sz="1400" smtClean="0"/>
              <a:pPr>
                <a:spcBef>
                  <a:spcPct val="0"/>
                </a:spcBef>
                <a:buFontTx/>
                <a:buNone/>
              </a:pPr>
              <a:t>76</a:t>
            </a:fld>
            <a:endParaRPr lang="en-GB" altLang="sl-SI" sz="1400"/>
          </a:p>
        </p:txBody>
      </p:sp>
    </p:spTree>
  </p:cSld>
  <p:clrMapOvr>
    <a:masterClrMapping/>
  </p:clrMapOvr>
  <p:transition>
    <p:cove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0" y="188913"/>
            <a:ext cx="9144000" cy="576262"/>
          </a:xfrm>
        </p:spPr>
        <p:txBody>
          <a:bodyPr/>
          <a:lstStyle/>
          <a:p>
            <a:pPr eaLnBrk="1" hangingPunct="1"/>
            <a:r>
              <a:rPr lang="sl-SI" altLang="en-US" sz="2800" b="1"/>
              <a:t>Primer iskanja premice z RANSAC (2)</a:t>
            </a:r>
            <a:endParaRPr lang="en-GB" altLang="en-US" sz="2000"/>
          </a:p>
        </p:txBody>
      </p:sp>
      <p:sp>
        <p:nvSpPr>
          <p:cNvPr id="152579" name="TextBox 5"/>
          <p:cNvSpPr txBox="1">
            <a:spLocks noChangeArrowheads="1"/>
          </p:cNvSpPr>
          <p:nvPr/>
        </p:nvSpPr>
        <p:spPr bwMode="auto">
          <a:xfrm>
            <a:off x="539750" y="836613"/>
            <a:ext cx="8064500" cy="543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ts val="600"/>
              </a:spcBef>
              <a:buFontTx/>
              <a:buAutoNum type="arabicPeriod"/>
            </a:pPr>
            <a:r>
              <a:rPr lang="sl-SI" altLang="en-US" sz="1600"/>
              <a:t>Poskušamo še za druge pare vzorcev (točk).</a:t>
            </a:r>
          </a:p>
          <a:p>
            <a:pPr>
              <a:spcBef>
                <a:spcPts val="600"/>
              </a:spcBef>
              <a:buFontTx/>
              <a:buAutoNum type="arabicPeriod"/>
            </a:pPr>
            <a:r>
              <a:rPr lang="sl-SI" altLang="en-US" sz="1600"/>
              <a:t>Izberemo model, ki mu glede na kriterijsko funkcijo ustreza največ vhodnih vzorcev ali pri katerem je preseženo vnaprej določeno število ustreznih vhodnih vzorcev.</a:t>
            </a:r>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lvl="1">
              <a:spcBef>
                <a:spcPts val="600"/>
              </a:spcBef>
              <a:buFontTx/>
              <a:buNone/>
            </a:pPr>
            <a:endParaRPr lang="sl-SI" altLang="en-US" sz="1600">
              <a:sym typeface="Symbol" panose="05050102010706020507" pitchFamily="18" charset="2"/>
            </a:endParaRPr>
          </a:p>
          <a:p>
            <a:pPr lvl="1">
              <a:spcBef>
                <a:spcPts val="600"/>
              </a:spcBef>
              <a:buFont typeface="Arial" panose="020B0604020202020204" pitchFamily="34" charset="0"/>
              <a:buChar char="•"/>
            </a:pPr>
            <a:endParaRPr lang="sl-SI" altLang="en-US" sz="1600"/>
          </a:p>
        </p:txBody>
      </p:sp>
      <p:pic>
        <p:nvPicPr>
          <p:cNvPr id="15258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 y="1878013"/>
            <a:ext cx="3756025" cy="372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8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9488" y="1868488"/>
            <a:ext cx="3821112" cy="38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2"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52583"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297F279-268C-4E2A-89CF-272992BB027E}" type="slidenum">
              <a:rPr lang="en-GB" altLang="sl-SI" sz="1400" smtClean="0"/>
              <a:pPr>
                <a:spcBef>
                  <a:spcPct val="0"/>
                </a:spcBef>
                <a:buFontTx/>
                <a:buNone/>
              </a:pPr>
              <a:t>77</a:t>
            </a:fld>
            <a:endParaRPr lang="en-GB" altLang="sl-SI" sz="1400"/>
          </a:p>
        </p:txBody>
      </p:sp>
    </p:spTree>
  </p:cSld>
  <p:clrMapOvr>
    <a:masterClrMapping/>
  </p:clrMapOvr>
  <p:transition>
    <p:cove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ctrTitle"/>
          </p:nvPr>
        </p:nvSpPr>
        <p:spPr>
          <a:xfrm>
            <a:off x="0" y="188913"/>
            <a:ext cx="9144000" cy="576262"/>
          </a:xfrm>
        </p:spPr>
        <p:txBody>
          <a:bodyPr/>
          <a:lstStyle/>
          <a:p>
            <a:pPr eaLnBrk="1" hangingPunct="1"/>
            <a:r>
              <a:rPr lang="sl-SI" altLang="en-US" sz="2800" b="1"/>
              <a:t>UPORABA ALGORITMA RANSAC</a:t>
            </a:r>
            <a:endParaRPr lang="en-GB" altLang="en-US" sz="2000"/>
          </a:p>
        </p:txBody>
      </p:sp>
      <p:sp>
        <p:nvSpPr>
          <p:cNvPr id="154627" name="TextBox 5"/>
          <p:cNvSpPr txBox="1">
            <a:spLocks noChangeArrowheads="1"/>
          </p:cNvSpPr>
          <p:nvPr/>
        </p:nvSpPr>
        <p:spPr bwMode="auto">
          <a:xfrm>
            <a:off x="539750" y="776288"/>
            <a:ext cx="8064500" cy="423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ts val="600"/>
              </a:spcBef>
              <a:buFontTx/>
              <a:buAutoNum type="arabicPeriod"/>
            </a:pPr>
            <a:r>
              <a:rPr lang="sl-SI" altLang="en-US" sz="1600"/>
              <a:t>Z zgledom modela premice lahko prikažemo bistveno razliko med računanjem modela v obliki regresijske premice iz vseh vhodnih vzorcev in računanjem modela z metodo RANSAC, ki upošteva samo ustrezne vzorce.</a:t>
            </a:r>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endParaRPr lang="sl-SI" altLang="en-US" sz="1600"/>
          </a:p>
          <a:p>
            <a:pPr>
              <a:spcBef>
                <a:spcPts val="600"/>
              </a:spcBef>
              <a:buFontTx/>
              <a:buAutoNum type="arabicPeriod"/>
            </a:pPr>
            <a:r>
              <a:rPr lang="sl-SI" altLang="en-US" sz="1600"/>
              <a:t>RANSAC lahko uporabimo pri izbiri 8 (ali več) najustreznejših točk, s katerimi računamo temeljno matriko.</a:t>
            </a:r>
          </a:p>
          <a:p>
            <a:pPr>
              <a:spcBef>
                <a:spcPts val="600"/>
              </a:spcBef>
              <a:buFontTx/>
              <a:buAutoNum type="arabicPeriod"/>
            </a:pPr>
            <a:r>
              <a:rPr lang="sl-SI" altLang="en-US" sz="1600">
                <a:sym typeface="Symbol" panose="05050102010706020507" pitchFamily="18" charset="2"/>
              </a:rPr>
              <a:t>RANSAC pomaga splošneje tudi pri iskanju najustreznejših korespondenčnih točk, ki jih potrebujemo za tvorbo nekega modela (v 2D ali 3D).</a:t>
            </a:r>
          </a:p>
        </p:txBody>
      </p:sp>
      <p:grpSp>
        <p:nvGrpSpPr>
          <p:cNvPr id="154628" name="Skupina 23"/>
          <p:cNvGrpSpPr>
            <a:grpSpLocks/>
          </p:cNvGrpSpPr>
          <p:nvPr/>
        </p:nvGrpSpPr>
        <p:grpSpPr bwMode="auto">
          <a:xfrm>
            <a:off x="395288" y="1766888"/>
            <a:ext cx="3671887" cy="2016125"/>
            <a:chOff x="395536" y="1766914"/>
            <a:chExt cx="3672408" cy="2015879"/>
          </a:xfrm>
        </p:grpSpPr>
        <p:pic>
          <p:nvPicPr>
            <p:cNvPr id="154635" name="Picture 4" descr="fig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766914"/>
              <a:ext cx="3672408" cy="1806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36" name="PoljeZBesedilom 3"/>
            <p:cNvSpPr txBox="1">
              <a:spLocks noChangeArrowheads="1"/>
            </p:cNvSpPr>
            <p:nvPr/>
          </p:nvSpPr>
          <p:spPr bwMode="auto">
            <a:xfrm>
              <a:off x="1979712" y="1999873"/>
              <a:ext cx="7889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osamelci</a:t>
              </a:r>
            </a:p>
          </p:txBody>
        </p:sp>
        <p:cxnSp>
          <p:nvCxnSpPr>
            <p:cNvPr id="6" name="Raven puščični povezovalnik 5"/>
            <p:cNvCxnSpPr>
              <a:stCxn id="154636" idx="1"/>
            </p:cNvCxnSpPr>
            <p:nvPr/>
          </p:nvCxnSpPr>
          <p:spPr>
            <a:xfrm flipH="1" flipV="1">
              <a:off x="1116363" y="1844692"/>
              <a:ext cx="863723" cy="293652"/>
            </a:xfrm>
            <a:prstGeom prst="straightConnector1">
              <a:avLst/>
            </a:prstGeom>
            <a:ln w="127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3" name="Raven puščični povezovalnik 12"/>
            <p:cNvCxnSpPr/>
            <p:nvPr/>
          </p:nvCxnSpPr>
          <p:spPr>
            <a:xfrm>
              <a:off x="2556430" y="2276439"/>
              <a:ext cx="1151101" cy="936511"/>
            </a:xfrm>
            <a:prstGeom prst="straightConnector1">
              <a:avLst/>
            </a:prstGeom>
            <a:ln w="127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5" name="Raven povezovalnik 14"/>
            <p:cNvCxnSpPr/>
            <p:nvPr/>
          </p:nvCxnSpPr>
          <p:spPr>
            <a:xfrm flipV="1">
              <a:off x="827397" y="2639932"/>
              <a:ext cx="2953169" cy="7460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54640" name="PoljeZBesedilom 16"/>
            <p:cNvSpPr txBox="1">
              <a:spLocks noChangeArrowheads="1"/>
            </p:cNvSpPr>
            <p:nvPr/>
          </p:nvSpPr>
          <p:spPr bwMode="auto">
            <a:xfrm>
              <a:off x="1281604" y="3475016"/>
              <a:ext cx="17363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regresijska premica</a:t>
              </a:r>
            </a:p>
          </p:txBody>
        </p:sp>
      </p:grpSp>
      <p:grpSp>
        <p:nvGrpSpPr>
          <p:cNvPr id="154629" name="Skupina 24"/>
          <p:cNvGrpSpPr>
            <a:grpSpLocks/>
          </p:cNvGrpSpPr>
          <p:nvPr/>
        </p:nvGrpSpPr>
        <p:grpSpPr bwMode="auto">
          <a:xfrm>
            <a:off x="4892675" y="1587500"/>
            <a:ext cx="3711575" cy="2187575"/>
            <a:chOff x="4892675" y="1586936"/>
            <a:chExt cx="3711575" cy="2187477"/>
          </a:xfrm>
        </p:grpSpPr>
        <p:pic>
          <p:nvPicPr>
            <p:cNvPr id="154632" name="Picture 4" descr="fig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2675" y="1586936"/>
              <a:ext cx="3711575" cy="19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33" name="PoljeZBesedilom 21"/>
            <p:cNvSpPr txBox="1">
              <a:spLocks noChangeArrowheads="1"/>
            </p:cNvSpPr>
            <p:nvPr/>
          </p:nvSpPr>
          <p:spPr bwMode="auto">
            <a:xfrm>
              <a:off x="5508104" y="3466648"/>
              <a:ext cx="2536272" cy="30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premica, dobljena z RANSAC</a:t>
              </a:r>
            </a:p>
          </p:txBody>
        </p:sp>
        <p:cxnSp>
          <p:nvCxnSpPr>
            <p:cNvPr id="19" name="Raven povezovalnik 18"/>
            <p:cNvCxnSpPr/>
            <p:nvPr/>
          </p:nvCxnSpPr>
          <p:spPr>
            <a:xfrm flipV="1">
              <a:off x="5076825" y="2179047"/>
              <a:ext cx="3311525" cy="100166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154630" name="Ograda noge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sl-SI" sz="1400"/>
              <a:t>Predavanja iz Računalniškega vida, FERI Maribor </a:t>
            </a:r>
          </a:p>
        </p:txBody>
      </p:sp>
      <p:sp>
        <p:nvSpPr>
          <p:cNvPr id="154631" name="Ograda številke diapozitiva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3589D52-B5B8-4F0C-BA70-AC80759BBF07}" type="slidenum">
              <a:rPr lang="en-GB" altLang="sl-SI" sz="1400" smtClean="0"/>
              <a:pPr>
                <a:spcBef>
                  <a:spcPct val="0"/>
                </a:spcBef>
                <a:buFontTx/>
                <a:buNone/>
              </a:pPr>
              <a:t>78</a:t>
            </a:fld>
            <a:endParaRPr lang="en-GB" altLang="sl-SI" sz="1400"/>
          </a:p>
        </p:txBody>
      </p:sp>
    </p:spTree>
  </p:cSld>
  <p:clrMapOvr>
    <a:masterClrMapping/>
  </p:clrMapOvr>
  <p:transition>
    <p:cove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5667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894BE81-9251-48E3-B513-F7C54D86B542}" type="slidenum">
              <a:rPr lang="en-GB" altLang="en-US" sz="1400" smtClean="0"/>
              <a:pPr>
                <a:spcBef>
                  <a:spcPct val="0"/>
                </a:spcBef>
                <a:buFontTx/>
                <a:buNone/>
              </a:pPr>
              <a:t>79</a:t>
            </a:fld>
            <a:endParaRPr lang="en-GB" altLang="en-US" sz="1400"/>
          </a:p>
        </p:txBody>
      </p:sp>
      <p:sp>
        <p:nvSpPr>
          <p:cNvPr id="156676" name="Rectangle 2"/>
          <p:cNvSpPr>
            <a:spLocks noGrp="1" noChangeArrowheads="1"/>
          </p:cNvSpPr>
          <p:nvPr>
            <p:ph type="body" idx="1"/>
          </p:nvPr>
        </p:nvSpPr>
        <p:spPr>
          <a:xfrm>
            <a:off x="468313" y="2708275"/>
            <a:ext cx="8229600" cy="1008063"/>
          </a:xfrm>
        </p:spPr>
        <p:txBody>
          <a:bodyPr/>
          <a:lstStyle/>
          <a:p>
            <a:pPr algn="ctr" defTabSz="912813" eaLnBrk="1" hangingPunct="1">
              <a:buFontTx/>
              <a:buNone/>
            </a:pPr>
            <a:r>
              <a:rPr lang="sl-SI" altLang="en-US" sz="3600"/>
              <a:t>Afina poravnava slik</a:t>
            </a:r>
          </a:p>
        </p:txBody>
      </p:sp>
    </p:spTree>
  </p:cSld>
  <p:clrMapOvr>
    <a:masterClrMapping/>
  </p:clrMapOvr>
  <p:transition>
    <p:cove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5872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ADB2BC7-EBCD-4810-8816-E3E6AF96C0DA}" type="slidenum">
              <a:rPr lang="en-GB" altLang="en-US" sz="1400" smtClean="0"/>
              <a:pPr>
                <a:spcBef>
                  <a:spcPct val="0"/>
                </a:spcBef>
                <a:buFontTx/>
                <a:buNone/>
              </a:pPr>
              <a:t>80</a:t>
            </a:fld>
            <a:endParaRPr lang="en-GB" altLang="en-US" sz="1400"/>
          </a:p>
        </p:txBody>
      </p:sp>
      <p:sp>
        <p:nvSpPr>
          <p:cNvPr id="158724" name="Rectangle 2"/>
          <p:cNvSpPr>
            <a:spLocks noGrp="1" noChangeArrowheads="1"/>
          </p:cNvSpPr>
          <p:nvPr>
            <p:ph type="ctrTitle"/>
          </p:nvPr>
        </p:nvSpPr>
        <p:spPr>
          <a:xfrm>
            <a:off x="250825" y="188913"/>
            <a:ext cx="8424863" cy="647700"/>
          </a:xfrm>
        </p:spPr>
        <p:txBody>
          <a:bodyPr/>
          <a:lstStyle/>
          <a:p>
            <a:pPr defTabSz="912813" eaLnBrk="1" hangingPunct="1"/>
            <a:r>
              <a:rPr lang="sl-SI" altLang="en-US" sz="2800" b="1"/>
              <a:t>TOGA PORAVNAVA SLIK</a:t>
            </a:r>
            <a:endParaRPr lang="en-GB" altLang="en-US" sz="2000"/>
          </a:p>
        </p:txBody>
      </p:sp>
      <p:sp>
        <p:nvSpPr>
          <p:cNvPr id="158725" name="TextBox 5"/>
          <p:cNvSpPr txBox="1">
            <a:spLocks noChangeArrowheads="1"/>
          </p:cNvSpPr>
          <p:nvPr/>
        </p:nvSpPr>
        <p:spPr bwMode="auto">
          <a:xfrm>
            <a:off x="614363" y="836613"/>
            <a:ext cx="7704137"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Pri togi poravnavi slik lahko pride samo do premika ali zasuka cele slike.</a:t>
            </a:r>
          </a:p>
          <a:p>
            <a:pPr eaLnBrk="1" hangingPunct="1">
              <a:spcBef>
                <a:spcPts val="600"/>
              </a:spcBef>
              <a:buFontTx/>
              <a:buAutoNum type="arabicPeriod"/>
            </a:pPr>
            <a:r>
              <a:rPr lang="sl-SI" altLang="en-US" sz="1800"/>
              <a:t>Najpreprostejši postopek je naslednji:</a:t>
            </a:r>
          </a:p>
          <a:p>
            <a:pPr lvl="1" eaLnBrk="1" hangingPunct="1">
              <a:spcBef>
                <a:spcPts val="600"/>
              </a:spcBef>
              <a:buFont typeface="Arial" panose="020B0604020202020204" pitchFamily="34" charset="0"/>
              <a:buChar char="•"/>
            </a:pPr>
            <a:r>
              <a:rPr lang="sl-SI" altLang="en-US" sz="1600"/>
              <a:t>sliki </a:t>
            </a:r>
            <a:r>
              <a:rPr lang="sl-SI" altLang="en-US" sz="1600" b="1"/>
              <a:t>I</a:t>
            </a:r>
            <a:r>
              <a:rPr lang="sl-SI" altLang="en-US" sz="1600" baseline="-25000"/>
              <a:t>1</a:t>
            </a:r>
            <a:r>
              <a:rPr lang="sl-SI" altLang="en-US" sz="1600"/>
              <a:t> in </a:t>
            </a:r>
            <a:r>
              <a:rPr lang="sl-SI" altLang="en-US" sz="1600" b="1"/>
              <a:t>I</a:t>
            </a:r>
            <a:r>
              <a:rPr lang="sl-SI" altLang="en-US" sz="1600" baseline="-25000"/>
              <a:t>2</a:t>
            </a:r>
            <a:r>
              <a:rPr lang="sl-SI" altLang="en-US" sz="1600"/>
              <a:t> binariziramo, tako da dobimo piksle </a:t>
            </a:r>
            <a:r>
              <a:rPr lang="sl-SI" altLang="en-US" sz="1600" i="1"/>
              <a:t>b</a:t>
            </a:r>
            <a:r>
              <a:rPr lang="sl-SI" altLang="en-US" sz="1600" i="1" baseline="-25000"/>
              <a:t>i</a:t>
            </a:r>
            <a:r>
              <a:rPr lang="sl-SI" altLang="en-US" sz="1600"/>
              <a:t>(</a:t>
            </a:r>
            <a:r>
              <a:rPr lang="sl-SI" altLang="en-US" sz="1600" i="1"/>
              <a:t>x</a:t>
            </a:r>
            <a:r>
              <a:rPr lang="sl-SI" altLang="en-US" sz="1600"/>
              <a:t>,</a:t>
            </a:r>
            <a:r>
              <a:rPr lang="sl-SI" altLang="en-US" sz="1600" i="1"/>
              <a:t>y</a:t>
            </a:r>
            <a:r>
              <a:rPr lang="sl-SI" altLang="en-US" sz="1600"/>
              <a:t>), ki imajo vrednosti 0 ali 1, </a:t>
            </a:r>
            <a:r>
              <a:rPr lang="sl-SI" altLang="en-US" sz="1600" i="1"/>
              <a:t>i</a:t>
            </a:r>
            <a:r>
              <a:rPr lang="sl-SI" altLang="en-US" sz="1600"/>
              <a:t> </a:t>
            </a:r>
            <a:r>
              <a:rPr lang="sl-SI" altLang="en-US" sz="1600">
                <a:sym typeface="Symbol" panose="05050102010706020507" pitchFamily="18" charset="2"/>
              </a:rPr>
              <a:t> {1,2}; uporabimo enega od pragovnih pristopov</a:t>
            </a:r>
          </a:p>
          <a:p>
            <a:pPr lvl="1" eaLnBrk="1" hangingPunct="1">
              <a:spcBef>
                <a:spcPts val="600"/>
              </a:spcBef>
              <a:buFont typeface="Arial" panose="020B0604020202020204" pitchFamily="34" charset="0"/>
              <a:buChar char="•"/>
            </a:pPr>
            <a:r>
              <a:rPr lang="sl-SI" altLang="en-US" sz="1600">
                <a:sym typeface="Symbol" panose="05050102010706020507" pitchFamily="18" charset="2"/>
              </a:rPr>
              <a:t>izračunamo težišči slik in sliki s težišči poravnamo – izničimo </a:t>
            </a:r>
            <a:r>
              <a:rPr lang="sl-SI" altLang="en-US" sz="1600">
                <a:solidFill>
                  <a:srgbClr val="0000FF"/>
                </a:solidFill>
                <a:sym typeface="Symbol" panose="05050102010706020507" pitchFamily="18" charset="2"/>
              </a:rPr>
              <a:t>premik</a:t>
            </a:r>
            <a:endParaRPr lang="sl-SI" altLang="en-US" sz="1600" baseline="-25000">
              <a:solidFill>
                <a:srgbClr val="0000FF"/>
              </a:solidFill>
              <a:sym typeface="Symbol" panose="05050102010706020507" pitchFamily="18" charset="2"/>
            </a:endParaRPr>
          </a:p>
          <a:p>
            <a:pPr lvl="1" eaLnBrk="1" hangingPunct="1">
              <a:spcBef>
                <a:spcPts val="600"/>
              </a:spcBef>
              <a:buFont typeface="Arial" panose="020B0604020202020204" pitchFamily="34" charset="0"/>
              <a:buChar char="•"/>
            </a:pPr>
            <a:r>
              <a:rPr lang="sl-SI" altLang="en-US" sz="1600">
                <a:sym typeface="Symbol" panose="05050102010706020507" pitchFamily="18" charset="2"/>
              </a:rPr>
              <a:t>premaknjeno opazovano (sivinsko, barvno) sliko </a:t>
            </a:r>
            <a:r>
              <a:rPr lang="sl-SI" altLang="en-US" sz="1600" b="1"/>
              <a:t>I</a:t>
            </a:r>
            <a:r>
              <a:rPr lang="sl-SI" altLang="en-US" sz="1600" baseline="-25000"/>
              <a:t>2 </a:t>
            </a:r>
            <a:r>
              <a:rPr lang="sl-SI" altLang="en-US" sz="1600">
                <a:sym typeface="Symbol" panose="05050102010706020507" pitchFamily="18" charset="2"/>
              </a:rPr>
              <a:t>primerjamo z referenčno </a:t>
            </a:r>
            <a:r>
              <a:rPr lang="sl-SI" altLang="en-US" sz="1600" b="1"/>
              <a:t>I</a:t>
            </a:r>
            <a:r>
              <a:rPr lang="sl-SI" altLang="en-US" sz="1600" baseline="-25000"/>
              <a:t>1</a:t>
            </a:r>
            <a:r>
              <a:rPr lang="sl-SI" altLang="en-US" sz="1600"/>
              <a:t> </a:t>
            </a:r>
            <a:r>
              <a:rPr lang="sl-SI" altLang="en-US" sz="1600">
                <a:sym typeface="Symbol" panose="05050102010706020507" pitchFamily="18" charset="2"/>
              </a:rPr>
              <a:t>– na primer z evklidsko razdaljo</a:t>
            </a:r>
            <a:endParaRPr lang="sl-SI" altLang="en-US" sz="1600" i="1">
              <a:sym typeface="Symbol" panose="05050102010706020507" pitchFamily="18" charset="2"/>
            </a:endParaRPr>
          </a:p>
          <a:p>
            <a:pPr lvl="1" eaLnBrk="1" hangingPunct="1">
              <a:spcBef>
                <a:spcPts val="600"/>
              </a:spcBef>
              <a:buFont typeface="Arial" panose="020B0604020202020204" pitchFamily="34" charset="0"/>
              <a:buChar char="•"/>
            </a:pPr>
            <a:r>
              <a:rPr lang="sl-SI" altLang="en-US" sz="1600">
                <a:sym typeface="Symbol" panose="05050102010706020507" pitchFamily="18" charset="2"/>
              </a:rPr>
              <a:t>nato opazovano sliko iterativno sučemo za izbrani (majhen) kot in po vsakem zasuku opravimo primerjavo z referenčno sliko</a:t>
            </a:r>
          </a:p>
          <a:p>
            <a:pPr lvl="1" eaLnBrk="1" hangingPunct="1">
              <a:spcBef>
                <a:spcPts val="600"/>
              </a:spcBef>
              <a:buFont typeface="Arial" panose="020B0604020202020204" pitchFamily="34" charset="0"/>
              <a:buChar char="•"/>
            </a:pPr>
            <a:r>
              <a:rPr lang="sl-SI" altLang="en-US" sz="1600">
                <a:sym typeface="Symbol" panose="05050102010706020507" pitchFamily="18" charset="2"/>
              </a:rPr>
              <a:t>najustreznejši zasuk določa najmanjša razlika med slikama – od tega zasuka lahko iščemo še boljšo poravnavo tako, da iteriramo dalje z manjšimi koti zasuka – izničimo </a:t>
            </a:r>
            <a:r>
              <a:rPr lang="sl-SI" altLang="en-US" sz="1600">
                <a:solidFill>
                  <a:srgbClr val="0000FF"/>
                </a:solidFill>
                <a:sym typeface="Symbol" panose="05050102010706020507" pitchFamily="18" charset="2"/>
              </a:rPr>
              <a:t>zasuk</a:t>
            </a:r>
          </a:p>
          <a:p>
            <a:pPr eaLnBrk="1" hangingPunct="1">
              <a:spcBef>
                <a:spcPts val="1200"/>
              </a:spcBef>
              <a:buFontTx/>
              <a:buAutoNum type="arabicPeriod"/>
            </a:pPr>
            <a:r>
              <a:rPr lang="sl-SI" altLang="en-US" sz="1800">
                <a:solidFill>
                  <a:srgbClr val="FF9933"/>
                </a:solidFill>
                <a:sym typeface="Symbol" panose="05050102010706020507" pitchFamily="18" charset="2"/>
              </a:rPr>
              <a:t>Izračun težišča slike:</a:t>
            </a:r>
          </a:p>
        </p:txBody>
      </p:sp>
      <p:sp>
        <p:nvSpPr>
          <p:cNvPr id="158726"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158727" name="Slika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1150" y="5084763"/>
            <a:ext cx="852170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607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DA7A45E-B5B7-4AA0-9AA2-0518B739EC87}" type="slidenum">
              <a:rPr lang="en-GB" altLang="en-US" sz="1400" smtClean="0"/>
              <a:pPr>
                <a:spcBef>
                  <a:spcPct val="0"/>
                </a:spcBef>
                <a:buFontTx/>
                <a:buNone/>
              </a:pPr>
              <a:t>81</a:t>
            </a:fld>
            <a:endParaRPr lang="en-GB" altLang="en-US" sz="1400"/>
          </a:p>
        </p:txBody>
      </p:sp>
      <p:sp>
        <p:nvSpPr>
          <p:cNvPr id="160772" name="Rectangle 2"/>
          <p:cNvSpPr>
            <a:spLocks noGrp="1" noChangeArrowheads="1"/>
          </p:cNvSpPr>
          <p:nvPr>
            <p:ph type="ctrTitle"/>
          </p:nvPr>
        </p:nvSpPr>
        <p:spPr>
          <a:xfrm>
            <a:off x="250825" y="188913"/>
            <a:ext cx="8424863" cy="647700"/>
          </a:xfrm>
        </p:spPr>
        <p:txBody>
          <a:bodyPr/>
          <a:lstStyle/>
          <a:p>
            <a:pPr defTabSz="912813" eaLnBrk="1" hangingPunct="1"/>
            <a:r>
              <a:rPr lang="sl-SI" altLang="en-US" sz="2800" b="1"/>
              <a:t>AFINA PORAVNAVA SLIK</a:t>
            </a:r>
            <a:endParaRPr lang="en-GB" altLang="en-US" sz="2000"/>
          </a:p>
        </p:txBody>
      </p:sp>
      <p:sp>
        <p:nvSpPr>
          <p:cNvPr id="6" name="TextBox 5"/>
          <p:cNvSpPr txBox="1">
            <a:spLocks noRot="1" noChangeAspect="1" noMove="1" noResize="1" noEditPoints="1" noAdjustHandles="1" noChangeArrowheads="1" noChangeShapeType="1" noTextEdit="1"/>
          </p:cNvSpPr>
          <p:nvPr/>
        </p:nvSpPr>
        <p:spPr bwMode="auto">
          <a:xfrm>
            <a:off x="614684" y="836712"/>
            <a:ext cx="7989763" cy="5370445"/>
          </a:xfrm>
          <a:prstGeom prst="rect">
            <a:avLst/>
          </a:prstGeom>
          <a:blipFill rotWithShape="1">
            <a:blip r:embed="rId3" cstate="print"/>
            <a:stretch>
              <a:fillRect l="-305" t="-341"/>
            </a:stretch>
          </a:blipFill>
          <a:ln>
            <a:noFill/>
          </a:ln>
        </p:spPr>
        <p:txBody>
          <a:bodyPr/>
          <a:lstStyle/>
          <a:p>
            <a:pPr eaLnBrk="1" hangingPunct="1">
              <a:defRPr/>
            </a:pPr>
            <a:r>
              <a:rPr lang="sl-SI">
                <a:noFill/>
                <a:latin typeface="Arial" charset="0"/>
                <a:cs typeface="Arial" charset="0"/>
              </a:rPr>
              <a:t> </a:t>
            </a:r>
          </a:p>
        </p:txBody>
      </p:sp>
      <p:sp>
        <p:nvSpPr>
          <p:cNvPr id="160774"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6077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160776" name="Slika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700213"/>
            <a:ext cx="15128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0777" name="Skupina 24"/>
          <p:cNvGrpSpPr>
            <a:grpSpLocks/>
          </p:cNvGrpSpPr>
          <p:nvPr/>
        </p:nvGrpSpPr>
        <p:grpSpPr bwMode="auto">
          <a:xfrm>
            <a:off x="-541338" y="5291138"/>
            <a:ext cx="10383838" cy="1306512"/>
            <a:chOff x="-540568" y="5291360"/>
            <a:chExt cx="10383376" cy="1305992"/>
          </a:xfrm>
        </p:grpSpPr>
        <p:grpSp>
          <p:nvGrpSpPr>
            <p:cNvPr id="160778" name="Skupina 20"/>
            <p:cNvGrpSpPr>
              <a:grpSpLocks/>
            </p:cNvGrpSpPr>
            <p:nvPr/>
          </p:nvGrpSpPr>
          <p:grpSpPr bwMode="auto">
            <a:xfrm>
              <a:off x="-540568" y="5291360"/>
              <a:ext cx="10383376" cy="1305992"/>
              <a:chOff x="-540568" y="5291360"/>
              <a:chExt cx="10383376" cy="1305992"/>
            </a:xfrm>
          </p:grpSpPr>
          <p:grpSp>
            <p:nvGrpSpPr>
              <p:cNvPr id="160780" name="Skupina 19"/>
              <p:cNvGrpSpPr>
                <a:grpSpLocks/>
              </p:cNvGrpSpPr>
              <p:nvPr/>
            </p:nvGrpSpPr>
            <p:grpSpPr bwMode="auto">
              <a:xfrm>
                <a:off x="4500563" y="5291360"/>
                <a:ext cx="1564453" cy="513904"/>
                <a:chOff x="4500563" y="5291360"/>
                <a:chExt cx="1564453" cy="513904"/>
              </a:xfrm>
            </p:grpSpPr>
            <p:sp>
              <p:nvSpPr>
                <p:cNvPr id="160789" name="PoljeZBesedilom 11"/>
                <p:cNvSpPr txBox="1">
                  <a:spLocks noChangeArrowheads="1"/>
                </p:cNvSpPr>
                <p:nvPr/>
              </p:nvSpPr>
              <p:spPr bwMode="auto">
                <a:xfrm>
                  <a:off x="4500563" y="5291360"/>
                  <a:ext cx="1564453" cy="27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solidFill>
                        <a:srgbClr val="FF9933"/>
                      </a:solidFill>
                    </a:rPr>
                    <a:t>Parcialni odvod po </a:t>
                  </a:r>
                  <a:r>
                    <a:rPr lang="sl-SI" altLang="en-US" sz="1200" i="1">
                      <a:solidFill>
                        <a:srgbClr val="FF9933"/>
                      </a:solidFill>
                    </a:rPr>
                    <a:t>x</a:t>
                  </a:r>
                </a:p>
              </p:txBody>
            </p:sp>
            <p:cxnSp>
              <p:nvCxnSpPr>
                <p:cNvPr id="14" name="Raven puščični povezovalnik 13"/>
                <p:cNvCxnSpPr/>
                <p:nvPr/>
              </p:nvCxnSpPr>
              <p:spPr bwMode="auto">
                <a:xfrm flipH="1">
                  <a:off x="5436104" y="5497653"/>
                  <a:ext cx="73022" cy="307852"/>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60781" name="Skupina 12"/>
              <p:cNvGrpSpPr>
                <a:grpSpLocks/>
              </p:cNvGrpSpPr>
              <p:nvPr/>
            </p:nvGrpSpPr>
            <p:grpSpPr bwMode="auto">
              <a:xfrm>
                <a:off x="6804248" y="5957689"/>
                <a:ext cx="1565275" cy="351631"/>
                <a:chOff x="5219700" y="6182519"/>
                <a:chExt cx="1565275" cy="351631"/>
              </a:xfrm>
            </p:grpSpPr>
            <p:sp>
              <p:nvSpPr>
                <p:cNvPr id="160787" name="PoljeZBesedilom 16"/>
                <p:cNvSpPr txBox="1">
                  <a:spLocks noChangeArrowheads="1"/>
                </p:cNvSpPr>
                <p:nvPr/>
              </p:nvSpPr>
              <p:spPr bwMode="auto">
                <a:xfrm>
                  <a:off x="5219700" y="6257925"/>
                  <a:ext cx="1565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solidFill>
                        <a:srgbClr val="FF9933"/>
                      </a:solidFill>
                    </a:rPr>
                    <a:t>Parcialni odvod po </a:t>
                  </a:r>
                  <a:r>
                    <a:rPr lang="sl-SI" altLang="en-US" sz="1200" i="1">
                      <a:solidFill>
                        <a:srgbClr val="FF9933"/>
                      </a:solidFill>
                    </a:rPr>
                    <a:t>y</a:t>
                  </a:r>
                </a:p>
              </p:txBody>
            </p:sp>
            <p:cxnSp>
              <p:nvCxnSpPr>
                <p:cNvPr id="23" name="Raven puščični povezovalnik 22"/>
                <p:cNvCxnSpPr/>
                <p:nvPr/>
              </p:nvCxnSpPr>
              <p:spPr bwMode="auto">
                <a:xfrm flipV="1">
                  <a:off x="5813618" y="6182675"/>
                  <a:ext cx="774665" cy="107907"/>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pic>
            <p:nvPicPr>
              <p:cNvPr id="160782" name="Slika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0568" y="5445224"/>
                <a:ext cx="10383376" cy="747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0783" name="Skupina 18"/>
              <p:cNvGrpSpPr>
                <a:grpSpLocks/>
              </p:cNvGrpSpPr>
              <p:nvPr/>
            </p:nvGrpSpPr>
            <p:grpSpPr bwMode="auto">
              <a:xfrm>
                <a:off x="1639336" y="5635850"/>
                <a:ext cx="4837552" cy="961502"/>
                <a:chOff x="1639336" y="5635850"/>
                <a:chExt cx="4837552" cy="961502"/>
              </a:xfrm>
            </p:grpSpPr>
            <p:sp>
              <p:nvSpPr>
                <p:cNvPr id="160784" name="PoljeZBesedilom 17"/>
                <p:cNvSpPr txBox="1">
                  <a:spLocks noChangeArrowheads="1"/>
                </p:cNvSpPr>
                <p:nvPr/>
              </p:nvSpPr>
              <p:spPr bwMode="auto">
                <a:xfrm>
                  <a:off x="4510580" y="5951239"/>
                  <a:ext cx="196630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solidFill>
                        <a:srgbClr val="FF9933"/>
                      </a:solidFill>
                    </a:rPr>
                    <a:t>Parcialni odvod (razlika) z </a:t>
                  </a:r>
                </a:p>
                <a:p>
                  <a:pPr eaLnBrk="1" hangingPunct="1">
                    <a:spcBef>
                      <a:spcPct val="0"/>
                    </a:spcBef>
                    <a:buFontTx/>
                    <a:buNone/>
                  </a:pPr>
                  <a:r>
                    <a:rPr lang="sl-SI" altLang="en-US" sz="1200">
                      <a:solidFill>
                        <a:srgbClr val="FF9933"/>
                      </a:solidFill>
                    </a:rPr>
                    <a:t>opazovane na referenčno </a:t>
                  </a:r>
                </a:p>
                <a:p>
                  <a:pPr eaLnBrk="1" hangingPunct="1">
                    <a:spcBef>
                      <a:spcPct val="0"/>
                    </a:spcBef>
                    <a:buFontTx/>
                    <a:buNone/>
                  </a:pPr>
                  <a:r>
                    <a:rPr lang="sl-SI" altLang="en-US" sz="1200">
                      <a:solidFill>
                        <a:srgbClr val="FF9933"/>
                      </a:solidFill>
                    </a:rPr>
                    <a:t>sliko</a:t>
                  </a:r>
                </a:p>
              </p:txBody>
            </p:sp>
            <p:cxnSp>
              <p:nvCxnSpPr>
                <p:cNvPr id="22" name="Raven puščični povezovalnik 21"/>
                <p:cNvCxnSpPr>
                  <a:endCxn id="15" idx="5"/>
                </p:cNvCxnSpPr>
                <p:nvPr/>
              </p:nvCxnSpPr>
              <p:spPr bwMode="auto">
                <a:xfrm flipH="1" flipV="1">
                  <a:off x="3050198" y="5989582"/>
                  <a:ext cx="1522344" cy="284049"/>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5" name="Elipsa 14"/>
                <p:cNvSpPr/>
                <p:nvPr/>
              </p:nvSpPr>
              <p:spPr>
                <a:xfrm>
                  <a:off x="1638973" y="5635710"/>
                  <a:ext cx="1654101" cy="415759"/>
                </a:xfrm>
                <a:prstGeom prst="ellipse">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grpSp>
        <p:sp>
          <p:nvSpPr>
            <p:cNvPr id="160779" name="PoljeZBesedilom 23"/>
            <p:cNvSpPr txBox="1">
              <a:spLocks noChangeArrowheads="1"/>
            </p:cNvSpPr>
            <p:nvPr/>
          </p:nvSpPr>
          <p:spPr bwMode="auto">
            <a:xfrm>
              <a:off x="8830304" y="5579408"/>
              <a:ext cx="25519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000" b="1"/>
                <a:t>2</a:t>
              </a:r>
              <a:endParaRPr lang="en-US" altLang="en-US" sz="1000" b="1"/>
            </a:p>
          </p:txBody>
        </p:sp>
      </p:grpSp>
    </p:spTree>
  </p:cSld>
  <p:clrMapOvr>
    <a:masterClrMapping/>
  </p:clrMapOvr>
  <p:transition>
    <p:cove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6281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57BFCB5-79AD-42FE-BC0F-F95D76D4D4AD}" type="slidenum">
              <a:rPr lang="en-GB" altLang="en-US" sz="1400" smtClean="0"/>
              <a:pPr>
                <a:spcBef>
                  <a:spcPct val="0"/>
                </a:spcBef>
                <a:buFontTx/>
                <a:buNone/>
              </a:pPr>
              <a:t>82</a:t>
            </a:fld>
            <a:endParaRPr lang="en-GB" altLang="en-US" sz="1400"/>
          </a:p>
        </p:txBody>
      </p:sp>
      <p:sp>
        <p:nvSpPr>
          <p:cNvPr id="162820" name="Rectangle 2"/>
          <p:cNvSpPr>
            <a:spLocks noGrp="1" noChangeArrowheads="1"/>
          </p:cNvSpPr>
          <p:nvPr>
            <p:ph type="ctrTitle"/>
          </p:nvPr>
        </p:nvSpPr>
        <p:spPr>
          <a:xfrm>
            <a:off x="250825" y="188913"/>
            <a:ext cx="8424863" cy="647700"/>
          </a:xfrm>
        </p:spPr>
        <p:txBody>
          <a:bodyPr/>
          <a:lstStyle/>
          <a:p>
            <a:pPr defTabSz="912813" eaLnBrk="1" hangingPunct="1"/>
            <a:r>
              <a:rPr lang="sl-SI" altLang="en-US" sz="2800" b="1"/>
              <a:t>AFINA PORAVNAVA SLIK (2)</a:t>
            </a:r>
            <a:endParaRPr lang="en-GB" altLang="en-US" sz="2000"/>
          </a:p>
        </p:txBody>
      </p:sp>
      <p:sp>
        <p:nvSpPr>
          <p:cNvPr id="162821" name="TextBox 5"/>
          <p:cNvSpPr txBox="1">
            <a:spLocks noChangeArrowheads="1"/>
          </p:cNvSpPr>
          <p:nvPr/>
        </p:nvSpPr>
        <p:spPr bwMode="auto">
          <a:xfrm>
            <a:off x="614363" y="836613"/>
            <a:ext cx="798988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startAt="6"/>
            </a:pPr>
            <a:r>
              <a:rPr lang="sl-SI" altLang="en-US" sz="1600"/>
              <a:t>Vsoto kvadriranih razlik pikslov na slikah razvijemo v:</a:t>
            </a:r>
          </a:p>
          <a:p>
            <a:pPr eaLnBrk="1" hangingPunct="1">
              <a:spcBef>
                <a:spcPts val="600"/>
              </a:spcBef>
              <a:buFontTx/>
              <a:buAutoNum type="arabicPeriod" startAt="6"/>
            </a:pPr>
            <a:endParaRPr lang="sl-SI" altLang="en-US" sz="1600"/>
          </a:p>
          <a:p>
            <a:pPr eaLnBrk="1" hangingPunct="1">
              <a:spcBef>
                <a:spcPts val="600"/>
              </a:spcBef>
              <a:buFontTx/>
              <a:buNone/>
            </a:pPr>
            <a:endParaRPr lang="sl-SI" altLang="en-US" sz="1600"/>
          </a:p>
          <a:p>
            <a:pPr eaLnBrk="1" hangingPunct="1">
              <a:spcBef>
                <a:spcPts val="600"/>
              </a:spcBef>
              <a:buFontTx/>
              <a:buAutoNum type="arabicPeriod" startAt="7"/>
            </a:pPr>
            <a:r>
              <a:rPr lang="sl-SI" altLang="en-US" sz="1600"/>
              <a:t>Pri odvodih izpustimo koordinate pikslov in uvedimo naslednji funkciji:</a:t>
            </a:r>
          </a:p>
          <a:p>
            <a:pPr eaLnBrk="1" hangingPunct="1">
              <a:spcBef>
                <a:spcPts val="600"/>
              </a:spcBef>
              <a:buFontTx/>
              <a:buNone/>
            </a:pPr>
            <a:r>
              <a:rPr lang="sl-SI" altLang="en-US" sz="1600"/>
              <a:t>	</a:t>
            </a:r>
            <a:r>
              <a:rPr lang="sl-SI" altLang="en-US" sz="1600" i="1"/>
              <a:t>k</a:t>
            </a:r>
            <a:r>
              <a:rPr lang="sl-SI" altLang="en-US" sz="1600"/>
              <a:t> = </a:t>
            </a:r>
            <a:r>
              <a:rPr lang="sl-SI" altLang="en-US" sz="1600" i="1"/>
              <a:t>p</a:t>
            </a:r>
            <a:r>
              <a:rPr lang="sl-SI" altLang="en-US" sz="1600" baseline="-25000"/>
              <a:t>2,1</a:t>
            </a:r>
            <a:r>
              <a:rPr lang="sl-SI" altLang="en-US" sz="1600"/>
              <a:t> + </a:t>
            </a:r>
            <a:r>
              <a:rPr lang="sl-SI" altLang="en-US" sz="1600" i="1"/>
              <a:t>xp</a:t>
            </a:r>
            <a:r>
              <a:rPr lang="sl-SI" altLang="en-US" sz="1600" baseline="-25000"/>
              <a:t>1,</a:t>
            </a:r>
            <a:r>
              <a:rPr lang="sl-SI" altLang="en-US" sz="1600" i="1" baseline="-25000"/>
              <a:t>x</a:t>
            </a:r>
            <a:r>
              <a:rPr lang="sl-SI" altLang="en-US" sz="1600"/>
              <a:t> + </a:t>
            </a:r>
            <a:r>
              <a:rPr lang="sl-SI" altLang="en-US" sz="1600" i="1"/>
              <a:t>yp</a:t>
            </a:r>
            <a:r>
              <a:rPr lang="sl-SI" altLang="en-US" sz="1600" baseline="-25000"/>
              <a:t>1,</a:t>
            </a:r>
            <a:r>
              <a:rPr lang="sl-SI" altLang="en-US" sz="1600" i="1" baseline="-25000"/>
              <a:t>y</a:t>
            </a:r>
          </a:p>
          <a:p>
            <a:pPr eaLnBrk="1" hangingPunct="1">
              <a:spcBef>
                <a:spcPts val="600"/>
              </a:spcBef>
              <a:buFontTx/>
              <a:buNone/>
            </a:pPr>
            <a:r>
              <a:rPr lang="sl-SI" altLang="en-US" sz="1600" i="1" baseline="-25000"/>
              <a:t>	</a:t>
            </a:r>
            <a:r>
              <a:rPr lang="sl-SI" altLang="en-US" sz="1600" b="1"/>
              <a:t>c</a:t>
            </a:r>
            <a:r>
              <a:rPr lang="sl-SI" altLang="en-US" sz="1600"/>
              <a:t> = [</a:t>
            </a:r>
            <a:r>
              <a:rPr lang="sl-SI" altLang="en-US" sz="1600" i="1"/>
              <a:t>xp</a:t>
            </a:r>
            <a:r>
              <a:rPr lang="sl-SI" altLang="en-US" sz="1600" baseline="-25000"/>
              <a:t>1,</a:t>
            </a:r>
            <a:r>
              <a:rPr lang="sl-SI" altLang="en-US" sz="1600" i="1" baseline="-25000"/>
              <a:t>x   </a:t>
            </a:r>
            <a:r>
              <a:rPr lang="sl-SI" altLang="en-US" sz="1600" i="1"/>
              <a:t>yp</a:t>
            </a:r>
            <a:r>
              <a:rPr lang="sl-SI" altLang="en-US" sz="1600" baseline="-25000"/>
              <a:t>1,</a:t>
            </a:r>
            <a:r>
              <a:rPr lang="sl-SI" altLang="en-US" sz="1600" i="1" baseline="-25000"/>
              <a:t>x   </a:t>
            </a:r>
            <a:r>
              <a:rPr lang="sl-SI" altLang="en-US" sz="1600" i="1"/>
              <a:t>xp</a:t>
            </a:r>
            <a:r>
              <a:rPr lang="sl-SI" altLang="en-US" sz="1600" baseline="-25000"/>
              <a:t>1,</a:t>
            </a:r>
            <a:r>
              <a:rPr lang="sl-SI" altLang="en-US" sz="1600" i="1" baseline="-25000"/>
              <a:t>y   </a:t>
            </a:r>
            <a:r>
              <a:rPr lang="sl-SI" altLang="en-US" sz="1600" i="1"/>
              <a:t>yp</a:t>
            </a:r>
            <a:r>
              <a:rPr lang="sl-SI" altLang="en-US" sz="1600" baseline="-25000"/>
              <a:t>1,</a:t>
            </a:r>
            <a:r>
              <a:rPr lang="sl-SI" altLang="en-US" sz="1600" i="1" baseline="-25000"/>
              <a:t>y   </a:t>
            </a:r>
            <a:r>
              <a:rPr lang="sl-SI" altLang="en-US" sz="1600" i="1"/>
              <a:t>p</a:t>
            </a:r>
            <a:r>
              <a:rPr lang="sl-SI" altLang="en-US" sz="1600" baseline="-25000"/>
              <a:t>1,</a:t>
            </a:r>
            <a:r>
              <a:rPr lang="sl-SI" altLang="en-US" sz="1600" i="1" baseline="-25000"/>
              <a:t>x   </a:t>
            </a:r>
            <a:r>
              <a:rPr lang="sl-SI" altLang="en-US" sz="1600" i="1"/>
              <a:t>p</a:t>
            </a:r>
            <a:r>
              <a:rPr lang="sl-SI" altLang="en-US" sz="1600" baseline="-25000"/>
              <a:t>1,</a:t>
            </a:r>
            <a:r>
              <a:rPr lang="sl-SI" altLang="en-US" sz="1600" i="1" baseline="-25000"/>
              <a:t>y</a:t>
            </a:r>
            <a:r>
              <a:rPr lang="sl-SI" altLang="en-US" sz="1600"/>
              <a:t>]</a:t>
            </a:r>
            <a:r>
              <a:rPr lang="sl-SI" altLang="en-US" sz="1600" i="1" baseline="30000"/>
              <a:t>T</a:t>
            </a:r>
            <a:endParaRPr lang="sl-SI" altLang="en-US" sz="1600" b="1" i="1" baseline="30000"/>
          </a:p>
          <a:p>
            <a:pPr eaLnBrk="1" hangingPunct="1">
              <a:spcBef>
                <a:spcPts val="600"/>
              </a:spcBef>
              <a:buFontTx/>
              <a:buAutoNum type="arabicPeriod" startAt="8"/>
            </a:pPr>
            <a:r>
              <a:rPr lang="sl-SI" altLang="en-US" sz="1600"/>
              <a:t>Sledi:</a:t>
            </a:r>
          </a:p>
          <a:p>
            <a:pPr eaLnBrk="1" hangingPunct="1">
              <a:spcBef>
                <a:spcPct val="0"/>
              </a:spcBef>
              <a:buFontTx/>
              <a:buAutoNum type="arabicPeriod" startAt="4"/>
            </a:pPr>
            <a:endParaRPr lang="sl-SI" altLang="en-US" sz="1600"/>
          </a:p>
          <a:p>
            <a:pPr eaLnBrk="1" hangingPunct="1">
              <a:spcBef>
                <a:spcPct val="0"/>
              </a:spcBef>
              <a:buFontTx/>
              <a:buNone/>
            </a:pPr>
            <a:endParaRPr lang="sl-SI" altLang="en-US" sz="1600"/>
          </a:p>
          <a:p>
            <a:pPr eaLnBrk="1" hangingPunct="1">
              <a:spcBef>
                <a:spcPct val="0"/>
              </a:spcBef>
              <a:buFontTx/>
              <a:buAutoNum type="arabicPeriod" startAt="4"/>
            </a:pPr>
            <a:endParaRPr lang="sl-SI" altLang="en-US" sz="1600"/>
          </a:p>
          <a:p>
            <a:pPr eaLnBrk="1" hangingPunct="1">
              <a:spcBef>
                <a:spcPct val="0"/>
              </a:spcBef>
              <a:buFontTx/>
              <a:buAutoNum type="arabicPeriod" startAt="9"/>
            </a:pPr>
            <a:r>
              <a:rPr lang="sl-SI" altLang="en-US" sz="1600"/>
              <a:t>Odvajamo po afinih parametrih </a:t>
            </a:r>
            <a:r>
              <a:rPr lang="sl-SI" altLang="en-US" sz="1600" b="1"/>
              <a:t>m</a:t>
            </a:r>
            <a:r>
              <a:rPr lang="sl-SI" altLang="en-US" sz="1600"/>
              <a:t>:</a:t>
            </a:r>
          </a:p>
          <a:p>
            <a:pPr eaLnBrk="1" hangingPunct="1">
              <a:spcBef>
                <a:spcPct val="0"/>
              </a:spcBef>
              <a:buFontTx/>
              <a:buAutoNum type="arabicPeriod" startAt="9"/>
            </a:pPr>
            <a:endParaRPr lang="sl-SI" altLang="en-US" sz="1600"/>
          </a:p>
          <a:p>
            <a:pPr eaLnBrk="1" hangingPunct="1">
              <a:spcBef>
                <a:spcPts val="600"/>
              </a:spcBef>
              <a:buFontTx/>
              <a:buAutoNum type="arabicPeriod" startAt="5"/>
            </a:pPr>
            <a:endParaRPr lang="sl-SI" altLang="en-US" sz="1600"/>
          </a:p>
          <a:p>
            <a:pPr eaLnBrk="1" hangingPunct="1">
              <a:spcBef>
                <a:spcPts val="600"/>
              </a:spcBef>
              <a:buFontTx/>
              <a:buAutoNum type="arabicPeriod" startAt="10"/>
            </a:pPr>
            <a:r>
              <a:rPr lang="sl-SI" altLang="en-US" sz="1600"/>
              <a:t>Rezultat izenačimo z 0 in dobimo parametre </a:t>
            </a:r>
            <a:r>
              <a:rPr lang="sl-SI" altLang="en-US" sz="1600" b="1"/>
              <a:t>m</a:t>
            </a:r>
            <a:r>
              <a:rPr lang="sl-SI" altLang="en-US" sz="1600"/>
              <a:t> pri minimalnem odstopanju med poravnanima slikama </a:t>
            </a:r>
            <a:r>
              <a:rPr lang="sl-SI" altLang="en-US" sz="1600" i="1"/>
              <a:t>E</a:t>
            </a:r>
            <a:r>
              <a:rPr lang="sl-SI" altLang="en-US" sz="1600"/>
              <a:t>(</a:t>
            </a:r>
            <a:r>
              <a:rPr lang="sl-SI" altLang="en-US" sz="1600" b="1"/>
              <a:t>m</a:t>
            </a:r>
            <a:r>
              <a:rPr lang="sl-SI" altLang="en-US" sz="1600"/>
              <a:t>):</a:t>
            </a:r>
          </a:p>
          <a:p>
            <a:pPr eaLnBrk="1" hangingPunct="1">
              <a:spcBef>
                <a:spcPts val="600"/>
              </a:spcBef>
              <a:buFontTx/>
              <a:buNone/>
            </a:pPr>
            <a:endParaRPr lang="sl-SI" altLang="en-US" sz="1600"/>
          </a:p>
        </p:txBody>
      </p:sp>
      <p:sp>
        <p:nvSpPr>
          <p:cNvPr id="162822"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6282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162824" name="Slika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7338" y="3035300"/>
            <a:ext cx="481488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825" name="Slika 1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76538" y="5153025"/>
            <a:ext cx="2041525"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2826" name="Skupina 3"/>
          <p:cNvGrpSpPr>
            <a:grpSpLocks/>
          </p:cNvGrpSpPr>
          <p:nvPr/>
        </p:nvGrpSpPr>
        <p:grpSpPr bwMode="auto">
          <a:xfrm>
            <a:off x="2776538" y="4038600"/>
            <a:ext cx="2443162" cy="658813"/>
            <a:chOff x="2776538" y="4038600"/>
            <a:chExt cx="2443162" cy="658813"/>
          </a:xfrm>
        </p:grpSpPr>
        <p:pic>
          <p:nvPicPr>
            <p:cNvPr id="162834" name="Slika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776538" y="4038600"/>
              <a:ext cx="2443162"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35" name="PoljeZBesedilom 2"/>
            <p:cNvSpPr txBox="1">
              <a:spLocks noChangeArrowheads="1"/>
            </p:cNvSpPr>
            <p:nvPr/>
          </p:nvSpPr>
          <p:spPr bwMode="auto">
            <a:xfrm>
              <a:off x="2809900" y="4312146"/>
              <a:ext cx="2472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i="1"/>
                <a:t>d</a:t>
              </a:r>
            </a:p>
          </p:txBody>
        </p:sp>
      </p:grpSp>
      <p:grpSp>
        <p:nvGrpSpPr>
          <p:cNvPr id="162827" name="Skupina 8"/>
          <p:cNvGrpSpPr>
            <a:grpSpLocks/>
          </p:cNvGrpSpPr>
          <p:nvPr/>
        </p:nvGrpSpPr>
        <p:grpSpPr bwMode="auto">
          <a:xfrm>
            <a:off x="701675" y="1074738"/>
            <a:ext cx="7985125" cy="708025"/>
            <a:chOff x="701675" y="1074738"/>
            <a:chExt cx="7985125" cy="708025"/>
          </a:xfrm>
        </p:grpSpPr>
        <p:grpSp>
          <p:nvGrpSpPr>
            <p:cNvPr id="162828" name="Skupina 6"/>
            <p:cNvGrpSpPr>
              <a:grpSpLocks/>
            </p:cNvGrpSpPr>
            <p:nvPr/>
          </p:nvGrpSpPr>
          <p:grpSpPr bwMode="auto">
            <a:xfrm>
              <a:off x="701675" y="1074738"/>
              <a:ext cx="7985125" cy="708025"/>
              <a:chOff x="701675" y="1074738"/>
              <a:chExt cx="7985125" cy="708025"/>
            </a:xfrm>
          </p:grpSpPr>
          <p:pic>
            <p:nvPicPr>
              <p:cNvPr id="162831" name="Slika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01675" y="1074738"/>
                <a:ext cx="7985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avokotnik 4"/>
              <p:cNvSpPr/>
              <p:nvPr/>
            </p:nvSpPr>
            <p:spPr>
              <a:xfrm>
                <a:off x="5027613" y="1447800"/>
                <a:ext cx="73025" cy="128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7" name="Pravokotnik 16"/>
              <p:cNvSpPr/>
              <p:nvPr/>
            </p:nvSpPr>
            <p:spPr>
              <a:xfrm>
                <a:off x="7807325" y="1446213"/>
                <a:ext cx="73025" cy="1285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sp>
          <p:nvSpPr>
            <p:cNvPr id="162829" name="PoljeZBesedilom 3"/>
            <p:cNvSpPr txBox="1">
              <a:spLocks noChangeArrowheads="1"/>
            </p:cNvSpPr>
            <p:nvPr/>
          </p:nvSpPr>
          <p:spPr bwMode="auto">
            <a:xfrm>
              <a:off x="4932040" y="1361426"/>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1</a:t>
              </a:r>
              <a:endParaRPr lang="en-US" altLang="en-US" sz="1200"/>
            </a:p>
          </p:txBody>
        </p:sp>
        <p:sp>
          <p:nvSpPr>
            <p:cNvPr id="162830" name="PoljeZBesedilom 18"/>
            <p:cNvSpPr txBox="1">
              <a:spLocks noChangeArrowheads="1"/>
            </p:cNvSpPr>
            <p:nvPr/>
          </p:nvSpPr>
          <p:spPr bwMode="auto">
            <a:xfrm>
              <a:off x="7716469" y="1355026"/>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1</a:t>
              </a:r>
              <a:endParaRPr lang="en-US" altLang="en-US" sz="1200"/>
            </a:p>
          </p:txBody>
        </p:sp>
      </p:grpSp>
    </p:spTree>
  </p:cSld>
  <p:clrMapOvr>
    <a:masterClrMapping/>
  </p:clrMapOvr>
  <p:transition>
    <p:cove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648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D2C81F9-8069-494E-949C-FF3359424359}" type="slidenum">
              <a:rPr lang="en-GB" altLang="en-US" sz="1400" smtClean="0"/>
              <a:pPr>
                <a:spcBef>
                  <a:spcPct val="0"/>
                </a:spcBef>
                <a:buFontTx/>
                <a:buNone/>
              </a:pPr>
              <a:t>83</a:t>
            </a:fld>
            <a:endParaRPr lang="en-GB" altLang="en-US" sz="1400"/>
          </a:p>
        </p:txBody>
      </p:sp>
      <p:sp>
        <p:nvSpPr>
          <p:cNvPr id="164868" name="Rectangle 2"/>
          <p:cNvSpPr>
            <a:spLocks noGrp="1" noChangeArrowheads="1"/>
          </p:cNvSpPr>
          <p:nvPr>
            <p:ph type="ctrTitle"/>
          </p:nvPr>
        </p:nvSpPr>
        <p:spPr>
          <a:xfrm>
            <a:off x="250825" y="188913"/>
            <a:ext cx="8424863" cy="647700"/>
          </a:xfrm>
        </p:spPr>
        <p:txBody>
          <a:bodyPr/>
          <a:lstStyle/>
          <a:p>
            <a:pPr defTabSz="912813" eaLnBrk="1" hangingPunct="1"/>
            <a:r>
              <a:rPr lang="sl-SI" altLang="en-US" sz="2800" b="1"/>
              <a:t>Primer za togo in afino poravnavo slik</a:t>
            </a:r>
            <a:endParaRPr lang="en-GB" altLang="en-US" sz="2000"/>
          </a:p>
        </p:txBody>
      </p:sp>
      <p:sp>
        <p:nvSpPr>
          <p:cNvPr id="164869" name="TextBox 5"/>
          <p:cNvSpPr txBox="1">
            <a:spLocks noChangeArrowheads="1"/>
          </p:cNvSpPr>
          <p:nvPr/>
        </p:nvSpPr>
        <p:spPr bwMode="auto">
          <a:xfrm>
            <a:off x="614363" y="835025"/>
            <a:ext cx="7989887" cy="389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Opazovana in referenčna slika:</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r>
              <a:rPr lang="sl-SI" altLang="en-US" sz="1600"/>
              <a:t>Rezultat toge poravnave (premik in zasuk):</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r>
              <a:rPr lang="sl-SI" altLang="en-US" sz="1600"/>
              <a:t>Rezultat po dodatni afini poravnavi:</a:t>
            </a:r>
          </a:p>
        </p:txBody>
      </p:sp>
      <p:sp>
        <p:nvSpPr>
          <p:cNvPr id="164870"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6487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nvGrpSpPr>
          <p:cNvPr id="164872" name="Skupina 3"/>
          <p:cNvGrpSpPr>
            <a:grpSpLocks/>
          </p:cNvGrpSpPr>
          <p:nvPr/>
        </p:nvGrpSpPr>
        <p:grpSpPr bwMode="auto">
          <a:xfrm>
            <a:off x="1692275" y="1165225"/>
            <a:ext cx="4392613" cy="1293813"/>
            <a:chOff x="1691680" y="1280255"/>
            <a:chExt cx="4820768" cy="1509802"/>
          </a:xfrm>
        </p:grpSpPr>
        <p:pic>
          <p:nvPicPr>
            <p:cNvPr id="164875" name="Picture 4" descr="4.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280255"/>
              <a:ext cx="1507753" cy="1500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76" name="Picture 5" descr="5.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1288857"/>
              <a:ext cx="1508400" cy="150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esna puščica 1"/>
            <p:cNvSpPr/>
            <p:nvPr/>
          </p:nvSpPr>
          <p:spPr>
            <a:xfrm>
              <a:off x="3707448" y="1845273"/>
              <a:ext cx="721286" cy="2871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sl-SI"/>
            </a:p>
          </p:txBody>
        </p:sp>
      </p:grpSp>
      <p:pic>
        <p:nvPicPr>
          <p:cNvPr id="164873" name="Picture 21" descr="p6-4-a.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2852738"/>
            <a:ext cx="1512888"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74" name="Picture 22" descr="p6-4-b.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1538" y="4724400"/>
            <a:ext cx="1520825"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6691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C7DCAC4-37B4-458B-860A-A8197B0FD0A5}" type="slidenum">
              <a:rPr lang="en-GB" altLang="en-US" sz="1400" smtClean="0"/>
              <a:pPr>
                <a:spcBef>
                  <a:spcPct val="0"/>
                </a:spcBef>
                <a:buFontTx/>
                <a:buNone/>
              </a:pPr>
              <a:t>84</a:t>
            </a:fld>
            <a:endParaRPr lang="en-GB" altLang="en-US" sz="1400"/>
          </a:p>
        </p:txBody>
      </p:sp>
      <p:sp>
        <p:nvSpPr>
          <p:cNvPr id="166916" name="Rectangle 2"/>
          <p:cNvSpPr>
            <a:spLocks noGrp="1" noChangeArrowheads="1"/>
          </p:cNvSpPr>
          <p:nvPr>
            <p:ph type="ctrTitle"/>
          </p:nvPr>
        </p:nvSpPr>
        <p:spPr>
          <a:xfrm>
            <a:off x="250825" y="188913"/>
            <a:ext cx="8424863" cy="719137"/>
          </a:xfrm>
        </p:spPr>
        <p:txBody>
          <a:bodyPr/>
          <a:lstStyle/>
          <a:p>
            <a:pPr defTabSz="912813" eaLnBrk="1" hangingPunct="1"/>
            <a:r>
              <a:rPr lang="sl-SI" altLang="en-US" sz="2800" b="1"/>
              <a:t>AFINA PORAVNAVA S SPREMEMBAMI INTENZIVNOSTI PIKSLOV</a:t>
            </a:r>
            <a:endParaRPr lang="en-GB" altLang="en-US" sz="2000"/>
          </a:p>
        </p:txBody>
      </p:sp>
      <p:sp>
        <p:nvSpPr>
          <p:cNvPr id="166917" name="TextBox 5"/>
          <p:cNvSpPr txBox="1">
            <a:spLocks noChangeArrowheads="1"/>
          </p:cNvSpPr>
          <p:nvPr/>
        </p:nvSpPr>
        <p:spPr bwMode="auto">
          <a:xfrm>
            <a:off x="614363" y="1125538"/>
            <a:ext cx="7989887"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Doslej izpeljana afina poravnava slik temelji na predvidevanju, da sta intenzivnosti opazovane in referenčne slike konstantni. Gre za </a:t>
            </a:r>
            <a:r>
              <a:rPr lang="sl-SI" altLang="en-US" sz="1600">
                <a:solidFill>
                  <a:srgbClr val="0000FF"/>
                </a:solidFill>
              </a:rPr>
              <a:t>kontrast in svetlost</a:t>
            </a:r>
            <a:r>
              <a:rPr lang="sl-SI" altLang="en-US" sz="1600"/>
              <a:t>.</a:t>
            </a:r>
          </a:p>
          <a:p>
            <a:pPr eaLnBrk="1" hangingPunct="1">
              <a:spcBef>
                <a:spcPts val="600"/>
              </a:spcBef>
              <a:buFontTx/>
              <a:buAutoNum type="arabicPeriod"/>
            </a:pPr>
            <a:r>
              <a:rPr lang="sl-SI" altLang="en-US" sz="1600"/>
              <a:t>Če se kontrast in svetlost spreminjata, lahko v afino poravnavo slik uvedemo še dva parametra – </a:t>
            </a:r>
            <a:r>
              <a:rPr lang="sl-SI" altLang="en-US" sz="1600" i="1"/>
              <a:t>m</a:t>
            </a:r>
            <a:r>
              <a:rPr lang="sl-SI" altLang="en-US" sz="1600" baseline="-25000"/>
              <a:t>7</a:t>
            </a:r>
            <a:r>
              <a:rPr lang="sl-SI" altLang="en-US" sz="1600"/>
              <a:t> za kontrast in </a:t>
            </a:r>
            <a:r>
              <a:rPr lang="sl-SI" altLang="en-US" sz="1600" i="1"/>
              <a:t>m</a:t>
            </a:r>
            <a:r>
              <a:rPr lang="sl-SI" altLang="en-US" sz="1600" baseline="-25000"/>
              <a:t>8</a:t>
            </a:r>
            <a:r>
              <a:rPr lang="sl-SI" altLang="en-US" sz="1600"/>
              <a:t> za svetlost:</a:t>
            </a:r>
          </a:p>
          <a:p>
            <a:pPr eaLnBrk="1" hangingPunct="1">
              <a:spcBef>
                <a:spcPts val="600"/>
              </a:spcBef>
              <a:buFontTx/>
              <a:buAutoNum type="arabicPeriod"/>
            </a:pPr>
            <a:endParaRPr lang="sl-SI" altLang="en-US" sz="1600"/>
          </a:p>
          <a:p>
            <a:pPr eaLnBrk="1" hangingPunct="1">
              <a:spcBef>
                <a:spcPts val="600"/>
              </a:spcBef>
              <a:buFontTx/>
              <a:buAutoNum type="arabicPeriod"/>
            </a:pPr>
            <a:r>
              <a:rPr lang="sl-SI" altLang="en-US" sz="1600"/>
              <a:t>Z iskanjem optimuma pridemo do parametrov po enaki poti kot pri afini poravnavi:</a:t>
            </a:r>
          </a:p>
          <a:p>
            <a:pPr eaLnBrk="1" hangingPunct="1">
              <a:spcBef>
                <a:spcPts val="600"/>
              </a:spcBef>
              <a:buFontTx/>
              <a:buAutoNum type="arabicPeriod"/>
            </a:pPr>
            <a:endParaRPr lang="sl-SI" altLang="en-US" sz="1600"/>
          </a:p>
          <a:p>
            <a:pPr eaLnBrk="1" hangingPunct="1">
              <a:spcBef>
                <a:spcPts val="600"/>
              </a:spcBef>
              <a:buFontTx/>
              <a:buNone/>
            </a:pPr>
            <a:endParaRPr lang="sl-SI" altLang="en-US" sz="1600"/>
          </a:p>
          <a:p>
            <a:pPr eaLnBrk="1" hangingPunct="1">
              <a:spcBef>
                <a:spcPts val="600"/>
              </a:spcBef>
              <a:buFontTx/>
              <a:buNone/>
            </a:pPr>
            <a:endParaRPr lang="sl-SI" altLang="en-US" sz="1600"/>
          </a:p>
          <a:p>
            <a:pPr eaLnBrk="1" hangingPunct="1">
              <a:spcBef>
                <a:spcPts val="600"/>
              </a:spcBef>
              <a:buFontTx/>
              <a:buNone/>
            </a:pPr>
            <a:endParaRPr lang="sl-SI" altLang="en-US" sz="1600"/>
          </a:p>
          <a:p>
            <a:pPr eaLnBrk="1" hangingPunct="1">
              <a:spcBef>
                <a:spcPts val="600"/>
              </a:spcBef>
              <a:buFontTx/>
              <a:buNone/>
            </a:pPr>
            <a:r>
              <a:rPr lang="sl-SI" altLang="en-US" sz="1600"/>
              <a:t>	</a:t>
            </a:r>
          </a:p>
          <a:p>
            <a:pPr eaLnBrk="1" hangingPunct="1">
              <a:spcBef>
                <a:spcPts val="600"/>
              </a:spcBef>
              <a:buFontTx/>
              <a:buNone/>
            </a:pPr>
            <a:r>
              <a:rPr lang="sl-SI" altLang="en-US" sz="1600"/>
              <a:t>	pri čemer velja:</a:t>
            </a:r>
          </a:p>
          <a:p>
            <a:pPr eaLnBrk="1" hangingPunct="1">
              <a:spcBef>
                <a:spcPts val="600"/>
              </a:spcBef>
              <a:buFontTx/>
              <a:buNone/>
            </a:pPr>
            <a:r>
              <a:rPr lang="sl-SI" altLang="en-US" sz="1600" i="1"/>
              <a:t>	k</a:t>
            </a:r>
            <a:r>
              <a:rPr lang="sl-SI" altLang="en-US" sz="1600"/>
              <a:t> = </a:t>
            </a:r>
            <a:r>
              <a:rPr lang="sl-SI" altLang="en-US" sz="1600" i="1"/>
              <a:t>p</a:t>
            </a:r>
            <a:r>
              <a:rPr lang="sl-SI" altLang="en-US" sz="1600" baseline="-25000"/>
              <a:t>2,1</a:t>
            </a:r>
            <a:r>
              <a:rPr lang="sl-SI" altLang="en-US" sz="1600"/>
              <a:t> – </a:t>
            </a:r>
            <a:r>
              <a:rPr lang="sl-SI" altLang="en-US" sz="1600" i="1"/>
              <a:t>p</a:t>
            </a:r>
            <a:r>
              <a:rPr lang="sl-SI" altLang="en-US" sz="1600" baseline="-25000"/>
              <a:t>2</a:t>
            </a:r>
            <a:r>
              <a:rPr lang="sl-SI" altLang="en-US" sz="1600"/>
              <a:t> + </a:t>
            </a:r>
            <a:r>
              <a:rPr lang="sl-SI" altLang="en-US" sz="1600" i="1"/>
              <a:t>xp</a:t>
            </a:r>
            <a:r>
              <a:rPr lang="sl-SI" altLang="en-US" sz="1600" baseline="-25000"/>
              <a:t>1,</a:t>
            </a:r>
            <a:r>
              <a:rPr lang="sl-SI" altLang="en-US" sz="1600" i="1" baseline="-25000"/>
              <a:t>x</a:t>
            </a:r>
            <a:r>
              <a:rPr lang="sl-SI" altLang="en-US" sz="1600"/>
              <a:t> + </a:t>
            </a:r>
            <a:r>
              <a:rPr lang="sl-SI" altLang="en-US" sz="1600" i="1"/>
              <a:t>yp</a:t>
            </a:r>
            <a:r>
              <a:rPr lang="sl-SI" altLang="en-US" sz="1600" baseline="-25000"/>
              <a:t>1,</a:t>
            </a:r>
            <a:r>
              <a:rPr lang="sl-SI" altLang="en-US" sz="1600" i="1" baseline="-25000"/>
              <a:t>y</a:t>
            </a:r>
          </a:p>
          <a:p>
            <a:pPr eaLnBrk="1" hangingPunct="1">
              <a:spcBef>
                <a:spcPts val="600"/>
              </a:spcBef>
              <a:buFontTx/>
              <a:buNone/>
            </a:pPr>
            <a:r>
              <a:rPr lang="sl-SI" altLang="en-US" sz="1600" i="1" baseline="-25000"/>
              <a:t>	</a:t>
            </a:r>
            <a:r>
              <a:rPr lang="sl-SI" altLang="en-US" sz="1600" b="1"/>
              <a:t>c</a:t>
            </a:r>
            <a:r>
              <a:rPr lang="sl-SI" altLang="en-US" sz="1600"/>
              <a:t> = [</a:t>
            </a:r>
            <a:r>
              <a:rPr lang="sl-SI" altLang="en-US" sz="1600" i="1"/>
              <a:t>xp</a:t>
            </a:r>
            <a:r>
              <a:rPr lang="sl-SI" altLang="en-US" sz="1600" baseline="-25000"/>
              <a:t>1,</a:t>
            </a:r>
            <a:r>
              <a:rPr lang="sl-SI" altLang="en-US" sz="1600" i="1" baseline="-25000"/>
              <a:t>x   </a:t>
            </a:r>
            <a:r>
              <a:rPr lang="sl-SI" altLang="en-US" sz="1600" i="1"/>
              <a:t>yp</a:t>
            </a:r>
            <a:r>
              <a:rPr lang="sl-SI" altLang="en-US" sz="1600" baseline="-25000"/>
              <a:t>1,</a:t>
            </a:r>
            <a:r>
              <a:rPr lang="sl-SI" altLang="en-US" sz="1600" i="1" baseline="-25000"/>
              <a:t>x   </a:t>
            </a:r>
            <a:r>
              <a:rPr lang="sl-SI" altLang="en-US" sz="1600" i="1"/>
              <a:t>xp</a:t>
            </a:r>
            <a:r>
              <a:rPr lang="sl-SI" altLang="en-US" sz="1600" baseline="-25000"/>
              <a:t>1,</a:t>
            </a:r>
            <a:r>
              <a:rPr lang="sl-SI" altLang="en-US" sz="1600" i="1" baseline="-25000"/>
              <a:t>y   </a:t>
            </a:r>
            <a:r>
              <a:rPr lang="sl-SI" altLang="en-US" sz="1600" i="1"/>
              <a:t>yp</a:t>
            </a:r>
            <a:r>
              <a:rPr lang="sl-SI" altLang="en-US" sz="1600" baseline="-25000"/>
              <a:t>1,</a:t>
            </a:r>
            <a:r>
              <a:rPr lang="sl-SI" altLang="en-US" sz="1600" i="1" baseline="-25000"/>
              <a:t>y   </a:t>
            </a:r>
            <a:r>
              <a:rPr lang="sl-SI" altLang="en-US" sz="1600" i="1"/>
              <a:t>p</a:t>
            </a:r>
            <a:r>
              <a:rPr lang="sl-SI" altLang="en-US" sz="1600" baseline="-25000"/>
              <a:t>1,</a:t>
            </a:r>
            <a:r>
              <a:rPr lang="sl-SI" altLang="en-US" sz="1600" i="1" baseline="-25000"/>
              <a:t>x   </a:t>
            </a:r>
            <a:r>
              <a:rPr lang="sl-SI" altLang="en-US" sz="1600" i="1"/>
              <a:t>p</a:t>
            </a:r>
            <a:r>
              <a:rPr lang="sl-SI" altLang="en-US" sz="1600" baseline="-25000"/>
              <a:t>1,</a:t>
            </a:r>
            <a:r>
              <a:rPr lang="sl-SI" altLang="en-US" sz="1600" i="1" baseline="-25000"/>
              <a:t>y   </a:t>
            </a:r>
            <a:r>
              <a:rPr lang="sl-SI" altLang="en-US" sz="1600" i="1"/>
              <a:t>-p</a:t>
            </a:r>
            <a:r>
              <a:rPr lang="sl-SI" altLang="en-US" sz="1600" i="1" baseline="-25000"/>
              <a:t>2</a:t>
            </a:r>
            <a:r>
              <a:rPr lang="sl-SI" altLang="en-US" sz="1600" i="1"/>
              <a:t>  -1</a:t>
            </a:r>
            <a:r>
              <a:rPr lang="sl-SI" altLang="en-US" sz="1600"/>
              <a:t>]</a:t>
            </a:r>
            <a:r>
              <a:rPr lang="sl-SI" altLang="en-US" sz="1600" i="1" baseline="30000"/>
              <a:t>T</a:t>
            </a:r>
            <a:endParaRPr lang="sl-SI" altLang="en-US" sz="1600" b="1" i="1" baseline="30000"/>
          </a:p>
          <a:p>
            <a:pPr eaLnBrk="1" hangingPunct="1">
              <a:spcBef>
                <a:spcPts val="600"/>
              </a:spcBef>
              <a:buFontTx/>
              <a:buNone/>
            </a:pPr>
            <a:endParaRPr lang="sl-SI" altLang="en-US" sz="1600"/>
          </a:p>
        </p:txBody>
      </p:sp>
      <p:sp>
        <p:nvSpPr>
          <p:cNvPr id="16691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6691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66920" name="PoljeZBesedilom 8"/>
          <p:cNvSpPr txBox="1">
            <a:spLocks noChangeArrowheads="1"/>
          </p:cNvSpPr>
          <p:nvPr/>
        </p:nvSpPr>
        <p:spPr bwMode="auto">
          <a:xfrm>
            <a:off x="3635375" y="3360738"/>
            <a:ext cx="371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2400">
                <a:sym typeface="Symbol" panose="05050102010706020507" pitchFamily="18" charset="2"/>
              </a:rPr>
              <a:t></a:t>
            </a:r>
            <a:endParaRPr lang="sl-SI" altLang="en-US" sz="2400"/>
          </a:p>
        </p:txBody>
      </p:sp>
      <p:pic>
        <p:nvPicPr>
          <p:cNvPr id="166921" name="Slika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6713" y="2873375"/>
            <a:ext cx="54562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22" name="Slika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98763" y="3744913"/>
            <a:ext cx="2043112"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23" name="Slika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60450" y="2227263"/>
            <a:ext cx="54927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6896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FF59332-0080-4715-8FE4-A958E12973DE}" type="slidenum">
              <a:rPr lang="en-GB" altLang="en-US" sz="1400" smtClean="0"/>
              <a:pPr>
                <a:spcBef>
                  <a:spcPct val="0"/>
                </a:spcBef>
                <a:buFontTx/>
                <a:buNone/>
              </a:pPr>
              <a:t>85</a:t>
            </a:fld>
            <a:endParaRPr lang="en-GB" altLang="en-US" sz="1400"/>
          </a:p>
        </p:txBody>
      </p:sp>
      <p:sp>
        <p:nvSpPr>
          <p:cNvPr id="168964" name="Rectangle 2"/>
          <p:cNvSpPr>
            <a:spLocks noGrp="1" noChangeArrowheads="1"/>
          </p:cNvSpPr>
          <p:nvPr>
            <p:ph type="ctrTitle"/>
          </p:nvPr>
        </p:nvSpPr>
        <p:spPr>
          <a:xfrm>
            <a:off x="250825" y="188913"/>
            <a:ext cx="8424863" cy="719137"/>
          </a:xfrm>
        </p:spPr>
        <p:txBody>
          <a:bodyPr/>
          <a:lstStyle/>
          <a:p>
            <a:pPr defTabSz="912813" eaLnBrk="1" hangingPunct="1"/>
            <a:r>
              <a:rPr lang="sl-SI" altLang="en-US" sz="2800" b="1"/>
              <a:t>NETOGA, ELASTIČNA PORAVNAVA SLIK</a:t>
            </a:r>
            <a:endParaRPr lang="en-GB" altLang="en-US" sz="2000"/>
          </a:p>
        </p:txBody>
      </p:sp>
      <p:sp>
        <p:nvSpPr>
          <p:cNvPr id="168965" name="TextBox 5"/>
          <p:cNvSpPr txBox="1">
            <a:spLocks noChangeArrowheads="1"/>
          </p:cNvSpPr>
          <p:nvPr/>
        </p:nvSpPr>
        <p:spPr bwMode="auto">
          <a:xfrm>
            <a:off x="614363" y="836613"/>
            <a:ext cx="7989887"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Za elastično poravnavo slik je značilno, da transformacijska matrika ni enaka za celotno območje slike, temveč je lokalno spremenljiva.</a:t>
            </a:r>
          </a:p>
          <a:p>
            <a:pPr eaLnBrk="1" hangingPunct="1">
              <a:spcBef>
                <a:spcPts val="600"/>
              </a:spcBef>
              <a:buFontTx/>
              <a:buAutoNum type="arabicPeriod"/>
            </a:pPr>
            <a:r>
              <a:rPr lang="sl-SI" altLang="en-US" sz="1600"/>
              <a:t>Obstaja mnogo metod, med preprostejšimi je uporaba lokalne afine poravnave:</a:t>
            </a:r>
          </a:p>
          <a:p>
            <a:pPr lvl="1" eaLnBrk="1" hangingPunct="1">
              <a:spcBef>
                <a:spcPts val="600"/>
              </a:spcBef>
              <a:buFont typeface="Arial" panose="020B0604020202020204" pitchFamily="34" charset="0"/>
              <a:buChar char="•"/>
            </a:pPr>
            <a:r>
              <a:rPr lang="sl-SI" altLang="en-US" sz="1600"/>
              <a:t>predstavljena metoda za afino poravnavo lahko ujemanje slik opazuje samo na lokalno omejenih območjih (vsote v izrazih ne tečejo prek vseh pikslov slike, ampak le v okviru manjših, lokalnih oken)</a:t>
            </a:r>
          </a:p>
          <a:p>
            <a:pPr lvl="1" eaLnBrk="1" hangingPunct="1">
              <a:spcBef>
                <a:spcPts val="600"/>
              </a:spcBef>
              <a:buFont typeface="Arial" panose="020B0604020202020204" pitchFamily="34" charset="0"/>
              <a:buChar char="•"/>
            </a:pPr>
            <a:r>
              <a:rPr lang="sl-SI" altLang="en-US" sz="1600"/>
              <a:t>izračunani afini parametri za poravnavo (tudi za intenzivnost pikslov) veljajo samo na izbranem območju</a:t>
            </a:r>
          </a:p>
          <a:p>
            <a:pPr lvl="1" eaLnBrk="1" hangingPunct="1">
              <a:spcBef>
                <a:spcPts val="600"/>
              </a:spcBef>
              <a:buFont typeface="Arial" panose="020B0604020202020204" pitchFamily="34" charset="0"/>
              <a:buChar char="•"/>
            </a:pPr>
            <a:r>
              <a:rPr lang="sl-SI" altLang="en-US" sz="1600"/>
              <a:t>lokalna območja se poravnavajo ločeno</a:t>
            </a:r>
          </a:p>
          <a:p>
            <a:pPr lvl="1" eaLnBrk="1" hangingPunct="1">
              <a:spcBef>
                <a:spcPts val="600"/>
              </a:spcBef>
              <a:buFont typeface="Arial" panose="020B0604020202020204" pitchFamily="34" charset="0"/>
              <a:buChar char="•"/>
            </a:pPr>
            <a:r>
              <a:rPr lang="sl-SI" altLang="en-US" sz="1600">
                <a:solidFill>
                  <a:srgbClr val="FF9933"/>
                </a:solidFill>
              </a:rPr>
              <a:t>pristop je iterativen: </a:t>
            </a:r>
          </a:p>
          <a:p>
            <a:pPr lvl="1" eaLnBrk="1" hangingPunct="1">
              <a:spcBef>
                <a:spcPct val="0"/>
              </a:spcBef>
              <a:buFontTx/>
              <a:buNone/>
            </a:pPr>
            <a:r>
              <a:rPr lang="sl-SI" altLang="en-US" sz="1600">
                <a:solidFill>
                  <a:srgbClr val="FF9933"/>
                </a:solidFill>
              </a:rPr>
              <a:t>	ko poravnamo vsa območja slike, začnemo nov ciklus lokalnih poravnav</a:t>
            </a:r>
          </a:p>
          <a:p>
            <a:pPr lvl="1" eaLnBrk="1" hangingPunct="1">
              <a:spcBef>
                <a:spcPct val="0"/>
              </a:spcBef>
              <a:buFont typeface="Arial" panose="020B0604020202020204" pitchFamily="34" charset="0"/>
              <a:buChar char="•"/>
            </a:pPr>
            <a:r>
              <a:rPr lang="sl-SI" altLang="en-US" sz="1600">
                <a:solidFill>
                  <a:srgbClr val="0000FF"/>
                </a:solidFill>
              </a:rPr>
              <a:t>da dosežemo gladko prehajanje med lokalno poravnanimi območji, uvedemo v optimizacijsko funkcijo za poravnavo dodatne parametre, ki zagotavljajo zvezne prehode med območji </a:t>
            </a:r>
            <a:endParaRPr lang="sl-SI" altLang="en-US" sz="1600">
              <a:solidFill>
                <a:srgbClr val="FF9933"/>
              </a:solidFill>
            </a:endParaRPr>
          </a:p>
          <a:p>
            <a:pPr>
              <a:spcBef>
                <a:spcPct val="0"/>
              </a:spcBef>
              <a:buFontTx/>
              <a:buNone/>
            </a:pPr>
            <a:r>
              <a:rPr lang="sl-SI" altLang="en-US" sz="1600">
                <a:solidFill>
                  <a:srgbClr val="FF9933"/>
                </a:solidFill>
              </a:rPr>
              <a:t>	</a:t>
            </a:r>
            <a:r>
              <a:rPr lang="sl-SI" altLang="en-US" sz="1400">
                <a:solidFill>
                  <a:srgbClr val="FF9933"/>
                </a:solidFill>
              </a:rPr>
              <a:t>(Senthil Priaswamy</a:t>
            </a:r>
            <a:r>
              <a:rPr lang="en-US" altLang="en-US" sz="1400">
                <a:solidFill>
                  <a:srgbClr val="FF9933"/>
                </a:solidFill>
              </a:rPr>
              <a:t>,</a:t>
            </a:r>
            <a:r>
              <a:rPr lang="sl-SI" altLang="en-US" sz="1400">
                <a:solidFill>
                  <a:srgbClr val="FF9933"/>
                </a:solidFill>
              </a:rPr>
              <a:t> Hany Farid: Elastic Registration in the Presence of Intensity Variations, </a:t>
            </a:r>
            <a:r>
              <a:rPr lang="en-US" altLang="en-US" sz="1400" i="1">
                <a:solidFill>
                  <a:srgbClr val="FF9933"/>
                </a:solidFill>
                <a:hlinkClick r:id="rId3" action="ppaction://hlinkfile"/>
              </a:rPr>
              <a:t>IEEE Transactions on Medical Imaging</a:t>
            </a:r>
            <a:r>
              <a:rPr lang="sl-SI" altLang="en-US" sz="1400" i="1">
                <a:solidFill>
                  <a:srgbClr val="FF9933"/>
                </a:solidFill>
              </a:rPr>
              <a:t>, </a:t>
            </a:r>
            <a:r>
              <a:rPr lang="sl-SI" altLang="en-US" sz="1400">
                <a:solidFill>
                  <a:srgbClr val="FF9933"/>
                </a:solidFill>
              </a:rPr>
              <a:t>Vol. 22, No. 7, str. 865-874, </a:t>
            </a:r>
            <a:r>
              <a:rPr lang="en-US" altLang="en-US" sz="1400">
                <a:solidFill>
                  <a:srgbClr val="FF9933"/>
                </a:solidFill>
              </a:rPr>
              <a:t>200</a:t>
            </a:r>
            <a:r>
              <a:rPr lang="sl-SI" altLang="en-US" sz="1400">
                <a:solidFill>
                  <a:srgbClr val="FF9933"/>
                </a:solidFill>
              </a:rPr>
              <a:t>3)</a:t>
            </a:r>
          </a:p>
        </p:txBody>
      </p:sp>
      <p:sp>
        <p:nvSpPr>
          <p:cNvPr id="168966"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6896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Tree>
  </p:cSld>
  <p:clrMapOvr>
    <a:masterClrMapping/>
  </p:clrMapOvr>
  <p:transition>
    <p:cove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710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42FD455-A8CC-447D-ADDD-BF733B19FC80}" type="slidenum">
              <a:rPr lang="en-GB" altLang="en-US" sz="1400" smtClean="0"/>
              <a:pPr>
                <a:spcBef>
                  <a:spcPct val="0"/>
                </a:spcBef>
                <a:buFontTx/>
                <a:buNone/>
              </a:pPr>
              <a:t>86</a:t>
            </a:fld>
            <a:endParaRPr lang="en-GB" altLang="en-US" sz="1400"/>
          </a:p>
        </p:txBody>
      </p:sp>
      <p:sp>
        <p:nvSpPr>
          <p:cNvPr id="171012" name="Rectangle 2"/>
          <p:cNvSpPr>
            <a:spLocks noGrp="1" noChangeArrowheads="1"/>
          </p:cNvSpPr>
          <p:nvPr>
            <p:ph type="ctrTitle"/>
          </p:nvPr>
        </p:nvSpPr>
        <p:spPr>
          <a:xfrm>
            <a:off x="250825" y="188913"/>
            <a:ext cx="8424863" cy="936625"/>
          </a:xfrm>
        </p:spPr>
        <p:txBody>
          <a:bodyPr/>
          <a:lstStyle/>
          <a:p>
            <a:pPr defTabSz="912813" eaLnBrk="1" hangingPunct="1"/>
            <a:r>
              <a:rPr lang="sl-SI" altLang="en-US" sz="2800" b="1"/>
              <a:t>TOGA PORAVNAVA SLIK S POMOČJO FREKVENČNEGA PROSTORA</a:t>
            </a:r>
            <a:endParaRPr lang="en-GB" altLang="en-US" sz="2000"/>
          </a:p>
        </p:txBody>
      </p:sp>
      <p:sp>
        <p:nvSpPr>
          <p:cNvPr id="171013" name="TextBox 5"/>
          <p:cNvSpPr txBox="1">
            <a:spLocks noChangeArrowheads="1"/>
          </p:cNvSpPr>
          <p:nvPr/>
        </p:nvSpPr>
        <p:spPr bwMode="auto">
          <a:xfrm>
            <a:off x="614363" y="1196975"/>
            <a:ext cx="7989887"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Toga poravnava slik se v slikovnem prostoru izvede iterativno in je lahko časovno zahtevna.</a:t>
            </a:r>
          </a:p>
          <a:p>
            <a:pPr eaLnBrk="1" hangingPunct="1">
              <a:spcBef>
                <a:spcPts val="600"/>
              </a:spcBef>
              <a:buFontTx/>
              <a:buAutoNum type="arabicPeriod"/>
            </a:pPr>
            <a:r>
              <a:rPr lang="sl-SI" altLang="en-US" sz="1600"/>
              <a:t>Če izvorno in ciljno sliko najprej transformiramo v frekvenčni prostor, lahko uporabimo dva postopka, ki v frekvenčnem prostoru delujeta v zaključeni obliki, brez iterativnega poskušanja pri iskanju parametrov premika in zasuka.</a:t>
            </a:r>
          </a:p>
          <a:p>
            <a:pPr eaLnBrk="1" hangingPunct="1">
              <a:spcBef>
                <a:spcPts val="600"/>
              </a:spcBef>
              <a:buFontTx/>
              <a:buAutoNum type="arabicPeriod"/>
            </a:pPr>
            <a:r>
              <a:rPr lang="sl-SI" altLang="en-US" sz="1600"/>
              <a:t>2D hitra Fourierova transformacija (FFT2) zagotovi, da je iskanje parametrov za poravnavo časovno optimalno.</a:t>
            </a:r>
          </a:p>
          <a:p>
            <a:pPr eaLnBrk="1" hangingPunct="1">
              <a:spcBef>
                <a:spcPts val="600"/>
              </a:spcBef>
              <a:buFontTx/>
              <a:buAutoNum type="arabicPeriod"/>
            </a:pPr>
            <a:r>
              <a:rPr lang="sl-SI" altLang="en-US" sz="1600"/>
              <a:t>Dejansko poravnavo slik izvedemo v slikovnem prostoru, potem ko najdemo parametre premika in zasuka s pomočjo frekvenčnega prostora.</a:t>
            </a:r>
          </a:p>
          <a:p>
            <a:pPr eaLnBrk="1" hangingPunct="1">
              <a:spcBef>
                <a:spcPts val="600"/>
              </a:spcBef>
              <a:buFontTx/>
              <a:buAutoNum type="arabicPeriod"/>
            </a:pPr>
            <a:r>
              <a:rPr lang="sl-SI" altLang="en-US" sz="1600"/>
              <a:t>Imejmo sliko </a:t>
            </a:r>
            <a:r>
              <a:rPr lang="sl-SI" altLang="en-US" sz="1600" b="1"/>
              <a:t>I</a:t>
            </a:r>
            <a:r>
              <a:rPr lang="sl-SI" altLang="en-US" sz="1600"/>
              <a:t> s piksli </a:t>
            </a:r>
            <a:r>
              <a:rPr lang="sl-SI" altLang="en-US" sz="1600" i="1"/>
              <a:t>x</a:t>
            </a:r>
            <a:r>
              <a:rPr lang="sl-SI" altLang="en-US" sz="1600"/>
              <a:t>(</a:t>
            </a:r>
            <a:r>
              <a:rPr lang="sl-SI" altLang="en-US" sz="1600" i="1"/>
              <a:t>n</a:t>
            </a:r>
            <a:r>
              <a:rPr lang="sl-SI" altLang="en-US" sz="1600"/>
              <a:t>,</a:t>
            </a:r>
            <a:r>
              <a:rPr lang="sl-SI" altLang="en-US" sz="1600" i="1"/>
              <a:t>m</a:t>
            </a:r>
            <a:r>
              <a:rPr lang="sl-SI" altLang="en-US" sz="1600"/>
              <a:t>) in dimenzijami </a:t>
            </a:r>
            <a:r>
              <a:rPr lang="sl-SI" altLang="en-US" sz="1600" i="1"/>
              <a:t>N</a:t>
            </a:r>
            <a:r>
              <a:rPr lang="sl-SI" altLang="en-US" sz="1600">
                <a:sym typeface="Symbol" panose="05050102010706020507" pitchFamily="18" charset="2"/>
              </a:rPr>
              <a:t></a:t>
            </a:r>
            <a:r>
              <a:rPr lang="sl-SI" altLang="en-US" sz="1600" i="1">
                <a:sym typeface="Symbol" panose="05050102010706020507" pitchFamily="18" charset="2"/>
              </a:rPr>
              <a:t>N</a:t>
            </a:r>
            <a:r>
              <a:rPr lang="sl-SI" altLang="en-US" sz="1600"/>
              <a:t>. 2D Fourierova transformacija zanjo se glasi:</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r>
              <a:rPr lang="sl-SI" altLang="en-US" sz="1600"/>
              <a:t>Vzemimo, da sliko </a:t>
            </a:r>
            <a:r>
              <a:rPr lang="sl-SI" altLang="en-US" sz="1600" b="1"/>
              <a:t>I</a:t>
            </a:r>
            <a:r>
              <a:rPr lang="sl-SI" altLang="en-US" sz="1600"/>
              <a:t> zasučemo in premaknemo, tako da se spremenijo koordinate:   </a:t>
            </a:r>
          </a:p>
          <a:p>
            <a:pPr eaLnBrk="1" hangingPunct="1">
              <a:spcBef>
                <a:spcPts val="600"/>
              </a:spcBef>
              <a:buFontTx/>
              <a:buAutoNum type="arabicPeriod"/>
            </a:pPr>
            <a:endParaRPr lang="sl-SI" altLang="en-US" sz="1600"/>
          </a:p>
          <a:p>
            <a:pPr eaLnBrk="1" hangingPunct="1">
              <a:spcBef>
                <a:spcPct val="0"/>
              </a:spcBef>
              <a:buFontTx/>
              <a:buNone/>
            </a:pPr>
            <a:r>
              <a:rPr lang="sl-SI" altLang="en-US" sz="1600"/>
              <a:t>                                                           </a:t>
            </a:r>
            <a:r>
              <a:rPr lang="sl-SI" altLang="en-US" sz="2800">
                <a:sym typeface="Symbol" panose="05050102010706020507" pitchFamily="18" charset="2"/>
              </a:rPr>
              <a:t>   </a:t>
            </a:r>
            <a:endParaRPr lang="sl-SI" altLang="en-US" sz="2800"/>
          </a:p>
        </p:txBody>
      </p:sp>
      <p:sp>
        <p:nvSpPr>
          <p:cNvPr id="171014"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7101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nvGrpSpPr>
          <p:cNvPr id="171016" name="Group 22"/>
          <p:cNvGrpSpPr>
            <a:grpSpLocks/>
          </p:cNvGrpSpPr>
          <p:nvPr/>
        </p:nvGrpSpPr>
        <p:grpSpPr bwMode="auto">
          <a:xfrm>
            <a:off x="2411413" y="5229225"/>
            <a:ext cx="1346200" cy="720725"/>
            <a:chOff x="2411760" y="5229200"/>
            <a:chExt cx="1345420" cy="720080"/>
          </a:xfrm>
        </p:grpSpPr>
        <p:sp>
          <p:nvSpPr>
            <p:cNvPr id="11" name="Rectangle 10"/>
            <p:cNvSpPr/>
            <p:nvPr/>
          </p:nvSpPr>
          <p:spPr>
            <a:xfrm>
              <a:off x="2411760" y="5229200"/>
              <a:ext cx="315729" cy="720080"/>
            </a:xfrm>
            <a:prstGeom prst="rect">
              <a:avLst/>
            </a:prstGeom>
            <a:noFill/>
            <a:ln>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13" name="Straight Arrow Connector 12"/>
            <p:cNvCxnSpPr/>
            <p:nvPr/>
          </p:nvCxnSpPr>
          <p:spPr>
            <a:xfrm flipH="1" flipV="1">
              <a:off x="2729076" y="5300574"/>
              <a:ext cx="820261" cy="144333"/>
            </a:xfrm>
            <a:prstGeom prst="straightConnector1">
              <a:avLst/>
            </a:prstGeom>
            <a:ln w="12700">
              <a:solidFill>
                <a:srgbClr val="FF9933"/>
              </a:solidFill>
              <a:tailEnd type="arrow"/>
            </a:ln>
          </p:spPr>
          <p:style>
            <a:lnRef idx="1">
              <a:schemeClr val="accent1"/>
            </a:lnRef>
            <a:fillRef idx="0">
              <a:schemeClr val="accent1"/>
            </a:fillRef>
            <a:effectRef idx="0">
              <a:schemeClr val="accent1"/>
            </a:effectRef>
            <a:fontRef idx="minor">
              <a:schemeClr val="tx1"/>
            </a:fontRef>
          </p:style>
        </p:cxnSp>
        <p:sp>
          <p:nvSpPr>
            <p:cNvPr id="171026" name="TextBox 19"/>
            <p:cNvSpPr txBox="1">
              <a:spLocks noChangeArrowheads="1"/>
            </p:cNvSpPr>
            <p:nvPr/>
          </p:nvSpPr>
          <p:spPr bwMode="auto">
            <a:xfrm>
              <a:off x="3503584" y="5271056"/>
              <a:ext cx="2535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t</a:t>
              </a:r>
              <a:endParaRPr lang="en-GB" altLang="en-US" sz="1600" b="1"/>
            </a:p>
          </p:txBody>
        </p:sp>
      </p:grpSp>
      <p:grpSp>
        <p:nvGrpSpPr>
          <p:cNvPr id="171017" name="Group 21"/>
          <p:cNvGrpSpPr>
            <a:grpSpLocks/>
          </p:cNvGrpSpPr>
          <p:nvPr/>
        </p:nvGrpSpPr>
        <p:grpSpPr bwMode="auto">
          <a:xfrm>
            <a:off x="1778000" y="5229225"/>
            <a:ext cx="2074863" cy="720725"/>
            <a:chOff x="1778202" y="5229200"/>
            <a:chExt cx="2074848" cy="720080"/>
          </a:xfrm>
        </p:grpSpPr>
        <p:sp>
          <p:nvSpPr>
            <p:cNvPr id="10" name="Rectangle 9"/>
            <p:cNvSpPr/>
            <p:nvPr/>
          </p:nvSpPr>
          <p:spPr>
            <a:xfrm>
              <a:off x="1778202" y="5229200"/>
              <a:ext cx="576259" cy="720080"/>
            </a:xfrm>
            <a:prstGeom prst="rect">
              <a:avLst/>
            </a:prstGeom>
            <a:noFill/>
            <a:ln>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15" name="Straight Arrow Connector 14"/>
            <p:cNvCxnSpPr/>
            <p:nvPr/>
          </p:nvCxnSpPr>
          <p:spPr>
            <a:xfrm flipH="1">
              <a:off x="2051250" y="5733573"/>
              <a:ext cx="1512877" cy="215707"/>
            </a:xfrm>
            <a:prstGeom prst="straightConnector1">
              <a:avLst/>
            </a:prstGeom>
            <a:ln w="12700">
              <a:solidFill>
                <a:srgbClr val="FF9933"/>
              </a:solidFill>
              <a:tailEnd type="arrow"/>
            </a:ln>
          </p:spPr>
          <p:style>
            <a:lnRef idx="1">
              <a:schemeClr val="accent1"/>
            </a:lnRef>
            <a:fillRef idx="0">
              <a:schemeClr val="accent1"/>
            </a:fillRef>
            <a:effectRef idx="0">
              <a:schemeClr val="accent1"/>
            </a:effectRef>
            <a:fontRef idx="minor">
              <a:schemeClr val="tx1"/>
            </a:fontRef>
          </p:style>
        </p:cxnSp>
        <p:sp>
          <p:nvSpPr>
            <p:cNvPr id="171023" name="TextBox 20"/>
            <p:cNvSpPr txBox="1">
              <a:spLocks noChangeArrowheads="1"/>
            </p:cNvSpPr>
            <p:nvPr/>
          </p:nvSpPr>
          <p:spPr bwMode="auto">
            <a:xfrm>
              <a:off x="3520908" y="5554082"/>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R</a:t>
              </a:r>
              <a:endParaRPr lang="en-GB" altLang="en-US" sz="1600" b="1"/>
            </a:p>
          </p:txBody>
        </p:sp>
      </p:grpSp>
      <p:pic>
        <p:nvPicPr>
          <p:cNvPr id="171018" name="Slika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9650" y="4264025"/>
            <a:ext cx="25273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019" name="Slika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7913" y="5240338"/>
            <a:ext cx="2103437"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020" name="Slika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65675" y="5438775"/>
            <a:ext cx="136842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Box 5"/>
          <p:cNvSpPr txBox="1">
            <a:spLocks noChangeArrowheads="1"/>
          </p:cNvSpPr>
          <p:nvPr/>
        </p:nvSpPr>
        <p:spPr bwMode="auto">
          <a:xfrm>
            <a:off x="614363" y="1196975"/>
            <a:ext cx="7989887"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Izrazimo koordinate izvorne slike s koordinatami transformirane slike:</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1200"/>
              </a:spcBef>
              <a:buFontTx/>
              <a:buAutoNum type="arabicPeriod"/>
            </a:pPr>
            <a:r>
              <a:rPr lang="sl-SI" altLang="en-US" sz="1600"/>
              <a:t>2D Fourierova transformacija premaknjene in zasukane slike </a:t>
            </a:r>
            <a:r>
              <a:rPr lang="sl-SI" altLang="en-US" sz="1600" b="1"/>
              <a:t>I</a:t>
            </a:r>
            <a:r>
              <a:rPr lang="sl-SI" altLang="en-US" sz="1600" baseline="-25000"/>
              <a:t>1</a:t>
            </a:r>
            <a:r>
              <a:rPr lang="sl-SI" altLang="en-US" sz="1600"/>
              <a:t> je tako:</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None/>
            </a:pPr>
            <a:endParaRPr lang="sl-SI" altLang="en-US" sz="1600"/>
          </a:p>
        </p:txBody>
      </p:sp>
      <p:sp>
        <p:nvSpPr>
          <p:cNvPr id="17305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7306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A41A2FF-0656-40CE-AF2C-07762B14DFD7}" type="slidenum">
              <a:rPr lang="en-GB" altLang="en-US" sz="1400" smtClean="0"/>
              <a:pPr>
                <a:spcBef>
                  <a:spcPct val="0"/>
                </a:spcBef>
                <a:buFontTx/>
                <a:buNone/>
              </a:pPr>
              <a:t>87</a:t>
            </a:fld>
            <a:endParaRPr lang="en-GB" altLang="en-US" sz="1400"/>
          </a:p>
        </p:txBody>
      </p:sp>
      <p:sp>
        <p:nvSpPr>
          <p:cNvPr id="173061" name="Rectangle 2"/>
          <p:cNvSpPr>
            <a:spLocks noGrp="1" noChangeArrowheads="1"/>
          </p:cNvSpPr>
          <p:nvPr>
            <p:ph type="ctrTitle"/>
          </p:nvPr>
        </p:nvSpPr>
        <p:spPr>
          <a:xfrm>
            <a:off x="250825" y="188913"/>
            <a:ext cx="8424863" cy="936625"/>
          </a:xfrm>
        </p:spPr>
        <p:txBody>
          <a:bodyPr/>
          <a:lstStyle/>
          <a:p>
            <a:pPr defTabSz="912813" eaLnBrk="1" hangingPunct="1"/>
            <a:r>
              <a:rPr lang="sl-SI" altLang="en-US" sz="2800" b="1"/>
              <a:t>TOGA PORAVNAVA SLIK S POMOČJO FREKVENČNEGA PROSTORA (2)</a:t>
            </a:r>
            <a:endParaRPr lang="en-GB" altLang="en-US" sz="2000"/>
          </a:p>
        </p:txBody>
      </p:sp>
      <p:sp>
        <p:nvSpPr>
          <p:cNvPr id="173062"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7306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nvGrpSpPr>
          <p:cNvPr id="173064" name="Group 18"/>
          <p:cNvGrpSpPr>
            <a:grpSpLocks/>
          </p:cNvGrpSpPr>
          <p:nvPr/>
        </p:nvGrpSpPr>
        <p:grpSpPr bwMode="auto">
          <a:xfrm>
            <a:off x="6084888" y="4760913"/>
            <a:ext cx="3024187" cy="1322387"/>
            <a:chOff x="3059833" y="4696678"/>
            <a:chExt cx="3023951" cy="1323677"/>
          </a:xfrm>
        </p:grpSpPr>
        <p:sp>
          <p:nvSpPr>
            <p:cNvPr id="173070" name="TextBox 9"/>
            <p:cNvSpPr txBox="1">
              <a:spLocks noChangeArrowheads="1"/>
            </p:cNvSpPr>
            <p:nvPr/>
          </p:nvSpPr>
          <p:spPr bwMode="auto">
            <a:xfrm>
              <a:off x="3059833" y="5065439"/>
              <a:ext cx="3023951" cy="954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solidFill>
                    <a:srgbClr val="FF9933"/>
                  </a:solidFill>
                </a:rPr>
                <a:t>zasuk in premik zapišemo ločeno –</a:t>
              </a:r>
            </a:p>
            <a:p>
              <a:pPr eaLnBrk="1" hangingPunct="1">
                <a:spcBef>
                  <a:spcPct val="0"/>
                </a:spcBef>
                <a:buFontTx/>
                <a:buNone/>
              </a:pPr>
              <a:r>
                <a:rPr lang="sl-SI" altLang="en-US" sz="1400">
                  <a:solidFill>
                    <a:srgbClr val="0000FF"/>
                  </a:solidFill>
                </a:rPr>
                <a:t>to je osnova za določanje parametrov </a:t>
              </a:r>
            </a:p>
            <a:p>
              <a:pPr eaLnBrk="1" hangingPunct="1">
                <a:spcBef>
                  <a:spcPct val="0"/>
                </a:spcBef>
                <a:buFontTx/>
                <a:buNone/>
              </a:pPr>
              <a:r>
                <a:rPr lang="sl-SI" altLang="en-US" sz="1400">
                  <a:solidFill>
                    <a:srgbClr val="0000FF"/>
                  </a:solidFill>
                </a:rPr>
                <a:t>zasuka in premika </a:t>
              </a:r>
              <a:endParaRPr lang="en-GB" altLang="en-US" sz="1400">
                <a:solidFill>
                  <a:srgbClr val="0000FF"/>
                </a:solidFill>
              </a:endParaRPr>
            </a:p>
          </p:txBody>
        </p:sp>
        <p:grpSp>
          <p:nvGrpSpPr>
            <p:cNvPr id="173071" name="Group 17"/>
            <p:cNvGrpSpPr>
              <a:grpSpLocks/>
            </p:cNvGrpSpPr>
            <p:nvPr/>
          </p:nvGrpSpPr>
          <p:grpSpPr bwMode="auto">
            <a:xfrm>
              <a:off x="3750897" y="4696678"/>
              <a:ext cx="1123087" cy="374554"/>
              <a:chOff x="3779925" y="4638622"/>
              <a:chExt cx="1123087" cy="374554"/>
            </a:xfrm>
          </p:grpSpPr>
          <p:cxnSp>
            <p:nvCxnSpPr>
              <p:cNvPr id="12" name="Straight Arrow Connector 11"/>
              <p:cNvCxnSpPr/>
              <p:nvPr/>
            </p:nvCxnSpPr>
            <p:spPr>
              <a:xfrm flipH="1" flipV="1">
                <a:off x="3779369" y="4652923"/>
                <a:ext cx="720669" cy="360715"/>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4485752" y="4638622"/>
                <a:ext cx="417479" cy="375015"/>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grpSp>
      <p:pic>
        <p:nvPicPr>
          <p:cNvPr id="173065" name="Slika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5213" y="1484313"/>
            <a:ext cx="608965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3066" name="Skupina 10"/>
          <p:cNvGrpSpPr>
            <a:grpSpLocks/>
          </p:cNvGrpSpPr>
          <p:nvPr/>
        </p:nvGrpSpPr>
        <p:grpSpPr bwMode="auto">
          <a:xfrm>
            <a:off x="900113" y="5038725"/>
            <a:ext cx="1727200" cy="1054100"/>
            <a:chOff x="467544" y="4750609"/>
            <a:chExt cx="1728192" cy="1054655"/>
          </a:xfrm>
        </p:grpSpPr>
        <p:sp>
          <p:nvSpPr>
            <p:cNvPr id="173068" name="PoljeZBesedilom 21"/>
            <p:cNvSpPr txBox="1">
              <a:spLocks noChangeArrowheads="1"/>
            </p:cNvSpPr>
            <p:nvPr/>
          </p:nvSpPr>
          <p:spPr bwMode="auto">
            <a:xfrm>
              <a:off x="467544" y="4974267"/>
              <a:ext cx="172819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solidFill>
                    <a:srgbClr val="00B050"/>
                  </a:solidFill>
                </a:rPr>
                <a:t>Privzemimo, da tudi zasukana slika ostane v istih dimenzijah, kot je bila originalna slika. </a:t>
              </a:r>
            </a:p>
          </p:txBody>
        </p:sp>
        <p:cxnSp>
          <p:nvCxnSpPr>
            <p:cNvPr id="10" name="Raven puščični povezovalnik 9"/>
            <p:cNvCxnSpPr/>
            <p:nvPr/>
          </p:nvCxnSpPr>
          <p:spPr>
            <a:xfrm flipV="1">
              <a:off x="1331640" y="4750609"/>
              <a:ext cx="648072" cy="262076"/>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pic>
        <p:nvPicPr>
          <p:cNvPr id="173067" name="Slika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2138" y="2519363"/>
            <a:ext cx="7959725" cy="249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75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165DEC0-027D-4E79-B26C-6E3F4CFC6315}" type="slidenum">
              <a:rPr lang="en-GB" altLang="en-US" sz="1400" smtClean="0"/>
              <a:pPr>
                <a:spcBef>
                  <a:spcPct val="0"/>
                </a:spcBef>
                <a:buFontTx/>
                <a:buNone/>
              </a:pPr>
              <a:t>88</a:t>
            </a:fld>
            <a:endParaRPr lang="en-GB" altLang="en-US" sz="1400"/>
          </a:p>
        </p:txBody>
      </p:sp>
      <p:sp>
        <p:nvSpPr>
          <p:cNvPr id="175108"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TOGA PORAVNAVA SLIK S POMOČJO FREKVENČNEGA PROSTORA – ZASUK</a:t>
            </a:r>
            <a:endParaRPr lang="en-GB" altLang="en-US" sz="2000"/>
          </a:p>
        </p:txBody>
      </p:sp>
      <p:sp>
        <p:nvSpPr>
          <p:cNvPr id="175109" name="TextBox 5"/>
          <p:cNvSpPr txBox="1">
            <a:spLocks noChangeArrowheads="1"/>
          </p:cNvSpPr>
          <p:nvPr/>
        </p:nvSpPr>
        <p:spPr bwMode="auto">
          <a:xfrm>
            <a:off x="614363" y="1125538"/>
            <a:ext cx="7989887"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Izračunajmo amplitudni spekter, tj. absolutno vrednost za </a:t>
            </a:r>
            <a:r>
              <a:rPr lang="sl-SI" altLang="en-US" sz="1600" i="1"/>
              <a:t>X</a:t>
            </a:r>
            <a:r>
              <a:rPr lang="sl-SI" altLang="en-US" sz="1600" baseline="-25000"/>
              <a:t>1</a:t>
            </a:r>
            <a:r>
              <a:rPr lang="sl-SI" altLang="en-US" sz="1600"/>
              <a:t>(</a:t>
            </a:r>
            <a:r>
              <a:rPr lang="sl-SI" altLang="en-US" sz="1600" i="1"/>
              <a:t>k</a:t>
            </a:r>
            <a:r>
              <a:rPr lang="sl-SI" altLang="en-US" sz="1600"/>
              <a:t>,</a:t>
            </a:r>
            <a:r>
              <a:rPr lang="sl-SI" altLang="en-US" sz="1600" i="1"/>
              <a:t>l</a:t>
            </a:r>
            <a:r>
              <a:rPr lang="sl-SI" altLang="en-US" sz="1600"/>
              <a:t>):</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r>
              <a:rPr lang="sl-SI" altLang="en-US" sz="1600"/>
              <a:t>Dobljeni izraz kaže, da je amplitudni spekter neodvisen od premika slike (</a:t>
            </a:r>
            <a:r>
              <a:rPr lang="sl-SI" altLang="en-US" sz="1600" b="1"/>
              <a:t>t</a:t>
            </a:r>
            <a:r>
              <a:rPr lang="sl-SI" altLang="en-US" sz="1600"/>
              <a:t>).</a:t>
            </a:r>
          </a:p>
          <a:p>
            <a:pPr eaLnBrk="1" hangingPunct="1">
              <a:spcBef>
                <a:spcPts val="600"/>
              </a:spcBef>
              <a:buFontTx/>
              <a:buAutoNum type="arabicPeriod"/>
            </a:pPr>
            <a:r>
              <a:rPr lang="sl-SI" altLang="en-US" sz="1600"/>
              <a:t>Zasuk se da določiti iz:</a:t>
            </a:r>
          </a:p>
          <a:p>
            <a:pPr eaLnBrk="1" hangingPunct="1">
              <a:spcBef>
                <a:spcPts val="1200"/>
              </a:spcBef>
              <a:buFontTx/>
              <a:buNone/>
            </a:pPr>
            <a:r>
              <a:rPr lang="sl-SI" altLang="en-US" sz="1600"/>
              <a:t>                                                                     X</a:t>
            </a:r>
            <a:r>
              <a:rPr lang="sl-SI" altLang="en-US" sz="1600" baseline="-25000"/>
              <a:t>1</a:t>
            </a:r>
            <a:r>
              <a:rPr lang="sl-SI" altLang="en-US" sz="1600"/>
              <a:t>(</a:t>
            </a:r>
            <a:r>
              <a:rPr lang="sl-SI" altLang="en-US" sz="1600" i="1"/>
              <a:t>k</a:t>
            </a:r>
            <a:r>
              <a:rPr lang="sl-SI" altLang="en-US" sz="1600"/>
              <a:t>,</a:t>
            </a:r>
            <a:r>
              <a:rPr lang="sl-SI" altLang="en-US" sz="1600" i="1"/>
              <a:t>l</a:t>
            </a:r>
            <a:r>
              <a:rPr lang="sl-SI" altLang="en-US" sz="1600"/>
              <a:t>) in X(</a:t>
            </a:r>
            <a:r>
              <a:rPr lang="sl-SI" altLang="en-US" sz="1600" i="1"/>
              <a:t>k</a:t>
            </a:r>
            <a:r>
              <a:rPr lang="sl-SI" altLang="en-US" sz="1600"/>
              <a:t>,</a:t>
            </a:r>
            <a:r>
              <a:rPr lang="sl-SI" altLang="en-US" sz="1600" i="1"/>
              <a:t>l</a:t>
            </a:r>
            <a:r>
              <a:rPr lang="sl-SI" altLang="en-US" sz="1600"/>
              <a:t>) – Fourierovi transformiranki</a:t>
            </a:r>
          </a:p>
          <a:p>
            <a:pPr eaLnBrk="1" hangingPunct="1">
              <a:spcBef>
                <a:spcPct val="0"/>
              </a:spcBef>
              <a:buFontTx/>
              <a:buNone/>
            </a:pPr>
            <a:r>
              <a:rPr lang="sl-SI" altLang="en-US" sz="1600"/>
              <a:t>                                                                     slik v poravnavi </a:t>
            </a:r>
          </a:p>
          <a:p>
            <a:pPr eaLnBrk="1" hangingPunct="1">
              <a:spcBef>
                <a:spcPts val="1200"/>
              </a:spcBef>
              <a:buFontTx/>
              <a:buAutoNum type="arabicPeriod" startAt="4"/>
            </a:pPr>
            <a:r>
              <a:rPr lang="sl-SI" altLang="en-US" sz="1600"/>
              <a:t>Δ(</a:t>
            </a:r>
            <a:r>
              <a:rPr lang="sl-SI" altLang="en-US" sz="1600" i="1"/>
              <a:t>k</a:t>
            </a:r>
            <a:r>
              <a:rPr lang="sl-SI" altLang="en-US" sz="1600"/>
              <a:t>,</a:t>
            </a:r>
            <a:r>
              <a:rPr lang="sl-SI" altLang="en-US" sz="1600" i="1"/>
              <a:t>l</a:t>
            </a:r>
            <a:r>
              <a:rPr lang="sl-SI" altLang="en-US" sz="1600"/>
              <a:t>) mora biti 0, ko X</a:t>
            </a:r>
            <a:r>
              <a:rPr lang="sl-SI" altLang="en-US" sz="1600" baseline="-25000"/>
              <a:t>1</a:t>
            </a:r>
            <a:r>
              <a:rPr lang="sl-SI" altLang="en-US" sz="1600"/>
              <a:t>(</a:t>
            </a:r>
            <a:r>
              <a:rPr lang="sl-SI" altLang="en-US" sz="1600" i="1"/>
              <a:t>k</a:t>
            </a:r>
            <a:r>
              <a:rPr lang="sl-SI" altLang="en-US" sz="1600"/>
              <a:t>,</a:t>
            </a:r>
            <a:r>
              <a:rPr lang="sl-SI" altLang="en-US" sz="1600" i="1"/>
              <a:t>l</a:t>
            </a:r>
            <a:r>
              <a:rPr lang="sl-SI" altLang="en-US" sz="1600"/>
              <a:t>) in X(</a:t>
            </a:r>
            <a:r>
              <a:rPr lang="sl-SI" altLang="en-US" sz="1600" i="1"/>
              <a:t>k</a:t>
            </a:r>
            <a:r>
              <a:rPr lang="sl-SI" altLang="en-US" sz="1600"/>
              <a:t>,</a:t>
            </a:r>
            <a:r>
              <a:rPr lang="sl-SI" altLang="en-US" sz="1600" i="1"/>
              <a:t>l</a:t>
            </a:r>
            <a:r>
              <a:rPr lang="sl-SI" altLang="en-US" sz="1600"/>
              <a:t>) nista hkrati enaka 0.</a:t>
            </a:r>
          </a:p>
          <a:p>
            <a:pPr eaLnBrk="1" hangingPunct="1">
              <a:spcBef>
                <a:spcPts val="600"/>
              </a:spcBef>
              <a:buFontTx/>
              <a:buAutoNum type="arabicPeriod" startAt="4"/>
            </a:pPr>
            <a:r>
              <a:rPr lang="sl-SI" altLang="en-US" sz="1600"/>
              <a:t>Izraz Δ(</a:t>
            </a:r>
            <a:r>
              <a:rPr lang="sl-SI" altLang="en-US" sz="1600" i="1"/>
              <a:t>k</a:t>
            </a:r>
            <a:r>
              <a:rPr lang="sl-SI" altLang="en-US" sz="1600"/>
              <a:t>,</a:t>
            </a:r>
            <a:r>
              <a:rPr lang="sl-SI" altLang="en-US" sz="1600" i="1"/>
              <a:t>l</a:t>
            </a:r>
            <a:r>
              <a:rPr lang="sl-SI" altLang="en-US" sz="1600"/>
              <a:t>)=0 določa dve premici, ki se sekata pod kotom </a:t>
            </a:r>
            <a:r>
              <a:rPr lang="sl-SI" altLang="en-US" sz="1600">
                <a:sym typeface="Symbol" panose="05050102010706020507" pitchFamily="18" charset="2"/>
              </a:rPr>
              <a:t>/2, če je  kot zasuka med slikama</a:t>
            </a:r>
          </a:p>
          <a:p>
            <a:pPr eaLnBrk="1" hangingPunct="1">
              <a:spcBef>
                <a:spcPts val="600"/>
              </a:spcBef>
              <a:buFontTx/>
              <a:buAutoNum type="arabicPeriod" startAt="4"/>
            </a:pPr>
            <a:r>
              <a:rPr lang="sl-SI" altLang="en-US" sz="1600">
                <a:sym typeface="Symbol" panose="05050102010706020507" pitchFamily="18" charset="2"/>
              </a:rPr>
              <a:t>V razponu kotov med -/4 in /4 se vidi kot /2 neposredno</a:t>
            </a:r>
            <a:endParaRPr lang="sl-SI" altLang="en-US" sz="1600"/>
          </a:p>
        </p:txBody>
      </p:sp>
      <p:sp>
        <p:nvSpPr>
          <p:cNvPr id="175110"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7511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nvGrpSpPr>
          <p:cNvPr id="175112" name="Group 21"/>
          <p:cNvGrpSpPr>
            <a:grpSpLocks/>
          </p:cNvGrpSpPr>
          <p:nvPr/>
        </p:nvGrpSpPr>
        <p:grpSpPr bwMode="auto">
          <a:xfrm>
            <a:off x="5295900" y="2636838"/>
            <a:ext cx="284163" cy="771525"/>
            <a:chOff x="5656100" y="3177186"/>
            <a:chExt cx="284052" cy="770384"/>
          </a:xfrm>
        </p:grpSpPr>
        <p:sp>
          <p:nvSpPr>
            <p:cNvPr id="175115" name="TextBox 19"/>
            <p:cNvSpPr txBox="1">
              <a:spLocks noChangeArrowheads="1"/>
            </p:cNvSpPr>
            <p:nvPr/>
          </p:nvSpPr>
          <p:spPr bwMode="auto">
            <a:xfrm>
              <a:off x="5656100" y="3629386"/>
              <a:ext cx="28405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solidFill>
                    <a:srgbClr val="0000FF"/>
                  </a:solidFill>
                </a:rPr>
                <a:t>1</a:t>
              </a:r>
              <a:endParaRPr lang="en-GB" altLang="en-US" sz="1400">
                <a:solidFill>
                  <a:srgbClr val="0000FF"/>
                </a:solidFill>
              </a:endParaRPr>
            </a:p>
          </p:txBody>
        </p:sp>
        <p:sp>
          <p:nvSpPr>
            <p:cNvPr id="21" name="Left Brace 20"/>
            <p:cNvSpPr/>
            <p:nvPr/>
          </p:nvSpPr>
          <p:spPr>
            <a:xfrm>
              <a:off x="5695100" y="3177186"/>
              <a:ext cx="216024" cy="770384"/>
            </a:xfrm>
            <a:prstGeom prst="leftBrace">
              <a:avLst/>
            </a:prstGeom>
            <a:ln w="12700">
              <a:solidFill>
                <a:srgbClr val="0000FF"/>
              </a:solidFill>
            </a:ln>
            <a:scene3d>
              <a:camera prst="orthographicFront">
                <a:rot lat="0" lon="0" rev="5400000"/>
              </a:camera>
              <a:lightRig rig="threePt" dir="t"/>
            </a:scene3d>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grpSp>
      <p:pic>
        <p:nvPicPr>
          <p:cNvPr id="175113" name="Slika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1238" y="3933825"/>
            <a:ext cx="3316287"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14" name="Slika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4850" y="1431925"/>
            <a:ext cx="5595938" cy="185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7715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6938A3F-BC7D-498A-9537-0FF69F8AF6FA}" type="slidenum">
              <a:rPr lang="en-GB" altLang="en-US" sz="1400" smtClean="0"/>
              <a:pPr>
                <a:spcBef>
                  <a:spcPct val="0"/>
                </a:spcBef>
                <a:buFontTx/>
                <a:buNone/>
              </a:pPr>
              <a:t>89</a:t>
            </a:fld>
            <a:endParaRPr lang="en-GB" altLang="en-US" sz="1400"/>
          </a:p>
        </p:txBody>
      </p:sp>
      <p:sp>
        <p:nvSpPr>
          <p:cNvPr id="177156"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TOGA PORAVNAVA SLIK S POMOČJO FREKVENČNEGA PROSTORA – PREMIK</a:t>
            </a:r>
            <a:endParaRPr lang="en-GB" altLang="en-US" sz="2000"/>
          </a:p>
        </p:txBody>
      </p:sp>
      <p:sp>
        <p:nvSpPr>
          <p:cNvPr id="177157" name="TextBox 5"/>
          <p:cNvSpPr txBox="1">
            <a:spLocks noChangeArrowheads="1"/>
          </p:cNvSpPr>
          <p:nvPr/>
        </p:nvSpPr>
        <p:spPr bwMode="auto">
          <a:xfrm>
            <a:off x="611188" y="1268413"/>
            <a:ext cx="7989887"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Amplitudni spekter je pri zasukani sliki X</a:t>
            </a:r>
            <a:r>
              <a:rPr lang="sl-SI" altLang="en-US" sz="1600" baseline="-25000"/>
              <a:t>1</a:t>
            </a:r>
            <a:r>
              <a:rPr lang="sl-SI" altLang="en-US" sz="1600"/>
              <a:t>(</a:t>
            </a:r>
            <a:r>
              <a:rPr lang="sl-SI" altLang="en-US" sz="1600" i="1"/>
              <a:t>k</a:t>
            </a:r>
            <a:r>
              <a:rPr lang="sl-SI" altLang="en-US" sz="1600"/>
              <a:t>,</a:t>
            </a:r>
            <a:r>
              <a:rPr lang="sl-SI" altLang="en-US" sz="1600" i="1"/>
              <a:t>l</a:t>
            </a:r>
            <a:r>
              <a:rPr lang="sl-SI" altLang="en-US" sz="1600"/>
              <a:t>) odvisen samo od zasuka, medtem ko se premik vidi samo v faznem spektru.</a:t>
            </a:r>
          </a:p>
          <a:p>
            <a:pPr eaLnBrk="1" hangingPunct="1">
              <a:spcBef>
                <a:spcPts val="600"/>
              </a:spcBef>
              <a:buFontTx/>
              <a:buAutoNum type="arabicPeriod"/>
            </a:pPr>
            <a:r>
              <a:rPr lang="sl-SI" altLang="en-US" sz="1600"/>
              <a:t>Fazna spektra slik v poravnavi lahko primerjamo s pomočjo frekvenčne oblike prečne korelacije med izvorno sliko in njeno transformirano (premaknjeno in zasukano) inačico:</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None/>
            </a:pPr>
            <a:r>
              <a:rPr lang="sl-SI" altLang="en-US" sz="1600"/>
              <a:t>	pri čemer ustreza X*(</a:t>
            </a:r>
            <a:r>
              <a:rPr lang="sl-SI" altLang="en-US" sz="1600" i="1"/>
              <a:t>k</a:t>
            </a:r>
            <a:r>
              <a:rPr lang="sl-SI" altLang="en-US" sz="1600"/>
              <a:t>,</a:t>
            </a:r>
            <a:r>
              <a:rPr lang="sl-SI" altLang="en-US" sz="1600" i="1"/>
              <a:t>l</a:t>
            </a:r>
            <a:r>
              <a:rPr lang="sl-SI" altLang="en-US" sz="1600"/>
              <a:t>) konjugirani vrednosti Fourierove transformiranke.</a:t>
            </a:r>
          </a:p>
          <a:p>
            <a:pPr eaLnBrk="1" hangingPunct="1">
              <a:spcBef>
                <a:spcPts val="600"/>
              </a:spcBef>
              <a:buFontTx/>
              <a:buAutoNum type="arabicPeriod" startAt="3"/>
            </a:pPr>
            <a:r>
              <a:rPr lang="sl-SI" altLang="en-US" sz="1600"/>
              <a:t>Premik v obeh smereh slikovne ravnine določimo z iskanjem maksimalne vrednosti v frekvenčni transformiranki prečne korelacije slik:</a:t>
            </a:r>
          </a:p>
          <a:p>
            <a:pPr eaLnBrk="1" hangingPunct="1">
              <a:spcBef>
                <a:spcPts val="600"/>
              </a:spcBef>
              <a:buFontTx/>
              <a:buAutoNum type="arabicPeriod" startAt="3"/>
            </a:pPr>
            <a:endParaRPr lang="sl-SI" altLang="en-US" sz="1600"/>
          </a:p>
        </p:txBody>
      </p:sp>
      <p:sp>
        <p:nvSpPr>
          <p:cNvPr id="17715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7715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177160" name="Slika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578100"/>
            <a:ext cx="25606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161" name="Slika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63613" y="4221163"/>
            <a:ext cx="3760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792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D075B20-E89F-41A4-826C-75F5865907C5}" type="slidenum">
              <a:rPr lang="en-GB" altLang="en-US" sz="1400" smtClean="0"/>
              <a:pPr>
                <a:spcBef>
                  <a:spcPct val="0"/>
                </a:spcBef>
                <a:buFontTx/>
                <a:buNone/>
              </a:pPr>
              <a:t>90</a:t>
            </a:fld>
            <a:endParaRPr lang="en-GB" altLang="en-US" sz="1400"/>
          </a:p>
        </p:txBody>
      </p:sp>
      <p:sp>
        <p:nvSpPr>
          <p:cNvPr id="179204"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Primer poravnave slik s pomočjo frekvenčnega prostora</a:t>
            </a:r>
            <a:endParaRPr lang="en-GB" altLang="en-US" sz="2000"/>
          </a:p>
        </p:txBody>
      </p:sp>
      <p:sp>
        <p:nvSpPr>
          <p:cNvPr id="179205" name="TextBox 5"/>
          <p:cNvSpPr txBox="1">
            <a:spLocks noChangeArrowheads="1"/>
          </p:cNvSpPr>
          <p:nvPr/>
        </p:nvSpPr>
        <p:spPr bwMode="auto">
          <a:xfrm>
            <a:off x="611188" y="1268413"/>
            <a:ext cx="7989887" cy="421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Referenčna in opazovana slika:</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r>
              <a:rPr lang="sl-SI" altLang="en-US" sz="1600"/>
              <a:t>Amplitudni spekter referenčne in opazovane slike:</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r>
              <a:rPr lang="sl-SI" altLang="en-US" sz="1600"/>
              <a:t>Razlika amplitudnih spektrov, slika Δ(</a:t>
            </a:r>
            <a:r>
              <a:rPr lang="sl-SI" altLang="en-US" sz="1600" i="1"/>
              <a:t>k</a:t>
            </a:r>
            <a:r>
              <a:rPr lang="sl-SI" altLang="en-US" sz="1600"/>
              <a:t>,</a:t>
            </a:r>
            <a:r>
              <a:rPr lang="sl-SI" altLang="en-US" sz="1600" i="1"/>
              <a:t>l</a:t>
            </a:r>
            <a:r>
              <a:rPr lang="sl-SI" altLang="en-US" sz="1600"/>
              <a:t>) in frekvenčna slika prečne korelacije:</a:t>
            </a:r>
          </a:p>
          <a:p>
            <a:pPr eaLnBrk="1" hangingPunct="1">
              <a:spcBef>
                <a:spcPts val="600"/>
              </a:spcBef>
              <a:buFontTx/>
              <a:buAutoNum type="arabicPeriod"/>
            </a:pPr>
            <a:endParaRPr lang="sl-SI" altLang="en-US" sz="1600"/>
          </a:p>
          <a:p>
            <a:pPr eaLnBrk="1" hangingPunct="1">
              <a:spcBef>
                <a:spcPts val="600"/>
              </a:spcBef>
              <a:buFontTx/>
              <a:buAutoNum type="arabicPeriod"/>
            </a:pPr>
            <a:endParaRPr lang="en-US" altLang="en-US" sz="1600"/>
          </a:p>
        </p:txBody>
      </p:sp>
      <p:sp>
        <p:nvSpPr>
          <p:cNvPr id="179206"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7920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179208" name="Picture 4" descr="p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700213"/>
            <a:ext cx="1079500" cy="108108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96613" name="Picture 5" descr="p2"/>
          <p:cNvPicPr>
            <a:picLocks noChangeAspect="1" noChangeArrowheads="1"/>
          </p:cNvPicPr>
          <p:nvPr/>
        </p:nvPicPr>
        <p:blipFill>
          <a:blip r:embed="rId5" cstate="print"/>
          <a:srcRect/>
          <a:stretch>
            <a:fillRect/>
          </a:stretch>
        </p:blipFill>
        <p:spPr bwMode="auto">
          <a:xfrm>
            <a:off x="3059832" y="1700808"/>
            <a:ext cx="1080120" cy="1080120"/>
          </a:xfrm>
          <a:prstGeom prst="rect">
            <a:avLst/>
          </a:prstGeom>
          <a:noFill/>
          <a:ln w="19050">
            <a:solidFill>
              <a:schemeClr val="tx1"/>
            </a:solidFill>
            <a:miter lim="800000"/>
            <a:headEnd/>
            <a:tailEnd/>
          </a:ln>
          <a:scene3d>
            <a:camera prst="orthographicFront">
              <a:rot lat="10800000" lon="0" rev="0"/>
            </a:camera>
            <a:lightRig rig="threePt" dir="t"/>
          </a:scene3d>
        </p:spPr>
      </p:pic>
      <p:sp>
        <p:nvSpPr>
          <p:cNvPr id="179210" name="Rectangle 8"/>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graphicFrame>
        <p:nvGraphicFramePr>
          <p:cNvPr id="179211" name="Object 2"/>
          <p:cNvGraphicFramePr>
            <a:graphicFrameLocks noChangeAspect="1"/>
          </p:cNvGraphicFramePr>
          <p:nvPr/>
        </p:nvGraphicFramePr>
        <p:xfrm>
          <a:off x="912813" y="3168650"/>
          <a:ext cx="1438275" cy="1225550"/>
        </p:xfrm>
        <a:graphic>
          <a:graphicData uri="http://schemas.openxmlformats.org/presentationml/2006/ole">
            <mc:AlternateContent xmlns:mc="http://schemas.openxmlformats.org/markup-compatibility/2006">
              <mc:Choice xmlns:v="urn:schemas-microsoft-com:vml" Requires="v">
                <p:oleObj spid="_x0000_s179271" name="Bitmap Image" r:id="rId6" imgW="5334745" imgH="4001058" progId="Paint.Picture">
                  <p:embed/>
                </p:oleObj>
              </mc:Choice>
              <mc:Fallback>
                <p:oleObj name="Bitmap Image" r:id="rId6" imgW="5334745" imgH="4001058" progId="Paint.Picture">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813" y="3168650"/>
                        <a:ext cx="1438275"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9212" name="Object 3"/>
          <p:cNvGraphicFramePr>
            <a:graphicFrameLocks noChangeAspect="1"/>
          </p:cNvGraphicFramePr>
          <p:nvPr/>
        </p:nvGraphicFramePr>
        <p:xfrm>
          <a:off x="2851150" y="3168650"/>
          <a:ext cx="1476375" cy="1239838"/>
        </p:xfrm>
        <a:graphic>
          <a:graphicData uri="http://schemas.openxmlformats.org/presentationml/2006/ole">
            <mc:AlternateContent xmlns:mc="http://schemas.openxmlformats.org/markup-compatibility/2006">
              <mc:Choice xmlns:v="urn:schemas-microsoft-com:vml" Requires="v">
                <p:oleObj spid="_x0000_s179272" name="Bitmap Image" r:id="rId8" imgW="5334745" imgH="4001058" progId="Paint.Picture">
                  <p:embed/>
                </p:oleObj>
              </mc:Choice>
              <mc:Fallback>
                <p:oleObj name="Bitmap Image" r:id="rId8" imgW="5334745" imgH="4001058" progId="Paint.Picture">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51150" y="3168650"/>
                        <a:ext cx="1476375" cy="123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9213"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pic>
        <p:nvPicPr>
          <p:cNvPr id="196620" name="Picture 12" descr="deltaK2"/>
          <p:cNvPicPr>
            <a:picLocks noChangeAspect="1" noChangeArrowheads="1"/>
          </p:cNvPicPr>
          <p:nvPr/>
        </p:nvPicPr>
        <p:blipFill>
          <a:blip r:embed="rId10" cstate="print"/>
          <a:srcRect/>
          <a:stretch>
            <a:fillRect/>
          </a:stretch>
        </p:blipFill>
        <p:spPr bwMode="auto">
          <a:xfrm>
            <a:off x="611560" y="4753610"/>
            <a:ext cx="1944216" cy="1459411"/>
          </a:xfrm>
          <a:prstGeom prst="rect">
            <a:avLst/>
          </a:prstGeom>
          <a:noFill/>
          <a:ln w="9525">
            <a:noFill/>
            <a:miter lim="800000"/>
            <a:headEnd/>
            <a:tailEnd/>
          </a:ln>
          <a:scene3d>
            <a:camera prst="orthographicFront">
              <a:rot lat="10800000" lon="0" rev="0"/>
            </a:camera>
            <a:lightRig rig="threePt" dir="t"/>
          </a:scene3d>
        </p:spPr>
      </p:pic>
      <p:pic>
        <p:nvPicPr>
          <p:cNvPr id="179215" name="Picture 13" descr="faz_stran"/>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156325" y="4749800"/>
            <a:ext cx="2087563"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16" name="Picture 14" descr="bin_sl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492500" y="4749800"/>
            <a:ext cx="1593850"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8125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DAD2CB1-C37B-41E1-B567-3C548F253D50}" type="slidenum">
              <a:rPr lang="en-GB" altLang="en-US" sz="1400" smtClean="0"/>
              <a:pPr>
                <a:spcBef>
                  <a:spcPct val="0"/>
                </a:spcBef>
                <a:buFontTx/>
                <a:buNone/>
              </a:pPr>
              <a:t>91</a:t>
            </a:fld>
            <a:endParaRPr lang="en-GB" altLang="en-US" sz="1400"/>
          </a:p>
        </p:txBody>
      </p:sp>
      <p:sp>
        <p:nvSpPr>
          <p:cNvPr id="181252" name="Rectangle 2"/>
          <p:cNvSpPr>
            <a:spLocks noGrp="1" noChangeArrowheads="1"/>
          </p:cNvSpPr>
          <p:nvPr>
            <p:ph type="body" idx="1"/>
          </p:nvPr>
        </p:nvSpPr>
        <p:spPr>
          <a:xfrm>
            <a:off x="468313" y="2708275"/>
            <a:ext cx="8229600" cy="1008063"/>
          </a:xfrm>
        </p:spPr>
        <p:txBody>
          <a:bodyPr/>
          <a:lstStyle/>
          <a:p>
            <a:pPr algn="ctr" defTabSz="912813" eaLnBrk="1" hangingPunct="1">
              <a:buFontTx/>
              <a:buNone/>
            </a:pPr>
            <a:r>
              <a:rPr lang="sl-SI" altLang="en-US" sz="3600"/>
              <a:t>Stereo vid</a:t>
            </a:r>
          </a:p>
        </p:txBody>
      </p:sp>
    </p:spTree>
  </p:cSld>
  <p:clrMapOvr>
    <a:masterClrMapping/>
  </p:clrMapOvr>
  <p:transition>
    <p:cove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832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ABD285D-3251-4868-9728-01E86D877460}" type="slidenum">
              <a:rPr lang="en-GB" altLang="en-US" sz="1400" smtClean="0"/>
              <a:pPr>
                <a:spcBef>
                  <a:spcPct val="0"/>
                </a:spcBef>
                <a:buFontTx/>
                <a:buNone/>
              </a:pPr>
              <a:t>92</a:t>
            </a:fld>
            <a:endParaRPr lang="en-GB" altLang="en-US" sz="1400"/>
          </a:p>
        </p:txBody>
      </p:sp>
      <p:sp>
        <p:nvSpPr>
          <p:cNvPr id="183300"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IZHODIŠČA</a:t>
            </a:r>
            <a:endParaRPr lang="en-GB" altLang="en-US" sz="2000"/>
          </a:p>
        </p:txBody>
      </p:sp>
      <p:sp>
        <p:nvSpPr>
          <p:cNvPr id="183301" name="TextBox 5"/>
          <p:cNvSpPr txBox="1">
            <a:spLocks noChangeArrowheads="1"/>
          </p:cNvSpPr>
          <p:nvPr/>
        </p:nvSpPr>
        <p:spPr bwMode="auto">
          <a:xfrm>
            <a:off x="611188" y="1268413"/>
            <a:ext cx="7989887" cy="463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En sam pogled na tridimenzionalno sceno ne omogoča zaznave oddaljenosti predmetov na sceni.</a:t>
            </a:r>
          </a:p>
          <a:p>
            <a:pPr eaLnBrk="1" hangingPunct="1">
              <a:spcBef>
                <a:spcPts val="600"/>
              </a:spcBef>
              <a:buFontTx/>
              <a:buAutoNum type="arabicPeriod"/>
            </a:pPr>
            <a:r>
              <a:rPr lang="sl-SI" altLang="en-US" sz="1600"/>
              <a:t>Ljudje lahko iz enega samega pogleda le sklepamo o oddaljenosti predmetov, in sicer glede na medsebojna prekrivanja, razmerja v velikosti predmetov, sence itd.</a:t>
            </a:r>
          </a:p>
          <a:p>
            <a:pPr eaLnBrk="1" hangingPunct="1">
              <a:spcBef>
                <a:spcPts val="600"/>
              </a:spcBef>
              <a:buFontTx/>
              <a:buAutoNum type="arabicPeriod"/>
            </a:pPr>
            <a:endParaRPr lang="sl-SI" altLang="en-US" sz="1600"/>
          </a:p>
          <a:p>
            <a:pPr eaLnBrk="1" hangingPunct="1">
              <a:spcBef>
                <a:spcPts val="600"/>
              </a:spcBef>
              <a:buFontTx/>
              <a:buAutoNum type="arabicPeriod" startAt="3"/>
            </a:pPr>
            <a:endParaRPr lang="sl-SI" altLang="en-US" sz="1600"/>
          </a:p>
          <a:p>
            <a:pPr eaLnBrk="1" hangingPunct="1">
              <a:spcBef>
                <a:spcPts val="600"/>
              </a:spcBef>
              <a:buFontTx/>
              <a:buAutoNum type="arabicPeriod" startAt="3"/>
            </a:pPr>
            <a:endParaRPr lang="sl-SI" altLang="en-US" sz="1600"/>
          </a:p>
          <a:p>
            <a:pPr eaLnBrk="1" hangingPunct="1">
              <a:spcBef>
                <a:spcPts val="600"/>
              </a:spcBef>
              <a:buFontTx/>
              <a:buAutoNum type="arabicPeriod" startAt="3"/>
            </a:pPr>
            <a:endParaRPr lang="sl-SI" altLang="en-US" sz="1600"/>
          </a:p>
          <a:p>
            <a:pPr eaLnBrk="1" hangingPunct="1">
              <a:spcBef>
                <a:spcPts val="600"/>
              </a:spcBef>
              <a:buFontTx/>
              <a:buAutoNum type="arabicPeriod" startAt="3"/>
            </a:pPr>
            <a:endParaRPr lang="sl-SI" altLang="en-US" sz="1600"/>
          </a:p>
          <a:p>
            <a:pPr eaLnBrk="1" hangingPunct="1">
              <a:spcBef>
                <a:spcPts val="600"/>
              </a:spcBef>
              <a:buFontTx/>
              <a:buAutoNum type="arabicPeriod" startAt="3"/>
            </a:pPr>
            <a:endParaRPr lang="sl-SI" altLang="en-US" sz="1600"/>
          </a:p>
          <a:p>
            <a:pPr eaLnBrk="1" hangingPunct="1">
              <a:spcBef>
                <a:spcPts val="600"/>
              </a:spcBef>
              <a:buFontTx/>
              <a:buAutoNum type="arabicPeriod" startAt="3"/>
            </a:pPr>
            <a:endParaRPr lang="sl-SI" altLang="en-US" sz="1600"/>
          </a:p>
          <a:p>
            <a:pPr eaLnBrk="1" hangingPunct="1">
              <a:spcBef>
                <a:spcPts val="600"/>
              </a:spcBef>
              <a:buFontTx/>
              <a:buAutoNum type="arabicPeriod" startAt="3"/>
            </a:pPr>
            <a:r>
              <a:rPr lang="sl-SI" altLang="en-US" sz="1600"/>
              <a:t>Pri le eni sliki lahko trdimo samo, da je točka v 3D nekje na premici, ki povezuje projekcijsko središče in 2D projekcijo točke na sliki.</a:t>
            </a:r>
          </a:p>
          <a:p>
            <a:pPr eaLnBrk="1" hangingPunct="1">
              <a:spcBef>
                <a:spcPts val="600"/>
              </a:spcBef>
              <a:buFontTx/>
              <a:buAutoNum type="arabicPeriod" startAt="3"/>
            </a:pPr>
            <a:endParaRPr lang="sl-SI" altLang="en-US" sz="1600"/>
          </a:p>
          <a:p>
            <a:pPr eaLnBrk="1" hangingPunct="1">
              <a:spcBef>
                <a:spcPts val="600"/>
              </a:spcBef>
              <a:buFontTx/>
              <a:buAutoNum type="arabicPeriod" startAt="3"/>
            </a:pPr>
            <a:endParaRPr lang="sl-SI" altLang="en-US" sz="1600"/>
          </a:p>
        </p:txBody>
      </p:sp>
      <p:sp>
        <p:nvSpPr>
          <p:cNvPr id="183302"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8330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nvGrpSpPr>
          <p:cNvPr id="183304" name="Group 16"/>
          <p:cNvGrpSpPr>
            <a:grpSpLocks/>
          </p:cNvGrpSpPr>
          <p:nvPr/>
        </p:nvGrpSpPr>
        <p:grpSpPr bwMode="auto">
          <a:xfrm>
            <a:off x="2843213" y="2349500"/>
            <a:ext cx="3878262" cy="2166938"/>
            <a:chOff x="2843809" y="2348880"/>
            <a:chExt cx="3877835" cy="2167681"/>
          </a:xfrm>
        </p:grpSpPr>
        <p:grpSp>
          <p:nvGrpSpPr>
            <p:cNvPr id="183305" name="Group 14"/>
            <p:cNvGrpSpPr>
              <a:grpSpLocks/>
            </p:cNvGrpSpPr>
            <p:nvPr/>
          </p:nvGrpSpPr>
          <p:grpSpPr bwMode="auto">
            <a:xfrm>
              <a:off x="2843809" y="2348880"/>
              <a:ext cx="3877835" cy="2167681"/>
              <a:chOff x="2843809" y="2557463"/>
              <a:chExt cx="3877835" cy="2167681"/>
            </a:xfrm>
          </p:grpSpPr>
          <p:pic>
            <p:nvPicPr>
              <p:cNvPr id="18330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9" y="2557463"/>
                <a:ext cx="2890241" cy="2167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08" name="TextBox 10"/>
              <p:cNvSpPr txBox="1">
                <a:spLocks noChangeArrowheads="1"/>
              </p:cNvSpPr>
              <p:nvPr/>
            </p:nvSpPr>
            <p:spPr bwMode="auto">
              <a:xfrm>
                <a:off x="3332788" y="2708920"/>
                <a:ext cx="910827"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točka v 3D</a:t>
                </a:r>
                <a:endParaRPr lang="en-GB" altLang="en-US" sz="1200"/>
              </a:p>
            </p:txBody>
          </p:sp>
          <p:sp>
            <p:nvSpPr>
              <p:cNvPr id="183309" name="TextBox 11"/>
              <p:cNvSpPr txBox="1">
                <a:spLocks noChangeArrowheads="1"/>
              </p:cNvSpPr>
              <p:nvPr/>
            </p:nvSpPr>
            <p:spPr bwMode="auto">
              <a:xfrm>
                <a:off x="5652120" y="3933056"/>
                <a:ext cx="1069524"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2D projekcija</a:t>
                </a:r>
                <a:endParaRPr lang="en-GB" altLang="en-US" sz="1200"/>
              </a:p>
            </p:txBody>
          </p:sp>
          <p:sp>
            <p:nvSpPr>
              <p:cNvPr id="183310" name="TextBox 13"/>
              <p:cNvSpPr txBox="1">
                <a:spLocks noChangeArrowheads="1"/>
              </p:cNvSpPr>
              <p:nvPr/>
            </p:nvSpPr>
            <p:spPr bwMode="auto">
              <a:xfrm>
                <a:off x="2987824" y="3429000"/>
                <a:ext cx="1449436"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oddaljenost? (</a:t>
                </a:r>
                <a:r>
                  <a:rPr lang="sl-SI" altLang="en-US" sz="1200" i="1"/>
                  <a:t>z</a:t>
                </a:r>
                <a:r>
                  <a:rPr lang="sl-SI" altLang="en-US" sz="1200"/>
                  <a:t>=?)</a:t>
                </a:r>
                <a:endParaRPr lang="en-GB" altLang="en-US" sz="1200"/>
              </a:p>
            </p:txBody>
          </p:sp>
        </p:grpSp>
        <p:sp>
          <p:nvSpPr>
            <p:cNvPr id="183306" name="TextBox 15"/>
            <p:cNvSpPr txBox="1">
              <a:spLocks noChangeArrowheads="1"/>
            </p:cNvSpPr>
            <p:nvPr/>
          </p:nvSpPr>
          <p:spPr bwMode="auto">
            <a:xfrm>
              <a:off x="3981422" y="3299498"/>
              <a:ext cx="1083951" cy="72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                  O</a:t>
              </a:r>
            </a:p>
            <a:p>
              <a:pPr eaLnBrk="1" hangingPunct="1">
                <a:spcBef>
                  <a:spcPts val="600"/>
                </a:spcBef>
                <a:buFontTx/>
                <a:buNone/>
              </a:pPr>
              <a:r>
                <a:rPr lang="sl-SI" altLang="en-US" sz="1200"/>
                <a:t>projekcijsko</a:t>
              </a:r>
            </a:p>
            <a:p>
              <a:pPr eaLnBrk="1" hangingPunct="1">
                <a:spcBef>
                  <a:spcPct val="0"/>
                </a:spcBef>
                <a:buFontTx/>
                <a:buNone/>
              </a:pPr>
              <a:r>
                <a:rPr lang="sl-SI" altLang="en-US" sz="1200"/>
                <a:t>središče</a:t>
              </a:r>
            </a:p>
          </p:txBody>
        </p:sp>
      </p:grpSp>
    </p:spTree>
  </p:cSld>
  <p:clrMapOvr>
    <a:masterClrMapping/>
  </p:clrMapOvr>
  <p:transition>
    <p:cove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853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6510F99-BB04-46F5-831E-02EB3799D9B0}" type="slidenum">
              <a:rPr lang="en-GB" altLang="en-US" sz="1400" smtClean="0"/>
              <a:pPr>
                <a:spcBef>
                  <a:spcPct val="0"/>
                </a:spcBef>
                <a:buFontTx/>
                <a:buNone/>
              </a:pPr>
              <a:t>93</a:t>
            </a:fld>
            <a:endParaRPr lang="en-GB" altLang="en-US" sz="1400"/>
          </a:p>
        </p:txBody>
      </p:sp>
      <p:sp>
        <p:nvSpPr>
          <p:cNvPr id="185348"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DVA POGLEDA NA ISTO SCENO</a:t>
            </a:r>
            <a:endParaRPr lang="en-GB" altLang="en-US" sz="2000"/>
          </a:p>
        </p:txBody>
      </p:sp>
      <p:sp>
        <p:nvSpPr>
          <p:cNvPr id="185349" name="TextBox 5"/>
          <p:cNvSpPr txBox="1">
            <a:spLocks noChangeArrowheads="1"/>
          </p:cNvSpPr>
          <p:nvPr/>
        </p:nvSpPr>
        <p:spPr bwMode="auto">
          <a:xfrm>
            <a:off x="611188" y="1268413"/>
            <a:ext cx="7989887" cy="495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Če vidimo isto sceno v dveh pogledih iz različnih zornih kotov, lahko določimo oddaljenost 3D točk od projekcijskih središč kamer.</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r>
              <a:rPr lang="sl-SI" altLang="en-US" sz="1600"/>
              <a:t>Vzvratna projekcija (</a:t>
            </a:r>
            <a:r>
              <a:rPr lang="sl-SI" altLang="en-US" sz="1600" i="1"/>
              <a:t>back projection</a:t>
            </a:r>
            <a:r>
              <a:rPr lang="sl-SI" altLang="en-US" sz="1600"/>
              <a:t>) iz točk na slikah proti skupni točki v prostoru je določena s premicama, ki gresta skozi projekcijski središči kamer in točki na slikah.</a:t>
            </a:r>
          </a:p>
          <a:p>
            <a:pPr eaLnBrk="1" hangingPunct="1">
              <a:spcBef>
                <a:spcPts val="600"/>
              </a:spcBef>
              <a:buFontTx/>
              <a:buAutoNum type="arabicPeriod"/>
            </a:pPr>
            <a:r>
              <a:rPr lang="sl-SI" altLang="en-US" sz="1600"/>
              <a:t>Sečišče projekcijskih premic opredeljuje položaj prostorske točke.</a:t>
            </a:r>
          </a:p>
          <a:p>
            <a:pPr eaLnBrk="1" hangingPunct="1">
              <a:spcBef>
                <a:spcPts val="600"/>
              </a:spcBef>
              <a:buFontTx/>
              <a:buNone/>
            </a:pPr>
            <a:endParaRPr lang="sl-SI" altLang="en-US" sz="1600"/>
          </a:p>
          <a:p>
            <a:pPr eaLnBrk="1" hangingPunct="1">
              <a:spcBef>
                <a:spcPts val="600"/>
              </a:spcBef>
              <a:buFontTx/>
              <a:buAutoNum type="arabicPeriod" startAt="3"/>
            </a:pPr>
            <a:endParaRPr lang="sl-SI" altLang="en-US" sz="1600"/>
          </a:p>
          <a:p>
            <a:pPr eaLnBrk="1" hangingPunct="1">
              <a:spcBef>
                <a:spcPts val="600"/>
              </a:spcBef>
              <a:buFontTx/>
              <a:buAutoNum type="arabicPeriod" startAt="3"/>
            </a:pPr>
            <a:endParaRPr lang="sl-SI" altLang="en-US" sz="1600"/>
          </a:p>
        </p:txBody>
      </p:sp>
      <p:sp>
        <p:nvSpPr>
          <p:cNvPr id="185350"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8535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nvGrpSpPr>
          <p:cNvPr id="185352" name="Group 19"/>
          <p:cNvGrpSpPr>
            <a:grpSpLocks/>
          </p:cNvGrpSpPr>
          <p:nvPr/>
        </p:nvGrpSpPr>
        <p:grpSpPr bwMode="auto">
          <a:xfrm>
            <a:off x="2622550" y="1773238"/>
            <a:ext cx="3605213" cy="2160587"/>
            <a:chOff x="2623198" y="1772816"/>
            <a:chExt cx="3604986" cy="2160240"/>
          </a:xfrm>
        </p:grpSpPr>
        <p:pic>
          <p:nvPicPr>
            <p:cNvPr id="18536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3198" y="1772816"/>
              <a:ext cx="3604986"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362" name="TextBox 16"/>
            <p:cNvSpPr txBox="1">
              <a:spLocks noChangeArrowheads="1"/>
            </p:cNvSpPr>
            <p:nvPr/>
          </p:nvSpPr>
          <p:spPr bwMode="auto">
            <a:xfrm>
              <a:off x="4169542" y="2075362"/>
              <a:ext cx="910827"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točka v 3D</a:t>
              </a:r>
              <a:endParaRPr lang="en-GB" altLang="en-US" sz="1200"/>
            </a:p>
          </p:txBody>
        </p:sp>
        <p:sp>
          <p:nvSpPr>
            <p:cNvPr id="185363" name="TextBox 17"/>
            <p:cNvSpPr txBox="1">
              <a:spLocks noChangeArrowheads="1"/>
            </p:cNvSpPr>
            <p:nvPr/>
          </p:nvSpPr>
          <p:spPr bwMode="auto">
            <a:xfrm>
              <a:off x="4057829" y="3584049"/>
              <a:ext cx="1018227"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2D projekciji</a:t>
              </a:r>
              <a:endParaRPr lang="en-GB" altLang="en-US" sz="1200"/>
            </a:p>
          </p:txBody>
        </p:sp>
        <p:sp>
          <p:nvSpPr>
            <p:cNvPr id="185364" name="TextBox 18"/>
            <p:cNvSpPr txBox="1">
              <a:spLocks noChangeArrowheads="1"/>
            </p:cNvSpPr>
            <p:nvPr/>
          </p:nvSpPr>
          <p:spPr bwMode="auto">
            <a:xfrm>
              <a:off x="3419872" y="2564904"/>
              <a:ext cx="22300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o         </a:t>
              </a:r>
            </a:p>
            <a:p>
              <a:pPr eaLnBrk="1" hangingPunct="1">
                <a:spcBef>
                  <a:spcPct val="0"/>
                </a:spcBef>
                <a:buFontTx/>
                <a:buNone/>
              </a:pPr>
              <a:r>
                <a:rPr lang="sl-SI" altLang="en-US" sz="1200"/>
                <a:t>            projekcijski                o</a:t>
              </a:r>
            </a:p>
            <a:p>
              <a:pPr eaLnBrk="1" hangingPunct="1">
                <a:spcBef>
                  <a:spcPct val="0"/>
                </a:spcBef>
                <a:buFontTx/>
                <a:buNone/>
              </a:pPr>
              <a:r>
                <a:rPr lang="sl-SI" altLang="en-US" sz="1200"/>
                <a:t>              središči</a:t>
              </a:r>
            </a:p>
          </p:txBody>
        </p:sp>
      </p:grpSp>
      <p:pic>
        <p:nvPicPr>
          <p:cNvPr id="21" name="Picture 5" descr="C:\Documents and Settings\kristian\Desktop\DaNet-foredrag\triangulation1.png"/>
          <p:cNvPicPr>
            <a:picLocks noChangeAspect="1" noChangeArrowheads="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14500" y="1885950"/>
            <a:ext cx="5715000" cy="428625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2" name="Picture 4" descr="C:\Documents and Settings\kristian\Desktop\DaNet-foredrag\triangulation2.png"/>
          <p:cNvPicPr>
            <a:picLocks noChangeAspect="1" noChangeArrowheads="1"/>
          </p:cNvPicPr>
          <p:nvPr/>
        </p:nvPicPr>
        <p:blipFill>
          <a:blip r:embed="rId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06563" y="1878013"/>
            <a:ext cx="57150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4" descr="C:\Documents and Settings\kristian\Desktop\DaNet-foredrag\triangulation3.png"/>
          <p:cNvPicPr>
            <a:picLocks noChangeAspect="1" noChangeArrowheads="1"/>
          </p:cNvPicPr>
          <p:nvPr/>
        </p:nvPicPr>
        <p:blipFill>
          <a:blip r:embed="rId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06563" y="1878013"/>
            <a:ext cx="57150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4" descr="C:\Documents and Settings\kristian\Desktop\DaNet-foredrag\triangulation4.png"/>
          <p:cNvPicPr>
            <a:picLocks noChangeAspect="1" noChangeArrowheads="1"/>
          </p:cNvPicPr>
          <p:nvPr/>
        </p:nvPicPr>
        <p:blipFill>
          <a:blip r:embed="rId7">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06563" y="1878013"/>
            <a:ext cx="57150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4" descr="C:\Documents and Settings\kristian\Desktop\DaNet-foredrag\triangulation5.png"/>
          <p:cNvPicPr>
            <a:picLocks noChangeAspect="1" noChangeArrowheads="1"/>
          </p:cNvPicPr>
          <p:nvPr/>
        </p:nvPicPr>
        <p:blipFill>
          <a:blip r:embed="rId8">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06563" y="1878013"/>
            <a:ext cx="57150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028" descr="C:\Documents and Settings\kristian\Desktop\DaNet-foredrag\triangulation6.png"/>
          <p:cNvPicPr>
            <a:picLocks noChangeAspect="1" noChangeArrowheads="1"/>
          </p:cNvPicPr>
          <p:nvPr/>
        </p:nvPicPr>
        <p:blipFill>
          <a:blip r:embed="rId9">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06563" y="1878013"/>
            <a:ext cx="57150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028" descr="C:\Documents and Settings\kristian\Desktop\DaNet-foredrag\triangulation7.png"/>
          <p:cNvPicPr>
            <a:picLocks noChangeAspect="1" noChangeArrowheads="1"/>
          </p:cNvPicPr>
          <p:nvPr/>
        </p:nvPicPr>
        <p:blipFill>
          <a:blip r:embed="rId10">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06563" y="1878013"/>
            <a:ext cx="57150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028" descr="C:\Documents and Settings\kristian\Desktop\DaNet-foredrag\triangulation8.png"/>
          <p:cNvPicPr>
            <a:picLocks noChangeAspect="1" noChangeArrowheads="1"/>
          </p:cNvPicPr>
          <p:nvPr/>
        </p:nvPicPr>
        <p:blipFill>
          <a:blip r:embed="rId11">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08150" y="1868488"/>
            <a:ext cx="57150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1000" fill="hold"/>
                                        <p:tgtEl>
                                          <p:spTgt spid="21"/>
                                        </p:tgtEl>
                                        <p:attrNameLst>
                                          <p:attrName>ppt_w</p:attrName>
                                        </p:attrNameLst>
                                      </p:cBhvr>
                                      <p:tavLst>
                                        <p:tav tm="0">
                                          <p:val>
                                            <p:strVal val="#ppt_w*0.70"/>
                                          </p:val>
                                        </p:tav>
                                        <p:tav tm="100000">
                                          <p:val>
                                            <p:strVal val="#ppt_w"/>
                                          </p:val>
                                        </p:tav>
                                      </p:tavLst>
                                    </p:anim>
                                    <p:anim calcmode="lin" valueType="num">
                                      <p:cBhvr>
                                        <p:cTn id="8" dur="1000" fill="hold"/>
                                        <p:tgtEl>
                                          <p:spTgt spid="21"/>
                                        </p:tgtEl>
                                        <p:attrNameLst>
                                          <p:attrName>ppt_h</p:attrName>
                                        </p:attrNameLst>
                                      </p:cBhvr>
                                      <p:tavLst>
                                        <p:tav tm="0">
                                          <p:val>
                                            <p:strVal val="#ppt_h"/>
                                          </p:val>
                                        </p:tav>
                                        <p:tav tm="100000">
                                          <p:val>
                                            <p:strVal val="#ppt_h"/>
                                          </p:val>
                                        </p:tav>
                                      </p:tavLst>
                                    </p:anim>
                                    <p:animEffect transition="in" filter="fade">
                                      <p:cBhvr>
                                        <p:cTn id="9" dur="1000"/>
                                        <p:tgtEl>
                                          <p:spTgt spid="2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873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3BEF706-2200-4E27-B073-D0474BB3CEC3}" type="slidenum">
              <a:rPr lang="en-GB" altLang="en-US" sz="1400" smtClean="0"/>
              <a:pPr>
                <a:spcBef>
                  <a:spcPct val="0"/>
                </a:spcBef>
                <a:buFontTx/>
                <a:buNone/>
              </a:pPr>
              <a:t>94</a:t>
            </a:fld>
            <a:endParaRPr lang="en-GB" altLang="en-US" sz="1400"/>
          </a:p>
        </p:txBody>
      </p:sp>
      <p:sp>
        <p:nvSpPr>
          <p:cNvPr id="187396" name="Rectangle 2"/>
          <p:cNvSpPr>
            <a:spLocks noGrp="1" noChangeArrowheads="1"/>
          </p:cNvSpPr>
          <p:nvPr>
            <p:ph type="ctrTitle"/>
          </p:nvPr>
        </p:nvSpPr>
        <p:spPr>
          <a:xfrm>
            <a:off x="179388" y="288925"/>
            <a:ext cx="8785225" cy="936625"/>
          </a:xfrm>
        </p:spPr>
        <p:txBody>
          <a:bodyPr/>
          <a:lstStyle/>
          <a:p>
            <a:pPr defTabSz="912813" eaLnBrk="1" hangingPunct="1"/>
            <a:r>
              <a:rPr lang="sl-SI" altLang="en-US" sz="2800" b="1"/>
              <a:t>DVA POGLEDA NA ISTO SCENO – PROJEKCIJSKA GEOMETRIJA</a:t>
            </a:r>
            <a:endParaRPr lang="en-GB" altLang="en-US" sz="2000"/>
          </a:p>
        </p:txBody>
      </p:sp>
      <p:sp>
        <p:nvSpPr>
          <p:cNvPr id="6" name="TextBox 5"/>
          <p:cNvSpPr txBox="1">
            <a:spLocks noChangeArrowheads="1"/>
          </p:cNvSpPr>
          <p:nvPr/>
        </p:nvSpPr>
        <p:spPr bwMode="auto">
          <a:xfrm>
            <a:off x="611188" y="1268413"/>
            <a:ext cx="7989887" cy="4862512"/>
          </a:xfrm>
          <a:prstGeom prst="rect">
            <a:avLst/>
          </a:prstGeom>
          <a:noFill/>
          <a:ln w="9525">
            <a:noFill/>
            <a:miter lim="800000"/>
            <a:headEnd/>
            <a:tailEnd/>
          </a:ln>
        </p:spPr>
        <p:txBody>
          <a:bodyPr>
            <a:spAutoFit/>
          </a:bodyPr>
          <a:lstStyle/>
          <a:p>
            <a:pPr marL="342900" indent="-342900" eaLnBrk="1" hangingPunct="1">
              <a:spcBef>
                <a:spcPts val="600"/>
              </a:spcBef>
              <a:buFont typeface="Arial" charset="0"/>
              <a:buAutoNum type="arabicPeriod"/>
              <a:defRPr/>
            </a:pPr>
            <a:r>
              <a:rPr lang="sl-SI" sz="1600" dirty="0">
                <a:latin typeface="Arial" charset="0"/>
                <a:cs typeface="Arial" charset="0"/>
              </a:rPr>
              <a:t>Imenujmo sliki “leva” in “desna”.</a:t>
            </a:r>
          </a:p>
          <a:p>
            <a:pPr marL="342900" indent="-342900" eaLnBrk="1" hangingPunct="1">
              <a:spcBef>
                <a:spcPts val="600"/>
              </a:spcBef>
              <a:buFont typeface="Arial" charset="0"/>
              <a:buAutoNum type="arabicPeriod"/>
              <a:defRPr/>
            </a:pPr>
            <a:r>
              <a:rPr lang="sl-SI" sz="1600" dirty="0">
                <a:latin typeface="Arial" charset="0"/>
                <a:cs typeface="Arial" charset="0"/>
              </a:rPr>
              <a:t>Točko v prostoru označimo v koordinatnem sistemu leve kamere s koordinatami </a:t>
            </a:r>
            <a:r>
              <a:rPr lang="sl-SI" sz="1600" b="1" dirty="0">
                <a:latin typeface="Arial" charset="0"/>
                <a:cs typeface="Arial" charset="0"/>
              </a:rPr>
              <a:t>p</a:t>
            </a:r>
            <a:r>
              <a:rPr lang="sl-SI" sz="1600" i="1" baseline="-25000" dirty="0">
                <a:latin typeface="Arial" charset="0"/>
                <a:cs typeface="Arial" charset="0"/>
              </a:rPr>
              <a:t>l</a:t>
            </a:r>
            <a:r>
              <a:rPr lang="sl-SI" sz="1600" dirty="0">
                <a:latin typeface="Arial" charset="0"/>
                <a:cs typeface="Arial" charset="0"/>
              </a:rPr>
              <a:t>=[</a:t>
            </a:r>
            <a:r>
              <a:rPr lang="sl-SI" sz="1600" i="1" dirty="0" err="1">
                <a:latin typeface="Arial" charset="0"/>
                <a:cs typeface="Arial" charset="0"/>
              </a:rPr>
              <a:t>X</a:t>
            </a:r>
            <a:r>
              <a:rPr lang="sl-SI" sz="1600" i="1" baseline="-25000" dirty="0" err="1">
                <a:latin typeface="Arial" charset="0"/>
                <a:cs typeface="Arial" charset="0"/>
              </a:rPr>
              <a:t>l</a:t>
            </a:r>
            <a:r>
              <a:rPr lang="sl-SI" sz="1600" dirty="0">
                <a:latin typeface="Arial" charset="0"/>
                <a:cs typeface="Arial" charset="0"/>
              </a:rPr>
              <a:t>,</a:t>
            </a:r>
            <a:r>
              <a:rPr lang="sl-SI" sz="1600" i="1" dirty="0" err="1">
                <a:latin typeface="Arial" charset="0"/>
                <a:cs typeface="Arial" charset="0"/>
              </a:rPr>
              <a:t>Y</a:t>
            </a:r>
            <a:r>
              <a:rPr lang="sl-SI" sz="1600" i="1" baseline="-25000" dirty="0" err="1">
                <a:latin typeface="Arial" charset="0"/>
                <a:cs typeface="Arial" charset="0"/>
              </a:rPr>
              <a:t>l</a:t>
            </a:r>
            <a:r>
              <a:rPr lang="sl-SI" sz="1600" dirty="0">
                <a:latin typeface="Arial" charset="0"/>
                <a:cs typeface="Arial" charset="0"/>
              </a:rPr>
              <a:t>,</a:t>
            </a:r>
            <a:r>
              <a:rPr lang="sl-SI" sz="1600" i="1" dirty="0" err="1">
                <a:latin typeface="Arial" charset="0"/>
                <a:cs typeface="Arial" charset="0"/>
              </a:rPr>
              <a:t>Z</a:t>
            </a:r>
            <a:r>
              <a:rPr lang="sl-SI" sz="1600" i="1" baseline="-25000" dirty="0" err="1">
                <a:latin typeface="Arial" charset="0"/>
                <a:cs typeface="Arial" charset="0"/>
              </a:rPr>
              <a:t>l</a:t>
            </a:r>
            <a:r>
              <a:rPr lang="sl-SI" sz="1600" dirty="0">
                <a:latin typeface="Arial" charset="0"/>
                <a:cs typeface="Arial" charset="0"/>
              </a:rPr>
              <a:t>]</a:t>
            </a:r>
            <a:r>
              <a:rPr lang="sl-SI" sz="1600" i="1" baseline="30000" dirty="0">
                <a:latin typeface="Arial" charset="0"/>
                <a:cs typeface="Arial" charset="0"/>
              </a:rPr>
              <a:t>T</a:t>
            </a:r>
            <a:r>
              <a:rPr lang="sl-SI" sz="1600" dirty="0">
                <a:latin typeface="Arial" charset="0"/>
                <a:cs typeface="Arial" charset="0"/>
              </a:rPr>
              <a:t>, v koordinatnem sistemu desne kamere pa s </a:t>
            </a:r>
            <a:r>
              <a:rPr lang="sl-SI" sz="1600" b="1" dirty="0" err="1">
                <a:latin typeface="Arial" charset="0"/>
                <a:cs typeface="Arial" charset="0"/>
              </a:rPr>
              <a:t>p</a:t>
            </a:r>
            <a:r>
              <a:rPr lang="sl-SI" sz="1600" i="1" baseline="-25000" dirty="0" err="1">
                <a:latin typeface="Arial" charset="0"/>
                <a:cs typeface="Arial" charset="0"/>
              </a:rPr>
              <a:t>d</a:t>
            </a:r>
            <a:r>
              <a:rPr lang="sl-SI" sz="1600" dirty="0">
                <a:latin typeface="Arial" charset="0"/>
                <a:cs typeface="Arial" charset="0"/>
              </a:rPr>
              <a:t>=[</a:t>
            </a:r>
            <a:r>
              <a:rPr lang="sl-SI" sz="1600" i="1" dirty="0" err="1">
                <a:latin typeface="Arial" charset="0"/>
                <a:cs typeface="Arial" charset="0"/>
              </a:rPr>
              <a:t>X</a:t>
            </a:r>
            <a:r>
              <a:rPr lang="sl-SI" sz="1600" i="1" baseline="-25000" dirty="0" err="1">
                <a:latin typeface="Arial" charset="0"/>
                <a:cs typeface="Arial" charset="0"/>
              </a:rPr>
              <a:t>d</a:t>
            </a:r>
            <a:r>
              <a:rPr lang="sl-SI" sz="1600" dirty="0">
                <a:latin typeface="Arial" charset="0"/>
                <a:cs typeface="Arial" charset="0"/>
              </a:rPr>
              <a:t>,</a:t>
            </a:r>
            <a:r>
              <a:rPr lang="sl-SI" sz="1600" i="1" dirty="0" err="1">
                <a:latin typeface="Arial" charset="0"/>
                <a:cs typeface="Arial" charset="0"/>
              </a:rPr>
              <a:t>Y</a:t>
            </a:r>
            <a:r>
              <a:rPr lang="sl-SI" sz="1600" i="1" baseline="-25000" dirty="0" err="1">
                <a:latin typeface="Arial" charset="0"/>
                <a:cs typeface="Arial" charset="0"/>
              </a:rPr>
              <a:t>d</a:t>
            </a:r>
            <a:r>
              <a:rPr lang="sl-SI" sz="1600" dirty="0">
                <a:latin typeface="Arial" charset="0"/>
                <a:cs typeface="Arial" charset="0"/>
              </a:rPr>
              <a:t>,</a:t>
            </a:r>
            <a:r>
              <a:rPr lang="sl-SI" sz="1600" i="1" dirty="0" err="1">
                <a:latin typeface="Arial" charset="0"/>
                <a:cs typeface="Arial" charset="0"/>
              </a:rPr>
              <a:t>Z</a:t>
            </a:r>
            <a:r>
              <a:rPr lang="sl-SI" sz="1600" i="1" baseline="-25000" dirty="0" err="1">
                <a:latin typeface="Arial" charset="0"/>
                <a:cs typeface="Arial" charset="0"/>
              </a:rPr>
              <a:t>d</a:t>
            </a:r>
            <a:r>
              <a:rPr lang="sl-SI" sz="1600" dirty="0">
                <a:latin typeface="Arial" charset="0"/>
                <a:cs typeface="Arial" charset="0"/>
              </a:rPr>
              <a:t>]</a:t>
            </a:r>
            <a:r>
              <a:rPr lang="sl-SI" sz="1600" i="1" baseline="30000" dirty="0">
                <a:latin typeface="Arial" charset="0"/>
                <a:cs typeface="Arial" charset="0"/>
              </a:rPr>
              <a:t>T</a:t>
            </a:r>
            <a:endParaRPr lang="sl-SI" sz="1600" dirty="0">
              <a:latin typeface="Arial" charset="0"/>
              <a:cs typeface="Arial" charset="0"/>
            </a:endParaRPr>
          </a:p>
          <a:p>
            <a:pPr marL="342900" indent="-342900" eaLnBrk="1" hangingPunct="1">
              <a:spcBef>
                <a:spcPts val="600"/>
              </a:spcBef>
              <a:buFont typeface="Arial" charset="0"/>
              <a:buAutoNum type="arabicPeriod"/>
              <a:defRPr/>
            </a:pPr>
            <a:r>
              <a:rPr lang="sl-SI" sz="1600" dirty="0">
                <a:latin typeface="Arial" charset="0"/>
                <a:cs typeface="Arial" charset="0"/>
              </a:rPr>
              <a:t>Projekciji na levi in desni sliki opredelimo s koordinatami (</a:t>
            </a:r>
            <a:r>
              <a:rPr lang="sl-SI" sz="1600" i="1" dirty="0" err="1">
                <a:latin typeface="Arial" charset="0"/>
                <a:cs typeface="Arial" charset="0"/>
              </a:rPr>
              <a:t>x</a:t>
            </a:r>
            <a:r>
              <a:rPr lang="sl-SI" sz="1600" i="1" baseline="-25000" dirty="0" err="1">
                <a:latin typeface="Arial" charset="0"/>
                <a:cs typeface="Arial" charset="0"/>
              </a:rPr>
              <a:t>l</a:t>
            </a:r>
            <a:r>
              <a:rPr lang="sl-SI" sz="1600" dirty="0">
                <a:latin typeface="Arial" charset="0"/>
                <a:cs typeface="Arial" charset="0"/>
              </a:rPr>
              <a:t>,</a:t>
            </a:r>
            <a:r>
              <a:rPr lang="sl-SI" sz="1600" i="1" dirty="0" err="1">
                <a:latin typeface="Arial" charset="0"/>
                <a:cs typeface="Arial" charset="0"/>
              </a:rPr>
              <a:t>y</a:t>
            </a:r>
            <a:r>
              <a:rPr lang="sl-SI" sz="1600" i="1" baseline="-25000" dirty="0" err="1">
                <a:latin typeface="Arial" charset="0"/>
                <a:cs typeface="Arial" charset="0"/>
              </a:rPr>
              <a:t>l</a:t>
            </a:r>
            <a:r>
              <a:rPr lang="sl-SI" sz="1600" dirty="0">
                <a:latin typeface="Arial" charset="0"/>
                <a:cs typeface="Arial" charset="0"/>
              </a:rPr>
              <a:t>) in (</a:t>
            </a:r>
            <a:r>
              <a:rPr lang="sl-SI" sz="1600" i="1" dirty="0" err="1">
                <a:latin typeface="Arial" charset="0"/>
                <a:cs typeface="Arial" charset="0"/>
              </a:rPr>
              <a:t>x</a:t>
            </a:r>
            <a:r>
              <a:rPr lang="sl-SI" sz="1600" i="1" baseline="-25000" dirty="0" err="1">
                <a:latin typeface="Arial" charset="0"/>
                <a:cs typeface="Arial" charset="0"/>
              </a:rPr>
              <a:t>d</a:t>
            </a:r>
            <a:r>
              <a:rPr lang="sl-SI" sz="1600" dirty="0">
                <a:latin typeface="Arial" charset="0"/>
                <a:cs typeface="Arial" charset="0"/>
              </a:rPr>
              <a:t>,</a:t>
            </a:r>
            <a:r>
              <a:rPr lang="sl-SI" sz="1600" i="1" dirty="0" err="1">
                <a:latin typeface="Arial" charset="0"/>
                <a:cs typeface="Arial" charset="0"/>
              </a:rPr>
              <a:t>y</a:t>
            </a:r>
            <a:r>
              <a:rPr lang="sl-SI" sz="1600" i="1" baseline="-25000" dirty="0" err="1">
                <a:latin typeface="Arial" charset="0"/>
                <a:cs typeface="Arial" charset="0"/>
              </a:rPr>
              <a:t>d</a:t>
            </a:r>
            <a:r>
              <a:rPr lang="sl-SI" sz="1600" dirty="0">
                <a:latin typeface="Arial" charset="0"/>
                <a:cs typeface="Arial" charset="0"/>
              </a:rPr>
              <a:t>).</a:t>
            </a:r>
          </a:p>
          <a:p>
            <a:pPr marL="342900" indent="-342900" eaLnBrk="1" hangingPunct="1">
              <a:spcBef>
                <a:spcPts val="600"/>
              </a:spcBef>
              <a:buFont typeface="Arial" charset="0"/>
              <a:buAutoNum type="arabicPeriod"/>
              <a:defRPr/>
            </a:pPr>
            <a:r>
              <a:rPr lang="sl-SI" sz="1600" dirty="0">
                <a:latin typeface="Arial" charset="0"/>
                <a:cs typeface="Arial" charset="0"/>
              </a:rPr>
              <a:t>Vzemimo, da imata obe kameri enako goriščno razdaljo </a:t>
            </a:r>
            <a:r>
              <a:rPr lang="sl-SI" sz="1600" i="1" dirty="0">
                <a:latin typeface="Arial" charset="0"/>
                <a:cs typeface="Arial" charset="0"/>
              </a:rPr>
              <a:t>f</a:t>
            </a:r>
            <a:r>
              <a:rPr lang="sl-SI" sz="1600" dirty="0">
                <a:latin typeface="Arial" charset="0"/>
                <a:cs typeface="Arial" charset="0"/>
              </a:rPr>
              <a:t>.</a:t>
            </a:r>
          </a:p>
          <a:p>
            <a:pPr marL="342900" indent="-342900" eaLnBrk="1" hangingPunct="1">
              <a:spcBef>
                <a:spcPts val="600"/>
              </a:spcBef>
              <a:buFont typeface="Arial" charset="0"/>
              <a:buAutoNum type="arabicPeriod"/>
              <a:defRPr/>
            </a:pPr>
            <a:r>
              <a:rPr lang="sl-SI" sz="1600" dirty="0">
                <a:latin typeface="Arial" charset="0"/>
                <a:cs typeface="Arial" charset="0"/>
              </a:rPr>
              <a:t>Tedaj velja:</a:t>
            </a:r>
          </a:p>
          <a:p>
            <a:pPr marL="342900" indent="-342900" eaLnBrk="1" hangingPunct="1">
              <a:spcBef>
                <a:spcPts val="600"/>
              </a:spcBef>
              <a:buFont typeface="Arial" charset="0"/>
              <a:buAutoNum type="arabicPeriod"/>
              <a:defRPr/>
            </a:pPr>
            <a:endParaRPr lang="sl-SI" sz="1600" dirty="0">
              <a:latin typeface="Arial" charset="0"/>
              <a:cs typeface="Arial" charset="0"/>
            </a:endParaRPr>
          </a:p>
          <a:p>
            <a:pPr marL="342900" indent="-342900" eaLnBrk="1" hangingPunct="1">
              <a:spcBef>
                <a:spcPts val="600"/>
              </a:spcBef>
              <a:buFont typeface="Arial" charset="0"/>
              <a:buAutoNum type="arabicPeriod"/>
              <a:defRPr/>
            </a:pPr>
            <a:endParaRPr lang="sl-SI" sz="1600" dirty="0">
              <a:latin typeface="Arial" charset="0"/>
              <a:cs typeface="Arial" charset="0"/>
            </a:endParaRPr>
          </a:p>
          <a:p>
            <a:pPr marL="342900" indent="-342900" eaLnBrk="1" hangingPunct="1">
              <a:spcBef>
                <a:spcPts val="600"/>
              </a:spcBef>
              <a:buFont typeface="Arial" charset="0"/>
              <a:buAutoNum type="arabicPeriod"/>
              <a:defRPr/>
            </a:pPr>
            <a:endParaRPr lang="sl-SI" sz="1600" dirty="0">
              <a:latin typeface="Arial" charset="0"/>
              <a:cs typeface="Arial" charset="0"/>
            </a:endParaRPr>
          </a:p>
          <a:p>
            <a:pPr marL="342900" indent="-342900" eaLnBrk="1" hangingPunct="1">
              <a:spcBef>
                <a:spcPts val="600"/>
              </a:spcBef>
              <a:buFont typeface="Arial" charset="0"/>
              <a:buAutoNum type="arabicPeriod"/>
              <a:defRPr/>
            </a:pPr>
            <a:endParaRPr lang="sl-SI" sz="1600" dirty="0">
              <a:latin typeface="Arial" charset="0"/>
              <a:cs typeface="Arial" charset="0"/>
            </a:endParaRPr>
          </a:p>
          <a:p>
            <a:pPr marL="342900" indent="-342900" eaLnBrk="1" hangingPunct="1">
              <a:spcBef>
                <a:spcPts val="600"/>
              </a:spcBef>
              <a:buFont typeface="Arial" charset="0"/>
              <a:buAutoNum type="arabicPeriod"/>
              <a:defRPr/>
            </a:pPr>
            <a:r>
              <a:rPr lang="sl-SI" sz="1600" dirty="0">
                <a:latin typeface="Arial" charset="0"/>
                <a:cs typeface="Arial" charset="0"/>
              </a:rPr>
              <a:t>Položaj desne kamere lahko izrazimo s položajem leve kamere, ki jo premaknemo in zasučemo:</a:t>
            </a:r>
          </a:p>
          <a:p>
            <a:pPr marL="2171700" lvl="4" indent="-342900" eaLnBrk="1" hangingPunct="1">
              <a:spcBef>
                <a:spcPts val="600"/>
              </a:spcBef>
              <a:defRPr/>
            </a:pPr>
            <a:r>
              <a:rPr lang="sl-SI" sz="1600" dirty="0">
                <a:latin typeface="Arial" charset="0"/>
                <a:cs typeface="Arial" charset="0"/>
              </a:rPr>
              <a:t>;  </a:t>
            </a:r>
            <a:r>
              <a:rPr lang="sl-SI" sz="1600" b="1" dirty="0">
                <a:latin typeface="Arial" charset="0"/>
                <a:cs typeface="Arial" charset="0"/>
              </a:rPr>
              <a:t>R</a:t>
            </a:r>
            <a:r>
              <a:rPr lang="sl-SI" sz="1600" dirty="0">
                <a:latin typeface="Arial" charset="0"/>
                <a:cs typeface="Arial" charset="0"/>
              </a:rPr>
              <a:t> – rotacijska matrika, </a:t>
            </a:r>
            <a:r>
              <a:rPr lang="sl-SI" sz="1600" b="1" dirty="0">
                <a:latin typeface="Arial" charset="0"/>
                <a:cs typeface="Arial" charset="0"/>
              </a:rPr>
              <a:t>t</a:t>
            </a:r>
            <a:r>
              <a:rPr lang="sl-SI" sz="1600" dirty="0">
                <a:latin typeface="Arial" charset="0"/>
                <a:cs typeface="Arial" charset="0"/>
              </a:rPr>
              <a:t> – vektor premika</a:t>
            </a:r>
          </a:p>
          <a:p>
            <a:pPr marL="342900" lvl="4" indent="-342900" eaLnBrk="1" hangingPunct="1">
              <a:spcBef>
                <a:spcPts val="600"/>
              </a:spcBef>
              <a:buFont typeface="+mj-lt"/>
              <a:buAutoNum type="arabicPeriod" startAt="7"/>
              <a:defRPr/>
            </a:pPr>
            <a:r>
              <a:rPr lang="sl-SI" sz="1600" dirty="0">
                <a:latin typeface="Arial" charset="0"/>
                <a:cs typeface="Arial" charset="0"/>
              </a:rPr>
              <a:t>Če vzamemo identični kameri in popolnoma poravnamo njuni optični osi, velja:</a:t>
            </a:r>
          </a:p>
          <a:p>
            <a:pPr marL="342900" lvl="4" indent="-342900" eaLnBrk="1" hangingPunct="1">
              <a:spcBef>
                <a:spcPts val="1800"/>
              </a:spcBef>
              <a:defRPr/>
            </a:pPr>
            <a:r>
              <a:rPr lang="sl-SI" sz="1600" dirty="0">
                <a:latin typeface="Arial" charset="0"/>
                <a:cs typeface="Arial" charset="0"/>
              </a:rPr>
              <a:t>					    ; </a:t>
            </a:r>
            <a:r>
              <a:rPr lang="sl-SI" sz="1600" i="1" dirty="0">
                <a:latin typeface="Arial" charset="0"/>
                <a:cs typeface="Arial" charset="0"/>
              </a:rPr>
              <a:t>t</a:t>
            </a:r>
            <a:r>
              <a:rPr lang="sl-SI" sz="1600" dirty="0">
                <a:latin typeface="Arial" charset="0"/>
                <a:cs typeface="Arial" charset="0"/>
              </a:rPr>
              <a:t> – premik le vzdolž koordinatne osi </a:t>
            </a:r>
            <a:r>
              <a:rPr lang="sl-SI" sz="1600" i="1" dirty="0">
                <a:latin typeface="Arial" charset="0"/>
                <a:cs typeface="Arial" charset="0"/>
              </a:rPr>
              <a:t>x</a:t>
            </a:r>
            <a:r>
              <a:rPr lang="sl-SI" sz="1600" dirty="0">
                <a:latin typeface="Arial" charset="0"/>
                <a:cs typeface="Arial" charset="0"/>
              </a:rPr>
              <a:t> </a:t>
            </a:r>
          </a:p>
        </p:txBody>
      </p:sp>
      <p:sp>
        <p:nvSpPr>
          <p:cNvPr id="18739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8739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187400" name="Slika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097213"/>
            <a:ext cx="2560637"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401" name="Slika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3700463"/>
            <a:ext cx="273685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402" name="Slika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5589588"/>
            <a:ext cx="3494087"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403" name="Slika 6"/>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54100" y="4986338"/>
            <a:ext cx="1281113"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894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B1530BF-F1E1-41F4-AACB-73FB861798F7}" type="slidenum">
              <a:rPr lang="en-GB" altLang="en-US" sz="1400" smtClean="0"/>
              <a:pPr>
                <a:spcBef>
                  <a:spcPct val="0"/>
                </a:spcBef>
                <a:buFontTx/>
                <a:buNone/>
              </a:pPr>
              <a:t>95</a:t>
            </a:fld>
            <a:endParaRPr lang="en-GB" altLang="en-US" sz="1400"/>
          </a:p>
        </p:txBody>
      </p:sp>
      <p:sp>
        <p:nvSpPr>
          <p:cNvPr id="189444" name="Rectangle 2"/>
          <p:cNvSpPr>
            <a:spLocks noGrp="1" noChangeArrowheads="1"/>
          </p:cNvSpPr>
          <p:nvPr>
            <p:ph type="ctrTitle"/>
          </p:nvPr>
        </p:nvSpPr>
        <p:spPr>
          <a:xfrm>
            <a:off x="900113" y="288925"/>
            <a:ext cx="7416800" cy="936625"/>
          </a:xfrm>
        </p:spPr>
        <p:txBody>
          <a:bodyPr/>
          <a:lstStyle/>
          <a:p>
            <a:pPr defTabSz="912813" eaLnBrk="1" hangingPunct="1"/>
            <a:r>
              <a:rPr lang="sl-SI" altLang="en-US" sz="2800" b="1"/>
              <a:t>DVA POGLEDA NA ISTO SCENO – STEREO POGLED</a:t>
            </a:r>
            <a:endParaRPr lang="en-GB" altLang="en-US" sz="2000"/>
          </a:p>
        </p:txBody>
      </p:sp>
      <p:sp>
        <p:nvSpPr>
          <p:cNvPr id="189445" name="TextBox 5"/>
          <p:cNvSpPr txBox="1">
            <a:spLocks noChangeArrowheads="1"/>
          </p:cNvSpPr>
          <p:nvPr/>
        </p:nvSpPr>
        <p:spPr bwMode="auto">
          <a:xfrm>
            <a:off x="611188" y="1268413"/>
            <a:ext cx="7989887" cy="487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Razdalja prostorske točke od poravnanih projekcijskih središč obeh kamer, imenovana globina, je torej:</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None/>
            </a:pPr>
            <a:r>
              <a:rPr lang="sl-SI" altLang="en-US" sz="1600"/>
              <a:t>	pri čemer je razlika med koordinatama projiciranih točk (koordinate v smeri premika med kamerama) poimenovana </a:t>
            </a:r>
            <a:r>
              <a:rPr lang="sl-SI" altLang="en-US" sz="1600">
                <a:solidFill>
                  <a:srgbClr val="0000FF"/>
                </a:solidFill>
              </a:rPr>
              <a:t>razlika oz. dispariteta </a:t>
            </a:r>
            <a:r>
              <a:rPr lang="sl-SI" altLang="en-US" sz="1600"/>
              <a:t>(</a:t>
            </a:r>
            <a:r>
              <a:rPr lang="sl-SI" altLang="en-US" sz="1600" i="1"/>
              <a:t>disparity</a:t>
            </a:r>
            <a:r>
              <a:rPr lang="sl-SI" altLang="en-US" sz="1600"/>
              <a:t>) </a:t>
            </a:r>
            <a:r>
              <a:rPr lang="sl-SI" altLang="en-US" sz="1600" i="1">
                <a:solidFill>
                  <a:srgbClr val="0000FF"/>
                </a:solidFill>
              </a:rPr>
              <a:t>d</a:t>
            </a:r>
            <a:r>
              <a:rPr lang="sl-SI" altLang="en-US" sz="1600"/>
              <a:t>.</a:t>
            </a:r>
          </a:p>
          <a:p>
            <a:pPr eaLnBrk="1" hangingPunct="1">
              <a:spcBef>
                <a:spcPts val="600"/>
              </a:spcBef>
              <a:buFontTx/>
              <a:buAutoNum type="arabicPeriod" startAt="2"/>
            </a:pPr>
            <a:r>
              <a:rPr lang="sl-SI" altLang="en-US" sz="1600">
                <a:solidFill>
                  <a:srgbClr val="0000FF"/>
                </a:solidFill>
              </a:rPr>
              <a:t>Slikovna globina </a:t>
            </a:r>
            <a:r>
              <a:rPr lang="sl-SI" altLang="en-US" sz="1600"/>
              <a:t>(</a:t>
            </a:r>
            <a:r>
              <a:rPr lang="sl-SI" altLang="en-US" sz="1600" i="1"/>
              <a:t>range image</a:t>
            </a:r>
            <a:r>
              <a:rPr lang="sl-SI" altLang="en-US" sz="1600"/>
              <a:t>) je obratno sorazmerna s slikovno dispariteto.</a:t>
            </a:r>
          </a:p>
          <a:p>
            <a:pPr eaLnBrk="1" hangingPunct="1">
              <a:spcBef>
                <a:spcPts val="600"/>
              </a:spcBef>
              <a:buFontTx/>
              <a:buAutoNum type="arabicPeriod" startAt="2"/>
            </a:pPr>
            <a:r>
              <a:rPr lang="sl-SI" altLang="en-US" sz="1600"/>
              <a:t>Dispariteta </a:t>
            </a:r>
            <a:r>
              <a:rPr lang="sl-SI" altLang="en-US" sz="1600" i="1"/>
              <a:t>d</a:t>
            </a:r>
            <a:r>
              <a:rPr lang="sl-SI" altLang="en-US" sz="1600"/>
              <a:t> mora imeti dolžinske enote. Pri delu s slikami je običajno, da razmere opisujemo s številom pikslov, zato tako izrazimo tudi dispariteto, označeno z </a:t>
            </a:r>
            <a:r>
              <a:rPr lang="sl-SI" altLang="en-US" sz="1600" i="1"/>
              <a:t>d</a:t>
            </a:r>
            <a:r>
              <a:rPr lang="sl-SI" altLang="en-US" sz="1600" i="1" baseline="-25000"/>
              <a:t>p</a:t>
            </a:r>
            <a:r>
              <a:rPr lang="sl-SI" altLang="en-US" sz="1600"/>
              <a:t>:</a:t>
            </a:r>
          </a:p>
          <a:p>
            <a:pPr eaLnBrk="1" hangingPunct="1">
              <a:spcBef>
                <a:spcPts val="600"/>
              </a:spcBef>
              <a:buFontTx/>
              <a:buNone/>
            </a:pPr>
            <a:r>
              <a:rPr lang="sl-SI" altLang="en-US" sz="1600" i="1"/>
              <a:t>	d = d</a:t>
            </a:r>
            <a:r>
              <a:rPr lang="sl-SI" altLang="en-US" sz="1600" i="1" baseline="-25000"/>
              <a:t>p</a:t>
            </a:r>
            <a:r>
              <a:rPr lang="sl-SI" altLang="en-US" sz="1600" i="1"/>
              <a:t>/k</a:t>
            </a:r>
            <a:r>
              <a:rPr lang="sl-SI" altLang="en-US" sz="1600"/>
              <a:t> , pri čemer je 1/</a:t>
            </a:r>
            <a:r>
              <a:rPr lang="sl-SI" altLang="en-US" sz="1600" i="1"/>
              <a:t>k</a:t>
            </a:r>
            <a:r>
              <a:rPr lang="sl-SI" altLang="en-US" sz="1600"/>
              <a:t> širina pikslov.</a:t>
            </a:r>
          </a:p>
          <a:p>
            <a:pPr eaLnBrk="1" hangingPunct="1">
              <a:spcBef>
                <a:spcPts val="600"/>
              </a:spcBef>
              <a:buFontTx/>
              <a:buAutoNum type="arabicPeriod" startAt="4"/>
            </a:pPr>
            <a:r>
              <a:rPr lang="sl-SI" altLang="en-US" sz="1600"/>
              <a:t>Oddaljenost predmetov (globinsko sliko) izračunamo z dispariteto v pikslih:</a:t>
            </a:r>
          </a:p>
          <a:p>
            <a:pPr eaLnBrk="1" hangingPunct="1">
              <a:spcBef>
                <a:spcPts val="600"/>
              </a:spcBef>
              <a:buFontTx/>
              <a:buAutoNum type="arabicPeriod" startAt="4"/>
            </a:pPr>
            <a:endParaRPr lang="sl-SI" altLang="en-US" sz="1600"/>
          </a:p>
          <a:p>
            <a:pPr eaLnBrk="1" hangingPunct="1">
              <a:spcBef>
                <a:spcPts val="600"/>
              </a:spcBef>
              <a:buFontTx/>
              <a:buAutoNum type="arabicPeriod" startAt="2"/>
            </a:pPr>
            <a:endParaRPr lang="sl-SI" altLang="en-US" sz="1600"/>
          </a:p>
          <a:p>
            <a:pPr eaLnBrk="1" hangingPunct="1">
              <a:spcBef>
                <a:spcPts val="600"/>
              </a:spcBef>
              <a:buFontTx/>
              <a:buAutoNum type="arabicPeriod" startAt="5"/>
            </a:pPr>
            <a:r>
              <a:rPr lang="sl-SI" altLang="en-US" sz="1600"/>
              <a:t>Postavitev dveh identičnih kamer s popolnoma poravnanima optičnima osema imenujemo </a:t>
            </a:r>
            <a:r>
              <a:rPr lang="sl-SI" altLang="en-US" sz="1600">
                <a:solidFill>
                  <a:srgbClr val="FF9933"/>
                </a:solidFill>
              </a:rPr>
              <a:t>stereo kamera</a:t>
            </a:r>
            <a:r>
              <a:rPr lang="sl-SI" altLang="en-US" sz="1600"/>
              <a:t>. Taka kamera zagotavlja </a:t>
            </a:r>
            <a:r>
              <a:rPr lang="sl-SI" altLang="en-US" sz="1600">
                <a:solidFill>
                  <a:srgbClr val="0000FF"/>
                </a:solidFill>
              </a:rPr>
              <a:t>binokularni pogled</a:t>
            </a:r>
            <a:r>
              <a:rPr lang="sl-SI" altLang="en-US" sz="1600"/>
              <a:t>.</a:t>
            </a:r>
          </a:p>
          <a:p>
            <a:pPr eaLnBrk="1" hangingPunct="1">
              <a:spcBef>
                <a:spcPts val="600"/>
              </a:spcBef>
              <a:buFontTx/>
              <a:buAutoNum type="arabicPeriod" startAt="5"/>
            </a:pPr>
            <a:endParaRPr lang="sl-SI" altLang="en-US" sz="1600"/>
          </a:p>
        </p:txBody>
      </p:sp>
      <p:sp>
        <p:nvSpPr>
          <p:cNvPr id="189446"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8944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189448" name="Slika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844675"/>
            <a:ext cx="1560512"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9449" name="Slika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4519613"/>
            <a:ext cx="10922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85"/>
          <p:cNvSpPr>
            <a:spLocks noChangeArrowheads="1"/>
          </p:cNvSpPr>
          <p:nvPr/>
        </p:nvSpPr>
        <p:spPr bwMode="auto">
          <a:xfrm>
            <a:off x="611188" y="908050"/>
            <a:ext cx="8281987"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Računanje slikovne globine ne more biti neskončno natančno, ker je odvisno od ločljivosti slike oz. velikosti pikslov.</a:t>
            </a:r>
          </a:p>
          <a:p>
            <a:pPr eaLnBrk="1" hangingPunct="1">
              <a:spcBef>
                <a:spcPts val="600"/>
              </a:spcBef>
              <a:buFontTx/>
              <a:buAutoNum type="arabicPeriod"/>
            </a:pPr>
            <a:r>
              <a:rPr lang="sl-SI" altLang="en-US" sz="1800"/>
              <a:t>Čim nižja je ločljivost, tem manj je diskretiziranih oddaljenosti, ki jih lahko določimo iz slikovnih razlik.</a:t>
            </a:r>
          </a:p>
          <a:p>
            <a:pPr eaLnBrk="1" hangingPunct="1">
              <a:spcBef>
                <a:spcPts val="600"/>
              </a:spcBef>
              <a:buFontTx/>
              <a:buAutoNum type="arabicPeriod"/>
            </a:pPr>
            <a:r>
              <a:rPr lang="sl-SI" altLang="en-US" sz="1800"/>
              <a:t>Kakšna pa je odvisnost od premika med kamerama (pogledoma), torej od </a:t>
            </a:r>
            <a:r>
              <a:rPr lang="sl-SI" altLang="en-US" sz="1800" b="1"/>
              <a:t>t</a:t>
            </a:r>
            <a:r>
              <a:rPr lang="sl-SI" altLang="en-US" sz="1800"/>
              <a:t>? </a:t>
            </a:r>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None/>
            </a:pPr>
            <a:endParaRPr lang="sl-SI" altLang="en-US" sz="1800"/>
          </a:p>
          <a:p>
            <a:pPr eaLnBrk="1" hangingPunct="1">
              <a:spcBef>
                <a:spcPts val="2400"/>
              </a:spcBef>
              <a:buFontTx/>
              <a:buAutoNum type="arabicPeriod" startAt="4"/>
            </a:pPr>
            <a:r>
              <a:rPr lang="sl-SI" altLang="en-US" sz="1800"/>
              <a:t>Za določanje oddaljenosti moramo točko videti v obeh pogledih, kar omejuje območje binokularnega pogleda. </a:t>
            </a:r>
          </a:p>
        </p:txBody>
      </p:sp>
      <p:sp>
        <p:nvSpPr>
          <p:cNvPr id="191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9149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328550E-50B5-4B24-87D5-39F9592C6EF5}" type="slidenum">
              <a:rPr lang="en-GB" altLang="en-US" sz="1400" smtClean="0"/>
              <a:pPr>
                <a:spcBef>
                  <a:spcPct val="0"/>
                </a:spcBef>
                <a:buFontTx/>
                <a:buNone/>
              </a:pPr>
              <a:t>96</a:t>
            </a:fld>
            <a:endParaRPr lang="en-GB" altLang="en-US" sz="1400"/>
          </a:p>
        </p:txBody>
      </p:sp>
      <p:sp>
        <p:nvSpPr>
          <p:cNvPr id="191493" name="Rectangle 2"/>
          <p:cNvSpPr>
            <a:spLocks noGrp="1" noChangeArrowheads="1"/>
          </p:cNvSpPr>
          <p:nvPr>
            <p:ph type="ctrTitle"/>
          </p:nvPr>
        </p:nvSpPr>
        <p:spPr>
          <a:xfrm>
            <a:off x="900113" y="0"/>
            <a:ext cx="7416800" cy="763588"/>
          </a:xfrm>
        </p:spPr>
        <p:txBody>
          <a:bodyPr/>
          <a:lstStyle/>
          <a:p>
            <a:pPr defTabSz="912813" eaLnBrk="1" hangingPunct="1"/>
            <a:r>
              <a:rPr lang="sl-SI" altLang="en-US" sz="2800" b="1"/>
              <a:t>STEREO POGLED – GLOBINSKA SLIKA</a:t>
            </a:r>
            <a:endParaRPr lang="en-GB" altLang="en-US" sz="2000"/>
          </a:p>
        </p:txBody>
      </p:sp>
      <p:sp>
        <p:nvSpPr>
          <p:cNvPr id="191494"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9149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2" name="Rectangle 2"/>
          <p:cNvSpPr>
            <a:spLocks noChangeArrowheads="1"/>
          </p:cNvSpPr>
          <p:nvPr/>
        </p:nvSpPr>
        <p:spPr bwMode="auto">
          <a:xfrm>
            <a:off x="990600" y="1676400"/>
            <a:ext cx="3509963" cy="3481388"/>
          </a:xfrm>
          <a:prstGeom prst="rect">
            <a:avLst/>
          </a:prstGeom>
          <a:noFill/>
          <a:ln w="12700">
            <a:noFill/>
            <a:miter lim="800000"/>
            <a:headEnd/>
            <a:tailEnd/>
          </a:ln>
          <a:effectLst/>
        </p:spPr>
        <p:txBody>
          <a:bodyPr wrap="none" anchor="ctr"/>
          <a:lstStyle/>
          <a:p>
            <a:pPr eaLnBrk="1" fontAlgn="auto" hangingPunct="1">
              <a:spcBef>
                <a:spcPts val="0"/>
              </a:spcBef>
              <a:spcAft>
                <a:spcPts val="0"/>
              </a:spcAft>
              <a:defRPr/>
            </a:pPr>
            <a:endParaRPr lang="sl-SI" kern="0">
              <a:solidFill>
                <a:sysClr val="windowText" lastClr="000000"/>
              </a:solidFill>
              <a:latin typeface="Arial" charset="0"/>
              <a:cs typeface="Arial" charset="0"/>
            </a:endParaRPr>
          </a:p>
        </p:txBody>
      </p:sp>
      <p:sp>
        <p:nvSpPr>
          <p:cNvPr id="191497" name="Rectangle 2"/>
          <p:cNvSpPr>
            <a:spLocks noChangeArrowheads="1"/>
          </p:cNvSpPr>
          <p:nvPr/>
        </p:nvSpPr>
        <p:spPr bwMode="auto">
          <a:xfrm>
            <a:off x="990600" y="1676400"/>
            <a:ext cx="33528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nvGrpSpPr>
          <p:cNvPr id="191498" name="Group 83"/>
          <p:cNvGrpSpPr>
            <a:grpSpLocks/>
          </p:cNvGrpSpPr>
          <p:nvPr/>
        </p:nvGrpSpPr>
        <p:grpSpPr bwMode="auto">
          <a:xfrm>
            <a:off x="1187450" y="3141663"/>
            <a:ext cx="3816350" cy="2001837"/>
            <a:chOff x="1187624" y="3140968"/>
            <a:chExt cx="3816424" cy="2001890"/>
          </a:xfrm>
        </p:grpSpPr>
        <p:grpSp>
          <p:nvGrpSpPr>
            <p:cNvPr id="191532" name="Group 48"/>
            <p:cNvGrpSpPr>
              <a:grpSpLocks/>
            </p:cNvGrpSpPr>
            <p:nvPr/>
          </p:nvGrpSpPr>
          <p:grpSpPr bwMode="auto">
            <a:xfrm>
              <a:off x="1187624" y="3140968"/>
              <a:ext cx="3816424" cy="2001890"/>
              <a:chOff x="1187624" y="3140968"/>
              <a:chExt cx="3816424" cy="2001890"/>
            </a:xfrm>
          </p:grpSpPr>
          <p:cxnSp>
            <p:nvCxnSpPr>
              <p:cNvPr id="39" name="Straight Connector 38"/>
              <p:cNvCxnSpPr>
                <a:stCxn id="191520" idx="1"/>
              </p:cNvCxnSpPr>
              <p:nvPr/>
            </p:nvCxnSpPr>
            <p:spPr>
              <a:xfrm flipH="1" flipV="1">
                <a:off x="1187624" y="3212407"/>
                <a:ext cx="2681340" cy="1876475"/>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3910240" y="4293524"/>
                <a:ext cx="1093808" cy="847747"/>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1851212" y="3140968"/>
                <a:ext cx="2562275" cy="200189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flipV="1">
                <a:off x="1187624" y="4653895"/>
                <a:ext cx="665176" cy="474676"/>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grpSp>
        <p:grpSp>
          <p:nvGrpSpPr>
            <p:cNvPr id="191533" name="Group 80"/>
            <p:cNvGrpSpPr>
              <a:grpSpLocks/>
            </p:cNvGrpSpPr>
            <p:nvPr/>
          </p:nvGrpSpPr>
          <p:grpSpPr bwMode="auto">
            <a:xfrm>
              <a:off x="1187624" y="3140968"/>
              <a:ext cx="3240360" cy="1224136"/>
              <a:chOff x="1187624" y="3140968"/>
              <a:chExt cx="3240360" cy="1224136"/>
            </a:xfrm>
          </p:grpSpPr>
          <p:cxnSp>
            <p:nvCxnSpPr>
              <p:cNvPr id="70" name="Straight Connector 69"/>
              <p:cNvCxnSpPr/>
              <p:nvPr/>
            </p:nvCxnSpPr>
            <p:spPr>
              <a:xfrm>
                <a:off x="1187624" y="3212407"/>
                <a:ext cx="1655795" cy="1152555"/>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2843419" y="3140968"/>
                <a:ext cx="1584356" cy="1223994"/>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grpSp>
      </p:grpSp>
      <p:grpSp>
        <p:nvGrpSpPr>
          <p:cNvPr id="191499" name="Group 84"/>
          <p:cNvGrpSpPr>
            <a:grpSpLocks/>
          </p:cNvGrpSpPr>
          <p:nvPr/>
        </p:nvGrpSpPr>
        <p:grpSpPr bwMode="auto">
          <a:xfrm>
            <a:off x="5292725" y="3068638"/>
            <a:ext cx="2808288" cy="2066925"/>
            <a:chOff x="5292080" y="3068960"/>
            <a:chExt cx="2808312" cy="2067201"/>
          </a:xfrm>
        </p:grpSpPr>
        <p:grpSp>
          <p:nvGrpSpPr>
            <p:cNvPr id="191524" name="Group 67"/>
            <p:cNvGrpSpPr>
              <a:grpSpLocks/>
            </p:cNvGrpSpPr>
            <p:nvPr/>
          </p:nvGrpSpPr>
          <p:grpSpPr bwMode="auto">
            <a:xfrm>
              <a:off x="5292080" y="3068960"/>
              <a:ext cx="2808312" cy="2067201"/>
              <a:chOff x="5292080" y="3068960"/>
              <a:chExt cx="2808312" cy="2067201"/>
            </a:xfrm>
          </p:grpSpPr>
          <p:cxnSp>
            <p:nvCxnSpPr>
              <p:cNvPr id="51" name="Straight Connector 50"/>
              <p:cNvCxnSpPr>
                <a:stCxn id="191511" idx="6"/>
              </p:cNvCxnSpPr>
              <p:nvPr/>
            </p:nvCxnSpPr>
            <p:spPr>
              <a:xfrm flipV="1">
                <a:off x="6247763" y="3068960"/>
                <a:ext cx="1852629" cy="2040209"/>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191512" idx="5"/>
              </p:cNvCxnSpPr>
              <p:nvPr/>
            </p:nvCxnSpPr>
            <p:spPr>
              <a:xfrm flipV="1">
                <a:off x="6900232" y="4293085"/>
                <a:ext cx="1055696" cy="843076"/>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191512" idx="1"/>
              </p:cNvCxnSpPr>
              <p:nvPr/>
            </p:nvCxnSpPr>
            <p:spPr>
              <a:xfrm flipH="1" flipV="1">
                <a:off x="5292080" y="3140407"/>
                <a:ext cx="1554176" cy="1941772"/>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191511" idx="0"/>
              </p:cNvCxnSpPr>
              <p:nvPr/>
            </p:nvCxnSpPr>
            <p:spPr>
              <a:xfrm flipH="1" flipV="1">
                <a:off x="5436544" y="4364533"/>
                <a:ext cx="773119" cy="706531"/>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grpSp>
        <p:grpSp>
          <p:nvGrpSpPr>
            <p:cNvPr id="191525" name="Group 81"/>
            <p:cNvGrpSpPr>
              <a:grpSpLocks/>
            </p:cNvGrpSpPr>
            <p:nvPr/>
          </p:nvGrpSpPr>
          <p:grpSpPr bwMode="auto">
            <a:xfrm>
              <a:off x="5292080" y="3140968"/>
              <a:ext cx="2721790" cy="1627718"/>
              <a:chOff x="5292080" y="3140968"/>
              <a:chExt cx="2721790" cy="1627718"/>
            </a:xfrm>
          </p:grpSpPr>
          <p:cxnSp>
            <p:nvCxnSpPr>
              <p:cNvPr id="74" name="Straight Connector 73"/>
              <p:cNvCxnSpPr/>
              <p:nvPr/>
            </p:nvCxnSpPr>
            <p:spPr>
              <a:xfrm>
                <a:off x="5292080" y="3140407"/>
                <a:ext cx="1295411" cy="1628992"/>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H="1">
                <a:off x="6573204" y="3154697"/>
                <a:ext cx="1439874" cy="1586123"/>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grpSp>
      </p:grpSp>
      <p:grpSp>
        <p:nvGrpSpPr>
          <p:cNvPr id="191500" name="Group 35"/>
          <p:cNvGrpSpPr>
            <a:grpSpLocks/>
          </p:cNvGrpSpPr>
          <p:nvPr/>
        </p:nvGrpSpPr>
        <p:grpSpPr bwMode="auto">
          <a:xfrm>
            <a:off x="1042988" y="2944813"/>
            <a:ext cx="3419475" cy="2592387"/>
            <a:chOff x="1368755" y="2944217"/>
            <a:chExt cx="3419269" cy="2592760"/>
          </a:xfrm>
        </p:grpSpPr>
        <p:grpSp>
          <p:nvGrpSpPr>
            <p:cNvPr id="191513" name="Group 31"/>
            <p:cNvGrpSpPr>
              <a:grpSpLocks/>
            </p:cNvGrpSpPr>
            <p:nvPr/>
          </p:nvGrpSpPr>
          <p:grpSpPr bwMode="auto">
            <a:xfrm>
              <a:off x="1668016" y="2944217"/>
              <a:ext cx="3048000" cy="2212975"/>
              <a:chOff x="1143000" y="1935163"/>
              <a:chExt cx="3048000" cy="2212975"/>
            </a:xfrm>
          </p:grpSpPr>
          <p:sp>
            <p:nvSpPr>
              <p:cNvPr id="191515" name="Line 3"/>
              <p:cNvSpPr>
                <a:spLocks noChangeShapeType="1"/>
              </p:cNvSpPr>
              <p:nvPr/>
            </p:nvSpPr>
            <p:spPr bwMode="auto">
              <a:xfrm flipH="1">
                <a:off x="1603375" y="1935163"/>
                <a:ext cx="1292225" cy="2212975"/>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16" name="Line 4"/>
              <p:cNvSpPr>
                <a:spLocks noChangeShapeType="1"/>
              </p:cNvSpPr>
              <p:nvPr/>
            </p:nvSpPr>
            <p:spPr bwMode="auto">
              <a:xfrm flipH="1">
                <a:off x="1603375" y="2163763"/>
                <a:ext cx="1673225" cy="1984375"/>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17" name="Line 5"/>
              <p:cNvSpPr>
                <a:spLocks noChangeShapeType="1"/>
              </p:cNvSpPr>
              <p:nvPr/>
            </p:nvSpPr>
            <p:spPr bwMode="auto">
              <a:xfrm flipH="1" flipV="1">
                <a:off x="2209800" y="2011363"/>
                <a:ext cx="1524000" cy="21336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18" name="Line 6"/>
              <p:cNvSpPr>
                <a:spLocks noChangeShapeType="1"/>
              </p:cNvSpPr>
              <p:nvPr/>
            </p:nvSpPr>
            <p:spPr bwMode="auto">
              <a:xfrm flipH="1" flipV="1">
                <a:off x="1981200" y="2392363"/>
                <a:ext cx="1752600" cy="17526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19" name="Oval 9"/>
              <p:cNvSpPr>
                <a:spLocks noChangeArrowheads="1"/>
              </p:cNvSpPr>
              <p:nvPr/>
            </p:nvSpPr>
            <p:spPr bwMode="auto">
              <a:xfrm>
                <a:off x="1600200" y="4068763"/>
                <a:ext cx="76200" cy="76200"/>
              </a:xfrm>
              <a:prstGeom prst="ellipse">
                <a:avLst/>
              </a:prstGeom>
              <a:solidFill>
                <a:schemeClr val="bg2"/>
              </a:solidFill>
              <a:ln w="12700">
                <a:solidFill>
                  <a:schemeClr val="bg2"/>
                </a:solidFill>
                <a:round/>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91520" name="Oval 10"/>
              <p:cNvSpPr>
                <a:spLocks noChangeArrowheads="1"/>
              </p:cNvSpPr>
              <p:nvPr/>
            </p:nvSpPr>
            <p:spPr bwMode="auto">
              <a:xfrm>
                <a:off x="3657600" y="4068763"/>
                <a:ext cx="76200" cy="76200"/>
              </a:xfrm>
              <a:prstGeom prst="ellipse">
                <a:avLst/>
              </a:prstGeom>
              <a:solidFill>
                <a:schemeClr val="bg2"/>
              </a:solidFill>
              <a:ln w="12700">
                <a:solidFill>
                  <a:schemeClr val="bg2"/>
                </a:solidFill>
                <a:round/>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91521" name="Line 11"/>
              <p:cNvSpPr>
                <a:spLocks noChangeShapeType="1"/>
              </p:cNvSpPr>
              <p:nvPr/>
            </p:nvSpPr>
            <p:spPr bwMode="auto">
              <a:xfrm>
                <a:off x="1143000" y="3763963"/>
                <a:ext cx="9906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22" name="Line 12"/>
              <p:cNvSpPr>
                <a:spLocks noChangeShapeType="1"/>
              </p:cNvSpPr>
              <p:nvPr/>
            </p:nvSpPr>
            <p:spPr bwMode="auto">
              <a:xfrm>
                <a:off x="3200400" y="3763963"/>
                <a:ext cx="9906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23" name="Oval 20"/>
              <p:cNvSpPr>
                <a:spLocks noChangeArrowheads="1"/>
              </p:cNvSpPr>
              <p:nvPr/>
            </p:nvSpPr>
            <p:spPr bwMode="auto">
              <a:xfrm>
                <a:off x="2536825" y="2751138"/>
                <a:ext cx="76200" cy="76200"/>
              </a:xfrm>
              <a:prstGeom prst="ellipse">
                <a:avLst/>
              </a:prstGeom>
              <a:solidFill>
                <a:schemeClr val="bg2"/>
              </a:solidFill>
              <a:ln w="12700">
                <a:solidFill>
                  <a:schemeClr val="bg2"/>
                </a:solidFill>
                <a:round/>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sp>
          <p:nvSpPr>
            <p:cNvPr id="191514" name="TextBox 33"/>
            <p:cNvSpPr txBox="1">
              <a:spLocks noChangeArrowheads="1"/>
            </p:cNvSpPr>
            <p:nvPr/>
          </p:nvSpPr>
          <p:spPr bwMode="auto">
            <a:xfrm>
              <a:off x="1368755" y="5229200"/>
              <a:ext cx="34192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Večji premik – manjše globinske napake </a:t>
              </a:r>
              <a:endParaRPr lang="en-GB" altLang="en-US" sz="1400"/>
            </a:p>
          </p:txBody>
        </p:sp>
      </p:grpSp>
      <p:grpSp>
        <p:nvGrpSpPr>
          <p:cNvPr id="191501" name="Group 36"/>
          <p:cNvGrpSpPr>
            <a:grpSpLocks/>
          </p:cNvGrpSpPr>
          <p:nvPr/>
        </p:nvGrpSpPr>
        <p:grpSpPr bwMode="auto">
          <a:xfrm>
            <a:off x="5062538" y="2708275"/>
            <a:ext cx="3397250" cy="2820988"/>
            <a:chOff x="5041163" y="2708920"/>
            <a:chExt cx="3398687" cy="2820803"/>
          </a:xfrm>
        </p:grpSpPr>
        <p:grpSp>
          <p:nvGrpSpPr>
            <p:cNvPr id="191502" name="Group 32"/>
            <p:cNvGrpSpPr>
              <a:grpSpLocks/>
            </p:cNvGrpSpPr>
            <p:nvPr/>
          </p:nvGrpSpPr>
          <p:grpSpPr bwMode="auto">
            <a:xfrm>
              <a:off x="5867400" y="2708920"/>
              <a:ext cx="1447800" cy="2438400"/>
              <a:chOff x="5867400" y="1706563"/>
              <a:chExt cx="1447800" cy="2438400"/>
            </a:xfrm>
          </p:grpSpPr>
          <p:sp>
            <p:nvSpPr>
              <p:cNvPr id="191504" name="Line 14"/>
              <p:cNvSpPr>
                <a:spLocks noChangeShapeType="1"/>
              </p:cNvSpPr>
              <p:nvPr/>
            </p:nvSpPr>
            <p:spPr bwMode="auto">
              <a:xfrm flipH="1">
                <a:off x="6172200" y="1858963"/>
                <a:ext cx="914400" cy="228600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05" name="Line 15"/>
              <p:cNvSpPr>
                <a:spLocks noChangeShapeType="1"/>
              </p:cNvSpPr>
              <p:nvPr/>
            </p:nvSpPr>
            <p:spPr bwMode="auto">
              <a:xfrm>
                <a:off x="5867400" y="3763963"/>
                <a:ext cx="9906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06" name="Line 16"/>
              <p:cNvSpPr>
                <a:spLocks noChangeShapeType="1"/>
              </p:cNvSpPr>
              <p:nvPr/>
            </p:nvSpPr>
            <p:spPr bwMode="auto">
              <a:xfrm>
                <a:off x="6324600" y="3763963"/>
                <a:ext cx="9906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07" name="Line 17"/>
              <p:cNvSpPr>
                <a:spLocks noChangeShapeType="1"/>
              </p:cNvSpPr>
              <p:nvPr/>
            </p:nvSpPr>
            <p:spPr bwMode="auto">
              <a:xfrm flipH="1">
                <a:off x="6172200" y="1706563"/>
                <a:ext cx="457200" cy="243840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08" name="Line 18"/>
              <p:cNvSpPr>
                <a:spLocks noChangeShapeType="1"/>
              </p:cNvSpPr>
              <p:nvPr/>
            </p:nvSpPr>
            <p:spPr bwMode="auto">
              <a:xfrm flipH="1" flipV="1">
                <a:off x="6629400" y="1706563"/>
                <a:ext cx="228600" cy="24384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09" name="Line 19"/>
              <p:cNvSpPr>
                <a:spLocks noChangeShapeType="1"/>
              </p:cNvSpPr>
              <p:nvPr/>
            </p:nvSpPr>
            <p:spPr bwMode="auto">
              <a:xfrm flipH="1" flipV="1">
                <a:off x="6172200" y="1935163"/>
                <a:ext cx="685800" cy="22098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sl-SI"/>
              </a:p>
            </p:txBody>
          </p:sp>
          <p:sp>
            <p:nvSpPr>
              <p:cNvPr id="191510" name="Oval 21"/>
              <p:cNvSpPr>
                <a:spLocks noChangeArrowheads="1"/>
              </p:cNvSpPr>
              <p:nvPr/>
            </p:nvSpPr>
            <p:spPr bwMode="auto">
              <a:xfrm>
                <a:off x="6553200" y="2751138"/>
                <a:ext cx="76200" cy="76200"/>
              </a:xfrm>
              <a:prstGeom prst="ellipse">
                <a:avLst/>
              </a:prstGeom>
              <a:solidFill>
                <a:schemeClr val="bg2"/>
              </a:solidFill>
              <a:ln w="12700">
                <a:solidFill>
                  <a:schemeClr val="bg2"/>
                </a:solidFill>
                <a:round/>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91511" name="Oval 22"/>
              <p:cNvSpPr>
                <a:spLocks noChangeArrowheads="1"/>
              </p:cNvSpPr>
              <p:nvPr/>
            </p:nvSpPr>
            <p:spPr bwMode="auto">
              <a:xfrm>
                <a:off x="6151563" y="4068763"/>
                <a:ext cx="76200" cy="76200"/>
              </a:xfrm>
              <a:prstGeom prst="ellipse">
                <a:avLst/>
              </a:prstGeom>
              <a:solidFill>
                <a:schemeClr val="bg2"/>
              </a:solidFill>
              <a:ln w="12700">
                <a:solidFill>
                  <a:schemeClr val="bg2"/>
                </a:solidFill>
                <a:round/>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91512" name="Oval 23"/>
              <p:cNvSpPr>
                <a:spLocks noChangeArrowheads="1"/>
              </p:cNvSpPr>
              <p:nvPr/>
            </p:nvSpPr>
            <p:spPr bwMode="auto">
              <a:xfrm>
                <a:off x="6815138" y="4068763"/>
                <a:ext cx="76200" cy="76200"/>
              </a:xfrm>
              <a:prstGeom prst="ellipse">
                <a:avLst/>
              </a:prstGeom>
              <a:solidFill>
                <a:schemeClr val="bg2"/>
              </a:solidFill>
              <a:ln w="12700">
                <a:solidFill>
                  <a:schemeClr val="bg2"/>
                </a:solidFill>
                <a:round/>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sp>
          <p:nvSpPr>
            <p:cNvPr id="191503" name="TextBox 34"/>
            <p:cNvSpPr txBox="1">
              <a:spLocks noChangeArrowheads="1"/>
            </p:cNvSpPr>
            <p:nvPr/>
          </p:nvSpPr>
          <p:spPr bwMode="auto">
            <a:xfrm>
              <a:off x="5041163" y="5221946"/>
              <a:ext cx="33986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Manjši premik – večje globinske napake </a:t>
              </a:r>
              <a:endParaRPr lang="en-GB" altLang="en-US" sz="1400"/>
            </a:p>
          </p:txBody>
        </p:sp>
      </p:grpSp>
    </p:spTree>
  </p:cSld>
  <p:clrMapOvr>
    <a:masterClrMapping/>
  </p:clrMapOvr>
  <p:transition>
    <p:cove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935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17077C0-7DA5-41D0-AACA-469B2D8EDE84}" type="slidenum">
              <a:rPr lang="en-GB" altLang="en-US" sz="1400" smtClean="0"/>
              <a:pPr>
                <a:spcBef>
                  <a:spcPct val="0"/>
                </a:spcBef>
                <a:buFontTx/>
                <a:buNone/>
              </a:pPr>
              <a:t>97</a:t>
            </a:fld>
            <a:endParaRPr lang="en-GB" altLang="en-US" sz="1400"/>
          </a:p>
        </p:txBody>
      </p:sp>
      <p:sp>
        <p:nvSpPr>
          <p:cNvPr id="193540"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STEREO POGLED – EPIPOLARNA GEOMETRIJA</a:t>
            </a:r>
            <a:endParaRPr lang="en-GB" altLang="en-US" sz="2000"/>
          </a:p>
        </p:txBody>
      </p:sp>
      <p:sp>
        <p:nvSpPr>
          <p:cNvPr id="193541" name="TextBox 5"/>
          <p:cNvSpPr txBox="1">
            <a:spLocks noChangeArrowheads="1"/>
          </p:cNvSpPr>
          <p:nvPr/>
        </p:nvSpPr>
        <p:spPr bwMode="auto">
          <a:xfrm>
            <a:off x="611188" y="1052513"/>
            <a:ext cx="4465637"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Epipolarna geometrija zagotavlja, da lahko za značilno točko na levi sliki najdemo epipolarno premico, na kateri zanesljivo leži korespondenčna točka na desni sliki.</a:t>
            </a:r>
          </a:p>
          <a:p>
            <a:pPr eaLnBrk="1" hangingPunct="1">
              <a:spcBef>
                <a:spcPts val="600"/>
              </a:spcBef>
              <a:buFontTx/>
              <a:buAutoNum type="arabicPeriod"/>
            </a:pPr>
            <a:r>
              <a:rPr lang="sl-SI" altLang="en-US" sz="1600"/>
              <a:t>Pri tem potrebujemo temeljno matriko </a:t>
            </a:r>
            <a:r>
              <a:rPr lang="sl-SI" altLang="en-US" sz="1600" b="1"/>
              <a:t>F</a:t>
            </a:r>
            <a:r>
              <a:rPr lang="sl-SI" altLang="en-US" sz="1600"/>
              <a:t>:</a:t>
            </a:r>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endParaRPr lang="sl-SI" altLang="en-US" sz="1600"/>
          </a:p>
          <a:p>
            <a:pPr eaLnBrk="1" hangingPunct="1">
              <a:spcBef>
                <a:spcPts val="600"/>
              </a:spcBef>
              <a:buFontTx/>
              <a:buAutoNum type="arabicPeriod"/>
            </a:pPr>
            <a:r>
              <a:rPr lang="sl-SI" altLang="en-US" sz="1600"/>
              <a:t>Če točka </a:t>
            </a:r>
            <a:r>
              <a:rPr lang="sl-SI" altLang="en-US" sz="1600" b="1"/>
              <a:t>p</a:t>
            </a:r>
            <a:r>
              <a:rPr lang="sl-SI" altLang="en-US" sz="1600" i="1" baseline="-25000"/>
              <a:t>d</a:t>
            </a:r>
            <a:r>
              <a:rPr lang="sl-SI" altLang="en-US" sz="1600"/>
              <a:t> na desni sliki leži na epipolarni premici, velja epipolarna omejitev:</a:t>
            </a:r>
          </a:p>
        </p:txBody>
      </p:sp>
      <p:sp>
        <p:nvSpPr>
          <p:cNvPr id="193542"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9354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1" name="TextBox 10"/>
          <p:cNvSpPr txBox="1"/>
          <p:nvPr/>
        </p:nvSpPr>
        <p:spPr>
          <a:xfrm>
            <a:off x="582613" y="4192588"/>
            <a:ext cx="8093075" cy="2322512"/>
          </a:xfrm>
          <a:prstGeom prst="rect">
            <a:avLst/>
          </a:prstGeom>
          <a:noFill/>
        </p:spPr>
        <p:txBody>
          <a:bodyPr>
            <a:spAutoFit/>
          </a:bodyPr>
          <a:lstStyle/>
          <a:p>
            <a:pPr marL="342900" indent="-342900" eaLnBrk="1" hangingPunct="1">
              <a:spcBef>
                <a:spcPts val="600"/>
              </a:spcBef>
              <a:buFont typeface="+mj-lt"/>
              <a:buAutoNum type="arabicPeriod" startAt="4"/>
              <a:defRPr/>
            </a:pPr>
            <a:r>
              <a:rPr lang="sl-SI" sz="1600" dirty="0" err="1">
                <a:latin typeface="Arial" charset="0"/>
                <a:cs typeface="Arial" charset="0"/>
              </a:rPr>
              <a:t>Epipolarna</a:t>
            </a:r>
            <a:r>
              <a:rPr lang="sl-SI" sz="1600" dirty="0">
                <a:latin typeface="Arial" charset="0"/>
                <a:cs typeface="Arial" charset="0"/>
              </a:rPr>
              <a:t> omejitev je prvi pogoj, ki mora biti izpolnjen, da najdemo za točko z leve korespondenčno točko na desni sliki.</a:t>
            </a:r>
          </a:p>
          <a:p>
            <a:pPr marL="342900" indent="-342900" eaLnBrk="1" hangingPunct="1">
              <a:spcBef>
                <a:spcPts val="600"/>
              </a:spcBef>
              <a:buFont typeface="Arial" charset="0"/>
              <a:buAutoNum type="arabicPeriod" startAt="4"/>
              <a:defRPr/>
            </a:pPr>
            <a:r>
              <a:rPr lang="sl-SI" sz="1600" dirty="0">
                <a:latin typeface="Arial" charset="0"/>
                <a:cs typeface="Arial" charset="0"/>
              </a:rPr>
              <a:t>Drugi pogoj za korespondenčni točki je, da se ujemata po lastnostih:</a:t>
            </a:r>
          </a:p>
          <a:p>
            <a:pPr marL="800100" lvl="1" indent="-342900" eaLnBrk="1" hangingPunct="1">
              <a:spcBef>
                <a:spcPts val="600"/>
              </a:spcBef>
              <a:buFont typeface="Arial" pitchFamily="34" charset="0"/>
              <a:buChar char="•"/>
              <a:defRPr/>
            </a:pPr>
            <a:r>
              <a:rPr lang="sl-SI" sz="1600" dirty="0">
                <a:latin typeface="Arial" charset="0"/>
                <a:cs typeface="Arial" charset="0"/>
              </a:rPr>
              <a:t>po </a:t>
            </a:r>
            <a:r>
              <a:rPr lang="sl-SI" sz="1600" dirty="0" err="1">
                <a:latin typeface="Arial" charset="0"/>
                <a:cs typeface="Arial" charset="0"/>
              </a:rPr>
              <a:t>epipolarni</a:t>
            </a:r>
            <a:r>
              <a:rPr lang="sl-SI" sz="1600" dirty="0">
                <a:latin typeface="Arial" charset="0"/>
                <a:cs typeface="Arial" charset="0"/>
              </a:rPr>
              <a:t> premici na desni sliki iščemo točko, za katero pokaže neka primerjalna funkcija, da je z okolico najbolj podobna izbrani točki z leve slike</a:t>
            </a:r>
          </a:p>
          <a:p>
            <a:pPr marL="342900" indent="-342900" eaLnBrk="1" hangingPunct="1">
              <a:spcBef>
                <a:spcPts val="600"/>
              </a:spcBef>
              <a:buFont typeface="Arial" charset="0"/>
              <a:buAutoNum type="arabicPeriod" startAt="4"/>
              <a:defRPr/>
            </a:pPr>
            <a:r>
              <a:rPr lang="sl-SI" sz="1600" dirty="0">
                <a:latin typeface="Arial" charset="0"/>
                <a:cs typeface="Arial" charset="0"/>
              </a:rPr>
              <a:t>Razdalja med korespondenčnima točkama (</a:t>
            </a:r>
            <a:r>
              <a:rPr lang="sl-SI" sz="1600" i="1" dirty="0" err="1">
                <a:latin typeface="Arial" charset="0"/>
                <a:cs typeface="Arial" charset="0"/>
              </a:rPr>
              <a:t>d</a:t>
            </a:r>
            <a:r>
              <a:rPr lang="sl-SI" sz="1600" i="1" baseline="-25000" dirty="0" err="1">
                <a:latin typeface="Arial" charset="0"/>
                <a:cs typeface="Arial" charset="0"/>
              </a:rPr>
              <a:t>p</a:t>
            </a:r>
            <a:r>
              <a:rPr lang="sl-SI" sz="1600" dirty="0">
                <a:latin typeface="Arial" charset="0"/>
                <a:cs typeface="Arial" charset="0"/>
              </a:rPr>
              <a:t>) je obratno sorazmerna oddaljenosti predmeta, na katerem je ta točka, od kamere	</a:t>
            </a:r>
          </a:p>
          <a:p>
            <a:pPr eaLnBrk="1" hangingPunct="1">
              <a:defRPr/>
            </a:pPr>
            <a:endParaRPr lang="en-GB" dirty="0">
              <a:latin typeface="Arial" charset="0"/>
              <a:cs typeface="Arial" charset="0"/>
            </a:endParaRPr>
          </a:p>
        </p:txBody>
      </p:sp>
      <p:grpSp>
        <p:nvGrpSpPr>
          <p:cNvPr id="193545" name="Group 16"/>
          <p:cNvGrpSpPr>
            <a:grpSpLocks/>
          </p:cNvGrpSpPr>
          <p:nvPr/>
        </p:nvGrpSpPr>
        <p:grpSpPr bwMode="auto">
          <a:xfrm>
            <a:off x="5076825" y="1052513"/>
            <a:ext cx="3590925" cy="3097212"/>
            <a:chOff x="5076056" y="1052736"/>
            <a:chExt cx="3590925" cy="3096344"/>
          </a:xfrm>
        </p:grpSpPr>
        <p:grpSp>
          <p:nvGrpSpPr>
            <p:cNvPr id="193550" name="Group 12"/>
            <p:cNvGrpSpPr>
              <a:grpSpLocks/>
            </p:cNvGrpSpPr>
            <p:nvPr/>
          </p:nvGrpSpPr>
          <p:grpSpPr bwMode="auto">
            <a:xfrm>
              <a:off x="5076056" y="1052736"/>
              <a:ext cx="3590925" cy="3096344"/>
              <a:chOff x="5076056" y="1052736"/>
              <a:chExt cx="3590925" cy="3096344"/>
            </a:xfrm>
          </p:grpSpPr>
          <p:pic>
            <p:nvPicPr>
              <p:cNvPr id="193553"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1052736"/>
                <a:ext cx="3590925" cy="309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54" name="TextBox 11"/>
              <p:cNvSpPr txBox="1">
                <a:spLocks noChangeArrowheads="1"/>
              </p:cNvSpPr>
              <p:nvPr/>
            </p:nvSpPr>
            <p:spPr bwMode="auto">
              <a:xfrm>
                <a:off x="6357124" y="1672342"/>
                <a:ext cx="790601"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3D točka</a:t>
                </a:r>
                <a:endParaRPr lang="en-GB" altLang="en-US" sz="1200"/>
              </a:p>
            </p:txBody>
          </p:sp>
        </p:grpSp>
        <p:sp>
          <p:nvSpPr>
            <p:cNvPr id="193551" name="TextBox 13"/>
            <p:cNvSpPr txBox="1">
              <a:spLocks noChangeArrowheads="1"/>
            </p:cNvSpPr>
            <p:nvPr/>
          </p:nvSpPr>
          <p:spPr bwMode="auto">
            <a:xfrm>
              <a:off x="6588224" y="2636912"/>
              <a:ext cx="1486304"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epipolarna premica</a:t>
              </a:r>
              <a:endParaRPr lang="en-GB" altLang="en-US" sz="1200"/>
            </a:p>
          </p:txBody>
        </p:sp>
        <p:cxnSp>
          <p:nvCxnSpPr>
            <p:cNvPr id="16" name="Straight Arrow Connector 15"/>
            <p:cNvCxnSpPr/>
            <p:nvPr/>
          </p:nvCxnSpPr>
          <p:spPr>
            <a:xfrm>
              <a:off x="7985944" y="2861979"/>
              <a:ext cx="96837" cy="293605"/>
            </a:xfrm>
            <a:prstGeom prst="straightConnector1">
              <a:avLst/>
            </a:prstGeom>
            <a:ln w="19050">
              <a:solidFill>
                <a:srgbClr val="FF9933"/>
              </a:solidFill>
              <a:tailEnd type="arrow"/>
            </a:ln>
          </p:spPr>
          <p:style>
            <a:lnRef idx="1">
              <a:schemeClr val="accent1"/>
            </a:lnRef>
            <a:fillRef idx="0">
              <a:schemeClr val="accent1"/>
            </a:fillRef>
            <a:effectRef idx="0">
              <a:schemeClr val="accent1"/>
            </a:effectRef>
            <a:fontRef idx="minor">
              <a:schemeClr val="tx1"/>
            </a:fontRef>
          </p:style>
        </p:cxnSp>
      </p:grpSp>
      <p:pic>
        <p:nvPicPr>
          <p:cNvPr id="193546" name="Slika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381250"/>
            <a:ext cx="2809875"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3547" name="Skupina 6"/>
          <p:cNvGrpSpPr>
            <a:grpSpLocks/>
          </p:cNvGrpSpPr>
          <p:nvPr/>
        </p:nvGrpSpPr>
        <p:grpSpPr bwMode="auto">
          <a:xfrm>
            <a:off x="1016000" y="3871913"/>
            <a:ext cx="2273300" cy="393700"/>
            <a:chOff x="1016000" y="3872081"/>
            <a:chExt cx="2273300" cy="393532"/>
          </a:xfrm>
        </p:grpSpPr>
        <p:pic>
          <p:nvPicPr>
            <p:cNvPr id="193548" name="Slika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16000" y="3929063"/>
              <a:ext cx="2273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49" name="PoljeZBesedilom 1"/>
            <p:cNvSpPr txBox="1">
              <a:spLocks noChangeArrowheads="1"/>
            </p:cNvSpPr>
            <p:nvPr/>
          </p:nvSpPr>
          <p:spPr bwMode="auto">
            <a:xfrm>
              <a:off x="1043608" y="3872081"/>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000" i="1"/>
                <a:t>T</a:t>
              </a:r>
            </a:p>
          </p:txBody>
        </p:sp>
      </p:grpSp>
    </p:spTree>
  </p:cSld>
  <p:clrMapOvr>
    <a:masterClrMapping/>
  </p:clrMapOvr>
  <p:transition>
    <p:cove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9558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C7CB8F7-0FB3-4C5B-A7DF-835556D1731A}" type="slidenum">
              <a:rPr lang="en-GB" altLang="en-US" sz="1400" smtClean="0"/>
              <a:pPr>
                <a:spcBef>
                  <a:spcPct val="0"/>
                </a:spcBef>
                <a:buFontTx/>
                <a:buNone/>
              </a:pPr>
              <a:t>98</a:t>
            </a:fld>
            <a:endParaRPr lang="en-GB" altLang="en-US" sz="1400"/>
          </a:p>
        </p:txBody>
      </p:sp>
      <p:sp>
        <p:nvSpPr>
          <p:cNvPr id="195588" name="Rectangle 2"/>
          <p:cNvSpPr>
            <a:spLocks noGrp="1" noChangeArrowheads="1"/>
          </p:cNvSpPr>
          <p:nvPr>
            <p:ph type="ctrTitle"/>
          </p:nvPr>
        </p:nvSpPr>
        <p:spPr>
          <a:xfrm>
            <a:off x="0" y="44450"/>
            <a:ext cx="9144000" cy="936625"/>
          </a:xfrm>
        </p:spPr>
        <p:txBody>
          <a:bodyPr/>
          <a:lstStyle/>
          <a:p>
            <a:pPr defTabSz="912813" eaLnBrk="1" hangingPunct="1"/>
            <a:r>
              <a:rPr lang="sl-SI" altLang="en-US" sz="2800" b="1"/>
              <a:t>STEREO POGLED – ALGORITEM ZA DOLOČANJE GLOBINSKE SLIKE</a:t>
            </a:r>
            <a:endParaRPr lang="en-GB" altLang="en-US" sz="2000"/>
          </a:p>
        </p:txBody>
      </p:sp>
      <p:sp>
        <p:nvSpPr>
          <p:cNvPr id="195589" name="TextBox 5"/>
          <p:cNvSpPr txBox="1">
            <a:spLocks noChangeArrowheads="1"/>
          </p:cNvSpPr>
          <p:nvPr/>
        </p:nvSpPr>
        <p:spPr bwMode="auto">
          <a:xfrm>
            <a:off x="611188" y="1014413"/>
            <a:ext cx="7989887"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V praksi ne obstaja možnost stereo kamere brez kalibracije:</a:t>
            </a:r>
          </a:p>
          <a:p>
            <a:pPr lvl="1" eaLnBrk="1" hangingPunct="1">
              <a:spcBef>
                <a:spcPts val="600"/>
              </a:spcBef>
              <a:buFont typeface="Arial" panose="020B0604020202020204" pitchFamily="34" charset="0"/>
              <a:buChar char="•"/>
            </a:pPr>
            <a:r>
              <a:rPr lang="sl-SI" altLang="en-US" sz="1400"/>
              <a:t>imamo dve kameri in vsaka ima svoje, različne notranje parametre</a:t>
            </a:r>
          </a:p>
          <a:p>
            <a:pPr lvl="1" eaLnBrk="1" hangingPunct="1">
              <a:spcBef>
                <a:spcPts val="600"/>
              </a:spcBef>
              <a:buFont typeface="Arial" panose="020B0604020202020204" pitchFamily="34" charset="0"/>
              <a:buChar char="•"/>
            </a:pPr>
            <a:r>
              <a:rPr lang="sl-SI" altLang="en-US" sz="1400"/>
              <a:t>kameri ne moreta imeti popolnoma vzporednih svojih koordinatnih sistemov  </a:t>
            </a:r>
          </a:p>
          <a:p>
            <a:pPr eaLnBrk="1" hangingPunct="1">
              <a:spcBef>
                <a:spcPts val="600"/>
              </a:spcBef>
              <a:buFontTx/>
              <a:buAutoNum type="arabicPeriod"/>
            </a:pPr>
            <a:r>
              <a:rPr lang="sl-SI" altLang="en-US" sz="1600"/>
              <a:t>Epipolarna geometrija s temeljno matriko </a:t>
            </a:r>
            <a:r>
              <a:rPr lang="sl-SI" altLang="en-US" sz="1600" b="1"/>
              <a:t>F</a:t>
            </a:r>
            <a:r>
              <a:rPr lang="sl-SI" altLang="en-US" sz="1600"/>
              <a:t> omogoča stereo pogled z nekalibriranima kamerama, vendar pri tem naletimo na nekaj težav:</a:t>
            </a:r>
          </a:p>
          <a:p>
            <a:pPr lvl="1" eaLnBrk="1" hangingPunct="1">
              <a:spcBef>
                <a:spcPts val="600"/>
              </a:spcBef>
              <a:buFont typeface="Arial" panose="020B0604020202020204" pitchFamily="34" charset="0"/>
              <a:buChar char="•"/>
            </a:pPr>
            <a:r>
              <a:rPr lang="sl-SI" altLang="en-US" sz="1400"/>
              <a:t>ker epipolarne premice načelno niso vzporedne s koordinatnim sistemom slike, je “potovanje” po njih med iskanjem korespondence oteženo</a:t>
            </a:r>
          </a:p>
          <a:p>
            <a:pPr lvl="1" eaLnBrk="1" hangingPunct="1">
              <a:spcBef>
                <a:spcPts val="600"/>
              </a:spcBef>
              <a:buFont typeface="Arial" panose="020B0604020202020204" pitchFamily="34" charset="0"/>
              <a:buChar char="•"/>
            </a:pPr>
            <a:r>
              <a:rPr lang="sl-SI" altLang="en-US" sz="1400"/>
              <a:t>odkrivanje korespondenčnih točk ni nujno zanesljivo in robustno</a:t>
            </a:r>
          </a:p>
          <a:p>
            <a:pPr eaLnBrk="1" hangingPunct="1">
              <a:spcBef>
                <a:spcPts val="600"/>
              </a:spcBef>
              <a:buFontTx/>
              <a:buAutoNum type="arabicPeriod"/>
            </a:pPr>
            <a:r>
              <a:rPr lang="sl-SI" altLang="en-US" sz="1600">
                <a:solidFill>
                  <a:srgbClr val="FF9933"/>
                </a:solidFill>
              </a:rPr>
              <a:t>Algoritem za določanje globinske slike zato temelji na naslednjih korakih:</a:t>
            </a:r>
          </a:p>
          <a:p>
            <a:pPr lvl="1" eaLnBrk="1" hangingPunct="1">
              <a:spcBef>
                <a:spcPts val="600"/>
              </a:spcBef>
              <a:buFont typeface="Arial" panose="020B0604020202020204" pitchFamily="34" charset="0"/>
              <a:buChar char="•"/>
            </a:pPr>
            <a:r>
              <a:rPr lang="sl-SI" altLang="en-US" sz="1400">
                <a:solidFill>
                  <a:srgbClr val="FF9933"/>
                </a:solidFill>
              </a:rPr>
              <a:t>na levi in desni sliki poiščemo zanesljive nadzorne točke in izračunamo temeljno matriko </a:t>
            </a:r>
            <a:r>
              <a:rPr lang="sl-SI" altLang="en-US" sz="1400" b="1">
                <a:solidFill>
                  <a:srgbClr val="FF9933"/>
                </a:solidFill>
              </a:rPr>
              <a:t>F</a:t>
            </a:r>
            <a:r>
              <a:rPr lang="sl-SI" altLang="en-US" sz="1400">
                <a:solidFill>
                  <a:srgbClr val="FF9933"/>
                </a:solidFill>
              </a:rPr>
              <a:t> </a:t>
            </a:r>
          </a:p>
          <a:p>
            <a:pPr lvl="1" eaLnBrk="1" hangingPunct="1">
              <a:spcBef>
                <a:spcPts val="600"/>
              </a:spcBef>
              <a:buFont typeface="Arial" panose="020B0604020202020204" pitchFamily="34" charset="0"/>
              <a:buChar char="•"/>
            </a:pPr>
            <a:r>
              <a:rPr lang="sl-SI" altLang="en-US" sz="1400">
                <a:solidFill>
                  <a:srgbClr val="FF9933"/>
                </a:solidFill>
              </a:rPr>
              <a:t>sliki obdelamo s t. i. </a:t>
            </a:r>
            <a:r>
              <a:rPr lang="sl-SI" altLang="en-US" sz="1400">
                <a:solidFill>
                  <a:srgbClr val="0000FF"/>
                </a:solidFill>
              </a:rPr>
              <a:t>izravnavo</a:t>
            </a:r>
            <a:r>
              <a:rPr lang="sl-SI" altLang="en-US" sz="1400">
                <a:solidFill>
                  <a:srgbClr val="FF9933"/>
                </a:solidFill>
              </a:rPr>
              <a:t> oz. </a:t>
            </a:r>
            <a:r>
              <a:rPr lang="sl-SI" altLang="en-US" sz="1400">
                <a:solidFill>
                  <a:srgbClr val="0000FF"/>
                </a:solidFill>
              </a:rPr>
              <a:t>popravljanjem</a:t>
            </a:r>
            <a:r>
              <a:rPr lang="sl-SI" altLang="en-US" sz="1400">
                <a:solidFill>
                  <a:srgbClr val="FF9933"/>
                </a:solidFill>
              </a:rPr>
              <a:t> (</a:t>
            </a:r>
            <a:r>
              <a:rPr lang="sl-SI" altLang="en-US" sz="1400" i="1">
                <a:solidFill>
                  <a:srgbClr val="FF9933"/>
                </a:solidFill>
              </a:rPr>
              <a:t>rectification</a:t>
            </a:r>
            <a:r>
              <a:rPr lang="sl-SI" altLang="en-US" sz="1400">
                <a:solidFill>
                  <a:srgbClr val="FF9933"/>
                </a:solidFill>
              </a:rPr>
              <a:t>), pri kateri “potisnemo” epipola na obeh slikah v neskončnost in tako naredimo epipolarne premice in koordinatna sistema slik vzporedne</a:t>
            </a:r>
          </a:p>
          <a:p>
            <a:pPr lvl="1" eaLnBrk="1" hangingPunct="1">
              <a:spcBef>
                <a:spcPts val="600"/>
              </a:spcBef>
              <a:buFont typeface="Arial" panose="020B0604020202020204" pitchFamily="34" charset="0"/>
              <a:buChar char="•"/>
            </a:pPr>
            <a:r>
              <a:rPr lang="sl-SI" altLang="en-US" sz="1400">
                <a:solidFill>
                  <a:srgbClr val="FF9933"/>
                </a:solidFill>
              </a:rPr>
              <a:t>z izravnavo slik zagotovimo, da lahko korespondenčne točke iščemo samo z istimi vertikalnimi koordinatami (bistveno olajšan postopek) – uporabimo enega od razpoložljivih postopkov za primerjavo slikovnih regij</a:t>
            </a:r>
          </a:p>
          <a:p>
            <a:pPr lvl="1" eaLnBrk="1" hangingPunct="1">
              <a:spcBef>
                <a:spcPts val="600"/>
              </a:spcBef>
              <a:buFont typeface="Arial" panose="020B0604020202020204" pitchFamily="34" charset="0"/>
              <a:buChar char="•"/>
            </a:pPr>
            <a:r>
              <a:rPr lang="sl-SI" altLang="en-US" sz="1400">
                <a:solidFill>
                  <a:srgbClr val="FF9933"/>
                </a:solidFill>
              </a:rPr>
              <a:t>med korespondenčnimi točkami določimo razliko v horizontalni smeri in izračunamo globino </a:t>
            </a:r>
          </a:p>
        </p:txBody>
      </p:sp>
      <p:sp>
        <p:nvSpPr>
          <p:cNvPr id="195590"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9559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Tree>
  </p:cSld>
  <p:clrMapOvr>
    <a:masterClrMapping/>
  </p:clrMapOvr>
  <p:transition>
    <p:cove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9763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F3EB578-0BAB-4D68-A583-ECA599C15F92}" type="slidenum">
              <a:rPr lang="en-GB" altLang="en-US" sz="1400" smtClean="0"/>
              <a:pPr>
                <a:spcBef>
                  <a:spcPct val="0"/>
                </a:spcBef>
                <a:buFontTx/>
                <a:buNone/>
              </a:pPr>
              <a:t>99</a:t>
            </a:fld>
            <a:endParaRPr lang="en-GB" altLang="en-US" sz="1400"/>
          </a:p>
        </p:txBody>
      </p:sp>
      <p:sp>
        <p:nvSpPr>
          <p:cNvPr id="197636" name="Rectangle 2"/>
          <p:cNvSpPr>
            <a:spLocks noGrp="1" noChangeArrowheads="1"/>
          </p:cNvSpPr>
          <p:nvPr>
            <p:ph type="ctrTitle"/>
          </p:nvPr>
        </p:nvSpPr>
        <p:spPr>
          <a:xfrm>
            <a:off x="0" y="44450"/>
            <a:ext cx="9144000" cy="936625"/>
          </a:xfrm>
        </p:spPr>
        <p:txBody>
          <a:bodyPr/>
          <a:lstStyle/>
          <a:p>
            <a:pPr defTabSz="912813" eaLnBrk="1" hangingPunct="1"/>
            <a:r>
              <a:rPr lang="sl-SI" altLang="en-US" sz="2800" b="1"/>
              <a:t>DOLOČANJE GLOBINSKE SLIKE – IZRAVNAVA SLIK</a:t>
            </a:r>
            <a:endParaRPr lang="en-GB" altLang="en-US" sz="2000"/>
          </a:p>
        </p:txBody>
      </p:sp>
      <p:sp>
        <p:nvSpPr>
          <p:cNvPr id="197637" name="TextBox 5"/>
          <p:cNvSpPr txBox="1">
            <a:spLocks noChangeArrowheads="1"/>
          </p:cNvSpPr>
          <p:nvPr/>
        </p:nvSpPr>
        <p:spPr bwMode="auto">
          <a:xfrm>
            <a:off x="611188" y="1014413"/>
            <a:ext cx="7989887"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Za izravnavo slik obstaja več pristopov, ki temeljijo na optimizaciji 3 do 6 parametrov, a večinoma niso dovolj robustni.</a:t>
            </a:r>
          </a:p>
          <a:p>
            <a:pPr eaLnBrk="1" hangingPunct="1">
              <a:spcBef>
                <a:spcPts val="600"/>
              </a:spcBef>
              <a:buFontTx/>
              <a:buAutoNum type="arabicPeriod"/>
            </a:pPr>
            <a:r>
              <a:rPr lang="sl-SI" altLang="en-US" sz="1600"/>
              <a:t>V članku “Three-step image rectification” avtorjev P. Monassea, J.-M. Morela in Z. Tanga je bila leta 2010 razložena robustna metoda, ki temelji na rotacijah 2D pogledov (kamer) okoli projekcijskih središč s pomočjo </a:t>
            </a:r>
            <a:r>
              <a:rPr lang="sl-SI" altLang="en-US" sz="1600">
                <a:solidFill>
                  <a:srgbClr val="0000FF"/>
                </a:solidFill>
              </a:rPr>
              <a:t>homografij</a:t>
            </a:r>
            <a:r>
              <a:rPr lang="sl-SI" altLang="en-US" sz="1600"/>
              <a:t> – transformacij med 2D slikami (transformacijska matrika 3</a:t>
            </a:r>
            <a:r>
              <a:rPr lang="sl-SI" altLang="en-US" sz="1600">
                <a:sym typeface="Symbol" panose="05050102010706020507" pitchFamily="18" charset="2"/>
              </a:rPr>
              <a:t>3)</a:t>
            </a:r>
            <a:r>
              <a:rPr lang="sl-SI" altLang="en-US" sz="1600"/>
              <a:t>.</a:t>
            </a:r>
          </a:p>
          <a:p>
            <a:pPr eaLnBrk="1" hangingPunct="1">
              <a:spcBef>
                <a:spcPts val="600"/>
              </a:spcBef>
              <a:buFontTx/>
              <a:buAutoNum type="arabicPeriod"/>
            </a:pPr>
            <a:r>
              <a:rPr lang="sl-SI" altLang="en-US" sz="1600"/>
              <a:t>Pri izravnavi slik se rade pojavijo popačitve, ki se pojavijo pri napačnih zasukih para slik okoli osnovnice (zveznice med projekcijskima središčema). Velja namreč, da lahko izravnani sliki hkrati sučemo okoli osnovnice, pa še vedno ostaneta izravnani.</a:t>
            </a:r>
          </a:p>
          <a:p>
            <a:pPr eaLnBrk="1" hangingPunct="1">
              <a:spcBef>
                <a:spcPts val="600"/>
              </a:spcBef>
              <a:buFontTx/>
              <a:buAutoNum type="arabicPeriod"/>
            </a:pPr>
            <a:r>
              <a:rPr lang="sl-SI" altLang="en-US" sz="1600"/>
              <a:t>Metoda iz članka temelji na treh korakih:</a:t>
            </a:r>
          </a:p>
          <a:p>
            <a:pPr lvl="1" eaLnBrk="1" hangingPunct="1">
              <a:spcBef>
                <a:spcPts val="600"/>
              </a:spcBef>
              <a:buFont typeface="Arial" panose="020B0604020202020204" pitchFamily="34" charset="0"/>
              <a:buChar char="•"/>
            </a:pPr>
            <a:r>
              <a:rPr lang="sl-SI" altLang="en-US" sz="1600"/>
              <a:t>epipola najprej potisne v neskončnost</a:t>
            </a:r>
          </a:p>
          <a:p>
            <a:pPr lvl="1" eaLnBrk="1" hangingPunct="1">
              <a:spcBef>
                <a:spcPts val="600"/>
              </a:spcBef>
              <a:buFont typeface="Arial" panose="020B0604020202020204" pitchFamily="34" charset="0"/>
              <a:buChar char="•"/>
            </a:pPr>
            <a:r>
              <a:rPr lang="sl-SI" altLang="en-US" sz="1600"/>
              <a:t>nato epipola spravi v horizontalno lego </a:t>
            </a:r>
          </a:p>
          <a:p>
            <a:pPr lvl="1" eaLnBrk="1" hangingPunct="1">
              <a:spcBef>
                <a:spcPts val="600"/>
              </a:spcBef>
              <a:buFont typeface="Arial" panose="020B0604020202020204" pitchFamily="34" charset="0"/>
              <a:buChar char="•"/>
            </a:pPr>
            <a:r>
              <a:rPr lang="sl-SI" altLang="en-US" sz="1600"/>
              <a:t>nazadnje sliki dokončno izravnamo z zasukom okoli osnovnice</a:t>
            </a:r>
          </a:p>
          <a:p>
            <a:pPr eaLnBrk="1" hangingPunct="1">
              <a:spcBef>
                <a:spcPts val="600"/>
              </a:spcBef>
              <a:buFontTx/>
              <a:buAutoNum type="arabicPeriod" startAt="5"/>
            </a:pPr>
            <a:r>
              <a:rPr lang="sl-SI" altLang="en-US" sz="1600"/>
              <a:t>Izhajamo iz zapisa 2D točk s koordinatami </a:t>
            </a:r>
            <a:r>
              <a:rPr lang="sl-SI" altLang="en-US" sz="1600" b="1"/>
              <a:t>p</a:t>
            </a:r>
            <a:r>
              <a:rPr lang="sl-SI" altLang="en-US" sz="1600"/>
              <a:t> = (</a:t>
            </a:r>
            <a:r>
              <a:rPr lang="sl-SI" altLang="en-US" sz="1600" i="1"/>
              <a:t>x, y, w</a:t>
            </a:r>
            <a:r>
              <a:rPr lang="sl-SI" altLang="en-US" sz="1600"/>
              <a:t>)</a:t>
            </a:r>
            <a:r>
              <a:rPr lang="sl-SI" altLang="en-US" sz="1600" i="1" baseline="30000"/>
              <a:t>T</a:t>
            </a:r>
            <a:r>
              <a:rPr lang="sl-SI" altLang="en-US" sz="1600"/>
              <a:t> oziroma nehomogenimi koordinatami (</a:t>
            </a:r>
            <a:r>
              <a:rPr lang="sl-SI" altLang="en-US" sz="1600" i="1"/>
              <a:t>x</a:t>
            </a:r>
            <a:r>
              <a:rPr lang="sl-SI" altLang="en-US" sz="1600"/>
              <a:t>/</a:t>
            </a:r>
            <a:r>
              <a:rPr lang="sl-SI" altLang="en-US" sz="1600" i="1"/>
              <a:t>w</a:t>
            </a:r>
            <a:r>
              <a:rPr lang="sl-SI" altLang="en-US" sz="1600"/>
              <a:t>, </a:t>
            </a:r>
            <a:r>
              <a:rPr lang="sl-SI" altLang="en-US" sz="1600" i="1"/>
              <a:t>y</a:t>
            </a:r>
            <a:r>
              <a:rPr lang="sl-SI" altLang="en-US" sz="1600"/>
              <a:t>/</a:t>
            </a:r>
            <a:r>
              <a:rPr lang="sl-SI" altLang="en-US" sz="1600" i="1"/>
              <a:t>w</a:t>
            </a:r>
            <a:r>
              <a:rPr lang="sl-SI" altLang="en-US" sz="1600"/>
              <a:t>)</a:t>
            </a:r>
            <a:r>
              <a:rPr lang="sl-SI" altLang="en-US" sz="1600" i="1" baseline="30000"/>
              <a:t>T</a:t>
            </a:r>
            <a:r>
              <a:rPr lang="sl-SI" altLang="en-US" sz="1600"/>
              <a:t>.</a:t>
            </a:r>
          </a:p>
          <a:p>
            <a:pPr eaLnBrk="1" hangingPunct="1">
              <a:spcBef>
                <a:spcPts val="600"/>
              </a:spcBef>
              <a:buFontTx/>
              <a:buAutoNum type="arabicPeriod" startAt="5"/>
            </a:pPr>
            <a:r>
              <a:rPr lang="sl-SI" altLang="en-US" sz="1600"/>
              <a:t>Kadar je </a:t>
            </a:r>
            <a:r>
              <a:rPr lang="sl-SI" altLang="en-US" sz="1600" i="1"/>
              <a:t>w</a:t>
            </a:r>
            <a:r>
              <a:rPr lang="sl-SI" altLang="en-US" sz="1600"/>
              <a:t> = 0, potisnemo točko v neskončnost po premici, ki gre skozi koordinati (</a:t>
            </a:r>
            <a:r>
              <a:rPr lang="sl-SI" altLang="en-US" sz="1600" i="1"/>
              <a:t>x</a:t>
            </a:r>
            <a:r>
              <a:rPr lang="sl-SI" altLang="en-US" sz="1600"/>
              <a:t>, </a:t>
            </a:r>
            <a:r>
              <a:rPr lang="sl-SI" altLang="en-US" sz="1600" i="1"/>
              <a:t>y</a:t>
            </a:r>
            <a:r>
              <a:rPr lang="sl-SI" altLang="en-US" sz="1600"/>
              <a:t>).</a:t>
            </a:r>
          </a:p>
        </p:txBody>
      </p:sp>
      <p:sp>
        <p:nvSpPr>
          <p:cNvPr id="1976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9763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Tree>
  </p:cSld>
  <p:clrMapOvr>
    <a:masterClrMapping/>
  </p:clrMapOvr>
  <p:transition>
    <p:cove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1996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BF2C239-7F92-440C-96FF-E73FCD058617}" type="slidenum">
              <a:rPr lang="en-GB" altLang="en-US" sz="1400" smtClean="0"/>
              <a:pPr>
                <a:spcBef>
                  <a:spcPct val="0"/>
                </a:spcBef>
                <a:buFontTx/>
                <a:buNone/>
              </a:pPr>
              <a:t>100</a:t>
            </a:fld>
            <a:endParaRPr lang="en-GB" altLang="en-US" sz="1400"/>
          </a:p>
        </p:txBody>
      </p:sp>
      <p:sp>
        <p:nvSpPr>
          <p:cNvPr id="199684" name="Rectangle 2"/>
          <p:cNvSpPr>
            <a:spLocks noGrp="1" noChangeArrowheads="1"/>
          </p:cNvSpPr>
          <p:nvPr>
            <p:ph type="ctrTitle"/>
          </p:nvPr>
        </p:nvSpPr>
        <p:spPr>
          <a:xfrm>
            <a:off x="0" y="44450"/>
            <a:ext cx="9144000" cy="936625"/>
          </a:xfrm>
        </p:spPr>
        <p:txBody>
          <a:bodyPr/>
          <a:lstStyle/>
          <a:p>
            <a:pPr defTabSz="912813" eaLnBrk="1" hangingPunct="1"/>
            <a:r>
              <a:rPr lang="sl-SI" altLang="en-US" sz="2800" b="1"/>
              <a:t>DOLOČANJE GLOBINSKE SLIKE – IZRAVNAVA SLIK (2)</a:t>
            </a:r>
            <a:endParaRPr lang="en-GB" altLang="en-US" sz="2000"/>
          </a:p>
        </p:txBody>
      </p:sp>
      <p:sp>
        <p:nvSpPr>
          <p:cNvPr id="19968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19968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1996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538" y="1665288"/>
            <a:ext cx="7572375"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9688" name="PoljeZBesedilom 1"/>
          <p:cNvSpPr txBox="1">
            <a:spLocks noChangeArrowheads="1"/>
          </p:cNvSpPr>
          <p:nvPr/>
        </p:nvSpPr>
        <p:spPr bwMode="auto">
          <a:xfrm>
            <a:off x="611188" y="1268413"/>
            <a:ext cx="3095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Izravnava slik v treh korakih:</a:t>
            </a:r>
          </a:p>
        </p:txBody>
      </p:sp>
      <p:sp>
        <p:nvSpPr>
          <p:cNvPr id="199689" name="Pravokotnik 2"/>
          <p:cNvSpPr>
            <a:spLocks noChangeArrowheads="1"/>
          </p:cNvSpPr>
          <p:nvPr/>
        </p:nvSpPr>
        <p:spPr bwMode="auto">
          <a:xfrm>
            <a:off x="744538" y="5456238"/>
            <a:ext cx="7715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(Povzeto po P. Monasse, J.-M. Morel in Z. Tang: Three-step image rectification, </a:t>
            </a:r>
            <a:r>
              <a:rPr lang="en-US" altLang="en-US" sz="1200" i="1"/>
              <a:t>British Machine Vision Conference 2010</a:t>
            </a:r>
            <a:r>
              <a:rPr lang="sl-SI" altLang="en-US" sz="1200" i="1"/>
              <a:t> </a:t>
            </a:r>
            <a:r>
              <a:rPr lang="sl-SI" altLang="en-US" sz="1200"/>
              <a:t>,  str. 89.1-89.10; http://www.bmva.org/bmvc/2010/conference/paper89/index.html.</a:t>
            </a:r>
            <a:endParaRPr lang="sl-SI" altLang="en-US" sz="1200" i="1"/>
          </a:p>
        </p:txBody>
      </p:sp>
    </p:spTree>
  </p:cSld>
  <p:clrMapOvr>
    <a:masterClrMapping/>
  </p:clrMapOvr>
  <p:transition>
    <p:cove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017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0B4C291-D913-458C-947E-6E4C281106EE}" type="slidenum">
              <a:rPr lang="en-GB" altLang="en-US" sz="1400" smtClean="0"/>
              <a:pPr>
                <a:spcBef>
                  <a:spcPct val="0"/>
                </a:spcBef>
                <a:buFontTx/>
                <a:buNone/>
              </a:pPr>
              <a:t>101</a:t>
            </a:fld>
            <a:endParaRPr lang="en-GB" altLang="en-US" sz="1400"/>
          </a:p>
        </p:txBody>
      </p:sp>
      <p:sp>
        <p:nvSpPr>
          <p:cNvPr id="201732" name="Rectangle 2"/>
          <p:cNvSpPr>
            <a:spLocks noGrp="1" noChangeArrowheads="1"/>
          </p:cNvSpPr>
          <p:nvPr>
            <p:ph type="ctrTitle"/>
          </p:nvPr>
        </p:nvSpPr>
        <p:spPr>
          <a:xfrm>
            <a:off x="0" y="44450"/>
            <a:ext cx="9144000" cy="720725"/>
          </a:xfrm>
        </p:spPr>
        <p:txBody>
          <a:bodyPr/>
          <a:lstStyle/>
          <a:p>
            <a:pPr defTabSz="912813" eaLnBrk="1" hangingPunct="1"/>
            <a:r>
              <a:rPr lang="sl-SI" altLang="en-US" sz="2800" b="1"/>
              <a:t>DOLOČANJE GLOBINSKE SLIKE – IZRAVNAVA (3)</a:t>
            </a:r>
            <a:endParaRPr lang="en-GB" altLang="en-US" sz="2000"/>
          </a:p>
        </p:txBody>
      </p:sp>
      <p:sp>
        <p:nvSpPr>
          <p:cNvPr id="20173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0173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 name="PoljeZBesedilom 1"/>
          <p:cNvSpPr txBox="1"/>
          <p:nvPr/>
        </p:nvSpPr>
        <p:spPr>
          <a:xfrm>
            <a:off x="611188" y="765175"/>
            <a:ext cx="7921625" cy="5600700"/>
          </a:xfrm>
          <a:prstGeom prst="rect">
            <a:avLst/>
          </a:prstGeom>
          <a:noFill/>
        </p:spPr>
        <p:txBody>
          <a:bodyPr>
            <a:spAutoFit/>
          </a:bodyPr>
          <a:lstStyle/>
          <a:p>
            <a:pPr eaLnBrk="1" hangingPunct="1">
              <a:spcBef>
                <a:spcPts val="600"/>
              </a:spcBef>
              <a:defRPr/>
            </a:pPr>
            <a:r>
              <a:rPr lang="sl-SI" sz="1600" dirty="0">
                <a:latin typeface="Arial" charset="0"/>
                <a:cs typeface="Arial" charset="0"/>
              </a:rPr>
              <a:t>	</a:t>
            </a:r>
            <a:r>
              <a:rPr lang="sl-SI" sz="1600" u="sng" dirty="0">
                <a:solidFill>
                  <a:srgbClr val="00B0F0"/>
                </a:solidFill>
                <a:latin typeface="Arial" charset="0"/>
                <a:cs typeface="Arial" charset="0"/>
              </a:rPr>
              <a:t>Korak 1</a:t>
            </a:r>
          </a:p>
          <a:p>
            <a:pPr marL="342900" indent="-342900" eaLnBrk="1" hangingPunct="1">
              <a:spcBef>
                <a:spcPts val="600"/>
              </a:spcBef>
              <a:buFontTx/>
              <a:buAutoNum type="arabicPeriod"/>
              <a:defRPr/>
            </a:pPr>
            <a:r>
              <a:rPr lang="sl-SI" sz="1600" dirty="0">
                <a:latin typeface="Arial" charset="0"/>
                <a:cs typeface="Arial" charset="0"/>
              </a:rPr>
              <a:t>Orientacijo kamere lahko spremenimo, če sliko transformiramo s </a:t>
            </a:r>
            <a:r>
              <a:rPr lang="sl-SI" sz="1600" dirty="0" err="1">
                <a:latin typeface="Arial" charset="0"/>
                <a:cs typeface="Arial" charset="0"/>
              </a:rPr>
              <a:t>homografijo</a:t>
            </a:r>
            <a:r>
              <a:rPr lang="sl-SI" sz="1600" dirty="0">
                <a:latin typeface="Arial" charset="0"/>
                <a:cs typeface="Arial" charset="0"/>
              </a:rPr>
              <a:t> </a:t>
            </a:r>
            <a:r>
              <a:rPr lang="sl-SI" sz="1600" b="1" dirty="0">
                <a:latin typeface="Arial" charset="0"/>
                <a:cs typeface="Arial" charset="0"/>
              </a:rPr>
              <a:t>H</a:t>
            </a:r>
            <a:r>
              <a:rPr lang="sl-SI" sz="1600" dirty="0">
                <a:latin typeface="Arial" charset="0"/>
                <a:cs typeface="Arial" charset="0"/>
              </a:rPr>
              <a:t>:</a:t>
            </a:r>
          </a:p>
          <a:p>
            <a:pPr eaLnBrk="1" hangingPunct="1">
              <a:spcBef>
                <a:spcPts val="600"/>
              </a:spcBef>
              <a:defRPr/>
            </a:pPr>
            <a:r>
              <a:rPr lang="sl-SI" sz="1600" dirty="0">
                <a:latin typeface="Arial" charset="0"/>
                <a:cs typeface="Arial" charset="0"/>
              </a:rPr>
              <a:t>	</a:t>
            </a:r>
            <a:r>
              <a:rPr lang="sl-SI" sz="1600" b="1" dirty="0">
                <a:latin typeface="Arial" charset="0"/>
                <a:cs typeface="Arial" charset="0"/>
              </a:rPr>
              <a:t>H</a:t>
            </a:r>
            <a:r>
              <a:rPr lang="sl-SI" sz="1600" dirty="0">
                <a:latin typeface="Arial" charset="0"/>
                <a:cs typeface="Arial" charset="0"/>
              </a:rPr>
              <a:t> = </a:t>
            </a:r>
            <a:r>
              <a:rPr lang="sl-SI" sz="1600" b="1" dirty="0">
                <a:latin typeface="Arial" charset="0"/>
                <a:cs typeface="Arial" charset="0"/>
              </a:rPr>
              <a:t>K</a:t>
            </a:r>
            <a:r>
              <a:rPr lang="sl-SI" sz="1600" dirty="0">
                <a:latin typeface="Arial" charset="0"/>
                <a:cs typeface="Arial" charset="0"/>
              </a:rPr>
              <a:t>∙</a:t>
            </a:r>
            <a:r>
              <a:rPr lang="sl-SI" sz="1600" b="1" dirty="0">
                <a:latin typeface="Arial" charset="0"/>
                <a:cs typeface="Arial" charset="0"/>
              </a:rPr>
              <a:t>R</a:t>
            </a:r>
            <a:r>
              <a:rPr lang="sl-SI" sz="1600" dirty="0">
                <a:latin typeface="Arial" charset="0"/>
                <a:cs typeface="Arial" charset="0"/>
              </a:rPr>
              <a:t>∙</a:t>
            </a:r>
            <a:r>
              <a:rPr lang="sl-SI" sz="1600" b="1" dirty="0">
                <a:latin typeface="Arial" charset="0"/>
                <a:cs typeface="Arial" charset="0"/>
              </a:rPr>
              <a:t>K</a:t>
            </a:r>
            <a:r>
              <a:rPr lang="sl-SI" sz="1600" baseline="30000" dirty="0">
                <a:latin typeface="Arial" charset="0"/>
                <a:cs typeface="Arial" charset="0"/>
              </a:rPr>
              <a:t>-1</a:t>
            </a:r>
            <a:r>
              <a:rPr lang="sl-SI" sz="1600" dirty="0">
                <a:latin typeface="Arial" charset="0"/>
                <a:cs typeface="Arial" charset="0"/>
              </a:rPr>
              <a:t>,</a:t>
            </a:r>
            <a:endParaRPr lang="sl-SI" sz="1600" baseline="30000" dirty="0">
              <a:latin typeface="Arial" charset="0"/>
              <a:cs typeface="Arial" charset="0"/>
            </a:endParaRPr>
          </a:p>
          <a:p>
            <a:pPr marL="363538" eaLnBrk="1" hangingPunct="1">
              <a:spcBef>
                <a:spcPts val="600"/>
              </a:spcBef>
              <a:defRPr/>
            </a:pPr>
            <a:r>
              <a:rPr lang="sl-SI" sz="1600" dirty="0">
                <a:latin typeface="Arial" charset="0"/>
                <a:cs typeface="Arial" charset="0"/>
              </a:rPr>
              <a:t>pri čemer je </a:t>
            </a:r>
            <a:r>
              <a:rPr lang="sl-SI" sz="1600" b="1" dirty="0">
                <a:latin typeface="Arial" charset="0"/>
                <a:cs typeface="Arial" charset="0"/>
              </a:rPr>
              <a:t>K</a:t>
            </a:r>
            <a:r>
              <a:rPr lang="sl-SI" sz="1600" dirty="0">
                <a:latin typeface="Arial" charset="0"/>
                <a:cs typeface="Arial" charset="0"/>
              </a:rPr>
              <a:t> kalibracijska matrika kamere, </a:t>
            </a:r>
            <a:r>
              <a:rPr lang="sl-SI" sz="1600" b="1" dirty="0">
                <a:latin typeface="Arial" charset="0"/>
                <a:cs typeface="Arial" charset="0"/>
              </a:rPr>
              <a:t>R</a:t>
            </a:r>
            <a:r>
              <a:rPr lang="sl-SI" sz="1600" dirty="0">
                <a:latin typeface="Arial" charset="0"/>
                <a:cs typeface="Arial" charset="0"/>
              </a:rPr>
              <a:t> pa matrika zasuka.</a:t>
            </a:r>
          </a:p>
          <a:p>
            <a:pPr marL="342900" indent="-342900" eaLnBrk="1" hangingPunct="1">
              <a:spcBef>
                <a:spcPts val="600"/>
              </a:spcBef>
              <a:buFont typeface="+mj-lt"/>
              <a:buAutoNum type="arabicPeriod" startAt="2"/>
              <a:defRPr/>
            </a:pPr>
            <a:r>
              <a:rPr lang="sl-SI" sz="1600" dirty="0">
                <a:latin typeface="Arial" charset="0"/>
                <a:cs typeface="Arial" charset="0"/>
              </a:rPr>
              <a:t>Privzamemo, da kamera ni kalibrirana in da velja:</a:t>
            </a:r>
          </a:p>
          <a:p>
            <a:pPr eaLnBrk="1" hangingPunct="1">
              <a:spcBef>
                <a:spcPts val="600"/>
              </a:spcBef>
              <a:defRPr/>
            </a:pPr>
            <a:r>
              <a:rPr lang="sl-SI" sz="1600" dirty="0">
                <a:latin typeface="Arial" charset="0"/>
                <a:cs typeface="Arial" charset="0"/>
              </a:rPr>
              <a:t> 			</a:t>
            </a:r>
            <a:r>
              <a:rPr lang="sl-SI" sz="1600" i="1" dirty="0">
                <a:latin typeface="Arial" charset="0"/>
                <a:cs typeface="Arial" charset="0"/>
              </a:rPr>
              <a:t>w</a:t>
            </a:r>
            <a:r>
              <a:rPr lang="sl-SI" sz="1600" dirty="0">
                <a:latin typeface="Arial" charset="0"/>
                <a:cs typeface="Arial" charset="0"/>
              </a:rPr>
              <a:t> – širina slike</a:t>
            </a:r>
          </a:p>
          <a:p>
            <a:pPr eaLnBrk="1" hangingPunct="1">
              <a:spcBef>
                <a:spcPts val="600"/>
              </a:spcBef>
              <a:defRPr/>
            </a:pPr>
            <a:r>
              <a:rPr lang="sl-SI" sz="1600" dirty="0">
                <a:latin typeface="Arial" charset="0"/>
                <a:cs typeface="Arial" charset="0"/>
              </a:rPr>
              <a:t>			</a:t>
            </a:r>
            <a:r>
              <a:rPr lang="sl-SI" sz="1600" i="1" dirty="0">
                <a:latin typeface="Arial" charset="0"/>
                <a:cs typeface="Arial" charset="0"/>
              </a:rPr>
              <a:t>h</a:t>
            </a:r>
            <a:r>
              <a:rPr lang="sl-SI" sz="1600" dirty="0">
                <a:latin typeface="Arial" charset="0"/>
                <a:cs typeface="Arial" charset="0"/>
              </a:rPr>
              <a:t> – višina slike</a:t>
            </a:r>
          </a:p>
          <a:p>
            <a:pPr eaLnBrk="1" hangingPunct="1">
              <a:spcBef>
                <a:spcPts val="600"/>
              </a:spcBef>
              <a:defRPr/>
            </a:pPr>
            <a:r>
              <a:rPr lang="sl-SI" sz="1600" dirty="0">
                <a:latin typeface="Arial" charset="0"/>
                <a:cs typeface="Arial" charset="0"/>
              </a:rPr>
              <a:t>			</a:t>
            </a:r>
            <a:r>
              <a:rPr lang="sl-SI" sz="1600" i="1" dirty="0">
                <a:latin typeface="Arial" charset="0"/>
                <a:cs typeface="Arial" charset="0"/>
              </a:rPr>
              <a:t>f</a:t>
            </a:r>
            <a:r>
              <a:rPr lang="sl-SI" sz="1600" dirty="0">
                <a:latin typeface="Arial" charset="0"/>
                <a:cs typeface="Arial" charset="0"/>
              </a:rPr>
              <a:t> – goriščna razdalja (neznana)</a:t>
            </a:r>
          </a:p>
          <a:p>
            <a:pPr eaLnBrk="1" hangingPunct="1">
              <a:spcBef>
                <a:spcPts val="600"/>
              </a:spcBef>
              <a:defRPr/>
            </a:pPr>
            <a:r>
              <a:rPr lang="sl-SI" sz="1600" dirty="0">
                <a:latin typeface="Arial" charset="0"/>
                <a:cs typeface="Arial" charset="0"/>
              </a:rPr>
              <a:t>			</a:t>
            </a:r>
            <a:r>
              <a:rPr lang="sl-SI" sz="1600" dirty="0">
                <a:solidFill>
                  <a:srgbClr val="FFC000"/>
                </a:solidFill>
                <a:latin typeface="Arial" charset="0"/>
                <a:cs typeface="Arial" charset="0"/>
              </a:rPr>
              <a:t>(privzamemo, da ni striga in da središče slike sovpada 			z optično osjo)</a:t>
            </a:r>
          </a:p>
          <a:p>
            <a:pPr marL="342900" indent="-342900" eaLnBrk="1" hangingPunct="1">
              <a:spcBef>
                <a:spcPts val="600"/>
              </a:spcBef>
              <a:buFont typeface="+mj-lt"/>
              <a:buAutoNum type="arabicPeriod" startAt="3"/>
              <a:defRPr/>
            </a:pPr>
            <a:r>
              <a:rPr lang="sl-SI" sz="1600" dirty="0">
                <a:latin typeface="Arial" charset="0"/>
                <a:cs typeface="Arial" charset="0"/>
              </a:rPr>
              <a:t>Na levi in desni sliki določimo </a:t>
            </a:r>
            <a:r>
              <a:rPr lang="sl-SI" sz="1600" dirty="0" err="1">
                <a:latin typeface="Arial" charset="0"/>
                <a:cs typeface="Arial" charset="0"/>
              </a:rPr>
              <a:t>epipola</a:t>
            </a:r>
            <a:r>
              <a:rPr lang="sl-SI" sz="1600" dirty="0">
                <a:latin typeface="Arial" charset="0"/>
                <a:cs typeface="Arial" charset="0"/>
              </a:rPr>
              <a:t> </a:t>
            </a:r>
            <a:r>
              <a:rPr lang="sl-SI" sz="1600" b="1" dirty="0">
                <a:latin typeface="Arial" charset="0"/>
                <a:cs typeface="Arial" charset="0"/>
              </a:rPr>
              <a:t>e</a:t>
            </a:r>
            <a:r>
              <a:rPr lang="sl-SI" sz="1600" i="1" baseline="-25000" dirty="0">
                <a:latin typeface="Arial" charset="0"/>
                <a:cs typeface="Arial" charset="0"/>
              </a:rPr>
              <a:t>l</a:t>
            </a:r>
            <a:r>
              <a:rPr lang="sl-SI" sz="1600" dirty="0">
                <a:latin typeface="Arial" charset="0"/>
                <a:cs typeface="Arial" charset="0"/>
              </a:rPr>
              <a:t> = (</a:t>
            </a:r>
            <a:r>
              <a:rPr lang="sl-SI" sz="1600" i="1" dirty="0" err="1">
                <a:latin typeface="Arial" charset="0"/>
                <a:cs typeface="Arial" charset="0"/>
              </a:rPr>
              <a:t>e</a:t>
            </a:r>
            <a:r>
              <a:rPr lang="sl-SI" sz="1600" i="1" baseline="-25000" dirty="0" err="1">
                <a:latin typeface="Arial" charset="0"/>
                <a:cs typeface="Arial" charset="0"/>
              </a:rPr>
              <a:t>x</a:t>
            </a:r>
            <a:r>
              <a:rPr lang="sl-SI" sz="1600" i="1" baseline="-25000" dirty="0">
                <a:latin typeface="Arial" charset="0"/>
                <a:cs typeface="Arial" charset="0"/>
              </a:rPr>
              <a:t>,l</a:t>
            </a:r>
            <a:r>
              <a:rPr lang="sl-SI" sz="1600" dirty="0">
                <a:latin typeface="Arial" charset="0"/>
                <a:cs typeface="Arial" charset="0"/>
              </a:rPr>
              <a:t>, </a:t>
            </a:r>
            <a:r>
              <a:rPr lang="sl-SI" sz="1600" i="1" dirty="0" err="1">
                <a:latin typeface="Arial" charset="0"/>
                <a:cs typeface="Arial" charset="0"/>
              </a:rPr>
              <a:t>e</a:t>
            </a:r>
            <a:r>
              <a:rPr lang="sl-SI" sz="1600" i="1" baseline="-25000" dirty="0" err="1">
                <a:latin typeface="Arial" charset="0"/>
                <a:cs typeface="Arial" charset="0"/>
              </a:rPr>
              <a:t>y</a:t>
            </a:r>
            <a:r>
              <a:rPr lang="sl-SI" sz="1600" i="1" baseline="-25000" dirty="0">
                <a:latin typeface="Arial" charset="0"/>
                <a:cs typeface="Arial" charset="0"/>
              </a:rPr>
              <a:t>,l</a:t>
            </a:r>
            <a:r>
              <a:rPr lang="sl-SI" sz="1600" dirty="0">
                <a:latin typeface="Arial" charset="0"/>
                <a:cs typeface="Arial" charset="0"/>
              </a:rPr>
              <a:t>, 1)</a:t>
            </a:r>
            <a:r>
              <a:rPr lang="sl-SI" sz="1600" i="1" baseline="30000" dirty="0">
                <a:latin typeface="Arial" charset="0"/>
                <a:cs typeface="Arial" charset="0"/>
              </a:rPr>
              <a:t>T</a:t>
            </a:r>
            <a:r>
              <a:rPr lang="sl-SI" sz="1600" dirty="0">
                <a:latin typeface="Arial" charset="0"/>
                <a:cs typeface="Arial" charset="0"/>
              </a:rPr>
              <a:t> in </a:t>
            </a:r>
            <a:r>
              <a:rPr lang="sl-SI" sz="1600" b="1" dirty="0" err="1">
                <a:latin typeface="Arial" charset="0"/>
                <a:cs typeface="Arial" charset="0"/>
              </a:rPr>
              <a:t>e</a:t>
            </a:r>
            <a:r>
              <a:rPr lang="sl-SI" sz="1600" i="1" baseline="-25000" dirty="0" err="1">
                <a:latin typeface="Arial" charset="0"/>
                <a:cs typeface="Arial" charset="0"/>
              </a:rPr>
              <a:t>d</a:t>
            </a:r>
            <a:r>
              <a:rPr lang="sl-SI" sz="1600" dirty="0">
                <a:latin typeface="Arial" charset="0"/>
                <a:cs typeface="Arial" charset="0"/>
              </a:rPr>
              <a:t> = (</a:t>
            </a:r>
            <a:r>
              <a:rPr lang="sl-SI" sz="1600" i="1" dirty="0" err="1">
                <a:latin typeface="Arial" charset="0"/>
                <a:cs typeface="Arial" charset="0"/>
              </a:rPr>
              <a:t>e</a:t>
            </a:r>
            <a:r>
              <a:rPr lang="sl-SI" sz="1600" i="1" baseline="-25000" dirty="0" err="1">
                <a:latin typeface="Arial" charset="0"/>
                <a:cs typeface="Arial" charset="0"/>
              </a:rPr>
              <a:t>x</a:t>
            </a:r>
            <a:r>
              <a:rPr lang="sl-SI" sz="1600" i="1" baseline="-25000" dirty="0">
                <a:latin typeface="Arial" charset="0"/>
                <a:cs typeface="Arial" charset="0"/>
              </a:rPr>
              <a:t>,d</a:t>
            </a:r>
            <a:r>
              <a:rPr lang="sl-SI" sz="1600" dirty="0">
                <a:latin typeface="Arial" charset="0"/>
                <a:cs typeface="Arial" charset="0"/>
              </a:rPr>
              <a:t>, </a:t>
            </a:r>
            <a:r>
              <a:rPr lang="sl-SI" sz="1600" i="1" dirty="0" err="1">
                <a:latin typeface="Arial" charset="0"/>
                <a:cs typeface="Arial" charset="0"/>
              </a:rPr>
              <a:t>e</a:t>
            </a:r>
            <a:r>
              <a:rPr lang="sl-SI" sz="1600" i="1" baseline="-25000" dirty="0" err="1">
                <a:latin typeface="Arial" charset="0"/>
                <a:cs typeface="Arial" charset="0"/>
              </a:rPr>
              <a:t>y</a:t>
            </a:r>
            <a:r>
              <a:rPr lang="sl-SI" sz="1600" i="1" baseline="-25000" dirty="0">
                <a:latin typeface="Arial" charset="0"/>
                <a:cs typeface="Arial" charset="0"/>
              </a:rPr>
              <a:t>,d</a:t>
            </a:r>
            <a:r>
              <a:rPr lang="sl-SI" sz="1600" dirty="0">
                <a:latin typeface="Arial" charset="0"/>
                <a:cs typeface="Arial" charset="0"/>
              </a:rPr>
              <a:t>, 1)</a:t>
            </a:r>
            <a:r>
              <a:rPr lang="sl-SI" sz="1600" i="1" baseline="30000" dirty="0">
                <a:latin typeface="Arial" charset="0"/>
                <a:cs typeface="Arial" charset="0"/>
              </a:rPr>
              <a:t>T </a:t>
            </a:r>
            <a:r>
              <a:rPr lang="sl-SI" sz="1600" dirty="0">
                <a:latin typeface="Arial" charset="0"/>
                <a:cs typeface="Arial" charset="0"/>
              </a:rPr>
              <a:t>, tako da najprej izračunamo temeljno matriko </a:t>
            </a:r>
            <a:r>
              <a:rPr lang="sl-SI" sz="1600" b="1" dirty="0">
                <a:latin typeface="Arial" charset="0"/>
                <a:cs typeface="Arial" charset="0"/>
              </a:rPr>
              <a:t>F</a:t>
            </a:r>
            <a:r>
              <a:rPr lang="sl-SI" sz="1600" dirty="0">
                <a:latin typeface="Arial" charset="0"/>
                <a:cs typeface="Arial" charset="0"/>
              </a:rPr>
              <a:t>. Velja: </a:t>
            </a:r>
            <a:r>
              <a:rPr lang="sl-SI" sz="1600" b="1" dirty="0" err="1">
                <a:latin typeface="Arial" charset="0"/>
                <a:cs typeface="Arial" charset="0"/>
              </a:rPr>
              <a:t>Fe</a:t>
            </a:r>
            <a:r>
              <a:rPr lang="sl-SI" sz="1600" i="1" baseline="-25000" dirty="0" err="1">
                <a:latin typeface="Arial" charset="0"/>
                <a:cs typeface="Arial" charset="0"/>
              </a:rPr>
              <a:t>l</a:t>
            </a:r>
            <a:r>
              <a:rPr lang="sl-SI" sz="1600" dirty="0">
                <a:latin typeface="Arial" charset="0"/>
                <a:cs typeface="Arial" charset="0"/>
              </a:rPr>
              <a:t> = 0 in </a:t>
            </a:r>
            <a:r>
              <a:rPr lang="sl-SI" sz="1600" b="1" dirty="0" err="1">
                <a:latin typeface="Arial" charset="0"/>
                <a:cs typeface="Arial" charset="0"/>
              </a:rPr>
              <a:t>e</a:t>
            </a:r>
            <a:r>
              <a:rPr lang="sl-SI" sz="1600" i="1" baseline="-25000" dirty="0" err="1">
                <a:latin typeface="Arial" charset="0"/>
                <a:cs typeface="Arial" charset="0"/>
              </a:rPr>
              <a:t>d</a:t>
            </a:r>
            <a:r>
              <a:rPr lang="sl-SI" sz="1600" i="1" baseline="30000" dirty="0" err="1">
                <a:latin typeface="Arial" charset="0"/>
                <a:cs typeface="Arial" charset="0"/>
              </a:rPr>
              <a:t>T</a:t>
            </a:r>
            <a:r>
              <a:rPr lang="sl-SI" sz="1600" b="1" dirty="0" err="1">
                <a:latin typeface="Arial" charset="0"/>
                <a:cs typeface="Arial" charset="0"/>
              </a:rPr>
              <a:t>F</a:t>
            </a:r>
            <a:r>
              <a:rPr lang="sl-SI" sz="1600" dirty="0">
                <a:latin typeface="Arial" charset="0"/>
                <a:cs typeface="Arial" charset="0"/>
              </a:rPr>
              <a:t> = 0.</a:t>
            </a:r>
          </a:p>
          <a:p>
            <a:pPr marL="342900" indent="-342900" eaLnBrk="1" hangingPunct="1">
              <a:spcBef>
                <a:spcPts val="600"/>
              </a:spcBef>
              <a:buFont typeface="+mj-lt"/>
              <a:buAutoNum type="arabicPeriod" startAt="3"/>
              <a:defRPr/>
            </a:pPr>
            <a:r>
              <a:rPr lang="sl-SI" sz="1600" dirty="0" err="1">
                <a:latin typeface="Arial" charset="0"/>
                <a:cs typeface="Arial" charset="0"/>
              </a:rPr>
              <a:t>Epipola</a:t>
            </a:r>
            <a:r>
              <a:rPr lang="sl-SI" sz="1600" dirty="0">
                <a:latin typeface="Arial" charset="0"/>
                <a:cs typeface="Arial" charset="0"/>
              </a:rPr>
              <a:t> je treba spraviti v neskončnost: </a:t>
            </a:r>
            <a:r>
              <a:rPr lang="sl-SI" sz="1600" b="1" dirty="0">
                <a:latin typeface="Arial" charset="0"/>
                <a:cs typeface="Arial" charset="0"/>
              </a:rPr>
              <a:t>e</a:t>
            </a:r>
            <a:r>
              <a:rPr lang="sl-SI" sz="1600" i="1" baseline="-25000" dirty="0">
                <a:latin typeface="Arial" charset="0"/>
                <a:cs typeface="Arial" charset="0"/>
              </a:rPr>
              <a:t>l</a:t>
            </a:r>
            <a:r>
              <a:rPr lang="sl-SI" sz="1600" dirty="0">
                <a:latin typeface="Arial" charset="0"/>
                <a:cs typeface="Arial" charset="0"/>
              </a:rPr>
              <a:t> = (</a:t>
            </a:r>
            <a:r>
              <a:rPr lang="sl-SI" sz="1600" i="1" dirty="0" err="1">
                <a:latin typeface="Arial" charset="0"/>
                <a:cs typeface="Arial" charset="0"/>
              </a:rPr>
              <a:t>e</a:t>
            </a:r>
            <a:r>
              <a:rPr lang="sl-SI" sz="1600" i="1" baseline="-25000" dirty="0" err="1">
                <a:latin typeface="Arial" charset="0"/>
                <a:cs typeface="Arial" charset="0"/>
              </a:rPr>
              <a:t>x</a:t>
            </a:r>
            <a:r>
              <a:rPr lang="sl-SI" sz="1600" i="1" baseline="-25000" dirty="0">
                <a:latin typeface="Arial" charset="0"/>
                <a:cs typeface="Arial" charset="0"/>
              </a:rPr>
              <a:t>,l</a:t>
            </a:r>
            <a:r>
              <a:rPr lang="sl-SI" sz="1600" dirty="0">
                <a:latin typeface="Arial" charset="0"/>
                <a:cs typeface="Arial" charset="0"/>
              </a:rPr>
              <a:t>, </a:t>
            </a:r>
            <a:r>
              <a:rPr lang="sl-SI" sz="1600" i="1" dirty="0" err="1">
                <a:latin typeface="Arial" charset="0"/>
                <a:cs typeface="Arial" charset="0"/>
              </a:rPr>
              <a:t>e</a:t>
            </a:r>
            <a:r>
              <a:rPr lang="sl-SI" sz="1600" i="1" baseline="-25000" dirty="0" err="1">
                <a:latin typeface="Arial" charset="0"/>
                <a:cs typeface="Arial" charset="0"/>
              </a:rPr>
              <a:t>y</a:t>
            </a:r>
            <a:r>
              <a:rPr lang="sl-SI" sz="1600" i="1" baseline="-25000" dirty="0">
                <a:latin typeface="Arial" charset="0"/>
                <a:cs typeface="Arial" charset="0"/>
              </a:rPr>
              <a:t>,l</a:t>
            </a:r>
            <a:r>
              <a:rPr lang="sl-SI" sz="1600" dirty="0">
                <a:latin typeface="Arial" charset="0"/>
                <a:cs typeface="Arial" charset="0"/>
              </a:rPr>
              <a:t>, 0)</a:t>
            </a:r>
            <a:r>
              <a:rPr lang="sl-SI" sz="1600" i="1" baseline="30000" dirty="0">
                <a:latin typeface="Arial" charset="0"/>
                <a:cs typeface="Arial" charset="0"/>
              </a:rPr>
              <a:t>T</a:t>
            </a:r>
            <a:r>
              <a:rPr lang="sl-SI" sz="1600" dirty="0">
                <a:latin typeface="Arial" charset="0"/>
                <a:cs typeface="Arial" charset="0"/>
              </a:rPr>
              <a:t> in </a:t>
            </a:r>
            <a:r>
              <a:rPr lang="sl-SI" sz="1600" b="1" dirty="0" err="1">
                <a:latin typeface="Arial" charset="0"/>
                <a:cs typeface="Arial" charset="0"/>
              </a:rPr>
              <a:t>e</a:t>
            </a:r>
            <a:r>
              <a:rPr lang="sl-SI" sz="1600" i="1" baseline="-25000" dirty="0" err="1">
                <a:latin typeface="Arial" charset="0"/>
                <a:cs typeface="Arial" charset="0"/>
              </a:rPr>
              <a:t>d</a:t>
            </a:r>
            <a:r>
              <a:rPr lang="sl-SI" sz="1600" dirty="0">
                <a:latin typeface="Arial" charset="0"/>
                <a:cs typeface="Arial" charset="0"/>
              </a:rPr>
              <a:t> = (</a:t>
            </a:r>
            <a:r>
              <a:rPr lang="sl-SI" sz="1600" i="1" dirty="0" err="1">
                <a:latin typeface="Arial" charset="0"/>
                <a:cs typeface="Arial" charset="0"/>
              </a:rPr>
              <a:t>e</a:t>
            </a:r>
            <a:r>
              <a:rPr lang="sl-SI" sz="1600" i="1" baseline="-25000" dirty="0" err="1">
                <a:latin typeface="Arial" charset="0"/>
                <a:cs typeface="Arial" charset="0"/>
              </a:rPr>
              <a:t>x</a:t>
            </a:r>
            <a:r>
              <a:rPr lang="sl-SI" sz="1600" i="1" baseline="-25000" dirty="0">
                <a:latin typeface="Arial" charset="0"/>
                <a:cs typeface="Arial" charset="0"/>
              </a:rPr>
              <a:t>,d</a:t>
            </a:r>
            <a:r>
              <a:rPr lang="sl-SI" sz="1600" dirty="0">
                <a:latin typeface="Arial" charset="0"/>
                <a:cs typeface="Arial" charset="0"/>
              </a:rPr>
              <a:t>, </a:t>
            </a:r>
            <a:r>
              <a:rPr lang="sl-SI" sz="1600" i="1" dirty="0" err="1">
                <a:latin typeface="Arial" charset="0"/>
                <a:cs typeface="Arial" charset="0"/>
              </a:rPr>
              <a:t>e</a:t>
            </a:r>
            <a:r>
              <a:rPr lang="sl-SI" sz="1600" i="1" baseline="-25000" dirty="0" err="1">
                <a:latin typeface="Arial" charset="0"/>
                <a:cs typeface="Arial" charset="0"/>
              </a:rPr>
              <a:t>y</a:t>
            </a:r>
            <a:r>
              <a:rPr lang="sl-SI" sz="1600" i="1" baseline="-25000" dirty="0">
                <a:latin typeface="Arial" charset="0"/>
                <a:cs typeface="Arial" charset="0"/>
              </a:rPr>
              <a:t>,d</a:t>
            </a:r>
            <a:r>
              <a:rPr lang="sl-SI" sz="1600" dirty="0">
                <a:latin typeface="Arial" charset="0"/>
                <a:cs typeface="Arial" charset="0"/>
              </a:rPr>
              <a:t>, 0)</a:t>
            </a:r>
            <a:r>
              <a:rPr lang="sl-SI" sz="1600" i="1" baseline="30000" dirty="0">
                <a:latin typeface="Arial" charset="0"/>
                <a:cs typeface="Arial" charset="0"/>
              </a:rPr>
              <a:t>T </a:t>
            </a:r>
            <a:r>
              <a:rPr lang="sl-SI" sz="1600" dirty="0">
                <a:latin typeface="Arial" charset="0"/>
                <a:cs typeface="Arial" charset="0"/>
              </a:rPr>
              <a:t> in sicer s </a:t>
            </a:r>
            <a:r>
              <a:rPr lang="sl-SI" sz="1600" dirty="0" err="1">
                <a:latin typeface="Arial" charset="0"/>
                <a:cs typeface="Arial" charset="0"/>
              </a:rPr>
              <a:t>homografijama</a:t>
            </a:r>
            <a:r>
              <a:rPr lang="sl-SI" sz="1600" dirty="0">
                <a:latin typeface="Arial" charset="0"/>
                <a:cs typeface="Arial" charset="0"/>
              </a:rPr>
              <a:t> </a:t>
            </a:r>
            <a:r>
              <a:rPr lang="sl-SI" sz="1600" b="1" dirty="0">
                <a:latin typeface="Arial" charset="0"/>
                <a:cs typeface="Arial" charset="0"/>
              </a:rPr>
              <a:t>H</a:t>
            </a:r>
            <a:r>
              <a:rPr lang="sl-SI" sz="1600" i="1" baseline="-25000" dirty="0">
                <a:latin typeface="Arial" charset="0"/>
                <a:cs typeface="Arial" charset="0"/>
              </a:rPr>
              <a:t>1,l</a:t>
            </a:r>
            <a:r>
              <a:rPr lang="sl-SI" sz="1600" dirty="0">
                <a:latin typeface="Arial" charset="0"/>
                <a:cs typeface="Arial" charset="0"/>
              </a:rPr>
              <a:t> in </a:t>
            </a:r>
            <a:r>
              <a:rPr lang="sl-SI" sz="1600" b="1" dirty="0">
                <a:latin typeface="Arial" charset="0"/>
                <a:cs typeface="Arial" charset="0"/>
              </a:rPr>
              <a:t>H</a:t>
            </a:r>
            <a:r>
              <a:rPr lang="sl-SI" sz="1600" i="1" baseline="-25000" dirty="0">
                <a:latin typeface="Arial" charset="0"/>
                <a:cs typeface="Arial" charset="0"/>
              </a:rPr>
              <a:t>1,d</a:t>
            </a:r>
            <a:r>
              <a:rPr lang="sl-SI" sz="1600" dirty="0">
                <a:latin typeface="Arial" charset="0"/>
                <a:cs typeface="Arial" charset="0"/>
              </a:rPr>
              <a:t>:</a:t>
            </a:r>
          </a:p>
          <a:p>
            <a:pPr eaLnBrk="1" hangingPunct="1">
              <a:spcBef>
                <a:spcPts val="600"/>
              </a:spcBef>
              <a:defRPr/>
            </a:pPr>
            <a:r>
              <a:rPr lang="sl-SI" sz="1600" dirty="0">
                <a:latin typeface="Arial" charset="0"/>
                <a:cs typeface="Arial" charset="0"/>
              </a:rPr>
              <a:t>	</a:t>
            </a:r>
            <a:r>
              <a:rPr lang="sl-SI" sz="1600" b="1" dirty="0">
                <a:latin typeface="Arial" charset="0"/>
                <a:cs typeface="Arial" charset="0"/>
              </a:rPr>
              <a:t>H</a:t>
            </a:r>
            <a:r>
              <a:rPr lang="sl-SI" sz="1600" i="1" baseline="-25000" dirty="0">
                <a:latin typeface="Arial" charset="0"/>
                <a:cs typeface="Arial" charset="0"/>
              </a:rPr>
              <a:t>1,l</a:t>
            </a:r>
            <a:r>
              <a:rPr lang="sl-SI" sz="1600" dirty="0">
                <a:latin typeface="Arial" charset="0"/>
                <a:cs typeface="Arial" charset="0"/>
              </a:rPr>
              <a:t> </a:t>
            </a:r>
            <a:r>
              <a:rPr lang="sl-SI" sz="1600" b="1" dirty="0">
                <a:latin typeface="Arial" charset="0"/>
                <a:cs typeface="Arial" charset="0"/>
              </a:rPr>
              <a:t>e</a:t>
            </a:r>
            <a:r>
              <a:rPr lang="sl-SI" sz="1600" i="1" baseline="-25000" dirty="0">
                <a:latin typeface="Arial" charset="0"/>
                <a:cs typeface="Arial" charset="0"/>
              </a:rPr>
              <a:t>l</a:t>
            </a:r>
            <a:r>
              <a:rPr lang="sl-SI" sz="1600" dirty="0">
                <a:latin typeface="Arial" charset="0"/>
                <a:cs typeface="Arial" charset="0"/>
              </a:rPr>
              <a:t> = (</a:t>
            </a:r>
            <a:r>
              <a:rPr lang="sl-SI" sz="1600" i="1" dirty="0" err="1">
                <a:latin typeface="Arial" charset="0"/>
                <a:cs typeface="Arial" charset="0"/>
              </a:rPr>
              <a:t>e</a:t>
            </a:r>
            <a:r>
              <a:rPr lang="sl-SI" sz="1600" i="1" baseline="-25000" dirty="0" err="1">
                <a:latin typeface="Arial" charset="0"/>
                <a:cs typeface="Arial" charset="0"/>
              </a:rPr>
              <a:t>x</a:t>
            </a:r>
            <a:r>
              <a:rPr lang="sl-SI" sz="1600" i="1" baseline="-25000" dirty="0">
                <a:latin typeface="Arial" charset="0"/>
                <a:cs typeface="Arial" charset="0"/>
              </a:rPr>
              <a:t>,l</a:t>
            </a:r>
            <a:r>
              <a:rPr lang="sl-SI" sz="1600" dirty="0">
                <a:latin typeface="Arial" charset="0"/>
                <a:cs typeface="Arial" charset="0"/>
              </a:rPr>
              <a:t>, </a:t>
            </a:r>
            <a:r>
              <a:rPr lang="sl-SI" sz="1600" i="1" dirty="0" err="1">
                <a:latin typeface="Arial" charset="0"/>
                <a:cs typeface="Arial" charset="0"/>
              </a:rPr>
              <a:t>e</a:t>
            </a:r>
            <a:r>
              <a:rPr lang="sl-SI" sz="1600" i="1" baseline="-25000" dirty="0" err="1">
                <a:latin typeface="Arial" charset="0"/>
                <a:cs typeface="Arial" charset="0"/>
              </a:rPr>
              <a:t>y</a:t>
            </a:r>
            <a:r>
              <a:rPr lang="sl-SI" sz="1600" i="1" baseline="-25000" dirty="0">
                <a:latin typeface="Arial" charset="0"/>
                <a:cs typeface="Arial" charset="0"/>
              </a:rPr>
              <a:t>,l</a:t>
            </a:r>
            <a:r>
              <a:rPr lang="sl-SI" sz="1600" dirty="0">
                <a:latin typeface="Arial" charset="0"/>
                <a:cs typeface="Arial" charset="0"/>
              </a:rPr>
              <a:t>, 0)</a:t>
            </a:r>
            <a:r>
              <a:rPr lang="sl-SI" sz="1600" i="1" baseline="30000" dirty="0">
                <a:latin typeface="Arial" charset="0"/>
                <a:cs typeface="Arial" charset="0"/>
              </a:rPr>
              <a:t>T</a:t>
            </a:r>
            <a:r>
              <a:rPr lang="sl-SI" sz="1600" dirty="0">
                <a:latin typeface="Arial" charset="0"/>
                <a:cs typeface="Arial" charset="0"/>
              </a:rPr>
              <a:t>  in </a:t>
            </a:r>
            <a:r>
              <a:rPr lang="sl-SI" sz="1600" b="1" dirty="0">
                <a:latin typeface="Arial" charset="0"/>
                <a:cs typeface="Arial" charset="0"/>
              </a:rPr>
              <a:t>H</a:t>
            </a:r>
            <a:r>
              <a:rPr lang="sl-SI" sz="1600" i="1" baseline="-25000" dirty="0">
                <a:latin typeface="Arial" charset="0"/>
                <a:cs typeface="Arial" charset="0"/>
              </a:rPr>
              <a:t>1,d</a:t>
            </a:r>
            <a:r>
              <a:rPr lang="sl-SI" sz="1600" dirty="0">
                <a:latin typeface="Arial" charset="0"/>
                <a:cs typeface="Arial" charset="0"/>
              </a:rPr>
              <a:t> </a:t>
            </a:r>
            <a:r>
              <a:rPr lang="sl-SI" sz="1600" b="1" dirty="0" err="1">
                <a:latin typeface="Arial" charset="0"/>
                <a:cs typeface="Arial" charset="0"/>
              </a:rPr>
              <a:t>e</a:t>
            </a:r>
            <a:r>
              <a:rPr lang="sl-SI" sz="1600" i="1" baseline="-25000" dirty="0" err="1">
                <a:latin typeface="Arial" charset="0"/>
                <a:cs typeface="Arial" charset="0"/>
              </a:rPr>
              <a:t>d</a:t>
            </a:r>
            <a:r>
              <a:rPr lang="sl-SI" sz="1600" dirty="0">
                <a:latin typeface="Arial" charset="0"/>
                <a:cs typeface="Arial" charset="0"/>
              </a:rPr>
              <a:t> = (</a:t>
            </a:r>
            <a:r>
              <a:rPr lang="sl-SI" sz="1600" i="1" dirty="0" err="1">
                <a:latin typeface="Arial" charset="0"/>
                <a:cs typeface="Arial" charset="0"/>
              </a:rPr>
              <a:t>e</a:t>
            </a:r>
            <a:r>
              <a:rPr lang="sl-SI" sz="1600" i="1" baseline="-25000" dirty="0" err="1">
                <a:latin typeface="Arial" charset="0"/>
                <a:cs typeface="Arial" charset="0"/>
              </a:rPr>
              <a:t>x</a:t>
            </a:r>
            <a:r>
              <a:rPr lang="sl-SI" sz="1600" i="1" baseline="-25000" dirty="0">
                <a:latin typeface="Arial" charset="0"/>
                <a:cs typeface="Arial" charset="0"/>
              </a:rPr>
              <a:t>,d</a:t>
            </a:r>
            <a:r>
              <a:rPr lang="sl-SI" sz="1600" dirty="0">
                <a:latin typeface="Arial" charset="0"/>
                <a:cs typeface="Arial" charset="0"/>
              </a:rPr>
              <a:t>, </a:t>
            </a:r>
            <a:r>
              <a:rPr lang="sl-SI" sz="1600" i="1" dirty="0" err="1">
                <a:latin typeface="Arial" charset="0"/>
                <a:cs typeface="Arial" charset="0"/>
              </a:rPr>
              <a:t>e</a:t>
            </a:r>
            <a:r>
              <a:rPr lang="sl-SI" sz="1600" i="1" baseline="-25000" dirty="0" err="1">
                <a:latin typeface="Arial" charset="0"/>
                <a:cs typeface="Arial" charset="0"/>
              </a:rPr>
              <a:t>y</a:t>
            </a:r>
            <a:r>
              <a:rPr lang="sl-SI" sz="1600" i="1" baseline="-25000" dirty="0">
                <a:latin typeface="Arial" charset="0"/>
                <a:cs typeface="Arial" charset="0"/>
              </a:rPr>
              <a:t>,d</a:t>
            </a:r>
            <a:r>
              <a:rPr lang="sl-SI" sz="1600" dirty="0">
                <a:latin typeface="Arial" charset="0"/>
                <a:cs typeface="Arial" charset="0"/>
              </a:rPr>
              <a:t>, 0)</a:t>
            </a:r>
            <a:r>
              <a:rPr lang="sl-SI" sz="1600" i="1" baseline="30000" dirty="0">
                <a:latin typeface="Arial" charset="0"/>
                <a:cs typeface="Arial" charset="0"/>
              </a:rPr>
              <a:t>T</a:t>
            </a:r>
            <a:r>
              <a:rPr lang="sl-SI" sz="1600" dirty="0">
                <a:latin typeface="Arial" charset="0"/>
                <a:cs typeface="Arial" charset="0"/>
              </a:rPr>
              <a:t> </a:t>
            </a:r>
          </a:p>
          <a:p>
            <a:pPr marL="342900" indent="-342900" eaLnBrk="1" hangingPunct="1">
              <a:spcBef>
                <a:spcPts val="600"/>
              </a:spcBef>
              <a:buFont typeface="+mj-lt"/>
              <a:buAutoNum type="arabicPeriod" startAt="5"/>
              <a:defRPr/>
            </a:pPr>
            <a:r>
              <a:rPr lang="sl-SI" sz="1600" dirty="0">
                <a:latin typeface="Arial" charset="0"/>
                <a:cs typeface="Arial" charset="0"/>
              </a:rPr>
              <a:t>Zasuk </a:t>
            </a:r>
            <a:r>
              <a:rPr lang="sl-SI" sz="1600" b="1" dirty="0">
                <a:latin typeface="Arial" charset="0"/>
                <a:cs typeface="Arial" charset="0"/>
              </a:rPr>
              <a:t>R</a:t>
            </a:r>
            <a:r>
              <a:rPr lang="sl-SI" sz="1600" dirty="0">
                <a:latin typeface="Arial" charset="0"/>
                <a:cs typeface="Arial" charset="0"/>
              </a:rPr>
              <a:t>, ki ustreza, ni enoumno določen, zato se odločimo za najmanjšega med možnimi, saj tak najmanj popači sliko:</a:t>
            </a:r>
          </a:p>
          <a:p>
            <a:pPr marL="900113" eaLnBrk="1" hangingPunct="1">
              <a:spcBef>
                <a:spcPts val="600"/>
              </a:spcBef>
              <a:defRPr/>
            </a:pPr>
            <a:r>
              <a:rPr lang="sl-SI" sz="1600" dirty="0">
                <a:latin typeface="Arial" charset="0"/>
                <a:cs typeface="Arial" charset="0"/>
              </a:rPr>
              <a:t> </a:t>
            </a:r>
            <a:r>
              <a:rPr lang="sl-SI" sz="1600" b="1" dirty="0" err="1">
                <a:latin typeface="Arial" charset="0"/>
                <a:cs typeface="Arial" charset="0"/>
              </a:rPr>
              <a:t>R</a:t>
            </a:r>
            <a:r>
              <a:rPr lang="sl-SI" sz="1600" i="1" baseline="-25000" dirty="0" err="1">
                <a:latin typeface="Arial" charset="0"/>
                <a:cs typeface="Arial" charset="0"/>
              </a:rPr>
              <a:t>l</a:t>
            </a:r>
            <a:r>
              <a:rPr lang="sl-SI" sz="1600" b="1" dirty="0" err="1">
                <a:latin typeface="Arial" charset="0"/>
                <a:cs typeface="Arial" charset="0"/>
              </a:rPr>
              <a:t>K</a:t>
            </a:r>
            <a:r>
              <a:rPr lang="sl-SI" sz="1600" baseline="30000" dirty="0">
                <a:latin typeface="Arial" charset="0"/>
                <a:cs typeface="Arial" charset="0"/>
              </a:rPr>
              <a:t>-1</a:t>
            </a:r>
            <a:r>
              <a:rPr lang="sl-SI" sz="1600" b="1" dirty="0">
                <a:latin typeface="Arial" charset="0"/>
                <a:cs typeface="Arial" charset="0"/>
              </a:rPr>
              <a:t>e</a:t>
            </a:r>
            <a:r>
              <a:rPr lang="sl-SI" sz="1600" i="1" baseline="-25000" dirty="0">
                <a:latin typeface="Arial" charset="0"/>
                <a:cs typeface="Arial" charset="0"/>
              </a:rPr>
              <a:t>l</a:t>
            </a:r>
            <a:r>
              <a:rPr lang="sl-SI" sz="1600" dirty="0">
                <a:latin typeface="Arial" charset="0"/>
                <a:cs typeface="Arial" charset="0"/>
              </a:rPr>
              <a:t> = </a:t>
            </a:r>
            <a:r>
              <a:rPr lang="sl-SI" sz="1600" b="1" dirty="0">
                <a:latin typeface="Arial" charset="0"/>
                <a:cs typeface="Arial" charset="0"/>
              </a:rPr>
              <a:t>K</a:t>
            </a:r>
            <a:r>
              <a:rPr lang="sl-SI" sz="1600" baseline="30000" dirty="0">
                <a:latin typeface="Arial" charset="0"/>
                <a:cs typeface="Arial" charset="0"/>
              </a:rPr>
              <a:t>-1</a:t>
            </a:r>
            <a:r>
              <a:rPr lang="sl-SI" sz="1600" dirty="0">
                <a:latin typeface="Arial" charset="0"/>
                <a:cs typeface="Arial" charset="0"/>
              </a:rPr>
              <a:t>(</a:t>
            </a:r>
            <a:r>
              <a:rPr lang="sl-SI" sz="1600" i="1" dirty="0" err="1">
                <a:latin typeface="Arial" charset="0"/>
                <a:cs typeface="Arial" charset="0"/>
              </a:rPr>
              <a:t>e</a:t>
            </a:r>
            <a:r>
              <a:rPr lang="sl-SI" sz="1600" i="1" baseline="-25000" dirty="0" err="1">
                <a:latin typeface="Arial" charset="0"/>
                <a:cs typeface="Arial" charset="0"/>
              </a:rPr>
              <a:t>x</a:t>
            </a:r>
            <a:r>
              <a:rPr lang="sl-SI" sz="1600" i="1" baseline="-25000" dirty="0">
                <a:latin typeface="Arial" charset="0"/>
                <a:cs typeface="Arial" charset="0"/>
              </a:rPr>
              <a:t>,l</a:t>
            </a:r>
            <a:r>
              <a:rPr lang="sl-SI" sz="1600" dirty="0">
                <a:latin typeface="Arial" charset="0"/>
                <a:cs typeface="Arial" charset="0"/>
              </a:rPr>
              <a:t>, </a:t>
            </a:r>
            <a:r>
              <a:rPr lang="sl-SI" sz="1600" i="1" dirty="0" err="1">
                <a:latin typeface="Arial" charset="0"/>
                <a:cs typeface="Arial" charset="0"/>
              </a:rPr>
              <a:t>e</a:t>
            </a:r>
            <a:r>
              <a:rPr lang="sl-SI" sz="1600" i="1" baseline="-25000" dirty="0" err="1">
                <a:latin typeface="Arial" charset="0"/>
                <a:cs typeface="Arial" charset="0"/>
              </a:rPr>
              <a:t>y</a:t>
            </a:r>
            <a:r>
              <a:rPr lang="sl-SI" sz="1600" i="1" baseline="-25000" dirty="0">
                <a:latin typeface="Arial" charset="0"/>
                <a:cs typeface="Arial" charset="0"/>
              </a:rPr>
              <a:t>,l</a:t>
            </a:r>
            <a:r>
              <a:rPr lang="sl-SI" sz="1600" dirty="0">
                <a:latin typeface="Arial" charset="0"/>
                <a:cs typeface="Arial" charset="0"/>
              </a:rPr>
              <a:t>, 0)</a:t>
            </a:r>
            <a:r>
              <a:rPr lang="sl-SI" sz="1600" i="1" baseline="30000" dirty="0">
                <a:latin typeface="Arial" charset="0"/>
                <a:cs typeface="Arial" charset="0"/>
              </a:rPr>
              <a:t>T</a:t>
            </a:r>
            <a:r>
              <a:rPr lang="sl-SI" sz="1600" i="1" dirty="0">
                <a:latin typeface="Arial" charset="0"/>
                <a:cs typeface="Arial" charset="0"/>
              </a:rPr>
              <a:t>  </a:t>
            </a:r>
            <a:r>
              <a:rPr lang="sl-SI" sz="1600" dirty="0">
                <a:latin typeface="Arial" charset="0"/>
                <a:cs typeface="Arial" charset="0"/>
              </a:rPr>
              <a:t>in  </a:t>
            </a:r>
            <a:r>
              <a:rPr lang="sl-SI" sz="1600" b="1" dirty="0" err="1">
                <a:latin typeface="Arial" charset="0"/>
                <a:cs typeface="Arial" charset="0"/>
              </a:rPr>
              <a:t>R</a:t>
            </a:r>
            <a:r>
              <a:rPr lang="sl-SI" sz="1600" i="1" baseline="-25000" dirty="0" err="1">
                <a:latin typeface="Arial" charset="0"/>
                <a:cs typeface="Arial" charset="0"/>
              </a:rPr>
              <a:t>d</a:t>
            </a:r>
            <a:r>
              <a:rPr lang="sl-SI" sz="1600" b="1" dirty="0" err="1">
                <a:latin typeface="Arial" charset="0"/>
                <a:cs typeface="Arial" charset="0"/>
              </a:rPr>
              <a:t>K</a:t>
            </a:r>
            <a:r>
              <a:rPr lang="sl-SI" sz="1600" baseline="30000" dirty="0">
                <a:latin typeface="Arial" charset="0"/>
                <a:cs typeface="Arial" charset="0"/>
              </a:rPr>
              <a:t>-1</a:t>
            </a:r>
            <a:r>
              <a:rPr lang="sl-SI" sz="1600" b="1" dirty="0">
                <a:latin typeface="Arial" charset="0"/>
                <a:cs typeface="Arial" charset="0"/>
              </a:rPr>
              <a:t>e</a:t>
            </a:r>
            <a:r>
              <a:rPr lang="sl-SI" sz="1600" i="1" baseline="-25000" dirty="0">
                <a:latin typeface="Arial" charset="0"/>
                <a:cs typeface="Arial" charset="0"/>
              </a:rPr>
              <a:t>d</a:t>
            </a:r>
            <a:r>
              <a:rPr lang="sl-SI" sz="1600" dirty="0">
                <a:latin typeface="Arial" charset="0"/>
                <a:cs typeface="Arial" charset="0"/>
              </a:rPr>
              <a:t> = </a:t>
            </a:r>
            <a:r>
              <a:rPr lang="sl-SI" sz="1600" b="1" dirty="0">
                <a:latin typeface="Arial" charset="0"/>
                <a:cs typeface="Arial" charset="0"/>
              </a:rPr>
              <a:t>K</a:t>
            </a:r>
            <a:r>
              <a:rPr lang="sl-SI" sz="1600" baseline="30000" dirty="0">
                <a:latin typeface="Arial" charset="0"/>
                <a:cs typeface="Arial" charset="0"/>
              </a:rPr>
              <a:t>-1</a:t>
            </a:r>
            <a:r>
              <a:rPr lang="sl-SI" sz="1600" dirty="0">
                <a:latin typeface="Arial" charset="0"/>
                <a:cs typeface="Arial" charset="0"/>
              </a:rPr>
              <a:t>(</a:t>
            </a:r>
            <a:r>
              <a:rPr lang="sl-SI" sz="1600" i="1" dirty="0" err="1">
                <a:latin typeface="Arial" charset="0"/>
                <a:cs typeface="Arial" charset="0"/>
              </a:rPr>
              <a:t>e</a:t>
            </a:r>
            <a:r>
              <a:rPr lang="sl-SI" sz="1600" i="1" baseline="-25000" dirty="0" err="1">
                <a:latin typeface="Arial" charset="0"/>
                <a:cs typeface="Arial" charset="0"/>
              </a:rPr>
              <a:t>x</a:t>
            </a:r>
            <a:r>
              <a:rPr lang="sl-SI" sz="1600" i="1" baseline="-25000" dirty="0">
                <a:latin typeface="Arial" charset="0"/>
                <a:cs typeface="Arial" charset="0"/>
              </a:rPr>
              <a:t>,d</a:t>
            </a:r>
            <a:r>
              <a:rPr lang="sl-SI" sz="1600" dirty="0">
                <a:latin typeface="Arial" charset="0"/>
                <a:cs typeface="Arial" charset="0"/>
              </a:rPr>
              <a:t>, </a:t>
            </a:r>
            <a:r>
              <a:rPr lang="sl-SI" sz="1600" i="1" dirty="0" err="1">
                <a:latin typeface="Arial" charset="0"/>
                <a:cs typeface="Arial" charset="0"/>
              </a:rPr>
              <a:t>e</a:t>
            </a:r>
            <a:r>
              <a:rPr lang="sl-SI" sz="1600" i="1" baseline="-25000" dirty="0" err="1">
                <a:latin typeface="Arial" charset="0"/>
                <a:cs typeface="Arial" charset="0"/>
              </a:rPr>
              <a:t>y</a:t>
            </a:r>
            <a:r>
              <a:rPr lang="sl-SI" sz="1600" i="1" baseline="-25000" dirty="0">
                <a:latin typeface="Arial" charset="0"/>
                <a:cs typeface="Arial" charset="0"/>
              </a:rPr>
              <a:t>,d</a:t>
            </a:r>
            <a:r>
              <a:rPr lang="sl-SI" sz="1600" dirty="0">
                <a:latin typeface="Arial" charset="0"/>
                <a:cs typeface="Arial" charset="0"/>
              </a:rPr>
              <a:t>, 0)</a:t>
            </a:r>
            <a:r>
              <a:rPr lang="sl-SI" sz="1600" i="1" baseline="30000" dirty="0">
                <a:latin typeface="Arial" charset="0"/>
                <a:cs typeface="Arial" charset="0"/>
              </a:rPr>
              <a:t>T</a:t>
            </a:r>
            <a:endParaRPr lang="sl-SI" sz="1600" dirty="0">
              <a:latin typeface="Arial" charset="0"/>
              <a:cs typeface="Arial" charset="0"/>
            </a:endParaRPr>
          </a:p>
        </p:txBody>
      </p:sp>
      <p:pic>
        <p:nvPicPr>
          <p:cNvPr id="201736" name="Slika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2349500"/>
            <a:ext cx="1273175" cy="152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0377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A007123-9841-4F12-80FE-3FA7AF6458E4}" type="slidenum">
              <a:rPr lang="en-GB" altLang="en-US" sz="1400" smtClean="0"/>
              <a:pPr>
                <a:spcBef>
                  <a:spcPct val="0"/>
                </a:spcBef>
                <a:buFontTx/>
                <a:buNone/>
              </a:pPr>
              <a:t>102</a:t>
            </a:fld>
            <a:endParaRPr lang="en-GB" altLang="en-US" sz="1400"/>
          </a:p>
        </p:txBody>
      </p:sp>
      <p:sp>
        <p:nvSpPr>
          <p:cNvPr id="203780" name="Rectangle 2"/>
          <p:cNvSpPr>
            <a:spLocks noGrp="1" noChangeArrowheads="1"/>
          </p:cNvSpPr>
          <p:nvPr>
            <p:ph type="ctrTitle"/>
          </p:nvPr>
        </p:nvSpPr>
        <p:spPr>
          <a:xfrm>
            <a:off x="0" y="44450"/>
            <a:ext cx="9144000" cy="936625"/>
          </a:xfrm>
        </p:spPr>
        <p:txBody>
          <a:bodyPr/>
          <a:lstStyle/>
          <a:p>
            <a:pPr defTabSz="912813" eaLnBrk="1" hangingPunct="1"/>
            <a:r>
              <a:rPr lang="sl-SI" altLang="en-US" sz="2800" b="1"/>
              <a:t>DOLOČANJE GLOBINSKE SLIKE – IZRAVNAVA SLIK (4)</a:t>
            </a:r>
            <a:endParaRPr lang="en-GB" altLang="en-US" sz="2000"/>
          </a:p>
        </p:txBody>
      </p:sp>
      <p:sp>
        <p:nvSpPr>
          <p:cNvPr id="20378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0378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 name="PoljeZBesedilom 1"/>
          <p:cNvSpPr txBox="1"/>
          <p:nvPr/>
        </p:nvSpPr>
        <p:spPr>
          <a:xfrm>
            <a:off x="611188" y="1052513"/>
            <a:ext cx="7921625" cy="5262562"/>
          </a:xfrm>
          <a:prstGeom prst="rect">
            <a:avLst/>
          </a:prstGeom>
          <a:noFill/>
        </p:spPr>
        <p:txBody>
          <a:bodyPr>
            <a:spAutoFit/>
          </a:bodyPr>
          <a:lstStyle/>
          <a:p>
            <a:pPr marL="342900" indent="-342900" eaLnBrk="1" hangingPunct="1">
              <a:spcBef>
                <a:spcPts val="600"/>
              </a:spcBef>
              <a:buFontTx/>
              <a:buAutoNum type="arabicPeriod"/>
              <a:defRPr/>
            </a:pPr>
            <a:r>
              <a:rPr lang="sl-SI" sz="1600" dirty="0">
                <a:latin typeface="Arial" charset="0"/>
                <a:cs typeface="Arial" charset="0"/>
              </a:rPr>
              <a:t>Gre za zasuk vektorja </a:t>
            </a:r>
            <a:r>
              <a:rPr lang="sl-SI" sz="1600" b="1" dirty="0">
                <a:latin typeface="Arial" charset="0"/>
                <a:cs typeface="Arial" charset="0"/>
              </a:rPr>
              <a:t>a</a:t>
            </a:r>
            <a:r>
              <a:rPr lang="sl-SI" sz="1600" dirty="0">
                <a:latin typeface="Arial" charset="0"/>
                <a:cs typeface="Arial" charset="0"/>
              </a:rPr>
              <a:t> = </a:t>
            </a:r>
            <a:r>
              <a:rPr lang="sl-SI" sz="1600" b="1" dirty="0">
                <a:latin typeface="Arial" charset="0"/>
                <a:cs typeface="Arial" charset="0"/>
              </a:rPr>
              <a:t>K</a:t>
            </a:r>
            <a:r>
              <a:rPr lang="sl-SI" sz="1600" baseline="30000" dirty="0">
                <a:latin typeface="Arial" charset="0"/>
                <a:cs typeface="Arial" charset="0"/>
              </a:rPr>
              <a:t>-1</a:t>
            </a:r>
            <a:r>
              <a:rPr lang="sl-SI" sz="1600" b="1" dirty="0">
                <a:latin typeface="Arial" charset="0"/>
                <a:cs typeface="Arial" charset="0"/>
              </a:rPr>
              <a:t>e</a:t>
            </a:r>
            <a:r>
              <a:rPr lang="sl-SI" sz="1600" dirty="0">
                <a:latin typeface="Arial" charset="0"/>
                <a:cs typeface="Arial" charset="0"/>
              </a:rPr>
              <a:t> v vektor </a:t>
            </a:r>
            <a:r>
              <a:rPr lang="sl-SI" sz="1600" b="1" dirty="0">
                <a:latin typeface="Arial" charset="0"/>
                <a:cs typeface="Arial" charset="0"/>
              </a:rPr>
              <a:t>b</a:t>
            </a:r>
            <a:r>
              <a:rPr lang="sl-SI" sz="1600" dirty="0">
                <a:latin typeface="Arial" charset="0"/>
                <a:cs typeface="Arial" charset="0"/>
              </a:rPr>
              <a:t> = </a:t>
            </a:r>
            <a:r>
              <a:rPr lang="sl-SI" sz="1600" b="1" dirty="0">
                <a:latin typeface="Arial" charset="0"/>
                <a:cs typeface="Arial" charset="0"/>
              </a:rPr>
              <a:t>K</a:t>
            </a:r>
            <a:r>
              <a:rPr lang="sl-SI" sz="1600" baseline="30000" dirty="0">
                <a:latin typeface="Arial" charset="0"/>
                <a:cs typeface="Arial" charset="0"/>
              </a:rPr>
              <a:t>-1</a:t>
            </a:r>
            <a:r>
              <a:rPr lang="sl-SI" sz="1600" dirty="0">
                <a:latin typeface="Arial" charset="0"/>
                <a:cs typeface="Arial" charset="0"/>
              </a:rPr>
              <a:t>(</a:t>
            </a:r>
            <a:r>
              <a:rPr lang="sl-SI" sz="1600" i="1" dirty="0" err="1">
                <a:latin typeface="Arial" charset="0"/>
                <a:cs typeface="Arial" charset="0"/>
              </a:rPr>
              <a:t>e</a:t>
            </a:r>
            <a:r>
              <a:rPr lang="sl-SI" sz="1600" i="1" baseline="-25000" dirty="0" err="1">
                <a:latin typeface="Arial" charset="0"/>
                <a:cs typeface="Arial" charset="0"/>
              </a:rPr>
              <a:t>x</a:t>
            </a:r>
            <a:r>
              <a:rPr lang="sl-SI" sz="1600" dirty="0">
                <a:latin typeface="Arial" charset="0"/>
                <a:cs typeface="Arial" charset="0"/>
              </a:rPr>
              <a:t>, </a:t>
            </a:r>
            <a:r>
              <a:rPr lang="sl-SI" sz="1600" i="1" dirty="0" err="1">
                <a:latin typeface="Arial" charset="0"/>
                <a:cs typeface="Arial" charset="0"/>
              </a:rPr>
              <a:t>e</a:t>
            </a:r>
            <a:r>
              <a:rPr lang="sl-SI" sz="1600" i="1" baseline="-25000" dirty="0" err="1">
                <a:latin typeface="Arial" charset="0"/>
                <a:cs typeface="Arial" charset="0"/>
              </a:rPr>
              <a:t>y</a:t>
            </a:r>
            <a:r>
              <a:rPr lang="sl-SI" sz="1600" dirty="0">
                <a:latin typeface="Arial" charset="0"/>
                <a:cs typeface="Arial" charset="0"/>
              </a:rPr>
              <a:t>, 0)</a:t>
            </a:r>
            <a:r>
              <a:rPr lang="sl-SI" sz="1600" i="1" baseline="30000" dirty="0">
                <a:latin typeface="Arial" charset="0"/>
                <a:cs typeface="Arial" charset="0"/>
              </a:rPr>
              <a:t>T</a:t>
            </a:r>
            <a:r>
              <a:rPr lang="sl-SI" sz="1600" i="1" dirty="0">
                <a:latin typeface="Arial" charset="0"/>
                <a:cs typeface="Arial" charset="0"/>
              </a:rPr>
              <a:t>. </a:t>
            </a:r>
            <a:endParaRPr lang="sl-SI" sz="1600" dirty="0">
              <a:latin typeface="Arial" charset="0"/>
              <a:cs typeface="Arial" charset="0"/>
            </a:endParaRPr>
          </a:p>
          <a:p>
            <a:pPr marL="342900" indent="-342900" eaLnBrk="1" hangingPunct="1">
              <a:spcBef>
                <a:spcPts val="600"/>
              </a:spcBef>
              <a:buFontTx/>
              <a:buAutoNum type="arabicPeriod"/>
              <a:defRPr/>
            </a:pPr>
            <a:r>
              <a:rPr lang="sl-SI" sz="1600" dirty="0">
                <a:latin typeface="Arial" charset="0"/>
                <a:cs typeface="Arial" charset="0"/>
              </a:rPr>
              <a:t>Minimalni kot med tema vektorjema je:</a:t>
            </a:r>
          </a:p>
          <a:p>
            <a:pPr marL="342900" indent="-342900" eaLnBrk="1" hangingPunct="1">
              <a:spcBef>
                <a:spcPts val="600"/>
              </a:spcBef>
              <a:buFontTx/>
              <a:buAutoNum type="arabicPeriod"/>
              <a:defRPr/>
            </a:pPr>
            <a:endParaRPr lang="sl-SI" sz="1600" dirty="0">
              <a:latin typeface="Arial" charset="0"/>
              <a:cs typeface="Arial" charset="0"/>
            </a:endParaRPr>
          </a:p>
          <a:p>
            <a:pPr marL="342900" indent="-342900" eaLnBrk="1" hangingPunct="1">
              <a:spcBef>
                <a:spcPts val="600"/>
              </a:spcBef>
              <a:buFontTx/>
              <a:buAutoNum type="arabicPeriod"/>
              <a:defRPr/>
            </a:pPr>
            <a:endParaRPr lang="sl-SI" sz="1600" dirty="0">
              <a:latin typeface="Arial" charset="0"/>
              <a:cs typeface="Arial" charset="0"/>
            </a:endParaRPr>
          </a:p>
          <a:p>
            <a:pPr marL="363538" eaLnBrk="1" hangingPunct="1">
              <a:spcBef>
                <a:spcPts val="600"/>
              </a:spcBef>
              <a:defRPr/>
            </a:pPr>
            <a:r>
              <a:rPr lang="sl-SI" sz="1600" dirty="0">
                <a:latin typeface="Arial" charset="0"/>
                <a:cs typeface="Arial" charset="0"/>
              </a:rPr>
              <a:t>os rotacije pa:</a:t>
            </a:r>
          </a:p>
          <a:p>
            <a:pPr marL="342900" indent="-342900" eaLnBrk="1" hangingPunct="1">
              <a:spcBef>
                <a:spcPts val="600"/>
              </a:spcBef>
              <a:buFont typeface="+mj-lt"/>
              <a:buAutoNum type="arabicPeriod" startAt="3"/>
              <a:defRPr/>
            </a:pPr>
            <a:endParaRPr lang="sl-SI" sz="1600" dirty="0">
              <a:latin typeface="Arial" charset="0"/>
              <a:cs typeface="Arial" charset="0"/>
            </a:endParaRPr>
          </a:p>
          <a:p>
            <a:pPr marL="342900" indent="-342900" eaLnBrk="1" hangingPunct="1">
              <a:spcBef>
                <a:spcPts val="600"/>
              </a:spcBef>
              <a:buFont typeface="+mj-lt"/>
              <a:buAutoNum type="arabicPeriod" startAt="3"/>
              <a:defRPr/>
            </a:pPr>
            <a:endParaRPr lang="sl-SI" sz="1600" dirty="0">
              <a:latin typeface="Arial" charset="0"/>
              <a:cs typeface="Arial" charset="0"/>
            </a:endParaRPr>
          </a:p>
          <a:p>
            <a:pPr marL="342900" indent="-342900" eaLnBrk="1" hangingPunct="1">
              <a:spcBef>
                <a:spcPts val="600"/>
              </a:spcBef>
              <a:buFont typeface="+mj-lt"/>
              <a:buAutoNum type="arabicPeriod" startAt="3"/>
              <a:defRPr/>
            </a:pPr>
            <a:r>
              <a:rPr lang="sl-SI" sz="1600" dirty="0" err="1">
                <a:latin typeface="Arial" charset="0"/>
                <a:cs typeface="Arial" charset="0"/>
              </a:rPr>
              <a:t>Rodriguesova</a:t>
            </a:r>
            <a:r>
              <a:rPr lang="sl-SI" sz="1600" dirty="0">
                <a:latin typeface="Arial" charset="0"/>
                <a:cs typeface="Arial" charset="0"/>
              </a:rPr>
              <a:t> formula pravi:</a:t>
            </a:r>
          </a:p>
          <a:p>
            <a:pPr marL="342900" indent="-342900" eaLnBrk="1" hangingPunct="1">
              <a:spcBef>
                <a:spcPts val="600"/>
              </a:spcBef>
              <a:buFont typeface="+mj-lt"/>
              <a:buAutoNum type="arabicPeriod" startAt="3"/>
              <a:defRPr/>
            </a:pPr>
            <a:endParaRPr lang="sl-SI" sz="1600" dirty="0">
              <a:latin typeface="Arial" charset="0"/>
              <a:cs typeface="Arial" charset="0"/>
            </a:endParaRPr>
          </a:p>
          <a:p>
            <a:pPr marL="363538" eaLnBrk="1" hangingPunct="1">
              <a:spcBef>
                <a:spcPts val="1800"/>
              </a:spcBef>
              <a:defRPr/>
            </a:pPr>
            <a:r>
              <a:rPr lang="sl-SI" sz="1600" dirty="0">
                <a:latin typeface="Arial" charset="0"/>
                <a:cs typeface="Arial" charset="0"/>
              </a:rPr>
              <a:t>pri čemer pomeni </a:t>
            </a:r>
          </a:p>
          <a:p>
            <a:pPr marL="342900" indent="-342900" eaLnBrk="1" hangingPunct="1">
              <a:spcBef>
                <a:spcPts val="600"/>
              </a:spcBef>
              <a:buFont typeface="+mj-lt"/>
              <a:buAutoNum type="arabicPeriod" startAt="3"/>
              <a:defRPr/>
            </a:pPr>
            <a:endParaRPr lang="sl-SI" sz="1600" dirty="0">
              <a:latin typeface="Arial" charset="0"/>
              <a:cs typeface="Arial" charset="0"/>
            </a:endParaRPr>
          </a:p>
          <a:p>
            <a:pPr marL="342900" indent="-342900" eaLnBrk="1" hangingPunct="1">
              <a:spcBef>
                <a:spcPts val="600"/>
              </a:spcBef>
              <a:buFont typeface="+mj-lt"/>
              <a:buAutoNum type="arabicPeriod" startAt="3"/>
              <a:defRPr/>
            </a:pPr>
            <a:endParaRPr lang="sl-SI" sz="1600" dirty="0">
              <a:latin typeface="Arial" charset="0"/>
              <a:cs typeface="Arial" charset="0"/>
            </a:endParaRPr>
          </a:p>
          <a:p>
            <a:pPr marL="342900" indent="-342900" eaLnBrk="1" hangingPunct="1">
              <a:spcBef>
                <a:spcPts val="600"/>
              </a:spcBef>
              <a:buFont typeface="+mj-lt"/>
              <a:buAutoNum type="arabicPeriod" startAt="3"/>
              <a:defRPr/>
            </a:pPr>
            <a:endParaRPr lang="sl-SI" sz="1600" dirty="0">
              <a:latin typeface="Arial" charset="0"/>
              <a:cs typeface="Arial" charset="0"/>
            </a:endParaRPr>
          </a:p>
          <a:p>
            <a:pPr marL="342900" indent="-342900" eaLnBrk="1" hangingPunct="1">
              <a:spcBef>
                <a:spcPts val="600"/>
              </a:spcBef>
              <a:buFont typeface="+mj-lt"/>
              <a:buAutoNum type="arabicPeriod" startAt="4"/>
              <a:defRPr/>
            </a:pPr>
            <a:r>
              <a:rPr lang="sl-SI" sz="1600" dirty="0">
                <a:latin typeface="Arial" charset="0"/>
                <a:cs typeface="Arial" charset="0"/>
              </a:rPr>
              <a:t>Tako določimo matriki zasukov za levo in desno sliko, iz relacije </a:t>
            </a:r>
            <a:r>
              <a:rPr lang="sl-SI" sz="1600" b="1" dirty="0">
                <a:latin typeface="Arial" charset="0"/>
                <a:cs typeface="Arial" charset="0"/>
              </a:rPr>
              <a:t>H</a:t>
            </a:r>
            <a:r>
              <a:rPr lang="sl-SI" sz="1600" dirty="0">
                <a:latin typeface="Arial" charset="0"/>
                <a:cs typeface="Arial" charset="0"/>
              </a:rPr>
              <a:t> = </a:t>
            </a:r>
            <a:r>
              <a:rPr lang="sl-SI" sz="1600" b="1" dirty="0">
                <a:latin typeface="Arial" charset="0"/>
                <a:cs typeface="Arial" charset="0"/>
              </a:rPr>
              <a:t>KRK</a:t>
            </a:r>
            <a:r>
              <a:rPr lang="sl-SI" sz="1600" baseline="30000" dirty="0">
                <a:latin typeface="Arial" charset="0"/>
                <a:cs typeface="Arial" charset="0"/>
              </a:rPr>
              <a:t>-1</a:t>
            </a:r>
            <a:r>
              <a:rPr lang="sl-SI" sz="1600" dirty="0">
                <a:latin typeface="Arial" charset="0"/>
                <a:cs typeface="Arial" charset="0"/>
              </a:rPr>
              <a:t> pa še homografiji za obe sliki: </a:t>
            </a:r>
            <a:r>
              <a:rPr lang="sl-SI" sz="1600" b="1" dirty="0">
                <a:latin typeface="Arial" charset="0"/>
                <a:cs typeface="Arial" charset="0"/>
              </a:rPr>
              <a:t>H</a:t>
            </a:r>
            <a:r>
              <a:rPr lang="sl-SI" sz="1600" baseline="-25000" dirty="0">
                <a:latin typeface="Arial" charset="0"/>
                <a:cs typeface="Arial" charset="0"/>
              </a:rPr>
              <a:t>1,</a:t>
            </a:r>
            <a:r>
              <a:rPr lang="sl-SI" sz="1600" i="1" baseline="-25000" dirty="0">
                <a:latin typeface="Arial" charset="0"/>
                <a:cs typeface="Arial" charset="0"/>
              </a:rPr>
              <a:t>l</a:t>
            </a:r>
            <a:r>
              <a:rPr lang="sl-SI" sz="1600" dirty="0">
                <a:latin typeface="Arial" charset="0"/>
                <a:cs typeface="Arial" charset="0"/>
              </a:rPr>
              <a:t> in </a:t>
            </a:r>
            <a:r>
              <a:rPr lang="sl-SI" sz="1600" b="1" dirty="0">
                <a:latin typeface="Arial" charset="0"/>
                <a:cs typeface="Arial" charset="0"/>
              </a:rPr>
              <a:t>H</a:t>
            </a:r>
            <a:r>
              <a:rPr lang="sl-SI" sz="1600" baseline="-25000" dirty="0">
                <a:latin typeface="Arial" charset="0"/>
                <a:cs typeface="Arial" charset="0"/>
              </a:rPr>
              <a:t>1,</a:t>
            </a:r>
            <a:r>
              <a:rPr lang="sl-SI" sz="1600" i="1" baseline="-25000" dirty="0">
                <a:latin typeface="Arial" charset="0"/>
                <a:cs typeface="Arial" charset="0"/>
              </a:rPr>
              <a:t>d</a:t>
            </a:r>
            <a:r>
              <a:rPr lang="sl-SI" sz="1600" dirty="0">
                <a:latin typeface="Arial" charset="0"/>
                <a:cs typeface="Arial" charset="0"/>
              </a:rPr>
              <a:t>. Obe </a:t>
            </a:r>
            <a:r>
              <a:rPr lang="sl-SI" sz="1600" dirty="0" err="1">
                <a:latin typeface="Arial" charset="0"/>
                <a:cs typeface="Arial" charset="0"/>
              </a:rPr>
              <a:t>homografiji</a:t>
            </a:r>
            <a:r>
              <a:rPr lang="sl-SI" sz="1600" dirty="0">
                <a:latin typeface="Arial" charset="0"/>
                <a:cs typeface="Arial" charset="0"/>
              </a:rPr>
              <a:t> vsebujeta še neznano vrednost goriščne razdalje, ki jo vzamemo kot parameter.</a:t>
            </a:r>
          </a:p>
        </p:txBody>
      </p:sp>
      <p:pic>
        <p:nvPicPr>
          <p:cNvPr id="203784" name="Slika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8225" y="1628775"/>
            <a:ext cx="16764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3785" name="Slika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38225" y="2636838"/>
            <a:ext cx="9017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3786" name="Slika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16000" y="3595688"/>
            <a:ext cx="36703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3787" name="Slika 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38225" y="4365625"/>
            <a:ext cx="2097088"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0582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1B4C3E8-E184-4A52-A52A-3C5F3F3121E4}" type="slidenum">
              <a:rPr lang="en-GB" altLang="en-US" sz="1400" smtClean="0"/>
              <a:pPr>
                <a:spcBef>
                  <a:spcPct val="0"/>
                </a:spcBef>
                <a:buFontTx/>
                <a:buNone/>
              </a:pPr>
              <a:t>103</a:t>
            </a:fld>
            <a:endParaRPr lang="en-GB" altLang="en-US" sz="1400"/>
          </a:p>
        </p:txBody>
      </p:sp>
      <p:sp>
        <p:nvSpPr>
          <p:cNvPr id="205828" name="Rectangle 2"/>
          <p:cNvSpPr>
            <a:spLocks noGrp="1" noChangeArrowheads="1"/>
          </p:cNvSpPr>
          <p:nvPr>
            <p:ph type="ctrTitle"/>
          </p:nvPr>
        </p:nvSpPr>
        <p:spPr>
          <a:xfrm>
            <a:off x="0" y="44450"/>
            <a:ext cx="9144000" cy="720725"/>
          </a:xfrm>
        </p:spPr>
        <p:txBody>
          <a:bodyPr/>
          <a:lstStyle/>
          <a:p>
            <a:pPr defTabSz="912813" eaLnBrk="1" hangingPunct="1"/>
            <a:r>
              <a:rPr lang="sl-SI" altLang="en-US" sz="2800" b="1"/>
              <a:t>DOLOČANJE GLOBINSKE SLIKE – IZRAVNAVA (5)</a:t>
            </a:r>
            <a:endParaRPr lang="en-GB" altLang="en-US" sz="2000"/>
          </a:p>
        </p:txBody>
      </p:sp>
      <p:sp>
        <p:nvSpPr>
          <p:cNvPr id="20582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0583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 name="PoljeZBesedilom 1"/>
          <p:cNvSpPr txBox="1"/>
          <p:nvPr/>
        </p:nvSpPr>
        <p:spPr>
          <a:xfrm>
            <a:off x="611188" y="836613"/>
            <a:ext cx="7921625" cy="5448300"/>
          </a:xfrm>
          <a:prstGeom prst="rect">
            <a:avLst/>
          </a:prstGeom>
          <a:noFill/>
        </p:spPr>
        <p:txBody>
          <a:bodyPr>
            <a:spAutoFit/>
          </a:bodyPr>
          <a:lstStyle/>
          <a:p>
            <a:pPr eaLnBrk="1" hangingPunct="1">
              <a:spcBef>
                <a:spcPts val="600"/>
              </a:spcBef>
              <a:defRPr/>
            </a:pPr>
            <a:r>
              <a:rPr lang="sl-SI" sz="1600" dirty="0">
                <a:latin typeface="Arial" charset="0"/>
                <a:cs typeface="Arial" charset="0"/>
              </a:rPr>
              <a:t>	</a:t>
            </a:r>
            <a:r>
              <a:rPr lang="sl-SI" sz="1600" u="sng" dirty="0">
                <a:solidFill>
                  <a:srgbClr val="00B0F0"/>
                </a:solidFill>
                <a:latin typeface="Arial" charset="0"/>
                <a:cs typeface="Arial" charset="0"/>
              </a:rPr>
              <a:t>Korak 2</a:t>
            </a:r>
          </a:p>
          <a:p>
            <a:pPr marL="342900" indent="-342900" eaLnBrk="1" hangingPunct="1">
              <a:spcBef>
                <a:spcPts val="600"/>
              </a:spcBef>
              <a:buFontTx/>
              <a:buAutoNum type="arabicPeriod"/>
              <a:defRPr/>
            </a:pPr>
            <a:r>
              <a:rPr lang="sl-SI" sz="1600" dirty="0" err="1">
                <a:latin typeface="Arial" charset="0"/>
                <a:cs typeface="Arial" charset="0"/>
              </a:rPr>
              <a:t>Epipola</a:t>
            </a:r>
            <a:r>
              <a:rPr lang="sl-SI" sz="1600" dirty="0">
                <a:latin typeface="Arial" charset="0"/>
                <a:cs typeface="Arial" charset="0"/>
              </a:rPr>
              <a:t> v neskončnosti moramo poravnati z osjo </a:t>
            </a:r>
            <a:r>
              <a:rPr lang="sl-SI" sz="1600" i="1" dirty="0">
                <a:latin typeface="Arial" charset="0"/>
                <a:cs typeface="Arial" charset="0"/>
              </a:rPr>
              <a:t>x</a:t>
            </a:r>
            <a:r>
              <a:rPr lang="sl-SI" sz="1600" dirty="0">
                <a:latin typeface="Arial" charset="0"/>
                <a:cs typeface="Arial" charset="0"/>
              </a:rPr>
              <a:t>: </a:t>
            </a:r>
            <a:r>
              <a:rPr lang="sl-SI" sz="1600" b="1" dirty="0">
                <a:latin typeface="Arial" charset="0"/>
                <a:cs typeface="Arial" charset="0"/>
              </a:rPr>
              <a:t>e</a:t>
            </a:r>
            <a:r>
              <a:rPr lang="sl-SI" sz="1600" i="1" baseline="-25000" dirty="0">
                <a:latin typeface="Arial" charset="0"/>
                <a:cs typeface="Arial" charset="0"/>
              </a:rPr>
              <a:t>l</a:t>
            </a:r>
            <a:r>
              <a:rPr lang="sl-SI" sz="1600" dirty="0">
                <a:latin typeface="Arial" charset="0"/>
                <a:cs typeface="Arial" charset="0"/>
              </a:rPr>
              <a:t> = (1, 0, 0)</a:t>
            </a:r>
            <a:r>
              <a:rPr lang="sl-SI" sz="1600" i="1" baseline="30000" dirty="0">
                <a:latin typeface="Arial" charset="0"/>
                <a:cs typeface="Arial" charset="0"/>
              </a:rPr>
              <a:t>T</a:t>
            </a:r>
            <a:r>
              <a:rPr lang="sl-SI" sz="1600" dirty="0">
                <a:latin typeface="Arial" charset="0"/>
                <a:cs typeface="Arial" charset="0"/>
              </a:rPr>
              <a:t> in </a:t>
            </a:r>
            <a:r>
              <a:rPr lang="sl-SI" sz="1600" b="1" dirty="0" err="1">
                <a:latin typeface="Arial" charset="0"/>
                <a:cs typeface="Arial" charset="0"/>
              </a:rPr>
              <a:t>e</a:t>
            </a:r>
            <a:r>
              <a:rPr lang="sl-SI" sz="1600" i="1" baseline="-25000" dirty="0" err="1">
                <a:latin typeface="Arial" charset="0"/>
                <a:cs typeface="Arial" charset="0"/>
              </a:rPr>
              <a:t>d</a:t>
            </a:r>
            <a:r>
              <a:rPr lang="sl-SI" sz="1600" dirty="0">
                <a:latin typeface="Arial" charset="0"/>
                <a:cs typeface="Arial" charset="0"/>
              </a:rPr>
              <a:t> = (1, 0, 0)</a:t>
            </a:r>
            <a:r>
              <a:rPr lang="sl-SI" sz="1600" i="1" baseline="30000" dirty="0">
                <a:latin typeface="Arial" charset="0"/>
                <a:cs typeface="Arial" charset="0"/>
              </a:rPr>
              <a:t>T </a:t>
            </a:r>
            <a:r>
              <a:rPr lang="sl-SI" sz="1600" dirty="0">
                <a:latin typeface="Arial" charset="0"/>
                <a:cs typeface="Arial" charset="0"/>
              </a:rPr>
              <a:t>.</a:t>
            </a:r>
          </a:p>
          <a:p>
            <a:pPr marL="342900" indent="-342900" eaLnBrk="1" hangingPunct="1">
              <a:spcBef>
                <a:spcPts val="600"/>
              </a:spcBef>
              <a:buFontTx/>
              <a:buAutoNum type="arabicPeriod"/>
              <a:defRPr/>
            </a:pPr>
            <a:r>
              <a:rPr lang="sl-SI" sz="1600" dirty="0">
                <a:latin typeface="Arial" charset="0"/>
                <a:cs typeface="Arial" charset="0"/>
              </a:rPr>
              <a:t>Potrebujemo dodatni </a:t>
            </a:r>
            <a:r>
              <a:rPr lang="sl-SI" sz="1600" dirty="0" err="1">
                <a:latin typeface="Arial" charset="0"/>
                <a:cs typeface="Arial" charset="0"/>
              </a:rPr>
              <a:t>homografiji</a:t>
            </a:r>
            <a:r>
              <a:rPr lang="sl-SI" sz="1600" dirty="0">
                <a:latin typeface="Arial" charset="0"/>
                <a:cs typeface="Arial" charset="0"/>
              </a:rPr>
              <a:t> </a:t>
            </a:r>
            <a:r>
              <a:rPr lang="sl-SI" sz="1600" b="1" dirty="0">
                <a:latin typeface="Arial" charset="0"/>
                <a:cs typeface="Arial" charset="0"/>
              </a:rPr>
              <a:t>H</a:t>
            </a:r>
            <a:r>
              <a:rPr lang="sl-SI" sz="1600" baseline="-25000" dirty="0">
                <a:latin typeface="Arial" charset="0"/>
                <a:cs typeface="Arial" charset="0"/>
              </a:rPr>
              <a:t>2,</a:t>
            </a:r>
            <a:r>
              <a:rPr lang="sl-SI" sz="1600" i="1" baseline="-25000" dirty="0">
                <a:latin typeface="Arial" charset="0"/>
                <a:cs typeface="Arial" charset="0"/>
              </a:rPr>
              <a:t>l</a:t>
            </a:r>
            <a:r>
              <a:rPr lang="sl-SI" sz="1600" dirty="0">
                <a:latin typeface="Arial" charset="0"/>
                <a:cs typeface="Arial" charset="0"/>
              </a:rPr>
              <a:t> in </a:t>
            </a:r>
            <a:r>
              <a:rPr lang="sl-SI" sz="1600" b="1" dirty="0">
                <a:latin typeface="Arial" charset="0"/>
                <a:cs typeface="Arial" charset="0"/>
              </a:rPr>
              <a:t>H</a:t>
            </a:r>
            <a:r>
              <a:rPr lang="sl-SI" sz="1600" baseline="-25000" dirty="0">
                <a:latin typeface="Arial" charset="0"/>
                <a:cs typeface="Arial" charset="0"/>
              </a:rPr>
              <a:t>2,</a:t>
            </a:r>
            <a:r>
              <a:rPr lang="sl-SI" sz="1600" i="1" baseline="-25000" dirty="0">
                <a:latin typeface="Arial" charset="0"/>
                <a:cs typeface="Arial" charset="0"/>
              </a:rPr>
              <a:t>d</a:t>
            </a:r>
            <a:r>
              <a:rPr lang="sl-SI" sz="1600" dirty="0">
                <a:latin typeface="Arial" charset="0"/>
                <a:cs typeface="Arial" charset="0"/>
              </a:rPr>
              <a:t>, ki ju izračunamo na enak način kot </a:t>
            </a:r>
            <a:r>
              <a:rPr lang="sl-SI" sz="1600" dirty="0" err="1">
                <a:latin typeface="Arial" charset="0"/>
                <a:cs typeface="Arial" charset="0"/>
              </a:rPr>
              <a:t>homografiji</a:t>
            </a:r>
            <a:r>
              <a:rPr lang="sl-SI" sz="1600" dirty="0">
                <a:latin typeface="Arial" charset="0"/>
                <a:cs typeface="Arial" charset="0"/>
              </a:rPr>
              <a:t> </a:t>
            </a:r>
            <a:r>
              <a:rPr lang="sl-SI" sz="1600" b="1" dirty="0">
                <a:latin typeface="Arial" charset="0"/>
                <a:cs typeface="Arial" charset="0"/>
              </a:rPr>
              <a:t>H</a:t>
            </a:r>
            <a:r>
              <a:rPr lang="sl-SI" sz="1600" baseline="-25000" dirty="0">
                <a:latin typeface="Arial" charset="0"/>
                <a:cs typeface="Arial" charset="0"/>
              </a:rPr>
              <a:t>1,</a:t>
            </a:r>
            <a:r>
              <a:rPr lang="sl-SI" sz="1600" i="1" baseline="-25000" dirty="0">
                <a:latin typeface="Arial" charset="0"/>
                <a:cs typeface="Arial" charset="0"/>
              </a:rPr>
              <a:t>l</a:t>
            </a:r>
            <a:r>
              <a:rPr lang="sl-SI" sz="1600" dirty="0">
                <a:latin typeface="Arial" charset="0"/>
                <a:cs typeface="Arial" charset="0"/>
              </a:rPr>
              <a:t> in </a:t>
            </a:r>
            <a:r>
              <a:rPr lang="sl-SI" sz="1600" b="1" dirty="0">
                <a:latin typeface="Arial" charset="0"/>
                <a:cs typeface="Arial" charset="0"/>
              </a:rPr>
              <a:t>H</a:t>
            </a:r>
            <a:r>
              <a:rPr lang="sl-SI" sz="1600" baseline="-25000" dirty="0">
                <a:latin typeface="Arial" charset="0"/>
                <a:cs typeface="Arial" charset="0"/>
              </a:rPr>
              <a:t>1,</a:t>
            </a:r>
            <a:r>
              <a:rPr lang="sl-SI" sz="1600" i="1" baseline="-25000" dirty="0">
                <a:latin typeface="Arial" charset="0"/>
                <a:cs typeface="Arial" charset="0"/>
              </a:rPr>
              <a:t>d</a:t>
            </a:r>
            <a:r>
              <a:rPr lang="sl-SI" sz="1600" dirty="0">
                <a:latin typeface="Arial" charset="0"/>
                <a:cs typeface="Arial" charset="0"/>
              </a:rPr>
              <a:t>, le da sedaj izhajamo iz </a:t>
            </a:r>
            <a:r>
              <a:rPr lang="sl-SI" sz="1600" dirty="0" err="1">
                <a:latin typeface="Arial" charset="0"/>
                <a:cs typeface="Arial" charset="0"/>
              </a:rPr>
              <a:t>epipolov</a:t>
            </a:r>
            <a:r>
              <a:rPr lang="sl-SI" sz="1600" dirty="0">
                <a:latin typeface="Arial" charset="0"/>
                <a:cs typeface="Arial" charset="0"/>
              </a:rPr>
              <a:t> v neskončnosti.</a:t>
            </a:r>
          </a:p>
          <a:p>
            <a:pPr marL="342900" indent="-342900" eaLnBrk="1" hangingPunct="1">
              <a:spcBef>
                <a:spcPts val="600"/>
              </a:spcBef>
              <a:buFontTx/>
              <a:buAutoNum type="arabicPeriod"/>
              <a:defRPr/>
            </a:pPr>
            <a:endParaRPr lang="sl-SI" sz="1600" dirty="0">
              <a:latin typeface="Arial" charset="0"/>
              <a:cs typeface="Arial" charset="0"/>
            </a:endParaRPr>
          </a:p>
          <a:p>
            <a:pPr eaLnBrk="1" hangingPunct="1">
              <a:spcBef>
                <a:spcPts val="600"/>
              </a:spcBef>
              <a:defRPr/>
            </a:pPr>
            <a:r>
              <a:rPr lang="sl-SI" sz="1600" dirty="0">
                <a:solidFill>
                  <a:srgbClr val="00B0F0"/>
                </a:solidFill>
                <a:latin typeface="Arial" charset="0"/>
                <a:cs typeface="Arial" charset="0"/>
              </a:rPr>
              <a:t>	</a:t>
            </a:r>
            <a:r>
              <a:rPr lang="sl-SI" sz="1600" u="sng" dirty="0">
                <a:solidFill>
                  <a:srgbClr val="00B0F0"/>
                </a:solidFill>
                <a:latin typeface="Arial" charset="0"/>
                <a:cs typeface="Arial" charset="0"/>
              </a:rPr>
              <a:t>Korak 3</a:t>
            </a:r>
            <a:endParaRPr lang="sl-SI" sz="1600" dirty="0">
              <a:latin typeface="Arial" charset="0"/>
              <a:cs typeface="Arial" charset="0"/>
            </a:endParaRPr>
          </a:p>
          <a:p>
            <a:pPr marL="342900" indent="-342900" eaLnBrk="1" hangingPunct="1">
              <a:spcBef>
                <a:spcPts val="600"/>
              </a:spcBef>
              <a:buFont typeface="+mj-lt"/>
              <a:buAutoNum type="arabicPeriod"/>
              <a:defRPr/>
            </a:pPr>
            <a:r>
              <a:rPr lang="sl-SI" sz="1600" dirty="0">
                <a:latin typeface="Arial" charset="0"/>
                <a:cs typeface="Arial" charset="0"/>
              </a:rPr>
              <a:t>Po 2. koraku koordinatne osi leve in desne slike še niso vzporedne. Oba koordinatna sistema je mogoče izravnati z dodatnim zasukom ene od slik okoli osnovnice.</a:t>
            </a:r>
          </a:p>
          <a:p>
            <a:pPr marL="342900" indent="-342900" eaLnBrk="1" hangingPunct="1">
              <a:spcBef>
                <a:spcPts val="600"/>
              </a:spcBef>
              <a:buFont typeface="+mj-lt"/>
              <a:buAutoNum type="arabicPeriod"/>
              <a:defRPr/>
            </a:pPr>
            <a:r>
              <a:rPr lang="sl-SI" sz="1600" dirty="0">
                <a:latin typeface="Arial" charset="0"/>
                <a:cs typeface="Arial" charset="0"/>
              </a:rPr>
              <a:t>Za dve dokončno izravnani sliki mora imeti temeljna matrika v kalibriranih razmerah naslednjo obliko (samo premik v </a:t>
            </a:r>
            <a:r>
              <a:rPr lang="sl-SI" sz="1600" i="1" dirty="0">
                <a:latin typeface="Arial" charset="0"/>
                <a:cs typeface="Arial" charset="0"/>
              </a:rPr>
              <a:t>x</a:t>
            </a:r>
            <a:r>
              <a:rPr lang="sl-SI" sz="1600" dirty="0">
                <a:latin typeface="Arial" charset="0"/>
                <a:cs typeface="Arial" charset="0"/>
              </a:rPr>
              <a:t>-smeri):</a:t>
            </a:r>
          </a:p>
          <a:p>
            <a:pPr marL="342900" indent="-342900" eaLnBrk="1" hangingPunct="1">
              <a:spcBef>
                <a:spcPts val="600"/>
              </a:spcBef>
              <a:buFont typeface="+mj-lt"/>
              <a:buAutoNum type="arabicPeriod"/>
              <a:defRPr/>
            </a:pPr>
            <a:endParaRPr lang="sl-SI" sz="1600" dirty="0">
              <a:latin typeface="Arial" charset="0"/>
              <a:cs typeface="Arial" charset="0"/>
            </a:endParaRPr>
          </a:p>
          <a:p>
            <a:pPr marL="342900" indent="-342900" eaLnBrk="1" hangingPunct="1">
              <a:spcBef>
                <a:spcPts val="600"/>
              </a:spcBef>
              <a:buFont typeface="+mj-lt"/>
              <a:buAutoNum type="arabicPeriod" startAt="4"/>
              <a:defRPr/>
            </a:pPr>
            <a:endParaRPr lang="sl-SI" sz="1600" dirty="0">
              <a:latin typeface="Arial" charset="0"/>
              <a:cs typeface="Arial" charset="0"/>
            </a:endParaRPr>
          </a:p>
          <a:p>
            <a:pPr marL="342900" indent="-342900" eaLnBrk="1" hangingPunct="1">
              <a:spcBef>
                <a:spcPts val="600"/>
              </a:spcBef>
              <a:buFont typeface="+mj-lt"/>
              <a:buAutoNum type="arabicPeriod" startAt="4"/>
              <a:defRPr/>
            </a:pPr>
            <a:endParaRPr lang="sl-SI" sz="1600" dirty="0">
              <a:latin typeface="Arial" charset="0"/>
              <a:cs typeface="Arial" charset="0"/>
            </a:endParaRPr>
          </a:p>
          <a:p>
            <a:pPr eaLnBrk="1" hangingPunct="1">
              <a:spcBef>
                <a:spcPts val="600"/>
              </a:spcBef>
              <a:defRPr/>
            </a:pPr>
            <a:endParaRPr lang="sl-SI" sz="1600" dirty="0">
              <a:latin typeface="Arial" charset="0"/>
              <a:cs typeface="Arial" charset="0"/>
            </a:endParaRPr>
          </a:p>
          <a:p>
            <a:pPr marL="342900" indent="-342900" eaLnBrk="1" hangingPunct="1">
              <a:spcBef>
                <a:spcPts val="600"/>
              </a:spcBef>
              <a:buFont typeface="+mj-lt"/>
              <a:buAutoNum type="arabicPeriod" startAt="3"/>
              <a:defRPr/>
            </a:pPr>
            <a:r>
              <a:rPr lang="sl-SI" sz="1600" dirty="0">
                <a:latin typeface="Arial" charset="0"/>
                <a:cs typeface="Arial" charset="0"/>
              </a:rPr>
              <a:t>Če upoštevamo, da nas dodatni zasuk </a:t>
            </a:r>
            <a:r>
              <a:rPr lang="sl-SI" sz="1600" b="1" dirty="0">
                <a:latin typeface="Arial" charset="0"/>
                <a:cs typeface="Arial" charset="0"/>
              </a:rPr>
              <a:t>R</a:t>
            </a:r>
            <a:r>
              <a:rPr lang="sl-SI" sz="1600" baseline="-25000" dirty="0">
                <a:latin typeface="Arial" charset="0"/>
                <a:cs typeface="Arial" charset="0"/>
              </a:rPr>
              <a:t>3</a:t>
            </a:r>
            <a:r>
              <a:rPr lang="sl-SI" sz="1600" dirty="0">
                <a:latin typeface="Arial" charset="0"/>
                <a:cs typeface="Arial" charset="0"/>
              </a:rPr>
              <a:t> privede do dokončno izravnanih slik, smemo temeljno matriko v </a:t>
            </a:r>
            <a:r>
              <a:rPr lang="sl-SI" sz="1600" dirty="0" err="1">
                <a:latin typeface="Arial" charset="0"/>
                <a:cs typeface="Arial" charset="0"/>
              </a:rPr>
              <a:t>nekalibriranih</a:t>
            </a:r>
            <a:r>
              <a:rPr lang="sl-SI" sz="1600" dirty="0">
                <a:latin typeface="Arial" charset="0"/>
                <a:cs typeface="Arial" charset="0"/>
              </a:rPr>
              <a:t> razmerah pred 3. korakom zapisati kot: </a:t>
            </a:r>
          </a:p>
          <a:p>
            <a:pPr eaLnBrk="1" hangingPunct="1">
              <a:spcBef>
                <a:spcPts val="600"/>
              </a:spcBef>
              <a:defRPr/>
            </a:pPr>
            <a:r>
              <a:rPr lang="sl-SI" sz="1600" dirty="0">
                <a:latin typeface="Arial" charset="0"/>
                <a:cs typeface="Arial" charset="0"/>
              </a:rPr>
              <a:t>	</a:t>
            </a:r>
            <a:r>
              <a:rPr lang="sl-SI" sz="1600" b="1" dirty="0">
                <a:latin typeface="Arial" charset="0"/>
                <a:cs typeface="Arial" charset="0"/>
              </a:rPr>
              <a:t>F</a:t>
            </a:r>
            <a:r>
              <a:rPr lang="sl-SI" sz="1600" baseline="-25000" dirty="0">
                <a:latin typeface="Arial" charset="0"/>
                <a:cs typeface="Arial" charset="0"/>
              </a:rPr>
              <a:t>3</a:t>
            </a:r>
            <a:r>
              <a:rPr lang="sl-SI" sz="1600" dirty="0">
                <a:latin typeface="Arial" charset="0"/>
                <a:cs typeface="Arial" charset="0"/>
              </a:rPr>
              <a:t> = </a:t>
            </a:r>
            <a:r>
              <a:rPr lang="sl-SI" sz="1600" b="1" dirty="0">
                <a:latin typeface="Arial" charset="0"/>
                <a:cs typeface="Arial" charset="0"/>
              </a:rPr>
              <a:t>K</a:t>
            </a:r>
            <a:r>
              <a:rPr lang="sl-SI" sz="1600" baseline="30000" dirty="0">
                <a:latin typeface="Arial" charset="0"/>
                <a:cs typeface="Arial" charset="0"/>
              </a:rPr>
              <a:t>-</a:t>
            </a:r>
            <a:r>
              <a:rPr lang="sl-SI" sz="1600" i="1" baseline="30000" dirty="0">
                <a:latin typeface="Arial" charset="0"/>
                <a:cs typeface="Arial" charset="0"/>
              </a:rPr>
              <a:t>T</a:t>
            </a:r>
            <a:r>
              <a:rPr lang="sl-SI" sz="1600" dirty="0">
                <a:latin typeface="Arial" charset="0"/>
                <a:cs typeface="Arial" charset="0"/>
              </a:rPr>
              <a:t> [</a:t>
            </a:r>
            <a:r>
              <a:rPr lang="sl-SI" sz="1600" b="1" dirty="0">
                <a:latin typeface="Arial" charset="0"/>
                <a:cs typeface="Arial" charset="0"/>
              </a:rPr>
              <a:t>i</a:t>
            </a:r>
            <a:r>
              <a:rPr lang="sl-SI" sz="1600" dirty="0">
                <a:latin typeface="Arial" charset="0"/>
                <a:cs typeface="Arial" charset="0"/>
              </a:rPr>
              <a:t>]</a:t>
            </a:r>
            <a:r>
              <a:rPr lang="sl-SI" sz="1600" baseline="-25000" dirty="0">
                <a:latin typeface="Arial" charset="0"/>
                <a:cs typeface="Arial" charset="0"/>
                <a:sym typeface="Symbol"/>
              </a:rPr>
              <a:t></a:t>
            </a:r>
            <a:r>
              <a:rPr lang="sl-SI" sz="1600" b="1" dirty="0">
                <a:latin typeface="Arial" charset="0"/>
                <a:cs typeface="Arial" charset="0"/>
                <a:sym typeface="Symbol"/>
              </a:rPr>
              <a:t>R</a:t>
            </a:r>
            <a:r>
              <a:rPr lang="sl-SI" sz="1600" baseline="-25000" dirty="0">
                <a:latin typeface="Arial" charset="0"/>
                <a:cs typeface="Arial" charset="0"/>
                <a:sym typeface="Symbol"/>
              </a:rPr>
              <a:t>3</a:t>
            </a:r>
            <a:r>
              <a:rPr lang="sl-SI" sz="1600" b="1" dirty="0">
                <a:latin typeface="Arial" charset="0"/>
                <a:cs typeface="Arial" charset="0"/>
                <a:sym typeface="Symbol"/>
              </a:rPr>
              <a:t>K</a:t>
            </a:r>
            <a:r>
              <a:rPr lang="sl-SI" sz="1600" baseline="30000" dirty="0">
                <a:latin typeface="Arial" charset="0"/>
                <a:cs typeface="Arial" charset="0"/>
                <a:sym typeface="Symbol"/>
              </a:rPr>
              <a:t>-1</a:t>
            </a:r>
            <a:endParaRPr lang="sl-SI" sz="1600" baseline="30000" dirty="0">
              <a:latin typeface="Arial" charset="0"/>
              <a:cs typeface="Arial" charset="0"/>
            </a:endParaRPr>
          </a:p>
        </p:txBody>
      </p:sp>
      <p:pic>
        <p:nvPicPr>
          <p:cNvPr id="205832" name="Slika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4059238"/>
            <a:ext cx="165735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0787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EDCEDEB-E396-48B5-8A25-FCE9743607A2}" type="slidenum">
              <a:rPr lang="en-GB" altLang="en-US" sz="1400" smtClean="0"/>
              <a:pPr>
                <a:spcBef>
                  <a:spcPct val="0"/>
                </a:spcBef>
                <a:buFontTx/>
                <a:buNone/>
              </a:pPr>
              <a:t>104</a:t>
            </a:fld>
            <a:endParaRPr lang="en-GB" altLang="en-US" sz="1400"/>
          </a:p>
        </p:txBody>
      </p:sp>
      <p:sp>
        <p:nvSpPr>
          <p:cNvPr id="207876" name="Rectangle 2"/>
          <p:cNvSpPr>
            <a:spLocks noGrp="1" noChangeArrowheads="1"/>
          </p:cNvSpPr>
          <p:nvPr>
            <p:ph type="ctrTitle"/>
          </p:nvPr>
        </p:nvSpPr>
        <p:spPr>
          <a:xfrm>
            <a:off x="0" y="44450"/>
            <a:ext cx="9144000" cy="720725"/>
          </a:xfrm>
        </p:spPr>
        <p:txBody>
          <a:bodyPr/>
          <a:lstStyle/>
          <a:p>
            <a:pPr defTabSz="912813" eaLnBrk="1" hangingPunct="1"/>
            <a:r>
              <a:rPr lang="sl-SI" altLang="en-US" sz="2800" b="1"/>
              <a:t>DOLOČANJE GLOBINSKE SLIKE – IZRAVNAVA (6)</a:t>
            </a:r>
            <a:endParaRPr lang="en-GB" altLang="en-US" sz="2000"/>
          </a:p>
        </p:txBody>
      </p:sp>
      <p:sp>
        <p:nvSpPr>
          <p:cNvPr id="20787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0787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 name="PoljeZBesedilom 1"/>
          <p:cNvSpPr txBox="1"/>
          <p:nvPr/>
        </p:nvSpPr>
        <p:spPr>
          <a:xfrm>
            <a:off x="611188" y="692150"/>
            <a:ext cx="7921625" cy="5448300"/>
          </a:xfrm>
          <a:prstGeom prst="rect">
            <a:avLst/>
          </a:prstGeom>
          <a:noFill/>
        </p:spPr>
        <p:txBody>
          <a:bodyPr>
            <a:spAutoFit/>
          </a:bodyPr>
          <a:lstStyle/>
          <a:p>
            <a:pPr eaLnBrk="1" hangingPunct="1">
              <a:spcBef>
                <a:spcPts val="600"/>
              </a:spcBef>
              <a:defRPr/>
            </a:pPr>
            <a:r>
              <a:rPr lang="sl-SI" sz="1600" dirty="0">
                <a:latin typeface="Arial" charset="0"/>
                <a:cs typeface="Arial" charset="0"/>
              </a:rPr>
              <a:t>	</a:t>
            </a:r>
            <a:r>
              <a:rPr lang="sl-SI" sz="1600" u="sng" dirty="0">
                <a:solidFill>
                  <a:srgbClr val="00B0F0"/>
                </a:solidFill>
                <a:latin typeface="Arial" charset="0"/>
                <a:cs typeface="Arial" charset="0"/>
              </a:rPr>
              <a:t>Korak 3</a:t>
            </a:r>
          </a:p>
          <a:p>
            <a:pPr marL="342900" indent="-342900" eaLnBrk="1" hangingPunct="1">
              <a:spcBef>
                <a:spcPts val="600"/>
              </a:spcBef>
              <a:buFont typeface="+mj-lt"/>
              <a:buAutoNum type="arabicPeriod" startAt="4"/>
              <a:defRPr/>
            </a:pPr>
            <a:r>
              <a:rPr lang="sl-SI" sz="1600" dirty="0">
                <a:latin typeface="Arial" charset="0"/>
                <a:cs typeface="Arial" charset="0"/>
              </a:rPr>
              <a:t>Iz zapisa za temeljno matriko </a:t>
            </a:r>
            <a:r>
              <a:rPr lang="sl-SI" sz="1600" b="1" dirty="0">
                <a:latin typeface="Arial" charset="0"/>
                <a:cs typeface="Arial" charset="0"/>
              </a:rPr>
              <a:t>F</a:t>
            </a:r>
            <a:r>
              <a:rPr lang="sl-SI" sz="1600" baseline="-25000" dirty="0">
                <a:latin typeface="Arial" charset="0"/>
                <a:cs typeface="Arial" charset="0"/>
              </a:rPr>
              <a:t>3</a:t>
            </a:r>
            <a:r>
              <a:rPr lang="sl-SI" sz="1600" dirty="0">
                <a:latin typeface="Arial" charset="0"/>
                <a:cs typeface="Arial" charset="0"/>
              </a:rPr>
              <a:t> sledi, da je v tem primeru osnovna matrika </a:t>
            </a:r>
            <a:r>
              <a:rPr lang="sl-SI" sz="1600" b="1" dirty="0">
                <a:latin typeface="Arial" charset="0"/>
                <a:cs typeface="Arial" charset="0"/>
              </a:rPr>
              <a:t>E</a:t>
            </a:r>
            <a:r>
              <a:rPr lang="sl-SI" sz="1600" baseline="-25000" dirty="0">
                <a:latin typeface="Arial" charset="0"/>
                <a:cs typeface="Arial" charset="0"/>
              </a:rPr>
              <a:t>3</a:t>
            </a:r>
            <a:r>
              <a:rPr lang="sl-SI" sz="1600" dirty="0">
                <a:latin typeface="Arial" charset="0"/>
                <a:cs typeface="Arial" charset="0"/>
              </a:rPr>
              <a:t> = [</a:t>
            </a:r>
            <a:r>
              <a:rPr lang="sl-SI" sz="1600" b="1" dirty="0">
                <a:latin typeface="Arial" charset="0"/>
                <a:cs typeface="Arial" charset="0"/>
              </a:rPr>
              <a:t>i</a:t>
            </a:r>
            <a:r>
              <a:rPr lang="sl-SI" sz="1600" dirty="0">
                <a:latin typeface="Arial" charset="0"/>
                <a:cs typeface="Arial" charset="0"/>
              </a:rPr>
              <a:t>]</a:t>
            </a:r>
            <a:r>
              <a:rPr lang="sl-SI" sz="1600" baseline="-25000" dirty="0">
                <a:latin typeface="Arial" charset="0"/>
                <a:cs typeface="Arial" charset="0"/>
                <a:sym typeface="Symbol"/>
              </a:rPr>
              <a:t></a:t>
            </a:r>
            <a:r>
              <a:rPr lang="sl-SI" sz="1600" b="1" dirty="0">
                <a:latin typeface="Arial" charset="0"/>
                <a:cs typeface="Arial" charset="0"/>
                <a:sym typeface="Symbol"/>
              </a:rPr>
              <a:t>R</a:t>
            </a:r>
            <a:r>
              <a:rPr lang="sl-SI" sz="1600" baseline="-25000" dirty="0">
                <a:latin typeface="Arial" charset="0"/>
                <a:cs typeface="Arial" charset="0"/>
                <a:sym typeface="Symbol"/>
              </a:rPr>
              <a:t>3</a:t>
            </a:r>
            <a:r>
              <a:rPr lang="sl-SI" sz="1600" dirty="0">
                <a:latin typeface="Arial" charset="0"/>
                <a:cs typeface="Arial" charset="0"/>
              </a:rPr>
              <a:t>.</a:t>
            </a:r>
          </a:p>
          <a:p>
            <a:pPr marL="342900" indent="-342900" eaLnBrk="1" hangingPunct="1">
              <a:spcBef>
                <a:spcPts val="600"/>
              </a:spcBef>
              <a:buFontTx/>
              <a:buAutoNum type="arabicPeriod" startAt="4"/>
              <a:defRPr/>
            </a:pPr>
            <a:r>
              <a:rPr lang="sl-SI" sz="1600" dirty="0">
                <a:latin typeface="Arial" charset="0"/>
                <a:cs typeface="Arial" charset="0"/>
              </a:rPr>
              <a:t>Dodaten zasuk v 3. koraku lahko torej dobimo, če poznamo osnovno matriko </a:t>
            </a:r>
            <a:r>
              <a:rPr lang="sl-SI" sz="1600" b="1" dirty="0">
                <a:latin typeface="Arial" charset="0"/>
                <a:cs typeface="Arial" charset="0"/>
              </a:rPr>
              <a:t>E</a:t>
            </a:r>
            <a:r>
              <a:rPr lang="sl-SI" sz="1600" baseline="-25000" dirty="0">
                <a:latin typeface="Arial" charset="0"/>
                <a:cs typeface="Arial" charset="0"/>
              </a:rPr>
              <a:t>3</a:t>
            </a:r>
            <a:r>
              <a:rPr lang="sl-SI" sz="1600" dirty="0">
                <a:latin typeface="Arial" charset="0"/>
                <a:cs typeface="Arial" charset="0"/>
              </a:rPr>
              <a:t>.</a:t>
            </a:r>
          </a:p>
          <a:p>
            <a:pPr marL="342900" indent="-342900" eaLnBrk="1" hangingPunct="1">
              <a:spcBef>
                <a:spcPts val="600"/>
              </a:spcBef>
              <a:buFontTx/>
              <a:buAutoNum type="arabicPeriod" startAt="4"/>
              <a:defRPr/>
            </a:pPr>
            <a:r>
              <a:rPr lang="sl-SI" sz="1600" dirty="0">
                <a:latin typeface="Arial" charset="0"/>
                <a:cs typeface="Arial" charset="0"/>
              </a:rPr>
              <a:t>Prej pa moramo prav določiti kalibracijsko matriko </a:t>
            </a:r>
            <a:r>
              <a:rPr lang="sl-SI" sz="1600" b="1" dirty="0">
                <a:latin typeface="Arial" charset="0"/>
                <a:cs typeface="Arial" charset="0"/>
              </a:rPr>
              <a:t>K</a:t>
            </a:r>
            <a:r>
              <a:rPr lang="sl-SI" sz="1600" dirty="0">
                <a:latin typeface="Arial" charset="0"/>
                <a:cs typeface="Arial" charset="0"/>
              </a:rPr>
              <a:t>, ki je v dosedanji razlagi še vedno odvisna od neznane goriščne razdalje </a:t>
            </a:r>
            <a:r>
              <a:rPr lang="sl-SI" sz="1600" i="1" dirty="0">
                <a:latin typeface="Arial" charset="0"/>
                <a:cs typeface="Arial" charset="0"/>
              </a:rPr>
              <a:t>f</a:t>
            </a:r>
            <a:r>
              <a:rPr lang="sl-SI" sz="1600" dirty="0">
                <a:latin typeface="Arial" charset="0"/>
                <a:cs typeface="Arial" charset="0"/>
              </a:rPr>
              <a:t>.</a:t>
            </a:r>
          </a:p>
          <a:p>
            <a:pPr marL="342900" indent="-342900" eaLnBrk="1" hangingPunct="1">
              <a:spcBef>
                <a:spcPts val="600"/>
              </a:spcBef>
              <a:buFontTx/>
              <a:buAutoNum type="arabicPeriod" startAt="4"/>
              <a:defRPr/>
            </a:pPr>
            <a:r>
              <a:rPr lang="sl-SI" sz="1600" dirty="0">
                <a:latin typeface="Arial" charset="0"/>
                <a:cs typeface="Arial" charset="0"/>
              </a:rPr>
              <a:t>Za izbrani nabor korespondenčnih točk </a:t>
            </a:r>
            <a:r>
              <a:rPr lang="sl-SI" sz="1600" b="1" dirty="0" err="1">
                <a:latin typeface="Arial" charset="0"/>
                <a:cs typeface="Arial" charset="0"/>
              </a:rPr>
              <a:t>p</a:t>
            </a:r>
            <a:r>
              <a:rPr lang="sl-SI" sz="1600" i="1" baseline="-25000" dirty="0" err="1">
                <a:latin typeface="Arial" charset="0"/>
                <a:cs typeface="Arial" charset="0"/>
              </a:rPr>
              <a:t>n</a:t>
            </a:r>
            <a:r>
              <a:rPr lang="sl-SI" sz="1600" i="1" baseline="-25000" dirty="0">
                <a:latin typeface="Arial" charset="0"/>
                <a:cs typeface="Arial" charset="0"/>
              </a:rPr>
              <a:t>,l</a:t>
            </a:r>
            <a:r>
              <a:rPr lang="sl-SI" sz="1600" dirty="0">
                <a:latin typeface="Arial" charset="0"/>
                <a:cs typeface="Arial" charset="0"/>
              </a:rPr>
              <a:t> na levi in </a:t>
            </a:r>
            <a:r>
              <a:rPr lang="sl-SI" sz="1600" b="1" dirty="0" err="1">
                <a:latin typeface="Arial" charset="0"/>
                <a:cs typeface="Arial" charset="0"/>
              </a:rPr>
              <a:t>p</a:t>
            </a:r>
            <a:r>
              <a:rPr lang="sl-SI" sz="1600" i="1" baseline="-25000" dirty="0" err="1">
                <a:latin typeface="Arial" charset="0"/>
                <a:cs typeface="Arial" charset="0"/>
              </a:rPr>
              <a:t>n</a:t>
            </a:r>
            <a:r>
              <a:rPr lang="sl-SI" sz="1600" i="1" baseline="-25000" dirty="0">
                <a:latin typeface="Arial" charset="0"/>
                <a:cs typeface="Arial" charset="0"/>
              </a:rPr>
              <a:t>,d</a:t>
            </a:r>
            <a:r>
              <a:rPr lang="sl-SI" sz="1600" dirty="0">
                <a:latin typeface="Arial" charset="0"/>
                <a:cs typeface="Arial" charset="0"/>
              </a:rPr>
              <a:t> desni sliki izračunamo vsoto razdalj točk od </a:t>
            </a:r>
            <a:r>
              <a:rPr lang="sl-SI" sz="1600" dirty="0" err="1">
                <a:latin typeface="Arial" charset="0"/>
                <a:cs typeface="Arial" charset="0"/>
              </a:rPr>
              <a:t>epipolarnih</a:t>
            </a:r>
            <a:r>
              <a:rPr lang="sl-SI" sz="1600" dirty="0">
                <a:latin typeface="Arial" charset="0"/>
                <a:cs typeface="Arial" charset="0"/>
              </a:rPr>
              <a:t> premic:</a:t>
            </a:r>
          </a:p>
          <a:p>
            <a:pPr eaLnBrk="1" hangingPunct="1">
              <a:spcBef>
                <a:spcPts val="600"/>
              </a:spcBef>
              <a:defRPr/>
            </a:pPr>
            <a:endParaRPr lang="sl-SI" sz="1600" dirty="0">
              <a:latin typeface="Arial" charset="0"/>
              <a:cs typeface="Arial" charset="0"/>
            </a:endParaRPr>
          </a:p>
          <a:p>
            <a:pPr marL="342900" indent="-342900" eaLnBrk="1" hangingPunct="1">
              <a:spcBef>
                <a:spcPts val="1800"/>
              </a:spcBef>
              <a:buFont typeface="+mj-lt"/>
              <a:buAutoNum type="arabicPeriod" startAt="8"/>
              <a:defRPr/>
            </a:pPr>
            <a:r>
              <a:rPr lang="sl-SI" sz="1600" dirty="0">
                <a:latin typeface="Arial" charset="0"/>
                <a:cs typeface="Arial" charset="0"/>
              </a:rPr>
              <a:t>Optimalni </a:t>
            </a:r>
            <a:r>
              <a:rPr lang="sl-SI" sz="1600" i="1" dirty="0">
                <a:latin typeface="Arial" charset="0"/>
                <a:cs typeface="Arial" charset="0"/>
              </a:rPr>
              <a:t>f</a:t>
            </a:r>
            <a:r>
              <a:rPr lang="sl-SI" sz="1600" dirty="0">
                <a:latin typeface="Arial" charset="0"/>
                <a:cs typeface="Arial" charset="0"/>
              </a:rPr>
              <a:t> in </a:t>
            </a:r>
            <a:r>
              <a:rPr lang="sl-SI" sz="1600" b="1" dirty="0">
                <a:latin typeface="Arial" charset="0"/>
                <a:cs typeface="Arial" charset="0"/>
              </a:rPr>
              <a:t>K</a:t>
            </a:r>
            <a:r>
              <a:rPr lang="sl-SI" sz="1600" dirty="0">
                <a:latin typeface="Arial" charset="0"/>
                <a:cs typeface="Arial" charset="0"/>
              </a:rPr>
              <a:t> dobimo, če vsoto </a:t>
            </a:r>
            <a:r>
              <a:rPr lang="sl-SI" sz="1600" i="1" dirty="0">
                <a:latin typeface="Arial" charset="0"/>
                <a:cs typeface="Arial" charset="0"/>
              </a:rPr>
              <a:t>S</a:t>
            </a:r>
            <a:r>
              <a:rPr lang="sl-SI" sz="1600" dirty="0">
                <a:latin typeface="Arial" charset="0"/>
                <a:cs typeface="Arial" charset="0"/>
              </a:rPr>
              <a:t>(</a:t>
            </a:r>
            <a:r>
              <a:rPr lang="sl-SI" sz="1600" i="1" dirty="0">
                <a:latin typeface="Arial" charset="0"/>
                <a:cs typeface="Arial" charset="0"/>
              </a:rPr>
              <a:t>f</a:t>
            </a:r>
            <a:r>
              <a:rPr lang="sl-SI" sz="1600" dirty="0">
                <a:latin typeface="Arial" charset="0"/>
                <a:cs typeface="Arial" charset="0"/>
              </a:rPr>
              <a:t>) minimiziramo v odvisnosti od </a:t>
            </a:r>
            <a:r>
              <a:rPr lang="sl-SI" sz="1600" i="1" dirty="0">
                <a:latin typeface="Arial" charset="0"/>
                <a:cs typeface="Arial" charset="0"/>
              </a:rPr>
              <a:t>f</a:t>
            </a:r>
            <a:r>
              <a:rPr lang="sl-SI" sz="1600" dirty="0">
                <a:latin typeface="Arial" charset="0"/>
                <a:cs typeface="Arial" charset="0"/>
              </a:rPr>
              <a:t> s pomočjo nelinearnega </a:t>
            </a:r>
            <a:r>
              <a:rPr lang="sl-SI" sz="1600" dirty="0" err="1">
                <a:latin typeface="Arial" charset="0"/>
                <a:cs typeface="Arial" charset="0"/>
              </a:rPr>
              <a:t>Levenberg</a:t>
            </a:r>
            <a:r>
              <a:rPr lang="sl-SI" sz="1600" dirty="0">
                <a:latin typeface="Arial" charset="0"/>
                <a:cs typeface="Arial" charset="0"/>
              </a:rPr>
              <a:t>-</a:t>
            </a:r>
            <a:r>
              <a:rPr lang="sl-SI" sz="1600" dirty="0" err="1">
                <a:latin typeface="Arial" charset="0"/>
                <a:cs typeface="Arial" charset="0"/>
              </a:rPr>
              <a:t>Marquardtovega</a:t>
            </a:r>
            <a:r>
              <a:rPr lang="sl-SI" sz="1600" dirty="0">
                <a:latin typeface="Arial" charset="0"/>
                <a:cs typeface="Arial" charset="0"/>
              </a:rPr>
              <a:t> </a:t>
            </a:r>
            <a:r>
              <a:rPr lang="sl-SI" sz="1600" dirty="0" err="1">
                <a:latin typeface="Arial" charset="0"/>
                <a:cs typeface="Arial" charset="0"/>
              </a:rPr>
              <a:t>minimizacijskega</a:t>
            </a:r>
            <a:r>
              <a:rPr lang="sl-SI" sz="1600" dirty="0">
                <a:latin typeface="Arial" charset="0"/>
                <a:cs typeface="Arial" charset="0"/>
              </a:rPr>
              <a:t> algoritma.</a:t>
            </a:r>
          </a:p>
          <a:p>
            <a:pPr marL="342900" indent="-342900" eaLnBrk="1" hangingPunct="1">
              <a:spcBef>
                <a:spcPts val="600"/>
              </a:spcBef>
              <a:buFont typeface="+mj-lt"/>
              <a:buAutoNum type="arabicPeriod" startAt="8"/>
              <a:defRPr/>
            </a:pPr>
            <a:r>
              <a:rPr lang="sl-SI" sz="1600" dirty="0">
                <a:latin typeface="Arial" charset="0"/>
                <a:cs typeface="Arial" charset="0"/>
              </a:rPr>
              <a:t>Iz optimizirane temeljne matrike </a:t>
            </a:r>
            <a:r>
              <a:rPr lang="sl-SI" sz="1600" b="1" dirty="0">
                <a:latin typeface="Arial" charset="0"/>
                <a:cs typeface="Arial" charset="0"/>
              </a:rPr>
              <a:t>F</a:t>
            </a:r>
            <a:r>
              <a:rPr lang="sl-SI" sz="1600" baseline="-25000" dirty="0">
                <a:latin typeface="Arial" charset="0"/>
                <a:cs typeface="Arial" charset="0"/>
              </a:rPr>
              <a:t>3</a:t>
            </a:r>
            <a:r>
              <a:rPr lang="sl-SI" sz="1600" dirty="0">
                <a:latin typeface="Arial" charset="0"/>
                <a:cs typeface="Arial" charset="0"/>
              </a:rPr>
              <a:t> izluščimo osnovno matriko </a:t>
            </a:r>
            <a:r>
              <a:rPr lang="sl-SI" sz="1600" b="1" dirty="0">
                <a:latin typeface="Arial" charset="0"/>
                <a:cs typeface="Arial" charset="0"/>
              </a:rPr>
              <a:t>E</a:t>
            </a:r>
            <a:r>
              <a:rPr lang="sl-SI" sz="1600" baseline="-25000" dirty="0">
                <a:latin typeface="Arial" charset="0"/>
                <a:cs typeface="Arial" charset="0"/>
              </a:rPr>
              <a:t>3</a:t>
            </a:r>
            <a:r>
              <a:rPr lang="sl-SI" sz="1600" dirty="0">
                <a:latin typeface="Arial" charset="0"/>
                <a:cs typeface="Arial" charset="0"/>
              </a:rPr>
              <a:t>, ki pa mora imeti pravilno strukturo, tj. dve singularni vrednosti enaki, tretjo pa 0.</a:t>
            </a:r>
          </a:p>
          <a:p>
            <a:pPr marL="342900" indent="-342900" eaLnBrk="1" hangingPunct="1">
              <a:spcBef>
                <a:spcPts val="600"/>
              </a:spcBef>
              <a:buFont typeface="+mj-lt"/>
              <a:buAutoNum type="arabicPeriod" startAt="8"/>
              <a:defRPr/>
            </a:pPr>
            <a:r>
              <a:rPr lang="sl-SI" sz="1600" dirty="0">
                <a:latin typeface="Arial" charset="0"/>
                <a:cs typeface="Arial" charset="0"/>
              </a:rPr>
              <a:t>Do takšne oblike pridemo tako, da prvo oceno za </a:t>
            </a:r>
            <a:r>
              <a:rPr lang="sl-SI" sz="1600" b="1" dirty="0">
                <a:latin typeface="Arial" charset="0"/>
                <a:cs typeface="Arial" charset="0"/>
              </a:rPr>
              <a:t>E</a:t>
            </a:r>
            <a:r>
              <a:rPr lang="sl-SI" sz="1600" baseline="-25000" dirty="0">
                <a:latin typeface="Arial" charset="0"/>
                <a:cs typeface="Arial" charset="0"/>
              </a:rPr>
              <a:t>3</a:t>
            </a:r>
            <a:r>
              <a:rPr lang="sl-SI" sz="1600" dirty="0">
                <a:latin typeface="Arial" charset="0"/>
                <a:cs typeface="Arial" charset="0"/>
              </a:rPr>
              <a:t> razcepimo na singularne vrednosti: </a:t>
            </a:r>
            <a:r>
              <a:rPr lang="sl-SI" sz="1600" b="1" dirty="0">
                <a:latin typeface="Arial" charset="0"/>
                <a:cs typeface="Arial" charset="0"/>
              </a:rPr>
              <a:t>E</a:t>
            </a:r>
            <a:r>
              <a:rPr lang="sl-SI" sz="1600" baseline="-25000" dirty="0">
                <a:latin typeface="Arial" charset="0"/>
                <a:cs typeface="Arial" charset="0"/>
              </a:rPr>
              <a:t>3</a:t>
            </a:r>
            <a:r>
              <a:rPr lang="sl-SI" sz="1600" dirty="0">
                <a:latin typeface="Arial" charset="0"/>
                <a:cs typeface="Arial" charset="0"/>
              </a:rPr>
              <a:t> = </a:t>
            </a:r>
            <a:r>
              <a:rPr lang="sl-SI" sz="1600" b="1" dirty="0">
                <a:latin typeface="Arial" charset="0"/>
                <a:cs typeface="Arial" charset="0"/>
              </a:rPr>
              <a:t>UDV</a:t>
            </a:r>
            <a:r>
              <a:rPr lang="sl-SI" sz="1600" i="1" baseline="30000" dirty="0">
                <a:latin typeface="Arial" charset="0"/>
                <a:cs typeface="Arial" charset="0"/>
              </a:rPr>
              <a:t>T</a:t>
            </a:r>
            <a:r>
              <a:rPr lang="sl-SI" sz="1600" dirty="0">
                <a:latin typeface="Arial" charset="0"/>
                <a:cs typeface="Arial" charset="0"/>
              </a:rPr>
              <a:t>. Nato dobljeno diagonalno matriko </a:t>
            </a:r>
            <a:r>
              <a:rPr lang="sl-SI" sz="1600" b="1" dirty="0">
                <a:latin typeface="Arial" charset="0"/>
                <a:cs typeface="Arial" charset="0"/>
              </a:rPr>
              <a:t>D</a:t>
            </a:r>
            <a:r>
              <a:rPr lang="sl-SI" sz="1600" dirty="0">
                <a:latin typeface="Arial" charset="0"/>
                <a:cs typeface="Arial" charset="0"/>
              </a:rPr>
              <a:t> preuredimo v </a:t>
            </a:r>
            <a:r>
              <a:rPr lang="sl-SI" sz="1600" b="1" dirty="0">
                <a:latin typeface="Arial" charset="0"/>
                <a:cs typeface="Arial" charset="0"/>
              </a:rPr>
              <a:t>D</a:t>
            </a:r>
            <a:r>
              <a:rPr lang="sl-SI" sz="1600" baseline="-25000" dirty="0">
                <a:latin typeface="Arial" charset="0"/>
                <a:cs typeface="Arial" charset="0"/>
              </a:rPr>
              <a:t>3</a:t>
            </a:r>
            <a:r>
              <a:rPr lang="sl-SI" sz="1600" dirty="0">
                <a:latin typeface="Arial" charset="0"/>
                <a:cs typeface="Arial" charset="0"/>
              </a:rPr>
              <a:t> tako, da ima diagonalo (1, 1, 0) in z njo pridemo do prave ocene za </a:t>
            </a:r>
            <a:r>
              <a:rPr lang="sl-SI" sz="1600" b="1" dirty="0">
                <a:latin typeface="Arial" charset="0"/>
                <a:cs typeface="Arial" charset="0"/>
              </a:rPr>
              <a:t>E</a:t>
            </a:r>
            <a:r>
              <a:rPr lang="sl-SI" sz="1600" baseline="-25000" dirty="0">
                <a:latin typeface="Arial" charset="0"/>
                <a:cs typeface="Arial" charset="0"/>
              </a:rPr>
              <a:t>3</a:t>
            </a:r>
            <a:r>
              <a:rPr lang="sl-SI" sz="1600" dirty="0">
                <a:latin typeface="Arial" charset="0"/>
                <a:cs typeface="Arial" charset="0"/>
              </a:rPr>
              <a:t>:</a:t>
            </a:r>
          </a:p>
          <a:p>
            <a:pPr eaLnBrk="1" hangingPunct="1">
              <a:spcBef>
                <a:spcPts val="600"/>
              </a:spcBef>
              <a:defRPr/>
            </a:pPr>
            <a:r>
              <a:rPr lang="sl-SI" sz="1600" dirty="0">
                <a:latin typeface="Arial" charset="0"/>
                <a:cs typeface="Arial" charset="0"/>
              </a:rPr>
              <a:t>	</a:t>
            </a:r>
            <a:r>
              <a:rPr lang="sl-SI" sz="1600" b="1" dirty="0">
                <a:latin typeface="Arial" charset="0"/>
                <a:cs typeface="Arial" charset="0"/>
              </a:rPr>
              <a:t> E</a:t>
            </a:r>
            <a:r>
              <a:rPr lang="sl-SI" sz="1600" b="1" dirty="0">
                <a:latin typeface="Arial" charset="0"/>
                <a:cs typeface="Arial" charset="0"/>
                <a:sym typeface="Symbol"/>
              </a:rPr>
              <a:t></a:t>
            </a:r>
            <a:r>
              <a:rPr lang="sl-SI" sz="1600" baseline="-25000" dirty="0">
                <a:latin typeface="Arial" charset="0"/>
                <a:cs typeface="Arial" charset="0"/>
              </a:rPr>
              <a:t>3</a:t>
            </a:r>
            <a:r>
              <a:rPr lang="sl-SI" sz="1600" dirty="0">
                <a:latin typeface="Arial" charset="0"/>
                <a:cs typeface="Arial" charset="0"/>
              </a:rPr>
              <a:t> = </a:t>
            </a:r>
            <a:r>
              <a:rPr lang="sl-SI" sz="1600" b="1" dirty="0">
                <a:latin typeface="Arial" charset="0"/>
                <a:cs typeface="Arial" charset="0"/>
              </a:rPr>
              <a:t>UD</a:t>
            </a:r>
            <a:r>
              <a:rPr lang="sl-SI" sz="1600" baseline="-25000" dirty="0">
                <a:latin typeface="Arial" charset="0"/>
                <a:cs typeface="Arial" charset="0"/>
              </a:rPr>
              <a:t>3</a:t>
            </a:r>
            <a:r>
              <a:rPr lang="sl-SI" sz="1600" b="1" dirty="0">
                <a:latin typeface="Arial" charset="0"/>
                <a:cs typeface="Arial" charset="0"/>
              </a:rPr>
              <a:t>V</a:t>
            </a:r>
            <a:r>
              <a:rPr lang="sl-SI" sz="1600" i="1" baseline="30000" dirty="0">
                <a:latin typeface="Arial" charset="0"/>
                <a:cs typeface="Arial" charset="0"/>
              </a:rPr>
              <a:t>T</a:t>
            </a:r>
            <a:endParaRPr lang="sl-SI" sz="1600" dirty="0">
              <a:latin typeface="Arial" charset="0"/>
              <a:cs typeface="Arial" charset="0"/>
            </a:endParaRPr>
          </a:p>
          <a:p>
            <a:pPr marL="342900" indent="-342900" eaLnBrk="1" hangingPunct="1">
              <a:spcBef>
                <a:spcPts val="600"/>
              </a:spcBef>
              <a:buFont typeface="+mj-lt"/>
              <a:buAutoNum type="arabicPeriod" startAt="11"/>
              <a:defRPr/>
            </a:pPr>
            <a:r>
              <a:rPr lang="sl-SI" sz="1600" dirty="0">
                <a:latin typeface="Arial" charset="0"/>
                <a:cs typeface="Arial" charset="0"/>
              </a:rPr>
              <a:t>Iz </a:t>
            </a:r>
            <a:r>
              <a:rPr lang="sl-SI" sz="1600" b="1" dirty="0">
                <a:latin typeface="Arial" charset="0"/>
                <a:cs typeface="Arial" charset="0"/>
              </a:rPr>
              <a:t>E</a:t>
            </a:r>
            <a:r>
              <a:rPr lang="sl-SI" sz="1600" b="1" dirty="0">
                <a:latin typeface="Arial" charset="0"/>
                <a:cs typeface="Arial" charset="0"/>
                <a:sym typeface="Symbol"/>
              </a:rPr>
              <a:t></a:t>
            </a:r>
            <a:r>
              <a:rPr lang="sl-SI" sz="1600" baseline="-25000" dirty="0">
                <a:latin typeface="Arial" charset="0"/>
                <a:cs typeface="Arial" charset="0"/>
              </a:rPr>
              <a:t>3</a:t>
            </a:r>
            <a:r>
              <a:rPr lang="sl-SI" sz="1600" dirty="0">
                <a:latin typeface="Arial" charset="0"/>
                <a:cs typeface="Arial" charset="0"/>
              </a:rPr>
              <a:t> izluščimo dodaten zasuk </a:t>
            </a:r>
            <a:r>
              <a:rPr lang="sl-SI" sz="1600" b="1" dirty="0">
                <a:latin typeface="Arial" charset="0"/>
                <a:cs typeface="Arial" charset="0"/>
              </a:rPr>
              <a:t>R</a:t>
            </a:r>
            <a:r>
              <a:rPr lang="sl-SI" sz="1600" baseline="-25000" dirty="0">
                <a:latin typeface="Arial" charset="0"/>
                <a:cs typeface="Arial" charset="0"/>
              </a:rPr>
              <a:t>3</a:t>
            </a:r>
            <a:r>
              <a:rPr lang="sl-SI" sz="1600" dirty="0">
                <a:latin typeface="Arial" charset="0"/>
                <a:cs typeface="Arial" charset="0"/>
              </a:rPr>
              <a:t>.</a:t>
            </a:r>
            <a:endParaRPr lang="sl-SI" sz="1600" baseline="-25000" dirty="0">
              <a:latin typeface="Arial" charset="0"/>
              <a:cs typeface="Arial" charset="0"/>
            </a:endParaRPr>
          </a:p>
        </p:txBody>
      </p:sp>
      <p:pic>
        <p:nvPicPr>
          <p:cNvPr id="207880" name="Slika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3050" y="2905125"/>
            <a:ext cx="3965575"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0992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65A9815-B270-4CF6-85F1-B0E29EBA674F}" type="slidenum">
              <a:rPr lang="en-GB" altLang="en-US" sz="1400" smtClean="0"/>
              <a:pPr>
                <a:spcBef>
                  <a:spcPct val="0"/>
                </a:spcBef>
                <a:buFontTx/>
                <a:buNone/>
              </a:pPr>
              <a:t>105</a:t>
            </a:fld>
            <a:endParaRPr lang="en-GB" altLang="en-US" sz="1400"/>
          </a:p>
        </p:txBody>
      </p:sp>
      <p:sp>
        <p:nvSpPr>
          <p:cNvPr id="209924" name="Rectangle 2"/>
          <p:cNvSpPr>
            <a:spLocks noGrp="1" noChangeArrowheads="1"/>
          </p:cNvSpPr>
          <p:nvPr>
            <p:ph type="ctrTitle"/>
          </p:nvPr>
        </p:nvSpPr>
        <p:spPr>
          <a:xfrm>
            <a:off x="0" y="44450"/>
            <a:ext cx="9144000" cy="720725"/>
          </a:xfrm>
        </p:spPr>
        <p:txBody>
          <a:bodyPr/>
          <a:lstStyle/>
          <a:p>
            <a:pPr defTabSz="912813" eaLnBrk="1" hangingPunct="1"/>
            <a:r>
              <a:rPr lang="sl-SI" altLang="en-US" sz="2800" b="1"/>
              <a:t>Primer za izravnavo stereo slik</a:t>
            </a:r>
            <a:endParaRPr lang="en-GB" altLang="en-US" sz="2000"/>
          </a:p>
        </p:txBody>
      </p:sp>
      <p:sp>
        <p:nvSpPr>
          <p:cNvPr id="20992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0992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09927" name="PoljeZBesedilom 1"/>
          <p:cNvSpPr txBox="1">
            <a:spLocks noChangeArrowheads="1"/>
          </p:cNvSpPr>
          <p:nvPr/>
        </p:nvSpPr>
        <p:spPr bwMode="auto">
          <a:xfrm>
            <a:off x="611188" y="692150"/>
            <a:ext cx="79216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None/>
            </a:pPr>
            <a:r>
              <a:rPr lang="sl-SI" altLang="en-US" sz="1600"/>
              <a:t>	</a:t>
            </a:r>
            <a:endParaRPr lang="sl-SI" altLang="en-US" sz="1600" baseline="-25000"/>
          </a:p>
        </p:txBody>
      </p:sp>
      <p:pic>
        <p:nvPicPr>
          <p:cNvPr id="20992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13" y="836613"/>
            <a:ext cx="8334375"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9929" name="PoljeZBesedilom 3"/>
          <p:cNvSpPr txBox="1">
            <a:spLocks noChangeArrowheads="1"/>
          </p:cNvSpPr>
          <p:nvPr/>
        </p:nvSpPr>
        <p:spPr bwMode="auto">
          <a:xfrm>
            <a:off x="2020888" y="5300663"/>
            <a:ext cx="4711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Zgoraj: originalni sliki,  spodaj: izravnani sliki</a:t>
            </a:r>
          </a:p>
        </p:txBody>
      </p:sp>
    </p:spTree>
  </p:cSld>
  <p:clrMapOvr>
    <a:masterClrMapping/>
  </p:clrMapOvr>
  <p:transition>
    <p:cove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119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C5F4490-6921-4DDA-BE95-72F3444F7B74}" type="slidenum">
              <a:rPr lang="en-GB" altLang="en-US" sz="1400" smtClean="0"/>
              <a:pPr>
                <a:spcBef>
                  <a:spcPct val="0"/>
                </a:spcBef>
                <a:buFontTx/>
                <a:buNone/>
              </a:pPr>
              <a:t>106</a:t>
            </a:fld>
            <a:endParaRPr lang="en-GB" altLang="en-US" sz="1400"/>
          </a:p>
        </p:txBody>
      </p:sp>
      <p:sp>
        <p:nvSpPr>
          <p:cNvPr id="211972"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DOLOČANJE GLOBINSKE SLIKE – ISKANJE KORESPONDENCE</a:t>
            </a:r>
            <a:endParaRPr lang="en-GB" altLang="en-US" sz="2000"/>
          </a:p>
        </p:txBody>
      </p:sp>
      <p:sp>
        <p:nvSpPr>
          <p:cNvPr id="211973" name="TextBox 5"/>
          <p:cNvSpPr txBox="1">
            <a:spLocks noChangeArrowheads="1"/>
          </p:cNvSpPr>
          <p:nvPr/>
        </p:nvSpPr>
        <p:spPr bwMode="auto">
          <a:xfrm>
            <a:off x="611188" y="1304925"/>
            <a:ext cx="7989887" cy="414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600"/>
              <a:t>Ko so epipolarne premice vzporedne, potrebujemo postopek za iskanje korespondenčnih točk, ki sovpadajo po lastnostih. Uveljavljene so:</a:t>
            </a:r>
          </a:p>
          <a:p>
            <a:pPr lvl="1" eaLnBrk="1" hangingPunct="1">
              <a:spcBef>
                <a:spcPts val="600"/>
              </a:spcBef>
              <a:buFont typeface="Arial" panose="020B0604020202020204" pitchFamily="34" charset="0"/>
              <a:buChar char="•"/>
            </a:pPr>
            <a:r>
              <a:rPr lang="sl-SI" altLang="en-US" sz="1600"/>
              <a:t>metode na osnovi pikslov oz. slikovnih regij</a:t>
            </a:r>
          </a:p>
          <a:p>
            <a:pPr lvl="1" eaLnBrk="1" hangingPunct="1">
              <a:spcBef>
                <a:spcPts val="600"/>
              </a:spcBef>
              <a:buFont typeface="Arial" panose="020B0604020202020204" pitchFamily="34" charset="0"/>
              <a:buChar char="•"/>
            </a:pPr>
            <a:r>
              <a:rPr lang="sl-SI" altLang="en-US" sz="1600"/>
              <a:t>metode, temelječe na značilnicah</a:t>
            </a:r>
          </a:p>
          <a:p>
            <a:pPr eaLnBrk="1" hangingPunct="1">
              <a:spcBef>
                <a:spcPts val="600"/>
              </a:spcBef>
              <a:buFontTx/>
              <a:buAutoNum type="arabicPeriod"/>
            </a:pPr>
            <a:r>
              <a:rPr lang="sl-SI" altLang="en-US" sz="1600"/>
              <a:t>Metode na osnovi vrednosti pikslov </a:t>
            </a:r>
          </a:p>
          <a:p>
            <a:pPr lvl="1" eaLnBrk="1" hangingPunct="1">
              <a:spcBef>
                <a:spcPts val="600"/>
              </a:spcBef>
              <a:buFont typeface="Arial" panose="020B0604020202020204" pitchFamily="34" charset="0"/>
              <a:buChar char="•"/>
            </a:pPr>
            <a:r>
              <a:rPr lang="sl-SI" altLang="en-US" sz="1400"/>
              <a:t>primerjava podobnosti posameznih pikslov</a:t>
            </a:r>
          </a:p>
          <a:p>
            <a:pPr lvl="1" eaLnBrk="1" hangingPunct="1">
              <a:spcBef>
                <a:spcPts val="600"/>
              </a:spcBef>
              <a:buFont typeface="Arial" panose="020B0604020202020204" pitchFamily="34" charset="0"/>
              <a:buChar char="•"/>
            </a:pPr>
            <a:r>
              <a:rPr lang="sl-SI" altLang="en-US" sz="1400"/>
              <a:t>iskanje podobnosti s korelacijo slikovnih regij (majhna okna)</a:t>
            </a:r>
          </a:p>
          <a:p>
            <a:pPr lvl="1" eaLnBrk="1" hangingPunct="1">
              <a:spcBef>
                <a:spcPts val="600"/>
              </a:spcBef>
              <a:buFont typeface="Arial" panose="020B0604020202020204" pitchFamily="34" charset="0"/>
              <a:buChar char="•"/>
            </a:pPr>
            <a:r>
              <a:rPr lang="sl-SI" altLang="en-US" sz="1400"/>
              <a:t>iskanje podobnosti med lastnostmi okenskih funkcij (SAD – vsota absolutnih razlik, SSD – vsota kvadriranih razlik)</a:t>
            </a:r>
          </a:p>
          <a:p>
            <a:pPr eaLnBrk="1" hangingPunct="1">
              <a:spcBef>
                <a:spcPts val="600"/>
              </a:spcBef>
              <a:buFontTx/>
              <a:buAutoNum type="arabicPeriod"/>
            </a:pPr>
            <a:r>
              <a:rPr lang="sl-SI" altLang="en-US" sz="1600"/>
              <a:t>Metode, temelječe na značilnicah:</a:t>
            </a:r>
          </a:p>
          <a:p>
            <a:pPr lvl="1" eaLnBrk="1" hangingPunct="1">
              <a:spcBef>
                <a:spcPts val="600"/>
              </a:spcBef>
              <a:buFont typeface="Arial" panose="020B0604020202020204" pitchFamily="34" charset="0"/>
              <a:buChar char="•"/>
            </a:pPr>
            <a:r>
              <a:rPr lang="sl-SI" altLang="en-US" sz="1400"/>
              <a:t>iskanje sovpadajočih premic (črt)</a:t>
            </a:r>
          </a:p>
          <a:p>
            <a:pPr lvl="1" eaLnBrk="1" hangingPunct="1">
              <a:spcBef>
                <a:spcPts val="600"/>
              </a:spcBef>
              <a:buFont typeface="Arial" panose="020B0604020202020204" pitchFamily="34" charset="0"/>
              <a:buChar char="•"/>
            </a:pPr>
            <a:r>
              <a:rPr lang="sl-SI" altLang="en-US" sz="1400"/>
              <a:t>primerjava razpoznanih robov</a:t>
            </a:r>
          </a:p>
          <a:p>
            <a:pPr lvl="1" eaLnBrk="1" hangingPunct="1">
              <a:spcBef>
                <a:spcPts val="600"/>
              </a:spcBef>
              <a:buFont typeface="Arial" panose="020B0604020202020204" pitchFamily="34" charset="0"/>
              <a:buChar char="•"/>
            </a:pPr>
            <a:r>
              <a:rPr lang="sl-SI" altLang="en-US" sz="1400"/>
              <a:t>primerjava odkritih oglišč</a:t>
            </a:r>
          </a:p>
          <a:p>
            <a:pPr lvl="1" eaLnBrk="1" hangingPunct="1">
              <a:spcBef>
                <a:spcPts val="600"/>
              </a:spcBef>
              <a:buFont typeface="Arial" panose="020B0604020202020204" pitchFamily="34" charset="0"/>
              <a:buChar char="•"/>
            </a:pPr>
            <a:endParaRPr lang="sl-SI" altLang="en-US" sz="1400"/>
          </a:p>
        </p:txBody>
      </p:sp>
      <p:sp>
        <p:nvSpPr>
          <p:cNvPr id="211974"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1197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Tree>
  </p:cSld>
  <p:clrMapOvr>
    <a:masterClrMapping/>
  </p:clrMapOvr>
  <p:transition>
    <p:cove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1401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B6440D4-D9CF-4363-83AE-355126083ECB}" type="slidenum">
              <a:rPr lang="en-GB" altLang="en-US" sz="1400" smtClean="0"/>
              <a:pPr>
                <a:spcBef>
                  <a:spcPct val="0"/>
                </a:spcBef>
                <a:buFontTx/>
                <a:buNone/>
              </a:pPr>
              <a:t>107</a:t>
            </a:fld>
            <a:endParaRPr lang="en-GB" altLang="en-US" sz="1400"/>
          </a:p>
        </p:txBody>
      </p:sp>
      <p:sp>
        <p:nvSpPr>
          <p:cNvPr id="214020"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DOLOČANJE GLOBINSKE SLIKE – ISKANJE KORESPONDENCE S KORELACIJO</a:t>
            </a:r>
            <a:endParaRPr lang="en-GB" altLang="en-US" sz="2000"/>
          </a:p>
        </p:txBody>
      </p:sp>
      <p:sp>
        <p:nvSpPr>
          <p:cNvPr id="214021" name="TextBox 5"/>
          <p:cNvSpPr txBox="1">
            <a:spLocks noChangeArrowheads="1"/>
          </p:cNvSpPr>
          <p:nvPr/>
        </p:nvSpPr>
        <p:spPr bwMode="auto">
          <a:xfrm>
            <a:off x="687388" y="1268413"/>
            <a:ext cx="8132762"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None/>
            </a:pPr>
            <a:r>
              <a:rPr lang="sl-SI" altLang="en-US" sz="1800"/>
              <a:t>Pri iskanju korespondenčnih točk lahko povežemo napačne prostorske točke:</a:t>
            </a:r>
          </a:p>
          <a:p>
            <a:pPr lvl="1" eaLnBrk="1" hangingPunct="1">
              <a:spcBef>
                <a:spcPct val="0"/>
              </a:spcBef>
              <a:buFont typeface="Arial" panose="020B0604020202020204" pitchFamily="34" charset="0"/>
              <a:buChar char="•"/>
            </a:pPr>
            <a:r>
              <a:rPr lang="sl-SI" altLang="en-US" sz="1600"/>
              <a:t>vse točke iste projekcijske premice se namreč preslikajo v isto slikovno točko</a:t>
            </a:r>
          </a:p>
          <a:p>
            <a:pPr lvl="1" eaLnBrk="1" hangingPunct="1">
              <a:spcBef>
                <a:spcPct val="0"/>
              </a:spcBef>
              <a:buFont typeface="Arial" panose="020B0604020202020204" pitchFamily="34" charset="0"/>
              <a:buChar char="•"/>
            </a:pPr>
            <a:r>
              <a:rPr lang="sl-SI" altLang="en-US" sz="1600"/>
              <a:t>treba je najti podobne soseščine točk – na primer s korelacijo </a:t>
            </a:r>
          </a:p>
        </p:txBody>
      </p:sp>
      <p:sp>
        <p:nvSpPr>
          <p:cNvPr id="214022"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1402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nvGrpSpPr>
          <p:cNvPr id="214024" name="Group 26"/>
          <p:cNvGrpSpPr>
            <a:grpSpLocks/>
          </p:cNvGrpSpPr>
          <p:nvPr/>
        </p:nvGrpSpPr>
        <p:grpSpPr bwMode="auto">
          <a:xfrm>
            <a:off x="755650" y="2171700"/>
            <a:ext cx="7702550" cy="3921125"/>
            <a:chOff x="755576" y="1124744"/>
            <a:chExt cx="7702942" cy="3921125"/>
          </a:xfrm>
        </p:grpSpPr>
        <p:grpSp>
          <p:nvGrpSpPr>
            <p:cNvPr id="214025" name="Group 24"/>
            <p:cNvGrpSpPr>
              <a:grpSpLocks/>
            </p:cNvGrpSpPr>
            <p:nvPr/>
          </p:nvGrpSpPr>
          <p:grpSpPr bwMode="auto">
            <a:xfrm>
              <a:off x="755576" y="1124744"/>
              <a:ext cx="7702942" cy="3921125"/>
              <a:chOff x="755576" y="2382838"/>
              <a:chExt cx="7702942" cy="3921125"/>
            </a:xfrm>
          </p:grpSpPr>
          <p:pic>
            <p:nvPicPr>
              <p:cNvPr id="21402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382838"/>
                <a:ext cx="6629400" cy="392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029" name="TextBox 10"/>
              <p:cNvSpPr txBox="1">
                <a:spLocks noChangeArrowheads="1"/>
              </p:cNvSpPr>
              <p:nvPr/>
            </p:nvSpPr>
            <p:spPr bwMode="auto">
              <a:xfrm>
                <a:off x="2267744" y="5733818"/>
                <a:ext cx="1656184"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Levo projekcijsko</a:t>
                </a:r>
              </a:p>
              <a:p>
                <a:pPr eaLnBrk="1" hangingPunct="1">
                  <a:spcBef>
                    <a:spcPct val="0"/>
                  </a:spcBef>
                  <a:buFontTx/>
                  <a:buNone/>
                </a:pPr>
                <a:r>
                  <a:rPr lang="sl-SI" altLang="en-US" sz="1400"/>
                  <a:t>središče</a:t>
                </a:r>
              </a:p>
            </p:txBody>
          </p:sp>
          <p:sp>
            <p:nvSpPr>
              <p:cNvPr id="214030" name="TextBox 11"/>
              <p:cNvSpPr txBox="1">
                <a:spLocks noChangeArrowheads="1"/>
              </p:cNvSpPr>
              <p:nvPr/>
            </p:nvSpPr>
            <p:spPr bwMode="auto">
              <a:xfrm>
                <a:off x="4932040" y="5733256"/>
                <a:ext cx="1800200"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Desno projekcijsko</a:t>
                </a:r>
              </a:p>
              <a:p>
                <a:pPr eaLnBrk="1" hangingPunct="1">
                  <a:spcBef>
                    <a:spcPct val="0"/>
                  </a:spcBef>
                  <a:buFontTx/>
                  <a:buNone/>
                </a:pPr>
                <a:r>
                  <a:rPr lang="sl-SI" altLang="en-US" sz="1400"/>
                  <a:t>središče</a:t>
                </a:r>
              </a:p>
            </p:txBody>
          </p:sp>
          <p:grpSp>
            <p:nvGrpSpPr>
              <p:cNvPr id="214031" name="Group 22"/>
              <p:cNvGrpSpPr>
                <a:grpSpLocks/>
              </p:cNvGrpSpPr>
              <p:nvPr/>
            </p:nvGrpSpPr>
            <p:grpSpPr bwMode="auto">
              <a:xfrm>
                <a:off x="755576" y="2819400"/>
                <a:ext cx="7702942" cy="1909851"/>
                <a:chOff x="755576" y="2819400"/>
                <a:chExt cx="7702942" cy="1909851"/>
              </a:xfrm>
            </p:grpSpPr>
            <p:sp>
              <p:nvSpPr>
                <p:cNvPr id="214032" name="TextBox 8"/>
                <p:cNvSpPr txBox="1">
                  <a:spLocks noChangeArrowheads="1"/>
                </p:cNvSpPr>
                <p:nvPr/>
              </p:nvSpPr>
              <p:spPr bwMode="auto">
                <a:xfrm>
                  <a:off x="1360106" y="4421474"/>
                  <a:ext cx="1031051"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Leva slika </a:t>
                  </a:r>
                  <a:endParaRPr lang="en-GB" altLang="en-US" sz="1400"/>
                </a:p>
              </p:txBody>
            </p:sp>
            <p:sp>
              <p:nvSpPr>
                <p:cNvPr id="214033" name="TextBox 9"/>
                <p:cNvSpPr txBox="1">
                  <a:spLocks noChangeArrowheads="1"/>
                </p:cNvSpPr>
                <p:nvPr/>
              </p:nvSpPr>
              <p:spPr bwMode="auto">
                <a:xfrm>
                  <a:off x="6556921" y="4365104"/>
                  <a:ext cx="1210588"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Desna slika  </a:t>
                  </a:r>
                  <a:endParaRPr lang="en-GB" altLang="en-US" sz="1400"/>
                </a:p>
              </p:txBody>
            </p:sp>
            <p:sp>
              <p:nvSpPr>
                <p:cNvPr id="214034" name="Line 11"/>
                <p:cNvSpPr>
                  <a:spLocks noChangeShapeType="1"/>
                </p:cNvSpPr>
                <p:nvPr/>
              </p:nvSpPr>
              <p:spPr bwMode="auto">
                <a:xfrm flipH="1" flipV="1">
                  <a:off x="2829856" y="3530036"/>
                  <a:ext cx="792088" cy="0"/>
                </a:xfrm>
                <a:prstGeom prst="line">
                  <a:avLst/>
                </a:prstGeom>
                <a:noFill/>
                <a:ln w="19050">
                  <a:solidFill>
                    <a:srgbClr val="FF9933"/>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sl-SI"/>
                </a:p>
              </p:txBody>
            </p:sp>
            <p:sp>
              <p:nvSpPr>
                <p:cNvPr id="214035" name="Line 13"/>
                <p:cNvSpPr>
                  <a:spLocks noChangeShapeType="1"/>
                </p:cNvSpPr>
                <p:nvPr/>
              </p:nvSpPr>
              <p:spPr bwMode="auto">
                <a:xfrm>
                  <a:off x="4876800" y="3124200"/>
                  <a:ext cx="1371600" cy="0"/>
                </a:xfrm>
                <a:prstGeom prst="line">
                  <a:avLst/>
                </a:prstGeom>
                <a:noFill/>
                <a:ln w="19050">
                  <a:solidFill>
                    <a:srgbClr val="FF9933"/>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sl-SI"/>
                </a:p>
              </p:txBody>
            </p:sp>
            <p:sp>
              <p:nvSpPr>
                <p:cNvPr id="214036" name="Text Box 14"/>
                <p:cNvSpPr txBox="1">
                  <a:spLocks noChangeArrowheads="1"/>
                </p:cNvSpPr>
                <p:nvPr/>
              </p:nvSpPr>
              <p:spPr bwMode="auto">
                <a:xfrm>
                  <a:off x="6324600" y="2895600"/>
                  <a:ext cx="21339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solidFill>
                        <a:srgbClr val="FF9933"/>
                      </a:solidFill>
                    </a:rPr>
                    <a:t>Možne prostorske točke </a:t>
                  </a:r>
                  <a:endParaRPr lang="en-US" altLang="en-US" sz="1400">
                    <a:solidFill>
                      <a:srgbClr val="FF9933"/>
                    </a:solidFill>
                  </a:endParaRPr>
                </a:p>
              </p:txBody>
            </p:sp>
            <p:sp>
              <p:nvSpPr>
                <p:cNvPr id="214037" name="Rectangle 16"/>
                <p:cNvSpPr>
                  <a:spLocks noChangeArrowheads="1"/>
                </p:cNvSpPr>
                <p:nvPr/>
              </p:nvSpPr>
              <p:spPr bwMode="auto">
                <a:xfrm>
                  <a:off x="3810000" y="2819400"/>
                  <a:ext cx="1066800" cy="457200"/>
                </a:xfrm>
                <a:prstGeom prst="rect">
                  <a:avLst/>
                </a:prstGeom>
                <a:noFill/>
                <a:ln w="28575">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14038" name="Rectangle 17"/>
                <p:cNvSpPr>
                  <a:spLocks noChangeArrowheads="1"/>
                </p:cNvSpPr>
                <p:nvPr/>
              </p:nvSpPr>
              <p:spPr bwMode="auto">
                <a:xfrm>
                  <a:off x="3886200" y="3581400"/>
                  <a:ext cx="914400" cy="457200"/>
                </a:xfrm>
                <a:prstGeom prst="rect">
                  <a:avLst/>
                </a:prstGeom>
                <a:noFill/>
                <a:ln w="28575">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14039" name="Line 18"/>
                <p:cNvSpPr>
                  <a:spLocks noChangeShapeType="1"/>
                </p:cNvSpPr>
                <p:nvPr/>
              </p:nvSpPr>
              <p:spPr bwMode="auto">
                <a:xfrm flipV="1">
                  <a:off x="4953000" y="3200400"/>
                  <a:ext cx="1295400" cy="609600"/>
                </a:xfrm>
                <a:prstGeom prst="line">
                  <a:avLst/>
                </a:prstGeom>
                <a:noFill/>
                <a:ln w="19050">
                  <a:solidFill>
                    <a:srgbClr val="FF9933"/>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sl-SI"/>
                </a:p>
              </p:txBody>
            </p:sp>
            <p:sp>
              <p:nvSpPr>
                <p:cNvPr id="214040" name="Text Box 14"/>
                <p:cNvSpPr txBox="1">
                  <a:spLocks noChangeArrowheads="1"/>
                </p:cNvSpPr>
                <p:nvPr/>
              </p:nvSpPr>
              <p:spPr bwMode="auto">
                <a:xfrm>
                  <a:off x="755576" y="3356992"/>
                  <a:ext cx="206498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solidFill>
                        <a:srgbClr val="0000FF"/>
                      </a:solidFill>
                    </a:rPr>
                    <a:t>Prave prostorske točke </a:t>
                  </a:r>
                  <a:endParaRPr lang="en-US" altLang="en-US" sz="1400">
                    <a:solidFill>
                      <a:srgbClr val="0000FF"/>
                    </a:solidFill>
                  </a:endParaRPr>
                </a:p>
              </p:txBody>
            </p:sp>
          </p:grpSp>
        </p:grpSp>
        <p:sp>
          <p:nvSpPr>
            <p:cNvPr id="214026" name="TextBox 12"/>
            <p:cNvSpPr txBox="1">
              <a:spLocks noChangeArrowheads="1"/>
            </p:cNvSpPr>
            <p:nvPr/>
          </p:nvSpPr>
          <p:spPr bwMode="auto">
            <a:xfrm>
              <a:off x="1441877" y="4653136"/>
              <a:ext cx="825867"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          </a:t>
              </a:r>
              <a:endParaRPr lang="en-GB" altLang="en-US" sz="1800"/>
            </a:p>
          </p:txBody>
        </p:sp>
        <p:sp>
          <p:nvSpPr>
            <p:cNvPr id="214027" name="TextBox 25"/>
            <p:cNvSpPr txBox="1">
              <a:spLocks noChangeArrowheads="1"/>
            </p:cNvSpPr>
            <p:nvPr/>
          </p:nvSpPr>
          <p:spPr bwMode="auto">
            <a:xfrm>
              <a:off x="6660232" y="4653136"/>
              <a:ext cx="825867"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          </a:t>
              </a:r>
              <a:endParaRPr lang="en-GB" altLang="en-US" sz="1800"/>
            </a:p>
          </p:txBody>
        </p:sp>
      </p:grpSp>
    </p:spTree>
  </p:cSld>
  <p:clrMapOvr>
    <a:masterClrMapping/>
  </p:clrMapOvr>
  <p:transition>
    <p:cove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160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0D5181F-2F03-4D23-B71F-19D49B08C2F0}" type="slidenum">
              <a:rPr lang="en-GB" altLang="en-US" sz="1400" smtClean="0"/>
              <a:pPr>
                <a:spcBef>
                  <a:spcPct val="0"/>
                </a:spcBef>
                <a:buFontTx/>
                <a:buNone/>
              </a:pPr>
              <a:t>108</a:t>
            </a:fld>
            <a:endParaRPr lang="en-GB" altLang="en-US" sz="1400"/>
          </a:p>
        </p:txBody>
      </p:sp>
      <p:sp>
        <p:nvSpPr>
          <p:cNvPr id="216068"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DOLOČANJE GLOBINSKE SLIKE – ISKANJE KORESPONDENCE S KORELACIJO (2)</a:t>
            </a:r>
            <a:endParaRPr lang="en-GB" altLang="en-US" sz="2000"/>
          </a:p>
        </p:txBody>
      </p:sp>
      <p:sp>
        <p:nvSpPr>
          <p:cNvPr id="216069" name="TextBox 5"/>
          <p:cNvSpPr txBox="1">
            <a:spLocks noChangeArrowheads="1"/>
          </p:cNvSpPr>
          <p:nvPr/>
        </p:nvSpPr>
        <p:spPr bwMode="auto">
          <a:xfrm>
            <a:off x="687388" y="1268413"/>
            <a:ext cx="8132762" cy="529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Imamo levo </a:t>
            </a:r>
            <a:r>
              <a:rPr lang="sl-SI" altLang="en-US" sz="1800" b="1"/>
              <a:t>I</a:t>
            </a:r>
            <a:r>
              <a:rPr lang="sl-SI" altLang="en-US" sz="1800" baseline="-25000"/>
              <a:t>l</a:t>
            </a:r>
            <a:r>
              <a:rPr lang="sl-SI" altLang="en-US" sz="1800"/>
              <a:t> in desno sliko </a:t>
            </a:r>
            <a:r>
              <a:rPr lang="sl-SI" altLang="en-US" sz="1800" b="1"/>
              <a:t>I</a:t>
            </a:r>
            <a:r>
              <a:rPr lang="sl-SI" altLang="en-US" sz="1800" baseline="-25000"/>
              <a:t>r</a:t>
            </a:r>
          </a:p>
          <a:p>
            <a:pPr eaLnBrk="1" hangingPunct="1">
              <a:spcBef>
                <a:spcPts val="600"/>
              </a:spcBef>
              <a:buFontTx/>
              <a:buAutoNum type="arabicPeriod"/>
            </a:pPr>
            <a:r>
              <a:rPr lang="sl-SI" altLang="en-US" sz="1800"/>
              <a:t>Za vsak piksel </a:t>
            </a:r>
            <a:r>
              <a:rPr lang="sl-SI" altLang="en-US" sz="1800" i="1"/>
              <a:t>p</a:t>
            </a:r>
            <a:r>
              <a:rPr lang="sl-SI" altLang="en-US" sz="1800" i="1" baseline="-25000"/>
              <a:t>l</a:t>
            </a:r>
            <a:r>
              <a:rPr lang="sl-SI" altLang="en-US" sz="1800"/>
              <a:t>(</a:t>
            </a:r>
            <a:r>
              <a:rPr lang="sl-SI" altLang="en-US" sz="1800" i="1"/>
              <a:t>x</a:t>
            </a:r>
            <a:r>
              <a:rPr lang="sl-SI" altLang="en-US" sz="1800"/>
              <a:t>,</a:t>
            </a:r>
            <a:r>
              <a:rPr lang="sl-SI" altLang="en-US" sz="1800" i="1"/>
              <a:t>y</a:t>
            </a:r>
            <a:r>
              <a:rPr lang="sl-SI" altLang="en-US" sz="1800"/>
              <a:t>) na levi sliki izračunamo korelacijo na desni sliki</a:t>
            </a:r>
          </a:p>
          <a:p>
            <a:pPr eaLnBrk="1" hangingPunct="1">
              <a:spcBef>
                <a:spcPts val="600"/>
              </a:spcBef>
              <a:buFontTx/>
              <a:buAutoNum type="arabicPeriod"/>
            </a:pPr>
            <a:r>
              <a:rPr lang="sl-SI" altLang="en-US" sz="1800"/>
              <a:t>Korelacijo računamo v oknu (2</a:t>
            </a:r>
            <a:r>
              <a:rPr lang="sl-SI" altLang="en-US" sz="1800" i="1"/>
              <a:t>M</a:t>
            </a:r>
            <a:r>
              <a:rPr lang="sl-SI" altLang="en-US" sz="1800"/>
              <a:t>+1)</a:t>
            </a:r>
            <a:r>
              <a:rPr lang="sl-SI" altLang="en-US" sz="1800">
                <a:sym typeface="Symbol" panose="05050102010706020507" pitchFamily="18" charset="2"/>
              </a:rPr>
              <a:t>(2</a:t>
            </a:r>
            <a:r>
              <a:rPr lang="sl-SI" altLang="en-US" sz="1800" i="1">
                <a:sym typeface="Symbol" panose="05050102010706020507" pitchFamily="18" charset="2"/>
              </a:rPr>
              <a:t>M</a:t>
            </a:r>
            <a:r>
              <a:rPr lang="sl-SI" altLang="en-US" sz="1800">
                <a:sym typeface="Symbol" panose="05050102010706020507" pitchFamily="18" charset="2"/>
              </a:rPr>
              <a:t>+1)</a:t>
            </a:r>
            <a:r>
              <a:rPr lang="sl-SI" altLang="en-US" sz="1800" i="1">
                <a:sym typeface="Symbol" panose="05050102010706020507" pitchFamily="18" charset="2"/>
              </a:rPr>
              <a:t>,</a:t>
            </a:r>
            <a:r>
              <a:rPr lang="sl-SI" altLang="en-US" sz="1800">
                <a:sym typeface="Symbol" panose="05050102010706020507" pitchFamily="18" charset="2"/>
              </a:rPr>
              <a:t> ki ga premikamo po desni sliki glede na izbrano dispariteto </a:t>
            </a:r>
            <a:r>
              <a:rPr lang="sl-SI" altLang="en-US" sz="1800" b="1">
                <a:sym typeface="Symbol" panose="05050102010706020507" pitchFamily="18" charset="2"/>
              </a:rPr>
              <a:t>d</a:t>
            </a:r>
            <a:r>
              <a:rPr lang="sl-SI" altLang="en-US" sz="1800">
                <a:sym typeface="Symbol" panose="05050102010706020507" pitchFamily="18" charset="2"/>
              </a:rPr>
              <a:t>=(</a:t>
            </a:r>
            <a:r>
              <a:rPr lang="sl-SI" altLang="en-US" sz="1800" i="1">
                <a:sym typeface="Symbol" panose="05050102010706020507" pitchFamily="18" charset="2"/>
              </a:rPr>
              <a:t>d</a:t>
            </a:r>
            <a:r>
              <a:rPr lang="sl-SI" altLang="en-US" sz="1800" baseline="-25000">
                <a:sym typeface="Symbol" panose="05050102010706020507" pitchFamily="18" charset="2"/>
              </a:rPr>
              <a:t>x</a:t>
            </a:r>
            <a:r>
              <a:rPr lang="sl-SI" altLang="en-US" sz="1800">
                <a:sym typeface="Symbol" panose="05050102010706020507" pitchFamily="18" charset="2"/>
              </a:rPr>
              <a:t>,</a:t>
            </a:r>
            <a:r>
              <a:rPr lang="sl-SI" altLang="en-US" sz="1800" i="1">
                <a:sym typeface="Symbol" panose="05050102010706020507" pitchFamily="18" charset="2"/>
              </a:rPr>
              <a:t>d</a:t>
            </a:r>
            <a:r>
              <a:rPr lang="sl-SI" altLang="en-US" sz="1800" baseline="-25000">
                <a:sym typeface="Symbol" panose="05050102010706020507" pitchFamily="18" charset="2"/>
              </a:rPr>
              <a:t>y</a:t>
            </a:r>
            <a:r>
              <a:rPr lang="sl-SI" altLang="en-US" sz="1800">
                <a:sym typeface="Symbol" panose="05050102010706020507" pitchFamily="18" charset="2"/>
              </a:rPr>
              <a:t>):</a:t>
            </a:r>
          </a:p>
          <a:p>
            <a:pPr eaLnBrk="1" hangingPunct="1">
              <a:spcBef>
                <a:spcPts val="600"/>
              </a:spcBef>
              <a:buFontTx/>
              <a:buNone/>
            </a:pPr>
            <a:endParaRPr lang="sl-SI" altLang="en-US" sz="1800"/>
          </a:p>
          <a:p>
            <a:pPr eaLnBrk="1" hangingPunct="1">
              <a:spcBef>
                <a:spcPts val="600"/>
              </a:spcBef>
              <a:buFontTx/>
              <a:buNone/>
            </a:pPr>
            <a:endParaRPr lang="sl-SI" altLang="en-US" sz="1800"/>
          </a:p>
          <a:p>
            <a:pPr eaLnBrk="1" hangingPunct="1">
              <a:spcBef>
                <a:spcPts val="600"/>
              </a:spcBef>
              <a:buFontTx/>
              <a:buAutoNum type="arabicPeriod" startAt="4"/>
            </a:pPr>
            <a:r>
              <a:rPr lang="sl-SI" altLang="en-US" sz="1800"/>
              <a:t>Dispariteto opredelimo z največjo izračunano prečno korelacijo:</a:t>
            </a:r>
          </a:p>
          <a:p>
            <a:pPr eaLnBrk="1" hangingPunct="1">
              <a:spcBef>
                <a:spcPts val="600"/>
              </a:spcBef>
              <a:buFontTx/>
              <a:buAutoNum type="arabicPeriod" startAt="4"/>
            </a:pPr>
            <a:endParaRPr lang="sl-SI" altLang="en-US" sz="1800"/>
          </a:p>
          <a:p>
            <a:pPr eaLnBrk="1" hangingPunct="1">
              <a:spcBef>
                <a:spcPts val="1800"/>
              </a:spcBef>
              <a:buFontTx/>
              <a:buAutoNum type="arabicPeriod" startAt="4"/>
            </a:pPr>
            <a:r>
              <a:rPr lang="sl-SI" altLang="en-US" sz="1800">
                <a:solidFill>
                  <a:srgbClr val="0000FF"/>
                </a:solidFill>
              </a:rPr>
              <a:t>Če smo sliki najprej izravnali:</a:t>
            </a:r>
          </a:p>
          <a:p>
            <a:pPr lvl="1" eaLnBrk="1" hangingPunct="1">
              <a:spcBef>
                <a:spcPct val="0"/>
              </a:spcBef>
              <a:buFont typeface="Arial" panose="020B0604020202020204" pitchFamily="34" charset="0"/>
              <a:buChar char="•"/>
            </a:pPr>
            <a:r>
              <a:rPr lang="sl-SI" altLang="en-US" sz="1800">
                <a:solidFill>
                  <a:srgbClr val="0000FF"/>
                </a:solidFill>
              </a:rPr>
              <a:t>dispariteto iščemo le po tisti vrstici (s spreminjanjem </a:t>
            </a:r>
            <a:r>
              <a:rPr lang="sl-SI" altLang="en-US" sz="1800" i="1">
                <a:solidFill>
                  <a:srgbClr val="0000FF"/>
                </a:solidFill>
              </a:rPr>
              <a:t>d</a:t>
            </a:r>
            <a:r>
              <a:rPr lang="sl-SI" altLang="en-US" sz="1800" i="1" baseline="-25000">
                <a:solidFill>
                  <a:srgbClr val="0000FF"/>
                </a:solidFill>
              </a:rPr>
              <a:t>y</a:t>
            </a:r>
            <a:r>
              <a:rPr lang="sl-SI" altLang="en-US" sz="1800">
                <a:solidFill>
                  <a:srgbClr val="0000FF"/>
                </a:solidFill>
              </a:rPr>
              <a:t>) na desni sliki, v kateri smo izbrali izhodiščno točko </a:t>
            </a:r>
            <a:r>
              <a:rPr lang="sl-SI" altLang="en-US" sz="1800" i="1">
                <a:solidFill>
                  <a:srgbClr val="0000FF"/>
                </a:solidFill>
              </a:rPr>
              <a:t>p</a:t>
            </a:r>
            <a:r>
              <a:rPr lang="sl-SI" altLang="en-US" sz="1800">
                <a:solidFill>
                  <a:srgbClr val="0000FF"/>
                </a:solidFill>
              </a:rPr>
              <a:t>(</a:t>
            </a:r>
            <a:r>
              <a:rPr lang="sl-SI" altLang="en-US" sz="1800" i="1">
                <a:solidFill>
                  <a:srgbClr val="0000FF"/>
                </a:solidFill>
              </a:rPr>
              <a:t>x</a:t>
            </a:r>
            <a:r>
              <a:rPr lang="sl-SI" altLang="en-US" sz="1800">
                <a:solidFill>
                  <a:srgbClr val="0000FF"/>
                </a:solidFill>
              </a:rPr>
              <a:t>,</a:t>
            </a:r>
            <a:r>
              <a:rPr lang="sl-SI" altLang="en-US" sz="1800" i="1">
                <a:solidFill>
                  <a:srgbClr val="0000FF"/>
                </a:solidFill>
              </a:rPr>
              <a:t>y</a:t>
            </a:r>
            <a:r>
              <a:rPr lang="sl-SI" altLang="en-US" sz="1800">
                <a:solidFill>
                  <a:srgbClr val="0000FF"/>
                </a:solidFill>
              </a:rPr>
              <a:t>) na levi sliki.</a:t>
            </a:r>
          </a:p>
          <a:p>
            <a:pPr eaLnBrk="1" hangingPunct="1">
              <a:spcBef>
                <a:spcPts val="600"/>
              </a:spcBef>
              <a:buFontTx/>
              <a:buAutoNum type="arabicPeriod" startAt="6"/>
            </a:pPr>
            <a:r>
              <a:rPr lang="sl-SI" altLang="en-US" sz="1800">
                <a:solidFill>
                  <a:srgbClr val="FF9933"/>
                </a:solidFill>
              </a:rPr>
              <a:t>Namesto prečne korelacije lahko iščemo dispariteto tudi z:</a:t>
            </a:r>
          </a:p>
          <a:p>
            <a:pPr lvl="1" eaLnBrk="1" hangingPunct="1">
              <a:spcBef>
                <a:spcPct val="0"/>
              </a:spcBef>
              <a:buFont typeface="Arial" panose="020B0604020202020204" pitchFamily="34" charset="0"/>
              <a:buChar char="•"/>
            </a:pPr>
            <a:r>
              <a:rPr lang="sl-SI" altLang="en-US" sz="1800">
                <a:solidFill>
                  <a:srgbClr val="FF9933"/>
                </a:solidFill>
              </a:rPr>
              <a:t>normalizirano prečno korelacijo (delimo s standardnim odklonom)</a:t>
            </a:r>
          </a:p>
          <a:p>
            <a:pPr lvl="1" eaLnBrk="1" hangingPunct="1">
              <a:spcBef>
                <a:spcPct val="0"/>
              </a:spcBef>
              <a:buFont typeface="Arial" panose="020B0604020202020204" pitchFamily="34" charset="0"/>
              <a:buChar char="•"/>
            </a:pPr>
            <a:r>
              <a:rPr lang="sl-SI" altLang="en-US" sz="1800">
                <a:solidFill>
                  <a:srgbClr val="FF9933"/>
                </a:solidFill>
              </a:rPr>
              <a:t>vsoto kvadriranih razlik med piksli</a:t>
            </a:r>
          </a:p>
          <a:p>
            <a:pPr lvl="1" eaLnBrk="1" hangingPunct="1">
              <a:spcBef>
                <a:spcPct val="0"/>
              </a:spcBef>
              <a:buFont typeface="Arial" panose="020B0604020202020204" pitchFamily="34" charset="0"/>
              <a:buChar char="•"/>
            </a:pPr>
            <a:r>
              <a:rPr lang="sl-SI" altLang="en-US" sz="1800">
                <a:solidFill>
                  <a:srgbClr val="FF9933"/>
                </a:solidFill>
              </a:rPr>
              <a:t>vsoto absolutnih razlik med piksli</a:t>
            </a:r>
          </a:p>
          <a:p>
            <a:pPr eaLnBrk="1" hangingPunct="1">
              <a:spcBef>
                <a:spcPct val="0"/>
              </a:spcBef>
              <a:buFontTx/>
              <a:buAutoNum type="arabicPeriod" startAt="4"/>
            </a:pPr>
            <a:endParaRPr lang="sl-SI" altLang="en-US" sz="1800"/>
          </a:p>
        </p:txBody>
      </p:sp>
      <p:sp>
        <p:nvSpPr>
          <p:cNvPr id="216070"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1607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216072" name="Slika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9663" y="2565400"/>
            <a:ext cx="54070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073" name="Slika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9663" y="3675063"/>
            <a:ext cx="18589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1811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A33DAD4-6978-418E-BADA-CEE96F28F787}" type="slidenum">
              <a:rPr lang="en-GB" altLang="en-US" sz="1400" smtClean="0"/>
              <a:pPr>
                <a:spcBef>
                  <a:spcPct val="0"/>
                </a:spcBef>
                <a:buFontTx/>
                <a:buNone/>
              </a:pPr>
              <a:t>109</a:t>
            </a:fld>
            <a:endParaRPr lang="en-GB" altLang="en-US" sz="1400"/>
          </a:p>
        </p:txBody>
      </p:sp>
      <p:sp>
        <p:nvSpPr>
          <p:cNvPr id="218116"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DOLOČANJE GLOBINSKE SLIKE – ISKANJE KORESPONDENCE S KORELACIJO (3)</a:t>
            </a:r>
            <a:endParaRPr lang="en-GB" altLang="en-US" sz="2000"/>
          </a:p>
        </p:txBody>
      </p:sp>
      <p:sp>
        <p:nvSpPr>
          <p:cNvPr id="21811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1811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nvGrpSpPr>
          <p:cNvPr id="218119" name="Skupina 1"/>
          <p:cNvGrpSpPr>
            <a:grpSpLocks/>
          </p:cNvGrpSpPr>
          <p:nvPr/>
        </p:nvGrpSpPr>
        <p:grpSpPr bwMode="auto">
          <a:xfrm>
            <a:off x="265113" y="1866900"/>
            <a:ext cx="8555037" cy="4225925"/>
            <a:chOff x="179512" y="1316037"/>
            <a:chExt cx="8554913" cy="4225925"/>
          </a:xfrm>
        </p:grpSpPr>
        <p:pic>
          <p:nvPicPr>
            <p:cNvPr id="218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5" y="2555875"/>
              <a:ext cx="3941762" cy="298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812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5825" y="2581275"/>
              <a:ext cx="4038600" cy="29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8127"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6175" y="1316037"/>
              <a:ext cx="334327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8128"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22887" y="1316037"/>
              <a:ext cx="3384550" cy="63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8129" name="Text Box 10"/>
            <p:cNvSpPr txBox="1">
              <a:spLocks noChangeArrowheads="1"/>
            </p:cNvSpPr>
            <p:nvPr/>
          </p:nvSpPr>
          <p:spPr bwMode="auto">
            <a:xfrm>
              <a:off x="179512" y="1328737"/>
              <a:ext cx="9509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vrstica</a:t>
              </a:r>
              <a:r>
                <a:rPr lang="en-GB" altLang="en-US" sz="1400"/>
                <a:t> 70</a:t>
              </a:r>
            </a:p>
          </p:txBody>
        </p:sp>
        <p:sp>
          <p:nvSpPr>
            <p:cNvPr id="218130" name="Line 11"/>
            <p:cNvSpPr>
              <a:spLocks noChangeShapeType="1"/>
            </p:cNvSpPr>
            <p:nvPr/>
          </p:nvSpPr>
          <p:spPr bwMode="auto">
            <a:xfrm>
              <a:off x="671512" y="1647825"/>
              <a:ext cx="431800" cy="0"/>
            </a:xfrm>
            <a:prstGeom prst="line">
              <a:avLst/>
            </a:prstGeom>
            <a:noFill/>
            <a:ln w="254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l-SI"/>
            </a:p>
          </p:txBody>
        </p:sp>
        <p:sp>
          <p:nvSpPr>
            <p:cNvPr id="218131" name="Text Box 12"/>
            <p:cNvSpPr txBox="1">
              <a:spLocks noChangeArrowheads="1"/>
            </p:cNvSpPr>
            <p:nvPr/>
          </p:nvSpPr>
          <p:spPr bwMode="auto">
            <a:xfrm>
              <a:off x="4427984" y="1328737"/>
              <a:ext cx="9509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vrstica</a:t>
              </a:r>
              <a:r>
                <a:rPr lang="en-GB" altLang="en-US" sz="1400"/>
                <a:t> 70</a:t>
              </a:r>
            </a:p>
          </p:txBody>
        </p:sp>
        <p:sp>
          <p:nvSpPr>
            <p:cNvPr id="218132" name="Line 13"/>
            <p:cNvSpPr>
              <a:spLocks noChangeShapeType="1"/>
            </p:cNvSpPr>
            <p:nvPr/>
          </p:nvSpPr>
          <p:spPr bwMode="auto">
            <a:xfrm>
              <a:off x="4849812" y="1647825"/>
              <a:ext cx="431800" cy="0"/>
            </a:xfrm>
            <a:prstGeom prst="line">
              <a:avLst/>
            </a:prstGeom>
            <a:noFill/>
            <a:ln w="254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l-SI"/>
            </a:p>
          </p:txBody>
        </p:sp>
        <p:sp>
          <p:nvSpPr>
            <p:cNvPr id="218133" name="Rectangle 14"/>
            <p:cNvSpPr>
              <a:spLocks noChangeArrowheads="1"/>
            </p:cNvSpPr>
            <p:nvPr/>
          </p:nvSpPr>
          <p:spPr bwMode="auto">
            <a:xfrm>
              <a:off x="3049587" y="3382962"/>
              <a:ext cx="850900" cy="660400"/>
            </a:xfrm>
            <a:prstGeom prst="rect">
              <a:avLst/>
            </a:prstGeom>
            <a:noFill/>
            <a:ln w="2540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sl-SI" altLang="en-US" sz="1000">
                <a:latin typeface="Times New Roman" panose="02020603050405020304" pitchFamily="18" charset="0"/>
              </a:endParaRPr>
            </a:p>
          </p:txBody>
        </p:sp>
        <p:sp>
          <p:nvSpPr>
            <p:cNvPr id="218134" name="Rectangle 15"/>
            <p:cNvSpPr>
              <a:spLocks noChangeArrowheads="1"/>
            </p:cNvSpPr>
            <p:nvPr/>
          </p:nvSpPr>
          <p:spPr bwMode="auto">
            <a:xfrm>
              <a:off x="6110287" y="3192462"/>
              <a:ext cx="914400" cy="952500"/>
            </a:xfrm>
            <a:prstGeom prst="rect">
              <a:avLst/>
            </a:prstGeom>
            <a:noFill/>
            <a:ln w="2540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sl-SI" altLang="en-US" sz="1000">
                <a:latin typeface="Times New Roman" panose="02020603050405020304" pitchFamily="18" charset="0"/>
              </a:endParaRPr>
            </a:p>
          </p:txBody>
        </p:sp>
        <p:sp>
          <p:nvSpPr>
            <p:cNvPr id="218135" name="Line 16"/>
            <p:cNvSpPr>
              <a:spLocks noChangeShapeType="1"/>
            </p:cNvSpPr>
            <p:nvPr/>
          </p:nvSpPr>
          <p:spPr bwMode="auto">
            <a:xfrm flipV="1">
              <a:off x="3760787" y="1998662"/>
              <a:ext cx="0" cy="520700"/>
            </a:xfrm>
            <a:prstGeom prst="line">
              <a:avLst/>
            </a:prstGeom>
            <a:noFill/>
            <a:ln w="254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l-SI"/>
            </a:p>
          </p:txBody>
        </p:sp>
        <p:sp>
          <p:nvSpPr>
            <p:cNvPr id="218136" name="Line 17"/>
            <p:cNvSpPr>
              <a:spLocks noChangeShapeType="1"/>
            </p:cNvSpPr>
            <p:nvPr/>
          </p:nvSpPr>
          <p:spPr bwMode="auto">
            <a:xfrm flipV="1">
              <a:off x="6897687" y="1998662"/>
              <a:ext cx="12700" cy="533400"/>
            </a:xfrm>
            <a:prstGeom prst="line">
              <a:avLst/>
            </a:prstGeom>
            <a:noFill/>
            <a:ln w="254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l-SI"/>
            </a:p>
          </p:txBody>
        </p:sp>
      </p:grpSp>
      <p:sp>
        <p:nvSpPr>
          <p:cNvPr id="3" name="Pravokotnik 2"/>
          <p:cNvSpPr/>
          <p:nvPr/>
        </p:nvSpPr>
        <p:spPr>
          <a:xfrm>
            <a:off x="3546475" y="1838325"/>
            <a:ext cx="650875" cy="6826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sl-SI"/>
          </a:p>
        </p:txBody>
      </p:sp>
      <p:sp>
        <p:nvSpPr>
          <p:cNvPr id="24" name="Pravokotnik 23"/>
          <p:cNvSpPr/>
          <p:nvPr/>
        </p:nvSpPr>
        <p:spPr>
          <a:xfrm>
            <a:off x="6672263" y="1860550"/>
            <a:ext cx="650875" cy="6826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sl-SI"/>
          </a:p>
        </p:txBody>
      </p:sp>
      <p:sp>
        <p:nvSpPr>
          <p:cNvPr id="218122" name="PoljeZBesedilom 3"/>
          <p:cNvSpPr txBox="1">
            <a:spLocks noChangeArrowheads="1"/>
          </p:cNvSpPr>
          <p:nvPr/>
        </p:nvSpPr>
        <p:spPr bwMode="auto">
          <a:xfrm>
            <a:off x="1146175" y="1341438"/>
            <a:ext cx="7313613"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Profil pikselskih intenzivnosti in iskanje podobnosti s prečno korelacijo:</a:t>
            </a:r>
          </a:p>
        </p:txBody>
      </p:sp>
      <p:sp>
        <p:nvSpPr>
          <p:cNvPr id="218123" name="PoljeZBesedilom 4"/>
          <p:cNvSpPr txBox="1">
            <a:spLocks noChangeArrowheads="1"/>
          </p:cNvSpPr>
          <p:nvPr/>
        </p:nvSpPr>
        <p:spPr bwMode="auto">
          <a:xfrm>
            <a:off x="2178050" y="2781300"/>
            <a:ext cx="1025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leva slika</a:t>
            </a:r>
          </a:p>
        </p:txBody>
      </p:sp>
      <p:sp>
        <p:nvSpPr>
          <p:cNvPr id="218124" name="PoljeZBesedilom 26"/>
          <p:cNvSpPr txBox="1">
            <a:spLocks noChangeArrowheads="1"/>
          </p:cNvSpPr>
          <p:nvPr/>
        </p:nvSpPr>
        <p:spPr bwMode="auto">
          <a:xfrm>
            <a:off x="5778500" y="2781300"/>
            <a:ext cx="12080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desna slika</a:t>
            </a:r>
          </a:p>
        </p:txBody>
      </p:sp>
    </p:spTree>
  </p:cSld>
  <p:clrMapOvr>
    <a:masterClrMapping/>
  </p:clrMapOvr>
  <p:transition>
    <p:cove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2016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639A6D3-6D6E-4A55-B309-B7B3E2B11728}" type="slidenum">
              <a:rPr lang="en-GB" altLang="en-US" sz="1400" smtClean="0"/>
              <a:pPr>
                <a:spcBef>
                  <a:spcPct val="0"/>
                </a:spcBef>
                <a:buFontTx/>
                <a:buNone/>
              </a:pPr>
              <a:t>110</a:t>
            </a:fld>
            <a:endParaRPr lang="en-GB" altLang="en-US" sz="1400"/>
          </a:p>
        </p:txBody>
      </p:sp>
      <p:sp>
        <p:nvSpPr>
          <p:cNvPr id="220164"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DOLOČANJE GLOBINSKE SLIKE – ISKANJE KORESPONDENCE S PODOBNOSTJO ZNAČILNIC</a:t>
            </a:r>
            <a:endParaRPr lang="en-GB" altLang="en-US" sz="2000"/>
          </a:p>
        </p:txBody>
      </p:sp>
      <p:sp>
        <p:nvSpPr>
          <p:cNvPr id="220165" name="TextBox 5"/>
          <p:cNvSpPr txBox="1">
            <a:spLocks noChangeArrowheads="1"/>
          </p:cNvSpPr>
          <p:nvPr/>
        </p:nvSpPr>
        <p:spPr bwMode="auto">
          <a:xfrm>
            <a:off x="611188" y="1304925"/>
            <a:ext cx="7989887"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Imamo levo </a:t>
            </a:r>
            <a:r>
              <a:rPr lang="sl-SI" altLang="en-US" sz="1800" b="1"/>
              <a:t>I</a:t>
            </a:r>
            <a:r>
              <a:rPr lang="sl-SI" altLang="en-US" sz="1800" baseline="-25000"/>
              <a:t>l</a:t>
            </a:r>
            <a:r>
              <a:rPr lang="sl-SI" altLang="en-US" sz="1800"/>
              <a:t> in desno sliko </a:t>
            </a:r>
            <a:r>
              <a:rPr lang="sl-SI" altLang="en-US" sz="1800" b="1"/>
              <a:t>I</a:t>
            </a:r>
            <a:r>
              <a:rPr lang="sl-SI" altLang="en-US" sz="1800" baseline="-25000"/>
              <a:t>r</a:t>
            </a:r>
          </a:p>
          <a:p>
            <a:pPr eaLnBrk="1" hangingPunct="1">
              <a:spcBef>
                <a:spcPts val="600"/>
              </a:spcBef>
              <a:buFontTx/>
              <a:buAutoNum type="arabicPeriod"/>
            </a:pPr>
            <a:r>
              <a:rPr lang="sl-SI" altLang="en-US" sz="1800"/>
              <a:t>Za vsak nabor značilnic </a:t>
            </a:r>
            <a:r>
              <a:rPr lang="sl-SI" altLang="en-US" sz="1800" b="1"/>
              <a:t>f</a:t>
            </a:r>
            <a:r>
              <a:rPr lang="sl-SI" altLang="en-US" sz="1800" i="1" baseline="-25000"/>
              <a:t>l</a:t>
            </a:r>
            <a:r>
              <a:rPr lang="sl-SI" altLang="en-US" sz="1800"/>
              <a:t>, na primer oglišč, na levi sliki ocenimo mero podobnosti z značilnicami  na desni sliki</a:t>
            </a:r>
          </a:p>
          <a:p>
            <a:pPr eaLnBrk="1" hangingPunct="1">
              <a:spcBef>
                <a:spcPts val="600"/>
              </a:spcBef>
              <a:buFontTx/>
              <a:buAutoNum type="arabicPeriod"/>
            </a:pPr>
            <a:r>
              <a:rPr lang="sl-SI" altLang="en-US" sz="1800"/>
              <a:t>Podobnost iščemo v oknu (2</a:t>
            </a:r>
            <a:r>
              <a:rPr lang="sl-SI" altLang="en-US" sz="1800" i="1"/>
              <a:t>M</a:t>
            </a:r>
            <a:r>
              <a:rPr lang="sl-SI" altLang="en-US" sz="1800"/>
              <a:t>+1)</a:t>
            </a:r>
            <a:r>
              <a:rPr lang="sl-SI" altLang="en-US" sz="1800">
                <a:sym typeface="Symbol" panose="05050102010706020507" pitchFamily="18" charset="2"/>
              </a:rPr>
              <a:t>(2</a:t>
            </a:r>
            <a:r>
              <a:rPr lang="sl-SI" altLang="en-US" sz="1800" i="1">
                <a:sym typeface="Symbol" panose="05050102010706020507" pitchFamily="18" charset="2"/>
              </a:rPr>
              <a:t>M</a:t>
            </a:r>
            <a:r>
              <a:rPr lang="sl-SI" altLang="en-US" sz="1800">
                <a:sym typeface="Symbol" panose="05050102010706020507" pitchFamily="18" charset="2"/>
              </a:rPr>
              <a:t>+1)</a:t>
            </a:r>
            <a:r>
              <a:rPr lang="sl-SI" altLang="en-US" sz="1800" i="1">
                <a:sym typeface="Symbol" panose="05050102010706020507" pitchFamily="18" charset="2"/>
              </a:rPr>
              <a:t>,</a:t>
            </a:r>
            <a:r>
              <a:rPr lang="sl-SI" altLang="en-US" sz="1800">
                <a:sym typeface="Symbol" panose="05050102010706020507" pitchFamily="18" charset="2"/>
              </a:rPr>
              <a:t> ki ga premikamo po desni sliki glede na izbrano dispariteto </a:t>
            </a:r>
            <a:r>
              <a:rPr lang="sl-SI" altLang="en-US" sz="1800" b="1">
                <a:sym typeface="Symbol" panose="05050102010706020507" pitchFamily="18" charset="2"/>
              </a:rPr>
              <a:t>d</a:t>
            </a:r>
            <a:r>
              <a:rPr lang="sl-SI" altLang="en-US" sz="1800">
                <a:sym typeface="Symbol" panose="05050102010706020507" pitchFamily="18" charset="2"/>
              </a:rPr>
              <a:t>=(</a:t>
            </a:r>
            <a:r>
              <a:rPr lang="sl-SI" altLang="en-US" sz="1800" i="1">
                <a:sym typeface="Symbol" panose="05050102010706020507" pitchFamily="18" charset="2"/>
              </a:rPr>
              <a:t>d</a:t>
            </a:r>
            <a:r>
              <a:rPr lang="sl-SI" altLang="en-US" sz="1800" baseline="-25000">
                <a:sym typeface="Symbol" panose="05050102010706020507" pitchFamily="18" charset="2"/>
              </a:rPr>
              <a:t>x</a:t>
            </a:r>
            <a:r>
              <a:rPr lang="sl-SI" altLang="en-US" sz="1800">
                <a:sym typeface="Symbol" panose="05050102010706020507" pitchFamily="18" charset="2"/>
              </a:rPr>
              <a:t>,</a:t>
            </a:r>
            <a:r>
              <a:rPr lang="sl-SI" altLang="en-US" sz="1800" i="1">
                <a:sym typeface="Symbol" panose="05050102010706020507" pitchFamily="18" charset="2"/>
              </a:rPr>
              <a:t>d</a:t>
            </a:r>
            <a:r>
              <a:rPr lang="sl-SI" altLang="en-US" sz="1800" baseline="-25000">
                <a:sym typeface="Symbol" panose="05050102010706020507" pitchFamily="18" charset="2"/>
              </a:rPr>
              <a:t>y</a:t>
            </a:r>
            <a:r>
              <a:rPr lang="sl-SI" altLang="en-US" sz="1800">
                <a:sym typeface="Symbol" panose="05050102010706020507" pitchFamily="18" charset="2"/>
              </a:rPr>
              <a:t>):</a:t>
            </a:r>
          </a:p>
          <a:p>
            <a:pPr eaLnBrk="1" hangingPunct="1">
              <a:spcBef>
                <a:spcPts val="600"/>
              </a:spcBef>
              <a:buFontTx/>
              <a:buNone/>
            </a:pPr>
            <a:endParaRPr lang="sl-SI" altLang="en-US" sz="1800"/>
          </a:p>
          <a:p>
            <a:pPr eaLnBrk="1" hangingPunct="1">
              <a:spcBef>
                <a:spcPts val="600"/>
              </a:spcBef>
              <a:buFontTx/>
              <a:buNone/>
            </a:pPr>
            <a:endParaRPr lang="sl-SI" altLang="en-US" sz="1800"/>
          </a:p>
          <a:p>
            <a:pPr eaLnBrk="1" hangingPunct="1">
              <a:spcBef>
                <a:spcPts val="600"/>
              </a:spcBef>
              <a:buFontTx/>
              <a:buNone/>
            </a:pPr>
            <a:endParaRPr lang="sl-SI" altLang="en-US" sz="1800"/>
          </a:p>
          <a:p>
            <a:pPr eaLnBrk="1" hangingPunct="1">
              <a:spcBef>
                <a:spcPct val="0"/>
              </a:spcBef>
              <a:buFontTx/>
              <a:buNone/>
            </a:pPr>
            <a:r>
              <a:rPr lang="sl-SI" altLang="en-US" sz="1800"/>
              <a:t>	pri čemer pomenijo </a:t>
            </a:r>
            <a:r>
              <a:rPr lang="sl-SI" altLang="en-US" sz="1800" i="1"/>
              <a:t>w</a:t>
            </a:r>
            <a:r>
              <a:rPr lang="sl-SI" altLang="en-US" sz="1800" i="1" baseline="-25000"/>
              <a:t>i</a:t>
            </a:r>
            <a:r>
              <a:rPr lang="sl-SI" altLang="en-US" sz="1800"/>
              <a:t> ustrezne uteži, </a:t>
            </a:r>
            <a:r>
              <a:rPr lang="sl-SI" altLang="en-US" sz="1800" i="1"/>
              <a:t>N</a:t>
            </a:r>
            <a:r>
              <a:rPr lang="sl-SI" altLang="en-US" sz="1800" i="1" baseline="-25000"/>
              <a:t>f</a:t>
            </a:r>
            <a:r>
              <a:rPr lang="sl-SI" altLang="en-US" sz="1800"/>
              <a:t> pa število značilnic.</a:t>
            </a:r>
          </a:p>
          <a:p>
            <a:pPr eaLnBrk="1" hangingPunct="1">
              <a:spcBef>
                <a:spcPts val="600"/>
              </a:spcBef>
              <a:buFontTx/>
              <a:buAutoNum type="arabicPeriod" startAt="4"/>
            </a:pPr>
            <a:r>
              <a:rPr lang="sl-SI" altLang="en-US" sz="1800"/>
              <a:t>Dispariteto opredelimo z največjo izračunano podobnostjo:</a:t>
            </a:r>
          </a:p>
          <a:p>
            <a:pPr eaLnBrk="1" hangingPunct="1">
              <a:spcBef>
                <a:spcPts val="600"/>
              </a:spcBef>
              <a:buFontTx/>
              <a:buAutoNum type="arabicPeriod" startAt="4"/>
            </a:pPr>
            <a:endParaRPr lang="sl-SI" altLang="en-US" sz="1800"/>
          </a:p>
          <a:p>
            <a:pPr eaLnBrk="1" hangingPunct="1">
              <a:spcBef>
                <a:spcPts val="1800"/>
              </a:spcBef>
              <a:buFontTx/>
              <a:buAutoNum type="arabicPeriod" startAt="4"/>
            </a:pPr>
            <a:r>
              <a:rPr lang="sl-SI" altLang="en-US" sz="1800">
                <a:solidFill>
                  <a:srgbClr val="0000FF"/>
                </a:solidFill>
              </a:rPr>
              <a:t>Če smo sliki najprej izravnali:</a:t>
            </a:r>
          </a:p>
          <a:p>
            <a:pPr lvl="1" eaLnBrk="1" hangingPunct="1">
              <a:spcBef>
                <a:spcPct val="0"/>
              </a:spcBef>
              <a:buFont typeface="Arial" panose="020B0604020202020204" pitchFamily="34" charset="0"/>
              <a:buChar char="•"/>
            </a:pPr>
            <a:r>
              <a:rPr lang="sl-SI" altLang="en-US" sz="1800">
                <a:solidFill>
                  <a:srgbClr val="0000FF"/>
                </a:solidFill>
              </a:rPr>
              <a:t>dispariteto iščemo le vzdolž tiste vrstice (s spreminjanjem </a:t>
            </a:r>
            <a:r>
              <a:rPr lang="sl-SI" altLang="en-US" sz="1800" i="1">
                <a:solidFill>
                  <a:srgbClr val="0000FF"/>
                </a:solidFill>
              </a:rPr>
              <a:t>d</a:t>
            </a:r>
            <a:r>
              <a:rPr lang="sl-SI" altLang="en-US" sz="1800" i="1" baseline="-25000">
                <a:solidFill>
                  <a:srgbClr val="0000FF"/>
                </a:solidFill>
              </a:rPr>
              <a:t>y</a:t>
            </a:r>
            <a:r>
              <a:rPr lang="sl-SI" altLang="en-US" sz="1800">
                <a:solidFill>
                  <a:srgbClr val="0000FF"/>
                </a:solidFill>
              </a:rPr>
              <a:t>) na desni sliki, v kateri smo izbrali izhodiščne značilnice </a:t>
            </a:r>
            <a:r>
              <a:rPr lang="sl-SI" altLang="en-US" sz="1800" b="1">
                <a:solidFill>
                  <a:srgbClr val="0000FF"/>
                </a:solidFill>
              </a:rPr>
              <a:t>f</a:t>
            </a:r>
            <a:r>
              <a:rPr lang="sl-SI" altLang="en-US" sz="1800" i="1" baseline="-25000">
                <a:solidFill>
                  <a:srgbClr val="0000FF"/>
                </a:solidFill>
              </a:rPr>
              <a:t>l</a:t>
            </a:r>
            <a:r>
              <a:rPr lang="sl-SI" altLang="en-US" sz="1800">
                <a:solidFill>
                  <a:srgbClr val="0000FF"/>
                </a:solidFill>
              </a:rPr>
              <a:t> na levi sliki.</a:t>
            </a:r>
          </a:p>
        </p:txBody>
      </p:sp>
      <p:sp>
        <p:nvSpPr>
          <p:cNvPr id="220166"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2016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20168" name="Object 3"/>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20198" name="Equation" r:id="rId4" imgW="384378" imgH="720709" progId="Equation.3">
                  <p:embed/>
                </p:oleObj>
              </mc:Choice>
              <mc:Fallback>
                <p:oleObj name="Equation" r:id="rId4" imgW="384378" imgH="72070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20169" name="Slika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2865438"/>
            <a:ext cx="28575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0170" name="Slika 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042988" y="4581525"/>
            <a:ext cx="16049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222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57C502F-D385-4B61-89D8-498397604707}" type="slidenum">
              <a:rPr lang="en-GB" altLang="en-US" sz="1400" smtClean="0"/>
              <a:pPr>
                <a:spcBef>
                  <a:spcPct val="0"/>
                </a:spcBef>
                <a:buFontTx/>
                <a:buNone/>
              </a:pPr>
              <a:t>111</a:t>
            </a:fld>
            <a:endParaRPr lang="en-GB" altLang="en-US" sz="1400"/>
          </a:p>
        </p:txBody>
      </p:sp>
      <p:sp>
        <p:nvSpPr>
          <p:cNvPr id="222212"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PRIMERJAVA MED ISKANJI KORESPONDENCE S KORELACIJO IN Z ZNAČILNICAMI</a:t>
            </a:r>
            <a:endParaRPr lang="en-GB" altLang="en-US" sz="2000"/>
          </a:p>
        </p:txBody>
      </p:sp>
      <p:sp>
        <p:nvSpPr>
          <p:cNvPr id="22221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2221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2221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22244"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10"/>
          <p:cNvSpPr/>
          <p:nvPr/>
        </p:nvSpPr>
        <p:spPr>
          <a:xfrm>
            <a:off x="900113" y="1268413"/>
            <a:ext cx="7704137" cy="4819650"/>
          </a:xfrm>
          <a:prstGeom prst="rect">
            <a:avLst/>
          </a:prstGeom>
        </p:spPr>
        <p:txBody>
          <a:bodyPr>
            <a:spAutoFit/>
          </a:bodyPr>
          <a:lstStyle/>
          <a:p>
            <a:pPr marL="342900" indent="-342900" eaLnBrk="1" hangingPunct="1">
              <a:spcBef>
                <a:spcPct val="20000"/>
              </a:spcBef>
              <a:buClr>
                <a:srgbClr val="000000"/>
              </a:buClr>
              <a:buFontTx/>
              <a:buChar char="•"/>
              <a:defRPr/>
            </a:pPr>
            <a:r>
              <a:rPr lang="sl-SI" dirty="0">
                <a:latin typeface="Arial" charset="0"/>
                <a:cs typeface="Arial" charset="0"/>
              </a:rPr>
              <a:t>Metode s korelacijo:</a:t>
            </a:r>
            <a:endParaRPr lang="en-US" dirty="0">
              <a:latin typeface="Arial" charset="0"/>
              <a:cs typeface="Arial" charset="0"/>
            </a:endParaRPr>
          </a:p>
          <a:p>
            <a:pPr marL="742950" lvl="1" indent="-285750" eaLnBrk="1" hangingPunct="1">
              <a:spcBef>
                <a:spcPct val="20000"/>
              </a:spcBef>
              <a:buClr>
                <a:srgbClr val="000000"/>
              </a:buClr>
              <a:buFont typeface="Arial" charset="0"/>
              <a:buChar char="−"/>
              <a:defRPr/>
            </a:pPr>
            <a:r>
              <a:rPr lang="sl-SI" sz="1600" dirty="0">
                <a:latin typeface="Arial" charset="0"/>
                <a:cs typeface="Arial" charset="0"/>
              </a:rPr>
              <a:t>laže se izvedejo</a:t>
            </a:r>
            <a:endParaRPr lang="en-US" sz="1600" dirty="0">
              <a:latin typeface="Arial" charset="0"/>
              <a:cs typeface="Arial" charset="0"/>
            </a:endParaRPr>
          </a:p>
          <a:p>
            <a:pPr marL="742950" lvl="1" indent="-285750" eaLnBrk="1" hangingPunct="1">
              <a:spcBef>
                <a:spcPct val="20000"/>
              </a:spcBef>
              <a:buClr>
                <a:srgbClr val="000000"/>
              </a:buClr>
              <a:buFont typeface="Arial" charset="0"/>
              <a:buChar char="−"/>
              <a:defRPr/>
            </a:pPr>
            <a:r>
              <a:rPr lang="sl-SI" sz="1600" dirty="0">
                <a:latin typeface="Arial" charset="0"/>
                <a:cs typeface="Arial" charset="0"/>
              </a:rPr>
              <a:t>tvorijo </a:t>
            </a:r>
            <a:r>
              <a:rPr lang="sl-SI" sz="1600" dirty="0">
                <a:solidFill>
                  <a:srgbClr val="FF0000"/>
                </a:solidFill>
                <a:latin typeface="Arial" charset="0"/>
                <a:cs typeface="Arial" charset="0"/>
              </a:rPr>
              <a:t>gostejše</a:t>
            </a:r>
            <a:r>
              <a:rPr lang="en-US" sz="1600" dirty="0">
                <a:latin typeface="Arial" charset="0"/>
                <a:cs typeface="Arial" charset="0"/>
              </a:rPr>
              <a:t> </a:t>
            </a:r>
            <a:r>
              <a:rPr lang="sl-SI" sz="1600" dirty="0">
                <a:latin typeface="Arial" charset="0"/>
                <a:cs typeface="Arial" charset="0"/>
              </a:rPr>
              <a:t>mreže </a:t>
            </a:r>
            <a:r>
              <a:rPr lang="en-US" sz="1600" dirty="0" err="1">
                <a:latin typeface="Arial" charset="0"/>
                <a:cs typeface="Arial" charset="0"/>
              </a:rPr>
              <a:t>disparit</a:t>
            </a:r>
            <a:r>
              <a:rPr lang="sl-SI" sz="1600" dirty="0" err="1">
                <a:latin typeface="Arial" charset="0"/>
                <a:cs typeface="Arial" charset="0"/>
              </a:rPr>
              <a:t>et</a:t>
            </a:r>
            <a:r>
              <a:rPr lang="en-US" sz="1600" dirty="0">
                <a:latin typeface="Arial" charset="0"/>
                <a:cs typeface="Arial" charset="0"/>
              </a:rPr>
              <a:t>  (</a:t>
            </a:r>
            <a:r>
              <a:rPr lang="sl-SI" sz="1600" dirty="0">
                <a:latin typeface="Arial" charset="0"/>
                <a:cs typeface="Arial" charset="0"/>
              </a:rPr>
              <a:t>koristno pri rekonstrukciji površin</a:t>
            </a:r>
            <a:r>
              <a:rPr lang="en-US" sz="1600" dirty="0">
                <a:latin typeface="Arial" charset="0"/>
                <a:cs typeface="Arial" charset="0"/>
              </a:rPr>
              <a:t>)</a:t>
            </a:r>
          </a:p>
          <a:p>
            <a:pPr marL="742950" lvl="1" indent="-285750" eaLnBrk="1" hangingPunct="1">
              <a:spcBef>
                <a:spcPct val="20000"/>
              </a:spcBef>
              <a:buClr>
                <a:srgbClr val="000000"/>
              </a:buClr>
              <a:buFont typeface="Arial" charset="0"/>
              <a:buChar char="−"/>
              <a:defRPr/>
            </a:pPr>
            <a:r>
              <a:rPr lang="sl-SI" sz="1600" dirty="0">
                <a:latin typeface="Arial" charset="0"/>
                <a:cs typeface="Arial" charset="0"/>
              </a:rPr>
              <a:t>potrebujemo slike z izraženimi teksturami</a:t>
            </a:r>
            <a:r>
              <a:rPr lang="en-US" sz="1600" dirty="0">
                <a:latin typeface="Arial" charset="0"/>
                <a:cs typeface="Arial" charset="0"/>
              </a:rPr>
              <a:t> (</a:t>
            </a:r>
            <a:r>
              <a:rPr lang="sl-SI" sz="1600" dirty="0">
                <a:latin typeface="Arial" charset="0"/>
                <a:cs typeface="Arial" charset="0"/>
              </a:rPr>
              <a:t>drugače imamo mnogo napačnih ujemanj</a:t>
            </a:r>
            <a:r>
              <a:rPr lang="en-US" sz="1600" dirty="0">
                <a:latin typeface="Arial" charset="0"/>
                <a:cs typeface="Arial" charset="0"/>
              </a:rPr>
              <a:t>)</a:t>
            </a:r>
          </a:p>
          <a:p>
            <a:pPr marL="742950" lvl="1" indent="-285750" eaLnBrk="1" hangingPunct="1">
              <a:spcBef>
                <a:spcPct val="20000"/>
              </a:spcBef>
              <a:buClr>
                <a:srgbClr val="000000"/>
              </a:buClr>
              <a:buFont typeface="Arial" charset="0"/>
              <a:buChar char="−"/>
              <a:defRPr/>
            </a:pPr>
            <a:r>
              <a:rPr lang="sl-SI" sz="1600" dirty="0">
                <a:latin typeface="Arial" charset="0"/>
                <a:cs typeface="Arial" charset="0"/>
              </a:rPr>
              <a:t>če se zorni koti zelo razlikujejo, ne deluje dobro, ker:</a:t>
            </a:r>
          </a:p>
          <a:p>
            <a:pPr marL="1200150" lvl="2" indent="-285750" eaLnBrk="1" hangingPunct="1">
              <a:spcBef>
                <a:spcPct val="20000"/>
              </a:spcBef>
              <a:buClr>
                <a:srgbClr val="000000"/>
              </a:buClr>
              <a:buFont typeface="Arial" charset="0"/>
              <a:buChar char="−"/>
              <a:defRPr/>
            </a:pPr>
            <a:r>
              <a:rPr lang="sl-SI" sz="1400" dirty="0">
                <a:latin typeface="Arial" charset="0"/>
                <a:cs typeface="Arial" charset="0"/>
              </a:rPr>
              <a:t>zaradi sprememb v smereh osvetlitve</a:t>
            </a:r>
            <a:endParaRPr lang="en-US" sz="1400" dirty="0">
              <a:latin typeface="Arial" charset="0"/>
              <a:cs typeface="Arial" charset="0"/>
            </a:endParaRPr>
          </a:p>
          <a:p>
            <a:pPr marL="1600200" lvl="3" indent="-228600" eaLnBrk="1" hangingPunct="1">
              <a:spcBef>
                <a:spcPct val="20000"/>
              </a:spcBef>
              <a:buClr>
                <a:srgbClr val="000000"/>
              </a:buClr>
              <a:buFont typeface="Arial" charset="0"/>
              <a:buChar char="−"/>
              <a:defRPr/>
            </a:pPr>
            <a:r>
              <a:rPr lang="sl-SI" sz="1400" dirty="0">
                <a:latin typeface="Arial" charset="0"/>
                <a:cs typeface="Arial" charset="0"/>
              </a:rPr>
              <a:t>predmeti nimajo idealnih odbojnih površin</a:t>
            </a:r>
            <a:endParaRPr lang="en-US" sz="1400" dirty="0">
              <a:latin typeface="Arial" charset="0"/>
              <a:cs typeface="Arial" charset="0"/>
            </a:endParaRPr>
          </a:p>
          <a:p>
            <a:pPr marL="1143000" lvl="2" indent="-228600" eaLnBrk="1" hangingPunct="1">
              <a:spcBef>
                <a:spcPct val="20000"/>
              </a:spcBef>
              <a:buClr>
                <a:srgbClr val="000000"/>
              </a:buClr>
              <a:buFont typeface="Arial" charset="0"/>
              <a:buChar char="−"/>
              <a:defRPr/>
            </a:pPr>
            <a:r>
              <a:rPr lang="sl-SI" sz="1400" dirty="0">
                <a:latin typeface="Arial" charset="0"/>
                <a:cs typeface="Arial" charset="0"/>
              </a:rPr>
              <a:t>zaradi spreminjanja dolžin </a:t>
            </a:r>
            <a:endParaRPr lang="en-US" sz="1400" dirty="0">
              <a:latin typeface="Arial" charset="0"/>
              <a:cs typeface="Arial" charset="0"/>
            </a:endParaRPr>
          </a:p>
          <a:p>
            <a:pPr marL="1600200" lvl="3" indent="-228600" eaLnBrk="1" hangingPunct="1">
              <a:spcBef>
                <a:spcPct val="20000"/>
              </a:spcBef>
              <a:buClr>
                <a:srgbClr val="000000"/>
              </a:buClr>
              <a:buFont typeface="Arial" charset="0"/>
              <a:buChar char="−"/>
              <a:defRPr/>
            </a:pPr>
            <a:r>
              <a:rPr lang="en-US" sz="1400" dirty="0">
                <a:latin typeface="Arial" charset="0"/>
                <a:cs typeface="Arial" charset="0"/>
              </a:rPr>
              <a:t>problem </a:t>
            </a:r>
            <a:r>
              <a:rPr lang="sl-SI" sz="1400" dirty="0">
                <a:latin typeface="Arial" charset="0"/>
                <a:cs typeface="Arial" charset="0"/>
              </a:rPr>
              <a:t>perspektive, ker površine predmetov niso ravne in pravokotne na optično os kamere</a:t>
            </a:r>
          </a:p>
          <a:p>
            <a:pPr marL="342900" indent="-342900" eaLnBrk="1" hangingPunct="1">
              <a:spcBef>
                <a:spcPct val="20000"/>
              </a:spcBef>
              <a:buClr>
                <a:srgbClr val="000000"/>
              </a:buClr>
              <a:buFontTx/>
              <a:buChar char="•"/>
              <a:defRPr/>
            </a:pPr>
            <a:r>
              <a:rPr lang="sl-SI" dirty="0">
                <a:latin typeface="Arial" charset="0"/>
                <a:cs typeface="Arial" charset="0"/>
              </a:rPr>
              <a:t>Metode z značilnicami:</a:t>
            </a:r>
            <a:endParaRPr lang="en-US" dirty="0">
              <a:latin typeface="Arial" charset="0"/>
              <a:cs typeface="Arial" charset="0"/>
            </a:endParaRPr>
          </a:p>
          <a:p>
            <a:pPr marL="742950" lvl="1" indent="-285750" eaLnBrk="1" hangingPunct="1">
              <a:spcBef>
                <a:spcPct val="20000"/>
              </a:spcBef>
              <a:buClr>
                <a:srgbClr val="000000"/>
              </a:buClr>
              <a:buFont typeface="Arial" charset="0"/>
              <a:buChar char="−"/>
              <a:defRPr/>
            </a:pPr>
            <a:r>
              <a:rPr lang="sl-SI" sz="1600" dirty="0">
                <a:latin typeface="Arial" charset="0"/>
                <a:cs typeface="Arial" charset="0"/>
              </a:rPr>
              <a:t>primerne, če lahko v sceni najdemo zanesljive značilnice</a:t>
            </a:r>
            <a:endParaRPr lang="en-US" sz="1600" dirty="0">
              <a:latin typeface="Arial" charset="0"/>
              <a:cs typeface="Arial" charset="0"/>
            </a:endParaRPr>
          </a:p>
          <a:p>
            <a:pPr marL="742950" lvl="1" indent="-285750" eaLnBrk="1" hangingPunct="1">
              <a:spcBef>
                <a:spcPct val="20000"/>
              </a:spcBef>
              <a:buClr>
                <a:srgbClr val="000000"/>
              </a:buClr>
              <a:buFont typeface="Arial" charset="0"/>
              <a:buChar char="−"/>
              <a:defRPr/>
            </a:pPr>
            <a:r>
              <a:rPr lang="sl-SI" sz="1600" dirty="0">
                <a:latin typeface="Arial" charset="0"/>
                <a:cs typeface="Arial" charset="0"/>
              </a:rPr>
              <a:t>so hitrejše od korelacijskih metod</a:t>
            </a:r>
            <a:endParaRPr lang="en-US" sz="1600" dirty="0">
              <a:latin typeface="Arial" charset="0"/>
              <a:cs typeface="Arial" charset="0"/>
            </a:endParaRPr>
          </a:p>
          <a:p>
            <a:pPr marL="742950" lvl="1" indent="-285750" eaLnBrk="1" hangingPunct="1">
              <a:spcBef>
                <a:spcPct val="20000"/>
              </a:spcBef>
              <a:buClr>
                <a:srgbClr val="000000"/>
              </a:buClr>
              <a:buFont typeface="Arial" charset="0"/>
              <a:buChar char="−"/>
              <a:defRPr/>
            </a:pPr>
            <a:r>
              <a:rPr lang="sl-SI" sz="1600" dirty="0">
                <a:latin typeface="Arial" charset="0"/>
                <a:cs typeface="Arial" charset="0"/>
              </a:rPr>
              <a:t>pripeljejo do</a:t>
            </a:r>
            <a:r>
              <a:rPr lang="en-US" sz="1600" dirty="0">
                <a:latin typeface="Arial" charset="0"/>
                <a:cs typeface="Arial" charset="0"/>
              </a:rPr>
              <a:t> </a:t>
            </a:r>
            <a:r>
              <a:rPr lang="sl-SI" sz="1600" dirty="0">
                <a:solidFill>
                  <a:srgbClr val="FF0000"/>
                </a:solidFill>
                <a:latin typeface="Arial" charset="0"/>
                <a:cs typeface="Arial" charset="0"/>
              </a:rPr>
              <a:t>redkih</a:t>
            </a:r>
            <a:r>
              <a:rPr lang="en-US" sz="1600" dirty="0">
                <a:latin typeface="Arial" charset="0"/>
                <a:cs typeface="Arial" charset="0"/>
              </a:rPr>
              <a:t> </a:t>
            </a:r>
            <a:r>
              <a:rPr lang="en-US" sz="1600" dirty="0" err="1">
                <a:latin typeface="Arial" charset="0"/>
                <a:cs typeface="Arial" charset="0"/>
              </a:rPr>
              <a:t>disparit</a:t>
            </a:r>
            <a:r>
              <a:rPr lang="sl-SI" sz="1600" dirty="0" err="1">
                <a:latin typeface="Arial" charset="0"/>
                <a:cs typeface="Arial" charset="0"/>
              </a:rPr>
              <a:t>etnih</a:t>
            </a:r>
            <a:r>
              <a:rPr lang="sl-SI" sz="1600" dirty="0">
                <a:latin typeface="Arial" charset="0"/>
                <a:cs typeface="Arial" charset="0"/>
              </a:rPr>
              <a:t> mrež</a:t>
            </a:r>
            <a:r>
              <a:rPr lang="en-US" sz="1600" dirty="0">
                <a:latin typeface="Arial" charset="0"/>
                <a:cs typeface="Arial" charset="0"/>
              </a:rPr>
              <a:t> </a:t>
            </a:r>
          </a:p>
          <a:p>
            <a:pPr marL="1143000" lvl="2" indent="-228600" eaLnBrk="1" hangingPunct="1">
              <a:spcBef>
                <a:spcPct val="20000"/>
              </a:spcBef>
              <a:buClr>
                <a:srgbClr val="000000"/>
              </a:buClr>
              <a:buFont typeface="Arial" charset="0"/>
              <a:buChar char="−"/>
              <a:defRPr/>
            </a:pPr>
            <a:r>
              <a:rPr lang="sl-SI" sz="1400" dirty="0">
                <a:latin typeface="Arial" charset="0"/>
                <a:cs typeface="Arial" charset="0"/>
              </a:rPr>
              <a:t>sprejemljivo za navigacijo</a:t>
            </a:r>
            <a:endParaRPr lang="en-US" sz="1400" dirty="0">
              <a:latin typeface="Arial" charset="0"/>
              <a:cs typeface="Arial" charset="0"/>
            </a:endParaRPr>
          </a:p>
          <a:p>
            <a:pPr marL="742950" lvl="1" indent="-285750" eaLnBrk="1" hangingPunct="1">
              <a:spcBef>
                <a:spcPct val="20000"/>
              </a:spcBef>
              <a:buClr>
                <a:srgbClr val="000000"/>
              </a:buClr>
              <a:buFont typeface="Arial" charset="0"/>
              <a:buChar char="−"/>
              <a:defRPr/>
            </a:pPr>
            <a:r>
              <a:rPr lang="sl-SI" sz="1600" dirty="0">
                <a:latin typeface="Arial" charset="0"/>
                <a:cs typeface="Arial" charset="0"/>
              </a:rPr>
              <a:t>so precej neobčutljive na spremenljivo osvetlitev</a:t>
            </a:r>
            <a:endParaRPr lang="en-US" sz="1600" dirty="0">
              <a:latin typeface="Arial" charset="0"/>
              <a:cs typeface="Arial" charset="0"/>
            </a:endParaRPr>
          </a:p>
        </p:txBody>
      </p:sp>
    </p:spTree>
  </p:cSld>
  <p:clrMapOvr>
    <a:masterClrMapping/>
  </p:clrMapOvr>
  <p:transition>
    <p:cove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2425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CB065DE-5C14-4069-9EFD-5051B1CBB00B}" type="slidenum">
              <a:rPr lang="en-GB" altLang="en-US" sz="1400" smtClean="0"/>
              <a:pPr>
                <a:spcBef>
                  <a:spcPct val="0"/>
                </a:spcBef>
                <a:buFontTx/>
                <a:buNone/>
              </a:pPr>
              <a:t>112</a:t>
            </a:fld>
            <a:endParaRPr lang="en-GB" altLang="en-US" sz="1400"/>
          </a:p>
        </p:txBody>
      </p:sp>
      <p:sp>
        <p:nvSpPr>
          <p:cNvPr id="224260"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Primer globinske slike pri iskanju korespondence s prečno korelacijo</a:t>
            </a:r>
            <a:endParaRPr lang="en-GB" altLang="en-US" sz="2000"/>
          </a:p>
        </p:txBody>
      </p:sp>
      <p:sp>
        <p:nvSpPr>
          <p:cNvPr id="224261" name="TextBox 5"/>
          <p:cNvSpPr txBox="1">
            <a:spLocks noChangeArrowheads="1"/>
          </p:cNvSpPr>
          <p:nvPr/>
        </p:nvSpPr>
        <p:spPr bwMode="auto">
          <a:xfrm>
            <a:off x="827088" y="4292600"/>
            <a:ext cx="35290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lvl="1" algn="ctr" eaLnBrk="1" hangingPunct="1">
              <a:spcBef>
                <a:spcPts val="600"/>
              </a:spcBef>
              <a:buFontTx/>
              <a:buNone/>
            </a:pPr>
            <a:r>
              <a:rPr lang="sl-SI" altLang="en-US" sz="1600"/>
              <a:t>Originalna slika</a:t>
            </a:r>
          </a:p>
        </p:txBody>
      </p:sp>
      <p:sp>
        <p:nvSpPr>
          <p:cNvPr id="224262"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2426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224264" name="Picture 4" descr="scen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488" y="1600200"/>
            <a:ext cx="3494087"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4265" name="Picture 5" descr="out-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7288" y="1600200"/>
            <a:ext cx="3492500"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66" name="Rectangle 9"/>
          <p:cNvSpPr>
            <a:spLocks noChangeArrowheads="1"/>
          </p:cNvSpPr>
          <p:nvPr/>
        </p:nvSpPr>
        <p:spPr bwMode="auto">
          <a:xfrm>
            <a:off x="4960938" y="4306888"/>
            <a:ext cx="352901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lvl="1" algn="ctr" eaLnBrk="1" hangingPunct="1">
              <a:spcBef>
                <a:spcPts val="600"/>
              </a:spcBef>
              <a:buFontTx/>
              <a:buNone/>
            </a:pPr>
            <a:r>
              <a:rPr lang="sl-SI" altLang="en-US" sz="1600">
                <a:solidFill>
                  <a:srgbClr val="0000FF"/>
                </a:solidFill>
              </a:rPr>
              <a:t>Globinska slika: korespondenca dobljena s prečno korelacijo; temnejša območja pomenijo večjo oddaljenost od kamere, črno označena pa predele, kjer se globina ni dala določiti.</a:t>
            </a:r>
          </a:p>
        </p:txBody>
      </p:sp>
    </p:spTree>
  </p:cSld>
  <p:clrMapOvr>
    <a:masterClrMapping/>
  </p:clrMapOvr>
  <p:transition>
    <p:cove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263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DEC83E4-218C-4A68-B4B9-5737E7F424C3}" type="slidenum">
              <a:rPr lang="en-GB" altLang="en-US" sz="1400" smtClean="0"/>
              <a:pPr>
                <a:spcBef>
                  <a:spcPct val="0"/>
                </a:spcBef>
                <a:buFontTx/>
                <a:buNone/>
              </a:pPr>
              <a:t>113</a:t>
            </a:fld>
            <a:endParaRPr lang="en-GB" altLang="en-US" sz="1400"/>
          </a:p>
        </p:txBody>
      </p:sp>
      <p:sp>
        <p:nvSpPr>
          <p:cNvPr id="226308"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UPORABA</a:t>
            </a:r>
            <a:r>
              <a:rPr lang="en-US" altLang="en-US" sz="2800" b="1"/>
              <a:t> STEREO VIDA</a:t>
            </a:r>
            <a:endParaRPr lang="en-GB" altLang="en-US" sz="2000"/>
          </a:p>
        </p:txBody>
      </p:sp>
      <p:sp>
        <p:nvSpPr>
          <p:cNvPr id="226309" name="TextBox 5"/>
          <p:cNvSpPr txBox="1">
            <a:spLocks noChangeArrowheads="1"/>
          </p:cNvSpPr>
          <p:nvPr/>
        </p:nvSpPr>
        <p:spPr bwMode="auto">
          <a:xfrm>
            <a:off x="611188" y="1155700"/>
            <a:ext cx="7989887"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074738" indent="-160338"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lvl="1" eaLnBrk="1" hangingPunct="1">
              <a:lnSpc>
                <a:spcPct val="90000"/>
              </a:lnSpc>
              <a:spcBef>
                <a:spcPts val="600"/>
              </a:spcBef>
              <a:buFont typeface="Arial" panose="020B0604020202020204" pitchFamily="34" charset="0"/>
              <a:buAutoNum type="arabicPeriod"/>
            </a:pPr>
            <a:r>
              <a:rPr lang="sl-SI" altLang="ko-KR" sz="1800">
                <a:ea typeface="Gulim"/>
                <a:cs typeface="Gulim"/>
              </a:rPr>
              <a:t>Letalsko</a:t>
            </a:r>
            <a:r>
              <a:rPr lang="en-US" altLang="ko-KR" sz="1800">
                <a:ea typeface="Gulim"/>
                <a:cs typeface="Gulim"/>
              </a:rPr>
              <a:t> kartiranje</a:t>
            </a:r>
          </a:p>
          <a:p>
            <a:pPr lvl="1" eaLnBrk="1" hangingPunct="1">
              <a:lnSpc>
                <a:spcPct val="90000"/>
              </a:lnSpc>
              <a:spcBef>
                <a:spcPts val="600"/>
              </a:spcBef>
              <a:buFont typeface="Arial" panose="020B0604020202020204" pitchFamily="34" charset="0"/>
              <a:buAutoNum type="arabicPeriod"/>
            </a:pPr>
            <a:r>
              <a:rPr lang="en-US" altLang="ko-KR" sz="1800">
                <a:ea typeface="Gulim"/>
                <a:cs typeface="Gulim"/>
              </a:rPr>
              <a:t>Foren</a:t>
            </a:r>
            <a:r>
              <a:rPr lang="sl-SI" altLang="ko-KR" sz="1800">
                <a:ea typeface="Gulim"/>
                <a:cs typeface="Gulim"/>
              </a:rPr>
              <a:t>zika</a:t>
            </a:r>
            <a:r>
              <a:rPr lang="en-US" altLang="ko-KR" sz="1800">
                <a:ea typeface="Gulim"/>
                <a:cs typeface="Gulim"/>
              </a:rPr>
              <a:t> – </a:t>
            </a:r>
            <a:r>
              <a:rPr lang="sl-SI" altLang="ko-KR" sz="1800">
                <a:solidFill>
                  <a:schemeClr val="accent2"/>
                </a:solidFill>
                <a:ea typeface="Gulim"/>
                <a:cs typeface="Gulim"/>
              </a:rPr>
              <a:t>scene zločinov</a:t>
            </a:r>
            <a:r>
              <a:rPr lang="en-US" altLang="ko-KR" sz="1800">
                <a:solidFill>
                  <a:schemeClr val="accent2"/>
                </a:solidFill>
                <a:ea typeface="Gulim"/>
                <a:cs typeface="Gulim"/>
              </a:rPr>
              <a:t>, </a:t>
            </a:r>
            <a:r>
              <a:rPr lang="sl-SI" altLang="ko-KR" sz="1800">
                <a:solidFill>
                  <a:schemeClr val="accent2"/>
                </a:solidFill>
                <a:ea typeface="Gulim"/>
                <a:cs typeface="Gulim"/>
              </a:rPr>
              <a:t>prometne nesreče</a:t>
            </a:r>
            <a:endParaRPr lang="en-US" altLang="ko-KR" sz="1800">
              <a:solidFill>
                <a:schemeClr val="accent2"/>
              </a:solidFill>
              <a:ea typeface="Gulim"/>
              <a:cs typeface="Gulim"/>
            </a:endParaRPr>
          </a:p>
          <a:p>
            <a:pPr lvl="1" eaLnBrk="1" hangingPunct="1">
              <a:lnSpc>
                <a:spcPct val="90000"/>
              </a:lnSpc>
              <a:spcBef>
                <a:spcPts val="600"/>
              </a:spcBef>
              <a:buFont typeface="Arial" panose="020B0604020202020204" pitchFamily="34" charset="0"/>
              <a:buAutoNum type="arabicPeriod"/>
            </a:pPr>
            <a:r>
              <a:rPr lang="sl-SI" altLang="ko-KR" sz="1800">
                <a:ea typeface="Gulim"/>
                <a:cs typeface="Gulim"/>
              </a:rPr>
              <a:t>Rudarstvo</a:t>
            </a:r>
            <a:r>
              <a:rPr lang="en-US" altLang="ko-KR" sz="1800">
                <a:ea typeface="Gulim"/>
                <a:cs typeface="Gulim"/>
              </a:rPr>
              <a:t> – </a:t>
            </a:r>
            <a:r>
              <a:rPr lang="sl-SI" altLang="ko-KR" sz="1800">
                <a:solidFill>
                  <a:schemeClr val="accent2"/>
                </a:solidFill>
                <a:ea typeface="Gulim"/>
                <a:cs typeface="Gulim"/>
              </a:rPr>
              <a:t>meritve odkopa</a:t>
            </a:r>
            <a:endParaRPr lang="en-US" altLang="ko-KR" sz="1800">
              <a:solidFill>
                <a:schemeClr val="accent2"/>
              </a:solidFill>
              <a:ea typeface="Gulim"/>
              <a:cs typeface="Gulim"/>
            </a:endParaRPr>
          </a:p>
          <a:p>
            <a:pPr lvl="1" eaLnBrk="1" hangingPunct="1">
              <a:lnSpc>
                <a:spcPct val="90000"/>
              </a:lnSpc>
              <a:spcBef>
                <a:spcPts val="600"/>
              </a:spcBef>
              <a:buFont typeface="Arial" panose="020B0604020202020204" pitchFamily="34" charset="0"/>
              <a:buAutoNum type="arabicPeriod"/>
            </a:pPr>
            <a:r>
              <a:rPr lang="sl-SI" altLang="ko-KR" sz="1800">
                <a:ea typeface="Gulim"/>
                <a:cs typeface="Gulim"/>
              </a:rPr>
              <a:t>Gradbeništvo </a:t>
            </a:r>
            <a:r>
              <a:rPr lang="en-US" altLang="ko-KR" sz="1800">
                <a:ea typeface="Gulim"/>
                <a:cs typeface="Gulim"/>
              </a:rPr>
              <a:t>– </a:t>
            </a:r>
            <a:r>
              <a:rPr lang="sl-SI" altLang="ko-KR" sz="1800">
                <a:solidFill>
                  <a:schemeClr val="accent2"/>
                </a:solidFill>
                <a:ea typeface="Gulim"/>
                <a:cs typeface="Gulim"/>
              </a:rPr>
              <a:t>opazovanje struktur</a:t>
            </a:r>
            <a:endParaRPr lang="en-US" altLang="ko-KR" sz="1800">
              <a:solidFill>
                <a:schemeClr val="accent2"/>
              </a:solidFill>
              <a:ea typeface="Gulim"/>
              <a:cs typeface="Gulim"/>
            </a:endParaRPr>
          </a:p>
          <a:p>
            <a:pPr lvl="1" eaLnBrk="1" hangingPunct="1">
              <a:lnSpc>
                <a:spcPct val="90000"/>
              </a:lnSpc>
              <a:spcBef>
                <a:spcPts val="600"/>
              </a:spcBef>
              <a:buFont typeface="Arial" panose="020B0604020202020204" pitchFamily="34" charset="0"/>
              <a:buAutoNum type="arabicPeriod"/>
            </a:pPr>
            <a:r>
              <a:rPr lang="sl-SI" altLang="ko-KR" sz="1800">
                <a:ea typeface="Gulim"/>
                <a:cs typeface="Gulim"/>
              </a:rPr>
              <a:t>Izogibanje trkom</a:t>
            </a:r>
          </a:p>
          <a:p>
            <a:pPr lvl="2" eaLnBrk="1" hangingPunct="1">
              <a:lnSpc>
                <a:spcPct val="90000"/>
              </a:lnSpc>
              <a:spcBef>
                <a:spcPts val="600"/>
              </a:spcBef>
            </a:pPr>
            <a:r>
              <a:rPr lang="sl-SI" altLang="ko-KR" sz="1800">
                <a:solidFill>
                  <a:srgbClr val="FF9933"/>
                </a:solidFill>
                <a:ea typeface="Gulim"/>
                <a:cs typeface="Gulim"/>
              </a:rPr>
              <a:t> aktivne metode zaznavanja (radar, sonar) so primerne le za nenatrpane, “redke” scene</a:t>
            </a:r>
          </a:p>
          <a:p>
            <a:pPr lvl="2" eaLnBrk="1" hangingPunct="1">
              <a:lnSpc>
                <a:spcPct val="90000"/>
              </a:lnSpc>
              <a:spcBef>
                <a:spcPts val="600"/>
              </a:spcBef>
            </a:pPr>
            <a:r>
              <a:rPr lang="sl-SI" altLang="ko-KR" sz="1800">
                <a:solidFill>
                  <a:srgbClr val="FF9933"/>
                </a:solidFill>
                <a:ea typeface="Gulim"/>
                <a:cs typeface="Gulim"/>
              </a:rPr>
              <a:t>potrebno je realnočasovno delovanje</a:t>
            </a:r>
            <a:endParaRPr lang="en-US" altLang="ko-KR" sz="1800">
              <a:solidFill>
                <a:srgbClr val="FF9933"/>
              </a:solidFill>
              <a:ea typeface="Gulim"/>
              <a:cs typeface="Gulim"/>
            </a:endParaRPr>
          </a:p>
          <a:p>
            <a:pPr lvl="2" eaLnBrk="1" hangingPunct="1">
              <a:lnSpc>
                <a:spcPct val="90000"/>
              </a:lnSpc>
              <a:spcBef>
                <a:spcPts val="600"/>
              </a:spcBef>
            </a:pPr>
            <a:r>
              <a:rPr lang="sl-SI" altLang="ko-KR" sz="1800">
                <a:solidFill>
                  <a:srgbClr val="FF9933"/>
                </a:solidFill>
                <a:ea typeface="Gulim"/>
                <a:cs typeface="Gulim"/>
              </a:rPr>
              <a:t>natančno določanje globine je kritično</a:t>
            </a:r>
            <a:endParaRPr lang="en-US" altLang="ko-KR" sz="1800">
              <a:solidFill>
                <a:srgbClr val="FF9933"/>
              </a:solidFill>
              <a:ea typeface="Gulim"/>
              <a:cs typeface="Gulim"/>
            </a:endParaRPr>
          </a:p>
          <a:p>
            <a:pPr lvl="1" eaLnBrk="1" hangingPunct="1">
              <a:lnSpc>
                <a:spcPct val="90000"/>
              </a:lnSpc>
              <a:spcBef>
                <a:spcPts val="600"/>
              </a:spcBef>
              <a:buFont typeface="Arial" panose="020B0604020202020204" pitchFamily="34" charset="0"/>
              <a:buAutoNum type="arabicPeriod"/>
            </a:pPr>
            <a:r>
              <a:rPr lang="sl-SI" altLang="ko-KR" sz="1800">
                <a:ea typeface="Gulim"/>
                <a:cs typeface="Gulim"/>
              </a:rPr>
              <a:t>Proizvodnja</a:t>
            </a:r>
            <a:endParaRPr lang="en-US" altLang="ko-KR" sz="1800">
              <a:ea typeface="Gulim"/>
              <a:cs typeface="Gulim"/>
            </a:endParaRPr>
          </a:p>
          <a:p>
            <a:pPr lvl="2" eaLnBrk="1" hangingPunct="1">
              <a:lnSpc>
                <a:spcPct val="90000"/>
              </a:lnSpc>
              <a:spcBef>
                <a:spcPts val="600"/>
              </a:spcBef>
            </a:pPr>
            <a:r>
              <a:rPr lang="sl-SI" altLang="ko-KR" sz="1800">
                <a:solidFill>
                  <a:srgbClr val="FF9933"/>
                </a:solidFill>
                <a:ea typeface="Gulim"/>
                <a:cs typeface="Gulim"/>
              </a:rPr>
              <a:t>nadzor procesov</a:t>
            </a:r>
            <a:endParaRPr lang="en-US" altLang="ko-KR" sz="1800">
              <a:solidFill>
                <a:srgbClr val="FF9933"/>
              </a:solidFill>
              <a:ea typeface="Gulim"/>
              <a:cs typeface="Gulim"/>
            </a:endParaRPr>
          </a:p>
          <a:p>
            <a:pPr lvl="2" eaLnBrk="1" hangingPunct="1">
              <a:lnSpc>
                <a:spcPct val="90000"/>
              </a:lnSpc>
              <a:spcBef>
                <a:spcPts val="600"/>
              </a:spcBef>
            </a:pPr>
            <a:r>
              <a:rPr lang="sl-SI" altLang="ko-KR" sz="1800">
                <a:solidFill>
                  <a:srgbClr val="FF9933"/>
                </a:solidFill>
                <a:ea typeface="Gulim"/>
                <a:cs typeface="Gulim"/>
              </a:rPr>
              <a:t>opazovanje procesov</a:t>
            </a:r>
            <a:endParaRPr lang="en-US" altLang="ko-KR" sz="1800">
              <a:solidFill>
                <a:srgbClr val="FF9933"/>
              </a:solidFill>
              <a:ea typeface="Gulim"/>
              <a:cs typeface="Gulim"/>
            </a:endParaRPr>
          </a:p>
          <a:p>
            <a:pPr lvl="1" eaLnBrk="1" hangingPunct="1">
              <a:lnSpc>
                <a:spcPct val="90000"/>
              </a:lnSpc>
              <a:spcBef>
                <a:spcPts val="600"/>
              </a:spcBef>
              <a:buFont typeface="Arial" panose="020B0604020202020204" pitchFamily="34" charset="0"/>
              <a:buAutoNum type="arabicPeriod"/>
            </a:pPr>
            <a:r>
              <a:rPr lang="sl-SI" altLang="ko-KR" sz="1800">
                <a:ea typeface="Gulim"/>
                <a:cs typeface="Gulim"/>
              </a:rPr>
              <a:t>Splošna fotogrametrija</a:t>
            </a:r>
            <a:endParaRPr lang="en-US" altLang="ko-KR" sz="1800">
              <a:ea typeface="Gulim"/>
              <a:cs typeface="Gulim"/>
            </a:endParaRPr>
          </a:p>
          <a:p>
            <a:pPr lvl="2" eaLnBrk="1" hangingPunct="1">
              <a:lnSpc>
                <a:spcPct val="90000"/>
              </a:lnSpc>
              <a:spcBef>
                <a:spcPts val="600"/>
              </a:spcBef>
            </a:pPr>
            <a:r>
              <a:rPr lang="sl-SI" altLang="ko-KR" sz="1800">
                <a:solidFill>
                  <a:srgbClr val="FF9933"/>
                </a:solidFill>
                <a:ea typeface="Gulim"/>
                <a:cs typeface="Gulim"/>
              </a:rPr>
              <a:t>kakršnekoli brezkontaktne meritve</a:t>
            </a:r>
            <a:r>
              <a:rPr lang="sl-SI" altLang="en-US" sz="1600"/>
              <a:t> </a:t>
            </a:r>
          </a:p>
        </p:txBody>
      </p:sp>
      <p:sp>
        <p:nvSpPr>
          <p:cNvPr id="226310"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2631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Tree>
  </p:cSld>
  <p:clrMapOvr>
    <a:masterClrMapping/>
  </p:clrMapOvr>
  <p:transition>
    <p:cove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2835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AEDA3C3-B02A-4055-A6D7-06033DC42311}" type="slidenum">
              <a:rPr lang="en-GB" altLang="en-US" sz="1400" smtClean="0"/>
              <a:pPr>
                <a:spcBef>
                  <a:spcPct val="0"/>
                </a:spcBef>
                <a:buFontTx/>
                <a:buNone/>
              </a:pPr>
              <a:t>114</a:t>
            </a:fld>
            <a:endParaRPr lang="en-GB" altLang="en-US" sz="1400"/>
          </a:p>
        </p:txBody>
      </p:sp>
      <p:sp>
        <p:nvSpPr>
          <p:cNvPr id="228356" name="Rectangle 2"/>
          <p:cNvSpPr>
            <a:spLocks noGrp="1" noChangeArrowheads="1"/>
          </p:cNvSpPr>
          <p:nvPr>
            <p:ph type="body" idx="1"/>
          </p:nvPr>
        </p:nvSpPr>
        <p:spPr>
          <a:xfrm>
            <a:off x="468313" y="2708275"/>
            <a:ext cx="8229600" cy="1873250"/>
          </a:xfrm>
        </p:spPr>
        <p:txBody>
          <a:bodyPr/>
          <a:lstStyle/>
          <a:p>
            <a:pPr algn="ctr" defTabSz="912813" eaLnBrk="1" hangingPunct="1">
              <a:buFontTx/>
              <a:buNone/>
            </a:pPr>
            <a:r>
              <a:rPr lang="sl-SI" altLang="en-US" sz="3600"/>
              <a:t>Optični tok</a:t>
            </a:r>
          </a:p>
          <a:p>
            <a:pPr algn="ctr" defTabSz="912813" eaLnBrk="1" hangingPunct="1">
              <a:buFontTx/>
              <a:buNone/>
            </a:pPr>
            <a:r>
              <a:rPr lang="sl-SI" altLang="en-US" sz="2400"/>
              <a:t>(povzeto po </a:t>
            </a:r>
            <a:r>
              <a:rPr lang="en-US" altLang="en-US" sz="2400"/>
              <a:t>Sebastian Thrun</a:t>
            </a:r>
            <a:r>
              <a:rPr lang="sl-SI" altLang="en-US" sz="2400"/>
              <a:t>, </a:t>
            </a:r>
            <a:r>
              <a:rPr lang="en-US" altLang="en-US" sz="2400"/>
              <a:t>Dan Maynes-Aminzade, Mitul Saha, Greg Corrado</a:t>
            </a:r>
            <a:r>
              <a:rPr lang="sl-SI" altLang="en-US" sz="2400"/>
              <a:t>: Optical Flow. Stanford University, 2006)</a:t>
            </a:r>
          </a:p>
        </p:txBody>
      </p:sp>
    </p:spTree>
  </p:cSld>
  <p:clrMapOvr>
    <a:masterClrMapping/>
  </p:clrMapOvr>
  <p:transition>
    <p:cove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304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2FCAA5E-C340-46E4-9565-AA71DB32DF1D}" type="slidenum">
              <a:rPr lang="en-GB" altLang="en-US" sz="1400" smtClean="0"/>
              <a:pPr>
                <a:spcBef>
                  <a:spcPct val="0"/>
                </a:spcBef>
                <a:buFontTx/>
                <a:buNone/>
              </a:pPr>
              <a:t>115</a:t>
            </a:fld>
            <a:endParaRPr lang="en-GB" altLang="en-US" sz="1400"/>
          </a:p>
        </p:txBody>
      </p:sp>
      <p:sp>
        <p:nvSpPr>
          <p:cNvPr id="230404"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OPTIČNI TOK - IZHODIŠČA</a:t>
            </a:r>
            <a:endParaRPr lang="en-GB" altLang="en-US" sz="2000"/>
          </a:p>
        </p:txBody>
      </p:sp>
      <p:sp>
        <p:nvSpPr>
          <p:cNvPr id="23040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3040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30407"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30436"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0408" name="Rectangle 10"/>
          <p:cNvSpPr>
            <a:spLocks noChangeArrowheads="1"/>
          </p:cNvSpPr>
          <p:nvPr/>
        </p:nvSpPr>
        <p:spPr bwMode="auto">
          <a:xfrm>
            <a:off x="900113" y="1125538"/>
            <a:ext cx="7704137" cy="476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1363" indent="-28416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98563" indent="-284163"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Kadar imamo več zaporednih posnetkov, ki so nastali med relativnim premikanjem kamere glede na sceno, lahko na zaporednih parih slik zaznamo spremembe pikselske intenzivnosti.</a:t>
            </a:r>
          </a:p>
          <a:p>
            <a:pPr eaLnBrk="1" hangingPunct="1">
              <a:spcBef>
                <a:spcPts val="600"/>
              </a:spcBef>
              <a:buClr>
                <a:srgbClr val="000000"/>
              </a:buClr>
              <a:buFontTx/>
              <a:buAutoNum type="arabicPeriod"/>
            </a:pPr>
            <a:r>
              <a:rPr lang="sl-SI" altLang="en-US" sz="1800"/>
              <a:t>Lokalno omejeno gibanje (premike) slike imenujemo </a:t>
            </a:r>
            <a:r>
              <a:rPr lang="sl-SI" altLang="en-US" sz="1800" b="1">
                <a:solidFill>
                  <a:srgbClr val="0000FF"/>
                </a:solidFill>
              </a:rPr>
              <a:t>optični tok</a:t>
            </a:r>
            <a:r>
              <a:rPr lang="sl-SI" altLang="en-US" sz="1800"/>
              <a:t> (</a:t>
            </a:r>
            <a:r>
              <a:rPr lang="sl-SI" altLang="en-US" sz="1800" i="1"/>
              <a:t>optical flow</a:t>
            </a:r>
            <a:r>
              <a:rPr lang="sl-SI" altLang="en-US" sz="1800"/>
              <a:t>):</a:t>
            </a:r>
            <a:endParaRPr lang="en-US" altLang="en-US" sz="1800"/>
          </a:p>
          <a:p>
            <a:pPr lvl="1" eaLnBrk="1" hangingPunct="1">
              <a:buClr>
                <a:srgbClr val="000000"/>
              </a:buClr>
              <a:buFont typeface="Arial" panose="020B0604020202020204" pitchFamily="34" charset="0"/>
              <a:buChar char="−"/>
            </a:pPr>
            <a:r>
              <a:rPr lang="sl-SI" altLang="en-US" sz="1600"/>
              <a:t>optični tok je opredeljen z lokalnimi odvodi med zaporednimi slikami</a:t>
            </a:r>
            <a:endParaRPr lang="en-US" altLang="en-US" sz="1600"/>
          </a:p>
          <a:p>
            <a:pPr lvl="1" eaLnBrk="1" hangingPunct="1">
              <a:buClr>
                <a:srgbClr val="000000"/>
              </a:buClr>
              <a:buFont typeface="Arial" panose="020B0604020202020204" pitchFamily="34" charset="0"/>
              <a:buChar char="−"/>
            </a:pPr>
            <a:r>
              <a:rPr lang="sl-SI" altLang="en-US" sz="1600"/>
              <a:t>glede na smeri premikanja govorimo o 1D, 2D in 3D optičnem toku</a:t>
            </a:r>
            <a:endParaRPr lang="en-US" altLang="en-US" sz="1600"/>
          </a:p>
          <a:p>
            <a:pPr lvl="1" eaLnBrk="1" hangingPunct="1">
              <a:buClr>
                <a:srgbClr val="000000"/>
              </a:buClr>
              <a:buFont typeface="Arial" panose="020B0604020202020204" pitchFamily="34" charset="0"/>
              <a:buChar char="−"/>
            </a:pPr>
            <a:r>
              <a:rPr lang="sl-SI" altLang="en-US" sz="1600"/>
              <a:t>predvidevamo, da so vse spremembe intenzivnosti na slikah odvisne samo od gibanja:</a:t>
            </a:r>
          </a:p>
          <a:p>
            <a:pPr lvl="2" eaLnBrk="1" hangingPunct="1">
              <a:buClr>
                <a:srgbClr val="000000"/>
              </a:buClr>
              <a:buFont typeface="Arial" panose="020B0604020202020204" pitchFamily="34" charset="0"/>
              <a:buChar char="−"/>
            </a:pPr>
            <a:r>
              <a:rPr lang="sl-SI" altLang="en-US" sz="1400"/>
              <a:t>objekti na sceni se ne smejo deformirati oz. morajo biti vsaj lokalno togi</a:t>
            </a:r>
          </a:p>
          <a:p>
            <a:pPr lvl="2" eaLnBrk="1" hangingPunct="1">
              <a:buClr>
                <a:srgbClr val="000000"/>
              </a:buClr>
              <a:buFont typeface="Arial" panose="020B0604020202020204" pitchFamily="34" charset="0"/>
              <a:buChar char="−"/>
            </a:pPr>
            <a:r>
              <a:rPr lang="sl-SI" altLang="en-US" sz="1400"/>
              <a:t>osvetlitev scene se med snemanjem gibanja ne sme spreminjati</a:t>
            </a:r>
          </a:p>
          <a:p>
            <a:pPr lvl="2" eaLnBrk="1" hangingPunct="1">
              <a:buClr>
                <a:srgbClr val="000000"/>
              </a:buClr>
              <a:buFont typeface="Arial" panose="020B0604020202020204" pitchFamily="34" charset="0"/>
              <a:buChar char="−"/>
            </a:pPr>
            <a:r>
              <a:rPr lang="sl-SI" altLang="en-US" sz="1400"/>
              <a:t>scena in kamera se ne smeta premikati z isto hitrostjo v isto smer</a:t>
            </a:r>
          </a:p>
          <a:p>
            <a:pPr lvl="2" eaLnBrk="1" hangingPunct="1">
              <a:buClr>
                <a:srgbClr val="000000"/>
              </a:buClr>
              <a:buFont typeface="Arial" panose="020B0604020202020204" pitchFamily="34" charset="0"/>
              <a:buChar char="−"/>
            </a:pPr>
            <a:r>
              <a:rPr lang="sl-SI" altLang="en-US" sz="1400"/>
              <a:t>gibanje objektov mora povzročiti zaznavne spremembe v intenzivnosti pikslov (vrteča se, gladka kovinska krogla ne povzroča takšnih sprememb, čeprav se giblje)</a:t>
            </a:r>
          </a:p>
          <a:p>
            <a:pPr eaLnBrk="1" hangingPunct="1">
              <a:buClr>
                <a:srgbClr val="000000"/>
              </a:buClr>
              <a:buFontTx/>
              <a:buAutoNum type="arabicPeriod"/>
            </a:pPr>
            <a:r>
              <a:rPr lang="sl-SI" altLang="en-US" sz="1800"/>
              <a:t>Izhodišče za računanje diferencialnega optičnega toka je t. i. </a:t>
            </a:r>
            <a:r>
              <a:rPr lang="sl-SI" altLang="en-US" sz="1800" b="1">
                <a:solidFill>
                  <a:srgbClr val="0000FF"/>
                </a:solidFill>
              </a:rPr>
              <a:t>enačba omejenega gibanja</a:t>
            </a:r>
            <a:r>
              <a:rPr lang="sl-SI" altLang="en-US" sz="1800"/>
              <a:t> (</a:t>
            </a:r>
            <a:r>
              <a:rPr lang="sl-SI" altLang="en-US" sz="1800" i="1"/>
              <a:t>motion constraint equation</a:t>
            </a:r>
            <a:r>
              <a:rPr lang="sl-SI" altLang="en-US" sz="1800"/>
              <a:t>).</a:t>
            </a:r>
            <a:endParaRPr lang="en-US" altLang="en-US" sz="1800"/>
          </a:p>
        </p:txBody>
      </p:sp>
    </p:spTree>
  </p:cSld>
  <p:clrMapOvr>
    <a:masterClrMapping/>
  </p:clrMapOvr>
  <p:transition>
    <p:cove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3245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395DC9D-803E-4762-BD65-03AF6CB0CBDE}" type="slidenum">
              <a:rPr lang="en-GB" altLang="en-US" sz="1400" smtClean="0"/>
              <a:pPr>
                <a:spcBef>
                  <a:spcPct val="0"/>
                </a:spcBef>
                <a:buFontTx/>
                <a:buNone/>
              </a:pPr>
              <a:t>116</a:t>
            </a:fld>
            <a:endParaRPr lang="en-GB" altLang="en-US" sz="1400"/>
          </a:p>
        </p:txBody>
      </p:sp>
      <p:sp>
        <p:nvSpPr>
          <p:cNvPr id="232452"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OMEJENO GIBANJE V 1D</a:t>
            </a:r>
            <a:endParaRPr lang="en-GB" altLang="en-US" sz="2000"/>
          </a:p>
        </p:txBody>
      </p:sp>
      <p:sp>
        <p:nvSpPr>
          <p:cNvPr id="23245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3245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3245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32499"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56" name="Rectangle 10"/>
          <p:cNvSpPr>
            <a:spLocks noChangeArrowheads="1"/>
          </p:cNvSpPr>
          <p:nvPr/>
        </p:nvSpPr>
        <p:spPr bwMode="auto">
          <a:xfrm>
            <a:off x="900113" y="1125538"/>
            <a:ext cx="7704137" cy="464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Imejmo točko z intenzivnostjo </a:t>
            </a:r>
            <a:r>
              <a:rPr lang="sl-SI" altLang="en-US" sz="1800" i="1"/>
              <a:t>I</a:t>
            </a:r>
            <a:r>
              <a:rPr lang="sl-SI" altLang="en-US" sz="1800"/>
              <a:t>(</a:t>
            </a:r>
            <a:r>
              <a:rPr lang="sl-SI" altLang="en-US" sz="1800" i="1"/>
              <a:t>x</a:t>
            </a:r>
            <a:r>
              <a:rPr lang="sl-SI" altLang="en-US" sz="1800"/>
              <a:t>), ki se premika v smeri </a:t>
            </a:r>
            <a:r>
              <a:rPr lang="sl-SI" altLang="en-US" sz="1800" i="1"/>
              <a:t>x.</a:t>
            </a:r>
          </a:p>
          <a:p>
            <a:pPr eaLnBrk="1" hangingPunct="1">
              <a:buClr>
                <a:srgbClr val="000000"/>
              </a:buClr>
              <a:buFontTx/>
              <a:buAutoNum type="arabicPeriod"/>
            </a:pPr>
            <a:r>
              <a:rPr lang="sl-SI" altLang="en-US" sz="1800"/>
              <a:t>Premik za </a:t>
            </a:r>
            <a:r>
              <a:rPr lang="el-GR" altLang="en-US" sz="1800" i="1"/>
              <a:t>Δ</a:t>
            </a:r>
            <a:r>
              <a:rPr lang="sl-SI" altLang="en-US" sz="1800" i="1"/>
              <a:t>x</a:t>
            </a:r>
            <a:r>
              <a:rPr lang="sl-SI" altLang="en-US" sz="1800"/>
              <a:t> se naj zgodi v času </a:t>
            </a:r>
            <a:r>
              <a:rPr lang="el-GR" altLang="en-US" sz="1800" i="1"/>
              <a:t>Δ</a:t>
            </a:r>
            <a:r>
              <a:rPr lang="sl-SI" altLang="en-US" sz="1800" i="1"/>
              <a:t>t</a:t>
            </a:r>
            <a:r>
              <a:rPr lang="sl-SI" altLang="en-US" sz="1800"/>
              <a:t>, kar pomeni, da se točka premika v smeri </a:t>
            </a:r>
            <a:r>
              <a:rPr lang="sl-SI" altLang="en-US" sz="1800" i="1"/>
              <a:t>x</a:t>
            </a:r>
            <a:r>
              <a:rPr lang="sl-SI" altLang="en-US" sz="1800"/>
              <a:t> s hitrostjo </a:t>
            </a:r>
            <a:r>
              <a:rPr lang="sl-SI" altLang="en-US" sz="1800" i="1"/>
              <a:t>v</a:t>
            </a:r>
            <a:r>
              <a:rPr lang="sl-SI" altLang="en-US" sz="1800" i="1" baseline="-25000"/>
              <a:t>x</a:t>
            </a:r>
            <a:r>
              <a:rPr lang="sl-SI" altLang="en-US" sz="1800" i="1"/>
              <a:t> </a:t>
            </a:r>
            <a:r>
              <a:rPr lang="sl-SI" altLang="en-US" sz="1800"/>
              <a:t>= </a:t>
            </a:r>
            <a:r>
              <a:rPr lang="el-GR" altLang="en-US" sz="1800" i="1"/>
              <a:t>Δ</a:t>
            </a:r>
            <a:r>
              <a:rPr lang="sl-SI" altLang="en-US" sz="1800" i="1"/>
              <a:t>x</a:t>
            </a:r>
            <a:r>
              <a:rPr lang="sl-SI" altLang="en-US" sz="1800"/>
              <a:t>/</a:t>
            </a:r>
            <a:r>
              <a:rPr lang="el-GR" altLang="en-US" sz="1800" i="1"/>
              <a:t>Δ</a:t>
            </a:r>
            <a:r>
              <a:rPr lang="sl-SI" altLang="en-US" sz="1800" i="1"/>
              <a:t>t.</a:t>
            </a:r>
            <a:endParaRPr lang="sl-SI" altLang="en-US" sz="1800"/>
          </a:p>
          <a:p>
            <a:pPr eaLnBrk="1" hangingPunct="1">
              <a:spcBef>
                <a:spcPts val="600"/>
              </a:spcBef>
              <a:buClr>
                <a:srgbClr val="000000"/>
              </a:buClr>
              <a:buFontTx/>
              <a:buAutoNum type="arabicPeriod"/>
            </a:pPr>
            <a:r>
              <a:rPr lang="sl-SI" altLang="en-US" sz="1800"/>
              <a:t>Vzemimo, da sta tudi dve zaporedni sliki točke v času razmaknjeni ravno za </a:t>
            </a:r>
            <a:r>
              <a:rPr lang="el-GR" altLang="en-US" sz="1800" i="1"/>
              <a:t>Δ</a:t>
            </a:r>
            <a:r>
              <a:rPr lang="sl-SI" altLang="en-US" sz="1800" i="1"/>
              <a:t>t</a:t>
            </a:r>
            <a:r>
              <a:rPr lang="sl-SI" altLang="en-US" sz="1800"/>
              <a:t>.</a:t>
            </a:r>
          </a:p>
          <a:p>
            <a:pPr eaLnBrk="1" hangingPunct="1">
              <a:spcBef>
                <a:spcPts val="600"/>
              </a:spcBef>
              <a:buClr>
                <a:srgbClr val="000000"/>
              </a:buClr>
              <a:buFontTx/>
              <a:buAutoNum type="arabicPeriod"/>
            </a:pPr>
            <a:endParaRPr lang="sl-SI" altLang="en-US" sz="1800" i="1"/>
          </a:p>
          <a:p>
            <a:pPr eaLnBrk="1" hangingPunct="1">
              <a:spcBef>
                <a:spcPts val="600"/>
              </a:spcBef>
              <a:buClr>
                <a:srgbClr val="000000"/>
              </a:buClr>
              <a:buFontTx/>
              <a:buAutoNum type="arabicPeriod"/>
            </a:pPr>
            <a:endParaRPr lang="sl-SI" altLang="en-US" sz="1800" i="1"/>
          </a:p>
          <a:p>
            <a:pPr eaLnBrk="1" hangingPunct="1">
              <a:spcBef>
                <a:spcPts val="600"/>
              </a:spcBef>
              <a:buClr>
                <a:srgbClr val="000000"/>
              </a:buClr>
              <a:buFontTx/>
              <a:buAutoNum type="arabicPeriod"/>
            </a:pPr>
            <a:endParaRPr lang="sl-SI" altLang="en-US" sz="1800" i="1"/>
          </a:p>
          <a:p>
            <a:pPr eaLnBrk="1" hangingPunct="1">
              <a:spcBef>
                <a:spcPts val="1200"/>
              </a:spcBef>
              <a:buClr>
                <a:srgbClr val="000000"/>
              </a:buClr>
              <a:buFontTx/>
              <a:buAutoNum type="arabicPeriod"/>
            </a:pPr>
            <a:r>
              <a:rPr lang="sl-SI" altLang="en-US" sz="1800"/>
              <a:t>Označimo zaporedne slike kar s časovnimi trenutki, ob katerih so nastale: intenzivnost točke na položaju </a:t>
            </a:r>
            <a:r>
              <a:rPr lang="sl-SI" altLang="en-US" sz="1800" i="1"/>
              <a:t>x </a:t>
            </a:r>
            <a:r>
              <a:rPr lang="sl-SI" altLang="en-US" sz="1800"/>
              <a:t>bo tako v času </a:t>
            </a:r>
            <a:r>
              <a:rPr lang="sl-SI" altLang="en-US" sz="1800" i="1"/>
              <a:t>t</a:t>
            </a:r>
            <a:r>
              <a:rPr lang="sl-SI" altLang="en-US" sz="1800"/>
              <a:t> označena kot </a:t>
            </a:r>
            <a:r>
              <a:rPr lang="sl-SI" altLang="en-US" sz="1800" i="1"/>
              <a:t>I</a:t>
            </a:r>
            <a:r>
              <a:rPr lang="sl-SI" altLang="en-US" sz="1800"/>
              <a:t>(</a:t>
            </a:r>
            <a:r>
              <a:rPr lang="sl-SI" altLang="en-US" sz="1800" i="1"/>
              <a:t>x</a:t>
            </a:r>
            <a:r>
              <a:rPr lang="sl-SI" altLang="en-US" sz="1800"/>
              <a:t>,</a:t>
            </a:r>
            <a:r>
              <a:rPr lang="sl-SI" altLang="en-US" sz="1800" i="1"/>
              <a:t>t</a:t>
            </a:r>
            <a:r>
              <a:rPr lang="sl-SI" altLang="en-US" sz="1800"/>
              <a:t>)</a:t>
            </a:r>
            <a:endParaRPr lang="en-GB" altLang="en-US" sz="1800"/>
          </a:p>
          <a:p>
            <a:pPr eaLnBrk="1" hangingPunct="1">
              <a:spcBef>
                <a:spcPts val="600"/>
              </a:spcBef>
              <a:buClr>
                <a:srgbClr val="000000"/>
              </a:buClr>
              <a:buFontTx/>
              <a:buAutoNum type="arabicPeriod"/>
            </a:pPr>
            <a:r>
              <a:rPr lang="sl-SI" altLang="en-US" sz="1800"/>
              <a:t>Privzeli smo, da se intenzivnost (sivine oz. barve) točke </a:t>
            </a:r>
            <a:r>
              <a:rPr lang="sl-SI" altLang="en-US" sz="1800" i="1"/>
              <a:t>I</a:t>
            </a:r>
            <a:r>
              <a:rPr lang="sl-SI" altLang="en-US" sz="1800"/>
              <a:t>(</a:t>
            </a:r>
            <a:r>
              <a:rPr lang="sl-SI" altLang="en-US" sz="1800" i="1"/>
              <a:t>x</a:t>
            </a:r>
            <a:r>
              <a:rPr lang="sl-SI" altLang="en-US" sz="1800"/>
              <a:t>,</a:t>
            </a:r>
            <a:r>
              <a:rPr lang="sl-SI" altLang="en-US" sz="1800" i="1"/>
              <a:t>t</a:t>
            </a:r>
            <a:r>
              <a:rPr lang="sl-SI" altLang="en-US" sz="1800"/>
              <a:t>) med premikanjem ne spremeni; zato velja:</a:t>
            </a:r>
          </a:p>
          <a:p>
            <a:pPr eaLnBrk="1" hangingPunct="1">
              <a:spcBef>
                <a:spcPts val="600"/>
              </a:spcBef>
              <a:buClr>
                <a:srgbClr val="000000"/>
              </a:buClr>
              <a:buFontTx/>
              <a:buNone/>
            </a:pPr>
            <a:r>
              <a:rPr lang="sl-SI" altLang="en-US" sz="1800"/>
              <a:t>	</a:t>
            </a:r>
            <a:r>
              <a:rPr lang="sl-SI" altLang="en-US" sz="1800" i="1"/>
              <a:t> I</a:t>
            </a:r>
            <a:r>
              <a:rPr lang="sl-SI" altLang="en-US" sz="1800"/>
              <a:t>(</a:t>
            </a:r>
            <a:r>
              <a:rPr lang="sl-SI" altLang="en-US" sz="1800" i="1"/>
              <a:t>x</a:t>
            </a:r>
            <a:r>
              <a:rPr lang="sl-SI" altLang="en-US" sz="1800"/>
              <a:t>,</a:t>
            </a:r>
            <a:r>
              <a:rPr lang="sl-SI" altLang="en-US" sz="1800" i="1"/>
              <a:t>t</a:t>
            </a:r>
            <a:r>
              <a:rPr lang="sl-SI" altLang="en-US" sz="1800"/>
              <a:t>) = </a:t>
            </a:r>
            <a:r>
              <a:rPr lang="sl-SI" altLang="en-US" sz="1800" i="1"/>
              <a:t>I</a:t>
            </a:r>
            <a:r>
              <a:rPr lang="sl-SI" altLang="en-US" sz="1800"/>
              <a:t>(</a:t>
            </a:r>
            <a:r>
              <a:rPr lang="sl-SI" altLang="en-US" sz="1800" i="1"/>
              <a:t>x+</a:t>
            </a:r>
            <a:r>
              <a:rPr lang="el-GR" altLang="en-US" sz="1800" i="1"/>
              <a:t>Δ</a:t>
            </a:r>
            <a:r>
              <a:rPr lang="sl-SI" altLang="en-US" sz="1800" i="1"/>
              <a:t>x</a:t>
            </a:r>
            <a:r>
              <a:rPr lang="sl-SI" altLang="en-US" sz="1800"/>
              <a:t>,</a:t>
            </a:r>
            <a:r>
              <a:rPr lang="sl-SI" altLang="en-US" sz="1800" i="1"/>
              <a:t>t+</a:t>
            </a:r>
            <a:r>
              <a:rPr lang="el-GR" altLang="en-US" sz="1800" i="1"/>
              <a:t>Δ</a:t>
            </a:r>
            <a:r>
              <a:rPr lang="sl-SI" altLang="en-US" sz="1800" i="1"/>
              <a:t>t</a:t>
            </a:r>
            <a:r>
              <a:rPr lang="sl-SI" altLang="en-US" sz="1800"/>
              <a:t>)</a:t>
            </a:r>
          </a:p>
        </p:txBody>
      </p:sp>
      <p:grpSp>
        <p:nvGrpSpPr>
          <p:cNvPr id="232457" name="Group 23"/>
          <p:cNvGrpSpPr>
            <a:grpSpLocks/>
          </p:cNvGrpSpPr>
          <p:nvPr/>
        </p:nvGrpSpPr>
        <p:grpSpPr bwMode="auto">
          <a:xfrm>
            <a:off x="1403350" y="2708275"/>
            <a:ext cx="6337300" cy="968375"/>
            <a:chOff x="1403648" y="2800806"/>
            <a:chExt cx="6336704" cy="968356"/>
          </a:xfrm>
        </p:grpSpPr>
        <p:grpSp>
          <p:nvGrpSpPr>
            <p:cNvPr id="232461" name="Group 14"/>
            <p:cNvGrpSpPr>
              <a:grpSpLocks/>
            </p:cNvGrpSpPr>
            <p:nvPr/>
          </p:nvGrpSpPr>
          <p:grpSpPr bwMode="auto">
            <a:xfrm>
              <a:off x="1403648" y="3111798"/>
              <a:ext cx="6336704" cy="369332"/>
              <a:chOff x="1403648" y="3111798"/>
              <a:chExt cx="6336704" cy="369332"/>
            </a:xfrm>
          </p:grpSpPr>
          <p:cxnSp>
            <p:nvCxnSpPr>
              <p:cNvPr id="10" name="Straight Arrow Connector 9"/>
              <p:cNvCxnSpPr/>
              <p:nvPr/>
            </p:nvCxnSpPr>
            <p:spPr>
              <a:xfrm>
                <a:off x="1403648" y="3284985"/>
                <a:ext cx="5904945"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2363996" y="3173862"/>
                <a:ext cx="215880" cy="215896"/>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 name="Oval 12"/>
              <p:cNvSpPr/>
              <p:nvPr/>
            </p:nvSpPr>
            <p:spPr>
              <a:xfrm>
                <a:off x="3924361" y="3186562"/>
                <a:ext cx="215880" cy="215896"/>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32471" name="TextBox 13"/>
              <p:cNvSpPr txBox="1">
                <a:spLocks noChangeArrowheads="1"/>
              </p:cNvSpPr>
              <p:nvPr/>
            </p:nvSpPr>
            <p:spPr bwMode="auto">
              <a:xfrm>
                <a:off x="7380312" y="3111798"/>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t</a:t>
                </a:r>
                <a:endParaRPr lang="en-GB" altLang="en-US" sz="1800" i="1"/>
              </a:p>
            </p:txBody>
          </p:sp>
        </p:grpSp>
        <p:sp>
          <p:nvSpPr>
            <p:cNvPr id="232462" name="TextBox 15"/>
            <p:cNvSpPr txBox="1">
              <a:spLocks noChangeArrowheads="1"/>
            </p:cNvSpPr>
            <p:nvPr/>
          </p:nvSpPr>
          <p:spPr bwMode="auto">
            <a:xfrm>
              <a:off x="2339752" y="2800806"/>
              <a:ext cx="3337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t</a:t>
              </a:r>
              <a:r>
                <a:rPr lang="sl-SI" altLang="en-US" sz="1800" baseline="-25000"/>
                <a:t>0</a:t>
              </a:r>
              <a:endParaRPr lang="en-GB" altLang="en-US" sz="1800" baseline="-25000"/>
            </a:p>
          </p:txBody>
        </p:sp>
        <p:sp>
          <p:nvSpPr>
            <p:cNvPr id="232463" name="TextBox 16"/>
            <p:cNvSpPr txBox="1">
              <a:spLocks noChangeArrowheads="1"/>
            </p:cNvSpPr>
            <p:nvPr/>
          </p:nvSpPr>
          <p:spPr bwMode="auto">
            <a:xfrm>
              <a:off x="3707904" y="2800806"/>
              <a:ext cx="6880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t</a:t>
              </a:r>
              <a:r>
                <a:rPr lang="sl-SI" altLang="en-US" sz="1800" baseline="-25000"/>
                <a:t>0</a:t>
              </a:r>
              <a:r>
                <a:rPr lang="sl-SI" altLang="en-US" sz="1800"/>
                <a:t>+</a:t>
              </a:r>
              <a:r>
                <a:rPr lang="el-GR" altLang="en-US" sz="1800" i="1"/>
                <a:t>Δ</a:t>
              </a:r>
              <a:r>
                <a:rPr lang="sl-SI" altLang="en-US" sz="1800" i="1"/>
                <a:t>t</a:t>
              </a:r>
              <a:endParaRPr lang="en-GB" altLang="en-US" sz="1800" baseline="-25000"/>
            </a:p>
          </p:txBody>
        </p:sp>
        <p:cxnSp>
          <p:nvCxnSpPr>
            <p:cNvPr id="19" name="Straight Connector 18"/>
            <p:cNvCxnSpPr/>
            <p:nvPr/>
          </p:nvCxnSpPr>
          <p:spPr>
            <a:xfrm>
              <a:off x="2483046" y="3481831"/>
              <a:ext cx="0" cy="28733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035475" y="3473893"/>
              <a:ext cx="0" cy="2889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483046" y="3672327"/>
              <a:ext cx="1584176" cy="0"/>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32467" name="TextBox 22"/>
            <p:cNvSpPr txBox="1">
              <a:spLocks noChangeArrowheads="1"/>
            </p:cNvSpPr>
            <p:nvPr/>
          </p:nvSpPr>
          <p:spPr bwMode="auto">
            <a:xfrm>
              <a:off x="3114596" y="3347700"/>
              <a:ext cx="455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l-GR" altLang="en-US" sz="1800" i="1"/>
                <a:t>Δ</a:t>
              </a:r>
              <a:r>
                <a:rPr lang="sl-SI" altLang="en-US" sz="1800" i="1"/>
                <a:t>x</a:t>
              </a:r>
              <a:endParaRPr lang="en-GB" altLang="en-US" sz="1800" baseline="-25000"/>
            </a:p>
          </p:txBody>
        </p:sp>
      </p:grpSp>
      <p:grpSp>
        <p:nvGrpSpPr>
          <p:cNvPr id="232458" name="Group 29"/>
          <p:cNvGrpSpPr>
            <a:grpSpLocks/>
          </p:cNvGrpSpPr>
          <p:nvPr/>
        </p:nvGrpSpPr>
        <p:grpSpPr bwMode="auto">
          <a:xfrm>
            <a:off x="1547813" y="3249613"/>
            <a:ext cx="855662" cy="549275"/>
            <a:chOff x="1547664" y="3248980"/>
            <a:chExt cx="856592" cy="549352"/>
          </a:xfrm>
        </p:grpSpPr>
        <p:sp>
          <p:nvSpPr>
            <p:cNvPr id="232459" name="TextBox 24"/>
            <p:cNvSpPr txBox="1">
              <a:spLocks noChangeArrowheads="1"/>
            </p:cNvSpPr>
            <p:nvPr/>
          </p:nvSpPr>
          <p:spPr bwMode="auto">
            <a:xfrm>
              <a:off x="1547664" y="3429000"/>
              <a:ext cx="792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I</a:t>
              </a:r>
              <a:r>
                <a:rPr lang="sl-SI" altLang="en-US" sz="1800"/>
                <a:t>(</a:t>
              </a:r>
              <a:r>
                <a:rPr lang="sl-SI" altLang="en-US" sz="1800" i="1"/>
                <a:t>x</a:t>
              </a:r>
              <a:r>
                <a:rPr lang="sl-SI" altLang="en-US" sz="1800"/>
                <a:t>,</a:t>
              </a:r>
              <a:r>
                <a:rPr lang="sl-SI" altLang="en-US" sz="1800" i="1"/>
                <a:t>t</a:t>
              </a:r>
              <a:r>
                <a:rPr lang="sl-SI" altLang="en-US" sz="1800" baseline="-25000"/>
                <a:t>0</a:t>
              </a:r>
              <a:r>
                <a:rPr lang="sl-SI" altLang="en-US" sz="1800"/>
                <a:t>)</a:t>
              </a:r>
              <a:endParaRPr lang="en-GB" altLang="en-US" sz="1800"/>
            </a:p>
          </p:txBody>
        </p:sp>
        <p:cxnSp>
          <p:nvCxnSpPr>
            <p:cNvPr id="27" name="Straight Arrow Connector 26"/>
            <p:cNvCxnSpPr/>
            <p:nvPr/>
          </p:nvCxnSpPr>
          <p:spPr>
            <a:xfrm flipV="1">
              <a:off x="2091179" y="3248980"/>
              <a:ext cx="313077" cy="311194"/>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cove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344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04CDEE1-55C4-41AE-AE29-9BCD796300A6}" type="slidenum">
              <a:rPr lang="en-GB" altLang="en-US" sz="1400" smtClean="0"/>
              <a:pPr>
                <a:spcBef>
                  <a:spcPct val="0"/>
                </a:spcBef>
                <a:buFontTx/>
                <a:buNone/>
              </a:pPr>
              <a:t>117</a:t>
            </a:fld>
            <a:endParaRPr lang="en-GB" altLang="en-US" sz="1400"/>
          </a:p>
        </p:txBody>
      </p:sp>
      <p:sp>
        <p:nvSpPr>
          <p:cNvPr id="234500"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ENAČBA OMEJENEGA GIBANJA V 1D</a:t>
            </a:r>
            <a:endParaRPr lang="en-GB" altLang="en-US" sz="2000"/>
          </a:p>
        </p:txBody>
      </p:sp>
      <p:sp>
        <p:nvSpPr>
          <p:cNvPr id="23450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3450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34503"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34589"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4504" name="Rectangle 10"/>
          <p:cNvSpPr>
            <a:spLocks noChangeArrowheads="1"/>
          </p:cNvSpPr>
          <p:nvPr/>
        </p:nvSpPr>
        <p:spPr bwMode="auto">
          <a:xfrm>
            <a:off x="900113" y="1125538"/>
            <a:ext cx="7704137"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Desno stran enačbe </a:t>
            </a:r>
            <a:r>
              <a:rPr lang="sl-SI" altLang="en-US" sz="1800" i="1"/>
              <a:t>I</a:t>
            </a:r>
            <a:r>
              <a:rPr lang="sl-SI" altLang="en-US" sz="1800"/>
              <a:t>(</a:t>
            </a:r>
            <a:r>
              <a:rPr lang="sl-SI" altLang="en-US" sz="1800" i="1"/>
              <a:t>x</a:t>
            </a:r>
            <a:r>
              <a:rPr lang="sl-SI" altLang="en-US" sz="1800"/>
              <a:t>,</a:t>
            </a:r>
            <a:r>
              <a:rPr lang="sl-SI" altLang="en-US" sz="1800" i="1"/>
              <a:t>t</a:t>
            </a:r>
            <a:r>
              <a:rPr lang="sl-SI" altLang="en-US" sz="1800"/>
              <a:t>) = </a:t>
            </a:r>
            <a:r>
              <a:rPr lang="sl-SI" altLang="en-US" sz="1800" i="1"/>
              <a:t>I</a:t>
            </a:r>
            <a:r>
              <a:rPr lang="sl-SI" altLang="en-US" sz="1800"/>
              <a:t>(</a:t>
            </a:r>
            <a:r>
              <a:rPr lang="sl-SI" altLang="en-US" sz="1800" i="1"/>
              <a:t>x+</a:t>
            </a:r>
            <a:r>
              <a:rPr lang="el-GR" altLang="en-US" sz="1800" i="1"/>
              <a:t>Δ</a:t>
            </a:r>
            <a:r>
              <a:rPr lang="sl-SI" altLang="en-US" sz="1800" i="1"/>
              <a:t>x</a:t>
            </a:r>
            <a:r>
              <a:rPr lang="sl-SI" altLang="en-US" sz="1800"/>
              <a:t>,</a:t>
            </a:r>
            <a:r>
              <a:rPr lang="sl-SI" altLang="en-US" sz="1800" i="1"/>
              <a:t>t+</a:t>
            </a:r>
            <a:r>
              <a:rPr lang="el-GR" altLang="en-US" sz="1800" i="1"/>
              <a:t>Δ</a:t>
            </a:r>
            <a:r>
              <a:rPr lang="sl-SI" altLang="en-US" sz="1800" i="1"/>
              <a:t>t</a:t>
            </a:r>
            <a:r>
              <a:rPr lang="sl-SI" altLang="en-US" sz="1800"/>
              <a:t>) razvijmo v Taylorjevo vrsto (upoštevajmo samo prvi člen, saj je zahtevano, da so premiki čim manjši, in zato so  členi višjih redov zanemarljivi):</a:t>
            </a:r>
          </a:p>
          <a:p>
            <a:pPr eaLnBrk="1" hangingPunct="1">
              <a:buClr>
                <a:srgbClr val="000000"/>
              </a:buClr>
              <a:buFontTx/>
              <a:buNone/>
            </a:pPr>
            <a:r>
              <a:rPr lang="sl-SI" altLang="en-US" sz="1800"/>
              <a:t> 	</a:t>
            </a:r>
            <a:endParaRPr lang="sl-SI" altLang="en-US" sz="1800" i="1"/>
          </a:p>
          <a:p>
            <a:pPr eaLnBrk="1" hangingPunct="1">
              <a:buClr>
                <a:srgbClr val="000000"/>
              </a:buClr>
              <a:buFontTx/>
              <a:buAutoNum type="arabicPeriod"/>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spcBef>
                <a:spcPct val="0"/>
              </a:spcBef>
              <a:buClr>
                <a:srgbClr val="000000"/>
              </a:buClr>
              <a:buFontTx/>
              <a:buAutoNum type="arabicPeriod" startAt="2"/>
            </a:pPr>
            <a:r>
              <a:rPr lang="sl-SI" altLang="en-US" sz="1800"/>
              <a:t>Dobljena enačba se imenuje enačba omejenega gibanja.</a:t>
            </a:r>
          </a:p>
          <a:p>
            <a:pPr eaLnBrk="1" hangingPunct="1">
              <a:spcBef>
                <a:spcPts val="600"/>
              </a:spcBef>
              <a:buClr>
                <a:srgbClr val="000000"/>
              </a:buClr>
              <a:buFontTx/>
              <a:buAutoNum type="arabicPeriod" startAt="2"/>
            </a:pPr>
            <a:r>
              <a:rPr lang="sl-SI" altLang="en-US" sz="1800"/>
              <a:t>Parcialni odvod intenzivnosti točke </a:t>
            </a:r>
            <a:r>
              <a:rPr lang="sl-SI" altLang="en-US" sz="1800" i="1"/>
              <a:t>I</a:t>
            </a:r>
            <a:r>
              <a:rPr lang="sl-SI" altLang="en-US" sz="1800"/>
              <a:t>(</a:t>
            </a:r>
            <a:r>
              <a:rPr lang="sl-SI" altLang="en-US" sz="1800" i="1"/>
              <a:t>x</a:t>
            </a:r>
            <a:r>
              <a:rPr lang="sl-SI" altLang="en-US" sz="1800"/>
              <a:t>,</a:t>
            </a:r>
            <a:r>
              <a:rPr lang="sl-SI" altLang="en-US" sz="1800" i="1"/>
              <a:t>t</a:t>
            </a:r>
            <a:r>
              <a:rPr lang="sl-SI" altLang="en-US" sz="1800"/>
              <a:t>) po </a:t>
            </a:r>
            <a:r>
              <a:rPr lang="sl-SI" altLang="en-US" sz="1800" i="1"/>
              <a:t>x</a:t>
            </a:r>
            <a:r>
              <a:rPr lang="sl-SI" altLang="en-US" sz="1800"/>
              <a:t> pomeni slikovni gradient, tj. spreminjanje intenzivnosti točk v smeri </a:t>
            </a:r>
            <a:r>
              <a:rPr lang="sl-SI" altLang="en-US" sz="1800" i="1"/>
              <a:t>x</a:t>
            </a:r>
            <a:r>
              <a:rPr lang="sl-SI" altLang="en-US" sz="1800"/>
              <a:t>; krajše ga označimo z </a:t>
            </a:r>
            <a:r>
              <a:rPr lang="sl-SI" altLang="en-US" sz="1800" i="1"/>
              <a:t>I</a:t>
            </a:r>
            <a:r>
              <a:rPr lang="sl-SI" altLang="en-US" sz="1800" i="1" baseline="-25000"/>
              <a:t>x</a:t>
            </a:r>
            <a:r>
              <a:rPr lang="sl-SI" altLang="en-US" sz="1800"/>
              <a:t>.</a:t>
            </a:r>
          </a:p>
          <a:p>
            <a:pPr eaLnBrk="1" hangingPunct="1">
              <a:spcBef>
                <a:spcPts val="600"/>
              </a:spcBef>
              <a:buClr>
                <a:srgbClr val="000000"/>
              </a:buClr>
              <a:buFontTx/>
              <a:buAutoNum type="arabicPeriod" startAt="2"/>
            </a:pPr>
            <a:r>
              <a:rPr lang="sl-SI" altLang="en-US" sz="1800"/>
              <a:t>Parcialni odvod </a:t>
            </a:r>
            <a:r>
              <a:rPr lang="sl-SI" altLang="en-US" sz="1800" i="1"/>
              <a:t>I</a:t>
            </a:r>
            <a:r>
              <a:rPr lang="sl-SI" altLang="en-US" sz="1800"/>
              <a:t>(</a:t>
            </a:r>
            <a:r>
              <a:rPr lang="sl-SI" altLang="en-US" sz="1800" i="1"/>
              <a:t>x</a:t>
            </a:r>
            <a:r>
              <a:rPr lang="sl-SI" altLang="en-US" sz="1800"/>
              <a:t>,</a:t>
            </a:r>
            <a:r>
              <a:rPr lang="sl-SI" altLang="en-US" sz="1800" i="1"/>
              <a:t>t</a:t>
            </a:r>
            <a:r>
              <a:rPr lang="sl-SI" altLang="en-US" sz="1800"/>
              <a:t>) po </a:t>
            </a:r>
            <a:r>
              <a:rPr lang="sl-SI" altLang="en-US" sz="1800" i="1"/>
              <a:t>t</a:t>
            </a:r>
            <a:r>
              <a:rPr lang="sl-SI" altLang="en-US" sz="1800"/>
              <a:t> pomeni gradient v času oz. spreminjanje intenzivnosti točke s slike na sliko pri isti koordinati </a:t>
            </a:r>
            <a:r>
              <a:rPr lang="sl-SI" altLang="en-US" sz="1800" i="1"/>
              <a:t>x</a:t>
            </a:r>
            <a:r>
              <a:rPr lang="sl-SI" altLang="en-US" sz="1800"/>
              <a:t>; krajše ga označimo z </a:t>
            </a:r>
            <a:r>
              <a:rPr lang="sl-SI" altLang="en-US" sz="1800" i="1"/>
              <a:t>I</a:t>
            </a:r>
            <a:r>
              <a:rPr lang="sl-SI" altLang="en-US" sz="1800" i="1" baseline="-25000"/>
              <a:t>t</a:t>
            </a:r>
            <a:r>
              <a:rPr lang="sl-SI" altLang="en-US" sz="1800"/>
              <a:t>.</a:t>
            </a:r>
          </a:p>
        </p:txBody>
      </p:sp>
      <p:graphicFrame>
        <p:nvGraphicFramePr>
          <p:cNvPr id="234505" name="Object 3"/>
          <p:cNvGraphicFramePr>
            <a:graphicFrameLocks noChangeAspect="1"/>
          </p:cNvGraphicFramePr>
          <p:nvPr/>
        </p:nvGraphicFramePr>
        <p:xfrm>
          <a:off x="1403350" y="2132013"/>
          <a:ext cx="4679950" cy="809625"/>
        </p:xfrm>
        <a:graphic>
          <a:graphicData uri="http://schemas.openxmlformats.org/presentationml/2006/ole">
            <mc:AlternateContent xmlns:mc="http://schemas.openxmlformats.org/markup-compatibility/2006">
              <mc:Choice xmlns:v="urn:schemas-microsoft-com:vml" Requires="v">
                <p:oleObj spid="_x0000_s234590" name="Equation" r:id="rId6" imgW="2057400" imgH="355600" progId="Equation.DSMT4">
                  <p:embed/>
                </p:oleObj>
              </mc:Choice>
              <mc:Fallback>
                <p:oleObj name="Equation" r:id="rId6" imgW="2057400" imgH="3556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2132013"/>
                        <a:ext cx="4679950"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4506" name="TextBox 25"/>
          <p:cNvSpPr txBox="1">
            <a:spLocks noChangeArrowheads="1"/>
          </p:cNvSpPr>
          <p:nvPr/>
        </p:nvSpPr>
        <p:spPr bwMode="auto">
          <a:xfrm>
            <a:off x="3924300" y="2976563"/>
            <a:ext cx="400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2800">
                <a:sym typeface="Symbol" panose="05050102010706020507" pitchFamily="18" charset="2"/>
              </a:rPr>
              <a:t></a:t>
            </a:r>
            <a:endParaRPr lang="en-GB" altLang="en-US" sz="2800"/>
          </a:p>
        </p:txBody>
      </p:sp>
      <p:graphicFrame>
        <p:nvGraphicFramePr>
          <p:cNvPr id="234507" name="Object 4"/>
          <p:cNvGraphicFramePr>
            <a:graphicFrameLocks noChangeAspect="1"/>
          </p:cNvGraphicFramePr>
          <p:nvPr/>
        </p:nvGraphicFramePr>
        <p:xfrm>
          <a:off x="2700338" y="3411538"/>
          <a:ext cx="2944812" cy="809625"/>
        </p:xfrm>
        <a:graphic>
          <a:graphicData uri="http://schemas.openxmlformats.org/presentationml/2006/ole">
            <mc:AlternateContent xmlns:mc="http://schemas.openxmlformats.org/markup-compatibility/2006">
              <mc:Choice xmlns:v="urn:schemas-microsoft-com:vml" Requires="v">
                <p:oleObj spid="_x0000_s234591" name="Equation" r:id="rId8" imgW="1294838" imgH="355446" progId="Equation.3">
                  <p:embed/>
                </p:oleObj>
              </mc:Choice>
              <mc:Fallback>
                <p:oleObj name="Equation" r:id="rId8" imgW="1294838" imgH="355446"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0338" y="3411538"/>
                        <a:ext cx="2944812"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365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68ADF9B-6BFF-4901-AD5F-CC9A086B69CA}" type="slidenum">
              <a:rPr lang="en-GB" altLang="en-US" sz="1400" smtClean="0"/>
              <a:pPr>
                <a:spcBef>
                  <a:spcPct val="0"/>
                </a:spcBef>
                <a:buFontTx/>
                <a:buNone/>
              </a:pPr>
              <a:t>118</a:t>
            </a:fld>
            <a:endParaRPr lang="en-GB" altLang="en-US" sz="1400"/>
          </a:p>
        </p:txBody>
      </p:sp>
      <p:sp>
        <p:nvSpPr>
          <p:cNvPr id="236548"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OPTIČNI TOK OZ. HITROST GIBANJA V 1D</a:t>
            </a:r>
            <a:endParaRPr lang="en-GB" altLang="en-US" sz="2000"/>
          </a:p>
        </p:txBody>
      </p:sp>
      <p:sp>
        <p:nvSpPr>
          <p:cNvPr id="23654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3655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36551"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36664"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52" name="Rectangle 10"/>
          <p:cNvSpPr>
            <a:spLocks noChangeArrowheads="1"/>
          </p:cNvSpPr>
          <p:nvPr/>
        </p:nvSpPr>
        <p:spPr bwMode="auto">
          <a:xfrm>
            <a:off x="900113" y="1125538"/>
            <a:ext cx="7704137" cy="463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Iz enačbe omejenega gibanja lahko določimo hitrost gibanja </a:t>
            </a:r>
            <a:r>
              <a:rPr lang="sl-SI" altLang="en-US" sz="1800" i="1"/>
              <a:t>v</a:t>
            </a:r>
            <a:r>
              <a:rPr lang="sl-SI" altLang="en-US" sz="1800" i="1" baseline="-25000"/>
              <a:t>x</a:t>
            </a:r>
            <a:r>
              <a:rPr lang="sl-SI" altLang="en-US" sz="1800"/>
              <a:t>:</a:t>
            </a:r>
          </a:p>
          <a:p>
            <a:pPr eaLnBrk="1" hangingPunct="1">
              <a:buClr>
                <a:srgbClr val="000000"/>
              </a:buClr>
              <a:buFontTx/>
              <a:buAutoNum type="arabicPeriod"/>
            </a:pPr>
            <a:endParaRPr lang="sl-SI" altLang="en-US" sz="1800" i="1"/>
          </a:p>
          <a:p>
            <a:pPr eaLnBrk="1" hangingPunct="1">
              <a:buClr>
                <a:srgbClr val="000000"/>
              </a:buClr>
              <a:buFontTx/>
              <a:buAutoNum type="arabicPeriod"/>
            </a:pPr>
            <a:endParaRPr lang="sl-SI" altLang="en-US" sz="1800" i="1"/>
          </a:p>
          <a:p>
            <a:pPr eaLnBrk="1" hangingPunct="1">
              <a:buClr>
                <a:srgbClr val="000000"/>
              </a:buClr>
              <a:buFontTx/>
              <a:buAutoNum type="arabicPeriod"/>
            </a:pPr>
            <a:endParaRPr lang="sl-SI" altLang="en-US" sz="1800" i="1"/>
          </a:p>
          <a:p>
            <a:pPr eaLnBrk="1" hangingPunct="1">
              <a:buClr>
                <a:srgbClr val="000000"/>
              </a:buClr>
              <a:buFontTx/>
              <a:buAutoNum type="arabicPeriod"/>
            </a:pPr>
            <a:endParaRPr lang="sl-SI" altLang="en-US" sz="1800" i="1"/>
          </a:p>
          <a:p>
            <a:pPr eaLnBrk="1" hangingPunct="1">
              <a:buClr>
                <a:srgbClr val="000000"/>
              </a:buClr>
              <a:buFontTx/>
              <a:buAutoNum type="arabicPeriod"/>
            </a:pPr>
            <a:endParaRPr lang="sl-SI" altLang="en-US" sz="1800" i="1"/>
          </a:p>
          <a:p>
            <a:pPr eaLnBrk="1" hangingPunct="1">
              <a:buClr>
                <a:srgbClr val="000000"/>
              </a:buClr>
              <a:buFontTx/>
              <a:buAutoNum type="arabicPeriod"/>
            </a:pPr>
            <a:r>
              <a:rPr lang="sl-SI" altLang="en-US" sz="1800"/>
              <a:t>Če poznamo hitrost premikanja točke, ji lahko sledimo skozi čas (s slike na sliko).</a:t>
            </a:r>
          </a:p>
          <a:p>
            <a:pPr eaLnBrk="1" hangingPunct="1">
              <a:buClr>
                <a:srgbClr val="000000"/>
              </a:buClr>
              <a:buFontTx/>
              <a:buAutoNum type="arabicPeriod"/>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p:txBody>
      </p:sp>
      <p:graphicFrame>
        <p:nvGraphicFramePr>
          <p:cNvPr id="236553" name="Object 9"/>
          <p:cNvGraphicFramePr>
            <a:graphicFrameLocks noChangeAspect="1"/>
          </p:cNvGraphicFramePr>
          <p:nvPr/>
        </p:nvGraphicFramePr>
        <p:xfrm>
          <a:off x="7405688" y="5943600"/>
          <a:ext cx="203200" cy="222250"/>
        </p:xfrm>
        <a:graphic>
          <a:graphicData uri="http://schemas.openxmlformats.org/presentationml/2006/ole">
            <mc:AlternateContent xmlns:mc="http://schemas.openxmlformats.org/markup-compatibility/2006">
              <mc:Choice xmlns:v="urn:schemas-microsoft-com:vml" Requires="v">
                <p:oleObj spid="_x0000_s236665" name="Equation" r:id="rId6" imgW="0" imgH="9633" progId="Equation.3">
                  <p:embed/>
                </p:oleObj>
              </mc:Choice>
              <mc:Fallback>
                <p:oleObj name="Equation" r:id="rId6" imgW="0" imgH="9633"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05688" y="5943600"/>
                        <a:ext cx="203200"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4" name="Predmet 1"/>
          <p:cNvGraphicFramePr>
            <a:graphicFrameLocks noChangeAspect="1"/>
          </p:cNvGraphicFramePr>
          <p:nvPr/>
        </p:nvGraphicFramePr>
        <p:xfrm>
          <a:off x="1547813" y="1484313"/>
          <a:ext cx="2736850" cy="1577975"/>
        </p:xfrm>
        <a:graphic>
          <a:graphicData uri="http://schemas.openxmlformats.org/presentationml/2006/ole">
            <mc:AlternateContent xmlns:mc="http://schemas.openxmlformats.org/markup-compatibility/2006">
              <mc:Choice xmlns:v="urn:schemas-microsoft-com:vml" Requires="v">
                <p:oleObj spid="_x0000_s236666" name="PHOTO-PAINT" r:id="rId8" imgW="0" imgH="0" progId="CorelPHOTOPAINT.Image.18">
                  <p:embed/>
                </p:oleObj>
              </mc:Choice>
              <mc:Fallback>
                <p:oleObj name="PHOTO-PAINT" r:id="rId8" imgW="0" imgH="0" progId="CorelPHOTOPAINT.Image.18">
                  <p:embed/>
                  <p:pic>
                    <p:nvPicPr>
                      <p:cNvPr id="0" name="Predme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813" y="1484313"/>
                        <a:ext cx="2736850"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6555" name="Predmet 3"/>
          <p:cNvGraphicFramePr>
            <a:graphicFrameLocks noChangeAspect="1"/>
          </p:cNvGraphicFramePr>
          <p:nvPr/>
        </p:nvGraphicFramePr>
        <p:xfrm>
          <a:off x="971550" y="3716338"/>
          <a:ext cx="6745288" cy="2522537"/>
        </p:xfrm>
        <a:graphic>
          <a:graphicData uri="http://schemas.openxmlformats.org/presentationml/2006/ole">
            <mc:AlternateContent xmlns:mc="http://schemas.openxmlformats.org/markup-compatibility/2006">
              <mc:Choice xmlns:v="urn:schemas-microsoft-com:vml" Requires="v">
                <p:oleObj spid="_x0000_s236667" name="PHOTO-PAINT" r:id="rId10" imgW="0" imgH="0" progId="CorelPHOTOPAINT.Image.18">
                  <p:embed/>
                </p:oleObj>
              </mc:Choice>
              <mc:Fallback>
                <p:oleObj name="PHOTO-PAINT" r:id="rId10" imgW="0" imgH="0" progId="CorelPHOTOPAINT.Image.18">
                  <p:embed/>
                  <p:pic>
                    <p:nvPicPr>
                      <p:cNvPr id="0" name="Predme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1550" y="3716338"/>
                        <a:ext cx="6745288" cy="252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385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8D3F90F-57A4-4735-8FC9-38F50E986AD9}" type="slidenum">
              <a:rPr lang="en-GB" altLang="en-US" sz="1400" smtClean="0"/>
              <a:pPr>
                <a:spcBef>
                  <a:spcPct val="0"/>
                </a:spcBef>
                <a:buFontTx/>
                <a:buNone/>
              </a:pPr>
              <a:t>119</a:t>
            </a:fld>
            <a:endParaRPr lang="en-GB" altLang="en-US" sz="1400"/>
          </a:p>
        </p:txBody>
      </p:sp>
      <p:sp>
        <p:nvSpPr>
          <p:cNvPr id="238596"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PRIKAZ ZA IZRAČUN HITROSTI GIBANJA V 1D</a:t>
            </a:r>
            <a:endParaRPr lang="en-GB" altLang="en-US" sz="2000"/>
          </a:p>
        </p:txBody>
      </p:sp>
      <p:sp>
        <p:nvSpPr>
          <p:cNvPr id="23859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3859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38599"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38739"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00" name="Object 20"/>
          <p:cNvGraphicFramePr>
            <a:graphicFrameLocks noChangeAspect="1"/>
          </p:cNvGraphicFramePr>
          <p:nvPr/>
        </p:nvGraphicFramePr>
        <p:xfrm>
          <a:off x="7405688" y="3454400"/>
          <a:ext cx="203200" cy="222250"/>
        </p:xfrm>
        <a:graphic>
          <a:graphicData uri="http://schemas.openxmlformats.org/presentationml/2006/ole">
            <mc:AlternateContent xmlns:mc="http://schemas.openxmlformats.org/markup-compatibility/2006">
              <mc:Choice xmlns:v="urn:schemas-microsoft-com:vml" Requires="v">
                <p:oleObj spid="_x0000_s238740" name="Equation" r:id="rId6" imgW="0" imgH="9633" progId="Equation.3">
                  <p:embed/>
                </p:oleObj>
              </mc:Choice>
              <mc:Fallback>
                <p:oleObj name="Equation" r:id="rId6" imgW="0" imgH="9633"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05688" y="3454400"/>
                        <a:ext cx="203200"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01" name="Object 30"/>
          <p:cNvGraphicFramePr>
            <a:graphicFrameLocks noChangeAspect="1"/>
          </p:cNvGraphicFramePr>
          <p:nvPr/>
        </p:nvGraphicFramePr>
        <p:xfrm>
          <a:off x="2514600" y="1616075"/>
          <a:ext cx="933450" cy="303213"/>
        </p:xfrm>
        <a:graphic>
          <a:graphicData uri="http://schemas.openxmlformats.org/presentationml/2006/ole">
            <mc:AlternateContent xmlns:mc="http://schemas.openxmlformats.org/markup-compatibility/2006">
              <mc:Choice xmlns:v="urn:schemas-microsoft-com:vml" Requires="v">
                <p:oleObj spid="_x0000_s238741" name="Equation" r:id="rId8" imgW="390557" imgH="0" progId="Equation.3">
                  <p:embed/>
                </p:oleObj>
              </mc:Choice>
              <mc:Fallback>
                <p:oleObj name="Equation" r:id="rId8" imgW="390557" imgH="0" progId="Equation.3">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4600" y="1616075"/>
                        <a:ext cx="933450"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02" name="Object 31"/>
          <p:cNvGraphicFramePr>
            <a:graphicFrameLocks noChangeAspect="1"/>
          </p:cNvGraphicFramePr>
          <p:nvPr/>
        </p:nvGraphicFramePr>
        <p:xfrm>
          <a:off x="3481388" y="2636838"/>
          <a:ext cx="219075" cy="236537"/>
        </p:xfrm>
        <a:graphic>
          <a:graphicData uri="http://schemas.openxmlformats.org/presentationml/2006/ole">
            <mc:AlternateContent xmlns:mc="http://schemas.openxmlformats.org/markup-compatibility/2006">
              <mc:Choice xmlns:v="urn:schemas-microsoft-com:vml" Requires="v">
                <p:oleObj spid="_x0000_s238742" name="Equation" r:id="rId10" imgW="0" imgH="9456" progId="Equation.3">
                  <p:embed/>
                </p:oleObj>
              </mc:Choice>
              <mc:Fallback>
                <p:oleObj name="Equation" r:id="rId10" imgW="0" imgH="9456" progId="Equation.3">
                  <p:embed/>
                  <p:pic>
                    <p:nvPicPr>
                      <p:cNvPr id="0"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81388" y="2636838"/>
                        <a:ext cx="219075" cy="236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03" name="Predmet 1"/>
          <p:cNvGraphicFramePr>
            <a:graphicFrameLocks noChangeAspect="1"/>
          </p:cNvGraphicFramePr>
          <p:nvPr/>
        </p:nvGraphicFramePr>
        <p:xfrm>
          <a:off x="815975" y="1125538"/>
          <a:ext cx="7932738" cy="4895850"/>
        </p:xfrm>
        <a:graphic>
          <a:graphicData uri="http://schemas.openxmlformats.org/presentationml/2006/ole">
            <mc:AlternateContent xmlns:mc="http://schemas.openxmlformats.org/markup-compatibility/2006">
              <mc:Choice xmlns:v="urn:schemas-microsoft-com:vml" Requires="v">
                <p:oleObj spid="_x0000_s238743" name="PHOTO-PAINT" r:id="rId12" imgW="0" imgH="0" progId="CorelPHOTOPAINT.Image.18">
                  <p:embed/>
                </p:oleObj>
              </mc:Choice>
              <mc:Fallback>
                <p:oleObj name="PHOTO-PAINT" r:id="rId12" imgW="0" imgH="0" progId="CorelPHOTOPAINT.Image.18">
                  <p:embed/>
                  <p:pic>
                    <p:nvPicPr>
                      <p:cNvPr id="0" name="Predme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5975" y="1125538"/>
                        <a:ext cx="7932738"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406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7AFDB76-8AF4-4649-B0EB-24870131C352}" type="slidenum">
              <a:rPr lang="en-GB" altLang="en-US" sz="1400" smtClean="0"/>
              <a:pPr>
                <a:spcBef>
                  <a:spcPct val="0"/>
                </a:spcBef>
                <a:buFontTx/>
                <a:buNone/>
              </a:pPr>
              <a:t>120</a:t>
            </a:fld>
            <a:endParaRPr lang="en-GB" altLang="en-US" sz="1400"/>
          </a:p>
        </p:txBody>
      </p:sp>
      <p:sp>
        <p:nvSpPr>
          <p:cNvPr id="240644"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ITERATIVNI POPRAVKI ZA IZRAČUN HITROSTI GIBANJA V 1D</a:t>
            </a:r>
            <a:endParaRPr lang="en-GB" altLang="en-US" sz="2000"/>
          </a:p>
        </p:txBody>
      </p:sp>
      <p:sp>
        <p:nvSpPr>
          <p:cNvPr id="24064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064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40647" name="Object 5"/>
          <p:cNvGraphicFramePr>
            <a:graphicFrameLocks noChangeAspect="1"/>
          </p:cNvGraphicFramePr>
          <p:nvPr/>
        </p:nvGraphicFramePr>
        <p:xfrm>
          <a:off x="7405688" y="4779963"/>
          <a:ext cx="203200" cy="222250"/>
        </p:xfrm>
        <a:graphic>
          <a:graphicData uri="http://schemas.openxmlformats.org/presentationml/2006/ole">
            <mc:AlternateContent xmlns:mc="http://schemas.openxmlformats.org/markup-compatibility/2006">
              <mc:Choice xmlns:v="urn:schemas-microsoft-com:vml" Requires="v">
                <p:oleObj spid="_x0000_s240788" name="Equation" r:id="rId4" imgW="0" imgH="9633" progId="Equation.3">
                  <p:embed/>
                </p:oleObj>
              </mc:Choice>
              <mc:Fallback>
                <p:oleObj name="Equation" r:id="rId4" imgW="0" imgH="9633"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05688" y="4779963"/>
                        <a:ext cx="203200"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0648" name="Object 17"/>
          <p:cNvGraphicFramePr>
            <a:graphicFrameLocks noChangeAspect="1"/>
          </p:cNvGraphicFramePr>
          <p:nvPr/>
        </p:nvGraphicFramePr>
        <p:xfrm>
          <a:off x="3481388" y="3962400"/>
          <a:ext cx="219075" cy="236538"/>
        </p:xfrm>
        <a:graphic>
          <a:graphicData uri="http://schemas.openxmlformats.org/presentationml/2006/ole">
            <mc:AlternateContent xmlns:mc="http://schemas.openxmlformats.org/markup-compatibility/2006">
              <mc:Choice xmlns:v="urn:schemas-microsoft-com:vml" Requires="v">
                <p:oleObj spid="_x0000_s240789" name="Equation" r:id="rId6" imgW="0" imgH="9456" progId="Equation.3">
                  <p:embed/>
                </p:oleObj>
              </mc:Choice>
              <mc:Fallback>
                <p:oleObj name="Equation" r:id="rId6" imgW="0" imgH="9456"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1388" y="3962400"/>
                        <a:ext cx="219075" cy="236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0649" name="Object 21"/>
          <p:cNvGraphicFramePr>
            <a:graphicFrameLocks noChangeAspect="1"/>
          </p:cNvGraphicFramePr>
          <p:nvPr/>
        </p:nvGraphicFramePr>
        <p:xfrm>
          <a:off x="4478338" y="5018088"/>
          <a:ext cx="236537" cy="328612"/>
        </p:xfrm>
        <a:graphic>
          <a:graphicData uri="http://schemas.openxmlformats.org/presentationml/2006/ole">
            <mc:AlternateContent xmlns:mc="http://schemas.openxmlformats.org/markup-compatibility/2006">
              <mc:Choice xmlns:v="urn:schemas-microsoft-com:vml" Requires="v">
                <p:oleObj spid="_x0000_s240790" name="Equation" r:id="rId8" imgW="0" imgH="66745" progId="Equation.3">
                  <p:embed/>
                </p:oleObj>
              </mc:Choice>
              <mc:Fallback>
                <p:oleObj name="Equation" r:id="rId8" imgW="0" imgH="66745" progId="Equation.3">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78338" y="5018088"/>
                        <a:ext cx="236537" cy="328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0650" name="Object 25"/>
          <p:cNvGraphicFramePr>
            <a:graphicFrameLocks noChangeAspect="1"/>
          </p:cNvGraphicFramePr>
          <p:nvPr/>
        </p:nvGraphicFramePr>
        <p:xfrm>
          <a:off x="4919663" y="3716338"/>
          <a:ext cx="200025" cy="328612"/>
        </p:xfrm>
        <a:graphic>
          <a:graphicData uri="http://schemas.openxmlformats.org/presentationml/2006/ole">
            <mc:AlternateContent xmlns:mc="http://schemas.openxmlformats.org/markup-compatibility/2006">
              <mc:Choice xmlns:v="urn:schemas-microsoft-com:vml" Requires="v">
                <p:oleObj spid="_x0000_s240791" name="Equation" r:id="rId10" imgW="0" imgH="66745" progId="Equation.3">
                  <p:embed/>
                </p:oleObj>
              </mc:Choice>
              <mc:Fallback>
                <p:oleObj name="Equation" r:id="rId10" imgW="0" imgH="66745" progId="Equation.3">
                  <p:embed/>
                  <p:pic>
                    <p:nvPicPr>
                      <p:cNvPr id="0"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19663" y="3716338"/>
                        <a:ext cx="200025" cy="328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0651" name="TextBox 112"/>
          <p:cNvSpPr txBox="1">
            <a:spLocks noChangeArrowheads="1"/>
          </p:cNvSpPr>
          <p:nvPr/>
        </p:nvSpPr>
        <p:spPr bwMode="auto">
          <a:xfrm>
            <a:off x="755650" y="1287463"/>
            <a:ext cx="7777163" cy="127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Označimo izračun hitrosti v </a:t>
            </a:r>
            <a:r>
              <a:rPr lang="sl-SI" altLang="en-US" sz="1800" i="1"/>
              <a:t>k</a:t>
            </a:r>
            <a:r>
              <a:rPr lang="sl-SI" altLang="en-US" sz="1800"/>
              <a:t>-tem koraku z </a:t>
            </a:r>
            <a:r>
              <a:rPr lang="sl-SI" altLang="en-US" sz="1800" i="1"/>
              <a:t>v</a:t>
            </a:r>
            <a:r>
              <a:rPr lang="sl-SI" altLang="en-US" sz="1800" i="1" baseline="-25000"/>
              <a:t>x,k</a:t>
            </a:r>
            <a:r>
              <a:rPr lang="sl-SI" altLang="en-US" sz="1800" i="1"/>
              <a:t>.</a:t>
            </a:r>
            <a:endParaRPr lang="sl-SI" altLang="en-US" sz="1800"/>
          </a:p>
          <a:p>
            <a:pPr eaLnBrk="1" hangingPunct="1">
              <a:spcBef>
                <a:spcPts val="600"/>
              </a:spcBef>
              <a:buFontTx/>
              <a:buAutoNum type="arabicPeriod"/>
            </a:pPr>
            <a:r>
              <a:rPr lang="sl-SI" altLang="en-US" sz="1800"/>
              <a:t>V koraku </a:t>
            </a:r>
            <a:r>
              <a:rPr lang="sl-SI" altLang="en-US" sz="1800" i="1"/>
              <a:t>k</a:t>
            </a:r>
            <a:r>
              <a:rPr lang="sl-SI" altLang="en-US" sz="1800"/>
              <a:t>+1 vzamemo na prvi sliki koordinato </a:t>
            </a:r>
            <a:r>
              <a:rPr lang="sl-SI" altLang="en-US" sz="1800" i="1"/>
              <a:t>x</a:t>
            </a:r>
            <a:r>
              <a:rPr lang="sl-SI" altLang="en-US" sz="1800"/>
              <a:t>+</a:t>
            </a:r>
            <a:r>
              <a:rPr lang="sl-SI" altLang="en-US" sz="1800" i="1"/>
              <a:t>v</a:t>
            </a:r>
            <a:r>
              <a:rPr lang="sl-SI" altLang="en-US" sz="1800" i="1" baseline="-25000"/>
              <a:t>x,k</a:t>
            </a:r>
            <a:r>
              <a:rPr lang="sl-SI" altLang="en-US" sz="1800" i="1"/>
              <a:t>∙</a:t>
            </a:r>
            <a:r>
              <a:rPr lang="el-GR" altLang="en-US" sz="1800" i="1"/>
              <a:t>Δ</a:t>
            </a:r>
            <a:r>
              <a:rPr lang="sl-SI" altLang="en-US" sz="1800" i="1"/>
              <a:t>t</a:t>
            </a:r>
            <a:r>
              <a:rPr lang="sl-SI" altLang="en-US" sz="1800"/>
              <a:t> in izračunamo  razliko intenzivnosti do istoležne točke na drugi sliki (uporabimo lahko  linearno interpolacijo)</a:t>
            </a:r>
            <a:endParaRPr lang="en-GB" altLang="en-US" sz="1800"/>
          </a:p>
        </p:txBody>
      </p:sp>
      <p:graphicFrame>
        <p:nvGraphicFramePr>
          <p:cNvPr id="240652" name="Predmet 1"/>
          <p:cNvGraphicFramePr>
            <a:graphicFrameLocks noChangeAspect="1"/>
          </p:cNvGraphicFramePr>
          <p:nvPr/>
        </p:nvGraphicFramePr>
        <p:xfrm>
          <a:off x="971550" y="2565400"/>
          <a:ext cx="7473950" cy="3600450"/>
        </p:xfrm>
        <a:graphic>
          <a:graphicData uri="http://schemas.openxmlformats.org/presentationml/2006/ole">
            <mc:AlternateContent xmlns:mc="http://schemas.openxmlformats.org/markup-compatibility/2006">
              <mc:Choice xmlns:v="urn:schemas-microsoft-com:vml" Requires="v">
                <p:oleObj spid="_x0000_s240792" name="PHOTO-PAINT" r:id="rId12" imgW="0" imgH="0" progId="CorelPHOTOPAINT.Image.18">
                  <p:embed/>
                </p:oleObj>
              </mc:Choice>
              <mc:Fallback>
                <p:oleObj name="PHOTO-PAINT" r:id="rId12" imgW="0" imgH="0" progId="CorelPHOTOPAINT.Image.18">
                  <p:embed/>
                  <p:pic>
                    <p:nvPicPr>
                      <p:cNvPr id="0" name="Predme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1550" y="2565400"/>
                        <a:ext cx="74739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426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DF426C4-DA1B-4F45-8734-0A77A0DE15BD}" type="slidenum">
              <a:rPr lang="en-GB" altLang="en-US" sz="1400" smtClean="0"/>
              <a:pPr>
                <a:spcBef>
                  <a:spcPct val="0"/>
                </a:spcBef>
                <a:buFontTx/>
                <a:buNone/>
              </a:pPr>
              <a:t>121</a:t>
            </a:fld>
            <a:endParaRPr lang="en-GB" altLang="en-US" sz="1400"/>
          </a:p>
        </p:txBody>
      </p:sp>
      <p:sp>
        <p:nvSpPr>
          <p:cNvPr id="242692"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OMEJENO GIBANJE V 2D</a:t>
            </a:r>
            <a:endParaRPr lang="en-GB" altLang="en-US" sz="2000"/>
          </a:p>
        </p:txBody>
      </p:sp>
      <p:sp>
        <p:nvSpPr>
          <p:cNvPr id="24269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269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4269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42729"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6" name="Rectangle 10"/>
          <p:cNvSpPr>
            <a:spLocks noChangeArrowheads="1"/>
          </p:cNvSpPr>
          <p:nvPr/>
        </p:nvSpPr>
        <p:spPr bwMode="auto">
          <a:xfrm>
            <a:off x="900113" y="1125538"/>
            <a:ext cx="7704137" cy="385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Imejmo točko z intenzivnostjo </a:t>
            </a:r>
            <a:r>
              <a:rPr lang="sl-SI" altLang="en-US" sz="1800" i="1"/>
              <a:t>I</a:t>
            </a:r>
            <a:r>
              <a:rPr lang="sl-SI" altLang="en-US" sz="1800"/>
              <a:t>(</a:t>
            </a:r>
            <a:r>
              <a:rPr lang="sl-SI" altLang="en-US" sz="1800" i="1"/>
              <a:t>x,y</a:t>
            </a:r>
            <a:r>
              <a:rPr lang="sl-SI" altLang="en-US" sz="1800"/>
              <a:t>), ki se lahko premika v smereh </a:t>
            </a:r>
            <a:r>
              <a:rPr lang="sl-SI" altLang="en-US" sz="1800" i="1"/>
              <a:t>x </a:t>
            </a:r>
            <a:r>
              <a:rPr lang="sl-SI" altLang="en-US" sz="1800"/>
              <a:t>in </a:t>
            </a:r>
            <a:r>
              <a:rPr lang="sl-SI" altLang="en-US" sz="1800" i="1"/>
              <a:t>y.</a:t>
            </a:r>
          </a:p>
          <a:p>
            <a:pPr eaLnBrk="1" hangingPunct="1">
              <a:buClr>
                <a:srgbClr val="000000"/>
              </a:buClr>
              <a:buFontTx/>
              <a:buAutoNum type="arabicPeriod"/>
            </a:pPr>
            <a:r>
              <a:rPr lang="sl-SI" altLang="en-US" sz="1800"/>
              <a:t>Premik za </a:t>
            </a:r>
            <a:r>
              <a:rPr lang="el-GR" altLang="en-US" sz="1800" i="1"/>
              <a:t>Δ</a:t>
            </a:r>
            <a:r>
              <a:rPr lang="sl-SI" altLang="en-US" sz="1800" i="1"/>
              <a:t>x</a:t>
            </a:r>
            <a:r>
              <a:rPr lang="sl-SI" altLang="en-US" sz="1800"/>
              <a:t> in </a:t>
            </a:r>
            <a:r>
              <a:rPr lang="el-GR" altLang="en-US" sz="1800" i="1"/>
              <a:t>Δ</a:t>
            </a:r>
            <a:r>
              <a:rPr lang="sl-SI" altLang="en-US" sz="1800"/>
              <a:t>y se naj zgodi v času </a:t>
            </a:r>
            <a:r>
              <a:rPr lang="el-GR" altLang="en-US" sz="1800" i="1"/>
              <a:t>Δ</a:t>
            </a:r>
            <a:r>
              <a:rPr lang="sl-SI" altLang="en-US" sz="1800" i="1"/>
              <a:t>t</a:t>
            </a:r>
            <a:r>
              <a:rPr lang="sl-SI" altLang="en-US" sz="1800"/>
              <a:t>, kar pomeni, da se točka premika v smeri </a:t>
            </a:r>
            <a:r>
              <a:rPr lang="sl-SI" altLang="en-US" sz="1800" i="1"/>
              <a:t>x</a:t>
            </a:r>
            <a:r>
              <a:rPr lang="sl-SI" altLang="en-US" sz="1800"/>
              <a:t> s hitrostjo </a:t>
            </a:r>
            <a:r>
              <a:rPr lang="sl-SI" altLang="en-US" sz="1800" i="1"/>
              <a:t>v</a:t>
            </a:r>
            <a:r>
              <a:rPr lang="sl-SI" altLang="en-US" sz="1800" i="1" baseline="-25000"/>
              <a:t>x</a:t>
            </a:r>
            <a:r>
              <a:rPr lang="sl-SI" altLang="en-US" sz="1800" i="1"/>
              <a:t> </a:t>
            </a:r>
            <a:r>
              <a:rPr lang="sl-SI" altLang="en-US" sz="1800"/>
              <a:t>= </a:t>
            </a:r>
            <a:r>
              <a:rPr lang="el-GR" altLang="en-US" sz="1800" i="1"/>
              <a:t>Δ</a:t>
            </a:r>
            <a:r>
              <a:rPr lang="sl-SI" altLang="en-US" sz="1800" i="1"/>
              <a:t>x</a:t>
            </a:r>
            <a:r>
              <a:rPr lang="sl-SI" altLang="en-US" sz="1800"/>
              <a:t>/</a:t>
            </a:r>
            <a:r>
              <a:rPr lang="el-GR" altLang="en-US" sz="1800" i="1"/>
              <a:t>Δ</a:t>
            </a:r>
            <a:r>
              <a:rPr lang="sl-SI" altLang="en-US" sz="1800" i="1"/>
              <a:t>t</a:t>
            </a:r>
            <a:r>
              <a:rPr lang="sl-SI" altLang="en-US" sz="1800"/>
              <a:t>, v smeri </a:t>
            </a:r>
            <a:r>
              <a:rPr lang="sl-SI" altLang="en-US" sz="1800" i="1"/>
              <a:t>y</a:t>
            </a:r>
            <a:r>
              <a:rPr lang="sl-SI" altLang="en-US" sz="1800"/>
              <a:t> pa s hitrostjo </a:t>
            </a:r>
            <a:r>
              <a:rPr lang="sl-SI" altLang="en-US" sz="1800" i="1"/>
              <a:t>v</a:t>
            </a:r>
            <a:r>
              <a:rPr lang="sl-SI" altLang="en-US" sz="1800" i="1" baseline="-25000"/>
              <a:t>y</a:t>
            </a:r>
            <a:r>
              <a:rPr lang="sl-SI" altLang="en-US" sz="1800" i="1"/>
              <a:t> </a:t>
            </a:r>
            <a:r>
              <a:rPr lang="sl-SI" altLang="en-US" sz="1800"/>
              <a:t>= </a:t>
            </a:r>
            <a:r>
              <a:rPr lang="el-GR" altLang="en-US" sz="1800" i="1"/>
              <a:t>Δ</a:t>
            </a:r>
            <a:r>
              <a:rPr lang="sl-SI" altLang="en-US" sz="1800" i="1"/>
              <a:t>y</a:t>
            </a:r>
            <a:r>
              <a:rPr lang="sl-SI" altLang="en-US" sz="1800"/>
              <a:t>/</a:t>
            </a:r>
            <a:r>
              <a:rPr lang="el-GR" altLang="en-US" sz="1800" i="1"/>
              <a:t>Δ</a:t>
            </a:r>
            <a:r>
              <a:rPr lang="sl-SI" altLang="en-US" sz="1800" i="1"/>
              <a:t>t.</a:t>
            </a:r>
            <a:endParaRPr lang="sl-SI" altLang="en-US" sz="1800"/>
          </a:p>
          <a:p>
            <a:pPr eaLnBrk="1" hangingPunct="1">
              <a:spcBef>
                <a:spcPts val="600"/>
              </a:spcBef>
              <a:buClr>
                <a:srgbClr val="000000"/>
              </a:buClr>
              <a:buFontTx/>
              <a:buAutoNum type="arabicPeriod"/>
            </a:pPr>
            <a:r>
              <a:rPr lang="sl-SI" altLang="en-US" sz="1800"/>
              <a:t>Privzamemo, da sosednje točke na sceni pripadajo isti površini in imajo zato enako gibanje.</a:t>
            </a:r>
          </a:p>
          <a:p>
            <a:pPr eaLnBrk="1" hangingPunct="1">
              <a:spcBef>
                <a:spcPts val="600"/>
              </a:spcBef>
              <a:buClr>
                <a:srgbClr val="000000"/>
              </a:buClr>
              <a:buFontTx/>
              <a:buAutoNum type="arabicPeriod"/>
            </a:pPr>
            <a:r>
              <a:rPr lang="sl-SI" altLang="en-US" sz="1800"/>
              <a:t>Te točke se projicirajo kot sosednje tudi na sliki, zato pričakujemo, da bo 2D optični tok zanje prostorsko koherenten (skladen).</a:t>
            </a:r>
          </a:p>
          <a:p>
            <a:pPr eaLnBrk="1" hangingPunct="1">
              <a:spcBef>
                <a:spcPts val="600"/>
              </a:spcBef>
              <a:buClr>
                <a:srgbClr val="000000"/>
              </a:buClr>
              <a:buFontTx/>
              <a:buAutoNum type="arabicPeriod"/>
            </a:pPr>
            <a:endParaRPr lang="sl-SI" altLang="en-US" sz="1800" i="1"/>
          </a:p>
          <a:p>
            <a:pPr eaLnBrk="1" hangingPunct="1">
              <a:spcBef>
                <a:spcPts val="600"/>
              </a:spcBef>
              <a:buClr>
                <a:srgbClr val="000000"/>
              </a:buClr>
              <a:buFontTx/>
              <a:buAutoNum type="arabicPeriod"/>
            </a:pPr>
            <a:endParaRPr lang="sl-SI" altLang="en-US" sz="1800" i="1"/>
          </a:p>
          <a:p>
            <a:pPr eaLnBrk="1" hangingPunct="1">
              <a:spcBef>
                <a:spcPts val="600"/>
              </a:spcBef>
              <a:buClr>
                <a:srgbClr val="000000"/>
              </a:buClr>
              <a:buFontTx/>
              <a:buAutoNum type="arabicPeriod"/>
            </a:pPr>
            <a:endParaRPr lang="sl-SI" altLang="en-US" sz="1800" i="1"/>
          </a:p>
        </p:txBody>
      </p:sp>
      <p:grpSp>
        <p:nvGrpSpPr>
          <p:cNvPr id="242697" name="Group 29"/>
          <p:cNvGrpSpPr>
            <a:grpSpLocks/>
          </p:cNvGrpSpPr>
          <p:nvPr/>
        </p:nvGrpSpPr>
        <p:grpSpPr bwMode="auto">
          <a:xfrm>
            <a:off x="1644650" y="3924300"/>
            <a:ext cx="4079875" cy="2312988"/>
            <a:chOff x="1213252" y="3924942"/>
            <a:chExt cx="4078828" cy="2312370"/>
          </a:xfrm>
        </p:grpSpPr>
        <p:pic>
          <p:nvPicPr>
            <p:cNvPr id="242698" name="Picture 8" descr="Spatial Coherence"/>
            <p:cNvPicPr>
              <a:picLocks noChangeAspect="1" noChangeArrowheads="1"/>
            </p:cNvPicPr>
            <p:nvPr/>
          </p:nvPicPr>
          <p:blipFill>
            <a:blip r:embed="rId6">
              <a:extLst>
                <a:ext uri="{28A0092B-C50C-407E-A947-70E740481C1C}">
                  <a14:useLocalDpi xmlns:a14="http://schemas.microsoft.com/office/drawing/2010/main" val="0"/>
                </a:ext>
              </a:extLst>
            </a:blip>
            <a:srcRect l="13646" t="16496" r="15729" b="23686"/>
            <a:stretch>
              <a:fillRect/>
            </a:stretch>
          </p:blipFill>
          <p:spPr bwMode="auto">
            <a:xfrm>
              <a:off x="1403648" y="3924942"/>
              <a:ext cx="3888432" cy="224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699" name="TextBox 25"/>
            <p:cNvSpPr txBox="1">
              <a:spLocks noChangeArrowheads="1"/>
            </p:cNvSpPr>
            <p:nvPr/>
          </p:nvSpPr>
          <p:spPr bwMode="auto">
            <a:xfrm>
              <a:off x="1259632" y="5867980"/>
              <a:ext cx="57606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     </a:t>
              </a:r>
              <a:endParaRPr lang="en-GB" altLang="en-US" sz="1800"/>
            </a:p>
          </p:txBody>
        </p:sp>
        <p:sp>
          <p:nvSpPr>
            <p:cNvPr id="242700" name="TextBox 27"/>
            <p:cNvSpPr txBox="1">
              <a:spLocks noChangeArrowheads="1"/>
            </p:cNvSpPr>
            <p:nvPr/>
          </p:nvSpPr>
          <p:spPr bwMode="auto">
            <a:xfrm>
              <a:off x="1213252" y="5301208"/>
              <a:ext cx="766460" cy="246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000"/>
                <a:t>Površina</a:t>
              </a:r>
              <a:endParaRPr lang="en-GB" altLang="en-US" sz="1000"/>
            </a:p>
          </p:txBody>
        </p:sp>
        <p:sp>
          <p:nvSpPr>
            <p:cNvPr id="242701" name="TextBox 28"/>
            <p:cNvSpPr txBox="1">
              <a:spLocks noChangeArrowheads="1"/>
            </p:cNvSpPr>
            <p:nvPr/>
          </p:nvSpPr>
          <p:spPr bwMode="auto">
            <a:xfrm>
              <a:off x="4172204" y="5807319"/>
              <a:ext cx="766460"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000"/>
                <a:t>Slikovna ravnina</a:t>
              </a:r>
              <a:endParaRPr lang="en-GB" altLang="en-US" sz="1000"/>
            </a:p>
          </p:txBody>
        </p:sp>
      </p:grpSp>
    </p:spTree>
  </p:cSld>
  <p:clrMapOvr>
    <a:masterClrMapping/>
  </p:clrMapOvr>
  <p:transition>
    <p:cove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447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403C92D-74AC-44FC-B683-6FA2984B00DF}" type="slidenum">
              <a:rPr lang="en-GB" altLang="en-US" sz="1400" smtClean="0"/>
              <a:pPr>
                <a:spcBef>
                  <a:spcPct val="0"/>
                </a:spcBef>
                <a:buFontTx/>
                <a:buNone/>
              </a:pPr>
              <a:t>122</a:t>
            </a:fld>
            <a:endParaRPr lang="en-GB" altLang="en-US" sz="1400"/>
          </a:p>
        </p:txBody>
      </p:sp>
      <p:sp>
        <p:nvSpPr>
          <p:cNvPr id="244740"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ENAČBA OMEJENEGA GIBANJA V 2D</a:t>
            </a:r>
            <a:endParaRPr lang="en-GB" altLang="en-US" sz="2000"/>
          </a:p>
        </p:txBody>
      </p:sp>
      <p:sp>
        <p:nvSpPr>
          <p:cNvPr id="24474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474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44743"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44829"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4744" name="Rectangle 10"/>
          <p:cNvSpPr>
            <a:spLocks noChangeArrowheads="1"/>
          </p:cNvSpPr>
          <p:nvPr/>
        </p:nvSpPr>
        <p:spPr bwMode="auto">
          <a:xfrm>
            <a:off x="900113" y="1125538"/>
            <a:ext cx="7704137" cy="492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Izenačenje intenzivnosti piksla </a:t>
            </a:r>
            <a:r>
              <a:rPr lang="sl-SI" altLang="en-US" sz="1800" i="1"/>
              <a:t>I</a:t>
            </a:r>
            <a:r>
              <a:rPr lang="sl-SI" altLang="en-US" sz="1800"/>
              <a:t>(</a:t>
            </a:r>
            <a:r>
              <a:rPr lang="sl-SI" altLang="en-US" sz="1800" i="1"/>
              <a:t>x</a:t>
            </a:r>
            <a:r>
              <a:rPr lang="sl-SI" altLang="en-US" sz="1800"/>
              <a:t>,</a:t>
            </a:r>
            <a:r>
              <a:rPr lang="sl-SI" altLang="en-US" sz="1800" i="1"/>
              <a:t>y</a:t>
            </a:r>
            <a:r>
              <a:rPr lang="sl-SI" altLang="en-US" sz="1800"/>
              <a:t>,</a:t>
            </a:r>
            <a:r>
              <a:rPr lang="sl-SI" altLang="en-US" sz="1800" i="1"/>
              <a:t>t</a:t>
            </a:r>
            <a:r>
              <a:rPr lang="sl-SI" altLang="en-US" sz="1800"/>
              <a:t>) z njegovo premaknjeno inačico </a:t>
            </a:r>
            <a:r>
              <a:rPr lang="sl-SI" altLang="en-US" sz="1800" i="1"/>
              <a:t>I</a:t>
            </a:r>
            <a:r>
              <a:rPr lang="sl-SI" altLang="en-US" sz="1800"/>
              <a:t>(</a:t>
            </a:r>
            <a:r>
              <a:rPr lang="sl-SI" altLang="en-US" sz="1800" i="1"/>
              <a:t>x+</a:t>
            </a:r>
            <a:r>
              <a:rPr lang="el-GR" altLang="en-US" sz="1800" i="1"/>
              <a:t>Δ</a:t>
            </a:r>
            <a:r>
              <a:rPr lang="sl-SI" altLang="en-US" sz="1800" i="1"/>
              <a:t>x</a:t>
            </a:r>
            <a:r>
              <a:rPr lang="sl-SI" altLang="en-US" sz="1800"/>
              <a:t>,</a:t>
            </a:r>
            <a:r>
              <a:rPr lang="sl-SI" altLang="en-US" sz="1800" i="1"/>
              <a:t>y+</a:t>
            </a:r>
            <a:r>
              <a:rPr lang="el-GR" altLang="en-US" sz="1800" i="1"/>
              <a:t>Δ</a:t>
            </a:r>
            <a:r>
              <a:rPr lang="sl-SI" altLang="en-US" sz="1800" i="1"/>
              <a:t>y,t+</a:t>
            </a:r>
            <a:r>
              <a:rPr lang="el-GR" altLang="en-US" sz="1800" i="1"/>
              <a:t>Δ</a:t>
            </a:r>
            <a:r>
              <a:rPr lang="sl-SI" altLang="en-US" sz="1800" i="1"/>
              <a:t>t</a:t>
            </a:r>
            <a:r>
              <a:rPr lang="sl-SI" altLang="en-US" sz="1800"/>
              <a:t>) da:</a:t>
            </a:r>
          </a:p>
          <a:p>
            <a:pPr eaLnBrk="1" hangingPunct="1">
              <a:buClr>
                <a:srgbClr val="000000"/>
              </a:buClr>
              <a:buFontTx/>
              <a:buNone/>
            </a:pPr>
            <a:r>
              <a:rPr lang="sl-SI" altLang="en-US" sz="1800"/>
              <a:t>	</a:t>
            </a:r>
            <a:r>
              <a:rPr lang="sl-SI" altLang="en-US" sz="1800" i="1"/>
              <a:t> I</a:t>
            </a:r>
            <a:r>
              <a:rPr lang="sl-SI" altLang="en-US" sz="1800"/>
              <a:t>(</a:t>
            </a:r>
            <a:r>
              <a:rPr lang="sl-SI" altLang="en-US" sz="1800" i="1"/>
              <a:t>x</a:t>
            </a:r>
            <a:r>
              <a:rPr lang="sl-SI" altLang="en-US" sz="1800"/>
              <a:t>,</a:t>
            </a:r>
            <a:r>
              <a:rPr lang="sl-SI" altLang="en-US" sz="1800" i="1"/>
              <a:t>y</a:t>
            </a:r>
            <a:r>
              <a:rPr lang="sl-SI" altLang="en-US" sz="1800"/>
              <a:t>,</a:t>
            </a:r>
            <a:r>
              <a:rPr lang="sl-SI" altLang="en-US" sz="1800" i="1"/>
              <a:t>t</a:t>
            </a:r>
            <a:r>
              <a:rPr lang="sl-SI" altLang="en-US" sz="1800"/>
              <a:t>) = </a:t>
            </a:r>
            <a:r>
              <a:rPr lang="sl-SI" altLang="en-US" sz="1800" i="1"/>
              <a:t>I</a:t>
            </a:r>
            <a:r>
              <a:rPr lang="sl-SI" altLang="en-US" sz="1800"/>
              <a:t>(</a:t>
            </a:r>
            <a:r>
              <a:rPr lang="sl-SI" altLang="en-US" sz="1800" i="1"/>
              <a:t>x+</a:t>
            </a:r>
            <a:r>
              <a:rPr lang="el-GR" altLang="en-US" sz="1800" i="1"/>
              <a:t>Δ</a:t>
            </a:r>
            <a:r>
              <a:rPr lang="sl-SI" altLang="en-US" sz="1800" i="1"/>
              <a:t>x</a:t>
            </a:r>
            <a:r>
              <a:rPr lang="sl-SI" altLang="en-US" sz="1800"/>
              <a:t>,</a:t>
            </a:r>
            <a:r>
              <a:rPr lang="sl-SI" altLang="en-US" sz="1800" i="1"/>
              <a:t>y+</a:t>
            </a:r>
            <a:r>
              <a:rPr lang="el-GR" altLang="en-US" sz="1800" i="1"/>
              <a:t>Δ</a:t>
            </a:r>
            <a:r>
              <a:rPr lang="sl-SI" altLang="en-US" sz="1800" i="1"/>
              <a:t>y,t+</a:t>
            </a:r>
            <a:r>
              <a:rPr lang="el-GR" altLang="en-US" sz="1800" i="1"/>
              <a:t>Δ</a:t>
            </a:r>
            <a:r>
              <a:rPr lang="sl-SI" altLang="en-US" sz="1800" i="1"/>
              <a:t>t</a:t>
            </a:r>
            <a:r>
              <a:rPr lang="sl-SI" altLang="en-US" sz="1800"/>
              <a:t>) </a:t>
            </a:r>
          </a:p>
          <a:p>
            <a:pPr eaLnBrk="1" hangingPunct="1">
              <a:buClr>
                <a:srgbClr val="000000"/>
              </a:buClr>
              <a:buFontTx/>
              <a:buAutoNum type="arabicPeriod" startAt="2"/>
            </a:pPr>
            <a:r>
              <a:rPr lang="sl-SI" altLang="en-US" sz="1800"/>
              <a:t>Razvoj v Taylorjevo vrsto (upoštevajmo samo prvi člen, saj je zahtevano, da so premiki čim manjši, in zato so  členi višjih redov zanemarljivi):</a:t>
            </a:r>
          </a:p>
          <a:p>
            <a:pPr eaLnBrk="1" hangingPunct="1">
              <a:buClr>
                <a:srgbClr val="000000"/>
              </a:buClr>
              <a:buFontTx/>
              <a:buAutoNum type="arabicPeriod" startAt="2"/>
            </a:pPr>
            <a:endParaRPr lang="sl-SI" altLang="en-US" sz="1800" i="1"/>
          </a:p>
          <a:p>
            <a:pPr eaLnBrk="1" hangingPunct="1">
              <a:buClr>
                <a:srgbClr val="000000"/>
              </a:buClr>
              <a:buFontTx/>
              <a:buAutoNum type="arabicPeriod" startAt="2"/>
            </a:pPr>
            <a:endParaRPr lang="sl-SI" altLang="en-US" sz="1800" i="1"/>
          </a:p>
          <a:p>
            <a:pPr eaLnBrk="1" hangingPunct="1">
              <a:buClr>
                <a:srgbClr val="000000"/>
              </a:buClr>
              <a:buFontTx/>
              <a:buAutoNum type="arabicPeriod" startAt="2"/>
            </a:pPr>
            <a:endParaRPr lang="sl-SI" altLang="en-US" sz="1800" i="1"/>
          </a:p>
          <a:p>
            <a:pPr eaLnBrk="1" hangingPunct="1">
              <a:buClr>
                <a:srgbClr val="000000"/>
              </a:buClr>
              <a:buFontTx/>
              <a:buAutoNum type="arabicPeriod" startAt="2"/>
            </a:pPr>
            <a:endParaRPr lang="sl-SI" altLang="en-US" sz="1800" i="1"/>
          </a:p>
          <a:p>
            <a:pPr eaLnBrk="1" hangingPunct="1">
              <a:buClr>
                <a:srgbClr val="000000"/>
              </a:buClr>
              <a:buFontTx/>
              <a:buAutoNum type="arabicPeriod" startAt="2"/>
            </a:pPr>
            <a:endParaRPr lang="sl-SI" altLang="en-US" sz="1800" i="1"/>
          </a:p>
          <a:p>
            <a:pPr eaLnBrk="1" hangingPunct="1">
              <a:buClr>
                <a:srgbClr val="000000"/>
              </a:buClr>
              <a:buFontTx/>
              <a:buAutoNum type="arabicPeriod" startAt="2"/>
            </a:pPr>
            <a:endParaRPr lang="sl-SI" altLang="en-US" sz="1800" i="1"/>
          </a:p>
          <a:p>
            <a:pPr eaLnBrk="1" hangingPunct="1">
              <a:spcBef>
                <a:spcPts val="1200"/>
              </a:spcBef>
              <a:buClr>
                <a:srgbClr val="000000"/>
              </a:buClr>
              <a:buFontTx/>
              <a:buAutoNum type="arabicPeriod" startAt="3"/>
            </a:pPr>
            <a:r>
              <a:rPr lang="sl-SI" altLang="en-US" sz="1800"/>
              <a:t>Prišli smo do enačbe omejenega gibanja v 2D.</a:t>
            </a:r>
          </a:p>
          <a:p>
            <a:pPr eaLnBrk="1" hangingPunct="1">
              <a:spcBef>
                <a:spcPts val="600"/>
              </a:spcBef>
              <a:buClr>
                <a:srgbClr val="000000"/>
              </a:buClr>
              <a:buFontTx/>
              <a:buAutoNum type="arabicPeriod" startAt="4"/>
            </a:pPr>
            <a:r>
              <a:rPr lang="sl-SI" altLang="en-US" sz="1800"/>
              <a:t>Parcialna odvoda intenzivnosti piksla </a:t>
            </a:r>
            <a:r>
              <a:rPr lang="sl-SI" altLang="en-US" sz="1800" i="1"/>
              <a:t>I</a:t>
            </a:r>
            <a:r>
              <a:rPr lang="sl-SI" altLang="en-US" sz="1800"/>
              <a:t>(</a:t>
            </a:r>
            <a:r>
              <a:rPr lang="sl-SI" altLang="en-US" sz="1800" i="1"/>
              <a:t>x</a:t>
            </a:r>
            <a:r>
              <a:rPr lang="sl-SI" altLang="en-US" sz="1800"/>
              <a:t>,</a:t>
            </a:r>
            <a:r>
              <a:rPr lang="sl-SI" altLang="en-US" sz="1800" i="1"/>
              <a:t>y</a:t>
            </a:r>
            <a:r>
              <a:rPr lang="sl-SI" altLang="en-US" sz="1800"/>
              <a:t>,</a:t>
            </a:r>
            <a:r>
              <a:rPr lang="sl-SI" altLang="en-US" sz="1800" i="1"/>
              <a:t>t</a:t>
            </a:r>
            <a:r>
              <a:rPr lang="sl-SI" altLang="en-US" sz="1800"/>
              <a:t>) po </a:t>
            </a:r>
            <a:r>
              <a:rPr lang="sl-SI" altLang="en-US" sz="1800" i="1"/>
              <a:t>x</a:t>
            </a:r>
            <a:r>
              <a:rPr lang="sl-SI" altLang="en-US" sz="1800"/>
              <a:t>  in </a:t>
            </a:r>
            <a:r>
              <a:rPr lang="sl-SI" altLang="en-US" sz="1800" i="1"/>
              <a:t>y</a:t>
            </a:r>
            <a:r>
              <a:rPr lang="sl-SI" altLang="en-US" sz="1800"/>
              <a:t> označimo z </a:t>
            </a:r>
            <a:r>
              <a:rPr lang="sl-SI" altLang="en-US" sz="1800" i="1"/>
              <a:t>I</a:t>
            </a:r>
            <a:r>
              <a:rPr lang="sl-SI" altLang="en-US" sz="1800" i="1" baseline="-25000"/>
              <a:t>x</a:t>
            </a:r>
            <a:r>
              <a:rPr lang="sl-SI" altLang="en-US" sz="1800"/>
              <a:t> in </a:t>
            </a:r>
            <a:r>
              <a:rPr lang="sl-SI" altLang="en-US" sz="1800" i="1"/>
              <a:t>I</a:t>
            </a:r>
            <a:r>
              <a:rPr lang="sl-SI" altLang="en-US" sz="1800" i="1" baseline="-25000"/>
              <a:t>y</a:t>
            </a:r>
            <a:r>
              <a:rPr lang="sl-SI" altLang="en-US" sz="1800"/>
              <a:t>, parcialni odvod po času pa z </a:t>
            </a:r>
            <a:r>
              <a:rPr lang="sl-SI" altLang="en-US" sz="1800" i="1"/>
              <a:t>I</a:t>
            </a:r>
            <a:r>
              <a:rPr lang="sl-SI" altLang="en-US" sz="1800" i="1" baseline="-25000"/>
              <a:t>t</a:t>
            </a:r>
            <a:r>
              <a:rPr lang="sl-SI" altLang="en-US" sz="1800"/>
              <a:t>.</a:t>
            </a:r>
          </a:p>
        </p:txBody>
      </p:sp>
      <p:graphicFrame>
        <p:nvGraphicFramePr>
          <p:cNvPr id="244745" name="Object 3"/>
          <p:cNvGraphicFramePr>
            <a:graphicFrameLocks noChangeAspect="1"/>
          </p:cNvGraphicFramePr>
          <p:nvPr/>
        </p:nvGraphicFramePr>
        <p:xfrm>
          <a:off x="1023938" y="2919413"/>
          <a:ext cx="7508875" cy="868362"/>
        </p:xfrm>
        <a:graphic>
          <a:graphicData uri="http://schemas.openxmlformats.org/presentationml/2006/ole">
            <mc:AlternateContent xmlns:mc="http://schemas.openxmlformats.org/markup-compatibility/2006">
              <mc:Choice xmlns:v="urn:schemas-microsoft-com:vml" Requires="v">
                <p:oleObj spid="_x0000_s244830" name="Equation" r:id="rId6" imgW="3302000" imgH="381000" progId="Equation.DSMT4">
                  <p:embed/>
                </p:oleObj>
              </mc:Choice>
              <mc:Fallback>
                <p:oleObj name="Equation" r:id="rId6" imgW="3302000" imgH="3810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3938" y="2919413"/>
                        <a:ext cx="7508875"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4746" name="TextBox 25"/>
          <p:cNvSpPr txBox="1">
            <a:spLocks noChangeArrowheads="1"/>
          </p:cNvSpPr>
          <p:nvPr/>
        </p:nvSpPr>
        <p:spPr bwMode="auto">
          <a:xfrm>
            <a:off x="3924300" y="3811588"/>
            <a:ext cx="400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2800">
                <a:sym typeface="Symbol" panose="05050102010706020507" pitchFamily="18" charset="2"/>
              </a:rPr>
              <a:t></a:t>
            </a:r>
            <a:endParaRPr lang="en-GB" altLang="en-US" sz="2800"/>
          </a:p>
        </p:txBody>
      </p:sp>
      <p:graphicFrame>
        <p:nvGraphicFramePr>
          <p:cNvPr id="244747" name="Object 4"/>
          <p:cNvGraphicFramePr>
            <a:graphicFrameLocks noChangeAspect="1"/>
          </p:cNvGraphicFramePr>
          <p:nvPr/>
        </p:nvGraphicFramePr>
        <p:xfrm>
          <a:off x="1516063" y="4198938"/>
          <a:ext cx="5313362" cy="866775"/>
        </p:xfrm>
        <a:graphic>
          <a:graphicData uri="http://schemas.openxmlformats.org/presentationml/2006/ole">
            <mc:AlternateContent xmlns:mc="http://schemas.openxmlformats.org/markup-compatibility/2006">
              <mc:Choice xmlns:v="urn:schemas-microsoft-com:vml" Requires="v">
                <p:oleObj spid="_x0000_s244831" name="Equation" r:id="rId8" imgW="2336800" imgH="381000" progId="Equation.3">
                  <p:embed/>
                </p:oleObj>
              </mc:Choice>
              <mc:Fallback>
                <p:oleObj name="Equation" r:id="rId8" imgW="2336800" imgH="3810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16063" y="4198938"/>
                        <a:ext cx="5313362"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4678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9B12200-5D9A-46A2-A871-97BB6D9C64EC}" type="slidenum">
              <a:rPr lang="en-GB" altLang="en-US" sz="1400" smtClean="0"/>
              <a:pPr>
                <a:spcBef>
                  <a:spcPct val="0"/>
                </a:spcBef>
                <a:buFontTx/>
                <a:buNone/>
              </a:pPr>
              <a:t>123</a:t>
            </a:fld>
            <a:endParaRPr lang="en-GB" altLang="en-US" sz="1400"/>
          </a:p>
        </p:txBody>
      </p:sp>
      <p:sp>
        <p:nvSpPr>
          <p:cNvPr id="246788"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ENAČBA OMEJENEGA GIBANJA V 2D (2)</a:t>
            </a:r>
            <a:endParaRPr lang="en-GB" altLang="en-US" sz="2000"/>
          </a:p>
        </p:txBody>
      </p:sp>
      <p:sp>
        <p:nvSpPr>
          <p:cNvPr id="24678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679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46791"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46865"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92" name="Rectangle 10"/>
          <p:cNvSpPr>
            <a:spLocks noChangeArrowheads="1"/>
          </p:cNvSpPr>
          <p:nvPr/>
        </p:nvSpPr>
        <p:spPr bwMode="auto">
          <a:xfrm>
            <a:off x="900113" y="1052513"/>
            <a:ext cx="7704137"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Enačba omejenega gibanja v vektorski obliki:</a:t>
            </a:r>
          </a:p>
          <a:p>
            <a:pPr eaLnBrk="1" hangingPunct="1">
              <a:buClr>
                <a:srgbClr val="000000"/>
              </a:buClr>
              <a:buFontTx/>
              <a:buNone/>
            </a:pPr>
            <a:r>
              <a:rPr lang="sl-SI" altLang="en-US" sz="1800"/>
              <a:t>	</a:t>
            </a:r>
            <a:r>
              <a:rPr lang="sl-SI" altLang="en-US" sz="1800" i="1"/>
              <a:t> I</a:t>
            </a:r>
            <a:r>
              <a:rPr lang="sl-SI" altLang="en-US" sz="1800" i="1" baseline="-25000"/>
              <a:t>x</a:t>
            </a:r>
            <a:r>
              <a:rPr lang="sl-SI" altLang="en-US" sz="1800" i="1"/>
              <a:t>v</a:t>
            </a:r>
            <a:r>
              <a:rPr lang="sl-SI" altLang="en-US" sz="1800" i="1" baseline="-25000"/>
              <a:t>x</a:t>
            </a:r>
            <a:r>
              <a:rPr lang="sl-SI" altLang="en-US" sz="1800"/>
              <a:t> + </a:t>
            </a:r>
            <a:r>
              <a:rPr lang="sl-SI" altLang="en-US" sz="1800" i="1"/>
              <a:t>I</a:t>
            </a:r>
            <a:r>
              <a:rPr lang="sl-SI" altLang="en-US" sz="1800" i="1" baseline="-25000"/>
              <a:t>y</a:t>
            </a:r>
            <a:r>
              <a:rPr lang="sl-SI" altLang="en-US" sz="1800" i="1"/>
              <a:t>v</a:t>
            </a:r>
            <a:r>
              <a:rPr lang="sl-SI" altLang="en-US" sz="1800" i="1" baseline="-25000"/>
              <a:t>y</a:t>
            </a:r>
            <a:r>
              <a:rPr lang="sl-SI" altLang="en-US" sz="1800"/>
              <a:t> + </a:t>
            </a:r>
            <a:r>
              <a:rPr lang="sl-SI" altLang="en-US" sz="1800" i="1"/>
              <a:t>I</a:t>
            </a:r>
            <a:r>
              <a:rPr lang="sl-SI" altLang="en-US" sz="1800" i="1" baseline="-25000"/>
              <a:t>t</a:t>
            </a:r>
            <a:r>
              <a:rPr lang="sl-SI" altLang="en-US" sz="1800"/>
              <a:t> = 0</a:t>
            </a:r>
          </a:p>
          <a:p>
            <a:pPr eaLnBrk="1" hangingPunct="1">
              <a:buClr>
                <a:srgbClr val="000000"/>
              </a:buClr>
              <a:buFontTx/>
              <a:buNone/>
            </a:pPr>
            <a:r>
              <a:rPr lang="sl-SI" altLang="en-US" sz="1800"/>
              <a:t>	[</a:t>
            </a:r>
            <a:r>
              <a:rPr lang="sl-SI" altLang="en-US" sz="1800" i="1"/>
              <a:t>I</a:t>
            </a:r>
            <a:r>
              <a:rPr lang="sl-SI" altLang="en-US" sz="1800" i="1" baseline="-25000"/>
              <a:t>x</a:t>
            </a:r>
            <a:r>
              <a:rPr lang="sl-SI" altLang="en-US" sz="1800"/>
              <a:t>, </a:t>
            </a:r>
            <a:r>
              <a:rPr lang="sl-SI" altLang="en-US" sz="1800" i="1"/>
              <a:t>I</a:t>
            </a:r>
            <a:r>
              <a:rPr lang="sl-SI" altLang="en-US" sz="1800" i="1" baseline="-25000"/>
              <a:t>y</a:t>
            </a:r>
            <a:r>
              <a:rPr lang="sl-SI" altLang="en-US" sz="1800"/>
              <a:t>][</a:t>
            </a:r>
            <a:r>
              <a:rPr lang="sl-SI" altLang="en-US" sz="1800" i="1"/>
              <a:t>v</a:t>
            </a:r>
            <a:r>
              <a:rPr lang="sl-SI" altLang="en-US" sz="1800" i="1" baseline="-25000"/>
              <a:t>x</a:t>
            </a:r>
            <a:r>
              <a:rPr lang="sl-SI" altLang="en-US" sz="1800"/>
              <a:t>, </a:t>
            </a:r>
            <a:r>
              <a:rPr lang="sl-SI" altLang="en-US" sz="1800" i="1"/>
              <a:t>v</a:t>
            </a:r>
            <a:r>
              <a:rPr lang="sl-SI" altLang="en-US" sz="1800" i="1" baseline="-25000"/>
              <a:t>y</a:t>
            </a:r>
            <a:r>
              <a:rPr lang="sl-SI" altLang="en-US" sz="1800"/>
              <a:t>]</a:t>
            </a:r>
            <a:r>
              <a:rPr lang="sl-SI" altLang="en-US" sz="1800" i="1" baseline="30000"/>
              <a:t>T</a:t>
            </a:r>
            <a:r>
              <a:rPr lang="sl-SI" altLang="en-US" sz="1800" i="1"/>
              <a:t> + I</a:t>
            </a:r>
            <a:r>
              <a:rPr lang="sl-SI" altLang="en-US" sz="1800" i="1" baseline="-25000"/>
              <a:t>t</a:t>
            </a:r>
            <a:r>
              <a:rPr lang="sl-SI" altLang="en-US" sz="1800"/>
              <a:t> = 0</a:t>
            </a:r>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AutoNum type="arabicPeriod" startAt="2"/>
            </a:pPr>
            <a:r>
              <a:rPr lang="sl-SI" altLang="en-US" sz="1800"/>
              <a:t>Enačba </a:t>
            </a:r>
            <a:r>
              <a:rPr lang="sl-SI" altLang="en-US" sz="1800" i="1"/>
              <a:t>I</a:t>
            </a:r>
            <a:r>
              <a:rPr lang="sl-SI" altLang="en-US" sz="1800" i="1" baseline="-25000"/>
              <a:t>x</a:t>
            </a:r>
            <a:r>
              <a:rPr lang="sl-SI" altLang="en-US" sz="1800" i="1"/>
              <a:t>v</a:t>
            </a:r>
            <a:r>
              <a:rPr lang="sl-SI" altLang="en-US" sz="1800" i="1" baseline="-25000"/>
              <a:t>x</a:t>
            </a:r>
            <a:r>
              <a:rPr lang="sl-SI" altLang="en-US" sz="1800"/>
              <a:t> + </a:t>
            </a:r>
            <a:r>
              <a:rPr lang="sl-SI" altLang="en-US" sz="1800" i="1"/>
              <a:t>I</a:t>
            </a:r>
            <a:r>
              <a:rPr lang="sl-SI" altLang="en-US" sz="1800" i="1" baseline="-25000"/>
              <a:t>y</a:t>
            </a:r>
            <a:r>
              <a:rPr lang="sl-SI" altLang="en-US" sz="1800" i="1"/>
              <a:t>v</a:t>
            </a:r>
            <a:r>
              <a:rPr lang="sl-SI" altLang="en-US" sz="1800" i="1" baseline="-25000"/>
              <a:t>y</a:t>
            </a:r>
            <a:r>
              <a:rPr lang="sl-SI" altLang="en-US" sz="1800"/>
              <a:t> = -</a:t>
            </a:r>
            <a:r>
              <a:rPr lang="sl-SI" altLang="en-US" sz="1800" i="1"/>
              <a:t>I</a:t>
            </a:r>
            <a:r>
              <a:rPr lang="sl-SI" altLang="en-US" sz="1800" i="1" baseline="-25000"/>
              <a:t>t</a:t>
            </a:r>
            <a:r>
              <a:rPr lang="sl-SI" altLang="en-US" sz="1800"/>
              <a:t>  vsebuje dve neznani komponenti hitrosti gibanja in določa  premico v ravnini </a:t>
            </a:r>
            <a:r>
              <a:rPr lang="sl-SI" altLang="en-US" sz="1800" i="1"/>
              <a:t>v</a:t>
            </a:r>
            <a:r>
              <a:rPr lang="sl-SI" altLang="en-US" sz="1800" i="1" baseline="-25000"/>
              <a:t>x</a:t>
            </a:r>
            <a:r>
              <a:rPr lang="sl-SI" altLang="en-US" sz="1800"/>
              <a:t>-</a:t>
            </a:r>
            <a:r>
              <a:rPr lang="sl-SI" altLang="en-US" sz="1800" i="1"/>
              <a:t>v</a:t>
            </a:r>
            <a:r>
              <a:rPr lang="sl-SI" altLang="en-US" sz="1800" i="1" baseline="-25000"/>
              <a:t>y</a:t>
            </a:r>
            <a:r>
              <a:rPr lang="sl-SI" altLang="en-US" sz="1800"/>
              <a:t>:</a:t>
            </a:r>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a:p>
            <a:pPr eaLnBrk="1" hangingPunct="1">
              <a:buClr>
                <a:srgbClr val="000000"/>
              </a:buClr>
              <a:buFontTx/>
              <a:buNone/>
            </a:pPr>
            <a:endParaRPr lang="sl-SI" altLang="en-US" sz="1800"/>
          </a:p>
        </p:txBody>
      </p:sp>
      <p:sp>
        <p:nvSpPr>
          <p:cNvPr id="246793" name="TextBox 25"/>
          <p:cNvSpPr txBox="1">
            <a:spLocks noChangeArrowheads="1"/>
          </p:cNvSpPr>
          <p:nvPr/>
        </p:nvSpPr>
        <p:spPr bwMode="auto">
          <a:xfrm>
            <a:off x="1979613" y="2205038"/>
            <a:ext cx="4016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2800">
                <a:sym typeface="Symbol" panose="05050102010706020507" pitchFamily="18" charset="2"/>
              </a:rPr>
              <a:t></a:t>
            </a:r>
            <a:endParaRPr lang="en-GB" altLang="en-US" sz="2800"/>
          </a:p>
        </p:txBody>
      </p:sp>
      <p:graphicFrame>
        <p:nvGraphicFramePr>
          <p:cNvPr id="246794" name="Object 5"/>
          <p:cNvGraphicFramePr>
            <a:graphicFrameLocks noChangeAspect="1"/>
          </p:cNvGraphicFramePr>
          <p:nvPr/>
        </p:nvGraphicFramePr>
        <p:xfrm>
          <a:off x="1331913" y="2349500"/>
          <a:ext cx="4191000" cy="993775"/>
        </p:xfrm>
        <a:graphic>
          <a:graphicData uri="http://schemas.openxmlformats.org/presentationml/2006/ole">
            <mc:AlternateContent xmlns:mc="http://schemas.openxmlformats.org/markup-compatibility/2006">
              <mc:Choice xmlns:v="urn:schemas-microsoft-com:vml" Requires="v">
                <p:oleObj spid="_x0000_s246866" name="Equation" r:id="rId6" imgW="1765300" imgH="419100" progId="Equation.3">
                  <p:embed/>
                </p:oleObj>
              </mc:Choice>
              <mc:Fallback>
                <p:oleObj name="Equation" r:id="rId6" imgW="1765300" imgH="4191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2349500"/>
                        <a:ext cx="4191000"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46795" name="Group 15"/>
          <p:cNvGrpSpPr>
            <a:grpSpLocks/>
          </p:cNvGrpSpPr>
          <p:nvPr/>
        </p:nvGrpSpPr>
        <p:grpSpPr bwMode="auto">
          <a:xfrm>
            <a:off x="2260600" y="2965450"/>
            <a:ext cx="1158875" cy="771525"/>
            <a:chOff x="2260580" y="2964700"/>
            <a:chExt cx="1159292" cy="772077"/>
          </a:xfrm>
        </p:grpSpPr>
        <p:sp>
          <p:nvSpPr>
            <p:cNvPr id="246809" name="TextBox 12"/>
            <p:cNvSpPr txBox="1">
              <a:spLocks noChangeArrowheads="1"/>
            </p:cNvSpPr>
            <p:nvPr/>
          </p:nvSpPr>
          <p:spPr bwMode="auto">
            <a:xfrm>
              <a:off x="2260580" y="3429000"/>
              <a:ext cx="11592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2D gradient </a:t>
              </a:r>
              <a:endParaRPr lang="en-GB" altLang="en-US" sz="1400"/>
            </a:p>
          </p:txBody>
        </p:sp>
        <p:cxnSp>
          <p:nvCxnSpPr>
            <p:cNvPr id="15" name="Straight Arrow Connector 14"/>
            <p:cNvCxnSpPr/>
            <p:nvPr/>
          </p:nvCxnSpPr>
          <p:spPr>
            <a:xfrm flipV="1">
              <a:off x="2800524" y="2964700"/>
              <a:ext cx="435132" cy="50359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grpSp>
        <p:nvGrpSpPr>
          <p:cNvPr id="246796" name="Group 16"/>
          <p:cNvGrpSpPr>
            <a:grpSpLocks/>
          </p:cNvGrpSpPr>
          <p:nvPr/>
        </p:nvGrpSpPr>
        <p:grpSpPr bwMode="auto">
          <a:xfrm>
            <a:off x="3995738" y="2924175"/>
            <a:ext cx="1876425" cy="792163"/>
            <a:chOff x="2260580" y="2944689"/>
            <a:chExt cx="1875835" cy="792088"/>
          </a:xfrm>
        </p:grpSpPr>
        <p:sp>
          <p:nvSpPr>
            <p:cNvPr id="246807" name="TextBox 17"/>
            <p:cNvSpPr txBox="1">
              <a:spLocks noChangeArrowheads="1"/>
            </p:cNvSpPr>
            <p:nvPr/>
          </p:nvSpPr>
          <p:spPr bwMode="auto">
            <a:xfrm>
              <a:off x="2260580" y="3429000"/>
              <a:ext cx="18758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vektor hitrosti gibanja</a:t>
              </a:r>
              <a:endParaRPr lang="en-GB" altLang="en-US" sz="1400"/>
            </a:p>
          </p:txBody>
        </p:sp>
        <p:cxnSp>
          <p:nvCxnSpPr>
            <p:cNvPr id="19" name="Straight Arrow Connector 18"/>
            <p:cNvCxnSpPr/>
            <p:nvPr/>
          </p:nvCxnSpPr>
          <p:spPr>
            <a:xfrm flipV="1">
              <a:off x="2800160" y="2944689"/>
              <a:ext cx="36501" cy="523825"/>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246797" name="Group 33"/>
          <p:cNvGrpSpPr>
            <a:grpSpLocks/>
          </p:cNvGrpSpPr>
          <p:nvPr/>
        </p:nvGrpSpPr>
        <p:grpSpPr bwMode="auto">
          <a:xfrm>
            <a:off x="1258888" y="4221163"/>
            <a:ext cx="4105275" cy="2035175"/>
            <a:chOff x="1259632" y="4221088"/>
            <a:chExt cx="4104456" cy="2035969"/>
          </a:xfrm>
        </p:grpSpPr>
        <p:grpSp>
          <p:nvGrpSpPr>
            <p:cNvPr id="246799" name="Group 30"/>
            <p:cNvGrpSpPr>
              <a:grpSpLocks/>
            </p:cNvGrpSpPr>
            <p:nvPr/>
          </p:nvGrpSpPr>
          <p:grpSpPr bwMode="auto">
            <a:xfrm>
              <a:off x="1259632" y="4221088"/>
              <a:ext cx="4104456" cy="1944216"/>
              <a:chOff x="1259632" y="4365104"/>
              <a:chExt cx="4104456" cy="1944216"/>
            </a:xfrm>
          </p:grpSpPr>
          <p:grpSp>
            <p:nvGrpSpPr>
              <p:cNvPr id="246801" name="Group 28"/>
              <p:cNvGrpSpPr>
                <a:grpSpLocks/>
              </p:cNvGrpSpPr>
              <p:nvPr/>
            </p:nvGrpSpPr>
            <p:grpSpPr bwMode="auto">
              <a:xfrm>
                <a:off x="1259632" y="4365104"/>
                <a:ext cx="4104456" cy="1944216"/>
                <a:chOff x="1259632" y="4365104"/>
                <a:chExt cx="4104456" cy="1944216"/>
              </a:xfrm>
            </p:grpSpPr>
            <p:pic>
              <p:nvPicPr>
                <p:cNvPr id="246803" name="Picture 14" descr="Black_OptFlow1D2DConstraintLine"/>
                <p:cNvPicPr>
                  <a:picLocks noChangeAspect="1" noChangeArrowheads="1"/>
                </p:cNvPicPr>
                <p:nvPr/>
              </p:nvPicPr>
              <p:blipFill>
                <a:blip r:embed="rId8">
                  <a:extLst>
                    <a:ext uri="{28A0092B-C50C-407E-A947-70E740481C1C}">
                      <a14:useLocalDpi xmlns:a14="http://schemas.microsoft.com/office/drawing/2010/main" val="0"/>
                    </a:ext>
                  </a:extLst>
                </a:blip>
                <a:srcRect l="3587" t="31747" r="-2940" b="8340"/>
                <a:stretch>
                  <a:fillRect/>
                </a:stretch>
              </p:blipFill>
              <p:spPr bwMode="auto">
                <a:xfrm>
                  <a:off x="1259632" y="4437112"/>
                  <a:ext cx="4104456"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Straight Arrow Connector 24"/>
                <p:cNvCxnSpPr/>
                <p:nvPr/>
              </p:nvCxnSpPr>
              <p:spPr>
                <a:xfrm flipV="1">
                  <a:off x="1764356" y="4436569"/>
                  <a:ext cx="0" cy="14451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6805" name="TextBox 26"/>
                <p:cNvSpPr txBox="1">
                  <a:spLocks noChangeArrowheads="1"/>
                </p:cNvSpPr>
                <p:nvPr/>
              </p:nvSpPr>
              <p:spPr bwMode="auto">
                <a:xfrm>
                  <a:off x="1403648" y="4365104"/>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i="1"/>
                    <a:t>v</a:t>
                  </a:r>
                  <a:r>
                    <a:rPr lang="sl-SI" altLang="en-US" sz="1200" i="1" baseline="-25000"/>
                    <a:t>y</a:t>
                  </a:r>
                  <a:endParaRPr lang="en-GB" altLang="en-US" sz="1200" i="1" baseline="-25000"/>
                </a:p>
              </p:txBody>
            </p:sp>
            <p:sp>
              <p:nvSpPr>
                <p:cNvPr id="246806" name="TextBox 27"/>
                <p:cNvSpPr txBox="1">
                  <a:spLocks noChangeArrowheads="1"/>
                </p:cNvSpPr>
                <p:nvPr/>
              </p:nvSpPr>
              <p:spPr bwMode="auto">
                <a:xfrm>
                  <a:off x="5031304" y="5720882"/>
                  <a:ext cx="312844" cy="2771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i="1"/>
                    <a:t>v</a:t>
                  </a:r>
                  <a:r>
                    <a:rPr lang="sl-SI" altLang="en-US" sz="1200" i="1" baseline="-25000"/>
                    <a:t>x</a:t>
                  </a:r>
                  <a:endParaRPr lang="en-GB" altLang="en-US" sz="1200" i="1" baseline="-25000"/>
                </a:p>
              </p:txBody>
            </p:sp>
          </p:grpSp>
          <p:sp>
            <p:nvSpPr>
              <p:cNvPr id="246802" name="TextBox 29"/>
              <p:cNvSpPr txBox="1">
                <a:spLocks noChangeArrowheads="1"/>
              </p:cNvSpPr>
              <p:nvPr/>
            </p:nvSpPr>
            <p:spPr bwMode="auto">
              <a:xfrm>
                <a:off x="3347864" y="4912445"/>
                <a:ext cx="136815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i="1"/>
                  <a:t>I</a:t>
                </a:r>
                <a:r>
                  <a:rPr lang="sl-SI" altLang="en-US" sz="1200" i="1" baseline="-25000"/>
                  <a:t>x</a:t>
                </a:r>
                <a:r>
                  <a:rPr lang="sl-SI" altLang="en-US" sz="1200" i="1"/>
                  <a:t>v</a:t>
                </a:r>
                <a:r>
                  <a:rPr lang="sl-SI" altLang="en-US" sz="1200" i="1" baseline="-25000"/>
                  <a:t>x</a:t>
                </a:r>
                <a:r>
                  <a:rPr lang="sl-SI" altLang="en-US" sz="1200" i="1"/>
                  <a:t> + I</a:t>
                </a:r>
                <a:r>
                  <a:rPr lang="sl-SI" altLang="en-US" sz="1200" i="1" baseline="-25000"/>
                  <a:t>y</a:t>
                </a:r>
                <a:r>
                  <a:rPr lang="sl-SI" altLang="en-US" sz="1200" i="1"/>
                  <a:t>v</a:t>
                </a:r>
                <a:r>
                  <a:rPr lang="sl-SI" altLang="en-US" sz="1200" i="1" baseline="-25000"/>
                  <a:t>y</a:t>
                </a:r>
                <a:r>
                  <a:rPr lang="sl-SI" altLang="en-US" sz="1200" i="1"/>
                  <a:t> + I</a:t>
                </a:r>
                <a:r>
                  <a:rPr lang="sl-SI" altLang="en-US" sz="1200" i="1" baseline="-25000"/>
                  <a:t>t</a:t>
                </a:r>
                <a:r>
                  <a:rPr lang="sl-SI" altLang="en-US" sz="1200" i="1"/>
                  <a:t> = 0</a:t>
                </a:r>
                <a:endParaRPr lang="en-GB" altLang="en-US" sz="1200" i="1" baseline="-25000"/>
              </a:p>
            </p:txBody>
          </p:sp>
        </p:grpSp>
        <p:sp>
          <p:nvSpPr>
            <p:cNvPr id="246800" name="TextBox 31"/>
            <p:cNvSpPr txBox="1">
              <a:spLocks noChangeArrowheads="1"/>
            </p:cNvSpPr>
            <p:nvPr/>
          </p:nvSpPr>
          <p:spPr bwMode="auto">
            <a:xfrm>
              <a:off x="2411760" y="5949280"/>
              <a:ext cx="17854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solidFill>
                    <a:srgbClr val="00B050"/>
                  </a:solidFill>
                </a:rPr>
                <a:t>Tok v smeri normale</a:t>
              </a:r>
              <a:endParaRPr lang="en-GB" altLang="en-US" sz="1400">
                <a:solidFill>
                  <a:srgbClr val="00B050"/>
                </a:solidFill>
              </a:endParaRPr>
            </a:p>
          </p:txBody>
        </p:sp>
      </p:grpSp>
      <p:sp>
        <p:nvSpPr>
          <p:cNvPr id="246798" name="TextBox 32"/>
          <p:cNvSpPr txBox="1">
            <a:spLocks noChangeArrowheads="1"/>
          </p:cNvSpPr>
          <p:nvPr/>
        </p:nvSpPr>
        <p:spPr bwMode="auto">
          <a:xfrm>
            <a:off x="5435600" y="4437063"/>
            <a:ext cx="280828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FF9933"/>
                </a:solidFill>
              </a:rPr>
              <a:t>Z eno samo točko lahko določimo  le optični tok pravokotno na svetlobni (intenzivnostni) gradient.</a:t>
            </a:r>
          </a:p>
          <a:p>
            <a:pPr eaLnBrk="1" hangingPunct="1">
              <a:spcBef>
                <a:spcPct val="0"/>
              </a:spcBef>
              <a:buFontTx/>
              <a:buNone/>
            </a:pPr>
            <a:r>
              <a:rPr lang="sl-SI" altLang="en-US" sz="1800">
                <a:solidFill>
                  <a:srgbClr val="0000FF"/>
                </a:solidFill>
              </a:rPr>
              <a:t>Rešitev: vzeti več sosednjih točk skupaj.</a:t>
            </a:r>
            <a:endParaRPr lang="en-GB" altLang="en-US" sz="1800">
              <a:solidFill>
                <a:srgbClr val="0000FF"/>
              </a:solidFill>
            </a:endParaRPr>
          </a:p>
        </p:txBody>
      </p:sp>
    </p:spTree>
  </p:cSld>
  <p:clrMapOvr>
    <a:masterClrMapping/>
  </p:clrMapOvr>
  <p:transition>
    <p:cove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
          <p:cNvSpPr>
            <a:spLocks noChangeArrowheads="1"/>
          </p:cNvSpPr>
          <p:nvPr/>
        </p:nvSpPr>
        <p:spPr bwMode="auto">
          <a:xfrm>
            <a:off x="3132138" y="3030538"/>
            <a:ext cx="1198562" cy="2139950"/>
          </a:xfrm>
          <a:prstGeom prst="rect">
            <a:avLst/>
          </a:prstGeom>
          <a:solidFill>
            <a:srgbClr val="EAEAEA"/>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883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4883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C733B2F-55A1-4A4C-B4E6-89BA9A5818CD}" type="slidenum">
              <a:rPr lang="en-GB" altLang="en-US" sz="1400" smtClean="0"/>
              <a:pPr>
                <a:spcBef>
                  <a:spcPct val="0"/>
                </a:spcBef>
                <a:buFontTx/>
                <a:buNone/>
              </a:pPr>
              <a:t>124</a:t>
            </a:fld>
            <a:endParaRPr lang="en-GB" altLang="en-US" sz="1400"/>
          </a:p>
        </p:txBody>
      </p:sp>
      <p:sp>
        <p:nvSpPr>
          <p:cNvPr id="248837"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PROBLEM ZASLONKE (OKNA)</a:t>
            </a:r>
            <a:endParaRPr lang="en-GB" altLang="en-US" sz="2000"/>
          </a:p>
        </p:txBody>
      </p:sp>
      <p:sp>
        <p:nvSpPr>
          <p:cNvPr id="2488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883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48840"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48877"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41" name="Rectangle 10"/>
          <p:cNvSpPr>
            <a:spLocks noChangeArrowheads="1"/>
          </p:cNvSpPr>
          <p:nvPr/>
        </p:nvSpPr>
        <p:spPr bwMode="auto">
          <a:xfrm>
            <a:off x="827088" y="981075"/>
            <a:ext cx="7848600"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Če skušamo oceniti gibanje samo z opazovanjem omejenega območja, naletimo na t. i. </a:t>
            </a:r>
            <a:r>
              <a:rPr lang="sl-SI" altLang="en-US" sz="1800">
                <a:solidFill>
                  <a:srgbClr val="0000FF"/>
                </a:solidFill>
              </a:rPr>
              <a:t>problem zaslonke oz. okna </a:t>
            </a:r>
            <a:r>
              <a:rPr lang="sl-SI" altLang="en-US" sz="1800"/>
              <a:t>(</a:t>
            </a:r>
            <a:r>
              <a:rPr lang="sl-SI" altLang="en-US" sz="1800" i="1"/>
              <a:t>aperture problem</a:t>
            </a:r>
            <a:r>
              <a:rPr lang="sl-SI" altLang="en-US" sz="1800"/>
              <a:t>)</a:t>
            </a:r>
            <a:r>
              <a:rPr lang="sl-SI" altLang="en-US" sz="1800" i="1"/>
              <a:t>:</a:t>
            </a:r>
          </a:p>
          <a:p>
            <a:pPr lvl="1" eaLnBrk="1" hangingPunct="1">
              <a:buClr>
                <a:srgbClr val="000000"/>
              </a:buClr>
              <a:buFont typeface="Arial" panose="020B0604020202020204" pitchFamily="34" charset="0"/>
              <a:buChar char="•"/>
            </a:pPr>
            <a:r>
              <a:rPr lang="sl-SI" altLang="en-US" sz="1600"/>
              <a:t>če pri pomikanju vidimo skozi zaslonko (okno) le homogeno območje, se ne bodo pojavile razlike, ki bi nakazale smer gibanja</a:t>
            </a:r>
          </a:p>
          <a:p>
            <a:pPr lvl="1" eaLnBrk="1" hangingPunct="1">
              <a:buClr>
                <a:srgbClr val="000000"/>
              </a:buClr>
              <a:buFont typeface="Arial" panose="020B0604020202020204" pitchFamily="34" charset="0"/>
              <a:buChar char="•"/>
            </a:pPr>
            <a:r>
              <a:rPr lang="sl-SI" altLang="en-US" sz="1600"/>
              <a:t>če skozi zaslonko ne vidimo teksture (robov) v vseh smereh, bomo lahko ocenili samo tisto komponento optičnega toka, ki je pravokotna na vidni rob</a:t>
            </a:r>
          </a:p>
        </p:txBody>
      </p:sp>
      <p:grpSp>
        <p:nvGrpSpPr>
          <p:cNvPr id="2" name="Group 4"/>
          <p:cNvGrpSpPr>
            <a:grpSpLocks/>
          </p:cNvGrpSpPr>
          <p:nvPr/>
        </p:nvGrpSpPr>
        <p:grpSpPr bwMode="auto">
          <a:xfrm>
            <a:off x="3132138" y="2884488"/>
            <a:ext cx="3311525" cy="3352800"/>
            <a:chOff x="1632" y="1728"/>
            <a:chExt cx="2256" cy="2256"/>
          </a:xfrm>
        </p:grpSpPr>
        <p:sp>
          <p:nvSpPr>
            <p:cNvPr id="248844" name="Rectangle 5"/>
            <p:cNvSpPr>
              <a:spLocks noChangeArrowheads="1"/>
            </p:cNvSpPr>
            <p:nvPr/>
          </p:nvSpPr>
          <p:spPr bwMode="auto">
            <a:xfrm>
              <a:off x="1632" y="1728"/>
              <a:ext cx="2256" cy="76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8845" name="Rectangle 6"/>
            <p:cNvSpPr>
              <a:spLocks noChangeArrowheads="1"/>
            </p:cNvSpPr>
            <p:nvPr/>
          </p:nvSpPr>
          <p:spPr bwMode="auto">
            <a:xfrm rot="5400000">
              <a:off x="2376" y="2472"/>
              <a:ext cx="2256" cy="76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8846" name="Rectangle 7"/>
            <p:cNvSpPr>
              <a:spLocks noChangeArrowheads="1"/>
            </p:cNvSpPr>
            <p:nvPr/>
          </p:nvSpPr>
          <p:spPr bwMode="auto">
            <a:xfrm rot="-5400000">
              <a:off x="888" y="2472"/>
              <a:ext cx="2256" cy="76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8847" name="Rectangle 8"/>
            <p:cNvSpPr>
              <a:spLocks noChangeArrowheads="1"/>
            </p:cNvSpPr>
            <p:nvPr/>
          </p:nvSpPr>
          <p:spPr bwMode="auto">
            <a:xfrm>
              <a:off x="1632" y="3216"/>
              <a:ext cx="2256" cy="76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8848" name="Rectangle 9"/>
            <p:cNvSpPr>
              <a:spLocks noChangeArrowheads="1"/>
            </p:cNvSpPr>
            <p:nvPr/>
          </p:nvSpPr>
          <p:spPr bwMode="auto">
            <a:xfrm>
              <a:off x="2400" y="2496"/>
              <a:ext cx="720" cy="7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48849" name="Rectangle 10"/>
            <p:cNvSpPr>
              <a:spLocks noChangeArrowheads="1"/>
            </p:cNvSpPr>
            <p:nvPr/>
          </p:nvSpPr>
          <p:spPr bwMode="auto">
            <a:xfrm>
              <a:off x="1632" y="1728"/>
              <a:ext cx="2256" cy="2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sp>
        <p:nvSpPr>
          <p:cNvPr id="42" name="Rectangle 3"/>
          <p:cNvSpPr>
            <a:spLocks noChangeArrowheads="1"/>
          </p:cNvSpPr>
          <p:nvPr/>
        </p:nvSpPr>
        <p:spPr bwMode="auto">
          <a:xfrm>
            <a:off x="3132138" y="2997200"/>
            <a:ext cx="1198562" cy="2203450"/>
          </a:xfrm>
          <a:prstGeom prst="rect">
            <a:avLst/>
          </a:prstGeom>
          <a:solidFill>
            <a:srgbClr val="EAEAEA"/>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5" presetClass="entr" presetSubtype="0" fill="hold" grpId="1" nodeType="with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p:cTn id="12" dur="1000" fill="hold"/>
                                        <p:tgtEl>
                                          <p:spTgt spid="34"/>
                                        </p:tgtEl>
                                        <p:attrNameLst>
                                          <p:attrName>ppt_w</p:attrName>
                                        </p:attrNameLst>
                                      </p:cBhvr>
                                      <p:tavLst>
                                        <p:tav tm="0">
                                          <p:val>
                                            <p:strVal val="#ppt_w*0.70"/>
                                          </p:val>
                                        </p:tav>
                                        <p:tav tm="100000">
                                          <p:val>
                                            <p:strVal val="#ppt_w"/>
                                          </p:val>
                                        </p:tav>
                                      </p:tavLst>
                                    </p:anim>
                                    <p:anim calcmode="lin" valueType="num">
                                      <p:cBhvr>
                                        <p:cTn id="13" dur="1000" fill="hold"/>
                                        <p:tgtEl>
                                          <p:spTgt spid="34"/>
                                        </p:tgtEl>
                                        <p:attrNameLst>
                                          <p:attrName>ppt_h</p:attrName>
                                        </p:attrNameLst>
                                      </p:cBhvr>
                                      <p:tavLst>
                                        <p:tav tm="0">
                                          <p:val>
                                            <p:strVal val="#ppt_h"/>
                                          </p:val>
                                        </p:tav>
                                        <p:tav tm="100000">
                                          <p:val>
                                            <p:strVal val="#ppt_h"/>
                                          </p:val>
                                        </p:tav>
                                      </p:tavLst>
                                    </p:anim>
                                    <p:animEffect transition="in" filter="fade">
                                      <p:cBhvr>
                                        <p:cTn id="14" dur="1000"/>
                                        <p:tgtEl>
                                          <p:spTgt spid="3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49" presetClass="path" presetSubtype="0" accel="50000" decel="50000" fill="hold" grpId="0" nodeType="clickEffect">
                                  <p:stCondLst>
                                    <p:cond delay="0"/>
                                  </p:stCondLst>
                                  <p:childTnLst>
                                    <p:animMotion origin="layout" path="M -3.33333E-6 -1.11111E-6 L 0.09584 0.13333 " pathEditMode="relative" rAng="0" ptsTypes="AA">
                                      <p:cBhvr>
                                        <p:cTn id="18" dur="2000" fill="hold"/>
                                        <p:tgtEl>
                                          <p:spTgt spid="34"/>
                                        </p:tgtEl>
                                        <p:attrNameLst>
                                          <p:attrName>ppt_x</p:attrName>
                                          <p:attrName>ppt_y</p:attrName>
                                        </p:attrNameLst>
                                      </p:cBhvr>
                                      <p:rCtr x="4792" y="6667"/>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xit" presetSubtype="10" fill="hold" grpId="2" nodeType="clickEffect">
                                  <p:stCondLst>
                                    <p:cond delay="0"/>
                                  </p:stCondLst>
                                  <p:childTnLst>
                                    <p:animEffect transition="out" filter="blinds(horizontal)">
                                      <p:cBhvr>
                                        <p:cTn id="22" dur="500"/>
                                        <p:tgtEl>
                                          <p:spTgt spid="34"/>
                                        </p:tgtEl>
                                      </p:cBhvr>
                                    </p:animEffect>
                                    <p:set>
                                      <p:cBhvr>
                                        <p:cTn id="23" dur="1" fill="hold">
                                          <p:stCondLst>
                                            <p:cond delay="499"/>
                                          </p:stCondLst>
                                        </p:cTn>
                                        <p:tgtEl>
                                          <p:spTgt spid="34"/>
                                        </p:tgtEl>
                                        <p:attrNameLst>
                                          <p:attrName>style.visibility</p:attrName>
                                        </p:attrNameLst>
                                      </p:cBhvr>
                                      <p:to>
                                        <p:strVal val="hidden"/>
                                      </p:to>
                                    </p:set>
                                  </p:childTnLst>
                                </p:cTn>
                              </p:par>
                              <p:par>
                                <p:cTn id="24" presetID="3" presetClass="entr" presetSubtype="10" fill="hold" grpId="1"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blinds(horizontal)">
                                      <p:cBhvr>
                                        <p:cTn id="26" dur="500"/>
                                        <p:tgtEl>
                                          <p:spTgt spid="4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9" presetClass="path" presetSubtype="0" accel="50000" decel="50000" fill="hold" grpId="0" nodeType="clickEffect">
                                  <p:stCondLst>
                                    <p:cond delay="0"/>
                                  </p:stCondLst>
                                  <p:childTnLst>
                                    <p:animMotion origin="layout" path="M -3.33333E-6 -1.11111E-6 L 0.09584 0.13333 " pathEditMode="relative" rAng="0" ptsTypes="AA">
                                      <p:cBhvr>
                                        <p:cTn id="30" dur="2000" fill="hold"/>
                                        <p:tgtEl>
                                          <p:spTgt spid="42"/>
                                        </p:tgtEl>
                                        <p:attrNameLst>
                                          <p:attrName>ppt_x</p:attrName>
                                          <p:attrName>ppt_y</p:attrName>
                                        </p:attrNameLst>
                                      </p:cBhvr>
                                      <p:rCtr x="4792" y="666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34" grpId="2" animBg="1"/>
      <p:bldP spid="42" grpId="0" animBg="1"/>
      <p:bldP spid="42" grpId="1"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508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C94EFA1-354D-4811-BE7B-2459B34B9C18}" type="slidenum">
              <a:rPr lang="en-GB" altLang="en-US" sz="1400" smtClean="0"/>
              <a:pPr>
                <a:spcBef>
                  <a:spcPct val="0"/>
                </a:spcBef>
                <a:buFontTx/>
                <a:buNone/>
              </a:pPr>
              <a:t>125</a:t>
            </a:fld>
            <a:endParaRPr lang="en-GB" altLang="en-US" sz="1400"/>
          </a:p>
        </p:txBody>
      </p:sp>
      <p:sp>
        <p:nvSpPr>
          <p:cNvPr id="250884"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Primer za problem zaslonke</a:t>
            </a:r>
            <a:endParaRPr lang="en-GB" altLang="en-US" sz="2000"/>
          </a:p>
        </p:txBody>
      </p:sp>
      <p:sp>
        <p:nvSpPr>
          <p:cNvPr id="25088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5088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18" name="Picture 4" descr="Barber-02-june"/>
          <p:cNvPicPr>
            <a:picLocks noChangeAspect="1" noChangeArrowheads="1" noCrop="1"/>
          </p:cNvPicPr>
          <p:nvPr/>
        </p:nvPicPr>
        <p:blipFill>
          <a:blip r:embed="rId3" cstate="print"/>
          <a:srcRect/>
          <a:stretch>
            <a:fillRect/>
          </a:stretch>
        </p:blipFill>
        <p:spPr bwMode="auto">
          <a:xfrm>
            <a:off x="683568" y="1340768"/>
            <a:ext cx="2101850" cy="4619625"/>
          </a:xfrm>
          <a:prstGeom prst="rect">
            <a:avLst/>
          </a:prstGeom>
          <a:noFill/>
          <a:ln w="9525">
            <a:noFill/>
            <a:miter lim="800000"/>
            <a:headEnd/>
            <a:tailEnd/>
          </a:ln>
          <a:scene3d>
            <a:camera prst="orthographicFront">
              <a:rot lat="10800000" lon="0" rev="10800000"/>
            </a:camera>
            <a:lightRig rig="threePt" dir="t"/>
          </a:scene3d>
        </p:spPr>
      </p:pic>
      <p:pic>
        <p:nvPicPr>
          <p:cNvPr id="250888" name="Picture 12" descr="Black_BarberPole"/>
          <p:cNvPicPr>
            <a:picLocks noChangeAspect="1" noChangeArrowheads="1"/>
          </p:cNvPicPr>
          <p:nvPr/>
        </p:nvPicPr>
        <p:blipFill>
          <a:blip r:embed="rId4">
            <a:extLst>
              <a:ext uri="{28A0092B-C50C-407E-A947-70E740481C1C}">
                <a14:useLocalDpi xmlns:a14="http://schemas.microsoft.com/office/drawing/2010/main" val="0"/>
              </a:ext>
            </a:extLst>
          </a:blip>
          <a:srcRect l="30223" t="25940" r="5852" b="10361"/>
          <a:stretch>
            <a:fillRect/>
          </a:stretch>
        </p:blipFill>
        <p:spPr bwMode="auto">
          <a:xfrm>
            <a:off x="3563938" y="1628775"/>
            <a:ext cx="496887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89" name="TextBox 19"/>
          <p:cNvSpPr txBox="1">
            <a:spLocks noChangeArrowheads="1"/>
          </p:cNvSpPr>
          <p:nvPr/>
        </p:nvSpPr>
        <p:spPr bwMode="auto">
          <a:xfrm>
            <a:off x="4211638" y="1557338"/>
            <a:ext cx="514350"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os </a:t>
            </a:r>
            <a:r>
              <a:rPr lang="sl-SI" altLang="en-US" sz="1400" i="1"/>
              <a:t>z</a:t>
            </a:r>
            <a:endParaRPr lang="en-GB" altLang="en-US" sz="1400" i="1"/>
          </a:p>
        </p:txBody>
      </p:sp>
      <p:sp>
        <p:nvSpPr>
          <p:cNvPr id="21" name="TextBox 20"/>
          <p:cNvSpPr txBox="1"/>
          <p:nvPr/>
        </p:nvSpPr>
        <p:spPr>
          <a:xfrm>
            <a:off x="3492500" y="5445125"/>
            <a:ext cx="1338263" cy="338138"/>
          </a:xfrm>
          <a:prstGeom prst="rect">
            <a:avLst/>
          </a:prstGeom>
          <a:solidFill>
            <a:schemeClr val="bg1"/>
          </a:solidFill>
        </p:spPr>
        <p:txBody>
          <a:bodyPr wrap="none">
            <a:spAutoFit/>
          </a:bodyPr>
          <a:lstStyle/>
          <a:p>
            <a:pPr eaLnBrk="1" hangingPunct="1">
              <a:defRPr/>
            </a:pPr>
            <a:r>
              <a:rPr lang="sl-SI" sz="1600" dirty="0">
                <a:latin typeface="+mn-lt"/>
                <a:cs typeface="+mn-cs"/>
              </a:rPr>
              <a:t>Vrteči se valj</a:t>
            </a:r>
            <a:endParaRPr lang="en-GB" sz="1600" dirty="0">
              <a:latin typeface="+mn-lt"/>
              <a:cs typeface="+mn-cs"/>
            </a:endParaRPr>
          </a:p>
        </p:txBody>
      </p:sp>
      <p:sp>
        <p:nvSpPr>
          <p:cNvPr id="22" name="TextBox 21"/>
          <p:cNvSpPr txBox="1"/>
          <p:nvPr/>
        </p:nvSpPr>
        <p:spPr>
          <a:xfrm>
            <a:off x="5403850" y="5478463"/>
            <a:ext cx="1392238" cy="339725"/>
          </a:xfrm>
          <a:prstGeom prst="rect">
            <a:avLst/>
          </a:prstGeom>
          <a:solidFill>
            <a:schemeClr val="bg1"/>
          </a:solidFill>
        </p:spPr>
        <p:txBody>
          <a:bodyPr wrap="none">
            <a:spAutoFit/>
          </a:bodyPr>
          <a:lstStyle/>
          <a:p>
            <a:pPr eaLnBrk="1" hangingPunct="1">
              <a:defRPr/>
            </a:pPr>
            <a:r>
              <a:rPr lang="sl-SI" sz="1600" dirty="0">
                <a:latin typeface="+mn-lt"/>
                <a:cs typeface="+mn-cs"/>
              </a:rPr>
              <a:t>Smer gibanja</a:t>
            </a:r>
            <a:endParaRPr lang="en-GB" sz="1600" dirty="0">
              <a:latin typeface="+mn-lt"/>
              <a:cs typeface="+mn-cs"/>
            </a:endParaRPr>
          </a:p>
        </p:txBody>
      </p:sp>
      <p:sp>
        <p:nvSpPr>
          <p:cNvPr id="23" name="TextBox 22"/>
          <p:cNvSpPr txBox="1"/>
          <p:nvPr/>
        </p:nvSpPr>
        <p:spPr>
          <a:xfrm>
            <a:off x="7007225" y="5497513"/>
            <a:ext cx="1974850" cy="338137"/>
          </a:xfrm>
          <a:prstGeom prst="rect">
            <a:avLst/>
          </a:prstGeom>
          <a:solidFill>
            <a:schemeClr val="bg1"/>
          </a:solidFill>
        </p:spPr>
        <p:txBody>
          <a:bodyPr wrap="none">
            <a:spAutoFit/>
          </a:bodyPr>
          <a:lstStyle/>
          <a:p>
            <a:pPr eaLnBrk="1" hangingPunct="1">
              <a:defRPr/>
            </a:pPr>
            <a:r>
              <a:rPr lang="sl-SI" sz="1600" dirty="0">
                <a:latin typeface="+mn-lt"/>
                <a:cs typeface="+mn-cs"/>
              </a:rPr>
              <a:t>Ocenjeni optični tok</a:t>
            </a:r>
            <a:endParaRPr lang="en-GB" sz="1600" dirty="0">
              <a:latin typeface="+mn-lt"/>
              <a:cs typeface="+mn-cs"/>
            </a:endParaRPr>
          </a:p>
        </p:txBody>
      </p:sp>
    </p:spTree>
  </p:cSld>
  <p:clrMapOvr>
    <a:masterClrMapping/>
  </p:clrMapOvr>
  <p:transition>
    <p:cove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529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32B134D-F31C-4E5B-9385-470CCD1300E3}" type="slidenum">
              <a:rPr lang="en-GB" altLang="en-US" sz="1400" smtClean="0"/>
              <a:pPr>
                <a:spcBef>
                  <a:spcPct val="0"/>
                </a:spcBef>
                <a:buFontTx/>
                <a:buNone/>
              </a:pPr>
              <a:t>126</a:t>
            </a:fld>
            <a:endParaRPr lang="en-GB" altLang="en-US" sz="1400"/>
          </a:p>
        </p:txBody>
      </p:sp>
      <p:sp>
        <p:nvSpPr>
          <p:cNvPr id="252932"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REŠITEV PROBLEMA ZASLONKE</a:t>
            </a:r>
            <a:endParaRPr lang="en-GB" altLang="en-US" sz="2000"/>
          </a:p>
        </p:txBody>
      </p:sp>
      <p:sp>
        <p:nvSpPr>
          <p:cNvPr id="25293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5293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5293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52998"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36" name="Rectangle 10"/>
          <p:cNvSpPr>
            <a:spLocks noChangeArrowheads="1"/>
          </p:cNvSpPr>
          <p:nvPr/>
        </p:nvSpPr>
        <p:spPr bwMode="auto">
          <a:xfrm>
            <a:off x="971550" y="981075"/>
            <a:ext cx="7704138" cy="526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Za vsak piksel je treba dobiti več enačb, iz katerih pravilneje ocenimo vektor hitrosti:</a:t>
            </a:r>
          </a:p>
          <a:p>
            <a:pPr lvl="1" eaLnBrk="1" hangingPunct="1">
              <a:buClr>
                <a:srgbClr val="000000"/>
              </a:buClr>
              <a:buFont typeface="Arial" panose="020B0604020202020204" pitchFamily="34" charset="0"/>
              <a:buChar char="•"/>
            </a:pPr>
            <a:r>
              <a:rPr lang="sl-SI" altLang="en-US" sz="1600"/>
              <a:t>prva možnost: upoštevamo, da mora biti polje optičnega toka v okolici nekega piksla gladko (brez hitrih sprememb vektorjev hitrosti)</a:t>
            </a:r>
          </a:p>
          <a:p>
            <a:pPr lvl="1" eaLnBrk="1" hangingPunct="1">
              <a:buClr>
                <a:srgbClr val="000000"/>
              </a:buClr>
              <a:buFont typeface="Arial" panose="020B0604020202020204" pitchFamily="34" charset="0"/>
              <a:buChar char="•"/>
            </a:pPr>
            <a:r>
              <a:rPr lang="sl-SI" altLang="en-US" sz="1600"/>
              <a:t>druga možnost: privzamemo, da imajo vsi piksli v ožji okolici opazovanega piksla enak vektor hitrosti (izberemo manjše okno)</a:t>
            </a:r>
          </a:p>
          <a:p>
            <a:pPr eaLnBrk="1" hangingPunct="1">
              <a:spcBef>
                <a:spcPts val="600"/>
              </a:spcBef>
              <a:buClr>
                <a:srgbClr val="000000"/>
              </a:buClr>
              <a:buFontTx/>
              <a:buAutoNum type="arabicPeriod"/>
            </a:pPr>
            <a:r>
              <a:rPr lang="sl-SI" altLang="en-US" sz="1800"/>
              <a:t>Primer  sistema enačb za okno 5</a:t>
            </a:r>
            <a:r>
              <a:rPr lang="sl-SI" altLang="en-US" sz="1800">
                <a:sym typeface="Symbol" panose="05050102010706020507" pitchFamily="18" charset="2"/>
              </a:rPr>
              <a:t>5:</a:t>
            </a:r>
          </a:p>
          <a:p>
            <a:pPr eaLnBrk="1" hangingPunct="1">
              <a:spcBef>
                <a:spcPts val="600"/>
              </a:spcBef>
              <a:buClr>
                <a:srgbClr val="000000"/>
              </a:buClr>
              <a:buFontTx/>
              <a:buAutoNum type="arabicPeriod"/>
            </a:pPr>
            <a:endParaRPr lang="sl-SI" altLang="en-US" sz="1800">
              <a:sym typeface="Symbol" panose="05050102010706020507" pitchFamily="18" charset="2"/>
            </a:endParaRPr>
          </a:p>
          <a:p>
            <a:pPr eaLnBrk="1" hangingPunct="1">
              <a:spcBef>
                <a:spcPts val="600"/>
              </a:spcBef>
              <a:buClr>
                <a:srgbClr val="000000"/>
              </a:buClr>
              <a:buFontTx/>
              <a:buAutoNum type="arabicPeriod"/>
            </a:pPr>
            <a:endParaRPr lang="sl-SI" altLang="en-US" sz="1800">
              <a:sym typeface="Symbol" panose="05050102010706020507" pitchFamily="18" charset="2"/>
            </a:endParaRPr>
          </a:p>
          <a:p>
            <a:pPr eaLnBrk="1" hangingPunct="1">
              <a:spcBef>
                <a:spcPts val="600"/>
              </a:spcBef>
              <a:buClr>
                <a:srgbClr val="000000"/>
              </a:buClr>
              <a:buFontTx/>
              <a:buAutoNum type="arabicPeriod"/>
            </a:pPr>
            <a:endParaRPr lang="sl-SI" altLang="en-US" sz="1800">
              <a:sym typeface="Symbol" panose="05050102010706020507" pitchFamily="18" charset="2"/>
            </a:endParaRPr>
          </a:p>
          <a:p>
            <a:pPr eaLnBrk="1" hangingPunct="1">
              <a:spcBef>
                <a:spcPts val="600"/>
              </a:spcBef>
              <a:buClr>
                <a:srgbClr val="000000"/>
              </a:buClr>
              <a:buFontTx/>
              <a:buAutoNum type="arabicPeriod"/>
            </a:pPr>
            <a:endParaRPr lang="sl-SI" altLang="en-US" sz="1800">
              <a:sym typeface="Symbol" panose="05050102010706020507" pitchFamily="18" charset="2"/>
            </a:endParaRPr>
          </a:p>
          <a:p>
            <a:pPr eaLnBrk="1" hangingPunct="1">
              <a:spcBef>
                <a:spcPts val="600"/>
              </a:spcBef>
              <a:buClr>
                <a:srgbClr val="000000"/>
              </a:buClr>
              <a:buFontTx/>
              <a:buAutoNum type="arabicPeriod"/>
            </a:pPr>
            <a:endParaRPr lang="sl-SI" altLang="en-US" sz="1800">
              <a:sym typeface="Symbol" panose="05050102010706020507" pitchFamily="18" charset="2"/>
            </a:endParaRPr>
          </a:p>
          <a:p>
            <a:pPr eaLnBrk="1" hangingPunct="1">
              <a:spcBef>
                <a:spcPts val="600"/>
              </a:spcBef>
              <a:buClr>
                <a:srgbClr val="000000"/>
              </a:buClr>
              <a:buFontTx/>
              <a:buAutoNum type="arabicPeriod"/>
            </a:pPr>
            <a:endParaRPr lang="sl-SI" altLang="en-US" sz="1800">
              <a:sym typeface="Symbol" panose="05050102010706020507" pitchFamily="18" charset="2"/>
            </a:endParaRPr>
          </a:p>
          <a:p>
            <a:pPr eaLnBrk="1" hangingPunct="1">
              <a:spcBef>
                <a:spcPts val="600"/>
              </a:spcBef>
              <a:buClr>
                <a:srgbClr val="000000"/>
              </a:buClr>
              <a:buFontTx/>
              <a:buAutoNum type="arabicPeriod"/>
            </a:pPr>
            <a:r>
              <a:rPr lang="sl-SI" altLang="en-US" sz="1800">
                <a:sym typeface="Symbol" panose="05050102010706020507" pitchFamily="18" charset="2"/>
              </a:rPr>
              <a:t>Rešitev:</a:t>
            </a:r>
          </a:p>
          <a:p>
            <a:pPr eaLnBrk="1" hangingPunct="1">
              <a:spcBef>
                <a:spcPts val="600"/>
              </a:spcBef>
              <a:buClr>
                <a:srgbClr val="000000"/>
              </a:buClr>
              <a:buFontTx/>
              <a:buNone/>
            </a:pPr>
            <a:r>
              <a:rPr lang="sl-SI" altLang="en-US" sz="1800">
                <a:sym typeface="Symbol" panose="05050102010706020507" pitchFamily="18" charset="2"/>
              </a:rPr>
              <a:t>	</a:t>
            </a:r>
          </a:p>
          <a:p>
            <a:pPr eaLnBrk="1" hangingPunct="1">
              <a:spcBef>
                <a:spcPts val="600"/>
              </a:spcBef>
              <a:buClr>
                <a:srgbClr val="000000"/>
              </a:buClr>
              <a:buFontTx/>
              <a:buNone/>
            </a:pPr>
            <a:endParaRPr lang="sl-SI" altLang="en-US" sz="1800"/>
          </a:p>
        </p:txBody>
      </p:sp>
      <p:grpSp>
        <p:nvGrpSpPr>
          <p:cNvPr id="252937" name="Group 22"/>
          <p:cNvGrpSpPr>
            <a:grpSpLocks/>
          </p:cNvGrpSpPr>
          <p:nvPr/>
        </p:nvGrpSpPr>
        <p:grpSpPr bwMode="auto">
          <a:xfrm>
            <a:off x="3995738" y="5540375"/>
            <a:ext cx="3160712" cy="338138"/>
            <a:chOff x="3995937" y="5540192"/>
            <a:chExt cx="3159828" cy="338554"/>
          </a:xfrm>
        </p:grpSpPr>
        <p:sp>
          <p:nvSpPr>
            <p:cNvPr id="252942" name="TextBox 19"/>
            <p:cNvSpPr txBox="1">
              <a:spLocks noChangeArrowheads="1"/>
            </p:cNvSpPr>
            <p:nvPr/>
          </p:nvSpPr>
          <p:spPr bwMode="auto">
            <a:xfrm>
              <a:off x="4613081" y="5540192"/>
              <a:ext cx="25426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solidFill>
                    <a:srgbClr val="FF9933"/>
                  </a:solidFill>
                </a:rPr>
                <a:t>Lucas-Kanadejeva rešitev</a:t>
              </a:r>
              <a:endParaRPr lang="en-GB" altLang="en-US" sz="1600">
                <a:solidFill>
                  <a:srgbClr val="FF9933"/>
                </a:solidFill>
              </a:endParaRPr>
            </a:p>
          </p:txBody>
        </p:sp>
        <p:cxnSp>
          <p:nvCxnSpPr>
            <p:cNvPr id="22" name="Straight Arrow Connector 21"/>
            <p:cNvCxnSpPr>
              <a:stCxn id="252942" idx="1"/>
            </p:cNvCxnSpPr>
            <p:nvPr/>
          </p:nvCxnSpPr>
          <p:spPr>
            <a:xfrm flipH="1">
              <a:off x="3995937" y="5710264"/>
              <a:ext cx="617364" cy="22252"/>
            </a:xfrm>
            <a:prstGeom prst="straightConnector1">
              <a:avLst/>
            </a:prstGeom>
            <a:ln w="19050">
              <a:solidFill>
                <a:srgbClr val="FF9933"/>
              </a:solidFill>
              <a:tailEnd type="arrow"/>
            </a:ln>
          </p:spPr>
          <p:style>
            <a:lnRef idx="1">
              <a:schemeClr val="accent1"/>
            </a:lnRef>
            <a:fillRef idx="0">
              <a:schemeClr val="accent1"/>
            </a:fillRef>
            <a:effectRef idx="0">
              <a:schemeClr val="accent1"/>
            </a:effectRef>
            <a:fontRef idx="minor">
              <a:schemeClr val="tx1"/>
            </a:fontRef>
          </p:style>
        </p:cxnSp>
      </p:grpSp>
      <p:grpSp>
        <p:nvGrpSpPr>
          <p:cNvPr id="252938" name="Skupina 3"/>
          <p:cNvGrpSpPr>
            <a:grpSpLocks/>
          </p:cNvGrpSpPr>
          <p:nvPr/>
        </p:nvGrpSpPr>
        <p:grpSpPr bwMode="auto">
          <a:xfrm>
            <a:off x="1352550" y="3006725"/>
            <a:ext cx="5380038" cy="2038350"/>
            <a:chOff x="1352550" y="3006725"/>
            <a:chExt cx="5380038" cy="2038350"/>
          </a:xfrm>
        </p:grpSpPr>
        <p:graphicFrame>
          <p:nvGraphicFramePr>
            <p:cNvPr id="252940" name="Object 3"/>
            <p:cNvGraphicFramePr>
              <a:graphicFrameLocks noChangeAspect="1"/>
            </p:cNvGraphicFramePr>
            <p:nvPr/>
          </p:nvGraphicFramePr>
          <p:xfrm>
            <a:off x="1352550" y="3006725"/>
            <a:ext cx="5380038" cy="2038350"/>
          </p:xfrm>
          <a:graphic>
            <a:graphicData uri="http://schemas.openxmlformats.org/presentationml/2006/ole">
              <mc:AlternateContent xmlns:mc="http://schemas.openxmlformats.org/markup-compatibility/2006">
                <mc:Choice xmlns:v="urn:schemas-microsoft-com:vml" Requires="v">
                  <p:oleObj spid="_x0000_s252999" name="Equation" r:id="rId6" imgW="2781300" imgH="1054100" progId="Equation.3">
                    <p:embed/>
                  </p:oleObj>
                </mc:Choice>
                <mc:Fallback>
                  <p:oleObj name="Equation" r:id="rId6" imgW="2781300" imgH="10541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52550" y="3006725"/>
                          <a:ext cx="5380038" cy="203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41" name="PoljeZBesedilom 2"/>
            <p:cNvSpPr txBox="1">
              <a:spLocks noChangeArrowheads="1"/>
            </p:cNvSpPr>
            <p:nvPr/>
          </p:nvSpPr>
          <p:spPr bwMode="auto">
            <a:xfrm>
              <a:off x="5747972" y="3777889"/>
              <a:ext cx="2538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i="1"/>
                <a:t>T</a:t>
              </a:r>
            </a:p>
          </p:txBody>
        </p:sp>
      </p:grpSp>
      <p:pic>
        <p:nvPicPr>
          <p:cNvPr id="252939" name="Slika 2"/>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366838" y="5432425"/>
            <a:ext cx="24130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5497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6F3D3BE-B6C9-4CEB-A390-EA8CE34DEA39}" type="slidenum">
              <a:rPr lang="en-GB" altLang="en-US" sz="1400" smtClean="0"/>
              <a:pPr>
                <a:spcBef>
                  <a:spcPct val="0"/>
                </a:spcBef>
                <a:buFontTx/>
                <a:buNone/>
              </a:pPr>
              <a:t>127</a:t>
            </a:fld>
            <a:endParaRPr lang="en-GB" altLang="en-US" sz="1400"/>
          </a:p>
        </p:txBody>
      </p:sp>
      <p:sp>
        <p:nvSpPr>
          <p:cNvPr id="254980"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POGOJI ZA LUCAS-KANADEJEVO REŠITEV</a:t>
            </a:r>
            <a:endParaRPr lang="en-GB" altLang="en-US" sz="2000"/>
          </a:p>
        </p:txBody>
      </p:sp>
      <p:sp>
        <p:nvSpPr>
          <p:cNvPr id="25498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5498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54983"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55012"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4984" name="Rectangle 10"/>
          <p:cNvSpPr>
            <a:spLocks noChangeArrowheads="1"/>
          </p:cNvSpPr>
          <p:nvPr/>
        </p:nvSpPr>
        <p:spPr bwMode="auto">
          <a:xfrm>
            <a:off x="971550" y="981075"/>
            <a:ext cx="7704138"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Lucas-Kanadejeva enačba  vodi do zadovoljivih rezultatov, če:</a:t>
            </a:r>
          </a:p>
          <a:p>
            <a:pPr lvl="1" eaLnBrk="1" hangingPunct="1">
              <a:buClr>
                <a:srgbClr val="000000"/>
              </a:buClr>
              <a:buFont typeface="Arial" panose="020B0604020202020204" pitchFamily="34" charset="0"/>
              <a:buChar char="•"/>
            </a:pPr>
            <a:r>
              <a:rPr lang="sl-SI" altLang="en-US" sz="1600"/>
              <a:t>matrika (</a:t>
            </a:r>
            <a:r>
              <a:rPr lang="sl-SI" altLang="en-US" sz="1600">
                <a:sym typeface="Symbol" panose="05050102010706020507" pitchFamily="18" charset="2"/>
              </a:rPr>
              <a:t></a:t>
            </a:r>
            <a:r>
              <a:rPr lang="sl-SI" altLang="en-US" sz="1600" b="1">
                <a:sym typeface="Symbol" panose="05050102010706020507" pitchFamily="18" charset="2"/>
              </a:rPr>
              <a:t>I</a:t>
            </a:r>
            <a:r>
              <a:rPr lang="sl-SI" altLang="en-US" sz="1600"/>
              <a:t>)(</a:t>
            </a:r>
            <a:r>
              <a:rPr lang="sl-SI" altLang="en-US" sz="1600">
                <a:sym typeface="Symbol" panose="05050102010706020507" pitchFamily="18" charset="2"/>
              </a:rPr>
              <a:t></a:t>
            </a:r>
            <a:r>
              <a:rPr lang="sl-SI" altLang="en-US" sz="1600" b="1">
                <a:sym typeface="Symbol" panose="05050102010706020507" pitchFamily="18" charset="2"/>
              </a:rPr>
              <a:t>I</a:t>
            </a:r>
            <a:r>
              <a:rPr lang="sl-SI" altLang="en-US" sz="1600"/>
              <a:t>)</a:t>
            </a:r>
            <a:r>
              <a:rPr lang="sl-SI" altLang="en-US" sz="1600" i="1" baseline="30000">
                <a:sym typeface="Symbol" panose="05050102010706020507" pitchFamily="18" charset="2"/>
              </a:rPr>
              <a:t>T</a:t>
            </a:r>
            <a:r>
              <a:rPr lang="sl-SI" altLang="en-US" sz="1600"/>
              <a:t> se da invertirati</a:t>
            </a:r>
          </a:p>
          <a:p>
            <a:pPr lvl="1" eaLnBrk="1" hangingPunct="1">
              <a:buClr>
                <a:srgbClr val="000000"/>
              </a:buClr>
              <a:buFont typeface="Arial" panose="020B0604020202020204" pitchFamily="34" charset="0"/>
              <a:buChar char="•"/>
            </a:pPr>
            <a:r>
              <a:rPr lang="sl-SI" altLang="en-US" sz="1600"/>
              <a:t>matrika (</a:t>
            </a:r>
            <a:r>
              <a:rPr lang="sl-SI" altLang="en-US" sz="1600">
                <a:sym typeface="Symbol" panose="05050102010706020507" pitchFamily="18" charset="2"/>
              </a:rPr>
              <a:t></a:t>
            </a:r>
            <a:r>
              <a:rPr lang="sl-SI" altLang="en-US" sz="1600" b="1">
                <a:sym typeface="Symbol" panose="05050102010706020507" pitchFamily="18" charset="2"/>
              </a:rPr>
              <a:t>I</a:t>
            </a:r>
            <a:r>
              <a:rPr lang="sl-SI" altLang="en-US" sz="1600"/>
              <a:t>)(</a:t>
            </a:r>
            <a:r>
              <a:rPr lang="sl-SI" altLang="en-US" sz="1600">
                <a:sym typeface="Symbol" panose="05050102010706020507" pitchFamily="18" charset="2"/>
              </a:rPr>
              <a:t></a:t>
            </a:r>
            <a:r>
              <a:rPr lang="sl-SI" altLang="en-US" sz="1600" b="1">
                <a:sym typeface="Symbol" panose="05050102010706020507" pitchFamily="18" charset="2"/>
              </a:rPr>
              <a:t>I</a:t>
            </a:r>
            <a:r>
              <a:rPr lang="sl-SI" altLang="en-US" sz="1600"/>
              <a:t>)</a:t>
            </a:r>
            <a:r>
              <a:rPr lang="sl-SI" altLang="en-US" sz="1600" i="1" baseline="30000">
                <a:sym typeface="Symbol" panose="05050102010706020507" pitchFamily="18" charset="2"/>
              </a:rPr>
              <a:t>T</a:t>
            </a:r>
            <a:r>
              <a:rPr lang="sl-SI" altLang="en-US" sz="1600"/>
              <a:t> zaradi vpliva šuma ne sme biti premajhna, zato njeni lastni vrednosti </a:t>
            </a:r>
            <a:r>
              <a:rPr lang="sl-SI" altLang="en-US" sz="1600">
                <a:sym typeface="Symbol" panose="05050102010706020507" pitchFamily="18" charset="2"/>
              </a:rPr>
              <a:t></a:t>
            </a:r>
            <a:r>
              <a:rPr lang="sl-SI" altLang="en-US" sz="1600" baseline="-25000">
                <a:sym typeface="Symbol" panose="05050102010706020507" pitchFamily="18" charset="2"/>
              </a:rPr>
              <a:t>1</a:t>
            </a:r>
            <a:r>
              <a:rPr lang="sl-SI" altLang="en-US" sz="1600">
                <a:sym typeface="Symbol" panose="05050102010706020507" pitchFamily="18" charset="2"/>
              </a:rPr>
              <a:t>in </a:t>
            </a:r>
            <a:r>
              <a:rPr lang="sl-SI" altLang="en-US" sz="1600" baseline="-25000">
                <a:sym typeface="Symbol" panose="05050102010706020507" pitchFamily="18" charset="2"/>
              </a:rPr>
              <a:t>2 </a:t>
            </a:r>
            <a:r>
              <a:rPr lang="sl-SI" altLang="en-US" sz="1600">
                <a:sym typeface="Symbol" panose="05050102010706020507" pitchFamily="18" charset="2"/>
              </a:rPr>
              <a:t>ne smeta biti premajhni</a:t>
            </a:r>
          </a:p>
          <a:p>
            <a:pPr lvl="1" eaLnBrk="1" hangingPunct="1">
              <a:buClr>
                <a:srgbClr val="000000"/>
              </a:buClr>
              <a:buFont typeface="Arial" panose="020B0604020202020204" pitchFamily="34" charset="0"/>
              <a:buChar char="•"/>
            </a:pPr>
            <a:r>
              <a:rPr lang="sl-SI" altLang="en-US" sz="1600"/>
              <a:t>matrika (</a:t>
            </a:r>
            <a:r>
              <a:rPr lang="sl-SI" altLang="en-US" sz="1600">
                <a:sym typeface="Symbol" panose="05050102010706020507" pitchFamily="18" charset="2"/>
              </a:rPr>
              <a:t></a:t>
            </a:r>
            <a:r>
              <a:rPr lang="sl-SI" altLang="en-US" sz="1600" b="1">
                <a:sym typeface="Symbol" panose="05050102010706020507" pitchFamily="18" charset="2"/>
              </a:rPr>
              <a:t>I</a:t>
            </a:r>
            <a:r>
              <a:rPr lang="sl-SI" altLang="en-US" sz="1600"/>
              <a:t>)(</a:t>
            </a:r>
            <a:r>
              <a:rPr lang="sl-SI" altLang="en-US" sz="1600">
                <a:sym typeface="Symbol" panose="05050102010706020507" pitchFamily="18" charset="2"/>
              </a:rPr>
              <a:t></a:t>
            </a:r>
            <a:r>
              <a:rPr lang="sl-SI" altLang="en-US" sz="1600" b="1">
                <a:sym typeface="Symbol" panose="05050102010706020507" pitchFamily="18" charset="2"/>
              </a:rPr>
              <a:t>I</a:t>
            </a:r>
            <a:r>
              <a:rPr lang="sl-SI" altLang="en-US" sz="1600"/>
              <a:t>)</a:t>
            </a:r>
            <a:r>
              <a:rPr lang="sl-SI" altLang="en-US" sz="1600" i="1" baseline="30000">
                <a:sym typeface="Symbol" panose="05050102010706020507" pitchFamily="18" charset="2"/>
              </a:rPr>
              <a:t>T</a:t>
            </a:r>
            <a:r>
              <a:rPr lang="sl-SI" altLang="en-US" sz="1600"/>
              <a:t> mora biti dobro pogojena, tako da razmerje </a:t>
            </a:r>
            <a:r>
              <a:rPr lang="sl-SI" altLang="en-US" sz="1600">
                <a:sym typeface="Symbol" panose="05050102010706020507" pitchFamily="18" charset="2"/>
              </a:rPr>
              <a:t></a:t>
            </a:r>
            <a:r>
              <a:rPr lang="sl-SI" altLang="en-US" sz="1600" baseline="-25000">
                <a:sym typeface="Symbol" panose="05050102010706020507" pitchFamily="18" charset="2"/>
              </a:rPr>
              <a:t>1</a:t>
            </a:r>
            <a:r>
              <a:rPr lang="sl-SI" altLang="en-US" sz="1600">
                <a:sym typeface="Symbol" panose="05050102010706020507" pitchFamily="18" charset="2"/>
              </a:rPr>
              <a:t>/</a:t>
            </a:r>
            <a:r>
              <a:rPr lang="sl-SI" altLang="en-US" sz="1600" baseline="-25000">
                <a:sym typeface="Symbol" panose="05050102010706020507" pitchFamily="18" charset="2"/>
              </a:rPr>
              <a:t>2 </a:t>
            </a:r>
            <a:r>
              <a:rPr lang="sl-SI" altLang="en-US" sz="1600">
                <a:sym typeface="Symbol" panose="05050102010706020507" pitchFamily="18" charset="2"/>
              </a:rPr>
              <a:t>ni veliko (</a:t>
            </a:r>
            <a:r>
              <a:rPr lang="sl-SI" altLang="en-US" sz="1600" baseline="-25000">
                <a:sym typeface="Symbol" panose="05050102010706020507" pitchFamily="18" charset="2"/>
              </a:rPr>
              <a:t>1</a:t>
            </a:r>
            <a:r>
              <a:rPr lang="sl-SI" altLang="en-US" sz="1600">
                <a:sym typeface="Symbol" panose="05050102010706020507" pitchFamily="18" charset="2"/>
              </a:rPr>
              <a:t> je večja lastna vrednost)</a:t>
            </a:r>
            <a:endParaRPr lang="sl-SI" altLang="en-US" sz="1800"/>
          </a:p>
          <a:p>
            <a:pPr eaLnBrk="1" hangingPunct="1">
              <a:spcBef>
                <a:spcPts val="600"/>
              </a:spcBef>
              <a:buClr>
                <a:srgbClr val="000000"/>
              </a:buClr>
              <a:buFontTx/>
              <a:buAutoNum type="arabicPeriod"/>
            </a:pPr>
            <a:r>
              <a:rPr lang="sl-SI" altLang="en-US" sz="1800">
                <a:sym typeface="Symbol" panose="05050102010706020507" pitchFamily="18" charset="2"/>
              </a:rPr>
              <a:t>Lastne vrednosti matrike </a:t>
            </a:r>
            <a:r>
              <a:rPr lang="sl-SI" altLang="en-US" sz="1800" b="1">
                <a:sym typeface="Symbol" panose="05050102010706020507" pitchFamily="18" charset="2"/>
              </a:rPr>
              <a:t>Q</a:t>
            </a:r>
            <a:r>
              <a:rPr lang="sl-SI" altLang="en-US" sz="1800">
                <a:sym typeface="Symbol" panose="05050102010706020507" pitchFamily="18" charset="2"/>
              </a:rPr>
              <a:t>(</a:t>
            </a:r>
            <a:r>
              <a:rPr lang="sl-SI" altLang="en-US" sz="1800" i="1">
                <a:sym typeface="Symbol" panose="05050102010706020507" pitchFamily="18" charset="2"/>
              </a:rPr>
              <a:t>x</a:t>
            </a:r>
            <a:r>
              <a:rPr lang="sl-SI" altLang="en-US" sz="1800">
                <a:sym typeface="Symbol" panose="05050102010706020507" pitchFamily="18" charset="2"/>
              </a:rPr>
              <a:t>,</a:t>
            </a:r>
            <a:r>
              <a:rPr lang="sl-SI" altLang="en-US" sz="1800" i="1">
                <a:sym typeface="Symbol" panose="05050102010706020507" pitchFamily="18" charset="2"/>
              </a:rPr>
              <a:t>y</a:t>
            </a:r>
            <a:r>
              <a:rPr lang="sl-SI" altLang="en-US" sz="1800">
                <a:sym typeface="Symbol" panose="05050102010706020507" pitchFamily="18" charset="2"/>
              </a:rPr>
              <a:t>) = </a:t>
            </a:r>
            <a:r>
              <a:rPr lang="sl-SI" altLang="en-US" sz="1800"/>
              <a:t>(</a:t>
            </a:r>
            <a:r>
              <a:rPr lang="sl-SI" altLang="en-US" sz="1800">
                <a:sym typeface="Symbol" panose="05050102010706020507" pitchFamily="18" charset="2"/>
              </a:rPr>
              <a:t></a:t>
            </a:r>
            <a:r>
              <a:rPr lang="sl-SI" altLang="en-US" sz="1800" b="1">
                <a:sym typeface="Symbol" panose="05050102010706020507" pitchFamily="18" charset="2"/>
              </a:rPr>
              <a:t>I</a:t>
            </a:r>
            <a:r>
              <a:rPr lang="sl-SI" altLang="en-US" sz="1800"/>
              <a:t>)(</a:t>
            </a:r>
            <a:r>
              <a:rPr lang="sl-SI" altLang="en-US" sz="1800">
                <a:sym typeface="Symbol" panose="05050102010706020507" pitchFamily="18" charset="2"/>
              </a:rPr>
              <a:t></a:t>
            </a:r>
            <a:r>
              <a:rPr lang="sl-SI" altLang="en-US" sz="1800" b="1">
                <a:sym typeface="Symbol" panose="05050102010706020507" pitchFamily="18" charset="2"/>
              </a:rPr>
              <a:t>I</a:t>
            </a:r>
            <a:r>
              <a:rPr lang="sl-SI" altLang="en-US" sz="1800"/>
              <a:t>)</a:t>
            </a:r>
            <a:r>
              <a:rPr lang="sl-SI" altLang="en-US" sz="1800" i="1" baseline="30000">
                <a:sym typeface="Symbol" panose="05050102010706020507" pitchFamily="18" charset="2"/>
              </a:rPr>
              <a:t>T</a:t>
            </a:r>
            <a:r>
              <a:rPr lang="sl-SI" altLang="en-US" sz="1800"/>
              <a:t>  smo spoznali že pri Harrisovem detektorju oglišč:</a:t>
            </a:r>
            <a:endParaRPr lang="sl-SI" altLang="en-US" sz="1800">
              <a:sym typeface="Symbol" panose="05050102010706020507" pitchFamily="18" charset="2"/>
            </a:endParaRPr>
          </a:p>
          <a:p>
            <a:pPr lvl="1" eaLnBrk="1" hangingPunct="1">
              <a:buClr>
                <a:srgbClr val="000000"/>
              </a:buClr>
              <a:buFont typeface="Arial" panose="020B0604020202020204" pitchFamily="34" charset="0"/>
              <a:buChar char="•"/>
            </a:pPr>
            <a:r>
              <a:rPr lang="sl-SI" altLang="en-US" sz="1600"/>
              <a:t>če smo na homogenem območju brez izrazitih tekstur, sta obe lastni vrednosti (</a:t>
            </a:r>
            <a:r>
              <a:rPr lang="sl-SI" altLang="en-US" sz="1600">
                <a:sym typeface="Symbol" panose="05050102010706020507" pitchFamily="18" charset="2"/>
              </a:rPr>
              <a:t></a:t>
            </a:r>
            <a:r>
              <a:rPr lang="sl-SI" altLang="en-US" sz="1600" baseline="-25000">
                <a:sym typeface="Symbol" panose="05050102010706020507" pitchFamily="18" charset="2"/>
              </a:rPr>
              <a:t>1</a:t>
            </a:r>
            <a:r>
              <a:rPr lang="sl-SI" altLang="en-US" sz="1600">
                <a:sym typeface="Symbol" panose="05050102010706020507" pitchFamily="18" charset="2"/>
              </a:rPr>
              <a:t>in </a:t>
            </a:r>
            <a:r>
              <a:rPr lang="sl-SI" altLang="en-US" sz="1600" baseline="-25000">
                <a:sym typeface="Symbol" panose="05050102010706020507" pitchFamily="18" charset="2"/>
              </a:rPr>
              <a:t>2</a:t>
            </a:r>
            <a:r>
              <a:rPr lang="sl-SI" altLang="en-US" sz="1600"/>
              <a:t>) majhni</a:t>
            </a:r>
          </a:p>
          <a:p>
            <a:pPr lvl="1" eaLnBrk="1" hangingPunct="1">
              <a:buClr>
                <a:srgbClr val="000000"/>
              </a:buClr>
              <a:buFont typeface="Arial" panose="020B0604020202020204" pitchFamily="34" charset="0"/>
              <a:buChar char="•"/>
            </a:pPr>
            <a:r>
              <a:rPr lang="sl-SI" altLang="en-US" sz="1600"/>
              <a:t>če smo na robu, je ena lastna vrednost majhna, druga velika (odvisno od usmerjenosti roba)</a:t>
            </a:r>
          </a:p>
          <a:p>
            <a:pPr lvl="1" eaLnBrk="1" hangingPunct="1">
              <a:buClr>
                <a:srgbClr val="000000"/>
              </a:buClr>
              <a:buFont typeface="Arial" panose="020B0604020202020204" pitchFamily="34" charset="0"/>
              <a:buChar char="•"/>
            </a:pPr>
            <a:r>
              <a:rPr lang="sl-SI" altLang="en-US" sz="1600"/>
              <a:t>če smo na oglišču, sta obe lastni vrednosti veliki </a:t>
            </a:r>
            <a:endParaRPr lang="sl-SI" altLang="en-US" sz="1800">
              <a:sym typeface="Symbol" panose="05050102010706020507" pitchFamily="18" charset="2"/>
            </a:endParaRPr>
          </a:p>
          <a:p>
            <a:pPr eaLnBrk="1" hangingPunct="1">
              <a:spcBef>
                <a:spcPts val="600"/>
              </a:spcBef>
              <a:buClr>
                <a:srgbClr val="000000"/>
              </a:buClr>
              <a:buFontTx/>
              <a:buAutoNum type="arabicPeriod"/>
            </a:pPr>
            <a:r>
              <a:rPr lang="sl-SI" altLang="en-US" sz="1800"/>
              <a:t>Pogoji za ugodno rešitev Lucas-Kanadejeve enačbe  določajo, da optični tok najnatančneje določimo, če ga računamo v okolici oglišč.</a:t>
            </a:r>
          </a:p>
          <a:p>
            <a:pPr eaLnBrk="1" hangingPunct="1">
              <a:spcBef>
                <a:spcPts val="600"/>
              </a:spcBef>
              <a:buClr>
                <a:srgbClr val="000000"/>
              </a:buClr>
              <a:buFontTx/>
              <a:buAutoNum type="arabicPeriod"/>
            </a:pPr>
            <a:r>
              <a:rPr lang="sl-SI" altLang="en-US" sz="1800"/>
              <a:t>S Harrisovim detektorjem torej lahko poiščemo točke oz. območja, kjer  bo izračun optičnega toka in s tem smeri in hitrosti gibanja objektov (ali kamere) optimalen.</a:t>
            </a:r>
          </a:p>
        </p:txBody>
      </p:sp>
    </p:spTree>
  </p:cSld>
  <p:clrMapOvr>
    <a:masterClrMapping/>
  </p:clrMapOvr>
  <p:transition>
    <p:cove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5702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29075B6-2C85-4A57-90CC-0610D9102A9D}" type="slidenum">
              <a:rPr lang="en-GB" altLang="en-US" sz="1400" smtClean="0"/>
              <a:pPr>
                <a:spcBef>
                  <a:spcPct val="0"/>
                </a:spcBef>
                <a:buFontTx/>
                <a:buNone/>
              </a:pPr>
              <a:t>128</a:t>
            </a:fld>
            <a:endParaRPr lang="en-GB" altLang="en-US" sz="1400"/>
          </a:p>
        </p:txBody>
      </p:sp>
      <p:sp>
        <p:nvSpPr>
          <p:cNvPr id="257028"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Primer za izračun optičnega toka – rob</a:t>
            </a:r>
            <a:endParaRPr lang="en-GB" altLang="en-US" sz="2000"/>
          </a:p>
        </p:txBody>
      </p:sp>
      <p:sp>
        <p:nvSpPr>
          <p:cNvPr id="25702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5703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pic>
        <p:nvPicPr>
          <p:cNvPr id="257031" name="Picture 3" descr="im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6613"/>
            <a:ext cx="5638800" cy="422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7032" name="Picture 4" descr="zoom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0713" y="1293813"/>
            <a:ext cx="251460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033" name="Line 6"/>
          <p:cNvSpPr>
            <a:spLocks noChangeShapeType="1"/>
          </p:cNvSpPr>
          <p:nvPr/>
        </p:nvSpPr>
        <p:spPr bwMode="auto">
          <a:xfrm flipH="1">
            <a:off x="4832350" y="1957388"/>
            <a:ext cx="3810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57034" name="Rectangle 7"/>
          <p:cNvSpPr>
            <a:spLocks noChangeArrowheads="1"/>
          </p:cNvSpPr>
          <p:nvPr/>
        </p:nvSpPr>
        <p:spPr bwMode="auto">
          <a:xfrm>
            <a:off x="4616450" y="1903413"/>
            <a:ext cx="152400" cy="1301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57035" name="Rectangle 8"/>
          <p:cNvSpPr>
            <a:spLocks noChangeArrowheads="1"/>
          </p:cNvSpPr>
          <p:nvPr/>
        </p:nvSpPr>
        <p:spPr bwMode="auto">
          <a:xfrm>
            <a:off x="1295400" y="5291138"/>
            <a:ext cx="27622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nSpc>
                <a:spcPct val="90000"/>
              </a:lnSpc>
              <a:buFontTx/>
              <a:buChar char="–"/>
            </a:pPr>
            <a:r>
              <a:rPr lang="en-US" altLang="en-US" sz="1800"/>
              <a:t> </a:t>
            </a:r>
            <a:r>
              <a:rPr lang="sl-SI" altLang="en-US" sz="1800"/>
              <a:t>veliki in enaki gradienti</a:t>
            </a:r>
            <a:endParaRPr lang="en-US" altLang="en-US" sz="1800"/>
          </a:p>
          <a:p>
            <a:pPr>
              <a:lnSpc>
                <a:spcPct val="90000"/>
              </a:lnSpc>
              <a:buFontTx/>
              <a:buChar char="–"/>
            </a:pPr>
            <a:r>
              <a:rPr lang="en-US" altLang="en-US" sz="1800"/>
              <a:t> </a:t>
            </a:r>
            <a:r>
              <a:rPr lang="sl-SI" altLang="en-US" sz="1800"/>
              <a:t>velik</a:t>
            </a:r>
            <a:r>
              <a:rPr lang="en-US" altLang="en-US" sz="1800">
                <a:latin typeface="Symbol" panose="05050102010706020507" pitchFamily="18" charset="2"/>
              </a:rPr>
              <a:t> l</a:t>
            </a:r>
            <a:r>
              <a:rPr lang="en-US" altLang="en-US" sz="1800" baseline="-25000"/>
              <a:t>1</a:t>
            </a:r>
            <a:r>
              <a:rPr lang="en-US" altLang="en-US" sz="1800"/>
              <a:t>, </a:t>
            </a:r>
            <a:r>
              <a:rPr lang="sl-SI" altLang="en-US" sz="1800"/>
              <a:t>majhen</a:t>
            </a:r>
            <a:r>
              <a:rPr lang="en-US" altLang="en-US" sz="1800"/>
              <a:t> </a:t>
            </a:r>
            <a:r>
              <a:rPr lang="en-US" altLang="en-US" sz="1800">
                <a:latin typeface="Symbol" panose="05050102010706020507" pitchFamily="18" charset="2"/>
              </a:rPr>
              <a:t>l</a:t>
            </a:r>
            <a:r>
              <a:rPr lang="en-US" altLang="en-US" sz="1800" baseline="-25000"/>
              <a:t>2</a:t>
            </a:r>
          </a:p>
        </p:txBody>
      </p:sp>
      <p:pic>
        <p:nvPicPr>
          <p:cNvPr id="257036" name="Picture 5" descr="sur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3838" y="3436938"/>
            <a:ext cx="3382962"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037" name="TextBox 25"/>
          <p:cNvSpPr txBox="1">
            <a:spLocks noChangeArrowheads="1"/>
          </p:cNvSpPr>
          <p:nvPr/>
        </p:nvSpPr>
        <p:spPr bwMode="auto">
          <a:xfrm>
            <a:off x="900113" y="4930775"/>
            <a:ext cx="1428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2000">
                <a:sym typeface="Symbol" panose="05050102010706020507" pitchFamily="18" charset="2"/>
              </a:rPr>
              <a:t></a:t>
            </a:r>
            <a:r>
              <a:rPr lang="sl-SI" altLang="en-US" sz="2000"/>
              <a:t> (</a:t>
            </a:r>
            <a:r>
              <a:rPr lang="sl-SI" altLang="en-US" sz="2000">
                <a:sym typeface="Symbol" panose="05050102010706020507" pitchFamily="18" charset="2"/>
              </a:rPr>
              <a:t></a:t>
            </a:r>
            <a:r>
              <a:rPr lang="sl-SI" altLang="en-US" sz="2000" b="1">
                <a:sym typeface="Symbol" panose="05050102010706020507" pitchFamily="18" charset="2"/>
              </a:rPr>
              <a:t>I</a:t>
            </a:r>
            <a:r>
              <a:rPr lang="sl-SI" altLang="en-US" sz="2000"/>
              <a:t>)(</a:t>
            </a:r>
            <a:r>
              <a:rPr lang="sl-SI" altLang="en-US" sz="2000">
                <a:sym typeface="Symbol" panose="05050102010706020507" pitchFamily="18" charset="2"/>
              </a:rPr>
              <a:t></a:t>
            </a:r>
            <a:r>
              <a:rPr lang="sl-SI" altLang="en-US" sz="2000" b="1">
                <a:sym typeface="Symbol" panose="05050102010706020507" pitchFamily="18" charset="2"/>
              </a:rPr>
              <a:t>I</a:t>
            </a:r>
            <a:r>
              <a:rPr lang="sl-SI" altLang="en-US" sz="2000"/>
              <a:t>)</a:t>
            </a:r>
            <a:r>
              <a:rPr lang="sl-SI" altLang="en-US" sz="2000" i="1" baseline="30000">
                <a:sym typeface="Symbol" panose="05050102010706020507" pitchFamily="18" charset="2"/>
              </a:rPr>
              <a:t>T</a:t>
            </a:r>
            <a:r>
              <a:rPr lang="sl-SI" altLang="en-US" sz="2000"/>
              <a:t> </a:t>
            </a:r>
            <a:endParaRPr lang="en-GB" altLang="en-US" sz="2000"/>
          </a:p>
        </p:txBody>
      </p:sp>
    </p:spTree>
  </p:cSld>
  <p:clrMapOvr>
    <a:masterClrMapping/>
  </p:clrMapOvr>
  <p:transition>
    <p:cove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5907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D29CE9F-EFEE-41CE-AE51-C3807FCC23B8}" type="slidenum">
              <a:rPr lang="en-GB" altLang="en-US" sz="1400" smtClean="0"/>
              <a:pPr>
                <a:spcBef>
                  <a:spcPct val="0"/>
                </a:spcBef>
                <a:buFontTx/>
                <a:buNone/>
              </a:pPr>
              <a:t>129</a:t>
            </a:fld>
            <a:endParaRPr lang="en-GB" altLang="en-US" sz="1400"/>
          </a:p>
        </p:txBody>
      </p:sp>
      <p:sp>
        <p:nvSpPr>
          <p:cNvPr id="259076"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Primer za izračun optičnega toka – homogeno območje (ozadje)</a:t>
            </a:r>
            <a:endParaRPr lang="en-GB" altLang="en-US" sz="2000"/>
          </a:p>
        </p:txBody>
      </p:sp>
      <p:sp>
        <p:nvSpPr>
          <p:cNvPr id="25907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5907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59079" name="Rectangle 8"/>
          <p:cNvSpPr>
            <a:spLocks noChangeArrowheads="1"/>
          </p:cNvSpPr>
          <p:nvPr/>
        </p:nvSpPr>
        <p:spPr bwMode="auto">
          <a:xfrm>
            <a:off x="1295400" y="5291138"/>
            <a:ext cx="4140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nSpc>
                <a:spcPct val="90000"/>
              </a:lnSpc>
              <a:buFontTx/>
              <a:buChar char="–"/>
            </a:pPr>
            <a:r>
              <a:rPr lang="en-US" altLang="en-US" sz="2400"/>
              <a:t> </a:t>
            </a:r>
            <a:r>
              <a:rPr lang="sl-SI" altLang="en-US" sz="1800"/>
              <a:t>gradienti imajo majhne vrednosti</a:t>
            </a:r>
            <a:endParaRPr lang="en-US" altLang="en-US" sz="1800"/>
          </a:p>
          <a:p>
            <a:pPr>
              <a:lnSpc>
                <a:spcPct val="90000"/>
              </a:lnSpc>
              <a:buFontTx/>
              <a:buChar char="–"/>
            </a:pPr>
            <a:r>
              <a:rPr lang="en-US" altLang="en-US" sz="1800"/>
              <a:t> </a:t>
            </a:r>
            <a:r>
              <a:rPr lang="en-US" altLang="en-US" sz="1800">
                <a:latin typeface="Symbol" panose="05050102010706020507" pitchFamily="18" charset="2"/>
              </a:rPr>
              <a:t> l</a:t>
            </a:r>
            <a:r>
              <a:rPr lang="en-US" altLang="en-US" sz="1800" baseline="-25000"/>
              <a:t>1</a:t>
            </a:r>
            <a:r>
              <a:rPr lang="en-US" altLang="en-US" sz="1800"/>
              <a:t> </a:t>
            </a:r>
            <a:r>
              <a:rPr lang="sl-SI" altLang="en-US" sz="1800"/>
              <a:t>in </a:t>
            </a:r>
            <a:r>
              <a:rPr lang="en-US" altLang="en-US" sz="1800">
                <a:latin typeface="Symbol" panose="05050102010706020507" pitchFamily="18" charset="2"/>
              </a:rPr>
              <a:t>l</a:t>
            </a:r>
            <a:r>
              <a:rPr lang="en-US" altLang="en-US" sz="1800" baseline="-25000"/>
              <a:t>2</a:t>
            </a:r>
            <a:r>
              <a:rPr lang="sl-SI" altLang="en-US" sz="1800"/>
              <a:t> sta majhna</a:t>
            </a:r>
            <a:endParaRPr lang="en-US" altLang="en-US" sz="1800"/>
          </a:p>
        </p:txBody>
      </p:sp>
      <p:sp>
        <p:nvSpPr>
          <p:cNvPr id="259080" name="TextBox 25"/>
          <p:cNvSpPr txBox="1">
            <a:spLocks noChangeArrowheads="1"/>
          </p:cNvSpPr>
          <p:nvPr/>
        </p:nvSpPr>
        <p:spPr bwMode="auto">
          <a:xfrm>
            <a:off x="900113" y="4930775"/>
            <a:ext cx="1655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2000">
                <a:sym typeface="Symbol" panose="05050102010706020507" pitchFamily="18" charset="2"/>
              </a:rPr>
              <a:t></a:t>
            </a:r>
            <a:r>
              <a:rPr lang="sl-SI" altLang="en-US" sz="2000"/>
              <a:t> (</a:t>
            </a:r>
            <a:r>
              <a:rPr lang="sl-SI" altLang="en-US" sz="2000">
                <a:sym typeface="Symbol" panose="05050102010706020507" pitchFamily="18" charset="2"/>
              </a:rPr>
              <a:t></a:t>
            </a:r>
            <a:r>
              <a:rPr lang="sl-SI" altLang="en-US" sz="2000" b="1">
                <a:sym typeface="Symbol" panose="05050102010706020507" pitchFamily="18" charset="2"/>
              </a:rPr>
              <a:t>I</a:t>
            </a:r>
            <a:r>
              <a:rPr lang="sl-SI" altLang="en-US" sz="2000"/>
              <a:t>)(</a:t>
            </a:r>
            <a:r>
              <a:rPr lang="sl-SI" altLang="en-US" sz="2000">
                <a:sym typeface="Symbol" panose="05050102010706020507" pitchFamily="18" charset="2"/>
              </a:rPr>
              <a:t></a:t>
            </a:r>
            <a:r>
              <a:rPr lang="sl-SI" altLang="en-US" sz="2000" b="1">
                <a:sym typeface="Symbol" panose="05050102010706020507" pitchFamily="18" charset="2"/>
              </a:rPr>
              <a:t>I</a:t>
            </a:r>
            <a:r>
              <a:rPr lang="sl-SI" altLang="en-US" sz="2000"/>
              <a:t>)</a:t>
            </a:r>
            <a:r>
              <a:rPr lang="sl-SI" altLang="en-US" sz="2000" i="1" baseline="30000">
                <a:sym typeface="Symbol" panose="05050102010706020507" pitchFamily="18" charset="2"/>
              </a:rPr>
              <a:t>T</a:t>
            </a:r>
            <a:r>
              <a:rPr lang="sl-SI" altLang="en-US" sz="2000"/>
              <a:t> </a:t>
            </a:r>
            <a:endParaRPr lang="en-GB" altLang="en-US" sz="2000"/>
          </a:p>
        </p:txBody>
      </p:sp>
      <p:pic>
        <p:nvPicPr>
          <p:cNvPr id="259081" name="Picture 2" descr="sur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3838" y="3543300"/>
            <a:ext cx="3382962"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082" name="Picture 3" descr="zoom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0238" y="1447800"/>
            <a:ext cx="251460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083" name="Picture 4" descr="im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1095375"/>
            <a:ext cx="5226050" cy="38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9084" name="Line 6"/>
          <p:cNvSpPr>
            <a:spLocks noChangeShapeType="1"/>
          </p:cNvSpPr>
          <p:nvPr/>
        </p:nvSpPr>
        <p:spPr bwMode="auto">
          <a:xfrm flipH="1">
            <a:off x="1697038" y="2711450"/>
            <a:ext cx="3540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59085" name="Rectangle 9"/>
          <p:cNvSpPr>
            <a:spLocks noChangeArrowheads="1"/>
          </p:cNvSpPr>
          <p:nvPr/>
        </p:nvSpPr>
        <p:spPr bwMode="auto">
          <a:xfrm>
            <a:off x="1497013" y="2636838"/>
            <a:ext cx="141287" cy="10953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Tree>
  </p:cSld>
  <p:clrMapOvr>
    <a:masterClrMapping/>
  </p:clrMapOvr>
  <p:transition>
    <p:cove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6112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C1A0010-BB7E-4D0E-A91B-6A1766232934}" type="slidenum">
              <a:rPr lang="en-GB" altLang="en-US" sz="1400" smtClean="0"/>
              <a:pPr>
                <a:spcBef>
                  <a:spcPct val="0"/>
                </a:spcBef>
                <a:buFontTx/>
                <a:buNone/>
              </a:pPr>
              <a:t>130</a:t>
            </a:fld>
            <a:endParaRPr lang="en-GB" altLang="en-US" sz="1400"/>
          </a:p>
        </p:txBody>
      </p:sp>
      <p:sp>
        <p:nvSpPr>
          <p:cNvPr id="261124"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Primer za izračun optičnega toka – območje z izrazito teksturo</a:t>
            </a:r>
            <a:endParaRPr lang="en-GB" altLang="en-US" sz="2000"/>
          </a:p>
        </p:txBody>
      </p:sp>
      <p:sp>
        <p:nvSpPr>
          <p:cNvPr id="26112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112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1127" name="Rectangle 8"/>
          <p:cNvSpPr>
            <a:spLocks noChangeArrowheads="1"/>
          </p:cNvSpPr>
          <p:nvPr/>
        </p:nvSpPr>
        <p:spPr bwMode="auto">
          <a:xfrm>
            <a:off x="1295400" y="5375275"/>
            <a:ext cx="3421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nSpc>
                <a:spcPct val="90000"/>
              </a:lnSpc>
              <a:buFontTx/>
              <a:buChar char="–"/>
            </a:pPr>
            <a:r>
              <a:rPr lang="en-US" altLang="en-US" sz="1800"/>
              <a:t> </a:t>
            </a:r>
            <a:r>
              <a:rPr lang="sl-SI" altLang="en-US" sz="1800"/>
              <a:t>gradienti so različni, a veliki</a:t>
            </a:r>
            <a:endParaRPr lang="en-US" altLang="en-US" sz="1800"/>
          </a:p>
          <a:p>
            <a:pPr>
              <a:lnSpc>
                <a:spcPct val="90000"/>
              </a:lnSpc>
              <a:buFontTx/>
              <a:buChar char="–"/>
            </a:pPr>
            <a:r>
              <a:rPr lang="en-US" altLang="en-US" sz="1800"/>
              <a:t> </a:t>
            </a:r>
            <a:r>
              <a:rPr lang="sl-SI" altLang="en-US" sz="1800"/>
              <a:t>velika</a:t>
            </a:r>
            <a:r>
              <a:rPr lang="en-US" altLang="en-US" sz="1800">
                <a:latin typeface="Symbol" panose="05050102010706020507" pitchFamily="18" charset="2"/>
              </a:rPr>
              <a:t> l</a:t>
            </a:r>
            <a:r>
              <a:rPr lang="en-US" altLang="en-US" sz="1800" baseline="-25000"/>
              <a:t>1</a:t>
            </a:r>
            <a:r>
              <a:rPr lang="sl-SI" altLang="en-US" sz="1800"/>
              <a:t> in</a:t>
            </a:r>
            <a:r>
              <a:rPr lang="en-US" altLang="en-US" sz="1800"/>
              <a:t> </a:t>
            </a:r>
            <a:r>
              <a:rPr lang="en-US" altLang="en-US" sz="1800">
                <a:latin typeface="Symbol" panose="05050102010706020507" pitchFamily="18" charset="2"/>
              </a:rPr>
              <a:t>l</a:t>
            </a:r>
            <a:r>
              <a:rPr lang="en-US" altLang="en-US" sz="1800" baseline="-25000"/>
              <a:t>2</a:t>
            </a:r>
          </a:p>
        </p:txBody>
      </p:sp>
      <p:sp>
        <p:nvSpPr>
          <p:cNvPr id="261128" name="TextBox 25"/>
          <p:cNvSpPr txBox="1">
            <a:spLocks noChangeArrowheads="1"/>
          </p:cNvSpPr>
          <p:nvPr/>
        </p:nvSpPr>
        <p:spPr bwMode="auto">
          <a:xfrm>
            <a:off x="900113" y="4973638"/>
            <a:ext cx="1428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2000">
                <a:sym typeface="Symbol" panose="05050102010706020507" pitchFamily="18" charset="2"/>
              </a:rPr>
              <a:t></a:t>
            </a:r>
            <a:r>
              <a:rPr lang="sl-SI" altLang="en-US" sz="2000"/>
              <a:t> (</a:t>
            </a:r>
            <a:r>
              <a:rPr lang="sl-SI" altLang="en-US" sz="2000">
                <a:sym typeface="Symbol" panose="05050102010706020507" pitchFamily="18" charset="2"/>
              </a:rPr>
              <a:t></a:t>
            </a:r>
            <a:r>
              <a:rPr lang="sl-SI" altLang="en-US" sz="2000" b="1">
                <a:sym typeface="Symbol" panose="05050102010706020507" pitchFamily="18" charset="2"/>
              </a:rPr>
              <a:t>I</a:t>
            </a:r>
            <a:r>
              <a:rPr lang="sl-SI" altLang="en-US" sz="2000"/>
              <a:t>)(</a:t>
            </a:r>
            <a:r>
              <a:rPr lang="sl-SI" altLang="en-US" sz="2000">
                <a:sym typeface="Symbol" panose="05050102010706020507" pitchFamily="18" charset="2"/>
              </a:rPr>
              <a:t></a:t>
            </a:r>
            <a:r>
              <a:rPr lang="sl-SI" altLang="en-US" sz="2000" b="1">
                <a:sym typeface="Symbol" panose="05050102010706020507" pitchFamily="18" charset="2"/>
              </a:rPr>
              <a:t>I</a:t>
            </a:r>
            <a:r>
              <a:rPr lang="sl-SI" altLang="en-US" sz="2000"/>
              <a:t>)</a:t>
            </a:r>
            <a:r>
              <a:rPr lang="sl-SI" altLang="en-US" sz="2000" i="1" baseline="30000">
                <a:sym typeface="Symbol" panose="05050102010706020507" pitchFamily="18" charset="2"/>
              </a:rPr>
              <a:t>T</a:t>
            </a:r>
            <a:r>
              <a:rPr lang="sl-SI" altLang="en-US" sz="2000"/>
              <a:t> </a:t>
            </a:r>
            <a:endParaRPr lang="en-GB" altLang="en-US" sz="2000"/>
          </a:p>
        </p:txBody>
      </p:sp>
      <p:pic>
        <p:nvPicPr>
          <p:cNvPr id="261129" name="Picture 3" descr="zoom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9600" y="1452563"/>
            <a:ext cx="2514600"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130" name="Picture 4" descr="sur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3562350"/>
            <a:ext cx="33782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131" name="Picture 6" descr="im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425" y="1030288"/>
            <a:ext cx="5268913" cy="39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132" name="Line 7"/>
          <p:cNvSpPr>
            <a:spLocks noChangeShapeType="1"/>
          </p:cNvSpPr>
          <p:nvPr/>
        </p:nvSpPr>
        <p:spPr bwMode="auto">
          <a:xfrm flipH="1">
            <a:off x="4668838" y="3773488"/>
            <a:ext cx="33496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61133" name="Rectangle 8"/>
          <p:cNvSpPr>
            <a:spLocks noChangeArrowheads="1"/>
          </p:cNvSpPr>
          <p:nvPr/>
        </p:nvSpPr>
        <p:spPr bwMode="auto">
          <a:xfrm>
            <a:off x="4467225" y="3708400"/>
            <a:ext cx="134938" cy="1222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Tree>
  </p:cSld>
  <p:clrMapOvr>
    <a:masterClrMapping/>
  </p:clrMapOvr>
  <p:transition>
    <p:cove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63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DFE5213-D4B3-4A43-A8A5-B648F0A34114}" type="slidenum">
              <a:rPr lang="en-GB" altLang="en-US" sz="1400" smtClean="0"/>
              <a:pPr>
                <a:spcBef>
                  <a:spcPct val="0"/>
                </a:spcBef>
                <a:buFontTx/>
                <a:buNone/>
              </a:pPr>
              <a:t>131</a:t>
            </a:fld>
            <a:endParaRPr lang="en-GB" altLang="en-US" sz="1400"/>
          </a:p>
        </p:txBody>
      </p:sp>
      <p:sp>
        <p:nvSpPr>
          <p:cNvPr id="263172"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ZAHTEVA PO MAJHNIH PREMIKIH – SPREMEMBAH</a:t>
            </a:r>
            <a:endParaRPr lang="en-GB" altLang="en-US" sz="2000"/>
          </a:p>
        </p:txBody>
      </p:sp>
      <p:sp>
        <p:nvSpPr>
          <p:cNvPr id="26317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317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6317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63205"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76" name="Rectangle 10"/>
          <p:cNvSpPr>
            <a:spLocks noChangeArrowheads="1"/>
          </p:cNvSpPr>
          <p:nvPr/>
        </p:nvSpPr>
        <p:spPr bwMode="auto">
          <a:xfrm>
            <a:off x="971550" y="981075"/>
            <a:ext cx="7704138" cy="125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000000"/>
              </a:buClr>
              <a:buFontTx/>
              <a:buAutoNum type="arabicPeriod"/>
            </a:pPr>
            <a:r>
              <a:rPr lang="sl-SI" altLang="en-US" sz="1800"/>
              <a:t>Spremembe zaradi gibanja ne smejo preseči enega piksla</a:t>
            </a:r>
          </a:p>
          <a:p>
            <a:pPr eaLnBrk="1" hangingPunct="1">
              <a:buClr>
                <a:srgbClr val="000000"/>
              </a:buClr>
              <a:buFontTx/>
              <a:buAutoNum type="arabicPeriod"/>
            </a:pPr>
            <a:r>
              <a:rPr lang="sl-SI" altLang="en-US" sz="1800"/>
              <a:t>Problem lahko obidemo, če zmanjšamo  ločljivost slike, nato pa gibanje spremljamo nazaj proti višjim ločljivostim skozi večločljivostno shemo</a:t>
            </a:r>
          </a:p>
        </p:txBody>
      </p:sp>
      <p:pic>
        <p:nvPicPr>
          <p:cNvPr id="263177" name="Picture 2" descr="garden_0"/>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2239963"/>
            <a:ext cx="5832475" cy="397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6521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8093F83-E0EE-4635-9AC4-BB74527B6047}" type="slidenum">
              <a:rPr lang="en-GB" altLang="en-US" sz="1400" smtClean="0"/>
              <a:pPr>
                <a:spcBef>
                  <a:spcPct val="0"/>
                </a:spcBef>
                <a:buFontTx/>
                <a:buNone/>
              </a:pPr>
              <a:t>132</a:t>
            </a:fld>
            <a:endParaRPr lang="en-GB" altLang="en-US" sz="1400"/>
          </a:p>
        </p:txBody>
      </p:sp>
      <p:sp>
        <p:nvSpPr>
          <p:cNvPr id="265220"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ZNIŽANJE LOČLJIVOSTI SLIK</a:t>
            </a:r>
            <a:endParaRPr lang="en-GB" altLang="en-US" sz="2000"/>
          </a:p>
        </p:txBody>
      </p:sp>
      <p:sp>
        <p:nvSpPr>
          <p:cNvPr id="26522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522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65223"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65255"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65224" name="Picture 3" descr="garden_4"/>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4911725" y="3576638"/>
            <a:ext cx="3656013" cy="274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5225" name="Picture 4" descr="garden_2"/>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4886325" y="908050"/>
            <a:ext cx="36560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5226" name="Picture 5" descr="garden_1"/>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885825" y="908050"/>
            <a:ext cx="3656013" cy="274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5227" name="Picture 6" descr="garden_3"/>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898525" y="3513138"/>
            <a:ext cx="3656013" cy="274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672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9CA433A-F083-414A-91EA-9E243BC28FE5}" type="slidenum">
              <a:rPr lang="en-GB" altLang="en-US" sz="1400" smtClean="0"/>
              <a:pPr>
                <a:spcBef>
                  <a:spcPct val="0"/>
                </a:spcBef>
                <a:buFontTx/>
                <a:buNone/>
              </a:pPr>
              <a:t>133</a:t>
            </a:fld>
            <a:endParaRPr lang="en-GB" altLang="en-US" sz="1400"/>
          </a:p>
        </p:txBody>
      </p:sp>
      <p:sp>
        <p:nvSpPr>
          <p:cNvPr id="267268"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OCENA OPTIČNEGA TOKA V VEČLOČLJIVOSTNI SHEMI</a:t>
            </a:r>
            <a:endParaRPr lang="en-GB" altLang="en-US" sz="2000"/>
          </a:p>
        </p:txBody>
      </p:sp>
      <p:sp>
        <p:nvSpPr>
          <p:cNvPr id="26726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727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67271"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67332"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7272" name="Group 8"/>
          <p:cNvGrpSpPr>
            <a:grpSpLocks/>
          </p:cNvGrpSpPr>
          <p:nvPr/>
        </p:nvGrpSpPr>
        <p:grpSpPr bwMode="auto">
          <a:xfrm>
            <a:off x="177800" y="908050"/>
            <a:ext cx="8653463" cy="5332413"/>
            <a:chOff x="112" y="916"/>
            <a:chExt cx="5451" cy="3359"/>
          </a:xfrm>
        </p:grpSpPr>
        <p:grpSp>
          <p:nvGrpSpPr>
            <p:cNvPr id="267280" name="Group 9"/>
            <p:cNvGrpSpPr>
              <a:grpSpLocks/>
            </p:cNvGrpSpPr>
            <p:nvPr/>
          </p:nvGrpSpPr>
          <p:grpSpPr bwMode="auto">
            <a:xfrm>
              <a:off x="112" y="916"/>
              <a:ext cx="5451" cy="3359"/>
              <a:chOff x="112" y="916"/>
              <a:chExt cx="5451" cy="3359"/>
            </a:xfrm>
          </p:grpSpPr>
          <p:grpSp>
            <p:nvGrpSpPr>
              <p:cNvPr id="267283" name="Group 10"/>
              <p:cNvGrpSpPr>
                <a:grpSpLocks/>
              </p:cNvGrpSpPr>
              <p:nvPr/>
            </p:nvGrpSpPr>
            <p:grpSpPr bwMode="auto">
              <a:xfrm>
                <a:off x="112" y="931"/>
                <a:ext cx="2272" cy="3344"/>
                <a:chOff x="112" y="931"/>
                <a:chExt cx="2272" cy="3344"/>
              </a:xfrm>
            </p:grpSpPr>
            <p:grpSp>
              <p:nvGrpSpPr>
                <p:cNvPr id="267295" name="Group 11"/>
                <p:cNvGrpSpPr>
                  <a:grpSpLocks/>
                </p:cNvGrpSpPr>
                <p:nvPr/>
              </p:nvGrpSpPr>
              <p:grpSpPr bwMode="auto">
                <a:xfrm>
                  <a:off x="112" y="931"/>
                  <a:ext cx="2272" cy="3113"/>
                  <a:chOff x="112" y="931"/>
                  <a:chExt cx="2272" cy="3113"/>
                </a:xfrm>
              </p:grpSpPr>
              <p:sp>
                <p:nvSpPr>
                  <p:cNvPr id="267297" name="Line 12"/>
                  <p:cNvSpPr>
                    <a:spLocks noChangeAspect="1" noChangeShapeType="1"/>
                  </p:cNvSpPr>
                  <p:nvPr/>
                </p:nvSpPr>
                <p:spPr bwMode="auto">
                  <a:xfrm flipV="1">
                    <a:off x="124" y="931"/>
                    <a:ext cx="933" cy="308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sp>
                <p:nvSpPr>
                  <p:cNvPr id="267298" name="Line 13"/>
                  <p:cNvSpPr>
                    <a:spLocks noChangeAspect="1" noChangeShapeType="1"/>
                  </p:cNvSpPr>
                  <p:nvPr/>
                </p:nvSpPr>
                <p:spPr bwMode="auto">
                  <a:xfrm flipH="1" flipV="1">
                    <a:off x="1059" y="938"/>
                    <a:ext cx="1305" cy="233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sp>
                <p:nvSpPr>
                  <p:cNvPr id="267299" name="Line 14"/>
                  <p:cNvSpPr>
                    <a:spLocks noChangeAspect="1" noChangeShapeType="1"/>
                  </p:cNvSpPr>
                  <p:nvPr/>
                </p:nvSpPr>
                <p:spPr bwMode="auto">
                  <a:xfrm flipH="1">
                    <a:off x="678" y="972"/>
                    <a:ext cx="394" cy="231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sp>
                <p:nvSpPr>
                  <p:cNvPr id="267300" name="AutoShape 15"/>
                  <p:cNvSpPr>
                    <a:spLocks noChangeAspect="1" noChangeArrowheads="1"/>
                  </p:cNvSpPr>
                  <p:nvPr/>
                </p:nvSpPr>
                <p:spPr bwMode="auto">
                  <a:xfrm>
                    <a:off x="112" y="3286"/>
                    <a:ext cx="2272" cy="758"/>
                  </a:xfrm>
                  <a:prstGeom prst="parallelogram">
                    <a:avLst>
                      <a:gd name="adj" fmla="val 74934"/>
                    </a:avLst>
                  </a:prstGeom>
                  <a:solidFill>
                    <a:schemeClr val="accent1"/>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7301" name="AutoShape 16"/>
                  <p:cNvSpPr>
                    <a:spLocks noChangeAspect="1" noChangeArrowheads="1"/>
                  </p:cNvSpPr>
                  <p:nvPr/>
                </p:nvSpPr>
                <p:spPr bwMode="auto">
                  <a:xfrm>
                    <a:off x="622" y="2095"/>
                    <a:ext cx="1090" cy="318"/>
                  </a:xfrm>
                  <a:prstGeom prst="parallelogram">
                    <a:avLst>
                      <a:gd name="adj" fmla="val 85692"/>
                    </a:avLst>
                  </a:prstGeom>
                  <a:solidFill>
                    <a:schemeClr val="accent1"/>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7302" name="AutoShape 17"/>
                  <p:cNvSpPr>
                    <a:spLocks noChangeAspect="1" noChangeArrowheads="1"/>
                  </p:cNvSpPr>
                  <p:nvPr/>
                </p:nvSpPr>
                <p:spPr bwMode="auto">
                  <a:xfrm>
                    <a:off x="393" y="2626"/>
                    <a:ext cx="1621" cy="472"/>
                  </a:xfrm>
                  <a:prstGeom prst="parallelogram">
                    <a:avLst>
                      <a:gd name="adj" fmla="val 85858"/>
                    </a:avLst>
                  </a:prstGeom>
                  <a:solidFill>
                    <a:schemeClr val="accent1"/>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7303" name="AutoShape 18"/>
                  <p:cNvSpPr>
                    <a:spLocks noChangeAspect="1" noChangeArrowheads="1"/>
                  </p:cNvSpPr>
                  <p:nvPr/>
                </p:nvSpPr>
                <p:spPr bwMode="auto">
                  <a:xfrm>
                    <a:off x="787" y="1576"/>
                    <a:ext cx="644" cy="188"/>
                  </a:xfrm>
                  <a:prstGeom prst="parallelogram">
                    <a:avLst>
                      <a:gd name="adj" fmla="val 85638"/>
                    </a:avLst>
                  </a:prstGeom>
                  <a:solidFill>
                    <a:schemeClr val="accent1"/>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7304" name="Line 19"/>
                  <p:cNvSpPr>
                    <a:spLocks noChangeAspect="1" noChangeShapeType="1"/>
                  </p:cNvSpPr>
                  <p:nvPr/>
                </p:nvSpPr>
                <p:spPr bwMode="auto">
                  <a:xfrm flipH="1" flipV="1">
                    <a:off x="1063" y="938"/>
                    <a:ext cx="754" cy="309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grpSp>
            <p:sp>
              <p:nvSpPr>
                <p:cNvPr id="267296" name="Text Box 20"/>
                <p:cNvSpPr txBox="1">
                  <a:spLocks noChangeArrowheads="1"/>
                </p:cNvSpPr>
                <p:nvPr/>
              </p:nvSpPr>
              <p:spPr bwMode="auto">
                <a:xfrm>
                  <a:off x="236" y="4062"/>
                  <a:ext cx="21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200">
                      <a:latin typeface="Times New Roman" panose="02020603050405020304" pitchFamily="18" charset="0"/>
                    </a:rPr>
                    <a:t>Gauss</a:t>
                  </a:r>
                  <a:r>
                    <a:rPr lang="sl-SI" altLang="en-US" sz="2200">
                      <a:latin typeface="Times New Roman" panose="02020603050405020304" pitchFamily="18" charset="0"/>
                    </a:rPr>
                    <a:t>ova</a:t>
                  </a:r>
                  <a:r>
                    <a:rPr lang="en-US" altLang="en-US" sz="2200">
                      <a:latin typeface="Times New Roman" panose="02020603050405020304" pitchFamily="18" charset="0"/>
                    </a:rPr>
                    <a:t> p</a:t>
                  </a:r>
                  <a:r>
                    <a:rPr lang="sl-SI" altLang="en-US" sz="2200">
                      <a:latin typeface="Times New Roman" panose="02020603050405020304" pitchFamily="18" charset="0"/>
                    </a:rPr>
                    <a:t>i</a:t>
                  </a:r>
                  <a:r>
                    <a:rPr lang="en-US" altLang="en-US" sz="2200">
                      <a:latin typeface="Times New Roman" panose="02020603050405020304" pitchFamily="18" charset="0"/>
                    </a:rPr>
                    <a:t>ramid</a:t>
                  </a:r>
                  <a:r>
                    <a:rPr lang="sl-SI" altLang="en-US" sz="2200">
                      <a:latin typeface="Times New Roman" panose="02020603050405020304" pitchFamily="18" charset="0"/>
                    </a:rPr>
                    <a:t>a</a:t>
                  </a:r>
                  <a:r>
                    <a:rPr lang="en-US" altLang="en-US" sz="2200">
                      <a:latin typeface="Times New Roman" panose="02020603050405020304" pitchFamily="18" charset="0"/>
                    </a:rPr>
                    <a:t> </a:t>
                  </a:r>
                  <a:r>
                    <a:rPr lang="sl-SI" altLang="en-US" sz="2200">
                      <a:latin typeface="Times New Roman" panose="02020603050405020304" pitchFamily="18" charset="0"/>
                    </a:rPr>
                    <a:t>za</a:t>
                  </a:r>
                  <a:r>
                    <a:rPr lang="en-US" altLang="en-US" sz="2200">
                      <a:latin typeface="Times New Roman" panose="02020603050405020304" pitchFamily="18" charset="0"/>
                    </a:rPr>
                    <a:t> </a:t>
                  </a:r>
                  <a:r>
                    <a:rPr lang="sl-SI" altLang="en-US" sz="2200">
                      <a:latin typeface="Times New Roman" panose="02020603050405020304" pitchFamily="18" charset="0"/>
                    </a:rPr>
                    <a:t>sliko</a:t>
                  </a:r>
                  <a:r>
                    <a:rPr lang="en-US" altLang="en-US" sz="2200">
                      <a:latin typeface="Times New Roman" panose="02020603050405020304" pitchFamily="18" charset="0"/>
                    </a:rPr>
                    <a:t> </a:t>
                  </a:r>
                  <a:r>
                    <a:rPr lang="en-US" altLang="en-US" sz="2200" b="1">
                      <a:latin typeface="Times New Roman" panose="02020603050405020304" pitchFamily="18" charset="0"/>
                    </a:rPr>
                    <a:t>I</a:t>
                  </a:r>
                  <a:r>
                    <a:rPr lang="en-US" altLang="en-US" sz="2200" b="1" i="1" baseline="-15000">
                      <a:latin typeface="Times New Roman" panose="02020603050405020304" pitchFamily="18" charset="0"/>
                    </a:rPr>
                    <a:t>t</a:t>
                  </a:r>
                </a:p>
              </p:txBody>
            </p:sp>
          </p:grpSp>
          <p:grpSp>
            <p:nvGrpSpPr>
              <p:cNvPr id="267284" name="Group 21"/>
              <p:cNvGrpSpPr>
                <a:grpSpLocks/>
              </p:cNvGrpSpPr>
              <p:nvPr/>
            </p:nvGrpSpPr>
            <p:grpSpPr bwMode="auto">
              <a:xfrm>
                <a:off x="3198" y="916"/>
                <a:ext cx="2365" cy="3359"/>
                <a:chOff x="3198" y="916"/>
                <a:chExt cx="2365" cy="3359"/>
              </a:xfrm>
            </p:grpSpPr>
            <p:grpSp>
              <p:nvGrpSpPr>
                <p:cNvPr id="267285" name="Group 22"/>
                <p:cNvGrpSpPr>
                  <a:grpSpLocks/>
                </p:cNvGrpSpPr>
                <p:nvPr/>
              </p:nvGrpSpPr>
              <p:grpSpPr bwMode="auto">
                <a:xfrm>
                  <a:off x="3289" y="916"/>
                  <a:ext cx="2274" cy="3115"/>
                  <a:chOff x="3289" y="916"/>
                  <a:chExt cx="2274" cy="3115"/>
                </a:xfrm>
              </p:grpSpPr>
              <p:sp>
                <p:nvSpPr>
                  <p:cNvPr id="267287" name="Line 23"/>
                  <p:cNvSpPr>
                    <a:spLocks noChangeAspect="1" noChangeShapeType="1"/>
                  </p:cNvSpPr>
                  <p:nvPr/>
                </p:nvSpPr>
                <p:spPr bwMode="auto">
                  <a:xfrm flipV="1">
                    <a:off x="3301" y="916"/>
                    <a:ext cx="934" cy="308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sp>
                <p:nvSpPr>
                  <p:cNvPr id="267288" name="Line 24"/>
                  <p:cNvSpPr>
                    <a:spLocks noChangeAspect="1" noChangeShapeType="1"/>
                  </p:cNvSpPr>
                  <p:nvPr/>
                </p:nvSpPr>
                <p:spPr bwMode="auto">
                  <a:xfrm flipH="1" flipV="1">
                    <a:off x="4237" y="923"/>
                    <a:ext cx="1306" cy="233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sp>
                <p:nvSpPr>
                  <p:cNvPr id="267289" name="Line 25"/>
                  <p:cNvSpPr>
                    <a:spLocks noChangeAspect="1" noChangeShapeType="1"/>
                  </p:cNvSpPr>
                  <p:nvPr/>
                </p:nvSpPr>
                <p:spPr bwMode="auto">
                  <a:xfrm flipH="1">
                    <a:off x="3854" y="957"/>
                    <a:ext cx="396" cy="231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sp>
                <p:nvSpPr>
                  <p:cNvPr id="267290" name="AutoShape 26"/>
                  <p:cNvSpPr>
                    <a:spLocks noChangeAspect="1" noChangeArrowheads="1"/>
                  </p:cNvSpPr>
                  <p:nvPr/>
                </p:nvSpPr>
                <p:spPr bwMode="auto">
                  <a:xfrm>
                    <a:off x="3289" y="3273"/>
                    <a:ext cx="2274" cy="758"/>
                  </a:xfrm>
                  <a:prstGeom prst="parallelogram">
                    <a:avLst>
                      <a:gd name="adj" fmla="val 75000"/>
                    </a:avLst>
                  </a:prstGeom>
                  <a:solidFill>
                    <a:srgbClr val="0000FF"/>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7291" name="AutoShape 27"/>
                  <p:cNvSpPr>
                    <a:spLocks noChangeAspect="1" noChangeArrowheads="1"/>
                  </p:cNvSpPr>
                  <p:nvPr/>
                </p:nvSpPr>
                <p:spPr bwMode="auto">
                  <a:xfrm>
                    <a:off x="3800" y="2081"/>
                    <a:ext cx="1091" cy="317"/>
                  </a:xfrm>
                  <a:prstGeom prst="parallelogram">
                    <a:avLst>
                      <a:gd name="adj" fmla="val 86041"/>
                    </a:avLst>
                  </a:prstGeom>
                  <a:solidFill>
                    <a:srgbClr val="0000FF"/>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7292" name="AutoShape 28"/>
                  <p:cNvSpPr>
                    <a:spLocks noChangeAspect="1" noChangeArrowheads="1"/>
                  </p:cNvSpPr>
                  <p:nvPr/>
                </p:nvSpPr>
                <p:spPr bwMode="auto">
                  <a:xfrm>
                    <a:off x="3572" y="2612"/>
                    <a:ext cx="1621" cy="472"/>
                  </a:xfrm>
                  <a:prstGeom prst="parallelogram">
                    <a:avLst>
                      <a:gd name="adj" fmla="val 85858"/>
                    </a:avLst>
                  </a:prstGeom>
                  <a:solidFill>
                    <a:srgbClr val="0000FF"/>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7293" name="AutoShape 29"/>
                  <p:cNvSpPr>
                    <a:spLocks noChangeAspect="1" noChangeArrowheads="1"/>
                  </p:cNvSpPr>
                  <p:nvPr/>
                </p:nvSpPr>
                <p:spPr bwMode="auto">
                  <a:xfrm>
                    <a:off x="3965" y="1562"/>
                    <a:ext cx="643" cy="186"/>
                  </a:xfrm>
                  <a:prstGeom prst="parallelogram">
                    <a:avLst>
                      <a:gd name="adj" fmla="val 86425"/>
                    </a:avLst>
                  </a:prstGeom>
                  <a:solidFill>
                    <a:srgbClr val="0000FF"/>
                  </a:solidFill>
                  <a:ln w="9525">
                    <a:solidFill>
                      <a:schemeClr val="tx1"/>
                    </a:solidFill>
                    <a:miter lim="800000"/>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7294" name="Line 30"/>
                  <p:cNvSpPr>
                    <a:spLocks noChangeAspect="1" noChangeShapeType="1"/>
                  </p:cNvSpPr>
                  <p:nvPr/>
                </p:nvSpPr>
                <p:spPr bwMode="auto">
                  <a:xfrm flipH="1" flipV="1">
                    <a:off x="4241" y="923"/>
                    <a:ext cx="754" cy="30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l-SI"/>
                  </a:p>
                </p:txBody>
              </p:sp>
            </p:grpSp>
            <p:sp>
              <p:nvSpPr>
                <p:cNvPr id="267286" name="Text Box 31"/>
                <p:cNvSpPr txBox="1">
                  <a:spLocks noChangeArrowheads="1"/>
                </p:cNvSpPr>
                <p:nvPr/>
              </p:nvSpPr>
              <p:spPr bwMode="auto">
                <a:xfrm>
                  <a:off x="3198" y="4062"/>
                  <a:ext cx="228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200">
                      <a:latin typeface="Times New Roman" panose="02020603050405020304" pitchFamily="18" charset="0"/>
                    </a:rPr>
                    <a:t>Gauss</a:t>
                  </a:r>
                  <a:r>
                    <a:rPr lang="sl-SI" altLang="en-US" sz="2200">
                      <a:latin typeface="Times New Roman" panose="02020603050405020304" pitchFamily="18" charset="0"/>
                    </a:rPr>
                    <a:t>ova</a:t>
                  </a:r>
                  <a:r>
                    <a:rPr lang="en-US" altLang="en-US" sz="2200">
                      <a:latin typeface="Times New Roman" panose="02020603050405020304" pitchFamily="18" charset="0"/>
                    </a:rPr>
                    <a:t> p</a:t>
                  </a:r>
                  <a:r>
                    <a:rPr lang="sl-SI" altLang="en-US" sz="2200">
                      <a:latin typeface="Times New Roman" panose="02020603050405020304" pitchFamily="18" charset="0"/>
                    </a:rPr>
                    <a:t>i</a:t>
                  </a:r>
                  <a:r>
                    <a:rPr lang="en-US" altLang="en-US" sz="2200">
                      <a:latin typeface="Times New Roman" panose="02020603050405020304" pitchFamily="18" charset="0"/>
                    </a:rPr>
                    <a:t>ramid</a:t>
                  </a:r>
                  <a:r>
                    <a:rPr lang="sl-SI" altLang="en-US" sz="2200">
                      <a:latin typeface="Times New Roman" panose="02020603050405020304" pitchFamily="18" charset="0"/>
                    </a:rPr>
                    <a:t>a</a:t>
                  </a:r>
                  <a:r>
                    <a:rPr lang="en-US" altLang="en-US" sz="2200">
                      <a:latin typeface="Times New Roman" panose="02020603050405020304" pitchFamily="18" charset="0"/>
                    </a:rPr>
                    <a:t> </a:t>
                  </a:r>
                  <a:r>
                    <a:rPr lang="sl-SI" altLang="en-US" sz="2200">
                      <a:latin typeface="Times New Roman" panose="02020603050405020304" pitchFamily="18" charset="0"/>
                    </a:rPr>
                    <a:t>za sliko </a:t>
                  </a:r>
                  <a:r>
                    <a:rPr lang="en-US" altLang="en-US" sz="2200" b="1">
                      <a:latin typeface="Times New Roman" panose="02020603050405020304" pitchFamily="18" charset="0"/>
                    </a:rPr>
                    <a:t>I</a:t>
                  </a:r>
                  <a:r>
                    <a:rPr lang="sl-SI" altLang="en-US" sz="2200" i="1" baseline="-25000">
                      <a:latin typeface="Times New Roman" panose="02020603050405020304" pitchFamily="18" charset="0"/>
                    </a:rPr>
                    <a:t>t+</a:t>
                  </a:r>
                  <a:r>
                    <a:rPr lang="el-GR" altLang="en-US" sz="2200" i="1" baseline="-25000">
                      <a:latin typeface="Times New Roman" panose="02020603050405020304" pitchFamily="18" charset="0"/>
                    </a:rPr>
                    <a:t>Δ</a:t>
                  </a:r>
                  <a:r>
                    <a:rPr lang="sl-SI" altLang="en-US" sz="2200" i="1" baseline="-25000">
                      <a:latin typeface="Times New Roman" panose="02020603050405020304" pitchFamily="18" charset="0"/>
                    </a:rPr>
                    <a:t>t</a:t>
                  </a:r>
                  <a:endParaRPr lang="en-US" altLang="en-US" sz="2200" i="1" baseline="-25000">
                    <a:latin typeface="Times New Roman" panose="02020603050405020304" pitchFamily="18" charset="0"/>
                  </a:endParaRPr>
                </a:p>
              </p:txBody>
            </p:sp>
          </p:grpSp>
        </p:grpSp>
        <p:sp>
          <p:nvSpPr>
            <p:cNvPr id="267281" name="Text Box 32"/>
            <p:cNvSpPr txBox="1">
              <a:spLocks noChangeArrowheads="1"/>
            </p:cNvSpPr>
            <p:nvPr/>
          </p:nvSpPr>
          <p:spPr bwMode="auto">
            <a:xfrm>
              <a:off x="4124" y="3566"/>
              <a:ext cx="68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2200">
                  <a:latin typeface="Times New Roman" panose="02020603050405020304" pitchFamily="18" charset="0"/>
                </a:rPr>
                <a:t>slika</a:t>
              </a:r>
              <a:r>
                <a:rPr lang="en-US" altLang="en-US" sz="2200" b="1">
                  <a:latin typeface="Times New Roman" panose="02020603050405020304" pitchFamily="18" charset="0"/>
                </a:rPr>
                <a:t> I</a:t>
              </a:r>
              <a:r>
                <a:rPr lang="sl-SI" altLang="en-US" sz="2200" i="1" baseline="-25000">
                  <a:latin typeface="Times New Roman" panose="02020603050405020304" pitchFamily="18" charset="0"/>
                </a:rPr>
                <a:t>t+</a:t>
              </a:r>
              <a:r>
                <a:rPr lang="el-GR" altLang="en-US" sz="2200" i="1" baseline="-25000">
                  <a:latin typeface="Times New Roman" panose="02020603050405020304" pitchFamily="18" charset="0"/>
                </a:rPr>
                <a:t>Δ</a:t>
              </a:r>
              <a:r>
                <a:rPr lang="sl-SI" altLang="en-US" sz="2200" i="1" baseline="-25000">
                  <a:latin typeface="Times New Roman" panose="02020603050405020304" pitchFamily="18" charset="0"/>
                </a:rPr>
                <a:t>t</a:t>
              </a:r>
              <a:endParaRPr lang="en-US" altLang="en-US" sz="2200" i="1" baseline="-25000">
                <a:latin typeface="Times New Roman" panose="02020603050405020304" pitchFamily="18" charset="0"/>
              </a:endParaRPr>
            </a:p>
          </p:txBody>
        </p:sp>
        <p:sp>
          <p:nvSpPr>
            <p:cNvPr id="267282" name="Text Box 33"/>
            <p:cNvSpPr txBox="1">
              <a:spLocks noChangeArrowheads="1"/>
            </p:cNvSpPr>
            <p:nvPr/>
          </p:nvSpPr>
          <p:spPr bwMode="auto">
            <a:xfrm>
              <a:off x="887" y="3557"/>
              <a:ext cx="52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200" b="1">
                  <a:latin typeface="Times New Roman" panose="02020603050405020304" pitchFamily="18" charset="0"/>
                </a:rPr>
                <a:t> </a:t>
              </a:r>
              <a:r>
                <a:rPr lang="sl-SI" altLang="en-US" sz="2200">
                  <a:latin typeface="Times New Roman" panose="02020603050405020304" pitchFamily="18" charset="0"/>
                </a:rPr>
                <a:t>slika </a:t>
              </a:r>
              <a:r>
                <a:rPr lang="en-US" altLang="en-US" sz="2200" b="1">
                  <a:latin typeface="Times New Roman" panose="02020603050405020304" pitchFamily="18" charset="0"/>
                </a:rPr>
                <a:t>I</a:t>
              </a:r>
              <a:r>
                <a:rPr lang="en-US" altLang="en-US" sz="2200" i="1" baseline="-15000">
                  <a:latin typeface="Times New Roman" panose="02020603050405020304" pitchFamily="18" charset="0"/>
                </a:rPr>
                <a:t>t</a:t>
              </a:r>
            </a:p>
          </p:txBody>
        </p:sp>
      </p:grpSp>
      <p:grpSp>
        <p:nvGrpSpPr>
          <p:cNvPr id="267273" name="Group 46"/>
          <p:cNvGrpSpPr>
            <a:grpSpLocks/>
          </p:cNvGrpSpPr>
          <p:nvPr/>
        </p:nvGrpSpPr>
        <p:grpSpPr bwMode="auto">
          <a:xfrm>
            <a:off x="3679825" y="1196975"/>
            <a:ext cx="1755775" cy="4140200"/>
            <a:chOff x="3680321" y="1196752"/>
            <a:chExt cx="1755775" cy="4140448"/>
          </a:xfrm>
        </p:grpSpPr>
        <p:grpSp>
          <p:nvGrpSpPr>
            <p:cNvPr id="267274" name="Group 34"/>
            <p:cNvGrpSpPr>
              <a:grpSpLocks/>
            </p:cNvGrpSpPr>
            <p:nvPr/>
          </p:nvGrpSpPr>
          <p:grpSpPr bwMode="auto">
            <a:xfrm>
              <a:off x="3680321" y="1844824"/>
              <a:ext cx="1755775" cy="3492376"/>
              <a:chOff x="2489" y="1482"/>
              <a:chExt cx="1106" cy="2271"/>
            </a:xfrm>
          </p:grpSpPr>
          <p:sp>
            <p:nvSpPr>
              <p:cNvPr id="267276" name="Text Box 35"/>
              <p:cNvSpPr txBox="1">
                <a:spLocks noChangeArrowheads="1"/>
              </p:cNvSpPr>
              <p:nvPr/>
            </p:nvSpPr>
            <p:spPr bwMode="auto">
              <a:xfrm>
                <a:off x="2489" y="3482"/>
                <a:ext cx="105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200" b="1" i="1">
                    <a:solidFill>
                      <a:srgbClr val="D60093"/>
                    </a:solidFill>
                    <a:latin typeface="Times New Roman" panose="02020603050405020304" pitchFamily="18" charset="0"/>
                  </a:rPr>
                  <a:t>u=10 pi</a:t>
                </a:r>
                <a:r>
                  <a:rPr lang="sl-SI" altLang="en-US" sz="2200" b="1" i="1">
                    <a:solidFill>
                      <a:srgbClr val="D60093"/>
                    </a:solidFill>
                    <a:latin typeface="Times New Roman" panose="02020603050405020304" pitchFamily="18" charset="0"/>
                  </a:rPr>
                  <a:t>ks</a:t>
                </a:r>
                <a:r>
                  <a:rPr lang="en-US" altLang="en-US" sz="2200" b="1" i="1">
                    <a:solidFill>
                      <a:srgbClr val="D60093"/>
                    </a:solidFill>
                    <a:latin typeface="Times New Roman" panose="02020603050405020304" pitchFamily="18" charset="0"/>
                  </a:rPr>
                  <a:t>l</a:t>
                </a:r>
                <a:r>
                  <a:rPr lang="sl-SI" altLang="en-US" sz="2200" b="1" i="1">
                    <a:solidFill>
                      <a:srgbClr val="D60093"/>
                    </a:solidFill>
                    <a:latin typeface="Times New Roman" panose="02020603050405020304" pitchFamily="18" charset="0"/>
                  </a:rPr>
                  <a:t>ov</a:t>
                </a:r>
                <a:endParaRPr lang="en-US" altLang="en-US" sz="2200" b="1">
                  <a:latin typeface="Times New Roman" panose="02020603050405020304" pitchFamily="18" charset="0"/>
                </a:endParaRPr>
              </a:p>
            </p:txBody>
          </p:sp>
          <p:sp>
            <p:nvSpPr>
              <p:cNvPr id="267277" name="Text Box 36"/>
              <p:cNvSpPr txBox="1">
                <a:spLocks noChangeArrowheads="1"/>
              </p:cNvSpPr>
              <p:nvPr/>
            </p:nvSpPr>
            <p:spPr bwMode="auto">
              <a:xfrm>
                <a:off x="2489" y="2658"/>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200" b="1" i="1">
                    <a:solidFill>
                      <a:srgbClr val="D60093"/>
                    </a:solidFill>
                    <a:latin typeface="Times New Roman" panose="02020603050405020304" pitchFamily="18" charset="0"/>
                  </a:rPr>
                  <a:t>u=5 pi</a:t>
                </a:r>
                <a:r>
                  <a:rPr lang="sl-SI" altLang="en-US" sz="2200" b="1" i="1">
                    <a:solidFill>
                      <a:srgbClr val="D60093"/>
                    </a:solidFill>
                    <a:latin typeface="Times New Roman" panose="02020603050405020304" pitchFamily="18" charset="0"/>
                  </a:rPr>
                  <a:t>ks</a:t>
                </a:r>
                <a:r>
                  <a:rPr lang="en-US" altLang="en-US" sz="2200" b="1" i="1">
                    <a:solidFill>
                      <a:srgbClr val="D60093"/>
                    </a:solidFill>
                    <a:latin typeface="Times New Roman" panose="02020603050405020304" pitchFamily="18" charset="0"/>
                  </a:rPr>
                  <a:t>l</a:t>
                </a:r>
                <a:r>
                  <a:rPr lang="sl-SI" altLang="en-US" sz="2200" b="1" i="1">
                    <a:solidFill>
                      <a:srgbClr val="D60093"/>
                    </a:solidFill>
                    <a:latin typeface="Times New Roman" panose="02020603050405020304" pitchFamily="18" charset="0"/>
                  </a:rPr>
                  <a:t>ov</a:t>
                </a:r>
                <a:endParaRPr lang="en-US" altLang="en-US" sz="2200" b="1">
                  <a:latin typeface="Times New Roman" panose="02020603050405020304" pitchFamily="18" charset="0"/>
                </a:endParaRPr>
              </a:p>
            </p:txBody>
          </p:sp>
          <p:sp>
            <p:nvSpPr>
              <p:cNvPr id="267278" name="Text Box 37"/>
              <p:cNvSpPr txBox="1">
                <a:spLocks noChangeArrowheads="1"/>
              </p:cNvSpPr>
              <p:nvPr/>
            </p:nvSpPr>
            <p:spPr bwMode="auto">
              <a:xfrm>
                <a:off x="2489" y="2026"/>
                <a:ext cx="101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200" b="1" i="1">
                    <a:solidFill>
                      <a:srgbClr val="D60093"/>
                    </a:solidFill>
                    <a:latin typeface="Times New Roman" panose="02020603050405020304" pitchFamily="18" charset="0"/>
                  </a:rPr>
                  <a:t>u=2</a:t>
                </a:r>
                <a:r>
                  <a:rPr lang="sl-SI" altLang="en-US" sz="2200" b="1" i="1">
                    <a:solidFill>
                      <a:srgbClr val="D60093"/>
                    </a:solidFill>
                    <a:latin typeface="Times New Roman" panose="02020603050405020304" pitchFamily="18" charset="0"/>
                  </a:rPr>
                  <a:t>,</a:t>
                </a:r>
                <a:r>
                  <a:rPr lang="en-US" altLang="en-US" sz="2200" b="1" i="1">
                    <a:solidFill>
                      <a:srgbClr val="D60093"/>
                    </a:solidFill>
                    <a:latin typeface="Times New Roman" panose="02020603050405020304" pitchFamily="18" charset="0"/>
                  </a:rPr>
                  <a:t>5 pi</a:t>
                </a:r>
                <a:r>
                  <a:rPr lang="sl-SI" altLang="en-US" sz="2200" b="1" i="1">
                    <a:solidFill>
                      <a:srgbClr val="D60093"/>
                    </a:solidFill>
                    <a:latin typeface="Times New Roman" panose="02020603050405020304" pitchFamily="18" charset="0"/>
                  </a:rPr>
                  <a:t>ks</a:t>
                </a:r>
                <a:r>
                  <a:rPr lang="en-US" altLang="en-US" sz="2200" b="1" i="1">
                    <a:solidFill>
                      <a:srgbClr val="D60093"/>
                    </a:solidFill>
                    <a:latin typeface="Times New Roman" panose="02020603050405020304" pitchFamily="18" charset="0"/>
                  </a:rPr>
                  <a:t>l</a:t>
                </a:r>
                <a:r>
                  <a:rPr lang="sl-SI" altLang="en-US" sz="2200" b="1" i="1">
                    <a:solidFill>
                      <a:srgbClr val="D60093"/>
                    </a:solidFill>
                    <a:latin typeface="Times New Roman" panose="02020603050405020304" pitchFamily="18" charset="0"/>
                  </a:rPr>
                  <a:t>a</a:t>
                </a:r>
                <a:endParaRPr lang="en-US" altLang="en-US" sz="2200" b="1">
                  <a:latin typeface="Times New Roman" panose="02020603050405020304" pitchFamily="18" charset="0"/>
                </a:endParaRPr>
              </a:p>
            </p:txBody>
          </p:sp>
          <p:sp>
            <p:nvSpPr>
              <p:cNvPr id="267279" name="Text Box 38"/>
              <p:cNvSpPr txBox="1">
                <a:spLocks noChangeArrowheads="1"/>
              </p:cNvSpPr>
              <p:nvPr/>
            </p:nvSpPr>
            <p:spPr bwMode="auto">
              <a:xfrm>
                <a:off x="2489" y="1482"/>
                <a:ext cx="110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200" b="1" i="1">
                    <a:solidFill>
                      <a:srgbClr val="D60093"/>
                    </a:solidFill>
                    <a:latin typeface="Times New Roman" panose="02020603050405020304" pitchFamily="18" charset="0"/>
                  </a:rPr>
                  <a:t>u=1</a:t>
                </a:r>
                <a:r>
                  <a:rPr lang="sl-SI" altLang="en-US" sz="2200" b="1" i="1">
                    <a:solidFill>
                      <a:srgbClr val="D60093"/>
                    </a:solidFill>
                    <a:latin typeface="Times New Roman" panose="02020603050405020304" pitchFamily="18" charset="0"/>
                  </a:rPr>
                  <a:t>,</a:t>
                </a:r>
                <a:r>
                  <a:rPr lang="en-US" altLang="en-US" sz="2200" b="1" i="1">
                    <a:solidFill>
                      <a:srgbClr val="D60093"/>
                    </a:solidFill>
                    <a:latin typeface="Times New Roman" panose="02020603050405020304" pitchFamily="18" charset="0"/>
                  </a:rPr>
                  <a:t>25 pi</a:t>
                </a:r>
                <a:r>
                  <a:rPr lang="sl-SI" altLang="en-US" sz="2200" b="1" i="1">
                    <a:solidFill>
                      <a:srgbClr val="D60093"/>
                    </a:solidFill>
                    <a:latin typeface="Times New Roman" panose="02020603050405020304" pitchFamily="18" charset="0"/>
                  </a:rPr>
                  <a:t>ks</a:t>
                </a:r>
                <a:r>
                  <a:rPr lang="en-US" altLang="en-US" sz="2200" b="1" i="1">
                    <a:solidFill>
                      <a:srgbClr val="D60093"/>
                    </a:solidFill>
                    <a:latin typeface="Times New Roman" panose="02020603050405020304" pitchFamily="18" charset="0"/>
                  </a:rPr>
                  <a:t>l</a:t>
                </a:r>
                <a:r>
                  <a:rPr lang="sl-SI" altLang="en-US" sz="2200" b="1" i="1">
                    <a:solidFill>
                      <a:srgbClr val="D60093"/>
                    </a:solidFill>
                    <a:latin typeface="Times New Roman" panose="02020603050405020304" pitchFamily="18" charset="0"/>
                  </a:rPr>
                  <a:t>a</a:t>
                </a:r>
                <a:endParaRPr lang="en-US" altLang="en-US" sz="2200" b="1">
                  <a:latin typeface="Times New Roman" panose="02020603050405020304" pitchFamily="18" charset="0"/>
                </a:endParaRPr>
              </a:p>
            </p:txBody>
          </p:sp>
        </p:grpSp>
        <p:sp>
          <p:nvSpPr>
            <p:cNvPr id="267275" name="Text Box 38"/>
            <p:cNvSpPr txBox="1">
              <a:spLocks noChangeArrowheads="1"/>
            </p:cNvSpPr>
            <p:nvPr/>
          </p:nvSpPr>
          <p:spPr bwMode="auto">
            <a:xfrm>
              <a:off x="3812314" y="1196752"/>
              <a:ext cx="140775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sl-SI" altLang="en-US" sz="2200" b="1" i="1">
                  <a:solidFill>
                    <a:srgbClr val="D60093"/>
                  </a:solidFill>
                  <a:latin typeface="Times New Roman" panose="02020603050405020304" pitchFamily="18" charset="0"/>
                </a:rPr>
                <a:t>Ločljivost:</a:t>
              </a:r>
              <a:endParaRPr lang="en-US" altLang="en-US" sz="2200" b="1">
                <a:latin typeface="Times New Roman" panose="02020603050405020304" pitchFamily="18" charset="0"/>
              </a:endParaRPr>
            </a:p>
          </p:txBody>
        </p:sp>
      </p:grpSp>
    </p:spTree>
  </p:cSld>
  <p:clrMapOvr>
    <a:masterClrMapping/>
  </p:clrMapOvr>
  <p:transition>
    <p:cove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6931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726C7D3-2A05-4347-8C35-12F8DD36354A}" type="slidenum">
              <a:rPr lang="en-GB" altLang="en-US" sz="1400" smtClean="0"/>
              <a:pPr>
                <a:spcBef>
                  <a:spcPct val="0"/>
                </a:spcBef>
                <a:buFontTx/>
                <a:buNone/>
              </a:pPr>
              <a:t>134</a:t>
            </a:fld>
            <a:endParaRPr lang="en-GB" altLang="en-US" sz="1400"/>
          </a:p>
        </p:txBody>
      </p:sp>
      <p:sp>
        <p:nvSpPr>
          <p:cNvPr id="269316"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ALGORITEM ZA VEČLOČLJIVOSTNO RAČUNANJE OPTIČNEGA TOKA PO LUCAS-KANADEJU</a:t>
            </a:r>
            <a:endParaRPr lang="en-GB" altLang="en-US" sz="2000"/>
          </a:p>
        </p:txBody>
      </p:sp>
      <p:sp>
        <p:nvSpPr>
          <p:cNvPr id="26931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6931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69319"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69349"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20" name="TextBox 46"/>
          <p:cNvSpPr txBox="1">
            <a:spLocks noChangeArrowheads="1"/>
          </p:cNvSpPr>
          <p:nvPr/>
        </p:nvSpPr>
        <p:spPr bwMode="auto">
          <a:xfrm>
            <a:off x="827088" y="1557338"/>
            <a:ext cx="7993062"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Izračunaj optični tok po Lucas-Kanadeju na najnižjo ločljivost</a:t>
            </a:r>
          </a:p>
          <a:p>
            <a:pPr eaLnBrk="1" hangingPunct="1">
              <a:spcBef>
                <a:spcPts val="600"/>
              </a:spcBef>
              <a:buFontTx/>
              <a:buAutoNum type="arabicPeriod"/>
            </a:pPr>
            <a:r>
              <a:rPr lang="sl-SI" altLang="en-US" sz="1800"/>
              <a:t>Za vsako višjo ločljivost </a:t>
            </a:r>
            <a:r>
              <a:rPr lang="sl-SI" altLang="en-US" sz="1800" i="1"/>
              <a:t>k</a:t>
            </a:r>
          </a:p>
          <a:p>
            <a:pPr lvl="1" eaLnBrk="1" hangingPunct="1">
              <a:spcBef>
                <a:spcPts val="600"/>
              </a:spcBef>
              <a:buFont typeface="Arial" panose="020B0604020202020204" pitchFamily="34" charset="0"/>
              <a:buChar char="•"/>
            </a:pPr>
            <a:r>
              <a:rPr lang="sl-SI" altLang="en-US" sz="1800"/>
              <a:t>vzemi optični tok (</a:t>
            </a:r>
            <a:r>
              <a:rPr lang="sl-SI" altLang="en-US" sz="1800" i="1"/>
              <a:t>v</a:t>
            </a:r>
            <a:r>
              <a:rPr lang="sl-SI" altLang="en-US" sz="1800" i="1" baseline="-25000"/>
              <a:t>x,k</a:t>
            </a:r>
            <a:r>
              <a:rPr lang="sl-SI" altLang="en-US" sz="1800" baseline="-25000"/>
              <a:t>-1</a:t>
            </a:r>
            <a:r>
              <a:rPr lang="sl-SI" altLang="en-US" sz="1800"/>
              <a:t>, </a:t>
            </a:r>
            <a:r>
              <a:rPr lang="sl-SI" altLang="en-US" sz="1800" i="1"/>
              <a:t>v</a:t>
            </a:r>
            <a:r>
              <a:rPr lang="sl-SI" altLang="en-US" sz="1800" i="1" baseline="-25000"/>
              <a:t>y,k</a:t>
            </a:r>
            <a:r>
              <a:rPr lang="sl-SI" altLang="en-US" sz="1800" baseline="-25000"/>
              <a:t>-1</a:t>
            </a:r>
            <a:r>
              <a:rPr lang="sl-SI" altLang="en-US" sz="1800"/>
              <a:t>) z nižje ločljivosti</a:t>
            </a:r>
          </a:p>
          <a:p>
            <a:pPr lvl="1" eaLnBrk="1" hangingPunct="1">
              <a:spcBef>
                <a:spcPts val="600"/>
              </a:spcBef>
              <a:buFont typeface="Arial" panose="020B0604020202020204" pitchFamily="34" charset="0"/>
              <a:buChar char="•"/>
            </a:pPr>
            <a:r>
              <a:rPr lang="sl-SI" altLang="en-US" sz="1800"/>
              <a:t>izračunaj dvojno ločljivost toka z bilinearno interpolacijo na stopnji </a:t>
            </a:r>
            <a:r>
              <a:rPr lang="sl-SI" altLang="en-US" sz="1800" i="1"/>
              <a:t>k</a:t>
            </a:r>
            <a:r>
              <a:rPr lang="sl-SI" altLang="en-US" sz="1800"/>
              <a:t>: (</a:t>
            </a:r>
            <a:r>
              <a:rPr lang="sl-SI" altLang="en-US" sz="1800" i="1"/>
              <a:t>v’</a:t>
            </a:r>
            <a:r>
              <a:rPr lang="sl-SI" altLang="en-US" sz="1800" i="1" baseline="-25000"/>
              <a:t>x,k</a:t>
            </a:r>
            <a:r>
              <a:rPr lang="sl-SI" altLang="en-US" sz="1800"/>
              <a:t>, </a:t>
            </a:r>
            <a:r>
              <a:rPr lang="sl-SI" altLang="en-US" sz="1800" i="1"/>
              <a:t>v’</a:t>
            </a:r>
            <a:r>
              <a:rPr lang="sl-SI" altLang="en-US" sz="1800" i="1" baseline="-25000"/>
              <a:t>y,k</a:t>
            </a:r>
            <a:r>
              <a:rPr lang="sl-SI" altLang="en-US" sz="1800"/>
              <a:t>)</a:t>
            </a:r>
          </a:p>
          <a:p>
            <a:pPr lvl="1" eaLnBrk="1" hangingPunct="1">
              <a:spcBef>
                <a:spcPts val="600"/>
              </a:spcBef>
              <a:buFont typeface="Arial" panose="020B0604020202020204" pitchFamily="34" charset="0"/>
              <a:buChar char="•"/>
            </a:pPr>
            <a:r>
              <a:rPr lang="sl-SI" altLang="en-US" sz="1800"/>
              <a:t>množi (</a:t>
            </a:r>
            <a:r>
              <a:rPr lang="sl-SI" altLang="en-US" sz="1800" i="1"/>
              <a:t>v’</a:t>
            </a:r>
            <a:r>
              <a:rPr lang="sl-SI" altLang="en-US" sz="1800" i="1" baseline="-25000"/>
              <a:t>x,k</a:t>
            </a:r>
            <a:r>
              <a:rPr lang="sl-SI" altLang="en-US" sz="1800"/>
              <a:t>, </a:t>
            </a:r>
            <a:r>
              <a:rPr lang="sl-SI" altLang="en-US" sz="1800" i="1"/>
              <a:t>v’</a:t>
            </a:r>
            <a:r>
              <a:rPr lang="sl-SI" altLang="en-US" sz="1800" i="1" baseline="-25000"/>
              <a:t>y,k</a:t>
            </a:r>
            <a:r>
              <a:rPr lang="sl-SI" altLang="en-US" sz="1800"/>
              <a:t>) z 2</a:t>
            </a:r>
          </a:p>
          <a:p>
            <a:pPr lvl="1" eaLnBrk="1" hangingPunct="1">
              <a:spcBef>
                <a:spcPts val="600"/>
              </a:spcBef>
              <a:buFont typeface="Arial" panose="020B0604020202020204" pitchFamily="34" charset="0"/>
              <a:buChar char="•"/>
            </a:pPr>
            <a:r>
              <a:rPr lang="sl-SI" altLang="en-US" sz="1800"/>
              <a:t>izračunaj odmik (</a:t>
            </a:r>
            <a:r>
              <a:rPr lang="el-GR" altLang="en-US" sz="1800"/>
              <a:t>Δ</a:t>
            </a:r>
            <a:r>
              <a:rPr lang="sl-SI" altLang="en-US" sz="1800" i="1"/>
              <a:t>x</a:t>
            </a:r>
            <a:r>
              <a:rPr lang="sl-SI" altLang="en-US" sz="1800"/>
              <a:t>, </a:t>
            </a:r>
            <a:r>
              <a:rPr lang="el-GR" altLang="en-US" sz="1800"/>
              <a:t>Δ</a:t>
            </a:r>
            <a:r>
              <a:rPr lang="sl-SI" altLang="en-US" sz="1800" i="1"/>
              <a:t>y</a:t>
            </a:r>
            <a:r>
              <a:rPr lang="sl-SI" altLang="en-US" sz="1800"/>
              <a:t>) glede na novo ocenjeno hitrost in se prestavi v nove koordinate pikslov</a:t>
            </a:r>
          </a:p>
          <a:p>
            <a:pPr lvl="1" eaLnBrk="1" hangingPunct="1">
              <a:spcBef>
                <a:spcPts val="600"/>
              </a:spcBef>
              <a:buFont typeface="Arial" panose="020B0604020202020204" pitchFamily="34" charset="0"/>
              <a:buChar char="•"/>
            </a:pPr>
            <a:r>
              <a:rPr lang="sl-SI" altLang="en-US" sz="1800"/>
              <a:t>na tako premaknjeni mreži določi popravljen optični tok glede na sliki z višjo ločljivostjo (uporabi Lucas-Kanadeja ): (</a:t>
            </a:r>
            <a:r>
              <a:rPr lang="sl-SI" altLang="en-US" sz="1800" i="1"/>
              <a:t>v’’</a:t>
            </a:r>
            <a:r>
              <a:rPr lang="sl-SI" altLang="en-US" sz="1800" i="1" baseline="-25000"/>
              <a:t>x,k</a:t>
            </a:r>
            <a:r>
              <a:rPr lang="sl-SI" altLang="en-US" sz="1800"/>
              <a:t>, </a:t>
            </a:r>
            <a:r>
              <a:rPr lang="sl-SI" altLang="en-US" sz="1800" i="1"/>
              <a:t>v’’</a:t>
            </a:r>
            <a:r>
              <a:rPr lang="sl-SI" altLang="en-US" sz="1800" i="1" baseline="-25000"/>
              <a:t>y,k</a:t>
            </a:r>
            <a:r>
              <a:rPr lang="sl-SI" altLang="en-US" sz="1800"/>
              <a:t>) </a:t>
            </a:r>
          </a:p>
          <a:p>
            <a:pPr lvl="1" eaLnBrk="1" hangingPunct="1">
              <a:spcBef>
                <a:spcPts val="600"/>
              </a:spcBef>
              <a:buFont typeface="Arial" panose="020B0604020202020204" pitchFamily="34" charset="0"/>
              <a:buChar char="•"/>
            </a:pPr>
            <a:r>
              <a:rPr lang="sl-SI" altLang="en-US" sz="1800"/>
              <a:t>za dokončno oceno hitrosti  pri višji ločljivosti je treba sešteti začetno oceno hitrosti na stopnji </a:t>
            </a:r>
            <a:r>
              <a:rPr lang="sl-SI" altLang="en-US" sz="1800" i="1"/>
              <a:t>k</a:t>
            </a:r>
            <a:r>
              <a:rPr lang="sl-SI" altLang="en-US" sz="1800"/>
              <a:t> in popravke na tej stopnji: </a:t>
            </a:r>
          </a:p>
          <a:p>
            <a:pPr lvl="1" eaLnBrk="1" hangingPunct="1">
              <a:spcBef>
                <a:spcPts val="600"/>
              </a:spcBef>
              <a:buFontTx/>
              <a:buNone/>
            </a:pPr>
            <a:r>
              <a:rPr lang="sl-SI" altLang="en-US" sz="1800"/>
              <a:t>	(</a:t>
            </a:r>
            <a:r>
              <a:rPr lang="sl-SI" altLang="en-US" sz="1800" i="1"/>
              <a:t>v</a:t>
            </a:r>
            <a:r>
              <a:rPr lang="sl-SI" altLang="en-US" sz="1800" i="1" baseline="-25000"/>
              <a:t>x,k</a:t>
            </a:r>
            <a:r>
              <a:rPr lang="sl-SI" altLang="en-US" sz="1800"/>
              <a:t>, </a:t>
            </a:r>
            <a:r>
              <a:rPr lang="sl-SI" altLang="en-US" sz="1800" i="1"/>
              <a:t>v</a:t>
            </a:r>
            <a:r>
              <a:rPr lang="sl-SI" altLang="en-US" sz="1800" i="1" baseline="-25000"/>
              <a:t>y,k</a:t>
            </a:r>
            <a:r>
              <a:rPr lang="sl-SI" altLang="en-US" sz="1800"/>
              <a:t>) = (</a:t>
            </a:r>
            <a:r>
              <a:rPr lang="sl-SI" altLang="en-US" sz="1800" i="1"/>
              <a:t>v’</a:t>
            </a:r>
            <a:r>
              <a:rPr lang="sl-SI" altLang="en-US" sz="1800" i="1" baseline="-25000"/>
              <a:t>x,k</a:t>
            </a:r>
            <a:r>
              <a:rPr lang="sl-SI" altLang="en-US" sz="1800"/>
              <a:t>, </a:t>
            </a:r>
            <a:r>
              <a:rPr lang="sl-SI" altLang="en-US" sz="1800" i="1"/>
              <a:t>v’</a:t>
            </a:r>
            <a:r>
              <a:rPr lang="sl-SI" altLang="en-US" sz="1800" i="1" baseline="-25000"/>
              <a:t>y,k</a:t>
            </a:r>
            <a:r>
              <a:rPr lang="sl-SI" altLang="en-US" sz="1800"/>
              <a:t>) + (</a:t>
            </a:r>
            <a:r>
              <a:rPr lang="sl-SI" altLang="en-US" sz="1800" i="1"/>
              <a:t>v’’</a:t>
            </a:r>
            <a:r>
              <a:rPr lang="sl-SI" altLang="en-US" sz="1800" i="1" baseline="-25000"/>
              <a:t>x,k</a:t>
            </a:r>
            <a:r>
              <a:rPr lang="sl-SI" altLang="en-US" sz="1800"/>
              <a:t>, </a:t>
            </a:r>
            <a:r>
              <a:rPr lang="sl-SI" altLang="en-US" sz="1800" i="1"/>
              <a:t>v’’</a:t>
            </a:r>
            <a:r>
              <a:rPr lang="sl-SI" altLang="en-US" sz="1800" i="1" baseline="-25000"/>
              <a:t>y,k</a:t>
            </a:r>
            <a:r>
              <a:rPr lang="sl-SI" altLang="en-US" sz="1800"/>
              <a:t>) </a:t>
            </a:r>
          </a:p>
        </p:txBody>
      </p:sp>
      <p:sp>
        <p:nvSpPr>
          <p:cNvPr id="48" name="Freeform 47"/>
          <p:cNvSpPr/>
          <p:nvPr/>
        </p:nvSpPr>
        <p:spPr>
          <a:xfrm>
            <a:off x="762000" y="2090738"/>
            <a:ext cx="1046163" cy="4333875"/>
          </a:xfrm>
          <a:custGeom>
            <a:avLst/>
            <a:gdLst>
              <a:gd name="connsiteX0" fmla="*/ 1046922 w 1046922"/>
              <a:gd name="connsiteY0" fmla="*/ 3853070 h 4333461"/>
              <a:gd name="connsiteX1" fmla="*/ 609600 w 1046922"/>
              <a:gd name="connsiteY1" fmla="*/ 4012096 h 4333461"/>
              <a:gd name="connsiteX2" fmla="*/ 53009 w 1046922"/>
              <a:gd name="connsiteY2" fmla="*/ 1924879 h 4333461"/>
              <a:gd name="connsiteX3" fmla="*/ 291548 w 1046922"/>
              <a:gd name="connsiteY3" fmla="*/ 274983 h 4333461"/>
              <a:gd name="connsiteX4" fmla="*/ 549965 w 1046922"/>
              <a:gd name="connsiteY4" fmla="*/ 274983 h 4333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6922" h="4333461">
                <a:moveTo>
                  <a:pt x="1046922" y="3853070"/>
                </a:moveTo>
                <a:cubicBezTo>
                  <a:pt x="911087" y="4093265"/>
                  <a:pt x="775252" y="4333461"/>
                  <a:pt x="609600" y="4012096"/>
                </a:cubicBezTo>
                <a:cubicBezTo>
                  <a:pt x="443948" y="3690731"/>
                  <a:pt x="106018" y="2547731"/>
                  <a:pt x="53009" y="1924879"/>
                </a:cubicBezTo>
                <a:cubicBezTo>
                  <a:pt x="0" y="1302027"/>
                  <a:pt x="208722" y="549966"/>
                  <a:pt x="291548" y="274983"/>
                </a:cubicBezTo>
                <a:cubicBezTo>
                  <a:pt x="374374" y="0"/>
                  <a:pt x="462169" y="137491"/>
                  <a:pt x="549965" y="274983"/>
                </a:cubicBezTo>
              </a:path>
            </a:pathLst>
          </a:cu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Tree>
  </p:cSld>
  <p:clrMapOvr>
    <a:masterClrMapping/>
  </p:clrMapOvr>
  <p:transition>
    <p:cove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7136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06F3E5B-D880-424E-B359-3CA4DEB3AF47}" type="slidenum">
              <a:rPr lang="en-GB" altLang="en-US" sz="1400" smtClean="0"/>
              <a:pPr>
                <a:spcBef>
                  <a:spcPct val="0"/>
                </a:spcBef>
                <a:buFontTx/>
                <a:buNone/>
              </a:pPr>
              <a:t>135</a:t>
            </a:fld>
            <a:endParaRPr lang="en-GB" altLang="en-US" sz="1400"/>
          </a:p>
        </p:txBody>
      </p:sp>
      <p:sp>
        <p:nvSpPr>
          <p:cNvPr id="271364"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Primer optičnega toka</a:t>
            </a:r>
            <a:endParaRPr lang="en-GB" altLang="en-US" sz="2000"/>
          </a:p>
        </p:txBody>
      </p:sp>
      <p:sp>
        <p:nvSpPr>
          <p:cNvPr id="27136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7136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71367" name="Rectangle 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800"/>
              <a:t>An example of the optical flow pattern from the sequence of images of a rotating Rubik's cube shown in Figure </a:t>
            </a:r>
            <a:r>
              <a:rPr lang="en-GB" altLang="en-US" sz="1800">
                <a:hlinkClick r:id="rId3"/>
              </a:rPr>
              <a:t>2</a:t>
            </a:r>
            <a:r>
              <a:rPr lang="en-GB" altLang="en-US" sz="1800"/>
              <a:t>. </a:t>
            </a:r>
          </a:p>
          <a:p>
            <a:pPr>
              <a:spcBef>
                <a:spcPct val="0"/>
              </a:spcBef>
              <a:buFontTx/>
              <a:buNone/>
            </a:pPr>
            <a:r>
              <a:rPr lang="en-GB" altLang="en-US" sz="1800"/>
              <a:t>    </a:t>
            </a:r>
            <a:r>
              <a:rPr lang="en-GB" altLang="en-US" sz="10000"/>
              <a:t> </a:t>
            </a:r>
            <a:endParaRPr lang="en-GB" altLang="en-US" sz="1800"/>
          </a:p>
        </p:txBody>
      </p:sp>
      <p:pic>
        <p:nvPicPr>
          <p:cNvPr id="271368" name="Picture 2" descr="http://robotics.eecs.berkeley.edu/%7Esastry/ee20/vision3/_8196_figure19.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4213" y="1052513"/>
            <a:ext cx="5138737" cy="232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69" name="Picture 5" descr="http://robotics.eecs.berkeley.edu/%7Esastry/ee20/vision3/_8196_figure29.gif"/>
          <p:cNvPicPr>
            <a:picLocks noChangeAspect="1" noChangeArrowheads="1"/>
          </p:cNvPicPr>
          <p:nvPr/>
        </p:nvPicPr>
        <p:blipFill>
          <a:blip r:embed="rId5">
            <a:extLst>
              <a:ext uri="{28A0092B-C50C-407E-A947-70E740481C1C}">
                <a14:useLocalDpi xmlns:a14="http://schemas.microsoft.com/office/drawing/2010/main" val="0"/>
              </a:ext>
            </a:extLst>
          </a:blip>
          <a:srcRect t="27325"/>
          <a:stretch>
            <a:fillRect/>
          </a:stretch>
        </p:blipFill>
        <p:spPr bwMode="auto">
          <a:xfrm>
            <a:off x="2668588" y="3500438"/>
            <a:ext cx="3919537"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734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3855A65-013F-4403-8C51-2BA6FA6F1DE3}" type="slidenum">
              <a:rPr lang="en-GB" altLang="en-US" sz="1400" smtClean="0"/>
              <a:pPr>
                <a:spcBef>
                  <a:spcPct val="0"/>
                </a:spcBef>
                <a:buFontTx/>
                <a:buNone/>
              </a:pPr>
              <a:t>136</a:t>
            </a:fld>
            <a:endParaRPr lang="en-GB" altLang="en-US" sz="1400"/>
          </a:p>
        </p:txBody>
      </p:sp>
      <p:sp>
        <p:nvSpPr>
          <p:cNvPr id="273412" name="Rectangle 2"/>
          <p:cNvSpPr>
            <a:spLocks noGrp="1" noChangeArrowheads="1"/>
          </p:cNvSpPr>
          <p:nvPr>
            <p:ph type="ctrTitle"/>
          </p:nvPr>
        </p:nvSpPr>
        <p:spPr>
          <a:xfrm>
            <a:off x="0" y="188913"/>
            <a:ext cx="9144000" cy="936625"/>
          </a:xfrm>
        </p:spPr>
        <p:txBody>
          <a:bodyPr/>
          <a:lstStyle/>
          <a:p>
            <a:pPr defTabSz="912813" eaLnBrk="1" hangingPunct="1"/>
            <a:r>
              <a:rPr lang="sl-SI" altLang="en-US" sz="2800" b="1"/>
              <a:t>Primer optičnega toka (2)</a:t>
            </a:r>
            <a:endParaRPr lang="en-GB" altLang="en-US" sz="2000"/>
          </a:p>
        </p:txBody>
      </p:sp>
      <p:sp>
        <p:nvSpPr>
          <p:cNvPr id="27341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7341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73415" name="Rectangle 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800"/>
              <a:t>An example of the optical flow pattern from the sequence of images of a rotating Rubik's cube shown in Figure </a:t>
            </a:r>
            <a:r>
              <a:rPr lang="en-GB" altLang="en-US" sz="1800">
                <a:hlinkClick r:id="rId3"/>
              </a:rPr>
              <a:t>2</a:t>
            </a:r>
            <a:r>
              <a:rPr lang="en-GB" altLang="en-US" sz="1800"/>
              <a:t>. </a:t>
            </a:r>
          </a:p>
          <a:p>
            <a:pPr>
              <a:spcBef>
                <a:spcPct val="0"/>
              </a:spcBef>
              <a:buFontTx/>
              <a:buNone/>
            </a:pPr>
            <a:r>
              <a:rPr lang="en-GB" altLang="en-US" sz="1800"/>
              <a:t>    </a:t>
            </a:r>
            <a:r>
              <a:rPr lang="en-GB" altLang="en-US" sz="10000"/>
              <a:t> </a:t>
            </a:r>
            <a:endParaRPr lang="en-GB" altLang="en-US" sz="1800"/>
          </a:p>
        </p:txBody>
      </p:sp>
      <p:pic>
        <p:nvPicPr>
          <p:cNvPr id="273416" name="Picture 2" descr="http://www.roborealm.com/help/Optical_Flow_src_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981075"/>
            <a:ext cx="6408737" cy="240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3417" name="Picture 4" descr="http://www.roborealm.com/help/Optical_Flow_dest_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3459163"/>
            <a:ext cx="3673475" cy="275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7545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B20D4A4-93CE-4E57-AB20-48613C0BCE3F}" type="slidenum">
              <a:rPr lang="en-GB" altLang="en-US" sz="1400" smtClean="0"/>
              <a:pPr>
                <a:spcBef>
                  <a:spcPct val="0"/>
                </a:spcBef>
                <a:buFontTx/>
                <a:buNone/>
              </a:pPr>
              <a:t>137</a:t>
            </a:fld>
            <a:endParaRPr lang="en-GB" altLang="en-US" sz="1400"/>
          </a:p>
        </p:txBody>
      </p:sp>
      <p:sp>
        <p:nvSpPr>
          <p:cNvPr id="275460" name="Rectangle 2"/>
          <p:cNvSpPr>
            <a:spLocks noGrp="1" noChangeArrowheads="1"/>
          </p:cNvSpPr>
          <p:nvPr>
            <p:ph type="body" idx="1"/>
          </p:nvPr>
        </p:nvSpPr>
        <p:spPr>
          <a:xfrm>
            <a:off x="468313" y="2708275"/>
            <a:ext cx="8229600" cy="1873250"/>
          </a:xfrm>
        </p:spPr>
        <p:txBody>
          <a:bodyPr/>
          <a:lstStyle/>
          <a:p>
            <a:pPr algn="ctr" defTabSz="912813" eaLnBrk="1" hangingPunct="1">
              <a:buFontTx/>
              <a:buNone/>
            </a:pPr>
            <a:r>
              <a:rPr lang="sl-SI" altLang="en-US" sz="3600"/>
              <a:t>Struktura iz gibanja</a:t>
            </a:r>
          </a:p>
          <a:p>
            <a:pPr algn="ctr" defTabSz="912813" eaLnBrk="1" hangingPunct="1">
              <a:buFontTx/>
              <a:buNone/>
            </a:pPr>
            <a:r>
              <a:rPr lang="sl-SI" altLang="en-US" sz="2400"/>
              <a:t>(razdelitev na strukturo scene in gibanje kamere)</a:t>
            </a:r>
          </a:p>
        </p:txBody>
      </p:sp>
    </p:spTree>
  </p:cSld>
  <p:clrMapOvr>
    <a:masterClrMapping/>
  </p:clrMapOvr>
  <p:transition>
    <p:cove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775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FCD781F-9C18-446B-BF53-96E70384312E}" type="slidenum">
              <a:rPr lang="en-GB" altLang="en-US" sz="1400" smtClean="0"/>
              <a:pPr>
                <a:spcBef>
                  <a:spcPct val="0"/>
                </a:spcBef>
                <a:buFontTx/>
                <a:buNone/>
              </a:pPr>
              <a:t>138</a:t>
            </a:fld>
            <a:endParaRPr lang="en-GB" altLang="en-US" sz="1400"/>
          </a:p>
        </p:txBody>
      </p:sp>
      <p:sp>
        <p:nvSpPr>
          <p:cNvPr id="277508" name="Rectangle 2"/>
          <p:cNvSpPr>
            <a:spLocks noGrp="1" noChangeArrowheads="1"/>
          </p:cNvSpPr>
          <p:nvPr>
            <p:ph type="ctrTitle"/>
          </p:nvPr>
        </p:nvSpPr>
        <p:spPr>
          <a:xfrm>
            <a:off x="0" y="260350"/>
            <a:ext cx="9144000" cy="1008063"/>
          </a:xfrm>
        </p:spPr>
        <p:txBody>
          <a:bodyPr/>
          <a:lstStyle/>
          <a:p>
            <a:pPr defTabSz="912813" eaLnBrk="1" hangingPunct="1">
              <a:spcBef>
                <a:spcPts val="1200"/>
              </a:spcBef>
            </a:pPr>
            <a:r>
              <a:rPr lang="sl-SI" altLang="en-US" sz="2800" b="1"/>
              <a:t>STRUKTURA 3D SCENE IZ DVEH ALI VEČ POGLEDOV – IZHODIŠČA</a:t>
            </a:r>
            <a:endParaRPr lang="en-GB" altLang="en-US" sz="2000"/>
          </a:p>
        </p:txBody>
      </p:sp>
      <p:sp>
        <p:nvSpPr>
          <p:cNvPr id="27750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7751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77511"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77540"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12" name="TextBox 46"/>
          <p:cNvSpPr txBox="1">
            <a:spLocks noChangeArrowheads="1"/>
          </p:cNvSpPr>
          <p:nvPr/>
        </p:nvSpPr>
        <p:spPr bwMode="auto">
          <a:xfrm>
            <a:off x="827088" y="1400175"/>
            <a:ext cx="7993062"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dirty="0"/>
              <a:t>Cilj:</a:t>
            </a:r>
          </a:p>
          <a:p>
            <a:pPr eaLnBrk="1" hangingPunct="1">
              <a:spcBef>
                <a:spcPts val="600"/>
              </a:spcBef>
              <a:buFontTx/>
              <a:buNone/>
            </a:pPr>
            <a:r>
              <a:rPr lang="sl-SI" altLang="en-US" sz="1800" dirty="0"/>
              <a:t>	V zaporedju slik določiti korespondenčne pare značilnic, recimo nadzornih točk, in oceniti</a:t>
            </a:r>
            <a:r>
              <a:rPr lang="sl-SI" altLang="en-US" sz="1800" dirty="0">
                <a:solidFill>
                  <a:srgbClr val="0000FF"/>
                </a:solidFill>
              </a:rPr>
              <a:t> 3D-položaj točk, projiciranih v korespondenčne pare</a:t>
            </a:r>
            <a:endParaRPr lang="sl-SI" altLang="en-US" sz="1800" dirty="0"/>
          </a:p>
          <a:p>
            <a:pPr eaLnBrk="1" hangingPunct="1">
              <a:spcBef>
                <a:spcPts val="600"/>
              </a:spcBef>
              <a:buFontTx/>
              <a:buAutoNum type="arabicPeriod" startAt="2"/>
            </a:pPr>
            <a:r>
              <a:rPr lang="sl-SI" altLang="en-US" sz="1800" dirty="0"/>
              <a:t>Privzeta je toga scena in projekcijska geometrija pri kamerah, s katerimi so projicirane točke v 3D na posamezne slikovne ravnine</a:t>
            </a:r>
          </a:p>
          <a:p>
            <a:pPr eaLnBrk="1" hangingPunct="1">
              <a:spcBef>
                <a:spcPts val="600"/>
              </a:spcBef>
              <a:buFontTx/>
              <a:buAutoNum type="arabicPeriod" startAt="2"/>
            </a:pPr>
            <a:r>
              <a:rPr lang="sl-SI" altLang="en-US" sz="1800" dirty="0"/>
              <a:t>Za določitev 3D-strukture moramo imeti možnost, da iz več posnetkov izluščimo globinsko informacijo. Te ne moremo določiti v dveh primerih, ki vodita le do </a:t>
            </a:r>
            <a:r>
              <a:rPr lang="sl-SI" altLang="en-US" sz="1800" dirty="0" err="1"/>
              <a:t>homografij</a:t>
            </a:r>
            <a:r>
              <a:rPr lang="sl-SI" altLang="en-US" sz="1800" dirty="0"/>
              <a:t> – </a:t>
            </a:r>
            <a:r>
              <a:rPr lang="sl-SI" altLang="en-US" sz="1800" dirty="0" err="1"/>
              <a:t>homografija</a:t>
            </a:r>
            <a:r>
              <a:rPr lang="sl-SI" altLang="en-US" sz="1800" dirty="0"/>
              <a:t> pomeni le preslikavo neposredno z ene slike na drugo, ne pa skozi </a:t>
            </a:r>
            <a:r>
              <a:rPr lang="sl-SI" altLang="en-US" sz="1800" dirty="0" err="1"/>
              <a:t>reprojekcijo</a:t>
            </a:r>
            <a:r>
              <a:rPr lang="sl-SI" altLang="en-US" sz="1800" dirty="0"/>
              <a:t> in projekcijo 3D-točk: </a:t>
            </a:r>
          </a:p>
          <a:p>
            <a:pPr lvl="1" eaLnBrk="1" hangingPunct="1">
              <a:spcBef>
                <a:spcPts val="600"/>
              </a:spcBef>
              <a:buFont typeface="Arial" panose="020B0604020202020204" pitchFamily="34" charset="0"/>
              <a:buChar char="•"/>
            </a:pPr>
            <a:r>
              <a:rPr lang="sl-SI" altLang="en-US" sz="1800" dirty="0"/>
              <a:t>če so različni pogledi posnetki scene, </a:t>
            </a:r>
            <a:r>
              <a:rPr lang="sl-SI" altLang="en-US" sz="1800"/>
              <a:t>ki je ravninska (</a:t>
            </a:r>
            <a:r>
              <a:rPr lang="sl-SI" altLang="en-US" sz="1800" dirty="0" err="1"/>
              <a:t>planarna</a:t>
            </a:r>
            <a:r>
              <a:rPr lang="sl-SI" altLang="en-US" sz="1800" dirty="0"/>
              <a:t>), iz teh slik ni mogoče opredeliti globine, torej oddaljenosti scenske ravnine od kamer</a:t>
            </a:r>
          </a:p>
          <a:p>
            <a:pPr lvl="1" eaLnBrk="1" hangingPunct="1">
              <a:spcBef>
                <a:spcPts val="600"/>
              </a:spcBef>
              <a:buFont typeface="Arial" panose="020B0604020202020204" pitchFamily="34" charset="0"/>
              <a:buChar char="•"/>
            </a:pPr>
            <a:r>
              <a:rPr lang="sl-SI" altLang="en-US" sz="1800" dirty="0"/>
              <a:t>če so različni pogledi dobljeni le s sukanjem kamere okoli njenega projekcijskega središča, kljub 3D-sceni ne moremo s pomočjo slik opredeliti globine točk v 3D</a:t>
            </a:r>
          </a:p>
        </p:txBody>
      </p:sp>
    </p:spTree>
  </p:cSld>
  <p:clrMapOvr>
    <a:masterClrMapping/>
  </p:clrMapOvr>
  <p:transition>
    <p:cove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7955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B952661-A2AE-4608-ADF9-E8BC1847E5B4}" type="slidenum">
              <a:rPr lang="en-GB" altLang="en-US" sz="1400" smtClean="0"/>
              <a:pPr>
                <a:spcBef>
                  <a:spcPct val="0"/>
                </a:spcBef>
                <a:buFontTx/>
                <a:buNone/>
              </a:pPr>
              <a:t>139</a:t>
            </a:fld>
            <a:endParaRPr lang="en-GB" altLang="en-US" sz="1400"/>
          </a:p>
        </p:txBody>
      </p:sp>
      <p:sp>
        <p:nvSpPr>
          <p:cNvPr id="279556"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RAVNINSKA SCENA – 3D OPREDELITEV NI MOŽNA</a:t>
            </a:r>
            <a:endParaRPr lang="en-GB" altLang="en-US" sz="2000"/>
          </a:p>
        </p:txBody>
      </p:sp>
      <p:sp>
        <p:nvSpPr>
          <p:cNvPr id="27955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7955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79559" name="TextBox 46"/>
          <p:cNvSpPr txBox="1">
            <a:spLocks noChangeArrowheads="1"/>
          </p:cNvSpPr>
          <p:nvPr/>
        </p:nvSpPr>
        <p:spPr bwMode="auto">
          <a:xfrm>
            <a:off x="611188" y="981075"/>
            <a:ext cx="79930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Imamo ravninsko sceno in na njej opazujemo točko </a:t>
            </a:r>
            <a:r>
              <a:rPr lang="sl-SI" altLang="en-US" sz="1800" b="1"/>
              <a:t>p</a:t>
            </a:r>
            <a:r>
              <a:rPr lang="sl-SI" altLang="en-US" sz="1800"/>
              <a:t>. Ravnina, na kateri je (2D) scena, ima normalo </a:t>
            </a:r>
            <a:r>
              <a:rPr lang="sl-SI" altLang="en-US" sz="1800" b="1"/>
              <a:t>n</a:t>
            </a:r>
            <a:r>
              <a:rPr lang="sl-SI" altLang="en-US" sz="1800"/>
              <a:t>. Oddaljenost od izhodišča svetovnega koordinatnega sistema naj bo d. Dva pogleda sta zasukana z matriko </a:t>
            </a:r>
            <a:r>
              <a:rPr lang="sl-SI" altLang="en-US" sz="1800" b="1"/>
              <a:t>R </a:t>
            </a:r>
            <a:r>
              <a:rPr lang="sl-SI" altLang="en-US" sz="1800"/>
              <a:t>in premaknjena za </a:t>
            </a:r>
            <a:r>
              <a:rPr lang="sl-SI" altLang="en-US" sz="1800" b="1"/>
              <a:t>t</a:t>
            </a:r>
            <a:r>
              <a:rPr lang="sl-SI" altLang="en-US" sz="1800"/>
              <a:t>. Projekcija 3D-točke na sliki sta </a:t>
            </a:r>
            <a:r>
              <a:rPr lang="sl-SI" altLang="en-US" sz="1800" b="1"/>
              <a:t>p</a:t>
            </a:r>
            <a:r>
              <a:rPr lang="sl-SI" altLang="en-US" sz="1800" i="1" baseline="-25000"/>
              <a:t>s</a:t>
            </a:r>
            <a:r>
              <a:rPr lang="sl-SI" altLang="en-US" sz="1800"/>
              <a:t> in </a:t>
            </a:r>
            <a:r>
              <a:rPr lang="sl-SI" altLang="en-US" sz="1800" b="1"/>
              <a:t>p</a:t>
            </a:r>
            <a:r>
              <a:rPr lang="sl-SI" altLang="en-US" sz="1800"/>
              <a:t>’</a:t>
            </a:r>
            <a:r>
              <a:rPr lang="sl-SI" altLang="en-US" sz="1800" i="1" baseline="-25000"/>
              <a:t>s</a:t>
            </a:r>
            <a:r>
              <a:rPr lang="sl-SI" altLang="en-US" sz="1800"/>
              <a:t>.</a:t>
            </a:r>
            <a:endParaRPr lang="sl-SI" altLang="en-US" sz="1800" i="1" baseline="-25000"/>
          </a:p>
        </p:txBody>
      </p:sp>
      <p:grpSp>
        <p:nvGrpSpPr>
          <p:cNvPr id="279560" name="Group 49"/>
          <p:cNvGrpSpPr>
            <a:grpSpLocks/>
          </p:cNvGrpSpPr>
          <p:nvPr/>
        </p:nvGrpSpPr>
        <p:grpSpPr bwMode="auto">
          <a:xfrm>
            <a:off x="4859338" y="2133600"/>
            <a:ext cx="3744912" cy="4092575"/>
            <a:chOff x="4860032" y="2276872"/>
            <a:chExt cx="3486815" cy="3805660"/>
          </a:xfrm>
        </p:grpSpPr>
        <p:grpSp>
          <p:nvGrpSpPr>
            <p:cNvPr id="279568" name="Group 44"/>
            <p:cNvGrpSpPr>
              <a:grpSpLocks/>
            </p:cNvGrpSpPr>
            <p:nvPr/>
          </p:nvGrpSpPr>
          <p:grpSpPr bwMode="auto">
            <a:xfrm>
              <a:off x="4860032" y="2276872"/>
              <a:ext cx="3486815" cy="3805660"/>
              <a:chOff x="4860032" y="2276872"/>
              <a:chExt cx="3486815" cy="3805660"/>
            </a:xfrm>
          </p:grpSpPr>
          <p:grpSp>
            <p:nvGrpSpPr>
              <p:cNvPr id="279571" name="Group 43"/>
              <p:cNvGrpSpPr>
                <a:grpSpLocks/>
              </p:cNvGrpSpPr>
              <p:nvPr/>
            </p:nvGrpSpPr>
            <p:grpSpPr bwMode="auto">
              <a:xfrm>
                <a:off x="4860032" y="2276872"/>
                <a:ext cx="3486815" cy="3805660"/>
                <a:chOff x="4860032" y="2276872"/>
                <a:chExt cx="3486815" cy="3805660"/>
              </a:xfrm>
            </p:grpSpPr>
            <p:grpSp>
              <p:nvGrpSpPr>
                <p:cNvPr id="279573" name="Group 40"/>
                <p:cNvGrpSpPr>
                  <a:grpSpLocks/>
                </p:cNvGrpSpPr>
                <p:nvPr/>
              </p:nvGrpSpPr>
              <p:grpSpPr bwMode="auto">
                <a:xfrm>
                  <a:off x="4860032" y="2276872"/>
                  <a:ext cx="3486815" cy="3805660"/>
                  <a:chOff x="5461000" y="801688"/>
                  <a:chExt cx="3486815" cy="5323595"/>
                </a:xfrm>
              </p:grpSpPr>
              <p:sp>
                <p:nvSpPr>
                  <p:cNvPr id="279575" name="Freeform 4"/>
                  <p:cNvSpPr>
                    <a:spLocks/>
                  </p:cNvSpPr>
                  <p:nvPr/>
                </p:nvSpPr>
                <p:spPr bwMode="auto">
                  <a:xfrm>
                    <a:off x="7691438" y="3395663"/>
                    <a:ext cx="447675" cy="792162"/>
                  </a:xfrm>
                  <a:custGeom>
                    <a:avLst/>
                    <a:gdLst>
                      <a:gd name="T0" fmla="*/ 0 w 282"/>
                      <a:gd name="T1" fmla="*/ 2147483646 h 499"/>
                      <a:gd name="T2" fmla="*/ 2147483646 w 282"/>
                      <a:gd name="T3" fmla="*/ 0 h 499"/>
                      <a:gd name="T4" fmla="*/ 2147483646 w 282"/>
                      <a:gd name="T5" fmla="*/ 2147483646 h 499"/>
                      <a:gd name="T6" fmla="*/ 2147483646 w 282"/>
                      <a:gd name="T7" fmla="*/ 2147483646 h 499"/>
                      <a:gd name="T8" fmla="*/ 0 w 282"/>
                      <a:gd name="T9" fmla="*/ 2147483646 h 499"/>
                      <a:gd name="T10" fmla="*/ 0 60000 65536"/>
                      <a:gd name="T11" fmla="*/ 0 60000 65536"/>
                      <a:gd name="T12" fmla="*/ 0 60000 65536"/>
                      <a:gd name="T13" fmla="*/ 0 60000 65536"/>
                      <a:gd name="T14" fmla="*/ 0 60000 65536"/>
                      <a:gd name="T15" fmla="*/ 0 w 282"/>
                      <a:gd name="T16" fmla="*/ 0 h 499"/>
                      <a:gd name="T17" fmla="*/ 282 w 282"/>
                      <a:gd name="T18" fmla="*/ 499 h 499"/>
                    </a:gdLst>
                    <a:ahLst/>
                    <a:cxnLst>
                      <a:cxn ang="T10">
                        <a:pos x="T0" y="T1"/>
                      </a:cxn>
                      <a:cxn ang="T11">
                        <a:pos x="T2" y="T3"/>
                      </a:cxn>
                      <a:cxn ang="T12">
                        <a:pos x="T4" y="T5"/>
                      </a:cxn>
                      <a:cxn ang="T13">
                        <a:pos x="T6" y="T7"/>
                      </a:cxn>
                      <a:cxn ang="T14">
                        <a:pos x="T8" y="T9"/>
                      </a:cxn>
                    </a:cxnLst>
                    <a:rect l="T15" t="T16" r="T17" b="T18"/>
                    <a:pathLst>
                      <a:path w="282" h="499">
                        <a:moveTo>
                          <a:pt x="0" y="160"/>
                        </a:moveTo>
                        <a:lnTo>
                          <a:pt x="211" y="0"/>
                        </a:lnTo>
                        <a:lnTo>
                          <a:pt x="282" y="381"/>
                        </a:lnTo>
                        <a:lnTo>
                          <a:pt x="102" y="499"/>
                        </a:lnTo>
                        <a:lnTo>
                          <a:pt x="0" y="160"/>
                        </a:lnTo>
                        <a:close/>
                      </a:path>
                    </a:pathLst>
                  </a:custGeom>
                  <a:solidFill>
                    <a:srgbClr val="FCFEB9"/>
                  </a:solidFill>
                  <a:ln w="25400">
                    <a:solidFill>
                      <a:schemeClr val="tx2"/>
                    </a:solidFill>
                    <a:round/>
                    <a:headEnd type="none" w="sm" len="sm"/>
                    <a:tailEnd type="none" w="sm" len="sm"/>
                  </a:ln>
                </p:spPr>
                <p:txBody>
                  <a:bodyPr wrap="none" anchor="ctr"/>
                  <a:lstStyle/>
                  <a:p>
                    <a:endParaRPr lang="sl-SI"/>
                  </a:p>
                </p:txBody>
              </p:sp>
              <p:sp>
                <p:nvSpPr>
                  <p:cNvPr id="279576" name="Rectangle 5"/>
                  <p:cNvSpPr>
                    <a:spLocks noChangeArrowheads="1"/>
                  </p:cNvSpPr>
                  <p:nvPr/>
                </p:nvSpPr>
                <p:spPr bwMode="auto">
                  <a:xfrm>
                    <a:off x="5907088" y="1193800"/>
                    <a:ext cx="1279525" cy="1035050"/>
                  </a:xfrm>
                  <a:prstGeom prst="rect">
                    <a:avLst/>
                  </a:prstGeom>
                  <a:solidFill>
                    <a:srgbClr val="FCFEB9"/>
                  </a:solidFill>
                  <a:ln w="25400">
                    <a:solidFill>
                      <a:schemeClr val="tx2"/>
                    </a:solidFill>
                    <a:miter lim="800000"/>
                    <a:headEnd type="none" w="sm" len="sm"/>
                    <a:tailEnd type="none" w="sm" len="sm"/>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1800"/>
                  </a:p>
                </p:txBody>
              </p:sp>
              <p:sp>
                <p:nvSpPr>
                  <p:cNvPr id="279577" name="Line 6"/>
                  <p:cNvSpPr>
                    <a:spLocks noChangeShapeType="1"/>
                  </p:cNvSpPr>
                  <p:nvPr/>
                </p:nvSpPr>
                <p:spPr bwMode="auto">
                  <a:xfrm>
                    <a:off x="5902325" y="2232025"/>
                    <a:ext cx="2727325" cy="2720975"/>
                  </a:xfrm>
                  <a:prstGeom prst="line">
                    <a:avLst/>
                  </a:prstGeom>
                  <a:noFill/>
                  <a:ln w="254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sl-SI"/>
                  </a:p>
                </p:txBody>
              </p:sp>
              <p:sp>
                <p:nvSpPr>
                  <p:cNvPr id="279578" name="Line 7"/>
                  <p:cNvSpPr>
                    <a:spLocks noChangeShapeType="1"/>
                  </p:cNvSpPr>
                  <p:nvPr/>
                </p:nvSpPr>
                <p:spPr bwMode="auto">
                  <a:xfrm>
                    <a:off x="7191375" y="2227263"/>
                    <a:ext cx="1427163" cy="2698750"/>
                  </a:xfrm>
                  <a:prstGeom prst="line">
                    <a:avLst/>
                  </a:prstGeom>
                  <a:noFill/>
                  <a:ln w="254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sl-SI"/>
                  </a:p>
                </p:txBody>
              </p:sp>
              <p:sp>
                <p:nvSpPr>
                  <p:cNvPr id="279579" name="Line 8"/>
                  <p:cNvSpPr>
                    <a:spLocks noChangeShapeType="1"/>
                  </p:cNvSpPr>
                  <p:nvPr/>
                </p:nvSpPr>
                <p:spPr bwMode="auto">
                  <a:xfrm>
                    <a:off x="7188200" y="1227138"/>
                    <a:ext cx="1431925" cy="3700462"/>
                  </a:xfrm>
                  <a:prstGeom prst="line">
                    <a:avLst/>
                  </a:prstGeom>
                  <a:noFill/>
                  <a:ln w="254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sl-SI"/>
                  </a:p>
                </p:txBody>
              </p:sp>
              <p:sp>
                <p:nvSpPr>
                  <p:cNvPr id="279580" name="Line 9"/>
                  <p:cNvSpPr>
                    <a:spLocks noChangeShapeType="1"/>
                  </p:cNvSpPr>
                  <p:nvPr/>
                </p:nvSpPr>
                <p:spPr bwMode="auto">
                  <a:xfrm>
                    <a:off x="5919788" y="1211263"/>
                    <a:ext cx="2700337" cy="3709987"/>
                  </a:xfrm>
                  <a:prstGeom prst="line">
                    <a:avLst/>
                  </a:prstGeom>
                  <a:noFill/>
                  <a:ln w="254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sl-SI"/>
                  </a:p>
                </p:txBody>
              </p:sp>
              <p:sp>
                <p:nvSpPr>
                  <p:cNvPr id="279581" name="Oval 10"/>
                  <p:cNvSpPr>
                    <a:spLocks noChangeAspect="1" noChangeArrowheads="1"/>
                  </p:cNvSpPr>
                  <p:nvPr/>
                </p:nvSpPr>
                <p:spPr bwMode="auto">
                  <a:xfrm>
                    <a:off x="8555038" y="4856163"/>
                    <a:ext cx="133350" cy="142875"/>
                  </a:xfrm>
                  <a:prstGeom prst="ellipse">
                    <a:avLst/>
                  </a:prstGeom>
                  <a:solidFill>
                    <a:schemeClr val="accent1"/>
                  </a:solidFill>
                  <a:ln w="25400">
                    <a:solidFill>
                      <a:schemeClr val="tx1"/>
                    </a:solidFill>
                    <a:round/>
                    <a:headEnd type="none" w="sm" len="sm"/>
                    <a:tailEnd type="none" w="sm" len="sm"/>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1800"/>
                  </a:p>
                </p:txBody>
              </p:sp>
              <p:sp>
                <p:nvSpPr>
                  <p:cNvPr id="279582" name="Rectangle 11"/>
                  <p:cNvSpPr>
                    <a:spLocks noChangeArrowheads="1"/>
                  </p:cNvSpPr>
                  <p:nvPr/>
                </p:nvSpPr>
                <p:spPr bwMode="auto">
                  <a:xfrm>
                    <a:off x="5513388" y="866775"/>
                    <a:ext cx="2100262" cy="1689100"/>
                  </a:xfrm>
                  <a:prstGeom prst="rect">
                    <a:avLst/>
                  </a:prstGeom>
                  <a:noFill/>
                  <a:ln w="254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1800"/>
                  </a:p>
                </p:txBody>
              </p:sp>
              <p:sp>
                <p:nvSpPr>
                  <p:cNvPr id="279583" name="AutoShape 12"/>
                  <p:cNvSpPr>
                    <a:spLocks noChangeArrowheads="1"/>
                  </p:cNvSpPr>
                  <p:nvPr/>
                </p:nvSpPr>
                <p:spPr bwMode="auto">
                  <a:xfrm rot="-2777299">
                    <a:off x="7119144" y="3234531"/>
                    <a:ext cx="1614488" cy="1082675"/>
                  </a:xfrm>
                  <a:prstGeom prst="parallelogram">
                    <a:avLst>
                      <a:gd name="adj" fmla="val 37280"/>
                    </a:avLst>
                  </a:prstGeom>
                  <a:noFill/>
                  <a:ln w="254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1800"/>
                  </a:p>
                </p:txBody>
              </p:sp>
              <p:sp>
                <p:nvSpPr>
                  <p:cNvPr id="279584" name="Freeform 14"/>
                  <p:cNvSpPr>
                    <a:spLocks/>
                  </p:cNvSpPr>
                  <p:nvPr/>
                </p:nvSpPr>
                <p:spPr bwMode="auto">
                  <a:xfrm>
                    <a:off x="5992813" y="3567113"/>
                    <a:ext cx="546100" cy="661987"/>
                  </a:xfrm>
                  <a:custGeom>
                    <a:avLst/>
                    <a:gdLst>
                      <a:gd name="T0" fmla="*/ 2147483646 w 344"/>
                      <a:gd name="T1" fmla="*/ 2147483646 h 417"/>
                      <a:gd name="T2" fmla="*/ 2147483646 w 344"/>
                      <a:gd name="T3" fmla="*/ 0 h 417"/>
                      <a:gd name="T4" fmla="*/ 2147483646 w 344"/>
                      <a:gd name="T5" fmla="*/ 2147483646 h 417"/>
                      <a:gd name="T6" fmla="*/ 0 w 344"/>
                      <a:gd name="T7" fmla="*/ 2147483646 h 417"/>
                      <a:gd name="T8" fmla="*/ 2147483646 w 344"/>
                      <a:gd name="T9" fmla="*/ 2147483646 h 417"/>
                      <a:gd name="T10" fmla="*/ 0 60000 65536"/>
                      <a:gd name="T11" fmla="*/ 0 60000 65536"/>
                      <a:gd name="T12" fmla="*/ 0 60000 65536"/>
                      <a:gd name="T13" fmla="*/ 0 60000 65536"/>
                      <a:gd name="T14" fmla="*/ 0 60000 65536"/>
                      <a:gd name="T15" fmla="*/ 0 w 344"/>
                      <a:gd name="T16" fmla="*/ 0 h 417"/>
                      <a:gd name="T17" fmla="*/ 344 w 344"/>
                      <a:gd name="T18" fmla="*/ 417 h 417"/>
                    </a:gdLst>
                    <a:ahLst/>
                    <a:cxnLst>
                      <a:cxn ang="T10">
                        <a:pos x="T0" y="T1"/>
                      </a:cxn>
                      <a:cxn ang="T11">
                        <a:pos x="T2" y="T3"/>
                      </a:cxn>
                      <a:cxn ang="T12">
                        <a:pos x="T4" y="T5"/>
                      </a:cxn>
                      <a:cxn ang="T13">
                        <a:pos x="T6" y="T7"/>
                      </a:cxn>
                      <a:cxn ang="T14">
                        <a:pos x="T8" y="T9"/>
                      </a:cxn>
                    </a:cxnLst>
                    <a:rect l="T15" t="T16" r="T17" b="T18"/>
                    <a:pathLst>
                      <a:path w="344" h="417">
                        <a:moveTo>
                          <a:pt x="3" y="69"/>
                        </a:moveTo>
                        <a:lnTo>
                          <a:pt x="344" y="0"/>
                        </a:lnTo>
                        <a:lnTo>
                          <a:pt x="329" y="417"/>
                        </a:lnTo>
                        <a:lnTo>
                          <a:pt x="0" y="365"/>
                        </a:lnTo>
                        <a:lnTo>
                          <a:pt x="3" y="69"/>
                        </a:lnTo>
                        <a:close/>
                      </a:path>
                    </a:pathLst>
                  </a:custGeom>
                  <a:solidFill>
                    <a:srgbClr val="FCFEB9"/>
                  </a:solidFill>
                  <a:ln w="25400">
                    <a:solidFill>
                      <a:schemeClr val="tx2"/>
                    </a:solidFill>
                    <a:round/>
                    <a:headEnd type="none" w="sm" len="sm"/>
                    <a:tailEnd type="none" w="sm" len="sm"/>
                  </a:ln>
                </p:spPr>
                <p:txBody>
                  <a:bodyPr wrap="none" anchor="ctr"/>
                  <a:lstStyle/>
                  <a:p>
                    <a:endParaRPr lang="sl-SI"/>
                  </a:p>
                </p:txBody>
              </p:sp>
              <p:sp>
                <p:nvSpPr>
                  <p:cNvPr id="279585" name="Line 15"/>
                  <p:cNvSpPr>
                    <a:spLocks noChangeShapeType="1"/>
                  </p:cNvSpPr>
                  <p:nvPr/>
                </p:nvSpPr>
                <p:spPr bwMode="auto">
                  <a:xfrm>
                    <a:off x="5922963" y="2214563"/>
                    <a:ext cx="115887" cy="3300412"/>
                  </a:xfrm>
                  <a:prstGeom prst="line">
                    <a:avLst/>
                  </a:prstGeom>
                  <a:noFill/>
                  <a:ln w="254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sl-SI"/>
                  </a:p>
                </p:txBody>
              </p:sp>
              <p:sp>
                <p:nvSpPr>
                  <p:cNvPr id="279586" name="Line 16"/>
                  <p:cNvSpPr>
                    <a:spLocks noChangeShapeType="1"/>
                  </p:cNvSpPr>
                  <p:nvPr/>
                </p:nvSpPr>
                <p:spPr bwMode="auto">
                  <a:xfrm>
                    <a:off x="5907088" y="1203325"/>
                    <a:ext cx="136525" cy="4276725"/>
                  </a:xfrm>
                  <a:prstGeom prst="line">
                    <a:avLst/>
                  </a:prstGeom>
                  <a:noFill/>
                  <a:ln w="254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sl-SI"/>
                  </a:p>
                </p:txBody>
              </p:sp>
              <p:sp>
                <p:nvSpPr>
                  <p:cNvPr id="279587" name="Line 17"/>
                  <p:cNvSpPr>
                    <a:spLocks noChangeShapeType="1"/>
                  </p:cNvSpPr>
                  <p:nvPr/>
                </p:nvSpPr>
                <p:spPr bwMode="auto">
                  <a:xfrm flipH="1">
                    <a:off x="6046788" y="1208088"/>
                    <a:ext cx="1157287" cy="4313237"/>
                  </a:xfrm>
                  <a:prstGeom prst="line">
                    <a:avLst/>
                  </a:prstGeom>
                  <a:noFill/>
                  <a:ln w="254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sl-SI"/>
                  </a:p>
                </p:txBody>
              </p:sp>
              <p:sp>
                <p:nvSpPr>
                  <p:cNvPr id="279588" name="Line 18"/>
                  <p:cNvSpPr>
                    <a:spLocks noChangeShapeType="1"/>
                  </p:cNvSpPr>
                  <p:nvPr/>
                </p:nvSpPr>
                <p:spPr bwMode="auto">
                  <a:xfrm flipH="1">
                    <a:off x="6046788" y="2222500"/>
                    <a:ext cx="1136650" cy="3325813"/>
                  </a:xfrm>
                  <a:prstGeom prst="line">
                    <a:avLst/>
                  </a:prstGeom>
                  <a:noFill/>
                  <a:ln w="254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sl-SI"/>
                  </a:p>
                </p:txBody>
              </p:sp>
              <p:sp>
                <p:nvSpPr>
                  <p:cNvPr id="279589" name="Oval 19"/>
                  <p:cNvSpPr>
                    <a:spLocks noChangeAspect="1" noChangeArrowheads="1"/>
                  </p:cNvSpPr>
                  <p:nvPr/>
                </p:nvSpPr>
                <p:spPr bwMode="auto">
                  <a:xfrm>
                    <a:off x="5981700" y="5451475"/>
                    <a:ext cx="133350" cy="142875"/>
                  </a:xfrm>
                  <a:prstGeom prst="ellipse">
                    <a:avLst/>
                  </a:prstGeom>
                  <a:solidFill>
                    <a:schemeClr val="accent1"/>
                  </a:solidFill>
                  <a:ln w="25400">
                    <a:solidFill>
                      <a:schemeClr val="tx1"/>
                    </a:solidFill>
                    <a:round/>
                    <a:headEnd type="none" w="sm" len="sm"/>
                    <a:tailEnd type="none" w="sm" len="sm"/>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1800"/>
                  </a:p>
                </p:txBody>
              </p:sp>
              <p:sp>
                <p:nvSpPr>
                  <p:cNvPr id="279590" name="AutoShape 20"/>
                  <p:cNvSpPr>
                    <a:spLocks noChangeArrowheads="1"/>
                  </p:cNvSpPr>
                  <p:nvPr/>
                </p:nvSpPr>
                <p:spPr bwMode="auto">
                  <a:xfrm rot="864432" flipH="1">
                    <a:off x="5462588" y="3317875"/>
                    <a:ext cx="1574800" cy="1112838"/>
                  </a:xfrm>
                  <a:prstGeom prst="parallelogram">
                    <a:avLst>
                      <a:gd name="adj" fmla="val 50925"/>
                    </a:avLst>
                  </a:prstGeom>
                  <a:noFill/>
                  <a:ln w="254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1800"/>
                  </a:p>
                </p:txBody>
              </p:sp>
              <p:sp>
                <p:nvSpPr>
                  <p:cNvPr id="279591" name="Text Box 21"/>
                  <p:cNvSpPr txBox="1">
                    <a:spLocks noChangeArrowheads="1"/>
                  </p:cNvSpPr>
                  <p:nvPr/>
                </p:nvSpPr>
                <p:spPr bwMode="auto">
                  <a:xfrm>
                    <a:off x="7607300" y="801688"/>
                    <a:ext cx="838691" cy="516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Scen</a:t>
                    </a:r>
                    <a:r>
                      <a:rPr lang="sl-SI" altLang="en-US" sz="1800"/>
                      <a:t>a</a:t>
                    </a:r>
                    <a:endParaRPr lang="en-US" altLang="en-US" sz="1800"/>
                  </a:p>
                </p:txBody>
              </p:sp>
              <p:sp>
                <p:nvSpPr>
                  <p:cNvPr id="279592" name="Text Box 23"/>
                  <p:cNvSpPr txBox="1">
                    <a:spLocks noChangeArrowheads="1"/>
                  </p:cNvSpPr>
                  <p:nvPr/>
                </p:nvSpPr>
                <p:spPr bwMode="auto">
                  <a:xfrm>
                    <a:off x="5461000" y="5608638"/>
                    <a:ext cx="1184940" cy="516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K</a:t>
                    </a:r>
                    <a:r>
                      <a:rPr lang="en-US" altLang="en-US" sz="1800"/>
                      <a:t>amera 1</a:t>
                    </a:r>
                  </a:p>
                </p:txBody>
              </p:sp>
              <p:sp>
                <p:nvSpPr>
                  <p:cNvPr id="279593" name="Text Box 24"/>
                  <p:cNvSpPr txBox="1">
                    <a:spLocks noChangeArrowheads="1"/>
                  </p:cNvSpPr>
                  <p:nvPr/>
                </p:nvSpPr>
                <p:spPr bwMode="auto">
                  <a:xfrm>
                    <a:off x="7762875" y="5068889"/>
                    <a:ext cx="1184940" cy="516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K</a:t>
                    </a:r>
                    <a:r>
                      <a:rPr lang="en-US" altLang="en-US" sz="1800"/>
                      <a:t>amera 2</a:t>
                    </a:r>
                  </a:p>
                </p:txBody>
              </p:sp>
            </p:grpSp>
            <p:sp>
              <p:nvSpPr>
                <p:cNvPr id="42" name="Oval 41"/>
                <p:cNvSpPr/>
                <p:nvPr/>
              </p:nvSpPr>
              <p:spPr>
                <a:xfrm>
                  <a:off x="5940516" y="2780259"/>
                  <a:ext cx="143375" cy="12252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sp>
            <p:nvSpPr>
              <p:cNvPr id="279572" name="TextBox 42"/>
              <p:cNvSpPr txBox="1">
                <a:spLocks noChangeArrowheads="1"/>
              </p:cNvSpPr>
              <p:nvPr/>
            </p:nvSpPr>
            <p:spPr bwMode="auto">
              <a:xfrm>
                <a:off x="5758438" y="2495530"/>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p</a:t>
                </a:r>
                <a:endParaRPr lang="en-GB" altLang="en-US" sz="1800" b="1"/>
              </a:p>
            </p:txBody>
          </p:sp>
        </p:grpSp>
        <p:cxnSp>
          <p:nvCxnSpPr>
            <p:cNvPr id="48" name="Straight Arrow Connector 47"/>
            <p:cNvCxnSpPr/>
            <p:nvPr/>
          </p:nvCxnSpPr>
          <p:spPr>
            <a:xfrm>
              <a:off x="5652289" y="3069595"/>
              <a:ext cx="143374" cy="28786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9570" name="TextBox 48"/>
            <p:cNvSpPr txBox="1">
              <a:spLocks noChangeArrowheads="1"/>
            </p:cNvSpPr>
            <p:nvPr/>
          </p:nvSpPr>
          <p:spPr bwMode="auto">
            <a:xfrm>
              <a:off x="5741194" y="3216058"/>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n</a:t>
              </a:r>
              <a:endParaRPr lang="en-GB" altLang="en-US" sz="1800" b="1"/>
            </a:p>
          </p:txBody>
        </p:sp>
      </p:grpSp>
      <p:graphicFrame>
        <p:nvGraphicFramePr>
          <p:cNvPr id="279561" name="Object 4"/>
          <p:cNvGraphicFramePr>
            <a:graphicFrameLocks noChangeAspect="1"/>
          </p:cNvGraphicFramePr>
          <p:nvPr/>
        </p:nvGraphicFramePr>
        <p:xfrm>
          <a:off x="1258888" y="2276475"/>
          <a:ext cx="3384550" cy="3616325"/>
        </p:xfrm>
        <a:graphic>
          <a:graphicData uri="http://schemas.openxmlformats.org/presentationml/2006/ole">
            <mc:AlternateContent xmlns:mc="http://schemas.openxmlformats.org/markup-compatibility/2006">
              <mc:Choice xmlns:v="urn:schemas-microsoft-com:vml" Requires="v">
                <p:oleObj spid="_x0000_s279621" name="Equation" r:id="rId4" imgW="1651000" imgH="1765300" progId="Equation.3">
                  <p:embed/>
                </p:oleObj>
              </mc:Choice>
              <mc:Fallback>
                <p:oleObj name="Equation" r:id="rId4" imgW="1651000" imgH="17653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2276475"/>
                        <a:ext cx="3384550" cy="361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9562" name="Group 56"/>
          <p:cNvGrpSpPr>
            <a:grpSpLocks/>
          </p:cNvGrpSpPr>
          <p:nvPr/>
        </p:nvGrpSpPr>
        <p:grpSpPr bwMode="auto">
          <a:xfrm>
            <a:off x="3844925" y="3305175"/>
            <a:ext cx="641350" cy="390525"/>
            <a:chOff x="3844416" y="3304863"/>
            <a:chExt cx="642232" cy="390683"/>
          </a:xfrm>
        </p:grpSpPr>
        <p:sp>
          <p:nvSpPr>
            <p:cNvPr id="279566" name="TextBox 51"/>
            <p:cNvSpPr txBox="1">
              <a:spLocks noChangeArrowheads="1"/>
            </p:cNvSpPr>
            <p:nvPr/>
          </p:nvSpPr>
          <p:spPr bwMode="auto">
            <a:xfrm>
              <a:off x="4067944" y="3356992"/>
              <a:ext cx="4187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t>=1</a:t>
              </a:r>
              <a:endParaRPr lang="en-GB" altLang="en-US" sz="1600"/>
            </a:p>
          </p:txBody>
        </p:sp>
        <p:cxnSp>
          <p:nvCxnSpPr>
            <p:cNvPr id="54" name="Straight Arrow Connector 53"/>
            <p:cNvCxnSpPr/>
            <p:nvPr/>
          </p:nvCxnSpPr>
          <p:spPr>
            <a:xfrm flipH="1" flipV="1">
              <a:off x="3844416" y="3304863"/>
              <a:ext cx="359268" cy="215987"/>
            </a:xfrm>
            <a:prstGeom prst="straightConnector1">
              <a:avLst/>
            </a:prstGeom>
            <a:ln w="19050">
              <a:solidFill>
                <a:srgbClr val="0070C0"/>
              </a:solidFill>
              <a:tailEnd type="arrow"/>
            </a:ln>
          </p:spPr>
          <p:style>
            <a:lnRef idx="1">
              <a:schemeClr val="accent1"/>
            </a:lnRef>
            <a:fillRef idx="0">
              <a:schemeClr val="accent1"/>
            </a:fillRef>
            <a:effectRef idx="0">
              <a:schemeClr val="accent1"/>
            </a:effectRef>
            <a:fontRef idx="minor">
              <a:schemeClr val="tx1"/>
            </a:fontRef>
          </p:style>
        </p:cxnSp>
      </p:grpSp>
      <p:grpSp>
        <p:nvGrpSpPr>
          <p:cNvPr id="279563" name="Group 59"/>
          <p:cNvGrpSpPr>
            <a:grpSpLocks/>
          </p:cNvGrpSpPr>
          <p:nvPr/>
        </p:nvGrpSpPr>
        <p:grpSpPr bwMode="auto">
          <a:xfrm>
            <a:off x="1830388" y="5300663"/>
            <a:ext cx="2686050" cy="865187"/>
            <a:chOff x="1830826" y="5301208"/>
            <a:chExt cx="2685030" cy="864096"/>
          </a:xfrm>
        </p:grpSpPr>
        <p:sp>
          <p:nvSpPr>
            <p:cNvPr id="279564" name="TextBox 57"/>
            <p:cNvSpPr txBox="1">
              <a:spLocks noChangeArrowheads="1"/>
            </p:cNvSpPr>
            <p:nvPr/>
          </p:nvSpPr>
          <p:spPr bwMode="auto">
            <a:xfrm>
              <a:off x="2051720" y="5826750"/>
              <a:ext cx="24641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solidFill>
                    <a:srgbClr val="FF9933"/>
                  </a:solidFill>
                </a:rPr>
                <a:t>homografija med slikama</a:t>
              </a:r>
              <a:endParaRPr lang="en-GB" altLang="en-US" sz="1600">
                <a:solidFill>
                  <a:srgbClr val="FF9933"/>
                </a:solidFill>
              </a:endParaRPr>
            </a:p>
          </p:txBody>
        </p:sp>
        <p:sp>
          <p:nvSpPr>
            <p:cNvPr id="59" name="Oval 58"/>
            <p:cNvSpPr/>
            <p:nvPr/>
          </p:nvSpPr>
          <p:spPr>
            <a:xfrm>
              <a:off x="1830826" y="5301208"/>
              <a:ext cx="431636" cy="575535"/>
            </a:xfrm>
            <a:prstGeom prst="ellipse">
              <a:avLst/>
            </a:prstGeom>
            <a:no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spTree>
  </p:cSld>
  <p:clrMapOvr>
    <a:masterClrMapping/>
  </p:clrMapOvr>
  <p:transition>
    <p:cove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816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01D51F5-77E1-4D2A-BC16-459AC0508610}" type="slidenum">
              <a:rPr lang="en-GB" altLang="en-US" sz="1400" smtClean="0"/>
              <a:pPr>
                <a:spcBef>
                  <a:spcPct val="0"/>
                </a:spcBef>
                <a:buFontTx/>
                <a:buNone/>
              </a:pPr>
              <a:t>140</a:t>
            </a:fld>
            <a:endParaRPr lang="en-GB" altLang="en-US" sz="1400"/>
          </a:p>
        </p:txBody>
      </p:sp>
      <p:sp>
        <p:nvSpPr>
          <p:cNvPr id="281604"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ZASUK KAMERE OKOLI GORIŠČA – 3D OPREDELITEV NI MOŽNA</a:t>
            </a:r>
            <a:endParaRPr lang="en-GB" altLang="en-US" sz="2000"/>
          </a:p>
        </p:txBody>
      </p:sp>
      <p:sp>
        <p:nvSpPr>
          <p:cNvPr id="28160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8160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81607" name="TextBox 46"/>
          <p:cNvSpPr txBox="1">
            <a:spLocks noChangeArrowheads="1"/>
          </p:cNvSpPr>
          <p:nvPr/>
        </p:nvSpPr>
        <p:spPr bwMode="auto">
          <a:xfrm>
            <a:off x="611188" y="1220788"/>
            <a:ext cx="7993062"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Imamo  3D-sceno in kamero, ki jo posname iz dveh zornih kotov. Med pogledoma obstaja samo zasuk, ki ga določa matrika </a:t>
            </a:r>
            <a:r>
              <a:rPr lang="sl-SI" altLang="en-US" sz="1800" b="1"/>
              <a:t>R</a:t>
            </a:r>
            <a:r>
              <a:rPr lang="sl-SI" altLang="en-US" sz="1800"/>
              <a:t>. Na sceni imamo točko </a:t>
            </a:r>
            <a:r>
              <a:rPr lang="sl-SI" altLang="en-US" sz="1800" b="1"/>
              <a:t>p</a:t>
            </a:r>
            <a:r>
              <a:rPr lang="sl-SI" altLang="en-US" sz="1800"/>
              <a:t>, ki se projicira na obe sliki kot </a:t>
            </a:r>
            <a:r>
              <a:rPr lang="sl-SI" altLang="en-US" sz="1800" b="1"/>
              <a:t>p</a:t>
            </a:r>
            <a:r>
              <a:rPr lang="sl-SI" altLang="en-US" sz="1800" i="1" baseline="-25000"/>
              <a:t>s</a:t>
            </a:r>
            <a:r>
              <a:rPr lang="sl-SI" altLang="en-US" sz="1800"/>
              <a:t> in </a:t>
            </a:r>
            <a:r>
              <a:rPr lang="sl-SI" altLang="en-US" sz="1800" b="1"/>
              <a:t>p</a:t>
            </a:r>
            <a:r>
              <a:rPr lang="sl-SI" altLang="en-US" sz="1800"/>
              <a:t>’</a:t>
            </a:r>
            <a:r>
              <a:rPr lang="sl-SI" altLang="en-US" sz="1800" i="1" baseline="-25000"/>
              <a:t>s</a:t>
            </a:r>
            <a:r>
              <a:rPr lang="sl-SI" altLang="en-US" sz="1800"/>
              <a:t>.</a:t>
            </a:r>
            <a:endParaRPr lang="sl-SI" altLang="en-US" sz="1800" i="1" baseline="-25000"/>
          </a:p>
          <a:p>
            <a:pPr eaLnBrk="1" hangingPunct="1">
              <a:spcBef>
                <a:spcPts val="600"/>
              </a:spcBef>
              <a:buFontTx/>
              <a:buAutoNum type="arabicPeriod"/>
            </a:pPr>
            <a:r>
              <a:rPr lang="sl-SI" altLang="en-US" sz="1800"/>
              <a:t>Preslikava scene med pogledoma:</a:t>
            </a:r>
          </a:p>
          <a:p>
            <a:pPr eaLnBrk="1" hangingPunct="1">
              <a:spcBef>
                <a:spcPts val="600"/>
              </a:spcBef>
              <a:buFontTx/>
              <a:buAutoNum type="arabicPeriod"/>
            </a:pPr>
            <a:endParaRPr lang="sl-SI" altLang="en-US" sz="1800"/>
          </a:p>
          <a:p>
            <a:pPr eaLnBrk="1" hangingPunct="1">
              <a:spcBef>
                <a:spcPts val="600"/>
              </a:spcBef>
              <a:buFontTx/>
              <a:buAutoNum type="arabicPeriod"/>
            </a:pPr>
            <a:r>
              <a:rPr lang="sl-SI" altLang="en-US" sz="1800"/>
              <a:t>Vzvratna projekcija slikovnih točk v 3D:</a:t>
            </a:r>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r>
              <a:rPr lang="sl-SI" altLang="en-US" sz="1800"/>
              <a:t>Ko oboje povežemo, dobimo:</a:t>
            </a:r>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p:txBody>
      </p:sp>
      <p:graphicFrame>
        <p:nvGraphicFramePr>
          <p:cNvPr id="281608" name="Object 4"/>
          <p:cNvGraphicFramePr>
            <a:graphicFrameLocks noChangeAspect="1"/>
          </p:cNvGraphicFramePr>
          <p:nvPr/>
        </p:nvGraphicFramePr>
        <p:xfrm>
          <a:off x="1023938" y="2492375"/>
          <a:ext cx="1655762" cy="363538"/>
        </p:xfrm>
        <a:graphic>
          <a:graphicData uri="http://schemas.openxmlformats.org/presentationml/2006/ole">
            <mc:AlternateContent xmlns:mc="http://schemas.openxmlformats.org/markup-compatibility/2006">
              <mc:Choice xmlns:v="urn:schemas-microsoft-com:vml" Requires="v">
                <p:oleObj spid="_x0000_s281695" name="Equation" r:id="rId4" imgW="812447" imgH="177723" progId="Equation.3">
                  <p:embed/>
                </p:oleObj>
              </mc:Choice>
              <mc:Fallback>
                <p:oleObj name="Equation" r:id="rId4" imgW="812447" imgH="17772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938" y="2492375"/>
                        <a:ext cx="1655762"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09" name="Object 5"/>
          <p:cNvGraphicFramePr>
            <a:graphicFrameLocks noChangeAspect="1"/>
          </p:cNvGraphicFramePr>
          <p:nvPr/>
        </p:nvGraphicFramePr>
        <p:xfrm>
          <a:off x="1055688" y="3089275"/>
          <a:ext cx="2422525" cy="815975"/>
        </p:xfrm>
        <a:graphic>
          <a:graphicData uri="http://schemas.openxmlformats.org/presentationml/2006/ole">
            <mc:AlternateContent xmlns:mc="http://schemas.openxmlformats.org/markup-compatibility/2006">
              <mc:Choice xmlns:v="urn:schemas-microsoft-com:vml" Requires="v">
                <p:oleObj spid="_x0000_s281696" name="Equation" r:id="rId6" imgW="1129810" imgH="380835" progId="Equation.3">
                  <p:embed/>
                </p:oleObj>
              </mc:Choice>
              <mc:Fallback>
                <p:oleObj name="Equation" r:id="rId6" imgW="1129810" imgH="380835"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5688" y="3089275"/>
                        <a:ext cx="2422525"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10" name="Object 6"/>
          <p:cNvGraphicFramePr>
            <a:graphicFrameLocks noChangeAspect="1"/>
          </p:cNvGraphicFramePr>
          <p:nvPr/>
        </p:nvGraphicFramePr>
        <p:xfrm>
          <a:off x="1076325" y="4197350"/>
          <a:ext cx="1447800" cy="766763"/>
        </p:xfrm>
        <a:graphic>
          <a:graphicData uri="http://schemas.openxmlformats.org/presentationml/2006/ole">
            <mc:AlternateContent xmlns:mc="http://schemas.openxmlformats.org/markup-compatibility/2006">
              <mc:Choice xmlns:v="urn:schemas-microsoft-com:vml" Requires="v">
                <p:oleObj spid="_x0000_s281697" name="Equation" r:id="rId8" imgW="647419" imgH="342751" progId="Equation.3">
                  <p:embed/>
                </p:oleObj>
              </mc:Choice>
              <mc:Fallback>
                <p:oleObj name="Equation" r:id="rId8" imgW="647419" imgH="342751"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6325" y="4197350"/>
                        <a:ext cx="1447800"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1611" name="Group 54"/>
          <p:cNvGrpSpPr>
            <a:grpSpLocks/>
          </p:cNvGrpSpPr>
          <p:nvPr/>
        </p:nvGrpSpPr>
        <p:grpSpPr bwMode="auto">
          <a:xfrm>
            <a:off x="1674813" y="4273550"/>
            <a:ext cx="2897187" cy="933450"/>
            <a:chOff x="1507908" y="4273218"/>
            <a:chExt cx="2897596" cy="934496"/>
          </a:xfrm>
        </p:grpSpPr>
        <p:sp>
          <p:nvSpPr>
            <p:cNvPr id="281612" name="TextBox 45"/>
            <p:cNvSpPr txBox="1">
              <a:spLocks noChangeArrowheads="1"/>
            </p:cNvSpPr>
            <p:nvPr/>
          </p:nvSpPr>
          <p:spPr bwMode="auto">
            <a:xfrm>
              <a:off x="1907704" y="4869160"/>
              <a:ext cx="2497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solidFill>
                    <a:srgbClr val="FF9933"/>
                  </a:solidFill>
                </a:rPr>
                <a:t>homografija med slikama</a:t>
              </a:r>
              <a:endParaRPr lang="en-GB" altLang="en-US" sz="1600">
                <a:solidFill>
                  <a:srgbClr val="FF9933"/>
                </a:solidFill>
              </a:endParaRPr>
            </a:p>
          </p:txBody>
        </p:sp>
        <p:sp>
          <p:nvSpPr>
            <p:cNvPr id="50" name="Oval 49"/>
            <p:cNvSpPr/>
            <p:nvPr/>
          </p:nvSpPr>
          <p:spPr>
            <a:xfrm>
              <a:off x="1507908" y="4273218"/>
              <a:ext cx="576343" cy="648426"/>
            </a:xfrm>
            <a:prstGeom prst="ellipse">
              <a:avLst/>
            </a:prstGeom>
            <a:no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spTree>
  </p:cSld>
  <p:clrMapOvr>
    <a:masterClrMapping/>
  </p:clrMapOvr>
  <p:transition>
    <p:cove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8365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99B2192-F9C5-4375-A599-B0133A796E97}" type="slidenum">
              <a:rPr lang="en-GB" altLang="en-US" sz="1400" smtClean="0"/>
              <a:pPr>
                <a:spcBef>
                  <a:spcPct val="0"/>
                </a:spcBef>
                <a:buFontTx/>
                <a:buNone/>
              </a:pPr>
              <a:t>141</a:t>
            </a:fld>
            <a:endParaRPr lang="en-GB" altLang="en-US" sz="1400"/>
          </a:p>
        </p:txBody>
      </p:sp>
      <p:sp>
        <p:nvSpPr>
          <p:cNvPr id="283652" name="Rectangle 2"/>
          <p:cNvSpPr>
            <a:spLocks noGrp="1" noChangeArrowheads="1"/>
          </p:cNvSpPr>
          <p:nvPr>
            <p:ph type="ctrTitle"/>
          </p:nvPr>
        </p:nvSpPr>
        <p:spPr>
          <a:xfrm>
            <a:off x="0" y="260350"/>
            <a:ext cx="9144000" cy="1008063"/>
          </a:xfrm>
        </p:spPr>
        <p:txBody>
          <a:bodyPr/>
          <a:lstStyle/>
          <a:p>
            <a:pPr defTabSz="912813" eaLnBrk="1" hangingPunct="1">
              <a:spcBef>
                <a:spcPts val="1200"/>
              </a:spcBef>
            </a:pPr>
            <a:r>
              <a:rPr lang="sl-SI" altLang="en-US" sz="2800" b="1"/>
              <a:t>STRUKTURA 3D SCENE IZ DVEH ALI VEČ POGLEDOV – TRIANGULACIJA</a:t>
            </a:r>
            <a:endParaRPr lang="en-GB" altLang="en-US" sz="2000"/>
          </a:p>
        </p:txBody>
      </p:sp>
      <p:sp>
        <p:nvSpPr>
          <p:cNvPr id="28365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8365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8365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83725"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3656" name="TextBox 46"/>
          <p:cNvSpPr txBox="1">
            <a:spLocks noChangeArrowheads="1"/>
          </p:cNvSpPr>
          <p:nvPr/>
        </p:nvSpPr>
        <p:spPr bwMode="auto">
          <a:xfrm>
            <a:off x="827088" y="1400175"/>
            <a:ext cx="7993062" cy="477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Imamo dva ali več pogledov na isto sceno. Z </a:t>
            </a:r>
            <a:r>
              <a:rPr lang="sl-SI" altLang="en-US" sz="1800" i="1"/>
              <a:t>i</a:t>
            </a:r>
            <a:r>
              <a:rPr lang="sl-SI" altLang="en-US" sz="1800"/>
              <a:t>-to kamero vidimo 3D-točko </a:t>
            </a:r>
            <a:r>
              <a:rPr lang="sl-SI" altLang="en-US" sz="1800" b="1"/>
              <a:t>p</a:t>
            </a:r>
            <a:r>
              <a:rPr lang="sl-SI" altLang="en-US" sz="1800"/>
              <a:t> kot projekcijo </a:t>
            </a:r>
            <a:r>
              <a:rPr lang="sl-SI" altLang="en-US" sz="1800" b="1"/>
              <a:t>p</a:t>
            </a:r>
            <a:r>
              <a:rPr lang="sl-SI" altLang="en-US" sz="1800" i="1" baseline="-25000"/>
              <a:t>s,i</a:t>
            </a:r>
            <a:r>
              <a:rPr lang="sl-SI" altLang="en-US" sz="1800"/>
              <a:t>.</a:t>
            </a:r>
          </a:p>
          <a:p>
            <a:pPr eaLnBrk="1" hangingPunct="1">
              <a:spcBef>
                <a:spcPts val="600"/>
              </a:spcBef>
              <a:buFontTx/>
              <a:buAutoNum type="arabicPeriod"/>
            </a:pPr>
            <a:r>
              <a:rPr lang="sl-SI" altLang="en-US" sz="1800"/>
              <a:t>Iz projekcijskih središč (gorišč) kamer potegnemo vzvratne projekcije (premice) skozi slikovne točke </a:t>
            </a:r>
            <a:r>
              <a:rPr lang="sl-SI" altLang="en-US" sz="1800" b="1"/>
              <a:t>p</a:t>
            </a:r>
            <a:r>
              <a:rPr lang="sl-SI" altLang="en-US" sz="1800" i="1" baseline="-25000"/>
              <a:t>s,i</a:t>
            </a:r>
            <a:r>
              <a:rPr lang="sl-SI" altLang="en-US" sz="1800"/>
              <a:t>.</a:t>
            </a:r>
          </a:p>
          <a:p>
            <a:pPr eaLnBrk="1" hangingPunct="1">
              <a:spcBef>
                <a:spcPts val="600"/>
              </a:spcBef>
              <a:buFontTx/>
              <a:buAutoNum type="arabicPeriod"/>
            </a:pPr>
            <a:r>
              <a:rPr lang="sl-SI" altLang="en-US" sz="1800"/>
              <a:t>Sečišče teh premic pomeni položaj točke </a:t>
            </a:r>
            <a:r>
              <a:rPr lang="sl-SI" altLang="en-US" sz="1800" b="1"/>
              <a:t>p</a:t>
            </a:r>
            <a:r>
              <a:rPr lang="sl-SI" altLang="en-US" sz="1800"/>
              <a:t> v prostoru.</a:t>
            </a:r>
          </a:p>
          <a:p>
            <a:pPr eaLnBrk="1" hangingPunct="1">
              <a:spcBef>
                <a:spcPts val="600"/>
              </a:spcBef>
              <a:buFontTx/>
              <a:buAutoNum type="arabicPeriod"/>
            </a:pPr>
            <a:r>
              <a:rPr lang="sl-SI" altLang="en-US" sz="1800"/>
              <a:t>Iščemo minimalno napako glede na položaj točke </a:t>
            </a:r>
            <a:r>
              <a:rPr lang="sl-SI" altLang="en-US" sz="1800" b="1"/>
              <a:t>p</a:t>
            </a:r>
            <a:r>
              <a:rPr lang="sl-SI" altLang="en-US" sz="1800"/>
              <a:t>:</a:t>
            </a:r>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lvl="1" eaLnBrk="1" hangingPunct="1">
              <a:lnSpc>
                <a:spcPct val="70000"/>
              </a:lnSpc>
              <a:spcBef>
                <a:spcPts val="1200"/>
              </a:spcBef>
              <a:buFont typeface="Arial" panose="020B0604020202020204" pitchFamily="34" charset="0"/>
              <a:buChar char="•"/>
            </a:pPr>
            <a:r>
              <a:rPr lang="sl-SI" altLang="en-US" sz="1800" b="1"/>
              <a:t> p</a:t>
            </a:r>
            <a:r>
              <a:rPr lang="en-US" altLang="en-US" sz="1800"/>
              <a:t> </a:t>
            </a:r>
            <a:r>
              <a:rPr lang="sl-SI" altLang="en-US" sz="1800"/>
              <a:t>– neznana točka v 3D</a:t>
            </a:r>
            <a:endParaRPr lang="en-US" altLang="en-US" sz="1800"/>
          </a:p>
          <a:p>
            <a:pPr lvl="1" eaLnBrk="1" hangingPunct="1">
              <a:spcBef>
                <a:spcPct val="0"/>
              </a:spcBef>
              <a:buFont typeface="Arial" panose="020B0604020202020204" pitchFamily="34" charset="0"/>
              <a:buChar char="•"/>
            </a:pPr>
            <a:r>
              <a:rPr lang="sl-SI" altLang="en-US" sz="1800" b="1"/>
              <a:t> 0</a:t>
            </a:r>
            <a:r>
              <a:rPr lang="sl-SI" altLang="en-US" sz="1800" i="1" baseline="-25000"/>
              <a:t>i</a:t>
            </a:r>
            <a:r>
              <a:rPr lang="en-US" altLang="en-US" sz="1800"/>
              <a:t> </a:t>
            </a:r>
            <a:r>
              <a:rPr lang="sl-SI" altLang="en-US" sz="1800"/>
              <a:t>– projekcijsko središče kamere </a:t>
            </a:r>
            <a:r>
              <a:rPr lang="sl-SI" altLang="en-US" sz="1800" i="1"/>
              <a:t>i</a:t>
            </a:r>
            <a:endParaRPr lang="en-US" altLang="en-US" sz="1800" i="1"/>
          </a:p>
          <a:p>
            <a:pPr lvl="1" eaLnBrk="1" hangingPunct="1">
              <a:spcBef>
                <a:spcPct val="0"/>
              </a:spcBef>
              <a:buFont typeface="Arial" panose="020B0604020202020204" pitchFamily="34" charset="0"/>
              <a:buChar char="•"/>
            </a:pPr>
            <a:r>
              <a:rPr lang="sl-SI" altLang="en-US" sz="1800" b="1"/>
              <a:t> v</a:t>
            </a:r>
            <a:r>
              <a:rPr lang="sl-SI" altLang="en-US" sz="1800" i="1" baseline="-25000"/>
              <a:t>i</a:t>
            </a:r>
            <a:r>
              <a:rPr lang="en-US" altLang="en-US" sz="1800"/>
              <a:t> </a:t>
            </a:r>
            <a:r>
              <a:rPr lang="sl-SI" altLang="en-US" sz="1800"/>
              <a:t>– vektor, ki določa reprojekcijski “žarek” skozi </a:t>
            </a:r>
          </a:p>
          <a:p>
            <a:pPr lvl="1" eaLnBrk="1" hangingPunct="1">
              <a:spcBef>
                <a:spcPct val="0"/>
              </a:spcBef>
              <a:buFontTx/>
              <a:buNone/>
            </a:pPr>
            <a:r>
              <a:rPr lang="sl-SI" altLang="en-US" sz="1800"/>
              <a:t>	slikovno točko </a:t>
            </a:r>
            <a:r>
              <a:rPr lang="sl-SI" altLang="en-US" sz="1800" b="1"/>
              <a:t>p</a:t>
            </a:r>
            <a:r>
              <a:rPr lang="sl-SI" altLang="en-US" sz="1800" i="1" baseline="-25000"/>
              <a:t>s,i</a:t>
            </a:r>
            <a:endParaRPr lang="en-US" altLang="en-US" sz="1800"/>
          </a:p>
          <a:p>
            <a:pPr lvl="1" eaLnBrk="1" hangingPunct="1">
              <a:spcBef>
                <a:spcPct val="0"/>
              </a:spcBef>
              <a:buFont typeface="Arial" panose="020B0604020202020204" pitchFamily="34" charset="0"/>
              <a:buChar char="•"/>
            </a:pPr>
            <a:r>
              <a:rPr lang="sl-SI" altLang="en-US" sz="1800" i="1"/>
              <a:t> </a:t>
            </a:r>
            <a:r>
              <a:rPr lang="en-US" altLang="en-US" sz="1800" i="1"/>
              <a:t>s</a:t>
            </a:r>
            <a:r>
              <a:rPr lang="sl-SI" altLang="en-US" sz="1800" i="1" baseline="-25000"/>
              <a:t>i</a:t>
            </a:r>
            <a:r>
              <a:rPr lang="en-US" altLang="en-US" sz="1800"/>
              <a:t> </a:t>
            </a:r>
            <a:r>
              <a:rPr lang="sl-SI" altLang="en-US" sz="1800"/>
              <a:t>– neznana razdalja vzdolž </a:t>
            </a:r>
            <a:r>
              <a:rPr lang="sl-SI" altLang="en-US" sz="1800" b="1"/>
              <a:t>v</a:t>
            </a:r>
            <a:r>
              <a:rPr lang="sl-SI" altLang="en-US" sz="1800" i="1" baseline="-25000"/>
              <a:t>i</a:t>
            </a:r>
            <a:r>
              <a:rPr lang="sl-SI" altLang="en-US" sz="1800"/>
              <a:t> od gorišča do točke </a:t>
            </a:r>
            <a:r>
              <a:rPr lang="sl-SI" altLang="en-US" sz="1800" b="1"/>
              <a:t>p</a:t>
            </a:r>
            <a:endParaRPr lang="sl-SI" altLang="en-US" sz="1800"/>
          </a:p>
          <a:p>
            <a:pPr eaLnBrk="1" hangingPunct="1">
              <a:spcBef>
                <a:spcPts val="600"/>
              </a:spcBef>
              <a:buFontTx/>
              <a:buAutoNum type="arabicPeriod"/>
            </a:pPr>
            <a:r>
              <a:rPr lang="sl-SI" altLang="en-US" sz="1800"/>
              <a:t>Pogoj: medsebojne relacije (položaji) kamer in njihovi notranji parametri morajo biti znani.</a:t>
            </a:r>
            <a:endParaRPr lang="en-US" altLang="en-US" sz="1800"/>
          </a:p>
        </p:txBody>
      </p:sp>
      <p:grpSp>
        <p:nvGrpSpPr>
          <p:cNvPr id="283657" name="Group 21"/>
          <p:cNvGrpSpPr>
            <a:grpSpLocks/>
          </p:cNvGrpSpPr>
          <p:nvPr/>
        </p:nvGrpSpPr>
        <p:grpSpPr bwMode="auto">
          <a:xfrm>
            <a:off x="7389813" y="2941638"/>
            <a:ext cx="1143000" cy="2503487"/>
            <a:chOff x="6781800" y="3430488"/>
            <a:chExt cx="1143000" cy="2502932"/>
          </a:xfrm>
        </p:grpSpPr>
        <p:grpSp>
          <p:nvGrpSpPr>
            <p:cNvPr id="283659" name="Group 17"/>
            <p:cNvGrpSpPr>
              <a:grpSpLocks/>
            </p:cNvGrpSpPr>
            <p:nvPr/>
          </p:nvGrpSpPr>
          <p:grpSpPr bwMode="auto">
            <a:xfrm>
              <a:off x="6781800" y="3430488"/>
              <a:ext cx="1143000" cy="2502932"/>
              <a:chOff x="6781800" y="3430488"/>
              <a:chExt cx="1143000" cy="2502932"/>
            </a:xfrm>
          </p:grpSpPr>
          <p:grpSp>
            <p:nvGrpSpPr>
              <p:cNvPr id="283662" name="Group 8"/>
              <p:cNvGrpSpPr>
                <a:grpSpLocks/>
              </p:cNvGrpSpPr>
              <p:nvPr/>
            </p:nvGrpSpPr>
            <p:grpSpPr bwMode="auto">
              <a:xfrm>
                <a:off x="6781800" y="3430488"/>
                <a:ext cx="1143000" cy="2502932"/>
                <a:chOff x="6781800" y="2438400"/>
                <a:chExt cx="1143000" cy="2502932"/>
              </a:xfrm>
            </p:grpSpPr>
            <p:sp>
              <p:nvSpPr>
                <p:cNvPr id="283664" name="Line 5"/>
                <p:cNvSpPr>
                  <a:spLocks noChangeShapeType="1"/>
                </p:cNvSpPr>
                <p:nvPr/>
              </p:nvSpPr>
              <p:spPr bwMode="auto">
                <a:xfrm flipV="1">
                  <a:off x="7010400" y="2438400"/>
                  <a:ext cx="685800" cy="2133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sl-SI"/>
                </a:p>
              </p:txBody>
            </p:sp>
            <p:sp>
              <p:nvSpPr>
                <p:cNvPr id="283665" name="Line 6"/>
                <p:cNvSpPr>
                  <a:spLocks noChangeShapeType="1"/>
                </p:cNvSpPr>
                <p:nvPr/>
              </p:nvSpPr>
              <p:spPr bwMode="auto">
                <a:xfrm flipH="1" flipV="1">
                  <a:off x="7315200" y="2514600"/>
                  <a:ext cx="609600" cy="2057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sl-SI"/>
                </a:p>
              </p:txBody>
            </p:sp>
            <p:sp>
              <p:nvSpPr>
                <p:cNvPr id="283666" name="Text Box 7"/>
                <p:cNvSpPr txBox="1">
                  <a:spLocks noChangeArrowheads="1"/>
                </p:cNvSpPr>
                <p:nvPr/>
              </p:nvSpPr>
              <p:spPr bwMode="auto">
                <a:xfrm>
                  <a:off x="6858000" y="4572000"/>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sl-SI" altLang="en-US" sz="1800" b="1"/>
                    <a:t>0</a:t>
                  </a:r>
                  <a:r>
                    <a:rPr lang="sl-SI" altLang="en-US" sz="1800" i="1" baseline="-25000"/>
                    <a:t>i</a:t>
                  </a:r>
                  <a:endParaRPr lang="en-US" altLang="en-US" sz="1800" i="1"/>
                </a:p>
              </p:txBody>
            </p:sp>
            <p:sp>
              <p:nvSpPr>
                <p:cNvPr id="283667" name="Line 8"/>
                <p:cNvSpPr>
                  <a:spLocks noChangeShapeType="1"/>
                </p:cNvSpPr>
                <p:nvPr/>
              </p:nvSpPr>
              <p:spPr bwMode="auto">
                <a:xfrm flipV="1">
                  <a:off x="6934200" y="3886200"/>
                  <a:ext cx="228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l-SI"/>
                </a:p>
              </p:txBody>
            </p:sp>
            <p:sp>
              <p:nvSpPr>
                <p:cNvPr id="283668" name="Text Box 9"/>
                <p:cNvSpPr txBox="1">
                  <a:spLocks noChangeArrowheads="1"/>
                </p:cNvSpPr>
                <p:nvPr/>
              </p:nvSpPr>
              <p:spPr bwMode="auto">
                <a:xfrm>
                  <a:off x="6781800" y="3717925"/>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sl-SI" altLang="en-US" sz="1800" b="1"/>
                    <a:t>v</a:t>
                  </a:r>
                  <a:r>
                    <a:rPr lang="sl-SI" altLang="en-US" sz="1800" i="1" baseline="-25000"/>
                    <a:t>i</a:t>
                  </a:r>
                  <a:endParaRPr lang="en-US" altLang="en-US" sz="1800" i="1"/>
                </a:p>
              </p:txBody>
            </p:sp>
            <p:sp>
              <p:nvSpPr>
                <p:cNvPr id="283669" name="Oval 10"/>
                <p:cNvSpPr>
                  <a:spLocks noChangeArrowheads="1"/>
                </p:cNvSpPr>
                <p:nvPr/>
              </p:nvSpPr>
              <p:spPr bwMode="auto">
                <a:xfrm>
                  <a:off x="7391400" y="3048000"/>
                  <a:ext cx="152400" cy="152400"/>
                </a:xfrm>
                <a:prstGeom prst="ellipse">
                  <a:avLst/>
                </a:prstGeom>
                <a:solidFill>
                  <a:srgbClr val="0000FF"/>
                </a:solidFill>
                <a:ln w="9525">
                  <a:solidFill>
                    <a:schemeClr val="tx1"/>
                  </a:solidFill>
                  <a:round/>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83670" name="Text Box 12"/>
                <p:cNvSpPr txBox="1">
                  <a:spLocks noChangeArrowheads="1"/>
                </p:cNvSpPr>
                <p:nvPr/>
              </p:nvSpPr>
              <p:spPr bwMode="auto">
                <a:xfrm>
                  <a:off x="7543800" y="2895600"/>
                  <a:ext cx="3405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sl-SI" altLang="en-US" sz="1800" b="1"/>
                    <a:t>p</a:t>
                  </a:r>
                  <a:endParaRPr lang="en-US" altLang="en-US" sz="1800" b="1"/>
                </a:p>
              </p:txBody>
            </p:sp>
          </p:grpSp>
          <p:sp>
            <p:nvSpPr>
              <p:cNvPr id="283663" name="Oval 10"/>
              <p:cNvSpPr>
                <a:spLocks noChangeArrowheads="1"/>
              </p:cNvSpPr>
              <p:nvPr/>
            </p:nvSpPr>
            <p:spPr bwMode="auto">
              <a:xfrm>
                <a:off x="6983150" y="5429336"/>
                <a:ext cx="152400" cy="152400"/>
              </a:xfrm>
              <a:prstGeom prst="ellipse">
                <a:avLst/>
              </a:prstGeom>
              <a:solidFill>
                <a:srgbClr val="FF9933"/>
              </a:solidFill>
              <a:ln w="9525">
                <a:solidFill>
                  <a:schemeClr val="tx1"/>
                </a:solidFill>
                <a:round/>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pSp>
        <p:sp>
          <p:nvSpPr>
            <p:cNvPr id="283660" name="Oval 10"/>
            <p:cNvSpPr>
              <a:spLocks noChangeArrowheads="1"/>
            </p:cNvSpPr>
            <p:nvPr/>
          </p:nvSpPr>
          <p:spPr bwMode="auto">
            <a:xfrm>
              <a:off x="7072402" y="5148808"/>
              <a:ext cx="152400" cy="152400"/>
            </a:xfrm>
            <a:prstGeom prst="ellipse">
              <a:avLst/>
            </a:prstGeom>
            <a:solidFill>
              <a:schemeClr val="accent1"/>
            </a:solidFill>
            <a:ln w="9525">
              <a:solidFill>
                <a:schemeClr val="tx1"/>
              </a:solidFill>
              <a:round/>
              <a:headEnd/>
              <a:tailEnd/>
            </a:ln>
          </p:spPr>
          <p:txBody>
            <a:bodyPr wrap="none"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83661" name="Text Box 12"/>
            <p:cNvSpPr txBox="1">
              <a:spLocks noChangeArrowheads="1"/>
            </p:cNvSpPr>
            <p:nvPr/>
          </p:nvSpPr>
          <p:spPr bwMode="auto">
            <a:xfrm>
              <a:off x="7184166" y="5003884"/>
              <a:ext cx="6281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sl-SI" altLang="en-US" sz="1800" b="1"/>
                <a:t>P</a:t>
              </a:r>
              <a:r>
                <a:rPr lang="sl-SI" altLang="en-US" sz="1800" i="1" baseline="-25000"/>
                <a:t>s,i</a:t>
              </a:r>
              <a:endParaRPr lang="en-US" altLang="en-US" sz="1800" i="1" baseline="-25000"/>
            </a:p>
          </p:txBody>
        </p:sp>
      </p:grpSp>
      <p:graphicFrame>
        <p:nvGraphicFramePr>
          <p:cNvPr id="283658" name="Object 3"/>
          <p:cNvGraphicFramePr>
            <a:graphicFrameLocks noChangeAspect="1"/>
          </p:cNvGraphicFramePr>
          <p:nvPr/>
        </p:nvGraphicFramePr>
        <p:xfrm>
          <a:off x="1431925" y="3357563"/>
          <a:ext cx="3140075" cy="722312"/>
        </p:xfrm>
        <a:graphic>
          <a:graphicData uri="http://schemas.openxmlformats.org/presentationml/2006/ole">
            <mc:AlternateContent xmlns:mc="http://schemas.openxmlformats.org/markup-compatibility/2006">
              <mc:Choice xmlns:v="urn:schemas-microsoft-com:vml" Requires="v">
                <p:oleObj spid="_x0000_s283726" name="Equation" r:id="rId6" imgW="1269449" imgH="291973" progId="Equation.3">
                  <p:embed/>
                </p:oleObj>
              </mc:Choice>
              <mc:Fallback>
                <p:oleObj name="Equation" r:id="rId6" imgW="1269449" imgH="291973"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1925" y="3357563"/>
                        <a:ext cx="3140075"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856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0DE1D04-EEBD-4BFE-9E7B-EC549991FA4B}" type="slidenum">
              <a:rPr lang="en-GB" altLang="en-US" sz="1400" smtClean="0"/>
              <a:pPr>
                <a:spcBef>
                  <a:spcPct val="0"/>
                </a:spcBef>
                <a:buFontTx/>
                <a:buNone/>
              </a:pPr>
              <a:t>142</a:t>
            </a:fld>
            <a:endParaRPr lang="en-GB" altLang="en-US" sz="1400"/>
          </a:p>
        </p:txBody>
      </p:sp>
      <p:sp>
        <p:nvSpPr>
          <p:cNvPr id="285700"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IZVEDBA TRIANGULACIJE S PROJEKCIJSKIMI MATRIKAMI</a:t>
            </a:r>
            <a:endParaRPr lang="en-GB" altLang="en-US" sz="2000"/>
          </a:p>
        </p:txBody>
      </p:sp>
      <p:sp>
        <p:nvSpPr>
          <p:cNvPr id="28570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8570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85703"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85789"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04" name="TextBox 46"/>
          <p:cNvSpPr txBox="1">
            <a:spLocks noChangeArrowheads="1"/>
          </p:cNvSpPr>
          <p:nvPr/>
        </p:nvSpPr>
        <p:spPr bwMode="auto">
          <a:xfrm>
            <a:off x="827088" y="1125538"/>
            <a:ext cx="7993062" cy="524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Za </a:t>
            </a:r>
            <a:r>
              <a:rPr lang="sl-SI" altLang="en-US" sz="1800" i="1"/>
              <a:t>j</a:t>
            </a:r>
            <a:r>
              <a:rPr lang="sl-SI" altLang="en-US" sz="1800"/>
              <a:t>-to kamero (pogled) imamo znano projekcijsko matriko </a:t>
            </a:r>
            <a:r>
              <a:rPr lang="sl-SI" altLang="en-US" sz="1800" b="1"/>
              <a:t>M</a:t>
            </a:r>
            <a:r>
              <a:rPr lang="sl-SI" altLang="en-US" sz="1800" i="1" baseline="-25000"/>
              <a:t>j</a:t>
            </a:r>
            <a:r>
              <a:rPr lang="sl-SI" altLang="en-US" sz="1800"/>
              <a:t>.</a:t>
            </a:r>
          </a:p>
          <a:p>
            <a:pPr eaLnBrk="1" hangingPunct="1">
              <a:spcBef>
                <a:spcPts val="600"/>
              </a:spcBef>
              <a:buFontTx/>
              <a:buAutoNum type="arabicPeriod"/>
            </a:pPr>
            <a:r>
              <a:rPr lang="sl-SI" altLang="en-US" sz="1800"/>
              <a:t>Točko </a:t>
            </a:r>
            <a:r>
              <a:rPr lang="sl-SI" altLang="en-US" sz="1800" b="1"/>
              <a:t>p</a:t>
            </a:r>
            <a:r>
              <a:rPr lang="sl-SI" altLang="en-US" sz="1800" i="1" baseline="-25000"/>
              <a:t>i </a:t>
            </a:r>
            <a:r>
              <a:rPr lang="sl-SI" altLang="en-US" sz="1800"/>
              <a:t>projiciramo na </a:t>
            </a:r>
            <a:r>
              <a:rPr lang="sl-SI" altLang="en-US" sz="1800" i="1"/>
              <a:t>j</a:t>
            </a:r>
            <a:r>
              <a:rPr lang="sl-SI" altLang="en-US" sz="1800"/>
              <a:t>-to sliko v točko </a:t>
            </a:r>
            <a:r>
              <a:rPr lang="sl-SI" altLang="en-US" sz="1800" b="1"/>
              <a:t>p</a:t>
            </a:r>
            <a:r>
              <a:rPr lang="sl-SI" altLang="en-US" sz="1800" i="1" baseline="-25000"/>
              <a:t>sj,i</a:t>
            </a:r>
            <a:r>
              <a:rPr lang="sl-SI" altLang="en-US" sz="1800"/>
              <a:t>.</a:t>
            </a:r>
          </a:p>
          <a:p>
            <a:pPr eaLnBrk="1" hangingPunct="1">
              <a:spcBef>
                <a:spcPts val="600"/>
              </a:spcBef>
              <a:buFontTx/>
              <a:buAutoNum type="arabicPeriod"/>
            </a:pPr>
            <a:r>
              <a:rPr lang="sl-SI" altLang="en-US" sz="1800"/>
              <a:t>Za projekcijo velja:</a:t>
            </a:r>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a:pPr>
            <a:r>
              <a:rPr lang="sl-SI" altLang="en-US" sz="1800"/>
              <a:t>Pridemo do sistema enačb  - po dve za vsak pogled </a:t>
            </a:r>
            <a:r>
              <a:rPr lang="sl-SI" altLang="en-US" sz="1800" i="1"/>
              <a:t>j</a:t>
            </a:r>
            <a:r>
              <a:rPr lang="sl-SI" altLang="en-US" sz="1800"/>
              <a:t>. Z rešitvijo glede na najmanjšo kvadratno napako (SVD) lahko rekonstruiramo točke </a:t>
            </a:r>
            <a:r>
              <a:rPr lang="sl-SI" altLang="en-US" sz="1800" b="1"/>
              <a:t>p</a:t>
            </a:r>
            <a:r>
              <a:rPr lang="sl-SI" altLang="en-US" sz="1800" i="1" baseline="-25000"/>
              <a:t>i</a:t>
            </a:r>
            <a:r>
              <a:rPr lang="sl-SI" altLang="en-US" sz="1800"/>
              <a:t> v 3D.</a:t>
            </a:r>
          </a:p>
        </p:txBody>
      </p:sp>
      <p:graphicFrame>
        <p:nvGraphicFramePr>
          <p:cNvPr id="285705" name="Object 3"/>
          <p:cNvGraphicFramePr>
            <a:graphicFrameLocks noChangeAspect="1"/>
          </p:cNvGraphicFramePr>
          <p:nvPr/>
        </p:nvGraphicFramePr>
        <p:xfrm>
          <a:off x="1265238" y="1989138"/>
          <a:ext cx="5303837" cy="1712912"/>
        </p:xfrm>
        <a:graphic>
          <a:graphicData uri="http://schemas.openxmlformats.org/presentationml/2006/ole">
            <mc:AlternateContent xmlns:mc="http://schemas.openxmlformats.org/markup-compatibility/2006">
              <mc:Choice xmlns:v="urn:schemas-microsoft-com:vml" Requires="v">
                <p:oleObj spid="_x0000_s285790" name="Equation" r:id="rId6" imgW="2476500" imgH="800100" progId="Equation.3">
                  <p:embed/>
                </p:oleObj>
              </mc:Choice>
              <mc:Fallback>
                <p:oleObj name="Equation" r:id="rId6" imgW="2476500" imgH="8001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5238" y="1989138"/>
                        <a:ext cx="5303837" cy="171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706" name="Object 4"/>
          <p:cNvGraphicFramePr>
            <a:graphicFrameLocks noChangeAspect="1"/>
          </p:cNvGraphicFramePr>
          <p:nvPr/>
        </p:nvGraphicFramePr>
        <p:xfrm>
          <a:off x="1893888" y="3973513"/>
          <a:ext cx="4406900" cy="1765300"/>
        </p:xfrm>
        <a:graphic>
          <a:graphicData uri="http://schemas.openxmlformats.org/presentationml/2006/ole">
            <mc:AlternateContent xmlns:mc="http://schemas.openxmlformats.org/markup-compatibility/2006">
              <mc:Choice xmlns:v="urn:schemas-microsoft-com:vml" Requires="v">
                <p:oleObj spid="_x0000_s285791" name="Equation" r:id="rId8" imgW="2057400" imgH="825500" progId="Equation.3">
                  <p:embed/>
                </p:oleObj>
              </mc:Choice>
              <mc:Fallback>
                <p:oleObj name="Equation" r:id="rId8" imgW="2057400" imgH="8255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93888" y="3973513"/>
                        <a:ext cx="4406900" cy="176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07" name="TextBox 24"/>
          <p:cNvSpPr txBox="1">
            <a:spLocks noChangeArrowheads="1"/>
          </p:cNvSpPr>
          <p:nvPr/>
        </p:nvSpPr>
        <p:spPr bwMode="auto">
          <a:xfrm>
            <a:off x="4140200" y="3573463"/>
            <a:ext cx="4000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2800">
                <a:sym typeface="Symbol" panose="05050102010706020507" pitchFamily="18" charset="2"/>
              </a:rPr>
              <a:t></a:t>
            </a:r>
            <a:endParaRPr lang="en-GB" altLang="en-US" sz="2800"/>
          </a:p>
        </p:txBody>
      </p:sp>
    </p:spTree>
  </p:cSld>
  <p:clrMapOvr>
    <a:masterClrMapping/>
  </p:clrMapOvr>
  <p:transition>
    <p:cove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877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A0D5762-B316-4115-AA6E-F7782D763ADE}" type="slidenum">
              <a:rPr lang="en-GB" altLang="en-US" sz="1400" smtClean="0"/>
              <a:pPr>
                <a:spcBef>
                  <a:spcPct val="0"/>
                </a:spcBef>
                <a:buFontTx/>
                <a:buNone/>
              </a:pPr>
              <a:t>143</a:t>
            </a:fld>
            <a:endParaRPr lang="en-GB" altLang="en-US" sz="1400"/>
          </a:p>
        </p:txBody>
      </p:sp>
      <p:sp>
        <p:nvSpPr>
          <p:cNvPr id="287748"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Primer ocene strukture s triangulacijo</a:t>
            </a:r>
            <a:endParaRPr lang="en-GB" altLang="en-US" sz="2000"/>
          </a:p>
        </p:txBody>
      </p:sp>
      <p:sp>
        <p:nvSpPr>
          <p:cNvPr id="28774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8775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87751"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87920"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87752"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5188" y="1111250"/>
            <a:ext cx="3419475"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753"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3800" y="1111250"/>
            <a:ext cx="3276600" cy="330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754"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2163" y="3836988"/>
            <a:ext cx="40830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ela 1"/>
          <p:cNvGraphicFramePr>
            <a:graphicFrameLocks noGrp="1"/>
          </p:cNvGraphicFramePr>
          <p:nvPr/>
        </p:nvGraphicFramePr>
        <p:xfrm>
          <a:off x="1839913" y="1571625"/>
          <a:ext cx="4941887" cy="4202352"/>
        </p:xfrm>
        <a:graphic>
          <a:graphicData uri="http://schemas.openxmlformats.org/drawingml/2006/table">
            <a:tbl>
              <a:tblPr>
                <a:tableStyleId>{5C22544A-7EE6-4342-B048-85BDC9FD1C3A}</a:tableStyleId>
              </a:tblPr>
              <a:tblGrid>
                <a:gridCol w="1257092">
                  <a:extLst>
                    <a:ext uri="{9D8B030D-6E8A-4147-A177-3AD203B41FA5}">
                      <a16:colId xmlns:a16="http://schemas.microsoft.com/office/drawing/2014/main" val="20000"/>
                    </a:ext>
                  </a:extLst>
                </a:gridCol>
                <a:gridCol w="751999">
                  <a:extLst>
                    <a:ext uri="{9D8B030D-6E8A-4147-A177-3AD203B41FA5}">
                      <a16:colId xmlns:a16="http://schemas.microsoft.com/office/drawing/2014/main" val="20001"/>
                    </a:ext>
                  </a:extLst>
                </a:gridCol>
                <a:gridCol w="827199">
                  <a:extLst>
                    <a:ext uri="{9D8B030D-6E8A-4147-A177-3AD203B41FA5}">
                      <a16:colId xmlns:a16="http://schemas.microsoft.com/office/drawing/2014/main" val="20002"/>
                    </a:ext>
                  </a:extLst>
                </a:gridCol>
                <a:gridCol w="676799">
                  <a:extLst>
                    <a:ext uri="{9D8B030D-6E8A-4147-A177-3AD203B41FA5}">
                      <a16:colId xmlns:a16="http://schemas.microsoft.com/office/drawing/2014/main" val="20003"/>
                    </a:ext>
                  </a:extLst>
                </a:gridCol>
                <a:gridCol w="1428798">
                  <a:extLst>
                    <a:ext uri="{9D8B030D-6E8A-4147-A177-3AD203B41FA5}">
                      <a16:colId xmlns:a16="http://schemas.microsoft.com/office/drawing/2014/main" val="20004"/>
                    </a:ext>
                  </a:extLst>
                </a:gridCol>
              </a:tblGrid>
              <a:tr h="191005">
                <a:tc>
                  <a:txBody>
                    <a:bodyPr/>
                    <a:lstStyle/>
                    <a:p>
                      <a:pPr algn="ctr">
                        <a:spcAft>
                          <a:spcPts val="0"/>
                        </a:spcAft>
                      </a:pPr>
                      <a:r>
                        <a:rPr lang="sl-SI" sz="1200" dirty="0">
                          <a:effectLst/>
                        </a:rPr>
                        <a:t> </a:t>
                      </a:r>
                      <a:endParaRPr lang="sl-SI" sz="1200" b="1" dirty="0">
                        <a:effectLst/>
                        <a:latin typeface="Times New Roman"/>
                        <a:ea typeface="Times New Roman"/>
                      </a:endParaRPr>
                    </a:p>
                  </a:txBody>
                  <a:tcPr marL="8147" marR="8147" marT="8136" marB="0" anchor="b"/>
                </a:tc>
                <a:tc gridSpan="4">
                  <a:txBody>
                    <a:bodyPr/>
                    <a:lstStyle/>
                    <a:p>
                      <a:pPr marL="0" indent="0" algn="ctr">
                        <a:spcAft>
                          <a:spcPts val="0"/>
                        </a:spcAft>
                      </a:pPr>
                      <a:r>
                        <a:rPr lang="sl-SI" sz="1200" dirty="0">
                          <a:effectLst/>
                        </a:rPr>
                        <a:t>Napaka</a:t>
                      </a:r>
                      <a:r>
                        <a:rPr lang="sl-SI" sz="1200" baseline="0" dirty="0">
                          <a:effectLst/>
                        </a:rPr>
                        <a:t> pri </a:t>
                      </a:r>
                      <a:r>
                        <a:rPr lang="sl-SI" sz="1200" baseline="0">
                          <a:effectLst/>
                        </a:rPr>
                        <a:t>izmerjenih oddaljenostih od 2 do 5 m</a:t>
                      </a:r>
                      <a:r>
                        <a:rPr lang="sl-SI" sz="1200">
                          <a:effectLst/>
                        </a:rPr>
                        <a:t> </a:t>
                      </a:r>
                      <a:r>
                        <a:rPr lang="sl-SI" sz="1200" dirty="0">
                          <a:effectLst/>
                        </a:rPr>
                        <a:t>[cm]</a:t>
                      </a:r>
                      <a:endParaRPr lang="sl-SI" sz="1200" b="1" dirty="0">
                        <a:effectLst/>
                        <a:latin typeface="Times New Roman"/>
                        <a:ea typeface="Times New Roman"/>
                      </a:endParaRPr>
                    </a:p>
                  </a:txBody>
                  <a:tcPr marL="8147" marR="8147" marT="8136" marB="0" anchor="b"/>
                </a:tc>
                <a:tc hMerge="1">
                  <a:txBody>
                    <a:bodyPr/>
                    <a:lstStyle/>
                    <a:p>
                      <a:endParaRPr lang="sl-SI"/>
                    </a:p>
                  </a:txBody>
                  <a:tcPr/>
                </a:tc>
                <a:tc hMerge="1">
                  <a:txBody>
                    <a:bodyPr/>
                    <a:lstStyle/>
                    <a:p>
                      <a:endParaRPr lang="sl-SI"/>
                    </a:p>
                  </a:txBody>
                  <a:tcPr/>
                </a:tc>
                <a:tc hMerge="1">
                  <a:txBody>
                    <a:bodyPr/>
                    <a:lstStyle/>
                    <a:p>
                      <a:endParaRPr lang="sl-SI"/>
                    </a:p>
                  </a:txBody>
                  <a:tcPr/>
                </a:tc>
                <a:extLst>
                  <a:ext uri="{0D108BD9-81ED-4DB2-BD59-A6C34878D82A}">
                    <a16:rowId xmlns:a16="http://schemas.microsoft.com/office/drawing/2014/main" val="10000"/>
                  </a:ext>
                </a:extLst>
              </a:tr>
              <a:tr h="191005">
                <a:tc>
                  <a:txBody>
                    <a:bodyPr/>
                    <a:lstStyle/>
                    <a:p>
                      <a:pPr algn="ctr">
                        <a:spcAft>
                          <a:spcPts val="0"/>
                        </a:spcAft>
                      </a:pPr>
                      <a:r>
                        <a:rPr lang="sl-SI" sz="1200">
                          <a:effectLst/>
                        </a:rPr>
                        <a:t>Značilke</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a:effectLst/>
                        </a:rPr>
                        <a:t>povprečna </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a:effectLst/>
                        </a:rPr>
                        <a:t>najmanjša</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a:effectLst/>
                        </a:rPr>
                        <a:t>največja</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a:effectLst/>
                        </a:rPr>
                        <a:t>standardni odklon</a:t>
                      </a:r>
                      <a:endParaRPr lang="sl-SI" sz="1200" b="1">
                        <a:effectLst/>
                        <a:latin typeface="Times New Roman"/>
                        <a:ea typeface="Times New Roman"/>
                      </a:endParaRPr>
                    </a:p>
                  </a:txBody>
                  <a:tcPr marL="8147" marR="8147" marT="8136" marB="0" anchor="b"/>
                </a:tc>
                <a:extLst>
                  <a:ext uri="{0D108BD9-81ED-4DB2-BD59-A6C34878D82A}">
                    <a16:rowId xmlns:a16="http://schemas.microsoft.com/office/drawing/2014/main" val="10001"/>
                  </a:ext>
                </a:extLst>
              </a:tr>
              <a:tr h="191005">
                <a:tc>
                  <a:txBody>
                    <a:bodyPr/>
                    <a:lstStyle/>
                    <a:p>
                      <a:pPr algn="ctr">
                        <a:spcAft>
                          <a:spcPts val="0"/>
                        </a:spcAft>
                      </a:pPr>
                      <a:r>
                        <a:rPr lang="sl-SI" sz="1200">
                          <a:effectLst/>
                        </a:rPr>
                        <a:t>1</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0,7691</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0,3326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1,4206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0,2466</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02"/>
                  </a:ext>
                </a:extLst>
              </a:tr>
              <a:tr h="191005">
                <a:tc>
                  <a:txBody>
                    <a:bodyPr/>
                    <a:lstStyle/>
                    <a:p>
                      <a:pPr algn="ctr">
                        <a:spcAft>
                          <a:spcPts val="0"/>
                        </a:spcAft>
                      </a:pPr>
                      <a:r>
                        <a:rPr lang="sl-SI" sz="1200">
                          <a:effectLst/>
                        </a:rPr>
                        <a:t>2</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0,5876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0,3232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1,1148</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0,2233</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03"/>
                  </a:ext>
                </a:extLst>
              </a:tr>
              <a:tr h="191005">
                <a:tc>
                  <a:txBody>
                    <a:bodyPr/>
                    <a:lstStyle/>
                    <a:p>
                      <a:pPr algn="ctr">
                        <a:spcAft>
                          <a:spcPts val="0"/>
                        </a:spcAft>
                      </a:pPr>
                      <a:r>
                        <a:rPr lang="sl-SI" sz="1200">
                          <a:effectLst/>
                        </a:rPr>
                        <a:t>3</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1,2046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05828</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2,0099</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0,3431</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04"/>
                  </a:ext>
                </a:extLst>
              </a:tr>
              <a:tr h="191005">
                <a:tc>
                  <a:txBody>
                    <a:bodyPr/>
                    <a:lstStyle/>
                    <a:p>
                      <a:pPr algn="ctr">
                        <a:spcAft>
                          <a:spcPts val="0"/>
                        </a:spcAft>
                      </a:pPr>
                      <a:r>
                        <a:rPr lang="sl-SI" sz="1200" dirty="0">
                          <a:effectLst/>
                        </a:rPr>
                        <a:t>4</a:t>
                      </a:r>
                      <a:endParaRPr lang="sl-SI" sz="1200" b="1"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0,8559</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0,4128</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1,6476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0,2549</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05"/>
                  </a:ext>
                </a:extLst>
              </a:tr>
              <a:tr h="191005">
                <a:tc>
                  <a:txBody>
                    <a:bodyPr/>
                    <a:lstStyle/>
                    <a:p>
                      <a:pPr algn="ctr">
                        <a:spcAft>
                          <a:spcPts val="0"/>
                        </a:spcAft>
                      </a:pPr>
                      <a:r>
                        <a:rPr lang="sl-SI" sz="1200">
                          <a:effectLst/>
                        </a:rPr>
                        <a:t>5</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0,7020</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0,3180</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1,2662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0,2844</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06"/>
                  </a:ext>
                </a:extLst>
              </a:tr>
              <a:tr h="191005">
                <a:tc>
                  <a:txBody>
                    <a:bodyPr/>
                    <a:lstStyle/>
                    <a:p>
                      <a:pPr algn="ctr">
                        <a:spcAft>
                          <a:spcPts val="0"/>
                        </a:spcAft>
                      </a:pPr>
                      <a:r>
                        <a:rPr lang="sl-SI" sz="1200">
                          <a:effectLst/>
                        </a:rPr>
                        <a:t>6</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1,0810</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0,4252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2,0546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0,3001</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07"/>
                  </a:ext>
                </a:extLst>
              </a:tr>
              <a:tr h="191005">
                <a:tc>
                  <a:txBody>
                    <a:bodyPr/>
                    <a:lstStyle/>
                    <a:p>
                      <a:pPr algn="ctr">
                        <a:spcAft>
                          <a:spcPts val="0"/>
                        </a:spcAft>
                      </a:pPr>
                      <a:r>
                        <a:rPr lang="sl-SI" sz="1200">
                          <a:effectLst/>
                        </a:rPr>
                        <a:t>7</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1,4416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0,4362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2,6716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0,5084</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08"/>
                  </a:ext>
                </a:extLst>
              </a:tr>
              <a:tr h="191005">
                <a:tc>
                  <a:txBody>
                    <a:bodyPr/>
                    <a:lstStyle/>
                    <a:p>
                      <a:pPr algn="ctr">
                        <a:spcAft>
                          <a:spcPts val="0"/>
                        </a:spcAft>
                      </a:pPr>
                      <a:r>
                        <a:rPr lang="sl-SI" sz="1200">
                          <a:effectLst/>
                        </a:rPr>
                        <a:t>8</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1,5775</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0,4889</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2,5007</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0,3657</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09"/>
                  </a:ext>
                </a:extLst>
              </a:tr>
              <a:tr h="191005">
                <a:tc>
                  <a:txBody>
                    <a:bodyPr/>
                    <a:lstStyle/>
                    <a:p>
                      <a:pPr algn="ctr">
                        <a:spcAft>
                          <a:spcPts val="0"/>
                        </a:spcAft>
                      </a:pPr>
                      <a:r>
                        <a:rPr lang="sl-SI" sz="1200">
                          <a:effectLst/>
                        </a:rPr>
                        <a:t>9</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1,3243</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0,4421</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2,9092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0,3732</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0"/>
                  </a:ext>
                </a:extLst>
              </a:tr>
              <a:tr h="191005">
                <a:tc>
                  <a:txBody>
                    <a:bodyPr/>
                    <a:lstStyle/>
                    <a:p>
                      <a:pPr algn="ctr">
                        <a:spcAft>
                          <a:spcPts val="0"/>
                        </a:spcAft>
                      </a:pPr>
                      <a:r>
                        <a:rPr lang="sl-SI" sz="1200">
                          <a:effectLst/>
                        </a:rPr>
                        <a:t>10</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1,1660</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0,8002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2,2903</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0,3119</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1"/>
                  </a:ext>
                </a:extLst>
              </a:tr>
              <a:tr h="191005">
                <a:tc>
                  <a:txBody>
                    <a:bodyPr/>
                    <a:lstStyle/>
                    <a:p>
                      <a:pPr algn="ctr">
                        <a:spcAft>
                          <a:spcPts val="0"/>
                        </a:spcAft>
                      </a:pPr>
                      <a:r>
                        <a:rPr lang="sl-SI" sz="1200">
                          <a:effectLst/>
                        </a:rPr>
                        <a:t>11</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1,3097</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1,0090</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1,7635</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0,2810</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2"/>
                  </a:ext>
                </a:extLst>
              </a:tr>
              <a:tr h="191005">
                <a:tc>
                  <a:txBody>
                    <a:bodyPr/>
                    <a:lstStyle/>
                    <a:p>
                      <a:pPr algn="ctr">
                        <a:spcAft>
                          <a:spcPts val="0"/>
                        </a:spcAft>
                      </a:pPr>
                      <a:r>
                        <a:rPr lang="sl-SI" sz="1200">
                          <a:effectLst/>
                        </a:rPr>
                        <a:t>12</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0,7336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0,3392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1,8867</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0,3505</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3"/>
                  </a:ext>
                </a:extLst>
              </a:tr>
              <a:tr h="191005">
                <a:tc>
                  <a:txBody>
                    <a:bodyPr/>
                    <a:lstStyle/>
                    <a:p>
                      <a:pPr algn="ctr">
                        <a:spcAft>
                          <a:spcPts val="0"/>
                        </a:spcAft>
                      </a:pPr>
                      <a:r>
                        <a:rPr lang="sl-SI" sz="1200">
                          <a:effectLst/>
                        </a:rPr>
                        <a:t>13</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0,7372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0,3750</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1,0781</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0,2154</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4"/>
                  </a:ext>
                </a:extLst>
              </a:tr>
              <a:tr h="191005">
                <a:tc>
                  <a:txBody>
                    <a:bodyPr/>
                    <a:lstStyle/>
                    <a:p>
                      <a:pPr algn="ctr">
                        <a:spcAft>
                          <a:spcPts val="0"/>
                        </a:spcAft>
                      </a:pPr>
                      <a:r>
                        <a:rPr lang="sl-SI" sz="1200">
                          <a:effectLst/>
                        </a:rPr>
                        <a:t>14</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0,6472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0,3130</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1,3126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0,2221</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5"/>
                  </a:ext>
                </a:extLst>
              </a:tr>
              <a:tr h="191005">
                <a:tc>
                  <a:txBody>
                    <a:bodyPr/>
                    <a:lstStyle/>
                    <a:p>
                      <a:pPr algn="ctr">
                        <a:spcAft>
                          <a:spcPts val="0"/>
                        </a:spcAft>
                      </a:pPr>
                      <a:r>
                        <a:rPr lang="sl-SI" sz="1200">
                          <a:effectLst/>
                        </a:rPr>
                        <a:t>15</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0,4796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0,3542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0,7166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0,1557</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6"/>
                  </a:ext>
                </a:extLst>
              </a:tr>
              <a:tr h="191005">
                <a:tc>
                  <a:txBody>
                    <a:bodyPr/>
                    <a:lstStyle/>
                    <a:p>
                      <a:pPr algn="ctr">
                        <a:spcAft>
                          <a:spcPts val="0"/>
                        </a:spcAft>
                      </a:pPr>
                      <a:r>
                        <a:rPr lang="sl-SI" sz="1200">
                          <a:effectLst/>
                        </a:rPr>
                        <a:t>16</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0,4556</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0,3232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1,0369</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0,1523</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7"/>
                  </a:ext>
                </a:extLst>
              </a:tr>
              <a:tr h="191005">
                <a:tc>
                  <a:txBody>
                    <a:bodyPr/>
                    <a:lstStyle/>
                    <a:p>
                      <a:pPr algn="ctr">
                        <a:spcAft>
                          <a:spcPts val="0"/>
                        </a:spcAft>
                      </a:pPr>
                      <a:r>
                        <a:rPr lang="sl-SI" sz="1200">
                          <a:effectLst/>
                        </a:rPr>
                        <a:t>17</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0,3898</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0,2945</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0,5819</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0,0814</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8"/>
                  </a:ext>
                </a:extLst>
              </a:tr>
              <a:tr h="191005">
                <a:tc>
                  <a:txBody>
                    <a:bodyPr/>
                    <a:lstStyle/>
                    <a:p>
                      <a:pPr algn="ctr">
                        <a:spcAft>
                          <a:spcPts val="0"/>
                        </a:spcAft>
                      </a:pPr>
                      <a:r>
                        <a:rPr lang="sl-SI" sz="1200">
                          <a:effectLst/>
                        </a:rPr>
                        <a:t>18</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0,3453</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0,2329</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0,5389</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0,1077</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19"/>
                  </a:ext>
                </a:extLst>
              </a:tr>
              <a:tr h="191005">
                <a:tc>
                  <a:txBody>
                    <a:bodyPr/>
                    <a:lstStyle/>
                    <a:p>
                      <a:pPr algn="ctr">
                        <a:spcAft>
                          <a:spcPts val="0"/>
                        </a:spcAft>
                      </a:pPr>
                      <a:r>
                        <a:rPr lang="sl-SI" sz="1200">
                          <a:effectLst/>
                        </a:rPr>
                        <a:t>Povprečna</a:t>
                      </a:r>
                      <a:endParaRPr lang="sl-SI" sz="1200" b="1">
                        <a:effectLst/>
                        <a:latin typeface="Times New Roman"/>
                        <a:ea typeface="Times New Roman"/>
                      </a:endParaRPr>
                    </a:p>
                  </a:txBody>
                  <a:tcPr marL="8147" marR="8147" marT="8136" marB="0" anchor="b"/>
                </a:tc>
                <a:tc>
                  <a:txBody>
                    <a:bodyPr/>
                    <a:lstStyle/>
                    <a:p>
                      <a:pPr algn="ctr">
                        <a:spcAft>
                          <a:spcPts val="0"/>
                        </a:spcAft>
                      </a:pPr>
                      <a:r>
                        <a:rPr lang="sl-SI" sz="1200" dirty="0">
                          <a:effectLst/>
                        </a:rPr>
                        <a:t>0,8782</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a:effectLst/>
                        </a:rPr>
                        <a:t> </a:t>
                      </a:r>
                      <a:endParaRPr lang="sl-SI" sz="1200">
                        <a:effectLst/>
                        <a:latin typeface="Times New Roman"/>
                        <a:ea typeface="Times New Roman"/>
                      </a:endParaRPr>
                    </a:p>
                  </a:txBody>
                  <a:tcPr marL="8147" marR="8147" marT="8136" marB="0" anchor="b"/>
                </a:tc>
                <a:tc>
                  <a:txBody>
                    <a:bodyPr/>
                    <a:lstStyle/>
                    <a:p>
                      <a:pPr algn="ctr">
                        <a:spcAft>
                          <a:spcPts val="0"/>
                        </a:spcAft>
                      </a:pPr>
                      <a:r>
                        <a:rPr lang="sl-SI" sz="1200">
                          <a:effectLst/>
                        </a:rPr>
                        <a:t> </a:t>
                      </a:r>
                      <a:endParaRPr lang="sl-SI" sz="1200">
                        <a:effectLst/>
                        <a:latin typeface="Times New Roman"/>
                        <a:ea typeface="Times New Roman"/>
                      </a:endParaRPr>
                    </a:p>
                  </a:txBody>
                  <a:tcPr marL="8147" marR="8147" marT="8136" marB="0" anchor="b"/>
                </a:tc>
                <a:tc>
                  <a:txBody>
                    <a:bodyPr/>
                    <a:lstStyle/>
                    <a:p>
                      <a:pPr algn="ctr">
                        <a:spcAft>
                          <a:spcPts val="0"/>
                        </a:spcAft>
                      </a:pPr>
                      <a:r>
                        <a:rPr lang="sl-SI" sz="1200" dirty="0">
                          <a:effectLst/>
                        </a:rPr>
                        <a:t> </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20"/>
                  </a:ext>
                </a:extLst>
              </a:tr>
              <a:tr h="191005">
                <a:tc>
                  <a:txBody>
                    <a:bodyPr/>
                    <a:lstStyle/>
                    <a:p>
                      <a:pPr algn="ctr">
                        <a:spcAft>
                          <a:spcPts val="0"/>
                        </a:spcAft>
                      </a:pPr>
                      <a:r>
                        <a:rPr lang="sl-SI" sz="1200" dirty="0">
                          <a:effectLst/>
                        </a:rPr>
                        <a:t>Standardni odklon</a:t>
                      </a:r>
                      <a:endParaRPr lang="sl-SI" sz="1200" b="1" dirty="0">
                        <a:effectLst/>
                        <a:latin typeface="Times New Roman"/>
                        <a:ea typeface="Times New Roman"/>
                      </a:endParaRPr>
                    </a:p>
                  </a:txBody>
                  <a:tcPr marL="8147" marR="8147" marT="8136" marB="0" anchor="b"/>
                </a:tc>
                <a:tc>
                  <a:txBody>
                    <a:bodyPr/>
                    <a:lstStyle/>
                    <a:p>
                      <a:pPr algn="ctr">
                        <a:spcAft>
                          <a:spcPts val="0"/>
                        </a:spcAft>
                      </a:pPr>
                      <a:r>
                        <a:rPr lang="sl-SI" sz="1200" dirty="0">
                          <a:effectLst/>
                        </a:rPr>
                        <a:t>0,3838</a:t>
                      </a:r>
                      <a:endParaRPr lang="sl-SI" sz="1200" dirty="0">
                        <a:effectLst/>
                        <a:latin typeface="Times New Roman"/>
                        <a:ea typeface="Times New Roman"/>
                      </a:endParaRPr>
                    </a:p>
                  </a:txBody>
                  <a:tcPr marL="8147" marR="8147" marT="8136" marB="0" anchor="b"/>
                </a:tc>
                <a:tc>
                  <a:txBody>
                    <a:bodyPr/>
                    <a:lstStyle/>
                    <a:p>
                      <a:pPr algn="ctr">
                        <a:spcAft>
                          <a:spcPts val="0"/>
                        </a:spcAft>
                      </a:pPr>
                      <a:r>
                        <a:rPr lang="sl-SI" sz="1200">
                          <a:effectLst/>
                        </a:rPr>
                        <a:t> </a:t>
                      </a:r>
                      <a:endParaRPr lang="sl-SI" sz="1200">
                        <a:effectLst/>
                        <a:latin typeface="Times New Roman"/>
                        <a:ea typeface="Times New Roman"/>
                      </a:endParaRPr>
                    </a:p>
                  </a:txBody>
                  <a:tcPr marL="8147" marR="8147" marT="8136" marB="0" anchor="b"/>
                </a:tc>
                <a:tc>
                  <a:txBody>
                    <a:bodyPr/>
                    <a:lstStyle/>
                    <a:p>
                      <a:pPr algn="ctr">
                        <a:spcAft>
                          <a:spcPts val="0"/>
                        </a:spcAft>
                      </a:pPr>
                      <a:r>
                        <a:rPr lang="sl-SI" sz="1200">
                          <a:effectLst/>
                        </a:rPr>
                        <a:t> </a:t>
                      </a:r>
                      <a:endParaRPr lang="sl-SI" sz="1200">
                        <a:effectLst/>
                        <a:latin typeface="Times New Roman"/>
                        <a:ea typeface="Times New Roman"/>
                      </a:endParaRPr>
                    </a:p>
                  </a:txBody>
                  <a:tcPr marL="8147" marR="8147" marT="8136" marB="0" anchor="b"/>
                </a:tc>
                <a:tc>
                  <a:txBody>
                    <a:bodyPr/>
                    <a:lstStyle/>
                    <a:p>
                      <a:pPr algn="ctr">
                        <a:spcAft>
                          <a:spcPts val="0"/>
                        </a:spcAft>
                      </a:pPr>
                      <a:r>
                        <a:rPr lang="sl-SI" sz="1200" dirty="0">
                          <a:effectLst/>
                        </a:rPr>
                        <a:t> </a:t>
                      </a:r>
                      <a:endParaRPr lang="sl-SI" sz="1200" dirty="0">
                        <a:effectLst/>
                        <a:latin typeface="Times New Roman"/>
                        <a:ea typeface="Times New Roman"/>
                      </a:endParaRPr>
                    </a:p>
                  </a:txBody>
                  <a:tcPr marL="8147" marR="8147" marT="8136" marB="0" anchor="b"/>
                </a:tc>
                <a:extLst>
                  <a:ext uri="{0D108BD9-81ED-4DB2-BD59-A6C34878D82A}">
                    <a16:rowId xmlns:a16="http://schemas.microsoft.com/office/drawing/2014/main" val="10021"/>
                  </a:ext>
                </a:extLst>
              </a:tr>
            </a:tbl>
          </a:graphicData>
        </a:graphic>
      </p:graphicFrame>
      <p:sp>
        <p:nvSpPr>
          <p:cNvPr id="287892" name="PoljeZBesedilom 2"/>
          <p:cNvSpPr txBox="1">
            <a:spLocks noChangeArrowheads="1"/>
          </p:cNvSpPr>
          <p:nvPr/>
        </p:nvSpPr>
        <p:spPr bwMode="auto">
          <a:xfrm>
            <a:off x="611188" y="3213100"/>
            <a:ext cx="17494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a:t>Vzeto iz: G. Pačnik,</a:t>
            </a:r>
          </a:p>
          <a:p>
            <a:pPr eaLnBrk="1" hangingPunct="1">
              <a:spcBef>
                <a:spcPct val="0"/>
              </a:spcBef>
              <a:buFontTx/>
              <a:buNone/>
            </a:pPr>
            <a:r>
              <a:rPr lang="sl-SI" altLang="en-US" sz="1400"/>
              <a:t>Magistrska naloga,</a:t>
            </a:r>
          </a:p>
          <a:p>
            <a:pPr eaLnBrk="1" hangingPunct="1">
              <a:spcBef>
                <a:spcPct val="0"/>
              </a:spcBef>
              <a:buFontTx/>
              <a:buNone/>
            </a:pPr>
            <a:r>
              <a:rPr lang="sl-SI" altLang="en-US" sz="1400"/>
              <a:t>FERI, 2007. </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897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3DC059F-9880-4E39-B58B-8FFD57F67223}" type="slidenum">
              <a:rPr lang="en-GB" altLang="en-US" sz="1400" smtClean="0"/>
              <a:pPr>
                <a:spcBef>
                  <a:spcPct val="0"/>
                </a:spcBef>
                <a:buFontTx/>
                <a:buNone/>
              </a:pPr>
              <a:t>144</a:t>
            </a:fld>
            <a:endParaRPr lang="en-GB" altLang="en-US" sz="1400"/>
          </a:p>
        </p:txBody>
      </p:sp>
      <p:sp>
        <p:nvSpPr>
          <p:cNvPr id="289796"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SOČASNO DOLOČANJE STRUKTURE IN GIBANJA</a:t>
            </a:r>
            <a:endParaRPr lang="en-GB" altLang="en-US" sz="2000"/>
          </a:p>
        </p:txBody>
      </p:sp>
      <p:sp>
        <p:nvSpPr>
          <p:cNvPr id="28979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8979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89799"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89860"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800" name="TextBox 46"/>
          <p:cNvSpPr txBox="1">
            <a:spLocks noChangeArrowheads="1"/>
          </p:cNvSpPr>
          <p:nvPr/>
        </p:nvSpPr>
        <p:spPr bwMode="auto">
          <a:xfrm>
            <a:off x="684213" y="1125538"/>
            <a:ext cx="8135937"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Imamo 2 ali več pogledov na isto sceno.</a:t>
            </a:r>
          </a:p>
          <a:p>
            <a:pPr eaLnBrk="1" hangingPunct="1">
              <a:spcBef>
                <a:spcPts val="600"/>
              </a:spcBef>
              <a:buFontTx/>
              <a:buAutoNum type="arabicPeriod"/>
            </a:pPr>
            <a:r>
              <a:rPr lang="sl-SI" altLang="en-US" sz="1800"/>
              <a:t>Na vseh pogledih poiščemo zanesljive korespondenčne točke – lahko za poljubne piksle, vendar je bolje, če uporabimo nadzorne točke (značilnice)</a:t>
            </a:r>
          </a:p>
          <a:p>
            <a:pPr eaLnBrk="1" hangingPunct="1">
              <a:spcBef>
                <a:spcPts val="600"/>
              </a:spcBef>
              <a:buFontTx/>
              <a:buAutoNum type="arabicPeriod"/>
            </a:pPr>
            <a:r>
              <a:rPr lang="sl-SI" altLang="en-US" sz="1800"/>
              <a:t>Naj bodo (</a:t>
            </a:r>
            <a:r>
              <a:rPr lang="sl-SI" altLang="en-US" sz="1800" i="1"/>
              <a:t>x</a:t>
            </a:r>
            <a:r>
              <a:rPr lang="sl-SI" altLang="en-US" sz="1800" i="1" baseline="-25000"/>
              <a:t>sj,i</a:t>
            </a:r>
            <a:r>
              <a:rPr lang="sl-SI" altLang="en-US" sz="1800"/>
              <a:t>, </a:t>
            </a:r>
            <a:r>
              <a:rPr lang="sl-SI" altLang="en-US" sz="1800" i="1"/>
              <a:t>y</a:t>
            </a:r>
            <a:r>
              <a:rPr lang="sl-SI" altLang="en-US" sz="1800" i="1" baseline="-25000"/>
              <a:t>sj,i</a:t>
            </a:r>
            <a:r>
              <a:rPr lang="sl-SI" altLang="en-US" sz="1800"/>
              <a:t>) koordinate </a:t>
            </a:r>
            <a:r>
              <a:rPr lang="sl-SI" altLang="en-US" sz="1800" i="1"/>
              <a:t>i</a:t>
            </a:r>
            <a:r>
              <a:rPr lang="sl-SI" altLang="en-US" sz="1800"/>
              <a:t>-te točke na </a:t>
            </a:r>
            <a:r>
              <a:rPr lang="sl-SI" altLang="en-US" sz="1800" i="1"/>
              <a:t>j</a:t>
            </a:r>
            <a:r>
              <a:rPr lang="sl-SI" altLang="en-US" sz="1800"/>
              <a:t>-ti sliki; za vsako tako točko poznamo korespondenčne točke na ostalih slikah (ni nujno, da na vseh, bolje pa, da jih je čim več)</a:t>
            </a:r>
          </a:p>
          <a:p>
            <a:pPr eaLnBrk="1" hangingPunct="1">
              <a:spcBef>
                <a:spcPts val="600"/>
              </a:spcBef>
              <a:buFontTx/>
              <a:buAutoNum type="arabicPeriod"/>
            </a:pPr>
            <a:r>
              <a:rPr lang="sl-SI" altLang="en-US" sz="1800"/>
              <a:t>Privzemimo, da vse slike posnamemo z isto kamero oz. da pri vseh posnetkih velja enaka kalibracijska matrika  </a:t>
            </a:r>
            <a:r>
              <a:rPr lang="sl-SI" altLang="en-US" sz="1800" b="1"/>
              <a:t>K</a:t>
            </a:r>
            <a:r>
              <a:rPr lang="sl-SI" altLang="en-US" sz="1800"/>
              <a:t>.</a:t>
            </a:r>
          </a:p>
          <a:p>
            <a:pPr eaLnBrk="1" hangingPunct="1">
              <a:spcBef>
                <a:spcPts val="600"/>
              </a:spcBef>
              <a:buFontTx/>
              <a:buAutoNum type="arabicPeriod"/>
            </a:pPr>
            <a:r>
              <a:rPr lang="sl-SI" altLang="en-US" sz="1800"/>
              <a:t>Položaj kamere za </a:t>
            </a:r>
            <a:r>
              <a:rPr lang="sl-SI" altLang="en-US" sz="1800" i="1"/>
              <a:t>j</a:t>
            </a:r>
            <a:r>
              <a:rPr lang="sl-SI" altLang="en-US" sz="1800"/>
              <a:t>-ti pogled določata matrika zasuka </a:t>
            </a:r>
            <a:r>
              <a:rPr lang="sl-SI" altLang="en-US" sz="1800" b="1"/>
              <a:t>R</a:t>
            </a:r>
            <a:r>
              <a:rPr lang="sl-SI" altLang="en-US" sz="1800" i="1" baseline="-25000"/>
              <a:t>j</a:t>
            </a:r>
            <a:r>
              <a:rPr lang="sl-SI" altLang="en-US" sz="1800"/>
              <a:t> in vektor premika </a:t>
            </a:r>
            <a:r>
              <a:rPr lang="sl-SI" altLang="en-US" sz="1800" b="1"/>
              <a:t>t</a:t>
            </a:r>
            <a:r>
              <a:rPr lang="sl-SI" altLang="en-US" sz="1800" i="1" baseline="-25000"/>
              <a:t>j</a:t>
            </a:r>
            <a:r>
              <a:rPr lang="sl-SI" altLang="en-US" sz="1800"/>
              <a:t>.</a:t>
            </a:r>
          </a:p>
          <a:p>
            <a:pPr eaLnBrk="1" hangingPunct="1">
              <a:spcBef>
                <a:spcPts val="600"/>
              </a:spcBef>
              <a:buFontTx/>
              <a:buAutoNum type="arabicPeriod"/>
            </a:pPr>
            <a:r>
              <a:rPr lang="sl-SI" altLang="en-US" sz="1800"/>
              <a:t>Istočasno želimo oceniti položaj točk </a:t>
            </a:r>
            <a:r>
              <a:rPr lang="sl-SI" altLang="en-US" sz="1800" b="1"/>
              <a:t>p</a:t>
            </a:r>
            <a:r>
              <a:rPr lang="sl-SI" altLang="en-US" sz="1800" i="1" baseline="-25000"/>
              <a:t>i</a:t>
            </a:r>
            <a:r>
              <a:rPr lang="sl-SI" altLang="en-US" sz="1800"/>
              <a:t> v prostoru (</a:t>
            </a:r>
            <a:r>
              <a:rPr lang="sl-SI" altLang="en-US" sz="1800">
                <a:solidFill>
                  <a:srgbClr val="0000FF"/>
                </a:solidFill>
              </a:rPr>
              <a:t>struktura</a:t>
            </a:r>
            <a:r>
              <a:rPr lang="sl-SI" altLang="en-US" sz="1800"/>
              <a:t>) in parametre kamere (</a:t>
            </a:r>
            <a:r>
              <a:rPr lang="sl-SI" altLang="en-US" sz="1800">
                <a:solidFill>
                  <a:srgbClr val="0000FF"/>
                </a:solidFill>
              </a:rPr>
              <a:t>gibanje</a:t>
            </a:r>
            <a:r>
              <a:rPr lang="sl-SI" altLang="en-US" sz="1800"/>
              <a:t>). Izhajamo iz naslednjih funkcijskih zvez:</a:t>
            </a:r>
          </a:p>
          <a:p>
            <a:pPr eaLnBrk="1" hangingPunct="1">
              <a:spcBef>
                <a:spcPts val="600"/>
              </a:spcBef>
              <a:buFontTx/>
              <a:buNone/>
            </a:pPr>
            <a:endParaRPr lang="sl-SI" altLang="en-US" sz="1800"/>
          </a:p>
        </p:txBody>
      </p:sp>
      <p:graphicFrame>
        <p:nvGraphicFramePr>
          <p:cNvPr id="289801" name="Object 9"/>
          <p:cNvGraphicFramePr>
            <a:graphicFrameLocks noChangeAspect="1"/>
          </p:cNvGraphicFramePr>
          <p:nvPr/>
        </p:nvGraphicFramePr>
        <p:xfrm>
          <a:off x="1089025" y="4914900"/>
          <a:ext cx="2722563" cy="990600"/>
        </p:xfrm>
        <a:graphic>
          <a:graphicData uri="http://schemas.openxmlformats.org/presentationml/2006/ole">
            <mc:AlternateContent xmlns:mc="http://schemas.openxmlformats.org/markup-compatibility/2006">
              <mc:Choice xmlns:v="urn:schemas-microsoft-com:vml" Requires="v">
                <p:oleObj spid="_x0000_s289861" name="Equation" r:id="rId6" imgW="1218671" imgH="444307" progId="Equation.3">
                  <p:embed/>
                </p:oleObj>
              </mc:Choice>
              <mc:Fallback>
                <p:oleObj name="Equation" r:id="rId6" imgW="1218671" imgH="444307"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9025" y="4914900"/>
                        <a:ext cx="2722563"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9802" name="Group 17"/>
          <p:cNvGrpSpPr>
            <a:grpSpLocks/>
          </p:cNvGrpSpPr>
          <p:nvPr/>
        </p:nvGrpSpPr>
        <p:grpSpPr bwMode="auto">
          <a:xfrm>
            <a:off x="3779838" y="5084763"/>
            <a:ext cx="4608512" cy="646112"/>
            <a:chOff x="3779912" y="5085184"/>
            <a:chExt cx="4608511" cy="646331"/>
          </a:xfrm>
        </p:grpSpPr>
        <p:sp>
          <p:nvSpPr>
            <p:cNvPr id="289803" name="TextBox 9"/>
            <p:cNvSpPr txBox="1">
              <a:spLocks noChangeArrowheads="1"/>
            </p:cNvSpPr>
            <p:nvPr/>
          </p:nvSpPr>
          <p:spPr bwMode="auto">
            <a:xfrm>
              <a:off x="4283968" y="5085184"/>
              <a:ext cx="41044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Funkcija </a:t>
              </a:r>
              <a:r>
                <a:rPr lang="sl-SI" altLang="en-US" sz="1800" i="1"/>
                <a:t>g</a:t>
              </a:r>
              <a:r>
                <a:rPr lang="sl-SI" altLang="en-US" sz="1800" i="1" baseline="-25000"/>
                <a:t>x</a:t>
              </a:r>
              <a:r>
                <a:rPr lang="sl-SI" altLang="en-US" sz="1800"/>
                <a:t> pomeni projekcijo točke </a:t>
              </a:r>
              <a:r>
                <a:rPr lang="sl-SI" altLang="en-US" sz="1800" b="1"/>
                <a:t>p</a:t>
              </a:r>
              <a:r>
                <a:rPr lang="sl-SI" altLang="en-US" sz="1800" i="1" baseline="-25000"/>
                <a:t>i </a:t>
              </a:r>
              <a:r>
                <a:rPr lang="sl-SI" altLang="en-US" sz="1800"/>
                <a:t>v smeri </a:t>
              </a:r>
              <a:r>
                <a:rPr lang="sl-SI" altLang="en-US" sz="1800" i="1"/>
                <a:t>x</a:t>
              </a:r>
              <a:r>
                <a:rPr lang="sl-SI" altLang="en-US" sz="1800"/>
                <a:t>, funkcija </a:t>
              </a:r>
              <a:r>
                <a:rPr lang="sl-SI" altLang="en-US" sz="1800" i="1"/>
                <a:t>g</a:t>
              </a:r>
              <a:r>
                <a:rPr lang="sl-SI" altLang="en-US" sz="1800" i="1" baseline="-25000"/>
                <a:t>y</a:t>
              </a:r>
              <a:r>
                <a:rPr lang="sl-SI" altLang="en-US" sz="1800" i="1"/>
                <a:t> </a:t>
              </a:r>
              <a:r>
                <a:rPr lang="sl-SI" altLang="en-US" sz="1800"/>
                <a:t>pa v smeri </a:t>
              </a:r>
              <a:r>
                <a:rPr lang="sl-SI" altLang="en-US" sz="1800" i="1"/>
                <a:t>y</a:t>
              </a:r>
              <a:endParaRPr lang="en-GB" altLang="en-US" sz="1800" i="1"/>
            </a:p>
          </p:txBody>
        </p:sp>
        <p:cxnSp>
          <p:nvCxnSpPr>
            <p:cNvPr id="12" name="Straight Arrow Connector 11"/>
            <p:cNvCxnSpPr/>
            <p:nvPr/>
          </p:nvCxnSpPr>
          <p:spPr>
            <a:xfrm flipH="1" flipV="1">
              <a:off x="3779912" y="5229695"/>
              <a:ext cx="576262" cy="215973"/>
            </a:xfrm>
            <a:prstGeom prst="straightConnector1">
              <a:avLst/>
            </a:prstGeom>
            <a:ln w="158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779912" y="5445668"/>
              <a:ext cx="576262" cy="215973"/>
            </a:xfrm>
            <a:prstGeom prst="straightConnector1">
              <a:avLst/>
            </a:prstGeom>
            <a:ln w="15875">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cove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918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E60E34B-7E1E-44AC-9DEE-B938D916CAC0}" type="slidenum">
              <a:rPr lang="en-GB" altLang="en-US" sz="1400" smtClean="0"/>
              <a:pPr>
                <a:spcBef>
                  <a:spcPct val="0"/>
                </a:spcBef>
                <a:buFontTx/>
                <a:buNone/>
              </a:pPr>
              <a:t>145</a:t>
            </a:fld>
            <a:endParaRPr lang="en-GB" altLang="en-US" sz="1400"/>
          </a:p>
        </p:txBody>
      </p:sp>
      <p:sp>
        <p:nvSpPr>
          <p:cNvPr id="291844"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STRUKTURA IZ GIBANJA – PROBLEM FAKTORIZACIJE</a:t>
            </a:r>
            <a:endParaRPr lang="en-GB" altLang="en-US" sz="2000"/>
          </a:p>
        </p:txBody>
      </p:sp>
      <p:sp>
        <p:nvSpPr>
          <p:cNvPr id="29184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9184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91847"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91885"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1848" name="TextBox 46"/>
          <p:cNvSpPr txBox="1">
            <a:spLocks noChangeArrowheads="1"/>
          </p:cNvSpPr>
          <p:nvPr/>
        </p:nvSpPr>
        <p:spPr bwMode="auto">
          <a:xfrm>
            <a:off x="684213" y="1217613"/>
            <a:ext cx="8135937"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Izhajamo iz togih  struktur (scene).</a:t>
            </a:r>
          </a:p>
          <a:p>
            <a:pPr eaLnBrk="1" hangingPunct="1">
              <a:spcBef>
                <a:spcPts val="600"/>
              </a:spcBef>
              <a:buFontTx/>
              <a:buAutoNum type="arabicPeriod"/>
            </a:pPr>
            <a:r>
              <a:rPr lang="sl-SI" altLang="en-US" sz="1800"/>
              <a:t>3D-točke projiciramo na </a:t>
            </a:r>
            <a:r>
              <a:rPr lang="sl-SI" altLang="en-US" sz="1800" i="1"/>
              <a:t>j</a:t>
            </a:r>
            <a:r>
              <a:rPr lang="sl-SI" altLang="en-US" sz="1800"/>
              <a:t>-to sliko s projekcijsko matriko </a:t>
            </a:r>
            <a:r>
              <a:rPr lang="sl-SI" altLang="en-US" sz="1800" b="1"/>
              <a:t>M</a:t>
            </a:r>
            <a:r>
              <a:rPr lang="sl-SI" altLang="en-US" sz="1800" i="1" baseline="-25000"/>
              <a:t>j</a:t>
            </a:r>
            <a:r>
              <a:rPr lang="sl-SI" altLang="en-US" sz="1800"/>
              <a:t>:</a:t>
            </a:r>
          </a:p>
          <a:p>
            <a:pPr eaLnBrk="1" hangingPunct="1">
              <a:spcBef>
                <a:spcPts val="600"/>
              </a:spcBef>
              <a:buFontTx/>
              <a:buNone/>
            </a:pPr>
            <a:r>
              <a:rPr lang="sl-SI" altLang="en-US" sz="1800"/>
              <a:t>		</a:t>
            </a:r>
            <a:r>
              <a:rPr lang="sl-SI" altLang="en-US" sz="1800" b="1"/>
              <a:t>p</a:t>
            </a:r>
            <a:r>
              <a:rPr lang="sl-SI" altLang="en-US" sz="1800" i="1" baseline="-25000"/>
              <a:t>sj,i</a:t>
            </a:r>
            <a:r>
              <a:rPr lang="sl-SI" altLang="en-US" sz="1800"/>
              <a:t> = </a:t>
            </a:r>
            <a:r>
              <a:rPr lang="sl-SI" altLang="en-US" sz="1800" b="1"/>
              <a:t>M</a:t>
            </a:r>
            <a:r>
              <a:rPr lang="sl-SI" altLang="en-US" sz="1800" i="1" baseline="-25000"/>
              <a:t>j</a:t>
            </a:r>
            <a:r>
              <a:rPr lang="sl-SI" altLang="en-US" sz="1800" b="1"/>
              <a:t>p</a:t>
            </a:r>
            <a:r>
              <a:rPr lang="sl-SI" altLang="en-US" sz="1800" i="1" baseline="-25000"/>
              <a:t>i</a:t>
            </a:r>
            <a:r>
              <a:rPr lang="sl-SI" altLang="en-US" sz="1800"/>
              <a:t> = </a:t>
            </a:r>
            <a:r>
              <a:rPr lang="sl-SI" altLang="en-US" sz="1800" b="1"/>
              <a:t>K</a:t>
            </a:r>
            <a:r>
              <a:rPr lang="sl-SI" altLang="en-US" sz="1800"/>
              <a:t>[</a:t>
            </a:r>
            <a:r>
              <a:rPr lang="sl-SI" altLang="en-US" sz="1800" b="1"/>
              <a:t>R</a:t>
            </a:r>
            <a:r>
              <a:rPr lang="sl-SI" altLang="en-US" sz="1800" i="1" baseline="-25000"/>
              <a:t>j</a:t>
            </a:r>
            <a:r>
              <a:rPr lang="sl-SI" altLang="en-US" sz="1800"/>
              <a:t>  </a:t>
            </a:r>
            <a:r>
              <a:rPr lang="sl-SI" altLang="en-US" sz="1800" b="1"/>
              <a:t>t</a:t>
            </a:r>
            <a:r>
              <a:rPr lang="sl-SI" altLang="en-US" sz="1800" i="1" baseline="-25000"/>
              <a:t>j</a:t>
            </a:r>
            <a:r>
              <a:rPr lang="sl-SI" altLang="en-US" sz="1800"/>
              <a:t>]</a:t>
            </a:r>
            <a:r>
              <a:rPr lang="sl-SI" altLang="en-US" sz="1800" b="1"/>
              <a:t>p</a:t>
            </a:r>
            <a:r>
              <a:rPr lang="sl-SI" altLang="en-US" sz="1800" i="1" baseline="-25000"/>
              <a:t>i</a:t>
            </a:r>
            <a:r>
              <a:rPr lang="sl-SI" altLang="en-US" sz="1800"/>
              <a:t> ; </a:t>
            </a:r>
            <a:r>
              <a:rPr lang="sl-SI" altLang="en-US" sz="1800" b="1"/>
              <a:t>p</a:t>
            </a:r>
            <a:r>
              <a:rPr lang="sl-SI" altLang="en-US" sz="1800" i="1" baseline="-25000"/>
              <a:t>i</a:t>
            </a:r>
            <a:r>
              <a:rPr lang="sl-SI" altLang="en-US" sz="1800"/>
              <a:t> =(</a:t>
            </a:r>
            <a:r>
              <a:rPr lang="sl-SI" altLang="en-US" sz="1800" i="1"/>
              <a:t>x</a:t>
            </a:r>
            <a:r>
              <a:rPr lang="sl-SI" altLang="en-US" sz="1800" i="1" baseline="-25000"/>
              <a:t>i</a:t>
            </a:r>
            <a:r>
              <a:rPr lang="sl-SI" altLang="en-US" sz="1800"/>
              <a:t>, </a:t>
            </a:r>
            <a:r>
              <a:rPr lang="sl-SI" altLang="en-US" sz="1800" i="1"/>
              <a:t>y</a:t>
            </a:r>
            <a:r>
              <a:rPr lang="sl-SI" altLang="en-US" sz="1800" i="1" baseline="-25000"/>
              <a:t>i</a:t>
            </a:r>
            <a:r>
              <a:rPr lang="sl-SI" altLang="en-US" sz="1800"/>
              <a:t>, </a:t>
            </a:r>
            <a:r>
              <a:rPr lang="sl-SI" altLang="en-US" sz="1800" i="1"/>
              <a:t>z</a:t>
            </a:r>
            <a:r>
              <a:rPr lang="sl-SI" altLang="en-US" sz="1800" i="1" baseline="-25000"/>
              <a:t>i</a:t>
            </a:r>
            <a:r>
              <a:rPr lang="sl-SI" altLang="en-US" sz="1800"/>
              <a:t>, 1)</a:t>
            </a:r>
            <a:r>
              <a:rPr lang="sl-SI" altLang="en-US" sz="1800" i="1" baseline="30000"/>
              <a:t>T</a:t>
            </a:r>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600"/>
              </a:spcBef>
              <a:buFontTx/>
              <a:buAutoNum type="arabicPeriod" startAt="3"/>
            </a:pPr>
            <a:r>
              <a:rPr lang="sl-SI" altLang="en-US" sz="1800"/>
              <a:t>S faktorizacijo skušamo ločiti strukturo od gibanja.</a:t>
            </a:r>
          </a:p>
        </p:txBody>
      </p:sp>
      <p:grpSp>
        <p:nvGrpSpPr>
          <p:cNvPr id="291849" name="Group 22"/>
          <p:cNvGrpSpPr>
            <a:grpSpLocks/>
          </p:cNvGrpSpPr>
          <p:nvPr/>
        </p:nvGrpSpPr>
        <p:grpSpPr bwMode="auto">
          <a:xfrm>
            <a:off x="1263650" y="1916113"/>
            <a:ext cx="3556000" cy="946150"/>
            <a:chOff x="726584" y="1916832"/>
            <a:chExt cx="3557384" cy="945396"/>
          </a:xfrm>
        </p:grpSpPr>
        <p:sp>
          <p:nvSpPr>
            <p:cNvPr id="15" name="Right Brace 14"/>
            <p:cNvSpPr/>
            <p:nvPr/>
          </p:nvSpPr>
          <p:spPr>
            <a:xfrm>
              <a:off x="2667540" y="2028596"/>
              <a:ext cx="155448" cy="698376"/>
            </a:xfrm>
            <a:prstGeom prst="rightBrace">
              <a:avLst/>
            </a:prstGeom>
            <a:ln w="19050">
              <a:solidFill>
                <a:srgbClr val="0000FF"/>
              </a:solidFill>
            </a:ln>
            <a:scene3d>
              <a:camera prst="orthographicFront">
                <a:rot lat="0" lon="0" rev="16200000"/>
              </a:camera>
              <a:lightRig rig="threePt" dir="t"/>
            </a:scene3d>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291855" name="TextBox 15"/>
            <p:cNvSpPr txBox="1">
              <a:spLocks noChangeArrowheads="1"/>
            </p:cNvSpPr>
            <p:nvPr/>
          </p:nvSpPr>
          <p:spPr bwMode="auto">
            <a:xfrm>
              <a:off x="726584" y="2492896"/>
              <a:ext cx="35573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Faktorizacija: </a:t>
              </a:r>
              <a:r>
                <a:rPr lang="sl-SI" altLang="en-US" sz="1800">
                  <a:solidFill>
                    <a:srgbClr val="0000FF"/>
                  </a:solidFill>
                </a:rPr>
                <a:t>gibanje</a:t>
              </a:r>
              <a:r>
                <a:rPr lang="sl-SI" altLang="en-US" sz="1800"/>
                <a:t> in </a:t>
              </a:r>
              <a:r>
                <a:rPr lang="sl-SI" altLang="en-US" sz="1800">
                  <a:solidFill>
                    <a:srgbClr val="FF9933"/>
                  </a:solidFill>
                </a:rPr>
                <a:t>struktura</a:t>
              </a:r>
              <a:endParaRPr lang="en-GB" altLang="en-US" sz="1800">
                <a:solidFill>
                  <a:srgbClr val="FF9933"/>
                </a:solidFill>
              </a:endParaRPr>
            </a:p>
          </p:txBody>
        </p:sp>
        <p:sp>
          <p:nvSpPr>
            <p:cNvPr id="17" name="Oval 16"/>
            <p:cNvSpPr/>
            <p:nvPr/>
          </p:nvSpPr>
          <p:spPr>
            <a:xfrm>
              <a:off x="3059530" y="1916832"/>
              <a:ext cx="289037" cy="360075"/>
            </a:xfrm>
            <a:prstGeom prst="ellipse">
              <a:avLst/>
            </a:prstGeom>
            <a:no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21" name="Straight Arrow Connector 20"/>
            <p:cNvCxnSpPr>
              <a:endCxn id="17" idx="5"/>
            </p:cNvCxnSpPr>
            <p:nvPr/>
          </p:nvCxnSpPr>
          <p:spPr>
            <a:xfrm flipH="1" flipV="1">
              <a:off x="3305687" y="2224562"/>
              <a:ext cx="258864" cy="341040"/>
            </a:xfrm>
            <a:prstGeom prst="straightConnector1">
              <a:avLst/>
            </a:prstGeom>
            <a:ln w="19050">
              <a:solidFill>
                <a:srgbClr val="FF9933"/>
              </a:solidFill>
              <a:tailEnd type="arrow"/>
            </a:ln>
          </p:spPr>
          <p:style>
            <a:lnRef idx="1">
              <a:schemeClr val="accent1"/>
            </a:lnRef>
            <a:fillRef idx="0">
              <a:schemeClr val="accent1"/>
            </a:fillRef>
            <a:effectRef idx="0">
              <a:schemeClr val="accent1"/>
            </a:effectRef>
            <a:fontRef idx="minor">
              <a:schemeClr val="tx1"/>
            </a:fontRef>
          </p:style>
        </p:cxnSp>
      </p:grpSp>
      <p:sp>
        <p:nvSpPr>
          <p:cNvPr id="291850" name="TextBox 25"/>
          <p:cNvSpPr txBox="1">
            <a:spLocks noChangeArrowheads="1"/>
          </p:cNvSpPr>
          <p:nvPr/>
        </p:nvSpPr>
        <p:spPr bwMode="auto">
          <a:xfrm>
            <a:off x="684213" y="3349625"/>
            <a:ext cx="4608512" cy="26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startAt="4"/>
            </a:pPr>
            <a:r>
              <a:rPr lang="sl-SI" altLang="en-US" sz="1800"/>
              <a:t>V splošnem potrebujemo nelinearne in iterativne pristope, linearni  izračun je možen le ob določenih omejitvah.</a:t>
            </a:r>
          </a:p>
          <a:p>
            <a:pPr eaLnBrk="1" hangingPunct="1">
              <a:spcBef>
                <a:spcPts val="600"/>
              </a:spcBef>
              <a:buFontTx/>
              <a:buAutoNum type="arabicPeriod" startAt="4"/>
            </a:pPr>
            <a:r>
              <a:rPr lang="sl-SI" altLang="en-US" sz="1800"/>
              <a:t>Znana je metoda Tomasi-Kanade, ki linearizira  problem faktorizacije tako, da vzame namesto splošne projekcijske kamere ortografsko (pravokotno) projekcijo – omejitev na zelo veliko goriščno razdaljo oz. oddaljene scene.</a:t>
            </a:r>
          </a:p>
        </p:txBody>
      </p:sp>
      <p:grpSp>
        <p:nvGrpSpPr>
          <p:cNvPr id="291851" name="Group 27"/>
          <p:cNvGrpSpPr>
            <a:grpSpLocks/>
          </p:cNvGrpSpPr>
          <p:nvPr/>
        </p:nvGrpSpPr>
        <p:grpSpPr bwMode="auto">
          <a:xfrm>
            <a:off x="5508625" y="3284538"/>
            <a:ext cx="3167063" cy="3125787"/>
            <a:chOff x="5508104" y="3284983"/>
            <a:chExt cx="3168352" cy="3125343"/>
          </a:xfrm>
        </p:grpSpPr>
        <p:pic>
          <p:nvPicPr>
            <p:cNvPr id="2918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104" y="3284983"/>
              <a:ext cx="3168352" cy="3125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853" name="TextBox 26"/>
            <p:cNvSpPr txBox="1">
              <a:spLocks noChangeArrowheads="1"/>
            </p:cNvSpPr>
            <p:nvPr/>
          </p:nvSpPr>
          <p:spPr bwMode="auto">
            <a:xfrm>
              <a:off x="6012160" y="6021288"/>
              <a:ext cx="1440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f</a:t>
              </a:r>
              <a:endParaRPr lang="en-GB" altLang="en-US" sz="1800" i="1"/>
            </a:p>
          </p:txBody>
        </p:sp>
      </p:grpSp>
    </p:spTree>
  </p:cSld>
  <p:clrMapOvr>
    <a:masterClrMapping/>
  </p:clrMapOvr>
  <p:transition>
    <p:cove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938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D6388C5-A7B8-4238-B248-E7D704DA6155}" type="slidenum">
              <a:rPr lang="en-GB" altLang="en-US" sz="1400" smtClean="0"/>
              <a:pPr>
                <a:spcBef>
                  <a:spcPct val="0"/>
                </a:spcBef>
                <a:buFontTx/>
                <a:buNone/>
              </a:pPr>
              <a:t>146</a:t>
            </a:fld>
            <a:endParaRPr lang="en-GB" altLang="en-US" sz="1400"/>
          </a:p>
        </p:txBody>
      </p:sp>
      <p:sp>
        <p:nvSpPr>
          <p:cNvPr id="293892"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STRUKTURA IZ GIBANJA – FAKTORIZACIJA PO TOMASI-KANADEJU</a:t>
            </a:r>
            <a:endParaRPr lang="en-GB" altLang="en-US" sz="2000"/>
          </a:p>
        </p:txBody>
      </p:sp>
      <p:sp>
        <p:nvSpPr>
          <p:cNvPr id="29389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9389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9389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93980"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3896" name="TextBox 46"/>
          <p:cNvSpPr txBox="1">
            <a:spLocks noChangeArrowheads="1"/>
          </p:cNvSpPr>
          <p:nvPr/>
        </p:nvSpPr>
        <p:spPr bwMode="auto">
          <a:xfrm>
            <a:off x="684213" y="1144588"/>
            <a:ext cx="8135937" cy="515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Pri ortografski kameri ima kalibracijska matrika naslednjo obliko:</a:t>
            </a:r>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1200"/>
              </a:spcBef>
              <a:buFontTx/>
              <a:buAutoNum type="arabicPeriod"/>
            </a:pPr>
            <a:r>
              <a:rPr lang="sl-SI" altLang="en-US" sz="1800"/>
              <a:t>Zato lahko posnetek </a:t>
            </a:r>
            <a:r>
              <a:rPr lang="sl-SI" altLang="en-US" sz="1800" i="1"/>
              <a:t>i</a:t>
            </a:r>
            <a:r>
              <a:rPr lang="sl-SI" altLang="en-US" sz="1800"/>
              <a:t>-te točke  z </a:t>
            </a:r>
            <a:r>
              <a:rPr lang="sl-SI" altLang="en-US" sz="1800" i="1"/>
              <a:t>j</a:t>
            </a:r>
            <a:r>
              <a:rPr lang="sl-SI" altLang="en-US" sz="1800"/>
              <a:t>-to kamero zapišemo kot:</a:t>
            </a:r>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600"/>
              </a:spcBef>
              <a:buFontTx/>
              <a:buAutoNum type="arabicPeriod"/>
            </a:pPr>
            <a:r>
              <a:rPr lang="sl-SI" altLang="en-US" sz="1800"/>
              <a:t>Iz matrik zasuka sta ostali prisotni samo prvi dve vrstici – kljub temu jih še naprej označujmo z </a:t>
            </a:r>
            <a:r>
              <a:rPr lang="sl-SI" altLang="en-US" sz="1800" b="1"/>
              <a:t>R</a:t>
            </a:r>
            <a:r>
              <a:rPr lang="sl-SI" altLang="en-US" sz="1800" i="1" baseline="-25000"/>
              <a:t>j</a:t>
            </a:r>
          </a:p>
        </p:txBody>
      </p:sp>
      <p:graphicFrame>
        <p:nvGraphicFramePr>
          <p:cNvPr id="293897" name="Object 4"/>
          <p:cNvGraphicFramePr>
            <a:graphicFrameLocks noChangeAspect="1"/>
          </p:cNvGraphicFramePr>
          <p:nvPr/>
        </p:nvGraphicFramePr>
        <p:xfrm>
          <a:off x="1143000" y="1549400"/>
          <a:ext cx="1795463" cy="842963"/>
        </p:xfrm>
        <a:graphic>
          <a:graphicData uri="http://schemas.openxmlformats.org/presentationml/2006/ole">
            <mc:AlternateContent xmlns:mc="http://schemas.openxmlformats.org/markup-compatibility/2006">
              <mc:Choice xmlns:v="urn:schemas-microsoft-com:vml" Requires="v">
                <p:oleObj spid="_x0000_s293981" name="Equation" r:id="rId6" imgW="837836" imgH="393529" progId="Equation.DSMT4">
                  <p:embed/>
                </p:oleObj>
              </mc:Choice>
              <mc:Fallback>
                <p:oleObj name="Equation" r:id="rId6" imgW="837836" imgH="393529"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1549400"/>
                        <a:ext cx="1795463" cy="842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3898" name="Object 5"/>
          <p:cNvGraphicFramePr>
            <a:graphicFrameLocks noChangeAspect="1"/>
          </p:cNvGraphicFramePr>
          <p:nvPr/>
        </p:nvGraphicFramePr>
        <p:xfrm>
          <a:off x="1125538" y="2646363"/>
          <a:ext cx="4270375" cy="3014662"/>
        </p:xfrm>
        <a:graphic>
          <a:graphicData uri="http://schemas.openxmlformats.org/presentationml/2006/ole">
            <mc:AlternateContent xmlns:mc="http://schemas.openxmlformats.org/markup-compatibility/2006">
              <mc:Choice xmlns:v="urn:schemas-microsoft-com:vml" Requires="v">
                <p:oleObj spid="_x0000_s293982" name="Equation" r:id="rId8" imgW="1993900" imgH="1409700" progId="Equation.3">
                  <p:embed/>
                </p:oleObj>
              </mc:Choice>
              <mc:Fallback>
                <p:oleObj name="Equation" r:id="rId8" imgW="1993900" imgH="14097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5538" y="2646363"/>
                        <a:ext cx="4270375" cy="301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959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D669676-BA38-4301-8F09-EFF086EDD0F8}" type="slidenum">
              <a:rPr lang="en-GB" altLang="en-US" sz="1400" smtClean="0"/>
              <a:pPr>
                <a:spcBef>
                  <a:spcPct val="0"/>
                </a:spcBef>
                <a:buFontTx/>
                <a:buNone/>
              </a:pPr>
              <a:t>147</a:t>
            </a:fld>
            <a:endParaRPr lang="en-GB" altLang="en-US" sz="1400"/>
          </a:p>
        </p:txBody>
      </p:sp>
      <p:sp>
        <p:nvSpPr>
          <p:cNvPr id="295940"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STRUKTURA IZ GIBANJA – FAKTORIZACIJA PO TOMASI-KANADEJU (2)</a:t>
            </a:r>
            <a:endParaRPr lang="en-GB" altLang="en-US" sz="2000"/>
          </a:p>
        </p:txBody>
      </p:sp>
      <p:sp>
        <p:nvSpPr>
          <p:cNvPr id="29594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9594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95943"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96000"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5944" name="TextBox 46"/>
          <p:cNvSpPr txBox="1">
            <a:spLocks noChangeArrowheads="1"/>
          </p:cNvSpPr>
          <p:nvPr/>
        </p:nvSpPr>
        <p:spPr bwMode="auto">
          <a:xfrm>
            <a:off x="684213" y="1217613"/>
            <a:ext cx="8135937" cy="540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Če imamo </a:t>
            </a:r>
            <a:r>
              <a:rPr lang="sl-SI" altLang="en-US" sz="1800" i="1"/>
              <a:t>M</a:t>
            </a:r>
            <a:r>
              <a:rPr lang="sl-SI" altLang="en-US" sz="1800"/>
              <a:t> slik iste scene in na vsaki </a:t>
            </a:r>
            <a:r>
              <a:rPr lang="sl-SI" altLang="en-US" sz="1800" i="1"/>
              <a:t>N </a:t>
            </a:r>
            <a:r>
              <a:rPr lang="sl-SI" altLang="en-US" sz="1800"/>
              <a:t>korespondenčnih točk, velja:</a:t>
            </a:r>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ts val="600"/>
              </a:spcBef>
              <a:buFontTx/>
              <a:buAutoNum type="arabicPeriod"/>
            </a:pPr>
            <a:r>
              <a:rPr lang="sl-SI" altLang="en-US" sz="1800"/>
              <a:t>Sedaj uporabimo trik: za vse točke iste slike, tj. {</a:t>
            </a:r>
            <a:r>
              <a:rPr lang="sl-SI" altLang="en-US" sz="1800" b="1"/>
              <a:t>p</a:t>
            </a:r>
            <a:r>
              <a:rPr lang="sl-SI" altLang="en-US" sz="1800" i="1" baseline="-25000"/>
              <a:t>sj,i</a:t>
            </a:r>
            <a:r>
              <a:rPr lang="sl-SI" altLang="en-US" sz="1800"/>
              <a:t>;  </a:t>
            </a:r>
            <a:r>
              <a:rPr lang="sl-SI" altLang="en-US" sz="1800" i="1"/>
              <a:t>i </a:t>
            </a:r>
            <a:r>
              <a:rPr lang="sl-SI" altLang="en-US" sz="1800"/>
              <a:t>= 1, …, </a:t>
            </a:r>
            <a:r>
              <a:rPr lang="sl-SI" altLang="en-US" sz="1800" i="1"/>
              <a:t>N</a:t>
            </a:r>
            <a:r>
              <a:rPr lang="sl-SI" altLang="en-US" sz="1800"/>
              <a:t>}, izračunamo povprečje koordinat in ga odštejemo od koordinat pri vsaki točki. </a:t>
            </a:r>
          </a:p>
          <a:p>
            <a:pPr eaLnBrk="1" hangingPunct="1">
              <a:spcBef>
                <a:spcPts val="600"/>
              </a:spcBef>
              <a:buFontTx/>
              <a:buAutoNum type="arabicPeriod"/>
            </a:pPr>
            <a:r>
              <a:rPr lang="sl-SI" altLang="en-US" sz="1800"/>
              <a:t>S tem slike poravnamo in se znebimo premika med njimi (</a:t>
            </a:r>
            <a:r>
              <a:rPr lang="sl-SI" altLang="en-US" sz="1800" b="1"/>
              <a:t>t</a:t>
            </a:r>
            <a:r>
              <a:rPr lang="sl-SI" altLang="en-US" sz="1800" i="1"/>
              <a:t>j</a:t>
            </a:r>
            <a:r>
              <a:rPr lang="sl-SI" altLang="en-US" sz="1800"/>
              <a:t>).</a:t>
            </a:r>
          </a:p>
          <a:p>
            <a:pPr eaLnBrk="1" hangingPunct="1">
              <a:spcBef>
                <a:spcPts val="600"/>
              </a:spcBef>
              <a:buFontTx/>
              <a:buAutoNum type="arabicPeriod"/>
            </a:pPr>
            <a:r>
              <a:rPr lang="sl-SI" altLang="en-US" sz="1800"/>
              <a:t>Hkrati pa postavimo izhodišče svetovnega koordinatnega sistema v aritmetično sredino (povprečje) vseh 3D-točk </a:t>
            </a:r>
            <a:r>
              <a:rPr lang="sl-SI" altLang="en-US" sz="1800" b="1"/>
              <a:t>p</a:t>
            </a:r>
            <a:r>
              <a:rPr lang="sl-SI" altLang="en-US" sz="1800" i="1" baseline="-25000"/>
              <a:t>i</a:t>
            </a:r>
            <a:r>
              <a:rPr lang="sl-SI" altLang="en-US" sz="1800"/>
              <a:t>; </a:t>
            </a:r>
            <a:r>
              <a:rPr lang="sl-SI" altLang="en-US" sz="1800" i="1"/>
              <a:t>i </a:t>
            </a:r>
            <a:r>
              <a:rPr lang="sl-SI" altLang="en-US" sz="1800"/>
              <a:t>= 1, …, </a:t>
            </a:r>
            <a:r>
              <a:rPr lang="sl-SI" altLang="en-US" sz="1800" i="1"/>
              <a:t>N</a:t>
            </a:r>
            <a:r>
              <a:rPr lang="sl-SI" altLang="en-US" sz="1800"/>
              <a:t>.</a:t>
            </a:r>
          </a:p>
          <a:p>
            <a:pPr eaLnBrk="1" hangingPunct="1">
              <a:spcBef>
                <a:spcPts val="600"/>
              </a:spcBef>
              <a:buFontTx/>
              <a:buAutoNum type="arabicPeriod"/>
            </a:pPr>
            <a:r>
              <a:rPr lang="sl-SI" altLang="en-US" sz="1800"/>
              <a:t>Na ta način dobimo:</a:t>
            </a:r>
          </a:p>
          <a:p>
            <a:pPr eaLnBrk="1" hangingPunct="1">
              <a:spcBef>
                <a:spcPts val="600"/>
              </a:spcBef>
              <a:buFontTx/>
              <a:buNone/>
            </a:pPr>
            <a:r>
              <a:rPr lang="sl-SI" altLang="en-US" sz="1800"/>
              <a:t>	</a:t>
            </a:r>
            <a:r>
              <a:rPr lang="sl-SI" altLang="en-US" sz="1800" b="1"/>
              <a:t>W</a:t>
            </a:r>
            <a:r>
              <a:rPr lang="sl-SI" altLang="en-US" sz="1800"/>
              <a:t> = </a:t>
            </a:r>
            <a:r>
              <a:rPr lang="sl-SI" altLang="en-US" sz="1800" b="1"/>
              <a:t>R</a:t>
            </a:r>
            <a:r>
              <a:rPr lang="sl-SI" altLang="en-US" sz="1800"/>
              <a:t>∙</a:t>
            </a:r>
            <a:r>
              <a:rPr lang="sl-SI" altLang="en-US" sz="1800" b="1"/>
              <a:t>S</a:t>
            </a:r>
          </a:p>
          <a:p>
            <a:pPr eaLnBrk="1" hangingPunct="1">
              <a:spcBef>
                <a:spcPts val="1200"/>
              </a:spcBef>
              <a:buFontTx/>
              <a:buAutoNum type="arabicPeriod"/>
            </a:pPr>
            <a:endParaRPr lang="sl-SI" altLang="en-US" sz="1800"/>
          </a:p>
        </p:txBody>
      </p:sp>
      <p:graphicFrame>
        <p:nvGraphicFramePr>
          <p:cNvPr id="295945" name="Object 3"/>
          <p:cNvGraphicFramePr>
            <a:graphicFrameLocks noChangeAspect="1"/>
          </p:cNvGraphicFramePr>
          <p:nvPr/>
        </p:nvGraphicFramePr>
        <p:xfrm>
          <a:off x="1069975" y="1557338"/>
          <a:ext cx="7318375" cy="1768475"/>
        </p:xfrm>
        <a:graphic>
          <a:graphicData uri="http://schemas.openxmlformats.org/presentationml/2006/ole">
            <mc:AlternateContent xmlns:mc="http://schemas.openxmlformats.org/markup-compatibility/2006">
              <mc:Choice xmlns:v="urn:schemas-microsoft-com:vml" Requires="v">
                <p:oleObj spid="_x0000_s296001" name="Equation" r:id="rId6" imgW="3416300" imgH="825500" progId="Equation.3">
                  <p:embed/>
                </p:oleObj>
              </mc:Choice>
              <mc:Fallback>
                <p:oleObj name="Equation" r:id="rId6" imgW="3416300" imgH="8255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9975" y="1557338"/>
                        <a:ext cx="7318375" cy="176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29798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A29F008-44BB-4085-A868-A8AFAE196370}" type="slidenum">
              <a:rPr lang="en-GB" altLang="en-US" sz="1400" smtClean="0"/>
              <a:pPr>
                <a:spcBef>
                  <a:spcPct val="0"/>
                </a:spcBef>
                <a:buFontTx/>
                <a:buNone/>
              </a:pPr>
              <a:t>148</a:t>
            </a:fld>
            <a:endParaRPr lang="en-GB" altLang="en-US" sz="1400"/>
          </a:p>
        </p:txBody>
      </p:sp>
      <p:sp>
        <p:nvSpPr>
          <p:cNvPr id="297988"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STRUKTURA IZ GIBANJA – FAKTORIZACIJA PO TOMASI-KANADEJU (3)</a:t>
            </a:r>
            <a:endParaRPr lang="en-GB" altLang="en-US" sz="2000"/>
          </a:p>
        </p:txBody>
      </p:sp>
      <p:sp>
        <p:nvSpPr>
          <p:cNvPr id="29798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29799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297991"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298037"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7992" name="Group 20"/>
          <p:cNvGrpSpPr>
            <a:grpSpLocks/>
          </p:cNvGrpSpPr>
          <p:nvPr/>
        </p:nvGrpSpPr>
        <p:grpSpPr bwMode="auto">
          <a:xfrm>
            <a:off x="363538" y="1196975"/>
            <a:ext cx="8312150" cy="4824413"/>
            <a:chOff x="251520" y="1052736"/>
            <a:chExt cx="8312153" cy="4824536"/>
          </a:xfrm>
        </p:grpSpPr>
        <p:grpSp>
          <p:nvGrpSpPr>
            <p:cNvPr id="298004" name="Group 17"/>
            <p:cNvGrpSpPr>
              <a:grpSpLocks/>
            </p:cNvGrpSpPr>
            <p:nvPr/>
          </p:nvGrpSpPr>
          <p:grpSpPr bwMode="auto">
            <a:xfrm>
              <a:off x="251520" y="1052736"/>
              <a:ext cx="8312153" cy="4824536"/>
              <a:chOff x="251520" y="1052736"/>
              <a:chExt cx="8312153" cy="4824536"/>
            </a:xfrm>
          </p:grpSpPr>
          <p:pic>
            <p:nvPicPr>
              <p:cNvPr id="298007"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520" y="1052736"/>
                <a:ext cx="8312153"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8008" name="Picture 14" descr="Picture3.pn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499992" y="3429000"/>
                <a:ext cx="3888432" cy="24285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98009" name="Picture 15" descr="Picture1.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491880" y="1124744"/>
                <a:ext cx="2198198" cy="128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98010" name="TextBox 16"/>
              <p:cNvSpPr txBox="1">
                <a:spLocks noChangeArrowheads="1"/>
              </p:cNvSpPr>
              <p:nvPr/>
            </p:nvSpPr>
            <p:spPr bwMode="auto">
              <a:xfrm>
                <a:off x="667542" y="3160846"/>
                <a:ext cx="356188"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i="1"/>
                  <a:t>M</a:t>
                </a:r>
                <a:endParaRPr lang="en-GB" altLang="en-US" sz="1600" i="1"/>
              </a:p>
            </p:txBody>
          </p:sp>
        </p:grpSp>
        <p:sp>
          <p:nvSpPr>
            <p:cNvPr id="19" name="Rectangle 18"/>
            <p:cNvSpPr/>
            <p:nvPr/>
          </p:nvSpPr>
          <p:spPr>
            <a:xfrm>
              <a:off x="4067871" y="1184502"/>
              <a:ext cx="360362" cy="11525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0" name="Rectangle 19"/>
            <p:cNvSpPr/>
            <p:nvPr/>
          </p:nvSpPr>
          <p:spPr>
            <a:xfrm>
              <a:off x="5364859" y="3573750"/>
              <a:ext cx="719138" cy="21590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grpSp>
        <p:nvGrpSpPr>
          <p:cNvPr id="4" name="Group 31"/>
          <p:cNvGrpSpPr>
            <a:grpSpLocks/>
          </p:cNvGrpSpPr>
          <p:nvPr/>
        </p:nvGrpSpPr>
        <p:grpSpPr bwMode="auto">
          <a:xfrm>
            <a:off x="449263" y="1196975"/>
            <a:ext cx="8154987" cy="4824413"/>
            <a:chOff x="467544" y="1052736"/>
            <a:chExt cx="8010530" cy="4891848"/>
          </a:xfrm>
        </p:grpSpPr>
        <p:grpSp>
          <p:nvGrpSpPr>
            <p:cNvPr id="297994" name="Group 29"/>
            <p:cNvGrpSpPr>
              <a:grpSpLocks/>
            </p:cNvGrpSpPr>
            <p:nvPr/>
          </p:nvGrpSpPr>
          <p:grpSpPr bwMode="auto">
            <a:xfrm>
              <a:off x="467544" y="1052736"/>
              <a:ext cx="8010530" cy="4891848"/>
              <a:chOff x="467544" y="1052736"/>
              <a:chExt cx="8010530" cy="4891848"/>
            </a:xfrm>
          </p:grpSpPr>
          <p:grpSp>
            <p:nvGrpSpPr>
              <p:cNvPr id="297996" name="Group 27"/>
              <p:cNvGrpSpPr>
                <a:grpSpLocks/>
              </p:cNvGrpSpPr>
              <p:nvPr/>
            </p:nvGrpSpPr>
            <p:grpSpPr bwMode="auto">
              <a:xfrm>
                <a:off x="467544" y="1052736"/>
                <a:ext cx="8010530" cy="4891848"/>
                <a:chOff x="467544" y="1052736"/>
                <a:chExt cx="8010530" cy="4891848"/>
              </a:xfrm>
            </p:grpSpPr>
            <p:grpSp>
              <p:nvGrpSpPr>
                <p:cNvPr id="297998" name="Group 25"/>
                <p:cNvGrpSpPr>
                  <a:grpSpLocks/>
                </p:cNvGrpSpPr>
                <p:nvPr/>
              </p:nvGrpSpPr>
              <p:grpSpPr bwMode="auto">
                <a:xfrm>
                  <a:off x="467544" y="1052736"/>
                  <a:ext cx="7765784" cy="4588873"/>
                  <a:chOff x="395536" y="2924944"/>
                  <a:chExt cx="7765784" cy="4588873"/>
                </a:xfrm>
              </p:grpSpPr>
              <p:grpSp>
                <p:nvGrpSpPr>
                  <p:cNvPr id="298000" name="Group 23"/>
                  <p:cNvGrpSpPr>
                    <a:grpSpLocks/>
                  </p:cNvGrpSpPr>
                  <p:nvPr/>
                </p:nvGrpSpPr>
                <p:grpSpPr bwMode="auto">
                  <a:xfrm>
                    <a:off x="395536" y="2924944"/>
                    <a:ext cx="7765784" cy="4588873"/>
                    <a:chOff x="8316416" y="1576430"/>
                    <a:chExt cx="7765784" cy="4588873"/>
                  </a:xfrm>
                </p:grpSpPr>
                <p:pic>
                  <p:nvPicPr>
                    <p:cNvPr id="298002"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16416" y="1576430"/>
                      <a:ext cx="7765784" cy="4588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8003" name="TextBox 22"/>
                    <p:cNvSpPr txBox="1">
                      <a:spLocks noChangeArrowheads="1"/>
                    </p:cNvSpPr>
                    <p:nvPr/>
                  </p:nvSpPr>
                  <p:spPr bwMode="auto">
                    <a:xfrm>
                      <a:off x="8721872" y="3728856"/>
                      <a:ext cx="356188"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i="1"/>
                        <a:t>M</a:t>
                      </a:r>
                      <a:endParaRPr lang="en-GB" altLang="en-US" sz="1600" i="1"/>
                    </a:p>
                  </p:txBody>
                </p:sp>
              </p:grpSp>
              <p:pic>
                <p:nvPicPr>
                  <p:cNvPr id="298001" name="Picture 24" descr="Picture1.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563888" y="3078954"/>
                    <a:ext cx="2198198" cy="128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297999" name="Picture 26" descr="Picture3.pn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89642" y="3516016"/>
                  <a:ext cx="3888432" cy="24285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29" name="Rectangle 28"/>
              <p:cNvSpPr/>
              <p:nvPr/>
            </p:nvSpPr>
            <p:spPr>
              <a:xfrm>
                <a:off x="4264632" y="1268434"/>
                <a:ext cx="1439307" cy="1152538"/>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sp>
          <p:nvSpPr>
            <p:cNvPr id="31" name="Rectangle 30"/>
            <p:cNvSpPr/>
            <p:nvPr/>
          </p:nvSpPr>
          <p:spPr>
            <a:xfrm>
              <a:off x="5509016" y="3681360"/>
              <a:ext cx="2735151" cy="539246"/>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0003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8A9702A-6D16-4E59-924A-7ED54DFEFB7C}" type="slidenum">
              <a:rPr lang="en-GB" altLang="en-US" sz="1400" smtClean="0"/>
              <a:pPr>
                <a:spcBef>
                  <a:spcPct val="0"/>
                </a:spcBef>
                <a:buFontTx/>
                <a:buNone/>
              </a:pPr>
              <a:t>149</a:t>
            </a:fld>
            <a:endParaRPr lang="en-GB" altLang="en-US" sz="1400"/>
          </a:p>
        </p:txBody>
      </p:sp>
      <p:sp>
        <p:nvSpPr>
          <p:cNvPr id="300036"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STRUKTURA IZ GIBANJA – FAKTORIZACIJA PO TOMASI-KANADEJU (4)</a:t>
            </a:r>
            <a:endParaRPr lang="en-GB" altLang="en-US" sz="2000"/>
          </a:p>
        </p:txBody>
      </p:sp>
      <p:sp>
        <p:nvSpPr>
          <p:cNvPr id="30003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0003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00039"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00148"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40" name="TextBox 46"/>
          <p:cNvSpPr txBox="1">
            <a:spLocks noChangeArrowheads="1"/>
          </p:cNvSpPr>
          <p:nvPr/>
        </p:nvSpPr>
        <p:spPr bwMode="auto">
          <a:xfrm>
            <a:off x="684213" y="1217613"/>
            <a:ext cx="8135937"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Razcep na gibanje in strukturo naredimo sedaj s SVD:</a:t>
            </a:r>
          </a:p>
          <a:p>
            <a:pPr eaLnBrk="1" hangingPunct="1">
              <a:spcBef>
                <a:spcPts val="600"/>
              </a:spcBef>
              <a:buFontTx/>
              <a:buNone/>
            </a:pPr>
            <a:r>
              <a:rPr lang="sl-SI" altLang="en-US" sz="1800"/>
              <a:t>	SVD(</a:t>
            </a:r>
            <a:r>
              <a:rPr lang="sl-SI" altLang="en-US" sz="1800" b="1"/>
              <a:t>W</a:t>
            </a:r>
            <a:r>
              <a:rPr lang="sl-SI" altLang="en-US" sz="1800"/>
              <a:t>)  </a:t>
            </a:r>
            <a:r>
              <a:rPr lang="sl-SI" altLang="en-US" sz="1800">
                <a:sym typeface="Symbol" panose="05050102010706020507" pitchFamily="18" charset="2"/>
              </a:rPr>
              <a:t>  </a:t>
            </a:r>
            <a:r>
              <a:rPr lang="sl-SI" altLang="en-US" sz="1800" b="1">
                <a:sym typeface="Symbol" panose="05050102010706020507" pitchFamily="18" charset="2"/>
              </a:rPr>
              <a:t>W</a:t>
            </a:r>
            <a:r>
              <a:rPr lang="sl-SI" altLang="en-US" sz="1800">
                <a:sym typeface="Symbol" panose="05050102010706020507" pitchFamily="18" charset="2"/>
              </a:rPr>
              <a:t> = </a:t>
            </a:r>
            <a:r>
              <a:rPr lang="sl-SI" altLang="en-US" sz="1800" b="1">
                <a:sym typeface="Symbol" panose="05050102010706020507" pitchFamily="18" charset="2"/>
              </a:rPr>
              <a:t>UDV</a:t>
            </a:r>
            <a:r>
              <a:rPr lang="sl-SI" altLang="en-US" sz="1800" i="1" baseline="30000">
                <a:sym typeface="Symbol" panose="05050102010706020507" pitchFamily="18" charset="2"/>
              </a:rPr>
              <a:t>T</a:t>
            </a:r>
          </a:p>
          <a:p>
            <a:pPr eaLnBrk="1" hangingPunct="1">
              <a:spcBef>
                <a:spcPts val="600"/>
              </a:spcBef>
              <a:buFontTx/>
              <a:buAutoNum type="arabicPeriod" startAt="2"/>
            </a:pPr>
            <a:r>
              <a:rPr lang="sl-SI" altLang="en-US" sz="1800">
                <a:sym typeface="Symbol" panose="05050102010706020507" pitchFamily="18" charset="2"/>
              </a:rPr>
              <a:t>Ker imata tako rotacijska matrika </a:t>
            </a:r>
            <a:r>
              <a:rPr lang="sl-SI" altLang="en-US" sz="1800" b="1">
                <a:sym typeface="Symbol" panose="05050102010706020507" pitchFamily="18" charset="2"/>
              </a:rPr>
              <a:t>R</a:t>
            </a:r>
            <a:r>
              <a:rPr lang="sl-SI" altLang="en-US" sz="1800">
                <a:sym typeface="Symbol" panose="05050102010706020507" pitchFamily="18" charset="2"/>
              </a:rPr>
              <a:t> kot matrika 3D-točk </a:t>
            </a:r>
            <a:r>
              <a:rPr lang="sl-SI" altLang="en-US" sz="1800" b="1">
                <a:sym typeface="Symbol" panose="05050102010706020507" pitchFamily="18" charset="2"/>
              </a:rPr>
              <a:t>S</a:t>
            </a:r>
            <a:r>
              <a:rPr lang="sl-SI" altLang="en-US" sz="1800">
                <a:sym typeface="Symbol" panose="05050102010706020507" pitchFamily="18" charset="2"/>
              </a:rPr>
              <a:t> po 3 prostostne stopnje, je v idealnih, brezšumnih razmerah matrika </a:t>
            </a:r>
            <a:r>
              <a:rPr lang="sl-SI" altLang="en-US" sz="1800" b="1">
                <a:sym typeface="Symbol" panose="05050102010706020507" pitchFamily="18" charset="2"/>
              </a:rPr>
              <a:t>W</a:t>
            </a:r>
            <a:r>
              <a:rPr lang="sl-SI" altLang="en-US" sz="1800">
                <a:sym typeface="Symbol" panose="05050102010706020507" pitchFamily="18" charset="2"/>
              </a:rPr>
              <a:t> ranga 3.</a:t>
            </a:r>
          </a:p>
          <a:p>
            <a:pPr eaLnBrk="1" hangingPunct="1">
              <a:spcBef>
                <a:spcPts val="600"/>
              </a:spcBef>
              <a:buFontTx/>
              <a:buAutoNum type="arabicPeriod" startAt="2"/>
            </a:pPr>
            <a:r>
              <a:rPr lang="sl-SI" altLang="en-US" sz="1800">
                <a:sym typeface="Symbol" panose="05050102010706020507" pitchFamily="18" charset="2"/>
              </a:rPr>
              <a:t>Zaradi šuma in nenatančnosti se rang poveča, zato ga umetno reduciramo na 3, s tem ko upoštevamo samo 3 največje singularne vrednosti iz </a:t>
            </a:r>
            <a:r>
              <a:rPr lang="sl-SI" altLang="en-US" sz="1800" b="1">
                <a:sym typeface="Symbol" panose="05050102010706020507" pitchFamily="18" charset="2"/>
              </a:rPr>
              <a:t>D</a:t>
            </a:r>
            <a:r>
              <a:rPr lang="sl-SI" altLang="en-US" sz="1800">
                <a:sym typeface="Symbol" panose="05050102010706020507" pitchFamily="18" charset="2"/>
              </a:rPr>
              <a:t>:</a:t>
            </a:r>
          </a:p>
          <a:p>
            <a:pPr eaLnBrk="1" hangingPunct="1">
              <a:spcBef>
                <a:spcPts val="600"/>
              </a:spcBef>
              <a:buFontTx/>
              <a:buAutoNum type="arabicPeriod" startAt="2"/>
            </a:pPr>
            <a:endParaRPr lang="sl-SI" altLang="en-US" sz="1800">
              <a:sym typeface="Symbol" panose="05050102010706020507" pitchFamily="18" charset="2"/>
            </a:endParaRPr>
          </a:p>
          <a:p>
            <a:pPr eaLnBrk="1" hangingPunct="1">
              <a:spcBef>
                <a:spcPts val="600"/>
              </a:spcBef>
              <a:buFontTx/>
              <a:buAutoNum type="arabicPeriod" startAt="2"/>
            </a:pPr>
            <a:endParaRPr lang="sl-SI" altLang="en-US" sz="1800">
              <a:sym typeface="Symbol" panose="05050102010706020507" pitchFamily="18" charset="2"/>
            </a:endParaRPr>
          </a:p>
          <a:p>
            <a:pPr eaLnBrk="1" hangingPunct="1">
              <a:spcBef>
                <a:spcPts val="600"/>
              </a:spcBef>
              <a:buFontTx/>
              <a:buAutoNum type="arabicPeriod" startAt="2"/>
            </a:pPr>
            <a:endParaRPr lang="sl-SI" altLang="en-US" sz="1800">
              <a:sym typeface="Symbol" panose="05050102010706020507" pitchFamily="18" charset="2"/>
            </a:endParaRPr>
          </a:p>
          <a:p>
            <a:pPr eaLnBrk="1" hangingPunct="1">
              <a:spcBef>
                <a:spcPts val="600"/>
              </a:spcBef>
              <a:buFontTx/>
              <a:buAutoNum type="arabicPeriod" startAt="2"/>
            </a:pPr>
            <a:endParaRPr lang="sl-SI" altLang="en-US" sz="1800">
              <a:sym typeface="Symbol" panose="05050102010706020507" pitchFamily="18" charset="2"/>
            </a:endParaRPr>
          </a:p>
          <a:p>
            <a:pPr eaLnBrk="1" hangingPunct="1">
              <a:spcBef>
                <a:spcPct val="0"/>
              </a:spcBef>
              <a:buFontTx/>
              <a:buAutoNum type="arabicPeriod" startAt="2"/>
            </a:pPr>
            <a:r>
              <a:rPr lang="sl-SI" altLang="en-US" sz="1800">
                <a:sym typeface="Symbol" panose="05050102010706020507" pitchFamily="18" charset="2"/>
              </a:rPr>
              <a:t>Singularni vektorji </a:t>
            </a:r>
            <a:r>
              <a:rPr lang="sl-SI" altLang="en-US" sz="1800" b="1">
                <a:sym typeface="Symbol" panose="05050102010706020507" pitchFamily="18" charset="2"/>
              </a:rPr>
              <a:t>U</a:t>
            </a:r>
            <a:r>
              <a:rPr lang="sl-SI" altLang="en-US" sz="1800" i="1" baseline="-25000">
                <a:sym typeface="Symbol" panose="05050102010706020507" pitchFamily="18" charset="2"/>
              </a:rPr>
              <a:t>i</a:t>
            </a:r>
            <a:r>
              <a:rPr lang="sl-SI" altLang="en-US" sz="1800">
                <a:sym typeface="Symbol" panose="05050102010706020507" pitchFamily="18" charset="2"/>
              </a:rPr>
              <a:t> in </a:t>
            </a:r>
            <a:r>
              <a:rPr lang="sl-SI" altLang="en-US" sz="1800" b="1">
                <a:sym typeface="Symbol" panose="05050102010706020507" pitchFamily="18" charset="2"/>
              </a:rPr>
              <a:t>V</a:t>
            </a:r>
            <a:r>
              <a:rPr lang="sl-SI" altLang="en-US" sz="1800" i="1" baseline="-25000">
                <a:sym typeface="Symbol" panose="05050102010706020507" pitchFamily="18" charset="2"/>
              </a:rPr>
              <a:t>i</a:t>
            </a:r>
            <a:r>
              <a:rPr lang="sl-SI" altLang="en-US" sz="1800">
                <a:sym typeface="Symbol" panose="05050102010706020507" pitchFamily="18" charset="2"/>
              </a:rPr>
              <a:t> pripadajo singularnim vrednostim </a:t>
            </a:r>
            <a:r>
              <a:rPr lang="sl-SI" altLang="en-US" sz="1800" i="1">
                <a:sym typeface="Symbol" panose="05050102010706020507" pitchFamily="18" charset="2"/>
              </a:rPr>
              <a:t></a:t>
            </a:r>
            <a:r>
              <a:rPr lang="sl-SI" altLang="en-US" sz="1800" i="1" baseline="-25000">
                <a:sym typeface="Symbol" panose="05050102010706020507" pitchFamily="18" charset="2"/>
              </a:rPr>
              <a:t>i</a:t>
            </a:r>
            <a:r>
              <a:rPr lang="sl-SI" altLang="en-US" sz="1800">
                <a:sym typeface="Symbol" panose="05050102010706020507" pitchFamily="18" charset="2"/>
              </a:rPr>
              <a:t>.</a:t>
            </a:r>
          </a:p>
          <a:p>
            <a:pPr eaLnBrk="1" hangingPunct="1">
              <a:spcBef>
                <a:spcPts val="600"/>
              </a:spcBef>
              <a:buFontTx/>
              <a:buAutoNum type="arabicPeriod" startAt="2"/>
            </a:pPr>
            <a:r>
              <a:rPr lang="sl-SI" altLang="en-US" sz="1800">
                <a:sym typeface="Symbol" panose="05050102010706020507" pitchFamily="18" charset="2"/>
              </a:rPr>
              <a:t>Prvi približek gibanju in strukturi ocenimo kot:</a:t>
            </a:r>
          </a:p>
          <a:p>
            <a:pPr eaLnBrk="1" hangingPunct="1">
              <a:spcBef>
                <a:spcPts val="600"/>
              </a:spcBef>
              <a:buFontTx/>
              <a:buAutoNum type="arabicPeriod" startAt="2"/>
            </a:pPr>
            <a:endParaRPr lang="sl-SI" altLang="en-US" sz="1800">
              <a:sym typeface="Symbol" panose="05050102010706020507" pitchFamily="18" charset="2"/>
            </a:endParaRPr>
          </a:p>
          <a:p>
            <a:pPr eaLnBrk="1" hangingPunct="1">
              <a:spcBef>
                <a:spcPts val="600"/>
              </a:spcBef>
              <a:buFontTx/>
              <a:buAutoNum type="arabicPeriod" startAt="2"/>
            </a:pPr>
            <a:r>
              <a:rPr lang="sl-SI" altLang="en-US" sz="1800">
                <a:sym typeface="Symbol" panose="05050102010706020507" pitchFamily="18" charset="2"/>
              </a:rPr>
              <a:t>Vendar pa rezultat ni enoumen, saj lahko zapišemo:</a:t>
            </a:r>
          </a:p>
        </p:txBody>
      </p:sp>
      <p:graphicFrame>
        <p:nvGraphicFramePr>
          <p:cNvPr id="300041" name="Object 4"/>
          <p:cNvGraphicFramePr>
            <a:graphicFrameLocks noChangeAspect="1"/>
          </p:cNvGraphicFramePr>
          <p:nvPr/>
        </p:nvGraphicFramePr>
        <p:xfrm>
          <a:off x="1093788" y="3152775"/>
          <a:ext cx="4610100" cy="1271588"/>
        </p:xfrm>
        <a:graphic>
          <a:graphicData uri="http://schemas.openxmlformats.org/presentationml/2006/ole">
            <mc:AlternateContent xmlns:mc="http://schemas.openxmlformats.org/markup-compatibility/2006">
              <mc:Choice xmlns:v="urn:schemas-microsoft-com:vml" Requires="v">
                <p:oleObj spid="_x0000_s300149" name="Equation" r:id="rId6" imgW="2438400" imgH="673100" progId="Equation.3">
                  <p:embed/>
                </p:oleObj>
              </mc:Choice>
              <mc:Fallback>
                <p:oleObj name="Equation" r:id="rId6" imgW="2438400" imgH="6731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3788" y="3152775"/>
                        <a:ext cx="4610100" cy="127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42" name="Object 5"/>
          <p:cNvGraphicFramePr>
            <a:graphicFrameLocks noChangeAspect="1"/>
          </p:cNvGraphicFramePr>
          <p:nvPr/>
        </p:nvGraphicFramePr>
        <p:xfrm>
          <a:off x="1069975" y="5143500"/>
          <a:ext cx="3430588" cy="479425"/>
        </p:xfrm>
        <a:graphic>
          <a:graphicData uri="http://schemas.openxmlformats.org/presentationml/2006/ole">
            <mc:AlternateContent xmlns:mc="http://schemas.openxmlformats.org/markup-compatibility/2006">
              <mc:Choice xmlns:v="urn:schemas-microsoft-com:vml" Requires="v">
                <p:oleObj spid="_x0000_s300150" name="Equation" r:id="rId8" imgW="1181100" imgH="228600" progId="Equation.3">
                  <p:embed/>
                </p:oleObj>
              </mc:Choice>
              <mc:Fallback>
                <p:oleObj name="Equation" r:id="rId8" imgW="1181100" imgH="2286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9975" y="5143500"/>
                        <a:ext cx="3430588"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43" name="Object 6"/>
          <p:cNvGraphicFramePr>
            <a:graphicFrameLocks noChangeAspect="1"/>
          </p:cNvGraphicFramePr>
          <p:nvPr/>
        </p:nvGraphicFramePr>
        <p:xfrm>
          <a:off x="1082675" y="5881688"/>
          <a:ext cx="2655888" cy="479425"/>
        </p:xfrm>
        <a:graphic>
          <a:graphicData uri="http://schemas.openxmlformats.org/presentationml/2006/ole">
            <mc:AlternateContent xmlns:mc="http://schemas.openxmlformats.org/markup-compatibility/2006">
              <mc:Choice xmlns:v="urn:schemas-microsoft-com:vml" Requires="v">
                <p:oleObj spid="_x0000_s300151" name="Equation" r:id="rId10" imgW="914400" imgH="228600" progId="Equation.3">
                  <p:embed/>
                </p:oleObj>
              </mc:Choice>
              <mc:Fallback>
                <p:oleObj name="Equation" r:id="rId10" imgW="914400" imgH="2286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82675" y="5881688"/>
                        <a:ext cx="2655888"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020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3931E99-D4DA-4BE7-BFBE-E95C9310D78C}" type="slidenum">
              <a:rPr lang="en-GB" altLang="en-US" sz="1400" smtClean="0"/>
              <a:pPr>
                <a:spcBef>
                  <a:spcPct val="0"/>
                </a:spcBef>
                <a:buFontTx/>
                <a:buNone/>
              </a:pPr>
              <a:t>150</a:t>
            </a:fld>
            <a:endParaRPr lang="en-GB" altLang="en-US" sz="1400"/>
          </a:p>
        </p:txBody>
      </p:sp>
      <p:sp>
        <p:nvSpPr>
          <p:cNvPr id="302084"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STRUKTURA IZ GIBANJA – FAKTORIZACIJA PO TOMASI-KANADEJU (5)</a:t>
            </a:r>
            <a:endParaRPr lang="en-GB" altLang="en-US" sz="2000"/>
          </a:p>
        </p:txBody>
      </p:sp>
      <p:sp>
        <p:nvSpPr>
          <p:cNvPr id="30208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0208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02087"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02169"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2088" name="TextBox 46"/>
          <p:cNvSpPr txBox="1">
            <a:spLocks noChangeArrowheads="1"/>
          </p:cNvSpPr>
          <p:nvPr/>
        </p:nvSpPr>
        <p:spPr bwMode="auto">
          <a:xfrm>
            <a:off x="684213" y="1412875"/>
            <a:ext cx="8135937"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Za pravilno oceno gibanja (</a:t>
            </a:r>
            <a:r>
              <a:rPr lang="sl-SI" altLang="en-US" sz="1800" b="1"/>
              <a:t>R</a:t>
            </a:r>
            <a:r>
              <a:rPr lang="sl-SI" altLang="en-US" sz="1800"/>
              <a:t>) in strukture (</a:t>
            </a:r>
            <a:r>
              <a:rPr lang="sl-SI" altLang="en-US" sz="1800" b="1"/>
              <a:t>S</a:t>
            </a:r>
            <a:r>
              <a:rPr lang="sl-SI" altLang="en-US" sz="1800"/>
              <a:t>) je treba izračunati ustrezno matriko </a:t>
            </a:r>
            <a:r>
              <a:rPr lang="sl-SI" altLang="en-US" sz="1800" b="1"/>
              <a:t>Q</a:t>
            </a:r>
            <a:r>
              <a:rPr lang="sl-SI" altLang="en-US" sz="1800"/>
              <a:t>, ki je dimenzij 3</a:t>
            </a:r>
            <a:r>
              <a:rPr lang="sl-SI" altLang="en-US" sz="1800">
                <a:sym typeface="Symbol" panose="05050102010706020507" pitchFamily="18" charset="2"/>
              </a:rPr>
              <a:t>3</a:t>
            </a:r>
            <a:r>
              <a:rPr lang="sl-SI" altLang="en-US" sz="1800"/>
              <a:t>.</a:t>
            </a:r>
            <a:endParaRPr lang="sl-SI" altLang="en-US" sz="1800" i="1" baseline="30000">
              <a:sym typeface="Symbol" panose="05050102010706020507" pitchFamily="18" charset="2"/>
            </a:endParaRPr>
          </a:p>
          <a:p>
            <a:pPr eaLnBrk="1" hangingPunct="1">
              <a:spcBef>
                <a:spcPts val="600"/>
              </a:spcBef>
              <a:buFontTx/>
              <a:buAutoNum type="arabicPeriod" startAt="2"/>
            </a:pPr>
            <a:r>
              <a:rPr lang="sl-SI" altLang="en-US" sz="1800">
                <a:sym typeface="Symbol" panose="05050102010706020507" pitchFamily="18" charset="2"/>
              </a:rPr>
              <a:t>V ocenjeni matriki       morajo biti sosednji pari vrstic ortogonalni, saj tvorijo matrike zasuka za posamezne poglede – to dosežemo z izbiro matrike </a:t>
            </a:r>
            <a:r>
              <a:rPr lang="sl-SI" altLang="en-US" sz="1800" b="1">
                <a:sym typeface="Symbol" panose="05050102010706020507" pitchFamily="18" charset="2"/>
              </a:rPr>
              <a:t>Q</a:t>
            </a:r>
            <a:r>
              <a:rPr lang="sl-SI" altLang="en-US" sz="1800">
                <a:sym typeface="Symbol" panose="05050102010706020507" pitchFamily="18" charset="2"/>
              </a:rPr>
              <a:t>.</a:t>
            </a:r>
          </a:p>
          <a:p>
            <a:pPr eaLnBrk="1" hangingPunct="1">
              <a:spcBef>
                <a:spcPts val="600"/>
              </a:spcBef>
              <a:buFontTx/>
              <a:buAutoNum type="arabicPeriod" startAt="2"/>
            </a:pPr>
            <a:r>
              <a:rPr lang="sl-SI" altLang="en-US" sz="1800">
                <a:sym typeface="Symbol" panose="05050102010706020507" pitchFamily="18" charset="2"/>
              </a:rPr>
              <a:t>Iz tega sledi, da mora veljati:</a:t>
            </a:r>
          </a:p>
          <a:p>
            <a:pPr eaLnBrk="1" hangingPunct="1">
              <a:spcBef>
                <a:spcPts val="600"/>
              </a:spcBef>
              <a:buFontTx/>
              <a:buAutoNum type="arabicPeriod" startAt="2"/>
            </a:pPr>
            <a:endParaRPr lang="sl-SI" altLang="en-US" sz="1800">
              <a:sym typeface="Symbol" panose="05050102010706020507" pitchFamily="18" charset="2"/>
            </a:endParaRPr>
          </a:p>
          <a:p>
            <a:pPr eaLnBrk="1" hangingPunct="1">
              <a:spcBef>
                <a:spcPts val="1200"/>
              </a:spcBef>
              <a:buFontTx/>
              <a:buNone/>
            </a:pPr>
            <a:r>
              <a:rPr lang="sl-SI" altLang="en-US" sz="1800">
                <a:sym typeface="Symbol" panose="05050102010706020507" pitchFamily="18" charset="2"/>
              </a:rPr>
              <a:t>	pri čemer matrika </a:t>
            </a:r>
            <a:r>
              <a:rPr lang="sl-SI" altLang="en-US" sz="1800" b="1">
                <a:sym typeface="Symbol" panose="05050102010706020507" pitchFamily="18" charset="2"/>
              </a:rPr>
              <a:t>I</a:t>
            </a:r>
            <a:r>
              <a:rPr lang="sl-SI" altLang="en-US" sz="1800">
                <a:sym typeface="Symbol" panose="05050102010706020507" pitchFamily="18" charset="2"/>
              </a:rPr>
              <a:t> pomeni identiteto.</a:t>
            </a:r>
          </a:p>
          <a:p>
            <a:pPr eaLnBrk="1" hangingPunct="1">
              <a:spcBef>
                <a:spcPts val="600"/>
              </a:spcBef>
              <a:buFontTx/>
              <a:buAutoNum type="arabicPeriod" startAt="4"/>
            </a:pPr>
            <a:r>
              <a:rPr lang="sl-SI" altLang="en-US" sz="1800">
                <a:sym typeface="Symbol" panose="05050102010706020507" pitchFamily="18" charset="2"/>
              </a:rPr>
              <a:t>Matrika </a:t>
            </a:r>
            <a:r>
              <a:rPr lang="sl-SI" altLang="en-US" sz="1800" b="1">
                <a:sym typeface="Symbol" panose="05050102010706020507" pitchFamily="18" charset="2"/>
              </a:rPr>
              <a:t>QQ</a:t>
            </a:r>
            <a:r>
              <a:rPr lang="sl-SI" altLang="en-US" sz="1800" i="1" baseline="30000">
                <a:sym typeface="Symbol" panose="05050102010706020507" pitchFamily="18" charset="2"/>
              </a:rPr>
              <a:t>T</a:t>
            </a:r>
            <a:r>
              <a:rPr lang="sl-SI" altLang="en-US" sz="1800">
                <a:sym typeface="Symbol" panose="05050102010706020507" pitchFamily="18" charset="2"/>
              </a:rPr>
              <a:t> je simetrična in ima 6 različnih vrednosti. </a:t>
            </a:r>
          </a:p>
          <a:p>
            <a:pPr eaLnBrk="1" hangingPunct="1">
              <a:spcBef>
                <a:spcPts val="600"/>
              </a:spcBef>
              <a:buFontTx/>
              <a:buAutoNum type="arabicPeriod" startAt="4"/>
            </a:pPr>
            <a:r>
              <a:rPr lang="sl-SI" altLang="en-US" sz="1800">
                <a:sym typeface="Symbol" panose="05050102010706020507" pitchFamily="18" charset="2"/>
              </a:rPr>
              <a:t>Za izračun teh vrednosti potrebujemo najmanj 6 enačb – vsak pogled (slika) prispeva 2, po eno za koordinati </a:t>
            </a:r>
            <a:r>
              <a:rPr lang="sl-SI" altLang="en-US" sz="1800" i="1">
                <a:sym typeface="Symbol" panose="05050102010706020507" pitchFamily="18" charset="2"/>
              </a:rPr>
              <a:t>x</a:t>
            </a:r>
            <a:r>
              <a:rPr lang="sl-SI" altLang="en-US" sz="1800">
                <a:sym typeface="Symbol" panose="05050102010706020507" pitchFamily="18" charset="2"/>
              </a:rPr>
              <a:t> in </a:t>
            </a:r>
            <a:r>
              <a:rPr lang="sl-SI" altLang="en-US" sz="1800" i="1">
                <a:sym typeface="Symbol" panose="05050102010706020507" pitchFamily="18" charset="2"/>
              </a:rPr>
              <a:t>y</a:t>
            </a:r>
            <a:r>
              <a:rPr lang="sl-SI" altLang="en-US" sz="1800">
                <a:sym typeface="Symbol" panose="05050102010706020507" pitchFamily="18" charset="2"/>
              </a:rPr>
              <a:t> korespondenčnih točk.</a:t>
            </a:r>
          </a:p>
          <a:p>
            <a:pPr eaLnBrk="1" hangingPunct="1">
              <a:spcBef>
                <a:spcPts val="600"/>
              </a:spcBef>
              <a:buFontTx/>
              <a:buAutoNum type="arabicPeriod" startAt="4"/>
            </a:pPr>
            <a:r>
              <a:rPr lang="sl-SI" altLang="en-US" sz="1800">
                <a:solidFill>
                  <a:srgbClr val="FF9933"/>
                </a:solidFill>
                <a:sym typeface="Symbol" panose="05050102010706020507" pitchFamily="18" charset="2"/>
              </a:rPr>
              <a:t>Za končno ocenitev parametrov gibanja in strukture po metodi Tomasi-Kanade torej potrebujemo najmanj 3 slike!</a:t>
            </a:r>
          </a:p>
        </p:txBody>
      </p:sp>
      <p:graphicFrame>
        <p:nvGraphicFramePr>
          <p:cNvPr id="302089" name="Object 3"/>
          <p:cNvGraphicFramePr>
            <a:graphicFrameLocks noChangeAspect="1"/>
          </p:cNvGraphicFramePr>
          <p:nvPr/>
        </p:nvGraphicFramePr>
        <p:xfrm>
          <a:off x="1082675" y="2954338"/>
          <a:ext cx="4633913" cy="527050"/>
        </p:xfrm>
        <a:graphic>
          <a:graphicData uri="http://schemas.openxmlformats.org/presentationml/2006/ole">
            <mc:AlternateContent xmlns:mc="http://schemas.openxmlformats.org/markup-compatibility/2006">
              <mc:Choice xmlns:v="urn:schemas-microsoft-com:vml" Requires="v">
                <p:oleObj spid="_x0000_s302170" name="Equation" r:id="rId6" imgW="2451100" imgH="279400" progId="Equation.3">
                  <p:embed/>
                </p:oleObj>
              </mc:Choice>
              <mc:Fallback>
                <p:oleObj name="Equation" r:id="rId6" imgW="2451100" imgH="2794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2675" y="2954338"/>
                        <a:ext cx="4633913"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2090" name="Object 6"/>
          <p:cNvGraphicFramePr>
            <a:graphicFrameLocks noChangeAspect="1"/>
          </p:cNvGraphicFramePr>
          <p:nvPr/>
        </p:nvGraphicFramePr>
        <p:xfrm>
          <a:off x="3040063" y="1970088"/>
          <a:ext cx="307975" cy="379412"/>
        </p:xfrm>
        <a:graphic>
          <a:graphicData uri="http://schemas.openxmlformats.org/presentationml/2006/ole">
            <mc:AlternateContent xmlns:mc="http://schemas.openxmlformats.org/markup-compatibility/2006">
              <mc:Choice xmlns:v="urn:schemas-microsoft-com:vml" Requires="v">
                <p:oleObj spid="_x0000_s302171" name="Equation" r:id="rId8" imgW="152202" imgH="177569" progId="Equation.3">
                  <p:embed/>
                </p:oleObj>
              </mc:Choice>
              <mc:Fallback>
                <p:oleObj name="Equation" r:id="rId8" imgW="152202" imgH="177569"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0063" y="1970088"/>
                        <a:ext cx="307975" cy="379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041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DFD4A8C-D098-45C9-B91E-E9B7E8F80B0A}" type="slidenum">
              <a:rPr lang="en-GB" altLang="en-US" sz="1400" smtClean="0"/>
              <a:pPr>
                <a:spcBef>
                  <a:spcPct val="0"/>
                </a:spcBef>
                <a:buFontTx/>
                <a:buNone/>
              </a:pPr>
              <a:t>151</a:t>
            </a:fld>
            <a:endParaRPr lang="en-GB" altLang="en-US" sz="1400"/>
          </a:p>
        </p:txBody>
      </p:sp>
      <p:sp>
        <p:nvSpPr>
          <p:cNvPr id="304132" name="Rectangle 2"/>
          <p:cNvSpPr>
            <a:spLocks noGrp="1" noChangeArrowheads="1"/>
          </p:cNvSpPr>
          <p:nvPr>
            <p:ph type="ctrTitle"/>
          </p:nvPr>
        </p:nvSpPr>
        <p:spPr>
          <a:xfrm>
            <a:off x="0" y="260350"/>
            <a:ext cx="9144000" cy="792163"/>
          </a:xfrm>
        </p:spPr>
        <p:txBody>
          <a:bodyPr/>
          <a:lstStyle/>
          <a:p>
            <a:pPr defTabSz="912813" eaLnBrk="1" hangingPunct="1">
              <a:spcBef>
                <a:spcPts val="1200"/>
              </a:spcBef>
            </a:pPr>
            <a:r>
              <a:rPr lang="sl-SI" altLang="en-US" sz="2800" b="1"/>
              <a:t>Primer ocene strukture po metodi Tomasi-Kanade </a:t>
            </a:r>
            <a:endParaRPr lang="en-GB" altLang="en-US" sz="2000"/>
          </a:p>
        </p:txBody>
      </p:sp>
      <p:sp>
        <p:nvSpPr>
          <p:cNvPr id="30413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0413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0413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04164"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04136"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981075"/>
            <a:ext cx="3641725"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4137"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438" y="3429000"/>
            <a:ext cx="3743325"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0617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A371F32-D3DB-4535-97F2-12B2E4BB2518}" type="slidenum">
              <a:rPr lang="en-GB" altLang="en-US" sz="1400" smtClean="0"/>
              <a:pPr>
                <a:spcBef>
                  <a:spcPct val="0"/>
                </a:spcBef>
                <a:buFontTx/>
                <a:buNone/>
              </a:pPr>
              <a:t>152</a:t>
            </a:fld>
            <a:endParaRPr lang="en-GB" altLang="en-US" sz="1400"/>
          </a:p>
        </p:txBody>
      </p:sp>
      <p:sp>
        <p:nvSpPr>
          <p:cNvPr id="306180" name="Rectangle 2"/>
          <p:cNvSpPr>
            <a:spLocks noGrp="1" noChangeArrowheads="1"/>
          </p:cNvSpPr>
          <p:nvPr>
            <p:ph type="ctrTitle"/>
          </p:nvPr>
        </p:nvSpPr>
        <p:spPr>
          <a:xfrm>
            <a:off x="0" y="333375"/>
            <a:ext cx="9144000" cy="1511300"/>
          </a:xfrm>
        </p:spPr>
        <p:txBody>
          <a:bodyPr/>
          <a:lstStyle/>
          <a:p>
            <a:pPr defTabSz="912813" eaLnBrk="1" hangingPunct="1">
              <a:spcBef>
                <a:spcPts val="1200"/>
              </a:spcBef>
            </a:pPr>
            <a:r>
              <a:rPr lang="sl-SI" altLang="en-US" sz="2800" b="1"/>
              <a:t>STRUKTURA IN GIBANJE, DOLOČENA IZ LINIJSKIH SEGMENTOV</a:t>
            </a:r>
            <a:br>
              <a:rPr lang="sl-SI" altLang="en-US" sz="2800" b="1"/>
            </a:br>
            <a:r>
              <a:rPr lang="sl-SI" altLang="en-US" sz="1800" b="1"/>
              <a:t>(povzeto po </a:t>
            </a:r>
            <a:r>
              <a:rPr lang="en-US" altLang="en-US" sz="1800"/>
              <a:t>C</a:t>
            </a:r>
            <a:r>
              <a:rPr lang="sl-SI" altLang="en-US" sz="1800"/>
              <a:t>.</a:t>
            </a:r>
            <a:r>
              <a:rPr lang="en-US" altLang="en-US" sz="1800"/>
              <a:t>J. Taylor, D</a:t>
            </a:r>
            <a:r>
              <a:rPr lang="sl-SI" altLang="en-US" sz="1800"/>
              <a:t>.</a:t>
            </a:r>
            <a:r>
              <a:rPr lang="en-US" altLang="en-US" sz="1800"/>
              <a:t> J. Kriegman</a:t>
            </a:r>
            <a:r>
              <a:rPr lang="sl-SI" altLang="en-US" sz="1800"/>
              <a:t>: </a:t>
            </a:r>
            <a:r>
              <a:rPr lang="en-US" altLang="en-US" sz="1800"/>
              <a:t>Structure and Motion from Line Segments in Multiple Images</a:t>
            </a:r>
            <a:r>
              <a:rPr lang="sl-SI" altLang="en-US" sz="1800"/>
              <a:t>)</a:t>
            </a:r>
            <a:br>
              <a:rPr lang="en-US" altLang="en-US" sz="2000"/>
            </a:br>
            <a:endParaRPr lang="en-GB" altLang="en-US" sz="2000"/>
          </a:p>
        </p:txBody>
      </p:sp>
      <p:sp>
        <p:nvSpPr>
          <p:cNvPr id="30618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0618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06183"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06211"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6184" name="TextBox 46"/>
          <p:cNvSpPr txBox="1">
            <a:spLocks noChangeArrowheads="1"/>
          </p:cNvSpPr>
          <p:nvPr/>
        </p:nvSpPr>
        <p:spPr bwMode="auto">
          <a:xfrm>
            <a:off x="827088" y="1844675"/>
            <a:ext cx="7993062" cy="423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Cilj:</a:t>
            </a:r>
          </a:p>
          <a:p>
            <a:pPr eaLnBrk="1" hangingPunct="1">
              <a:spcBef>
                <a:spcPts val="600"/>
              </a:spcBef>
              <a:buFontTx/>
              <a:buNone/>
            </a:pPr>
            <a:r>
              <a:rPr lang="sl-SI" altLang="en-US" sz="1800"/>
              <a:t>	V zaporedju slik so segmentirani odseki premic (robovi) in z njihovo pomočjo je treba najti </a:t>
            </a:r>
            <a:r>
              <a:rPr lang="sl-SI" altLang="en-US" sz="1800">
                <a:solidFill>
                  <a:srgbClr val="0000FF"/>
                </a:solidFill>
              </a:rPr>
              <a:t>relativne položaje kamer (gibanje) in 3D-položaje linijskih odsekov (struktura)</a:t>
            </a:r>
            <a:r>
              <a:rPr lang="sl-SI" altLang="en-US" sz="1800"/>
              <a:t>.</a:t>
            </a:r>
          </a:p>
          <a:p>
            <a:pPr eaLnBrk="1" hangingPunct="1">
              <a:spcBef>
                <a:spcPts val="600"/>
              </a:spcBef>
              <a:buFontTx/>
              <a:buAutoNum type="arabicPeriod" startAt="2"/>
            </a:pPr>
            <a:r>
              <a:rPr lang="sl-SI" altLang="en-US" sz="1800"/>
              <a:t>Privzeta je toga scena, robovi kot značilnice pa prinašajo še dodatne prednosti:</a:t>
            </a:r>
          </a:p>
          <a:p>
            <a:pPr lvl="1" eaLnBrk="1" hangingPunct="1">
              <a:spcBef>
                <a:spcPts val="600"/>
              </a:spcBef>
              <a:buFont typeface="Arial" panose="020B0604020202020204" pitchFamily="34" charset="0"/>
              <a:buChar char="•"/>
            </a:pPr>
            <a:r>
              <a:rPr lang="sl-SI" altLang="en-US" sz="1800"/>
              <a:t>ravni robovi so pogosti v okoljih, ki jih ustvarja človek</a:t>
            </a:r>
          </a:p>
          <a:p>
            <a:pPr lvl="1" eaLnBrk="1" hangingPunct="1">
              <a:spcBef>
                <a:spcPts val="600"/>
              </a:spcBef>
              <a:buFont typeface="Arial" panose="020B0604020202020204" pitchFamily="34" charset="0"/>
              <a:buChar char="•"/>
            </a:pPr>
            <a:r>
              <a:rPr lang="sl-SI" altLang="en-US" sz="1800"/>
              <a:t>postopki za določanje robov na slikah so učinkoviti</a:t>
            </a:r>
          </a:p>
          <a:p>
            <a:pPr lvl="1" eaLnBrk="1" hangingPunct="1">
              <a:spcBef>
                <a:spcPts val="600"/>
              </a:spcBef>
              <a:buFont typeface="Arial" panose="020B0604020202020204" pitchFamily="34" charset="0"/>
              <a:buChar char="•"/>
            </a:pPr>
            <a:r>
              <a:rPr lang="sl-SI" altLang="en-US" sz="1800"/>
              <a:t>robove je dokaj preprosto najti in jim slediti</a:t>
            </a:r>
          </a:p>
          <a:p>
            <a:pPr lvl="1" eaLnBrk="1" hangingPunct="1">
              <a:spcBef>
                <a:spcPts val="600"/>
              </a:spcBef>
              <a:buFont typeface="Arial" panose="020B0604020202020204" pitchFamily="34" charset="0"/>
              <a:buChar char="•"/>
            </a:pPr>
            <a:r>
              <a:rPr lang="sl-SI" altLang="en-US" sz="1800"/>
              <a:t>robovi (linijski odseki) dajejo boljše rezultate kot posamezne točke, saj vsebujejo več informacij</a:t>
            </a:r>
          </a:p>
          <a:p>
            <a:pPr eaLnBrk="1" hangingPunct="1">
              <a:spcBef>
                <a:spcPts val="600"/>
              </a:spcBef>
              <a:buFontTx/>
              <a:buAutoNum type="arabicPeriod" startAt="3"/>
            </a:pPr>
            <a:r>
              <a:rPr lang="sl-SI" altLang="en-US" sz="1800"/>
              <a:t>Določanje strukture scene in gibanja (položaja) kamer temelji na </a:t>
            </a:r>
            <a:r>
              <a:rPr lang="sl-SI" altLang="en-US" sz="1800">
                <a:solidFill>
                  <a:srgbClr val="0000FF"/>
                </a:solidFill>
              </a:rPr>
              <a:t>optimizaciji kriterijske funkcije</a:t>
            </a:r>
            <a:r>
              <a:rPr lang="sl-SI" altLang="en-US" sz="1800"/>
              <a:t>.</a:t>
            </a:r>
          </a:p>
        </p:txBody>
      </p:sp>
    </p:spTree>
  </p:cSld>
  <p:clrMapOvr>
    <a:masterClrMapping/>
  </p:clrMapOvr>
  <p:transition>
    <p:cove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0822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2A11DCF-6454-4F0C-9D65-9B54908C66A2}" type="slidenum">
              <a:rPr lang="en-GB" altLang="en-US" sz="1400" smtClean="0"/>
              <a:pPr>
                <a:spcBef>
                  <a:spcPct val="0"/>
                </a:spcBef>
                <a:buFontTx/>
                <a:buNone/>
              </a:pPr>
              <a:t>153</a:t>
            </a:fld>
            <a:endParaRPr lang="en-GB" altLang="en-US" sz="1400"/>
          </a:p>
        </p:txBody>
      </p:sp>
      <p:sp>
        <p:nvSpPr>
          <p:cNvPr id="308228" name="Rectangle 2"/>
          <p:cNvSpPr>
            <a:spLocks noGrp="1" noChangeArrowheads="1"/>
          </p:cNvSpPr>
          <p:nvPr>
            <p:ph type="ctrTitle"/>
          </p:nvPr>
        </p:nvSpPr>
        <p:spPr>
          <a:xfrm>
            <a:off x="0" y="333375"/>
            <a:ext cx="9144000" cy="1223963"/>
          </a:xfrm>
        </p:spPr>
        <p:txBody>
          <a:bodyPr/>
          <a:lstStyle/>
          <a:p>
            <a:pPr defTabSz="912813" eaLnBrk="1" hangingPunct="1">
              <a:spcBef>
                <a:spcPts val="1200"/>
              </a:spcBef>
            </a:pPr>
            <a:r>
              <a:rPr lang="sl-SI" altLang="en-US" sz="2800" b="1"/>
              <a:t>POSTOPEK OPTIMIZACIJE IN KRITERIJSKA FUNKCIJA</a:t>
            </a:r>
            <a:endParaRPr lang="en-GB" altLang="en-US" sz="2000"/>
          </a:p>
        </p:txBody>
      </p:sp>
      <p:sp>
        <p:nvSpPr>
          <p:cNvPr id="30822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0823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08231"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08286"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232" name="TextBox 46"/>
          <p:cNvSpPr txBox="1">
            <a:spLocks noChangeArrowheads="1"/>
          </p:cNvSpPr>
          <p:nvPr/>
        </p:nvSpPr>
        <p:spPr bwMode="auto">
          <a:xfrm>
            <a:off x="827088" y="1700213"/>
            <a:ext cx="7993062"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Imamo </a:t>
            </a:r>
            <a:r>
              <a:rPr lang="sl-SI" altLang="en-US" sz="1800" i="1"/>
              <a:t>M </a:t>
            </a:r>
            <a:r>
              <a:rPr lang="sl-SI" altLang="en-US" sz="1800"/>
              <a:t>slik in </a:t>
            </a:r>
            <a:r>
              <a:rPr lang="sl-SI" altLang="en-US" sz="1800" i="1"/>
              <a:t>N</a:t>
            </a:r>
            <a:r>
              <a:rPr lang="sl-SI" altLang="en-US" sz="1800"/>
              <a:t> črt (robov):</a:t>
            </a:r>
          </a:p>
          <a:p>
            <a:pPr lvl="1" eaLnBrk="1" hangingPunct="1">
              <a:spcBef>
                <a:spcPts val="600"/>
              </a:spcBef>
              <a:buFont typeface="Arial" panose="020B0604020202020204" pitchFamily="34" charset="0"/>
              <a:buChar char="•"/>
            </a:pPr>
            <a:r>
              <a:rPr lang="sl-SI" altLang="en-US" sz="1800" b="1"/>
              <a:t>p</a:t>
            </a:r>
            <a:r>
              <a:rPr lang="sl-SI" altLang="en-US" sz="1800" i="1" baseline="-25000"/>
              <a:t>i</a:t>
            </a:r>
            <a:r>
              <a:rPr lang="sl-SI" altLang="en-US" sz="1800"/>
              <a:t> – 3D-položaj </a:t>
            </a:r>
            <a:r>
              <a:rPr lang="sl-SI" altLang="en-US" sz="1800" i="1"/>
              <a:t>i</a:t>
            </a:r>
            <a:r>
              <a:rPr lang="sl-SI" altLang="en-US" sz="1800"/>
              <a:t>-te črte (linije) </a:t>
            </a:r>
          </a:p>
          <a:p>
            <a:pPr lvl="1" eaLnBrk="1" hangingPunct="1">
              <a:spcBef>
                <a:spcPts val="600"/>
              </a:spcBef>
              <a:buFont typeface="Arial" panose="020B0604020202020204" pitchFamily="34" charset="0"/>
              <a:buChar char="•"/>
            </a:pPr>
            <a:r>
              <a:rPr lang="sl-SI" altLang="en-US" sz="1800" b="1"/>
              <a:t>q</a:t>
            </a:r>
            <a:r>
              <a:rPr lang="sl-SI" altLang="en-US" sz="1800" i="1" baseline="-25000"/>
              <a:t>j</a:t>
            </a:r>
            <a:r>
              <a:rPr lang="sl-SI" altLang="en-US" sz="1800" i="1"/>
              <a:t> </a:t>
            </a:r>
            <a:r>
              <a:rPr lang="sl-SI" altLang="en-US" sz="1800"/>
              <a:t>– položaj in usmeritev </a:t>
            </a:r>
            <a:r>
              <a:rPr lang="sl-SI" altLang="en-US" sz="1800" i="1"/>
              <a:t>j</a:t>
            </a:r>
            <a:r>
              <a:rPr lang="sl-SI" altLang="en-US" sz="1800"/>
              <a:t>-te kamere </a:t>
            </a:r>
          </a:p>
          <a:p>
            <a:pPr lvl="1" eaLnBrk="1" hangingPunct="1">
              <a:spcBef>
                <a:spcPts val="600"/>
              </a:spcBef>
              <a:buFont typeface="Arial" panose="020B0604020202020204" pitchFamily="34" charset="0"/>
              <a:buChar char="•"/>
            </a:pPr>
            <a:r>
              <a:rPr lang="sl-SI" altLang="en-US" sz="1800" b="1"/>
              <a:t>u</a:t>
            </a:r>
            <a:r>
              <a:rPr lang="sl-SI" altLang="en-US" sz="1800" i="1" baseline="-25000"/>
              <a:t>ij </a:t>
            </a:r>
            <a:r>
              <a:rPr lang="sl-SI" altLang="en-US" sz="1800"/>
              <a:t>– </a:t>
            </a:r>
            <a:r>
              <a:rPr lang="sl-SI" altLang="en-US" sz="1800" i="1"/>
              <a:t>i</a:t>
            </a:r>
            <a:r>
              <a:rPr lang="sl-SI" altLang="en-US" sz="1800"/>
              <a:t>-ti rob na </a:t>
            </a:r>
            <a:r>
              <a:rPr lang="sl-SI" altLang="en-US" sz="1800" i="1"/>
              <a:t>j</a:t>
            </a:r>
            <a:r>
              <a:rPr lang="sl-SI" altLang="en-US" sz="1800"/>
              <a:t>-ti sliki</a:t>
            </a:r>
          </a:p>
          <a:p>
            <a:pPr lvl="1" eaLnBrk="1" hangingPunct="1">
              <a:spcBef>
                <a:spcPts val="600"/>
              </a:spcBef>
              <a:buFont typeface="Arial" panose="020B0604020202020204" pitchFamily="34" charset="0"/>
              <a:buChar char="•"/>
            </a:pPr>
            <a:r>
              <a:rPr lang="sl-SI" altLang="en-US" sz="1800" i="1"/>
              <a:t>F</a:t>
            </a:r>
            <a:r>
              <a:rPr lang="sl-SI" altLang="en-US" sz="1800"/>
              <a:t> – funkcija za vzvratno  projekcijo </a:t>
            </a:r>
            <a:r>
              <a:rPr lang="sl-SI" altLang="en-US" sz="1800" i="1"/>
              <a:t>(reprojection</a:t>
            </a:r>
            <a:r>
              <a:rPr lang="sl-SI" altLang="en-US" sz="1800"/>
              <a:t>) črte </a:t>
            </a:r>
            <a:r>
              <a:rPr lang="sl-SI" altLang="en-US" sz="1800" b="1"/>
              <a:t>p</a:t>
            </a:r>
            <a:r>
              <a:rPr lang="sl-SI" altLang="en-US" sz="1800" i="1" baseline="-25000"/>
              <a:t>i</a:t>
            </a:r>
            <a:r>
              <a:rPr lang="sl-SI" altLang="en-US" sz="1800"/>
              <a:t> na slikovno ravnino kamere </a:t>
            </a:r>
            <a:r>
              <a:rPr lang="sl-SI" altLang="en-US" sz="1800" b="1"/>
              <a:t>q</a:t>
            </a:r>
            <a:r>
              <a:rPr lang="sl-SI" altLang="en-US" sz="1800" i="1" baseline="-25000"/>
              <a:t>j</a:t>
            </a:r>
          </a:p>
          <a:p>
            <a:pPr eaLnBrk="1" hangingPunct="1">
              <a:spcBef>
                <a:spcPts val="600"/>
              </a:spcBef>
              <a:buFontTx/>
              <a:buAutoNum type="arabicPeriod"/>
            </a:pPr>
            <a:r>
              <a:rPr lang="sl-SI" altLang="en-US" sz="1800"/>
              <a:t>Razpoznane položaje linijskih segmentov in kamer  iz 3D vzvratno projiciramo na slikovne ravnine kamer </a:t>
            </a:r>
          </a:p>
          <a:p>
            <a:pPr eaLnBrk="1" hangingPunct="1">
              <a:spcBef>
                <a:spcPts val="600"/>
              </a:spcBef>
              <a:buFontTx/>
              <a:buAutoNum type="arabicPeriod"/>
            </a:pPr>
            <a:r>
              <a:rPr lang="sl-SI" altLang="en-US" sz="1800"/>
              <a:t>Razliko med reprojiciranimi črtami in originalnimi črtami moramo minimizirati:</a:t>
            </a:r>
          </a:p>
          <a:p>
            <a:pPr eaLnBrk="1" hangingPunct="1">
              <a:spcBef>
                <a:spcPts val="600"/>
              </a:spcBef>
              <a:buFontTx/>
              <a:buAutoNum type="arabicPeriod"/>
            </a:pPr>
            <a:endParaRPr lang="sl-SI" altLang="en-US" sz="1800"/>
          </a:p>
        </p:txBody>
      </p:sp>
      <p:graphicFrame>
        <p:nvGraphicFramePr>
          <p:cNvPr id="308233" name="Object 3"/>
          <p:cNvGraphicFramePr>
            <a:graphicFrameLocks noChangeAspect="1"/>
          </p:cNvGraphicFramePr>
          <p:nvPr/>
        </p:nvGraphicFramePr>
        <p:xfrm>
          <a:off x="1258888" y="4868863"/>
          <a:ext cx="3457575" cy="823912"/>
        </p:xfrm>
        <a:graphic>
          <a:graphicData uri="http://schemas.openxmlformats.org/presentationml/2006/ole">
            <mc:AlternateContent xmlns:mc="http://schemas.openxmlformats.org/markup-compatibility/2006">
              <mc:Choice xmlns:v="urn:schemas-microsoft-com:vml" Requires="v">
                <p:oleObj spid="_x0000_s308287" name="Equation" r:id="rId6" imgW="1600200" imgH="381000" progId="Equation.3">
                  <p:embed/>
                </p:oleObj>
              </mc:Choice>
              <mc:Fallback>
                <p:oleObj name="Equation" r:id="rId6" imgW="1600200" imgH="3810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4868863"/>
                        <a:ext cx="3457575"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1027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AECE82B-563B-4F22-84FF-55939270B36F}" type="slidenum">
              <a:rPr lang="en-GB" altLang="en-US" sz="1400" smtClean="0"/>
              <a:pPr>
                <a:spcBef>
                  <a:spcPct val="0"/>
                </a:spcBef>
                <a:buFontTx/>
                <a:buNone/>
              </a:pPr>
              <a:t>154</a:t>
            </a:fld>
            <a:endParaRPr lang="en-GB" altLang="en-US" sz="1400"/>
          </a:p>
        </p:txBody>
      </p:sp>
      <p:sp>
        <p:nvSpPr>
          <p:cNvPr id="310276" name="Rectangle 2"/>
          <p:cNvSpPr>
            <a:spLocks noGrp="1" noChangeArrowheads="1"/>
          </p:cNvSpPr>
          <p:nvPr>
            <p:ph type="ctrTitle"/>
          </p:nvPr>
        </p:nvSpPr>
        <p:spPr>
          <a:xfrm>
            <a:off x="0" y="260350"/>
            <a:ext cx="9144000" cy="647700"/>
          </a:xfrm>
        </p:spPr>
        <p:txBody>
          <a:bodyPr/>
          <a:lstStyle/>
          <a:p>
            <a:pPr defTabSz="912813" eaLnBrk="1" hangingPunct="1">
              <a:spcBef>
                <a:spcPts val="1200"/>
              </a:spcBef>
            </a:pPr>
            <a:r>
              <a:rPr lang="sl-SI" altLang="en-US" sz="2800" b="1"/>
              <a:t>PREDSTAVITEV PREMICE V 3D – SVETOVNE KOORDINATE</a:t>
            </a:r>
            <a:endParaRPr lang="en-GB" altLang="en-US" sz="2000"/>
          </a:p>
        </p:txBody>
      </p:sp>
      <p:sp>
        <p:nvSpPr>
          <p:cNvPr id="31027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1027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10279"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10318"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TextBox 46"/>
          <p:cNvSpPr txBox="1">
            <a:spLocks noChangeArrowheads="1"/>
          </p:cNvSpPr>
          <p:nvPr/>
        </p:nvSpPr>
        <p:spPr bwMode="auto">
          <a:xfrm>
            <a:off x="827088" y="1125538"/>
            <a:ext cx="7993062" cy="5230812"/>
          </a:xfrm>
          <a:prstGeom prst="rect">
            <a:avLst/>
          </a:prstGeom>
          <a:noFill/>
          <a:ln w="9525">
            <a:noFill/>
            <a:miter lim="800000"/>
            <a:headEnd/>
            <a:tailEnd/>
          </a:ln>
        </p:spPr>
        <p:txBody>
          <a:bodyPr>
            <a:spAutoFit/>
          </a:bodyPr>
          <a:lstStyle/>
          <a:p>
            <a:pPr marL="342900" indent="-342900" eaLnBrk="1" hangingPunct="1">
              <a:buFont typeface="+mj-lt"/>
              <a:buAutoNum type="arabicPeriod"/>
              <a:defRPr/>
            </a:pPr>
            <a:r>
              <a:rPr lang="sl-SI" dirty="0">
                <a:latin typeface="Arial" charset="0"/>
                <a:cs typeface="Arial" charset="0"/>
              </a:rPr>
              <a:t>Opišimo premico v</a:t>
            </a:r>
            <a:r>
              <a:rPr lang="en-US" dirty="0">
                <a:latin typeface="Arial" charset="0"/>
                <a:cs typeface="Arial" charset="0"/>
              </a:rPr>
              <a:t> 3D </a:t>
            </a:r>
            <a:r>
              <a:rPr lang="sl-SI" dirty="0">
                <a:latin typeface="Arial" charset="0"/>
                <a:cs typeface="Arial" charset="0"/>
              </a:rPr>
              <a:t>z </a:t>
            </a:r>
            <a:r>
              <a:rPr lang="en-US" dirty="0">
                <a:latin typeface="Arial" charset="0"/>
                <a:cs typeface="Arial" charset="0"/>
              </a:rPr>
              <a:t>(</a:t>
            </a:r>
            <a:r>
              <a:rPr lang="en-US" b="1" dirty="0">
                <a:latin typeface="Arial" charset="0"/>
                <a:cs typeface="Arial" charset="0"/>
              </a:rPr>
              <a:t>v</a:t>
            </a:r>
            <a:r>
              <a:rPr lang="en-US" dirty="0">
                <a:latin typeface="Arial" charset="0"/>
                <a:cs typeface="Arial" charset="0"/>
              </a:rPr>
              <a:t>,</a:t>
            </a:r>
            <a:r>
              <a:rPr lang="sl-SI" dirty="0">
                <a:latin typeface="Arial" charset="0"/>
                <a:cs typeface="Arial" charset="0"/>
              </a:rPr>
              <a:t> </a:t>
            </a:r>
            <a:r>
              <a:rPr lang="en-US" b="1" dirty="0">
                <a:latin typeface="Arial" charset="0"/>
                <a:cs typeface="Arial" charset="0"/>
              </a:rPr>
              <a:t>d</a:t>
            </a:r>
            <a:r>
              <a:rPr lang="en-US" dirty="0">
                <a:latin typeface="Arial" charset="0"/>
                <a:cs typeface="Arial" charset="0"/>
              </a:rPr>
              <a:t>)</a:t>
            </a:r>
            <a:r>
              <a:rPr lang="sl-SI" dirty="0">
                <a:latin typeface="Arial" charset="0"/>
                <a:cs typeface="Arial" charset="0"/>
              </a:rPr>
              <a:t>, pri čemer sta:</a:t>
            </a:r>
            <a:endParaRPr lang="en-US" dirty="0">
              <a:latin typeface="Arial" charset="0"/>
              <a:cs typeface="Arial" charset="0"/>
            </a:endParaRPr>
          </a:p>
          <a:p>
            <a:pPr lvl="1" eaLnBrk="1" hangingPunct="1">
              <a:defRPr/>
            </a:pPr>
            <a:r>
              <a:rPr lang="en-US" b="1" dirty="0">
                <a:latin typeface="Arial" charset="0"/>
                <a:cs typeface="Arial" charset="0"/>
              </a:rPr>
              <a:t>v</a:t>
            </a:r>
            <a:r>
              <a:rPr lang="en-US" dirty="0">
                <a:latin typeface="Arial" charset="0"/>
                <a:cs typeface="Arial" charset="0"/>
              </a:rPr>
              <a:t>: </a:t>
            </a:r>
            <a:r>
              <a:rPr lang="sl-SI" dirty="0" err="1">
                <a:latin typeface="Arial" charset="0"/>
                <a:cs typeface="Arial" charset="0"/>
              </a:rPr>
              <a:t>enotski</a:t>
            </a:r>
            <a:r>
              <a:rPr lang="sl-SI" dirty="0">
                <a:latin typeface="Arial" charset="0"/>
                <a:cs typeface="Arial" charset="0"/>
              </a:rPr>
              <a:t> vektor, ki kaže v smeri premice</a:t>
            </a:r>
            <a:endParaRPr lang="en-US" dirty="0">
              <a:latin typeface="Arial" charset="0"/>
              <a:cs typeface="Arial" charset="0"/>
            </a:endParaRPr>
          </a:p>
          <a:p>
            <a:pPr lvl="1" eaLnBrk="1" hangingPunct="1">
              <a:defRPr/>
            </a:pPr>
            <a:r>
              <a:rPr lang="en-US" b="1" dirty="0">
                <a:latin typeface="Arial" charset="0"/>
                <a:cs typeface="Arial" charset="0"/>
              </a:rPr>
              <a:t>d</a:t>
            </a:r>
            <a:r>
              <a:rPr lang="en-US" dirty="0">
                <a:latin typeface="Arial" charset="0"/>
                <a:cs typeface="Arial" charset="0"/>
              </a:rPr>
              <a:t>: </a:t>
            </a:r>
            <a:r>
              <a:rPr lang="en-US" dirty="0" err="1">
                <a:latin typeface="Arial" charset="0"/>
                <a:cs typeface="Arial" charset="0"/>
              </a:rPr>
              <a:t>ve</a:t>
            </a:r>
            <a:r>
              <a:rPr lang="sl-SI" dirty="0">
                <a:latin typeface="Arial" charset="0"/>
                <a:cs typeface="Arial" charset="0"/>
              </a:rPr>
              <a:t>k</a:t>
            </a:r>
            <a:r>
              <a:rPr lang="en-US" dirty="0">
                <a:latin typeface="Arial" charset="0"/>
                <a:cs typeface="Arial" charset="0"/>
              </a:rPr>
              <a:t>tor </a:t>
            </a:r>
            <a:r>
              <a:rPr lang="sl-SI" dirty="0">
                <a:latin typeface="Arial" charset="0"/>
                <a:cs typeface="Arial" charset="0"/>
              </a:rPr>
              <a:t>iz koordinatnega središča do najbližje točke na premici</a:t>
            </a: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marL="0" lvl="1" eaLnBrk="1" hangingPunct="1">
              <a:defRPr/>
            </a:pPr>
            <a:r>
              <a:rPr lang="sl-SI" dirty="0">
                <a:latin typeface="Arial" charset="0"/>
                <a:cs typeface="Arial" charset="0"/>
              </a:rPr>
              <a:t> </a:t>
            </a:r>
          </a:p>
          <a:p>
            <a:pPr marL="357188" lvl="1" indent="-355600" eaLnBrk="1" hangingPunct="1">
              <a:defRPr/>
            </a:pPr>
            <a:r>
              <a:rPr lang="sl-SI" dirty="0">
                <a:latin typeface="Arial" charset="0"/>
                <a:cs typeface="Arial" charset="0"/>
              </a:rPr>
              <a:t> </a:t>
            </a:r>
          </a:p>
          <a:p>
            <a:pPr marL="357188" lvl="1" indent="-355600" eaLnBrk="1" hangingPunct="1">
              <a:spcBef>
                <a:spcPts val="600"/>
              </a:spcBef>
              <a:buFont typeface="+mj-lt"/>
              <a:buAutoNum type="arabicPeriod" startAt="2"/>
              <a:defRPr/>
            </a:pPr>
            <a:r>
              <a:rPr lang="sl-SI" dirty="0">
                <a:latin typeface="Arial" charset="0"/>
                <a:cs typeface="Arial" charset="0"/>
              </a:rPr>
              <a:t> </a:t>
            </a:r>
            <a:r>
              <a:rPr lang="sl-SI" b="1" dirty="0">
                <a:latin typeface="Arial" charset="0"/>
                <a:cs typeface="Arial" charset="0"/>
              </a:rPr>
              <a:t>n</a:t>
            </a:r>
            <a:r>
              <a:rPr lang="en-US" dirty="0">
                <a:latin typeface="Arial" charset="0"/>
                <a:cs typeface="Arial" charset="0"/>
              </a:rPr>
              <a:t>: normal</a:t>
            </a:r>
            <a:r>
              <a:rPr lang="sl-SI" dirty="0">
                <a:latin typeface="Arial" charset="0"/>
                <a:cs typeface="Arial" charset="0"/>
              </a:rPr>
              <a:t>a na ravnino, ki jo določata projekcijsko središče in premica</a:t>
            </a:r>
          </a:p>
          <a:p>
            <a:pPr marL="357188" lvl="1" indent="-355600" eaLnBrk="1" hangingPunct="1">
              <a:spcBef>
                <a:spcPts val="600"/>
              </a:spcBef>
              <a:buFont typeface="+mj-lt"/>
              <a:buAutoNum type="arabicPeriod" startAt="2"/>
              <a:defRPr/>
            </a:pPr>
            <a:r>
              <a:rPr lang="sl-SI" dirty="0">
                <a:latin typeface="Arial" charset="0"/>
                <a:cs typeface="Arial" charset="0"/>
              </a:rPr>
              <a:t>Enačba za sliko premice (rob), ki leži na slikovni ravnini:</a:t>
            </a:r>
            <a:endParaRPr lang="en-US" dirty="0">
              <a:latin typeface="Arial" charset="0"/>
              <a:cs typeface="Arial" charset="0"/>
            </a:endParaRPr>
          </a:p>
          <a:p>
            <a:pPr eaLnBrk="1" hangingPunct="1">
              <a:defRPr/>
            </a:pPr>
            <a:r>
              <a:rPr lang="sl-SI" dirty="0">
                <a:latin typeface="Arial" charset="0"/>
                <a:cs typeface="Arial" charset="0"/>
              </a:rPr>
              <a:t>	</a:t>
            </a:r>
            <a:r>
              <a:rPr lang="sl-SI" i="1" dirty="0">
                <a:latin typeface="Arial" charset="0"/>
                <a:cs typeface="Arial" charset="0"/>
              </a:rPr>
              <a:t>n</a:t>
            </a:r>
            <a:r>
              <a:rPr lang="en-US" i="1" baseline="-25000" dirty="0">
                <a:latin typeface="Arial" charset="0"/>
                <a:cs typeface="Arial" charset="0"/>
              </a:rPr>
              <a:t>x</a:t>
            </a:r>
            <a:r>
              <a:rPr lang="en-US" i="1" dirty="0">
                <a:latin typeface="Arial" charset="0"/>
                <a:cs typeface="Arial" charset="0"/>
              </a:rPr>
              <a:t>x </a:t>
            </a:r>
            <a:r>
              <a:rPr lang="en-US" dirty="0">
                <a:latin typeface="Arial" charset="0"/>
                <a:cs typeface="Arial" charset="0"/>
              </a:rPr>
              <a:t>+ </a:t>
            </a:r>
            <a:r>
              <a:rPr lang="sl-SI" i="1" dirty="0" err="1">
                <a:latin typeface="Arial" charset="0"/>
                <a:cs typeface="Arial" charset="0"/>
              </a:rPr>
              <a:t>n</a:t>
            </a:r>
            <a:r>
              <a:rPr lang="en-US" i="1" baseline="-25000" dirty="0" err="1">
                <a:latin typeface="Arial" charset="0"/>
                <a:cs typeface="Arial" charset="0"/>
              </a:rPr>
              <a:t>y</a:t>
            </a:r>
            <a:r>
              <a:rPr lang="en-US" i="1" dirty="0" err="1">
                <a:latin typeface="Arial" charset="0"/>
                <a:cs typeface="Arial" charset="0"/>
              </a:rPr>
              <a:t>y</a:t>
            </a:r>
            <a:r>
              <a:rPr lang="en-US" i="1" dirty="0">
                <a:latin typeface="Arial" charset="0"/>
                <a:cs typeface="Arial" charset="0"/>
              </a:rPr>
              <a:t> </a:t>
            </a:r>
            <a:r>
              <a:rPr lang="en-US" dirty="0">
                <a:latin typeface="Arial" charset="0"/>
                <a:cs typeface="Arial" charset="0"/>
              </a:rPr>
              <a:t>+ </a:t>
            </a:r>
            <a:r>
              <a:rPr lang="sl-SI" i="1" dirty="0" err="1">
                <a:latin typeface="Arial" charset="0"/>
                <a:cs typeface="Arial" charset="0"/>
              </a:rPr>
              <a:t>n</a:t>
            </a:r>
            <a:r>
              <a:rPr lang="en-US" i="1" baseline="-25000" dirty="0">
                <a:latin typeface="Arial" charset="0"/>
                <a:cs typeface="Arial" charset="0"/>
              </a:rPr>
              <a:t>z</a:t>
            </a:r>
            <a:r>
              <a:rPr lang="en-US" dirty="0">
                <a:latin typeface="Arial" charset="0"/>
                <a:cs typeface="Arial" charset="0"/>
              </a:rPr>
              <a:t> = 0</a:t>
            </a:r>
            <a:r>
              <a:rPr lang="sl-SI" dirty="0">
                <a:latin typeface="Arial" charset="0"/>
                <a:cs typeface="Arial" charset="0"/>
              </a:rPr>
              <a:t>   (pesek s slikovno ravnino </a:t>
            </a:r>
            <a:r>
              <a:rPr lang="sl-SI" i="1" dirty="0">
                <a:latin typeface="Arial" charset="0"/>
                <a:cs typeface="Arial" charset="0"/>
              </a:rPr>
              <a:t>z</a:t>
            </a:r>
            <a:r>
              <a:rPr lang="sl-SI" dirty="0">
                <a:latin typeface="Arial" charset="0"/>
                <a:cs typeface="Arial" charset="0"/>
              </a:rPr>
              <a:t> = 1)</a:t>
            </a:r>
            <a:endParaRPr lang="en-US" dirty="0">
              <a:latin typeface="Arial" charset="0"/>
              <a:cs typeface="Arial" charset="0"/>
            </a:endParaRPr>
          </a:p>
        </p:txBody>
      </p:sp>
      <p:grpSp>
        <p:nvGrpSpPr>
          <p:cNvPr id="310281" name="Group 23"/>
          <p:cNvGrpSpPr>
            <a:grpSpLocks/>
          </p:cNvGrpSpPr>
          <p:nvPr/>
        </p:nvGrpSpPr>
        <p:grpSpPr bwMode="auto">
          <a:xfrm>
            <a:off x="3924300" y="2257425"/>
            <a:ext cx="576263" cy="739775"/>
            <a:chOff x="3923928" y="2257127"/>
            <a:chExt cx="577402" cy="739825"/>
          </a:xfrm>
        </p:grpSpPr>
        <p:sp>
          <p:nvSpPr>
            <p:cNvPr id="310290" name="TextBox 20"/>
            <p:cNvSpPr txBox="1">
              <a:spLocks noChangeArrowheads="1"/>
            </p:cNvSpPr>
            <p:nvPr/>
          </p:nvSpPr>
          <p:spPr bwMode="auto">
            <a:xfrm>
              <a:off x="3923928" y="2257127"/>
              <a:ext cx="577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i="1"/>
                <a:t>z</a:t>
              </a:r>
              <a:r>
                <a:rPr lang="sl-SI" altLang="en-US" sz="1400"/>
                <a:t> = 1</a:t>
              </a:r>
              <a:endParaRPr lang="en-GB" altLang="en-US" sz="1400"/>
            </a:p>
          </p:txBody>
        </p:sp>
        <p:cxnSp>
          <p:nvCxnSpPr>
            <p:cNvPr id="23" name="Straight Arrow Connector 22"/>
            <p:cNvCxnSpPr>
              <a:stCxn id="310290" idx="2"/>
            </p:cNvCxnSpPr>
            <p:nvPr/>
          </p:nvCxnSpPr>
          <p:spPr>
            <a:xfrm flipH="1">
              <a:off x="3995507" y="2565123"/>
              <a:ext cx="217917" cy="431829"/>
            </a:xfrm>
            <a:prstGeom prst="straightConnector1">
              <a:avLst/>
            </a:prstGeom>
            <a:ln w="19050">
              <a:solidFill>
                <a:srgbClr val="FF9933"/>
              </a:solidFill>
              <a:tailEnd type="arrow"/>
            </a:ln>
          </p:spPr>
          <p:style>
            <a:lnRef idx="1">
              <a:schemeClr val="accent1"/>
            </a:lnRef>
            <a:fillRef idx="0">
              <a:schemeClr val="accent1"/>
            </a:fillRef>
            <a:effectRef idx="0">
              <a:schemeClr val="accent1"/>
            </a:effectRef>
            <a:fontRef idx="minor">
              <a:schemeClr val="tx1"/>
            </a:fontRef>
          </p:style>
        </p:cxnSp>
      </p:grpSp>
      <p:grpSp>
        <p:nvGrpSpPr>
          <p:cNvPr id="310282" name="Group 26"/>
          <p:cNvGrpSpPr>
            <a:grpSpLocks/>
          </p:cNvGrpSpPr>
          <p:nvPr/>
        </p:nvGrpSpPr>
        <p:grpSpPr bwMode="auto">
          <a:xfrm>
            <a:off x="1901825" y="1989138"/>
            <a:ext cx="4779963" cy="3278187"/>
            <a:chOff x="1902066" y="1988840"/>
            <a:chExt cx="4780227" cy="3278187"/>
          </a:xfrm>
        </p:grpSpPr>
        <p:grpSp>
          <p:nvGrpSpPr>
            <p:cNvPr id="310283" name="Group 19"/>
            <p:cNvGrpSpPr>
              <a:grpSpLocks/>
            </p:cNvGrpSpPr>
            <p:nvPr/>
          </p:nvGrpSpPr>
          <p:grpSpPr bwMode="auto">
            <a:xfrm>
              <a:off x="1907704" y="1988840"/>
              <a:ext cx="4774589" cy="3278187"/>
              <a:chOff x="1907704" y="1988840"/>
              <a:chExt cx="4774589" cy="3278187"/>
            </a:xfrm>
          </p:grpSpPr>
          <p:pic>
            <p:nvPicPr>
              <p:cNvPr id="310285"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7704" y="1988840"/>
                <a:ext cx="4495800" cy="327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0286" name="TextBox 11"/>
              <p:cNvSpPr txBox="1">
                <a:spLocks noChangeArrowheads="1"/>
              </p:cNvSpPr>
              <p:nvPr/>
            </p:nvSpPr>
            <p:spPr bwMode="auto">
              <a:xfrm>
                <a:off x="2483768" y="2780928"/>
                <a:ext cx="1282723"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slikovna ravnina</a:t>
                </a:r>
                <a:endParaRPr lang="en-GB" altLang="en-US" sz="1200"/>
              </a:p>
            </p:txBody>
          </p:sp>
          <p:sp>
            <p:nvSpPr>
              <p:cNvPr id="310287" name="TextBox 12"/>
              <p:cNvSpPr txBox="1">
                <a:spLocks noChangeArrowheads="1"/>
              </p:cNvSpPr>
              <p:nvPr/>
            </p:nvSpPr>
            <p:spPr bwMode="auto">
              <a:xfrm>
                <a:off x="3969601" y="3933056"/>
                <a:ext cx="104708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rob na sliki   </a:t>
                </a:r>
                <a:endParaRPr lang="en-GB" altLang="en-US" sz="1200"/>
              </a:p>
            </p:txBody>
          </p:sp>
          <p:sp>
            <p:nvSpPr>
              <p:cNvPr id="310288" name="TextBox 13"/>
              <p:cNvSpPr txBox="1">
                <a:spLocks noChangeArrowheads="1"/>
              </p:cNvSpPr>
              <p:nvPr/>
            </p:nvSpPr>
            <p:spPr bwMode="auto">
              <a:xfrm>
                <a:off x="5593533" y="2928473"/>
                <a:ext cx="1088760"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premica v 3D</a:t>
                </a:r>
                <a:endParaRPr lang="en-GB" altLang="en-US" sz="1200"/>
              </a:p>
            </p:txBody>
          </p:sp>
          <p:cxnSp>
            <p:nvCxnSpPr>
              <p:cNvPr id="16" name="Straight Arrow Connector 15"/>
              <p:cNvCxnSpPr/>
              <p:nvPr/>
            </p:nvCxnSpPr>
            <p:spPr>
              <a:xfrm flipV="1">
                <a:off x="5088355" y="3309640"/>
                <a:ext cx="288941" cy="720725"/>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
          <p:nvSpPr>
            <p:cNvPr id="310284" name="TextBox 24"/>
            <p:cNvSpPr txBox="1">
              <a:spLocks noChangeArrowheads="1"/>
            </p:cNvSpPr>
            <p:nvPr/>
          </p:nvSpPr>
          <p:spPr bwMode="auto">
            <a:xfrm>
              <a:off x="1902066" y="3501008"/>
              <a:ext cx="293670"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400" b="1"/>
                <a:t>n</a:t>
              </a:r>
              <a:endParaRPr lang="en-GB" altLang="en-US" sz="1400" b="1"/>
            </a:p>
          </p:txBody>
        </p:sp>
      </p:grpSp>
    </p:spTree>
  </p:cSld>
  <p:clrMapOvr>
    <a:masterClrMapping/>
  </p:clrMapOvr>
  <p:transition>
    <p:cove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1232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3179E97-9272-4AF0-B16F-038EA2B1984C}" type="slidenum">
              <a:rPr lang="en-GB" altLang="en-US" sz="1400" smtClean="0"/>
              <a:pPr>
                <a:spcBef>
                  <a:spcPct val="0"/>
                </a:spcBef>
                <a:buFontTx/>
                <a:buNone/>
              </a:pPr>
              <a:t>155</a:t>
            </a:fld>
            <a:endParaRPr lang="en-GB" altLang="en-US" sz="1400"/>
          </a:p>
        </p:txBody>
      </p:sp>
      <p:sp>
        <p:nvSpPr>
          <p:cNvPr id="312324" name="Rectangle 2"/>
          <p:cNvSpPr>
            <a:spLocks noGrp="1" noChangeArrowheads="1"/>
          </p:cNvSpPr>
          <p:nvPr>
            <p:ph type="ctrTitle"/>
          </p:nvPr>
        </p:nvSpPr>
        <p:spPr>
          <a:xfrm>
            <a:off x="0" y="260350"/>
            <a:ext cx="9144000" cy="647700"/>
          </a:xfrm>
        </p:spPr>
        <p:txBody>
          <a:bodyPr/>
          <a:lstStyle/>
          <a:p>
            <a:pPr defTabSz="912813" eaLnBrk="1" hangingPunct="1">
              <a:spcBef>
                <a:spcPts val="1200"/>
              </a:spcBef>
            </a:pPr>
            <a:r>
              <a:rPr lang="sl-SI" altLang="en-US" sz="2800" b="1"/>
              <a:t>PREDSTAVITEV PREMICE V 3D – KOORDINATE KAMERE</a:t>
            </a:r>
            <a:endParaRPr lang="en-GB" altLang="en-US" sz="2000"/>
          </a:p>
        </p:txBody>
      </p:sp>
      <p:sp>
        <p:nvSpPr>
          <p:cNvPr id="31232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1232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12327"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12376"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TextBox 46"/>
          <p:cNvSpPr txBox="1">
            <a:spLocks noChangeArrowheads="1"/>
          </p:cNvSpPr>
          <p:nvPr/>
        </p:nvSpPr>
        <p:spPr bwMode="auto">
          <a:xfrm>
            <a:off x="827088" y="981075"/>
            <a:ext cx="7993062" cy="5386388"/>
          </a:xfrm>
          <a:prstGeom prst="rect">
            <a:avLst/>
          </a:prstGeom>
          <a:noFill/>
          <a:ln w="9525">
            <a:noFill/>
            <a:miter lim="800000"/>
            <a:headEnd/>
            <a:tailEnd/>
          </a:ln>
        </p:spPr>
        <p:txBody>
          <a:bodyPr>
            <a:spAutoFit/>
          </a:bodyPr>
          <a:lstStyle/>
          <a:p>
            <a:pPr marL="342900" indent="-342900" eaLnBrk="1" hangingPunct="1">
              <a:buFont typeface="+mj-lt"/>
              <a:buAutoNum type="arabicPeriod"/>
              <a:defRPr/>
            </a:pPr>
            <a:r>
              <a:rPr lang="sl-SI" dirty="0">
                <a:latin typeface="Arial" charset="0"/>
                <a:cs typeface="Arial" charset="0"/>
              </a:rPr>
              <a:t>Postavimo kamero v svetovni (globalni) koordinatni sistem:</a:t>
            </a:r>
            <a:endParaRPr lang="en-US" dirty="0">
              <a:latin typeface="Arial" charset="0"/>
              <a:cs typeface="Arial" charset="0"/>
            </a:endParaRPr>
          </a:p>
          <a:p>
            <a:pPr marL="636588" lvl="1" indent="-179388" eaLnBrk="1" hangingPunct="1">
              <a:defRPr/>
            </a:pPr>
            <a:r>
              <a:rPr lang="sl-SI" b="1" dirty="0">
                <a:latin typeface="Arial" charset="0"/>
                <a:cs typeface="Arial" charset="0"/>
              </a:rPr>
              <a:t>t</a:t>
            </a:r>
            <a:r>
              <a:rPr lang="en-US" dirty="0">
                <a:latin typeface="Arial" charset="0"/>
                <a:cs typeface="Arial" charset="0"/>
              </a:rPr>
              <a:t>: </a:t>
            </a:r>
            <a:r>
              <a:rPr lang="sl-SI" dirty="0">
                <a:latin typeface="Arial" charset="0"/>
                <a:cs typeface="Arial" charset="0"/>
              </a:rPr>
              <a:t>premik kamerinega projekcijskega središča glede na svetovne koordinate  </a:t>
            </a:r>
            <a:endParaRPr lang="en-US" dirty="0">
              <a:latin typeface="Arial" charset="0"/>
              <a:cs typeface="Arial" charset="0"/>
            </a:endParaRPr>
          </a:p>
          <a:p>
            <a:pPr lvl="1" eaLnBrk="1" hangingPunct="1">
              <a:defRPr/>
            </a:pPr>
            <a:r>
              <a:rPr lang="sl-SI" b="1" dirty="0">
                <a:latin typeface="Arial" charset="0"/>
                <a:cs typeface="Arial" charset="0"/>
              </a:rPr>
              <a:t>R</a:t>
            </a:r>
            <a:r>
              <a:rPr lang="en-US" dirty="0">
                <a:latin typeface="Arial" charset="0"/>
                <a:cs typeface="Arial" charset="0"/>
              </a:rPr>
              <a:t>: </a:t>
            </a:r>
            <a:r>
              <a:rPr lang="sl-SI" dirty="0">
                <a:latin typeface="Arial" charset="0"/>
                <a:cs typeface="Arial" charset="0"/>
              </a:rPr>
              <a:t>rotacijska matrika kamere glede na svetovni koordinatni sistem</a:t>
            </a: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lvl="1" eaLnBrk="1" hangingPunct="1">
              <a:defRPr/>
            </a:pPr>
            <a:endParaRPr lang="sl-SI" dirty="0">
              <a:latin typeface="Arial" charset="0"/>
              <a:cs typeface="Arial" charset="0"/>
            </a:endParaRPr>
          </a:p>
          <a:p>
            <a:pPr marL="357188" lvl="1" indent="-355600" eaLnBrk="1" hangingPunct="1">
              <a:spcBef>
                <a:spcPts val="600"/>
              </a:spcBef>
              <a:buFont typeface="+mj-lt"/>
              <a:buAutoNum type="arabicPeriod" startAt="2"/>
              <a:defRPr/>
            </a:pPr>
            <a:r>
              <a:rPr lang="sl-SI" dirty="0">
                <a:latin typeface="Arial" charset="0"/>
                <a:cs typeface="Arial" charset="0"/>
              </a:rPr>
              <a:t>Stik vektorja </a:t>
            </a:r>
            <a:r>
              <a:rPr lang="sl-SI" b="1" dirty="0" err="1">
                <a:latin typeface="Arial" charset="0"/>
                <a:cs typeface="Arial" charset="0"/>
              </a:rPr>
              <a:t>d</a:t>
            </a:r>
            <a:r>
              <a:rPr lang="sl-SI" i="1" baseline="-25000" dirty="0" err="1">
                <a:latin typeface="Arial" charset="0"/>
                <a:cs typeface="Arial" charset="0"/>
              </a:rPr>
              <a:t>k</a:t>
            </a:r>
            <a:r>
              <a:rPr lang="sl-SI" dirty="0">
                <a:latin typeface="Arial" charset="0"/>
                <a:cs typeface="Arial" charset="0"/>
              </a:rPr>
              <a:t> s premico </a:t>
            </a:r>
            <a:r>
              <a:rPr lang="sl-SI" b="1" dirty="0">
                <a:latin typeface="Arial" charset="0"/>
                <a:cs typeface="Arial" charset="0"/>
              </a:rPr>
              <a:t>v</a:t>
            </a:r>
            <a:r>
              <a:rPr lang="sl-SI" dirty="0">
                <a:latin typeface="Arial" charset="0"/>
                <a:cs typeface="Arial" charset="0"/>
              </a:rPr>
              <a:t> izrazimo v svetovnih koordinatah:</a:t>
            </a:r>
          </a:p>
          <a:p>
            <a:pPr marL="357188" lvl="1" indent="-355600" eaLnBrk="1" hangingPunct="1">
              <a:spcBef>
                <a:spcPts val="600"/>
              </a:spcBef>
              <a:defRPr/>
            </a:pPr>
            <a:r>
              <a:rPr lang="sl-SI" dirty="0">
                <a:latin typeface="Arial" charset="0"/>
                <a:cs typeface="Arial" charset="0"/>
              </a:rPr>
              <a:t>	</a:t>
            </a:r>
            <a:r>
              <a:rPr lang="sl-SI" b="1" dirty="0" err="1">
                <a:latin typeface="Arial" charset="0"/>
                <a:cs typeface="Arial" charset="0"/>
              </a:rPr>
              <a:t>d</a:t>
            </a:r>
            <a:r>
              <a:rPr lang="sl-SI" i="1" baseline="-25000" dirty="0" err="1">
                <a:latin typeface="Arial" charset="0"/>
                <a:cs typeface="Arial" charset="0"/>
              </a:rPr>
              <a:t>k</a:t>
            </a:r>
            <a:r>
              <a:rPr lang="sl-SI" dirty="0">
                <a:latin typeface="Arial" charset="0"/>
                <a:cs typeface="Arial" charset="0"/>
              </a:rPr>
              <a:t> = </a:t>
            </a:r>
            <a:r>
              <a:rPr lang="sl-SI" b="1" dirty="0">
                <a:latin typeface="Arial" charset="0"/>
                <a:cs typeface="Arial" charset="0"/>
              </a:rPr>
              <a:t>R</a:t>
            </a:r>
            <a:r>
              <a:rPr lang="sl-SI" dirty="0">
                <a:latin typeface="Arial" charset="0"/>
                <a:cs typeface="Arial" charset="0"/>
              </a:rPr>
              <a:t>[</a:t>
            </a:r>
            <a:r>
              <a:rPr lang="sl-SI" b="1" dirty="0">
                <a:latin typeface="Arial" charset="0"/>
                <a:cs typeface="Arial" charset="0"/>
              </a:rPr>
              <a:t>d</a:t>
            </a:r>
            <a:r>
              <a:rPr lang="sl-SI" dirty="0">
                <a:latin typeface="Arial" charset="0"/>
                <a:cs typeface="Arial" charset="0"/>
              </a:rPr>
              <a:t> – </a:t>
            </a:r>
            <a:r>
              <a:rPr lang="sl-SI" b="1" dirty="0">
                <a:latin typeface="Arial" charset="0"/>
                <a:cs typeface="Arial" charset="0"/>
              </a:rPr>
              <a:t>t </a:t>
            </a:r>
            <a:r>
              <a:rPr lang="sl-SI" dirty="0">
                <a:latin typeface="Arial" charset="0"/>
                <a:cs typeface="Arial" charset="0"/>
              </a:rPr>
              <a:t>+ (</a:t>
            </a:r>
            <a:r>
              <a:rPr lang="sl-SI" b="1" dirty="0">
                <a:latin typeface="Arial" charset="0"/>
                <a:cs typeface="Arial" charset="0"/>
              </a:rPr>
              <a:t>t</a:t>
            </a:r>
            <a:r>
              <a:rPr lang="sl-SI" dirty="0">
                <a:latin typeface="Arial" charset="0"/>
                <a:cs typeface="Arial" charset="0"/>
              </a:rPr>
              <a:t>∙</a:t>
            </a:r>
            <a:r>
              <a:rPr lang="sl-SI" b="1" dirty="0">
                <a:latin typeface="Arial" charset="0"/>
                <a:cs typeface="Arial" charset="0"/>
              </a:rPr>
              <a:t>v</a:t>
            </a:r>
            <a:r>
              <a:rPr lang="sl-SI" dirty="0">
                <a:latin typeface="Arial" charset="0"/>
                <a:cs typeface="Arial" charset="0"/>
              </a:rPr>
              <a:t>)</a:t>
            </a:r>
            <a:r>
              <a:rPr lang="sl-SI" b="1" dirty="0">
                <a:latin typeface="Arial" charset="0"/>
                <a:cs typeface="Arial" charset="0"/>
              </a:rPr>
              <a:t>v</a:t>
            </a:r>
            <a:r>
              <a:rPr lang="sl-SI" dirty="0">
                <a:latin typeface="Arial" charset="0"/>
                <a:cs typeface="Arial" charset="0"/>
              </a:rPr>
              <a:t>]</a:t>
            </a:r>
          </a:p>
          <a:p>
            <a:pPr marL="357188" lvl="1" indent="-355600" eaLnBrk="1" hangingPunct="1">
              <a:spcBef>
                <a:spcPts val="600"/>
              </a:spcBef>
              <a:buFont typeface="+mj-lt"/>
              <a:buAutoNum type="arabicPeriod" startAt="3"/>
              <a:defRPr/>
            </a:pPr>
            <a:r>
              <a:rPr lang="sl-SI" dirty="0" err="1">
                <a:latin typeface="Arial" charset="0"/>
                <a:cs typeface="Arial" charset="0"/>
              </a:rPr>
              <a:t>Enotski</a:t>
            </a:r>
            <a:r>
              <a:rPr lang="sl-SI" dirty="0">
                <a:latin typeface="Arial" charset="0"/>
                <a:cs typeface="Arial" charset="0"/>
              </a:rPr>
              <a:t> vektor </a:t>
            </a:r>
            <a:r>
              <a:rPr lang="sl-SI" b="1" dirty="0">
                <a:latin typeface="Arial" charset="0"/>
                <a:cs typeface="Arial" charset="0"/>
              </a:rPr>
              <a:t>v</a:t>
            </a:r>
            <a:r>
              <a:rPr lang="sl-SI" dirty="0">
                <a:latin typeface="Arial" charset="0"/>
                <a:cs typeface="Arial" charset="0"/>
              </a:rPr>
              <a:t> se preslika v vektor </a:t>
            </a:r>
            <a:r>
              <a:rPr lang="sl-SI" b="1" dirty="0" err="1">
                <a:latin typeface="Arial" charset="0"/>
                <a:cs typeface="Arial" charset="0"/>
              </a:rPr>
              <a:t>v</a:t>
            </a:r>
            <a:r>
              <a:rPr lang="sl-SI" i="1" baseline="-25000" dirty="0" err="1">
                <a:latin typeface="Arial" charset="0"/>
                <a:cs typeface="Arial" charset="0"/>
              </a:rPr>
              <a:t>k</a:t>
            </a:r>
            <a:r>
              <a:rPr lang="sl-SI" i="1" baseline="-25000" dirty="0">
                <a:latin typeface="Arial" charset="0"/>
                <a:cs typeface="Arial" charset="0"/>
              </a:rPr>
              <a:t> </a:t>
            </a:r>
            <a:r>
              <a:rPr lang="sl-SI" dirty="0">
                <a:latin typeface="Arial" charset="0"/>
                <a:cs typeface="Arial" charset="0"/>
              </a:rPr>
              <a:t>v koordinatnem sistemu kamere:</a:t>
            </a:r>
          </a:p>
          <a:p>
            <a:pPr marL="357188" lvl="1" indent="-355600" eaLnBrk="1" hangingPunct="1">
              <a:spcBef>
                <a:spcPts val="600"/>
              </a:spcBef>
              <a:defRPr/>
            </a:pPr>
            <a:r>
              <a:rPr lang="sl-SI" dirty="0">
                <a:latin typeface="Arial" charset="0"/>
                <a:cs typeface="Arial" charset="0"/>
              </a:rPr>
              <a:t>	</a:t>
            </a:r>
            <a:r>
              <a:rPr lang="sl-SI" b="1" dirty="0">
                <a:latin typeface="Arial" charset="0"/>
                <a:cs typeface="Arial" charset="0"/>
              </a:rPr>
              <a:t> </a:t>
            </a:r>
            <a:r>
              <a:rPr lang="sl-SI" b="1" dirty="0" err="1">
                <a:latin typeface="Arial" charset="0"/>
                <a:cs typeface="Arial" charset="0"/>
              </a:rPr>
              <a:t>v</a:t>
            </a:r>
            <a:r>
              <a:rPr lang="sl-SI" i="1" baseline="-25000" dirty="0" err="1">
                <a:latin typeface="Arial" charset="0"/>
                <a:cs typeface="Arial" charset="0"/>
              </a:rPr>
              <a:t>k</a:t>
            </a:r>
            <a:r>
              <a:rPr lang="sl-SI" i="1" baseline="-25000" dirty="0">
                <a:latin typeface="Arial" charset="0"/>
                <a:cs typeface="Arial" charset="0"/>
              </a:rPr>
              <a:t> </a:t>
            </a:r>
            <a:r>
              <a:rPr lang="sl-SI" dirty="0">
                <a:latin typeface="Arial" charset="0"/>
                <a:cs typeface="Arial" charset="0"/>
              </a:rPr>
              <a:t>= </a:t>
            </a:r>
            <a:r>
              <a:rPr lang="sl-SI" b="1" dirty="0">
                <a:latin typeface="Arial" charset="0"/>
                <a:cs typeface="Arial" charset="0"/>
              </a:rPr>
              <a:t>R</a:t>
            </a:r>
            <a:r>
              <a:rPr lang="sl-SI" dirty="0">
                <a:latin typeface="Arial" charset="0"/>
                <a:cs typeface="Arial" charset="0"/>
              </a:rPr>
              <a:t>∙</a:t>
            </a:r>
            <a:r>
              <a:rPr lang="sl-SI" b="1" dirty="0">
                <a:latin typeface="Arial" charset="0"/>
                <a:cs typeface="Arial" charset="0"/>
              </a:rPr>
              <a:t>v</a:t>
            </a:r>
          </a:p>
        </p:txBody>
      </p:sp>
      <p:grpSp>
        <p:nvGrpSpPr>
          <p:cNvPr id="312329" name="Group 25"/>
          <p:cNvGrpSpPr>
            <a:grpSpLocks/>
          </p:cNvGrpSpPr>
          <p:nvPr/>
        </p:nvGrpSpPr>
        <p:grpSpPr bwMode="auto">
          <a:xfrm>
            <a:off x="1979613" y="2157413"/>
            <a:ext cx="5199062" cy="2740025"/>
            <a:chOff x="1907704" y="2348880"/>
            <a:chExt cx="5486400" cy="3459163"/>
          </a:xfrm>
        </p:grpSpPr>
        <p:pic>
          <p:nvPicPr>
            <p:cNvPr id="312342"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7704" y="2348880"/>
              <a:ext cx="5486400" cy="345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2343" name="TextBox 17"/>
            <p:cNvSpPr txBox="1">
              <a:spLocks noChangeArrowheads="1"/>
            </p:cNvSpPr>
            <p:nvPr/>
          </p:nvSpPr>
          <p:spPr bwMode="auto">
            <a:xfrm>
              <a:off x="3779912" y="3284984"/>
              <a:ext cx="1975221"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koordinatni sistem kamere</a:t>
              </a:r>
              <a:endParaRPr lang="en-GB" altLang="en-US" sz="1200"/>
            </a:p>
          </p:txBody>
        </p:sp>
        <p:sp>
          <p:nvSpPr>
            <p:cNvPr id="312344" name="TextBox 18"/>
            <p:cNvSpPr txBox="1">
              <a:spLocks noChangeArrowheads="1"/>
            </p:cNvSpPr>
            <p:nvPr/>
          </p:nvSpPr>
          <p:spPr bwMode="auto">
            <a:xfrm>
              <a:off x="4961540" y="3800073"/>
              <a:ext cx="378630"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d</a:t>
              </a:r>
              <a:r>
                <a:rPr lang="sl-SI" altLang="en-US" sz="1600" i="1" baseline="-25000"/>
                <a:t>k</a:t>
              </a:r>
              <a:endParaRPr lang="en-GB" altLang="en-US" sz="1600" i="1" baseline="-25000"/>
            </a:p>
          </p:txBody>
        </p:sp>
        <p:sp>
          <p:nvSpPr>
            <p:cNvPr id="312345" name="TextBox 19"/>
            <p:cNvSpPr txBox="1">
              <a:spLocks noChangeArrowheads="1"/>
            </p:cNvSpPr>
            <p:nvPr/>
          </p:nvSpPr>
          <p:spPr bwMode="auto">
            <a:xfrm>
              <a:off x="4631634" y="4788307"/>
              <a:ext cx="405880"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d </a:t>
              </a:r>
              <a:r>
                <a:rPr lang="sl-SI" altLang="en-US" sz="1600" i="1" baseline="-25000"/>
                <a:t> </a:t>
              </a:r>
              <a:endParaRPr lang="en-GB" altLang="en-US" sz="1600" i="1" baseline="-25000"/>
            </a:p>
          </p:txBody>
        </p:sp>
        <p:sp>
          <p:nvSpPr>
            <p:cNvPr id="312346" name="TextBox 20"/>
            <p:cNvSpPr txBox="1">
              <a:spLocks noChangeArrowheads="1"/>
            </p:cNvSpPr>
            <p:nvPr/>
          </p:nvSpPr>
          <p:spPr bwMode="auto">
            <a:xfrm>
              <a:off x="2771800" y="4501749"/>
              <a:ext cx="369012"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t  </a:t>
              </a:r>
              <a:endParaRPr lang="en-GB" altLang="en-US" sz="1400" i="1" baseline="-25000"/>
            </a:p>
          </p:txBody>
        </p:sp>
        <p:sp>
          <p:nvSpPr>
            <p:cNvPr id="312347" name="TextBox 21"/>
            <p:cNvSpPr txBox="1">
              <a:spLocks noChangeArrowheads="1"/>
            </p:cNvSpPr>
            <p:nvPr/>
          </p:nvSpPr>
          <p:spPr bwMode="auto">
            <a:xfrm>
              <a:off x="3079710" y="3501008"/>
              <a:ext cx="399609" cy="4275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n</a:t>
              </a:r>
              <a:r>
                <a:rPr lang="sl-SI" altLang="en-US" sz="1600" i="1" baseline="-25000"/>
                <a:t>k</a:t>
              </a:r>
              <a:endParaRPr lang="en-GB" altLang="en-US" sz="1400" i="1" baseline="-25000"/>
            </a:p>
          </p:txBody>
        </p:sp>
        <p:sp>
          <p:nvSpPr>
            <p:cNvPr id="312348" name="TextBox 22"/>
            <p:cNvSpPr txBox="1">
              <a:spLocks noChangeArrowheads="1"/>
            </p:cNvSpPr>
            <p:nvPr/>
          </p:nvSpPr>
          <p:spPr bwMode="auto">
            <a:xfrm>
              <a:off x="1979712" y="4674622"/>
              <a:ext cx="387765" cy="4275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t> n</a:t>
              </a:r>
              <a:endParaRPr lang="en-GB" altLang="en-US" sz="1400" i="1" baseline="-25000"/>
            </a:p>
          </p:txBody>
        </p:sp>
        <p:sp>
          <p:nvSpPr>
            <p:cNvPr id="312349" name="TextBox 23"/>
            <p:cNvSpPr txBox="1">
              <a:spLocks noChangeArrowheads="1"/>
            </p:cNvSpPr>
            <p:nvPr/>
          </p:nvSpPr>
          <p:spPr bwMode="auto">
            <a:xfrm>
              <a:off x="2327378" y="5517232"/>
              <a:ext cx="2069797"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svetovni koordinatni sistem </a:t>
              </a:r>
              <a:endParaRPr lang="en-GB" altLang="en-US" sz="1200"/>
            </a:p>
          </p:txBody>
        </p:sp>
      </p:grpSp>
      <p:grpSp>
        <p:nvGrpSpPr>
          <p:cNvPr id="312330" name="Group 38"/>
          <p:cNvGrpSpPr>
            <a:grpSpLocks/>
          </p:cNvGrpSpPr>
          <p:nvPr/>
        </p:nvGrpSpPr>
        <p:grpSpPr bwMode="auto">
          <a:xfrm>
            <a:off x="2705100" y="3657600"/>
            <a:ext cx="1271588" cy="2035175"/>
            <a:chOff x="2704662" y="3769162"/>
            <a:chExt cx="1271396" cy="2036102"/>
          </a:xfrm>
        </p:grpSpPr>
        <p:cxnSp>
          <p:nvCxnSpPr>
            <p:cNvPr id="34" name="Straight Connector 33"/>
            <p:cNvCxnSpPr/>
            <p:nvPr/>
          </p:nvCxnSpPr>
          <p:spPr>
            <a:xfrm>
              <a:off x="3760191" y="3769162"/>
              <a:ext cx="215867" cy="503467"/>
            </a:xfrm>
            <a:prstGeom prst="line">
              <a:avLst/>
            </a:prstGeom>
            <a:ln w="19050">
              <a:solidFill>
                <a:srgbClr val="FF9933"/>
              </a:solidFill>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2704662" y="5373267"/>
              <a:ext cx="360309" cy="431997"/>
            </a:xfrm>
            <a:prstGeom prst="ellipse">
              <a:avLst/>
            </a:prstGeom>
            <a:no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38" name="Straight Arrow Connector 37"/>
            <p:cNvCxnSpPr>
              <a:stCxn id="36" idx="0"/>
            </p:cNvCxnSpPr>
            <p:nvPr/>
          </p:nvCxnSpPr>
          <p:spPr>
            <a:xfrm flipV="1">
              <a:off x="2884023" y="4077277"/>
              <a:ext cx="968229" cy="1295990"/>
            </a:xfrm>
            <a:prstGeom prst="straightConnector1">
              <a:avLst/>
            </a:prstGeom>
            <a:ln w="19050">
              <a:solidFill>
                <a:srgbClr val="FF9933"/>
              </a:solidFill>
              <a:tailEnd type="arrow"/>
            </a:ln>
          </p:spPr>
          <p:style>
            <a:lnRef idx="1">
              <a:schemeClr val="accent1"/>
            </a:lnRef>
            <a:fillRef idx="0">
              <a:schemeClr val="accent1"/>
            </a:fillRef>
            <a:effectRef idx="0">
              <a:schemeClr val="accent1"/>
            </a:effectRef>
            <a:fontRef idx="minor">
              <a:schemeClr val="tx1"/>
            </a:fontRef>
          </p:style>
        </p:cxnSp>
      </p:grpSp>
      <p:grpSp>
        <p:nvGrpSpPr>
          <p:cNvPr id="312331" name="Group 42"/>
          <p:cNvGrpSpPr>
            <a:grpSpLocks/>
          </p:cNvGrpSpPr>
          <p:nvPr/>
        </p:nvGrpSpPr>
        <p:grpSpPr bwMode="auto">
          <a:xfrm>
            <a:off x="2667000" y="2884488"/>
            <a:ext cx="4032250" cy="2808287"/>
            <a:chOff x="2667540" y="2996952"/>
            <a:chExt cx="4032448" cy="2808312"/>
          </a:xfrm>
        </p:grpSpPr>
        <p:cxnSp>
          <p:nvCxnSpPr>
            <p:cNvPr id="30" name="Straight Connector 29"/>
            <p:cNvCxnSpPr/>
            <p:nvPr/>
          </p:nvCxnSpPr>
          <p:spPr>
            <a:xfrm>
              <a:off x="6484077" y="2996952"/>
              <a:ext cx="215911" cy="576267"/>
            </a:xfrm>
            <a:prstGeom prst="line">
              <a:avLst/>
            </a:prstGeom>
            <a:ln w="19050">
              <a:solidFill>
                <a:srgbClr val="0000FF"/>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2667540" y="5373460"/>
              <a:ext cx="576291" cy="431804"/>
            </a:xfrm>
            <a:prstGeom prst="ellipse">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42" name="Straight Arrow Connector 41"/>
            <p:cNvCxnSpPr>
              <a:stCxn id="40" idx="6"/>
            </p:cNvCxnSpPr>
            <p:nvPr/>
          </p:nvCxnSpPr>
          <p:spPr>
            <a:xfrm flipV="1">
              <a:off x="3243831" y="3284292"/>
              <a:ext cx="3271998" cy="2305071"/>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grpSp>
        <p:nvGrpSpPr>
          <p:cNvPr id="312332" name="Group 49"/>
          <p:cNvGrpSpPr>
            <a:grpSpLocks/>
          </p:cNvGrpSpPr>
          <p:nvPr/>
        </p:nvGrpSpPr>
        <p:grpSpPr bwMode="auto">
          <a:xfrm>
            <a:off x="1908175" y="2905125"/>
            <a:ext cx="4516438" cy="2716213"/>
            <a:chOff x="1907704" y="3016830"/>
            <a:chExt cx="4516626" cy="2716426"/>
          </a:xfrm>
        </p:grpSpPr>
        <p:cxnSp>
          <p:nvCxnSpPr>
            <p:cNvPr id="45" name="Straight Arrow Connector 44"/>
            <p:cNvCxnSpPr/>
            <p:nvPr/>
          </p:nvCxnSpPr>
          <p:spPr>
            <a:xfrm flipH="1">
              <a:off x="5344785" y="3016830"/>
              <a:ext cx="1079545" cy="863668"/>
            </a:xfrm>
            <a:prstGeom prst="straightConnector1">
              <a:avLst/>
            </a:prstGeom>
            <a:ln w="19050">
              <a:solidFill>
                <a:srgbClr val="00B050"/>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2628459" y="3932890"/>
              <a:ext cx="2735377" cy="720782"/>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9" name="Rounded Rectangle 48"/>
            <p:cNvSpPr/>
            <p:nvPr/>
          </p:nvSpPr>
          <p:spPr>
            <a:xfrm>
              <a:off x="1907704" y="5445895"/>
              <a:ext cx="1439923" cy="287361"/>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spTree>
  </p:cSld>
  <p:clrMapOvr>
    <a:masterClrMapping/>
  </p:clrMapOvr>
  <p:transition>
    <p:cove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143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21229F5-C10A-42A8-8EBA-E645FC332575}" type="slidenum">
              <a:rPr lang="en-GB" altLang="en-US" sz="1400" smtClean="0"/>
              <a:pPr>
                <a:spcBef>
                  <a:spcPct val="0"/>
                </a:spcBef>
                <a:buFontTx/>
                <a:buNone/>
              </a:pPr>
              <a:t>156</a:t>
            </a:fld>
            <a:endParaRPr lang="en-GB" altLang="en-US" sz="1400"/>
          </a:p>
        </p:txBody>
      </p:sp>
      <p:sp>
        <p:nvSpPr>
          <p:cNvPr id="314372" name="Rectangle 2"/>
          <p:cNvSpPr>
            <a:spLocks noGrp="1" noChangeArrowheads="1"/>
          </p:cNvSpPr>
          <p:nvPr>
            <p:ph type="ctrTitle"/>
          </p:nvPr>
        </p:nvSpPr>
        <p:spPr>
          <a:xfrm>
            <a:off x="0" y="260350"/>
            <a:ext cx="9144000" cy="647700"/>
          </a:xfrm>
        </p:spPr>
        <p:txBody>
          <a:bodyPr/>
          <a:lstStyle/>
          <a:p>
            <a:pPr defTabSz="912813" eaLnBrk="1" hangingPunct="1">
              <a:spcBef>
                <a:spcPts val="1200"/>
              </a:spcBef>
            </a:pPr>
            <a:r>
              <a:rPr lang="sl-SI" altLang="en-US" sz="2800" b="1"/>
              <a:t>PREDSTAVITEV PREMICE V 3D – KOORDINATE KAMERE (2)</a:t>
            </a:r>
            <a:endParaRPr lang="en-GB" altLang="en-US" sz="2000"/>
          </a:p>
        </p:txBody>
      </p:sp>
      <p:sp>
        <p:nvSpPr>
          <p:cNvPr id="31437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1437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1437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14403"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TextBox 46"/>
          <p:cNvSpPr txBox="1">
            <a:spLocks noChangeArrowheads="1"/>
          </p:cNvSpPr>
          <p:nvPr/>
        </p:nvSpPr>
        <p:spPr bwMode="auto">
          <a:xfrm>
            <a:off x="827088" y="1196975"/>
            <a:ext cx="7993062" cy="4032250"/>
          </a:xfrm>
          <a:prstGeom prst="rect">
            <a:avLst/>
          </a:prstGeom>
          <a:noFill/>
          <a:ln w="9525">
            <a:noFill/>
            <a:miter lim="800000"/>
            <a:headEnd/>
            <a:tailEnd/>
          </a:ln>
        </p:spPr>
        <p:txBody>
          <a:bodyPr>
            <a:spAutoFit/>
          </a:bodyPr>
          <a:lstStyle/>
          <a:p>
            <a:pPr marL="342900" indent="-342900" eaLnBrk="1" hangingPunct="1">
              <a:buFont typeface="+mj-lt"/>
              <a:buAutoNum type="arabicPeriod"/>
              <a:defRPr/>
            </a:pPr>
            <a:r>
              <a:rPr lang="sl-SI" dirty="0">
                <a:latin typeface="Arial" charset="0"/>
                <a:cs typeface="Arial" charset="0"/>
              </a:rPr>
              <a:t>Normala na ravnino, ki jo določata projekcijsko središče kamere in premica </a:t>
            </a:r>
            <a:r>
              <a:rPr lang="sl-SI" b="1" dirty="0">
                <a:latin typeface="Arial" charset="0"/>
                <a:cs typeface="Arial" charset="0"/>
              </a:rPr>
              <a:t>v</a:t>
            </a:r>
            <a:r>
              <a:rPr lang="sl-SI" dirty="0">
                <a:latin typeface="Arial" charset="0"/>
                <a:cs typeface="Arial" charset="0"/>
              </a:rPr>
              <a:t>, je določena z vektorskim produktom med </a:t>
            </a:r>
            <a:r>
              <a:rPr lang="sl-SI" b="1" dirty="0" err="1">
                <a:latin typeface="Arial" charset="0"/>
                <a:cs typeface="Arial" charset="0"/>
              </a:rPr>
              <a:t>v</a:t>
            </a:r>
            <a:r>
              <a:rPr lang="sl-SI" i="1" baseline="-25000" dirty="0" err="1">
                <a:latin typeface="Arial" charset="0"/>
                <a:cs typeface="Arial" charset="0"/>
              </a:rPr>
              <a:t>k</a:t>
            </a:r>
            <a:r>
              <a:rPr lang="sl-SI" dirty="0">
                <a:latin typeface="Arial" charset="0"/>
                <a:cs typeface="Arial" charset="0"/>
              </a:rPr>
              <a:t> in </a:t>
            </a:r>
            <a:r>
              <a:rPr lang="sl-SI" b="1" dirty="0" err="1">
                <a:latin typeface="Arial" charset="0"/>
                <a:cs typeface="Arial" charset="0"/>
              </a:rPr>
              <a:t>d</a:t>
            </a:r>
            <a:r>
              <a:rPr lang="sl-SI" i="1" baseline="-25000" dirty="0" err="1">
                <a:latin typeface="Arial" charset="0"/>
                <a:cs typeface="Arial" charset="0"/>
              </a:rPr>
              <a:t>k</a:t>
            </a:r>
            <a:r>
              <a:rPr lang="sl-SI" dirty="0">
                <a:latin typeface="Arial" charset="0"/>
                <a:cs typeface="Arial" charset="0"/>
              </a:rPr>
              <a:t>:</a:t>
            </a:r>
          </a:p>
          <a:p>
            <a:pPr marL="342900" indent="-342900" eaLnBrk="1" hangingPunct="1">
              <a:spcBef>
                <a:spcPts val="600"/>
              </a:spcBef>
              <a:defRPr/>
            </a:pPr>
            <a:r>
              <a:rPr lang="sl-SI" dirty="0">
                <a:latin typeface="Arial" charset="0"/>
                <a:cs typeface="Arial" charset="0"/>
              </a:rPr>
              <a:t>		</a:t>
            </a:r>
            <a:r>
              <a:rPr lang="sl-SI" b="1" dirty="0" err="1">
                <a:latin typeface="Arial" charset="0"/>
                <a:cs typeface="Arial" charset="0"/>
              </a:rPr>
              <a:t>n</a:t>
            </a:r>
            <a:r>
              <a:rPr lang="sl-SI" i="1" baseline="-25000" dirty="0" err="1">
                <a:latin typeface="Arial" charset="0"/>
                <a:cs typeface="Arial" charset="0"/>
              </a:rPr>
              <a:t>k</a:t>
            </a:r>
            <a:r>
              <a:rPr lang="sl-SI" dirty="0">
                <a:latin typeface="Arial" charset="0"/>
                <a:cs typeface="Arial" charset="0"/>
              </a:rPr>
              <a:t> = </a:t>
            </a:r>
            <a:r>
              <a:rPr lang="sl-SI" b="1" dirty="0" err="1">
                <a:latin typeface="Arial" charset="0"/>
                <a:cs typeface="Arial" charset="0"/>
              </a:rPr>
              <a:t>v</a:t>
            </a:r>
            <a:r>
              <a:rPr lang="sl-SI" i="1" baseline="-25000" dirty="0" err="1">
                <a:latin typeface="Arial" charset="0"/>
                <a:cs typeface="Arial" charset="0"/>
              </a:rPr>
              <a:t>k</a:t>
            </a:r>
            <a:r>
              <a:rPr lang="sl-SI" dirty="0">
                <a:latin typeface="Arial" charset="0"/>
                <a:cs typeface="Arial" charset="0"/>
              </a:rPr>
              <a:t> </a:t>
            </a:r>
            <a:r>
              <a:rPr lang="sl-SI" dirty="0">
                <a:latin typeface="Arial" charset="0"/>
                <a:cs typeface="Arial" charset="0"/>
                <a:sym typeface="Symbol"/>
              </a:rPr>
              <a:t> </a:t>
            </a:r>
            <a:r>
              <a:rPr lang="sl-SI" b="1" dirty="0" err="1">
                <a:latin typeface="Arial" charset="0"/>
                <a:cs typeface="Arial" charset="0"/>
                <a:sym typeface="Symbol"/>
              </a:rPr>
              <a:t>d</a:t>
            </a:r>
            <a:r>
              <a:rPr lang="sl-SI" i="1" baseline="-25000" dirty="0" err="1">
                <a:latin typeface="Arial" charset="0"/>
                <a:cs typeface="Arial" charset="0"/>
                <a:sym typeface="Symbol"/>
              </a:rPr>
              <a:t>k</a:t>
            </a:r>
            <a:endParaRPr lang="sl-SI" i="1" baseline="-25000" dirty="0">
              <a:latin typeface="Arial" charset="0"/>
              <a:cs typeface="Arial" charset="0"/>
              <a:sym typeface="Symbol"/>
            </a:endParaRPr>
          </a:p>
          <a:p>
            <a:pPr marL="342900" indent="-342900" eaLnBrk="1" hangingPunct="1">
              <a:spcBef>
                <a:spcPts val="600"/>
              </a:spcBef>
              <a:buFont typeface="+mj-lt"/>
              <a:buAutoNum type="arabicPeriod" startAt="2"/>
              <a:defRPr/>
            </a:pPr>
            <a:r>
              <a:rPr lang="sl-SI" dirty="0">
                <a:latin typeface="Arial" charset="0"/>
                <a:cs typeface="Arial" charset="0"/>
                <a:sym typeface="Symbol"/>
              </a:rPr>
              <a:t>To normalo izrazimo z vektorji v svetovnem koordinatnem sistemu:</a:t>
            </a:r>
          </a:p>
          <a:p>
            <a:pPr marL="342900" indent="-342900" eaLnBrk="1" hangingPunct="1">
              <a:defRPr/>
            </a:pPr>
            <a:r>
              <a:rPr lang="sl-SI" b="1" dirty="0">
                <a:latin typeface="Arial" charset="0"/>
                <a:cs typeface="Arial" charset="0"/>
              </a:rPr>
              <a:t>		</a:t>
            </a:r>
            <a:r>
              <a:rPr lang="sl-SI" b="1" dirty="0" err="1">
                <a:latin typeface="Arial" charset="0"/>
                <a:cs typeface="Arial" charset="0"/>
              </a:rPr>
              <a:t>n</a:t>
            </a:r>
            <a:r>
              <a:rPr lang="sl-SI" i="1" baseline="-25000" dirty="0" err="1">
                <a:latin typeface="Arial" charset="0"/>
                <a:cs typeface="Arial" charset="0"/>
              </a:rPr>
              <a:t>k</a:t>
            </a:r>
            <a:r>
              <a:rPr lang="sl-SI" dirty="0">
                <a:latin typeface="Arial" charset="0"/>
                <a:cs typeface="Arial" charset="0"/>
              </a:rPr>
              <a:t> = </a:t>
            </a:r>
            <a:r>
              <a:rPr lang="sl-SI" b="1" dirty="0">
                <a:latin typeface="Arial" charset="0"/>
                <a:cs typeface="Arial" charset="0"/>
              </a:rPr>
              <a:t>R</a:t>
            </a:r>
            <a:r>
              <a:rPr lang="sl-SI" dirty="0">
                <a:latin typeface="Arial" charset="0"/>
                <a:cs typeface="Arial" charset="0"/>
              </a:rPr>
              <a:t>[</a:t>
            </a:r>
            <a:r>
              <a:rPr lang="sl-SI" b="1" dirty="0">
                <a:latin typeface="Arial" charset="0"/>
                <a:cs typeface="Arial" charset="0"/>
              </a:rPr>
              <a:t>v</a:t>
            </a:r>
            <a:r>
              <a:rPr lang="sl-SI" dirty="0">
                <a:latin typeface="Arial" charset="0"/>
                <a:cs typeface="Arial" charset="0"/>
              </a:rPr>
              <a:t> </a:t>
            </a:r>
            <a:r>
              <a:rPr lang="sl-SI" dirty="0">
                <a:latin typeface="Arial" charset="0"/>
                <a:cs typeface="Arial" charset="0"/>
                <a:sym typeface="Symbol"/>
              </a:rPr>
              <a:t> (</a:t>
            </a:r>
            <a:r>
              <a:rPr lang="sl-SI" b="1" dirty="0">
                <a:latin typeface="Arial" charset="0"/>
                <a:cs typeface="Arial" charset="0"/>
                <a:sym typeface="Symbol"/>
              </a:rPr>
              <a:t>d</a:t>
            </a:r>
            <a:r>
              <a:rPr lang="sl-SI" dirty="0">
                <a:latin typeface="Arial" charset="0"/>
                <a:cs typeface="Arial" charset="0"/>
                <a:sym typeface="Symbol"/>
              </a:rPr>
              <a:t> – </a:t>
            </a:r>
            <a:r>
              <a:rPr lang="sl-SI" b="1" dirty="0">
                <a:latin typeface="Arial" charset="0"/>
                <a:cs typeface="Arial" charset="0"/>
                <a:sym typeface="Symbol"/>
              </a:rPr>
              <a:t>t</a:t>
            </a:r>
            <a:r>
              <a:rPr lang="sl-SI" dirty="0">
                <a:latin typeface="Arial" charset="0"/>
                <a:cs typeface="Arial" charset="0"/>
                <a:sym typeface="Symbol"/>
              </a:rPr>
              <a:t>)] ,</a:t>
            </a:r>
            <a:endParaRPr lang="sl-SI" dirty="0">
              <a:latin typeface="Arial" charset="0"/>
              <a:cs typeface="Arial" charset="0"/>
            </a:endParaRPr>
          </a:p>
          <a:p>
            <a:pPr lvl="1" eaLnBrk="1" hangingPunct="1">
              <a:spcBef>
                <a:spcPts val="600"/>
              </a:spcBef>
              <a:defRPr/>
            </a:pPr>
            <a:r>
              <a:rPr lang="sl-SI" dirty="0">
                <a:latin typeface="Arial" charset="0"/>
                <a:cs typeface="Arial" charset="0"/>
              </a:rPr>
              <a:t>saj je vektorski produkt </a:t>
            </a:r>
            <a:r>
              <a:rPr lang="sl-SI" dirty="0" err="1">
                <a:latin typeface="Arial" charset="0"/>
                <a:cs typeface="Arial" charset="0"/>
              </a:rPr>
              <a:t>enotskega</a:t>
            </a:r>
            <a:r>
              <a:rPr lang="sl-SI" dirty="0">
                <a:latin typeface="Arial" charset="0"/>
                <a:cs typeface="Arial" charset="0"/>
              </a:rPr>
              <a:t> vektorja </a:t>
            </a:r>
            <a:r>
              <a:rPr lang="sl-SI" b="1" dirty="0">
                <a:latin typeface="Arial" charset="0"/>
                <a:cs typeface="Arial" charset="0"/>
              </a:rPr>
              <a:t>v </a:t>
            </a:r>
            <a:r>
              <a:rPr lang="sl-SI" dirty="0">
                <a:latin typeface="Arial" charset="0"/>
                <a:cs typeface="Arial" charset="0"/>
              </a:rPr>
              <a:t>samega s seboj 0.</a:t>
            </a:r>
          </a:p>
          <a:p>
            <a:pPr marL="357188" lvl="1" indent="-355600" eaLnBrk="1" hangingPunct="1">
              <a:spcBef>
                <a:spcPts val="600"/>
              </a:spcBef>
              <a:buFont typeface="+mj-lt"/>
              <a:buAutoNum type="arabicPeriod" startAt="3"/>
              <a:defRPr/>
            </a:pPr>
            <a:r>
              <a:rPr lang="sl-SI" dirty="0">
                <a:latin typeface="Arial" charset="0"/>
                <a:cs typeface="Arial" charset="0"/>
              </a:rPr>
              <a:t>Vektor </a:t>
            </a:r>
            <a:r>
              <a:rPr lang="sl-SI" b="1" dirty="0" err="1">
                <a:latin typeface="Arial" charset="0"/>
                <a:cs typeface="Arial" charset="0"/>
              </a:rPr>
              <a:t>n</a:t>
            </a:r>
            <a:r>
              <a:rPr lang="sl-SI" i="1" baseline="-25000" dirty="0" err="1">
                <a:latin typeface="Arial" charset="0"/>
                <a:cs typeface="Arial" charset="0"/>
              </a:rPr>
              <a:t>k</a:t>
            </a:r>
            <a:r>
              <a:rPr lang="sl-SI" dirty="0">
                <a:latin typeface="Arial" charset="0"/>
                <a:cs typeface="Arial" charset="0"/>
              </a:rPr>
              <a:t> še normiramo, da dobi dolžino 1 (normalo):</a:t>
            </a:r>
          </a:p>
          <a:p>
            <a:pPr lvl="1" eaLnBrk="1" hangingPunct="1">
              <a:spcBef>
                <a:spcPts val="600"/>
              </a:spcBef>
              <a:defRPr/>
            </a:pPr>
            <a:r>
              <a:rPr lang="sl-SI" b="1" dirty="0">
                <a:latin typeface="Arial" charset="0"/>
                <a:cs typeface="Arial" charset="0"/>
              </a:rPr>
              <a:t>	</a:t>
            </a:r>
            <a:r>
              <a:rPr lang="sl-SI" b="1" dirty="0" err="1">
                <a:latin typeface="Arial" charset="0"/>
                <a:cs typeface="Arial" charset="0"/>
              </a:rPr>
              <a:t>n</a:t>
            </a:r>
            <a:r>
              <a:rPr lang="sl-SI" i="1" baseline="-25000" dirty="0" err="1">
                <a:latin typeface="Arial" charset="0"/>
                <a:cs typeface="Arial" charset="0"/>
              </a:rPr>
              <a:t>k</a:t>
            </a:r>
            <a:r>
              <a:rPr lang="sl-SI" dirty="0">
                <a:latin typeface="Arial" charset="0"/>
                <a:cs typeface="Arial" charset="0"/>
              </a:rPr>
              <a:t> = </a:t>
            </a:r>
            <a:r>
              <a:rPr lang="sl-SI" b="1" dirty="0" err="1">
                <a:latin typeface="Arial" charset="0"/>
                <a:cs typeface="Arial" charset="0"/>
              </a:rPr>
              <a:t>n</a:t>
            </a:r>
            <a:r>
              <a:rPr lang="sl-SI" i="1" baseline="-25000" dirty="0" err="1">
                <a:latin typeface="Arial" charset="0"/>
                <a:cs typeface="Arial" charset="0"/>
              </a:rPr>
              <a:t>k</a:t>
            </a:r>
            <a:r>
              <a:rPr lang="sl-SI" i="1" baseline="-25000" dirty="0">
                <a:latin typeface="Arial" charset="0"/>
                <a:cs typeface="Arial" charset="0"/>
              </a:rPr>
              <a:t> </a:t>
            </a:r>
            <a:r>
              <a:rPr lang="sl-SI" i="1" dirty="0">
                <a:latin typeface="Arial" charset="0"/>
                <a:cs typeface="Arial" charset="0"/>
              </a:rPr>
              <a:t>/</a:t>
            </a:r>
            <a:r>
              <a:rPr lang="sl-SI" dirty="0">
                <a:latin typeface="Arial" charset="0"/>
                <a:cs typeface="Arial" charset="0"/>
              </a:rPr>
              <a:t>||</a:t>
            </a:r>
            <a:r>
              <a:rPr lang="sl-SI" b="1" dirty="0" err="1">
                <a:latin typeface="Arial" charset="0"/>
                <a:cs typeface="Arial" charset="0"/>
              </a:rPr>
              <a:t>n</a:t>
            </a:r>
            <a:r>
              <a:rPr lang="sl-SI" i="1" baseline="-25000" dirty="0" err="1">
                <a:latin typeface="Arial" charset="0"/>
                <a:cs typeface="Arial" charset="0"/>
              </a:rPr>
              <a:t>k</a:t>
            </a:r>
            <a:r>
              <a:rPr lang="sl-SI" dirty="0">
                <a:latin typeface="Arial" charset="0"/>
                <a:cs typeface="Arial" charset="0"/>
              </a:rPr>
              <a:t>||</a:t>
            </a:r>
          </a:p>
          <a:p>
            <a:pPr marL="357188" lvl="1" indent="-355600" eaLnBrk="1" hangingPunct="1">
              <a:spcBef>
                <a:spcPts val="600"/>
              </a:spcBef>
              <a:buFont typeface="+mj-lt"/>
              <a:buAutoNum type="arabicPeriod" startAt="4"/>
              <a:defRPr/>
            </a:pPr>
            <a:r>
              <a:rPr lang="sl-SI" dirty="0">
                <a:latin typeface="Arial" charset="0"/>
                <a:cs typeface="Arial" charset="0"/>
              </a:rPr>
              <a:t>Iz enačbe v točki 2 izhajata dve omejitvi, ker je normala pravokotna na ravnino, v kateri sta z </a:t>
            </a:r>
            <a:r>
              <a:rPr lang="sl-SI" b="1" dirty="0">
                <a:latin typeface="Arial" charset="0"/>
                <a:cs typeface="Arial" charset="0"/>
              </a:rPr>
              <a:t>R</a:t>
            </a:r>
            <a:r>
              <a:rPr lang="sl-SI" dirty="0">
                <a:latin typeface="Arial" charset="0"/>
                <a:cs typeface="Arial" charset="0"/>
              </a:rPr>
              <a:t> zasukana vektorja </a:t>
            </a:r>
            <a:r>
              <a:rPr lang="sl-SI" b="1" dirty="0">
                <a:latin typeface="Arial" charset="0"/>
                <a:cs typeface="Arial" charset="0"/>
              </a:rPr>
              <a:t>v</a:t>
            </a:r>
            <a:r>
              <a:rPr lang="sl-SI" dirty="0">
                <a:latin typeface="Arial" charset="0"/>
                <a:cs typeface="Arial" charset="0"/>
              </a:rPr>
              <a:t> in </a:t>
            </a:r>
            <a:r>
              <a:rPr lang="sl-SI" b="1" dirty="0">
                <a:latin typeface="Arial" charset="0"/>
                <a:cs typeface="Arial" charset="0"/>
              </a:rPr>
              <a:t>d</a:t>
            </a:r>
            <a:r>
              <a:rPr lang="sl-SI" dirty="0">
                <a:latin typeface="Arial" charset="0"/>
                <a:cs typeface="Arial" charset="0"/>
              </a:rPr>
              <a:t>-</a:t>
            </a:r>
            <a:r>
              <a:rPr lang="sl-SI" b="1" dirty="0">
                <a:latin typeface="Arial" charset="0"/>
                <a:cs typeface="Arial" charset="0"/>
              </a:rPr>
              <a:t>t</a:t>
            </a:r>
            <a:r>
              <a:rPr lang="sl-SI" dirty="0">
                <a:latin typeface="Arial" charset="0"/>
                <a:cs typeface="Arial" charset="0"/>
              </a:rPr>
              <a:t>:</a:t>
            </a:r>
          </a:p>
          <a:p>
            <a:pPr marL="357188" lvl="1" indent="-355600" eaLnBrk="1" hangingPunct="1">
              <a:spcBef>
                <a:spcPts val="600"/>
              </a:spcBef>
              <a:defRPr/>
            </a:pPr>
            <a:r>
              <a:rPr lang="sl-SI" dirty="0">
                <a:latin typeface="Arial" charset="0"/>
                <a:cs typeface="Arial" charset="0"/>
              </a:rPr>
              <a:t>	</a:t>
            </a:r>
            <a:r>
              <a:rPr lang="sl-SI" b="1" dirty="0" err="1">
                <a:latin typeface="Arial" charset="0"/>
                <a:cs typeface="Arial" charset="0"/>
              </a:rPr>
              <a:t>n</a:t>
            </a:r>
            <a:r>
              <a:rPr lang="sl-SI" i="1" baseline="-25000" dirty="0" err="1">
                <a:latin typeface="Arial" charset="0"/>
                <a:cs typeface="Arial" charset="0"/>
              </a:rPr>
              <a:t>k</a:t>
            </a:r>
            <a:r>
              <a:rPr lang="sl-SI" i="1" baseline="30000" dirty="0" err="1">
                <a:latin typeface="Arial" charset="0"/>
                <a:cs typeface="Arial" charset="0"/>
              </a:rPr>
              <a:t>T</a:t>
            </a:r>
            <a:r>
              <a:rPr lang="sl-SI" i="1" dirty="0">
                <a:latin typeface="Arial" charset="0"/>
                <a:cs typeface="Arial" charset="0"/>
              </a:rPr>
              <a:t> </a:t>
            </a:r>
            <a:r>
              <a:rPr lang="sl-SI" b="1" dirty="0" err="1">
                <a:latin typeface="Arial" charset="0"/>
                <a:cs typeface="Arial" charset="0"/>
              </a:rPr>
              <a:t>Rv</a:t>
            </a:r>
            <a:r>
              <a:rPr lang="sl-SI" b="1" dirty="0">
                <a:latin typeface="Arial" charset="0"/>
                <a:cs typeface="Arial" charset="0"/>
              </a:rPr>
              <a:t> = 0</a:t>
            </a:r>
            <a:r>
              <a:rPr lang="sl-SI" dirty="0">
                <a:latin typeface="Arial" charset="0"/>
                <a:cs typeface="Arial" charset="0"/>
              </a:rPr>
              <a:t>  (skalarni produkt pravokotnih vektorjev)</a:t>
            </a:r>
          </a:p>
          <a:p>
            <a:pPr marL="357188" lvl="1" indent="-355600" eaLnBrk="1" hangingPunct="1">
              <a:spcBef>
                <a:spcPts val="600"/>
              </a:spcBef>
              <a:defRPr/>
            </a:pPr>
            <a:r>
              <a:rPr lang="sl-SI" b="1" dirty="0">
                <a:latin typeface="Arial" charset="0"/>
                <a:cs typeface="Arial" charset="0"/>
              </a:rPr>
              <a:t>	</a:t>
            </a:r>
            <a:r>
              <a:rPr lang="sl-SI" b="1" dirty="0" err="1">
                <a:latin typeface="Arial" charset="0"/>
                <a:cs typeface="Arial" charset="0"/>
              </a:rPr>
              <a:t>n</a:t>
            </a:r>
            <a:r>
              <a:rPr lang="sl-SI" i="1" baseline="-25000" dirty="0" err="1">
                <a:latin typeface="Arial" charset="0"/>
                <a:cs typeface="Arial" charset="0"/>
              </a:rPr>
              <a:t>k</a:t>
            </a:r>
            <a:r>
              <a:rPr lang="sl-SI" i="1" baseline="30000" dirty="0" err="1">
                <a:latin typeface="Arial" charset="0"/>
                <a:cs typeface="Arial" charset="0"/>
              </a:rPr>
              <a:t>T</a:t>
            </a:r>
            <a:r>
              <a:rPr lang="sl-SI" i="1" dirty="0">
                <a:latin typeface="Arial" charset="0"/>
                <a:cs typeface="Arial" charset="0"/>
              </a:rPr>
              <a:t> </a:t>
            </a:r>
            <a:r>
              <a:rPr lang="sl-SI" b="1" dirty="0">
                <a:latin typeface="Arial" charset="0"/>
                <a:cs typeface="Arial" charset="0"/>
              </a:rPr>
              <a:t>R</a:t>
            </a:r>
            <a:r>
              <a:rPr lang="sl-SI" dirty="0">
                <a:latin typeface="Arial" charset="0"/>
                <a:cs typeface="Arial" charset="0"/>
              </a:rPr>
              <a:t>(</a:t>
            </a:r>
            <a:r>
              <a:rPr lang="sl-SI" b="1" dirty="0">
                <a:latin typeface="Arial" charset="0"/>
                <a:cs typeface="Arial" charset="0"/>
              </a:rPr>
              <a:t>d</a:t>
            </a:r>
            <a:r>
              <a:rPr lang="sl-SI" dirty="0">
                <a:latin typeface="Arial" charset="0"/>
                <a:cs typeface="Arial" charset="0"/>
              </a:rPr>
              <a:t>-</a:t>
            </a:r>
            <a:r>
              <a:rPr lang="sl-SI" b="1" dirty="0">
                <a:latin typeface="Arial" charset="0"/>
                <a:cs typeface="Arial" charset="0"/>
              </a:rPr>
              <a:t>t</a:t>
            </a:r>
            <a:r>
              <a:rPr lang="sl-SI" dirty="0">
                <a:latin typeface="Arial" charset="0"/>
                <a:cs typeface="Arial" charset="0"/>
              </a:rPr>
              <a:t>)</a:t>
            </a:r>
            <a:r>
              <a:rPr lang="sl-SI" b="1" dirty="0">
                <a:latin typeface="Arial" charset="0"/>
                <a:cs typeface="Arial" charset="0"/>
              </a:rPr>
              <a:t> = 0</a:t>
            </a:r>
            <a:r>
              <a:rPr lang="sl-SI" dirty="0">
                <a:latin typeface="Arial" charset="0"/>
                <a:cs typeface="Arial" charset="0"/>
              </a:rPr>
              <a:t>  (skalarni produkt pravokotnih vektorjev)</a:t>
            </a:r>
          </a:p>
        </p:txBody>
      </p:sp>
    </p:spTree>
  </p:cSld>
  <p:clrMapOvr>
    <a:masterClrMapping/>
  </p:clrMapOvr>
  <p:transition>
    <p:cove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1641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A52314-8386-4B9A-9E66-C15DDA727D2C}" type="slidenum">
              <a:rPr lang="en-GB" altLang="en-US" sz="1400" smtClean="0"/>
              <a:pPr>
                <a:spcBef>
                  <a:spcPct val="0"/>
                </a:spcBef>
                <a:buFontTx/>
                <a:buNone/>
              </a:pPr>
              <a:t>157</a:t>
            </a:fld>
            <a:endParaRPr lang="en-GB" altLang="en-US" sz="1400"/>
          </a:p>
        </p:txBody>
      </p:sp>
      <p:sp>
        <p:nvSpPr>
          <p:cNvPr id="316420" name="Rectangle 2"/>
          <p:cNvSpPr>
            <a:spLocks noGrp="1" noChangeArrowheads="1"/>
          </p:cNvSpPr>
          <p:nvPr>
            <p:ph type="ctrTitle"/>
          </p:nvPr>
        </p:nvSpPr>
        <p:spPr>
          <a:xfrm>
            <a:off x="0" y="260350"/>
            <a:ext cx="9144000" cy="647700"/>
          </a:xfrm>
        </p:spPr>
        <p:txBody>
          <a:bodyPr/>
          <a:lstStyle/>
          <a:p>
            <a:pPr defTabSz="912813" eaLnBrk="1" hangingPunct="1">
              <a:spcBef>
                <a:spcPts val="1200"/>
              </a:spcBef>
            </a:pPr>
            <a:r>
              <a:rPr lang="sl-SI" altLang="en-US" sz="2800" b="1"/>
              <a:t>NEZNANI PARAMETRI IN KRITERIJSKA FUNKCIJA</a:t>
            </a:r>
            <a:endParaRPr lang="en-GB" altLang="en-US" sz="2000"/>
          </a:p>
        </p:txBody>
      </p:sp>
      <p:sp>
        <p:nvSpPr>
          <p:cNvPr id="31642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1642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16423"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16456"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6424" name="TextBox 46"/>
          <p:cNvSpPr txBox="1">
            <a:spLocks noChangeArrowheads="1"/>
          </p:cNvSpPr>
          <p:nvPr/>
        </p:nvSpPr>
        <p:spPr bwMode="auto">
          <a:xfrm>
            <a:off x="827088" y="1196975"/>
            <a:ext cx="7993062"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t>Ko iščemo položaj premice v 3D in položaj ter usmeritev kamere, imamo naslednje neznane parametre:</a:t>
            </a:r>
          </a:p>
          <a:p>
            <a:pPr lvl="1" eaLnBrk="1" hangingPunct="1">
              <a:spcBef>
                <a:spcPct val="0"/>
              </a:spcBef>
              <a:buFont typeface="Arial" panose="020B0604020202020204" pitchFamily="34" charset="0"/>
              <a:buChar char="•"/>
            </a:pPr>
            <a:r>
              <a:rPr lang="sl-SI" altLang="en-US" sz="1800"/>
              <a:t>3 za lokacijo </a:t>
            </a:r>
            <a:r>
              <a:rPr lang="sl-SI" altLang="en-US" sz="1800" i="1"/>
              <a:t>i</a:t>
            </a:r>
            <a:r>
              <a:rPr lang="sl-SI" altLang="en-US" sz="1800"/>
              <a:t>-te kamere (</a:t>
            </a:r>
            <a:r>
              <a:rPr lang="sl-SI" altLang="en-US" sz="1800" b="1"/>
              <a:t>t</a:t>
            </a:r>
            <a:r>
              <a:rPr lang="sl-SI" altLang="en-US" sz="1800" i="1" baseline="-25000"/>
              <a:t>i</a:t>
            </a:r>
            <a:r>
              <a:rPr lang="sl-SI" altLang="en-US" sz="1800"/>
              <a:t>)</a:t>
            </a:r>
          </a:p>
          <a:p>
            <a:pPr lvl="1" eaLnBrk="1" hangingPunct="1">
              <a:spcBef>
                <a:spcPct val="0"/>
              </a:spcBef>
              <a:buFont typeface="Arial" panose="020B0604020202020204" pitchFamily="34" charset="0"/>
              <a:buChar char="•"/>
            </a:pPr>
            <a:r>
              <a:rPr lang="sl-SI" altLang="en-US" sz="1800"/>
              <a:t>3 za usmeritev </a:t>
            </a:r>
            <a:r>
              <a:rPr lang="sl-SI" altLang="en-US" sz="1800" i="1"/>
              <a:t>i</a:t>
            </a:r>
            <a:r>
              <a:rPr lang="sl-SI" altLang="en-US" sz="1800"/>
              <a:t>-te kamere (</a:t>
            </a:r>
            <a:r>
              <a:rPr lang="sl-SI" altLang="en-US" sz="1800" b="1"/>
              <a:t>R</a:t>
            </a:r>
            <a:r>
              <a:rPr lang="sl-SI" altLang="en-US" sz="1800" i="1" baseline="-25000"/>
              <a:t>i</a:t>
            </a:r>
            <a:r>
              <a:rPr lang="sl-SI" altLang="en-US" sz="1800"/>
              <a:t>)</a:t>
            </a:r>
          </a:p>
          <a:p>
            <a:pPr lvl="1" eaLnBrk="1" hangingPunct="1">
              <a:spcBef>
                <a:spcPct val="0"/>
              </a:spcBef>
              <a:buFont typeface="Arial" panose="020B0604020202020204" pitchFamily="34" charset="0"/>
              <a:buChar char="•"/>
            </a:pPr>
            <a:r>
              <a:rPr lang="sl-SI" altLang="en-US" sz="1800"/>
              <a:t>4 za opis premice v 3D (položaj in usmeritev): 2 za vektor </a:t>
            </a:r>
            <a:r>
              <a:rPr lang="sl-SI" altLang="en-US" sz="1800" b="1"/>
              <a:t>d </a:t>
            </a:r>
            <a:r>
              <a:rPr lang="sl-SI" altLang="en-US" sz="1800"/>
              <a:t>in 2 za vektor </a:t>
            </a:r>
            <a:r>
              <a:rPr lang="sl-SI" altLang="en-US" sz="1800" b="1"/>
              <a:t>v</a:t>
            </a:r>
            <a:r>
              <a:rPr lang="sl-SI" altLang="en-US" sz="1800"/>
              <a:t> (upoštevano dejstvo, da sta </a:t>
            </a:r>
            <a:r>
              <a:rPr lang="sl-SI" altLang="en-US" sz="1800" b="1"/>
              <a:t>v</a:t>
            </a:r>
            <a:r>
              <a:rPr lang="sl-SI" altLang="en-US" sz="1800"/>
              <a:t> in </a:t>
            </a:r>
            <a:r>
              <a:rPr lang="sl-SI" altLang="en-US" sz="1800" b="1"/>
              <a:t>d</a:t>
            </a:r>
            <a:r>
              <a:rPr lang="sl-SI" altLang="en-US" sz="1800"/>
              <a:t> pravokotna)</a:t>
            </a:r>
          </a:p>
          <a:p>
            <a:pPr lvl="1" eaLnBrk="1" hangingPunct="1">
              <a:spcBef>
                <a:spcPct val="0"/>
              </a:spcBef>
              <a:buFont typeface="Arial" panose="020B0604020202020204" pitchFamily="34" charset="0"/>
              <a:buChar char="•"/>
            </a:pPr>
            <a:endParaRPr lang="sl-SI" altLang="en-US" sz="1800" b="1"/>
          </a:p>
          <a:p>
            <a:pPr lvl="1" eaLnBrk="1" hangingPunct="1">
              <a:spcBef>
                <a:spcPct val="0"/>
              </a:spcBef>
              <a:buFont typeface="Arial" panose="020B0604020202020204" pitchFamily="34" charset="0"/>
              <a:buChar char="•"/>
            </a:pPr>
            <a:endParaRPr lang="sl-SI" altLang="en-US" sz="1800" b="1"/>
          </a:p>
          <a:p>
            <a:pPr lvl="1" eaLnBrk="1" hangingPunct="1">
              <a:spcBef>
                <a:spcPct val="0"/>
              </a:spcBef>
              <a:buFont typeface="Arial" panose="020B0604020202020204" pitchFamily="34" charset="0"/>
              <a:buChar char="•"/>
            </a:pPr>
            <a:endParaRPr lang="sl-SI" altLang="en-US" sz="1800" b="1"/>
          </a:p>
          <a:p>
            <a:pPr lvl="1" eaLnBrk="1" hangingPunct="1">
              <a:spcBef>
                <a:spcPct val="0"/>
              </a:spcBef>
              <a:buFont typeface="Arial" panose="020B0604020202020204" pitchFamily="34" charset="0"/>
              <a:buChar char="•"/>
            </a:pPr>
            <a:endParaRPr lang="sl-SI" altLang="en-US" sz="1800" b="1"/>
          </a:p>
          <a:p>
            <a:pPr lvl="1" eaLnBrk="1" hangingPunct="1">
              <a:spcBef>
                <a:spcPct val="0"/>
              </a:spcBef>
              <a:buFont typeface="Arial" panose="020B0604020202020204" pitchFamily="34" charset="0"/>
              <a:buChar char="•"/>
            </a:pPr>
            <a:endParaRPr lang="sl-SI" altLang="en-US" sz="1800" b="1"/>
          </a:p>
          <a:p>
            <a:pPr lvl="1" eaLnBrk="1" hangingPunct="1">
              <a:spcBef>
                <a:spcPct val="0"/>
              </a:spcBef>
              <a:buFont typeface="Arial" panose="020B0604020202020204" pitchFamily="34" charset="0"/>
              <a:buChar char="•"/>
            </a:pPr>
            <a:endParaRPr lang="sl-SI" altLang="en-US" sz="1800" b="1"/>
          </a:p>
          <a:p>
            <a:pPr lvl="1" eaLnBrk="1" hangingPunct="1">
              <a:spcBef>
                <a:spcPct val="0"/>
              </a:spcBef>
              <a:buFont typeface="Arial" panose="020B0604020202020204" pitchFamily="34" charset="0"/>
              <a:buChar char="•"/>
            </a:pPr>
            <a:endParaRPr lang="sl-SI" altLang="en-US" sz="1800" b="1"/>
          </a:p>
          <a:p>
            <a:pPr lvl="1" eaLnBrk="1" hangingPunct="1">
              <a:spcBef>
                <a:spcPct val="0"/>
              </a:spcBef>
              <a:buFont typeface="Arial" panose="020B0604020202020204" pitchFamily="34" charset="0"/>
              <a:buChar char="•"/>
            </a:pPr>
            <a:endParaRPr lang="sl-SI" altLang="en-US" sz="1800" b="1"/>
          </a:p>
          <a:p>
            <a:pPr lvl="1" eaLnBrk="1" hangingPunct="1">
              <a:spcBef>
                <a:spcPct val="0"/>
              </a:spcBef>
              <a:buFont typeface="Arial" panose="020B0604020202020204" pitchFamily="34" charset="0"/>
              <a:buChar char="•"/>
            </a:pPr>
            <a:endParaRPr lang="sl-SI" altLang="en-US" sz="1800" b="1"/>
          </a:p>
          <a:p>
            <a:pPr lvl="1" eaLnBrk="1" hangingPunct="1">
              <a:spcBef>
                <a:spcPct val="0"/>
              </a:spcBef>
              <a:buFont typeface="Arial" panose="020B0604020202020204" pitchFamily="34" charset="0"/>
              <a:buChar char="•"/>
            </a:pPr>
            <a:endParaRPr lang="sl-SI" altLang="en-US" sz="1800"/>
          </a:p>
          <a:p>
            <a:pPr eaLnBrk="1" hangingPunct="1">
              <a:spcBef>
                <a:spcPct val="0"/>
              </a:spcBef>
              <a:buFontTx/>
              <a:buAutoNum type="arabicPeriod"/>
            </a:pPr>
            <a:r>
              <a:rPr lang="sl-SI" altLang="en-US" sz="1800"/>
              <a:t>Izračunamo odstopanje med točkami na robu s krajiščema  (</a:t>
            </a:r>
            <a:r>
              <a:rPr lang="sl-SI" altLang="en-US" sz="1800" i="1"/>
              <a:t>x</a:t>
            </a:r>
            <a:r>
              <a:rPr lang="sl-SI" altLang="en-US" sz="1800" baseline="-25000"/>
              <a:t>1</a:t>
            </a:r>
            <a:r>
              <a:rPr lang="sl-SI" altLang="en-US" sz="1800"/>
              <a:t>, </a:t>
            </a:r>
            <a:r>
              <a:rPr lang="sl-SI" altLang="en-US" sz="1800" i="1"/>
              <a:t>y</a:t>
            </a:r>
            <a:r>
              <a:rPr lang="sl-SI" altLang="en-US" sz="1800" baseline="-25000"/>
              <a:t>1</a:t>
            </a:r>
            <a:r>
              <a:rPr lang="sl-SI" altLang="en-US" sz="1800"/>
              <a:t>) in (</a:t>
            </a:r>
            <a:r>
              <a:rPr lang="sl-SI" altLang="en-US" sz="1800" i="1"/>
              <a:t>x</a:t>
            </a:r>
            <a:r>
              <a:rPr lang="sl-SI" altLang="en-US" sz="1800" baseline="-25000"/>
              <a:t>2</a:t>
            </a:r>
            <a:r>
              <a:rPr lang="sl-SI" altLang="en-US" sz="1800"/>
              <a:t>, </a:t>
            </a:r>
            <a:r>
              <a:rPr lang="sl-SI" altLang="en-US" sz="1800" i="1"/>
              <a:t>y</a:t>
            </a:r>
            <a:r>
              <a:rPr lang="sl-SI" altLang="en-US" sz="1800" baseline="-25000"/>
              <a:t>2</a:t>
            </a:r>
            <a:r>
              <a:rPr lang="sl-SI" altLang="en-US" sz="1800"/>
              <a:t>) in točkami na premici, ki je reprojicirana na sliko </a:t>
            </a:r>
          </a:p>
          <a:p>
            <a:pPr lvl="1" eaLnBrk="1" hangingPunct="1">
              <a:spcBef>
                <a:spcPct val="0"/>
              </a:spcBef>
              <a:buFontTx/>
              <a:buNone/>
            </a:pPr>
            <a:endParaRPr lang="sl-SI" altLang="en-US" sz="1800" i="1" baseline="-25000">
              <a:sym typeface="Symbol" panose="05050102010706020507" pitchFamily="18" charset="2"/>
            </a:endParaRPr>
          </a:p>
        </p:txBody>
      </p:sp>
      <p:grpSp>
        <p:nvGrpSpPr>
          <p:cNvPr id="316425" name="Group 12"/>
          <p:cNvGrpSpPr>
            <a:grpSpLocks/>
          </p:cNvGrpSpPr>
          <p:nvPr/>
        </p:nvGrpSpPr>
        <p:grpSpPr bwMode="auto">
          <a:xfrm>
            <a:off x="1330325" y="2852738"/>
            <a:ext cx="5113338" cy="2808287"/>
            <a:chOff x="1334580" y="3200400"/>
            <a:chExt cx="5447220" cy="3184525"/>
          </a:xfrm>
        </p:grpSpPr>
        <p:pic>
          <p:nvPicPr>
            <p:cNvPr id="31642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200400"/>
              <a:ext cx="5334000" cy="31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6427" name="TextBox 9"/>
            <p:cNvSpPr txBox="1">
              <a:spLocks noChangeArrowheads="1"/>
            </p:cNvSpPr>
            <p:nvPr/>
          </p:nvSpPr>
          <p:spPr bwMode="auto">
            <a:xfrm>
              <a:off x="1334580" y="4509120"/>
              <a:ext cx="1765775" cy="3141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reprojicirana premica:</a:t>
              </a:r>
            </a:p>
          </p:txBody>
        </p:sp>
        <p:sp>
          <p:nvSpPr>
            <p:cNvPr id="316428" name="TextBox 10"/>
            <p:cNvSpPr txBox="1">
              <a:spLocks noChangeArrowheads="1"/>
            </p:cNvSpPr>
            <p:nvPr/>
          </p:nvSpPr>
          <p:spPr bwMode="auto">
            <a:xfrm>
              <a:off x="1475656" y="4791018"/>
              <a:ext cx="233269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m</a:t>
              </a:r>
              <a:r>
                <a:rPr lang="sl-SI" altLang="en-US" sz="1800" i="1" baseline="-25000"/>
                <a:t>x</a:t>
              </a:r>
              <a:r>
                <a:rPr lang="sl-SI" altLang="en-US" sz="1800" i="1"/>
                <a:t>x</a:t>
              </a:r>
              <a:r>
                <a:rPr lang="sl-SI" altLang="en-US" sz="1800"/>
                <a:t> + </a:t>
              </a:r>
              <a:r>
                <a:rPr lang="sl-SI" altLang="en-US" sz="1800" i="1"/>
                <a:t>m</a:t>
              </a:r>
              <a:r>
                <a:rPr lang="sl-SI" altLang="en-US" sz="1800" i="1" baseline="-25000"/>
                <a:t>y</a:t>
              </a:r>
              <a:r>
                <a:rPr lang="sl-SI" altLang="en-US" sz="1800" i="1"/>
                <a:t>y</a:t>
              </a:r>
              <a:r>
                <a:rPr lang="sl-SI" altLang="en-US" sz="1800"/>
                <a:t> + </a:t>
              </a:r>
              <a:r>
                <a:rPr lang="sl-SI" altLang="en-US" sz="1800" i="1"/>
                <a:t>m</a:t>
              </a:r>
              <a:r>
                <a:rPr lang="sl-SI" altLang="en-US" sz="1800" i="1" baseline="-25000"/>
                <a:t>z</a:t>
              </a:r>
              <a:r>
                <a:rPr lang="sl-SI" altLang="en-US" sz="1800"/>
                <a:t> = 0   </a:t>
              </a:r>
              <a:endParaRPr lang="en-GB" altLang="en-US" sz="1800"/>
            </a:p>
          </p:txBody>
        </p:sp>
        <p:sp>
          <p:nvSpPr>
            <p:cNvPr id="316429" name="TextBox 11"/>
            <p:cNvSpPr txBox="1">
              <a:spLocks noChangeArrowheads="1"/>
            </p:cNvSpPr>
            <p:nvPr/>
          </p:nvSpPr>
          <p:spPr bwMode="auto">
            <a:xfrm>
              <a:off x="4355976" y="3933056"/>
              <a:ext cx="2409634"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opazovani robni odsek                </a:t>
              </a:r>
            </a:p>
          </p:txBody>
        </p:sp>
      </p:grpSp>
    </p:spTree>
  </p:cSld>
  <p:clrMapOvr>
    <a:masterClrMapping/>
  </p:clrMapOvr>
  <p:transition>
    <p:cove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184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422D512-8107-4F20-8CF5-43135540A5DB}" type="slidenum">
              <a:rPr lang="en-GB" altLang="en-US" sz="1400" smtClean="0"/>
              <a:pPr>
                <a:spcBef>
                  <a:spcPct val="0"/>
                </a:spcBef>
                <a:buFontTx/>
                <a:buNone/>
              </a:pPr>
              <a:t>158</a:t>
            </a:fld>
            <a:endParaRPr lang="en-GB" altLang="en-US" sz="1400"/>
          </a:p>
        </p:txBody>
      </p:sp>
      <p:sp>
        <p:nvSpPr>
          <p:cNvPr id="318468" name="Rectangle 2"/>
          <p:cNvSpPr>
            <a:spLocks noGrp="1" noChangeArrowheads="1"/>
          </p:cNvSpPr>
          <p:nvPr>
            <p:ph type="ctrTitle"/>
          </p:nvPr>
        </p:nvSpPr>
        <p:spPr>
          <a:xfrm>
            <a:off x="0" y="260350"/>
            <a:ext cx="9144000" cy="647700"/>
          </a:xfrm>
        </p:spPr>
        <p:txBody>
          <a:bodyPr/>
          <a:lstStyle/>
          <a:p>
            <a:pPr defTabSz="912813" eaLnBrk="1" hangingPunct="1">
              <a:spcBef>
                <a:spcPts val="1200"/>
              </a:spcBef>
            </a:pPr>
            <a:r>
              <a:rPr lang="sl-SI" altLang="en-US" sz="2800" b="1"/>
              <a:t>SOČASNO DOLOČANJE GIBANJA IN STRUKTURE</a:t>
            </a:r>
            <a:endParaRPr lang="en-GB" altLang="en-US" sz="2000"/>
          </a:p>
        </p:txBody>
      </p:sp>
      <p:sp>
        <p:nvSpPr>
          <p:cNvPr id="31846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1847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18471"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18499"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8472" name="TextBox 46"/>
          <p:cNvSpPr txBox="1">
            <a:spLocks noChangeArrowheads="1"/>
          </p:cNvSpPr>
          <p:nvPr/>
        </p:nvSpPr>
        <p:spPr bwMode="auto">
          <a:xfrm>
            <a:off x="827088" y="1196975"/>
            <a:ext cx="7993062"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t>Najprej določimo linijske odseke oziroma </a:t>
            </a:r>
            <a:r>
              <a:rPr lang="sl-SI" altLang="en-US" sz="1800" i="1"/>
              <a:t>N</a:t>
            </a:r>
            <a:r>
              <a:rPr lang="sl-SI" altLang="en-US" sz="1800"/>
              <a:t> ravnih odsekov izrazitih robov na </a:t>
            </a:r>
            <a:r>
              <a:rPr lang="sl-SI" altLang="en-US" sz="1800" i="1"/>
              <a:t>M</a:t>
            </a:r>
            <a:r>
              <a:rPr lang="sl-SI" altLang="en-US" sz="1800"/>
              <a:t> slikah. Uporabimo eno od metod za iskanje robov.</a:t>
            </a:r>
          </a:p>
          <a:p>
            <a:pPr eaLnBrk="1" hangingPunct="1">
              <a:spcBef>
                <a:spcPts val="600"/>
              </a:spcBef>
              <a:buFontTx/>
              <a:buAutoNum type="arabicPeriod"/>
            </a:pPr>
            <a:r>
              <a:rPr lang="sl-SI" altLang="en-US" sz="1800"/>
              <a:t>Nato najdemo korespondenčne robove – črte, ki na </a:t>
            </a:r>
            <a:r>
              <a:rPr lang="sl-SI" altLang="en-US" sz="1800" i="1"/>
              <a:t>M</a:t>
            </a:r>
            <a:r>
              <a:rPr lang="sl-SI" altLang="en-US" sz="1800"/>
              <a:t> slikah predstavljajo isto značilnost 3D-scene.</a:t>
            </a:r>
          </a:p>
          <a:p>
            <a:pPr eaLnBrk="1" hangingPunct="1">
              <a:spcBef>
                <a:spcPts val="600"/>
              </a:spcBef>
              <a:buFontTx/>
              <a:buAutoNum type="arabicPeriod"/>
            </a:pPr>
            <a:r>
              <a:rPr lang="sl-SI" altLang="en-US" sz="1800"/>
              <a:t>Za </a:t>
            </a:r>
            <a:r>
              <a:rPr lang="sl-SI" altLang="en-US" sz="1800" i="1"/>
              <a:t>i</a:t>
            </a:r>
            <a:r>
              <a:rPr lang="sl-SI" altLang="en-US" sz="1800"/>
              <a:t>-to črto na </a:t>
            </a:r>
            <a:r>
              <a:rPr lang="sl-SI" altLang="en-US" sz="1800" i="1"/>
              <a:t>j</a:t>
            </a:r>
            <a:r>
              <a:rPr lang="sl-SI" altLang="en-US" sz="1800"/>
              <a:t>-ti sliki, katere krajišči sta (</a:t>
            </a:r>
            <a:r>
              <a:rPr lang="sl-SI" altLang="en-US" sz="1800" i="1"/>
              <a:t>x</a:t>
            </a:r>
            <a:r>
              <a:rPr lang="sl-SI" altLang="en-US" sz="1800" i="1" baseline="-25000"/>
              <a:t>ij</a:t>
            </a:r>
            <a:r>
              <a:rPr lang="sl-SI" altLang="en-US" sz="1800" i="1"/>
              <a:t>,</a:t>
            </a:r>
            <a:r>
              <a:rPr lang="sl-SI" altLang="en-US" sz="1800" baseline="-25000"/>
              <a:t>1</a:t>
            </a:r>
            <a:r>
              <a:rPr lang="sl-SI" altLang="en-US" sz="1800"/>
              <a:t>, </a:t>
            </a:r>
            <a:r>
              <a:rPr lang="sl-SI" altLang="en-US" sz="1800" i="1"/>
              <a:t>y</a:t>
            </a:r>
            <a:r>
              <a:rPr lang="sl-SI" altLang="en-US" sz="1800" i="1" baseline="-25000"/>
              <a:t>ij,</a:t>
            </a:r>
            <a:r>
              <a:rPr lang="sl-SI" altLang="en-US" sz="1800" baseline="-25000"/>
              <a:t>1</a:t>
            </a:r>
            <a:r>
              <a:rPr lang="sl-SI" altLang="en-US" sz="1800"/>
              <a:t>) in (</a:t>
            </a:r>
            <a:r>
              <a:rPr lang="sl-SI" altLang="en-US" sz="1800" i="1"/>
              <a:t>x</a:t>
            </a:r>
            <a:r>
              <a:rPr lang="sl-SI" altLang="en-US" sz="1800" i="1" baseline="-25000"/>
              <a:t>ij,</a:t>
            </a:r>
            <a:r>
              <a:rPr lang="sl-SI" altLang="en-US" sz="1800" baseline="-25000"/>
              <a:t>2</a:t>
            </a:r>
            <a:r>
              <a:rPr lang="sl-SI" altLang="en-US" sz="1800"/>
              <a:t>, </a:t>
            </a:r>
            <a:r>
              <a:rPr lang="sl-SI" altLang="en-US" sz="1800" i="1"/>
              <a:t>y</a:t>
            </a:r>
            <a:r>
              <a:rPr lang="sl-SI" altLang="en-US" sz="1800" i="1" baseline="-25000"/>
              <a:t>ij,</a:t>
            </a:r>
            <a:r>
              <a:rPr lang="sl-SI" altLang="en-US" sz="1800" baseline="-25000"/>
              <a:t>2</a:t>
            </a:r>
            <a:r>
              <a:rPr lang="sl-SI" altLang="en-US" sz="1800"/>
              <a:t>), ocenimo noramlo </a:t>
            </a:r>
            <a:r>
              <a:rPr lang="sl-SI" altLang="en-US" sz="1800" b="1"/>
              <a:t>n</a:t>
            </a:r>
            <a:r>
              <a:rPr lang="sl-SI" altLang="en-US" sz="1800" i="1" baseline="-25000"/>
              <a:t>ij</a:t>
            </a:r>
            <a:r>
              <a:rPr lang="sl-SI" altLang="en-US" sz="1800" i="1"/>
              <a:t>:</a:t>
            </a:r>
          </a:p>
          <a:p>
            <a:pPr eaLnBrk="1" hangingPunct="1">
              <a:spcBef>
                <a:spcPts val="600"/>
              </a:spcBef>
              <a:buFontTx/>
              <a:buNone/>
            </a:pPr>
            <a:r>
              <a:rPr lang="sl-SI" altLang="en-US" sz="1800"/>
              <a:t>	</a:t>
            </a:r>
            <a:r>
              <a:rPr lang="sl-SI" altLang="en-US" sz="1800" b="1"/>
              <a:t> n</a:t>
            </a:r>
            <a:r>
              <a:rPr lang="sl-SI" altLang="en-US" sz="1800" i="1" baseline="-25000"/>
              <a:t>ij</a:t>
            </a:r>
            <a:r>
              <a:rPr lang="sl-SI" altLang="en-US" sz="1800" i="1"/>
              <a:t> = </a:t>
            </a:r>
            <a:r>
              <a:rPr lang="sl-SI" altLang="en-US" sz="1800"/>
              <a:t>(</a:t>
            </a:r>
            <a:r>
              <a:rPr lang="sl-SI" altLang="en-US" sz="1800" i="1"/>
              <a:t>x</a:t>
            </a:r>
            <a:r>
              <a:rPr lang="sl-SI" altLang="en-US" sz="1800" i="1" baseline="-25000"/>
              <a:t>ij</a:t>
            </a:r>
            <a:r>
              <a:rPr lang="sl-SI" altLang="en-US" sz="1800" i="1"/>
              <a:t>,</a:t>
            </a:r>
            <a:r>
              <a:rPr lang="sl-SI" altLang="en-US" sz="1800" baseline="-25000"/>
              <a:t>1</a:t>
            </a:r>
            <a:r>
              <a:rPr lang="sl-SI" altLang="en-US" sz="1800"/>
              <a:t>, </a:t>
            </a:r>
            <a:r>
              <a:rPr lang="sl-SI" altLang="en-US" sz="1800" i="1"/>
              <a:t>y</a:t>
            </a:r>
            <a:r>
              <a:rPr lang="sl-SI" altLang="en-US" sz="1800" i="1" baseline="-25000"/>
              <a:t>ij,</a:t>
            </a:r>
            <a:r>
              <a:rPr lang="sl-SI" altLang="en-US" sz="1800" baseline="-25000"/>
              <a:t>1</a:t>
            </a:r>
            <a:r>
              <a:rPr lang="sl-SI" altLang="en-US" sz="1800"/>
              <a:t>, 1)</a:t>
            </a:r>
            <a:r>
              <a:rPr lang="sl-SI" altLang="en-US" sz="1800" i="1" baseline="30000"/>
              <a:t>T</a:t>
            </a:r>
            <a:r>
              <a:rPr lang="sl-SI" altLang="en-US" sz="1800"/>
              <a:t> </a:t>
            </a:r>
            <a:r>
              <a:rPr lang="sl-SI" altLang="en-US" sz="1800">
                <a:sym typeface="Symbol" panose="05050102010706020507" pitchFamily="18" charset="2"/>
              </a:rPr>
              <a:t></a:t>
            </a:r>
            <a:r>
              <a:rPr lang="sl-SI" altLang="en-US" sz="1800"/>
              <a:t> (</a:t>
            </a:r>
            <a:r>
              <a:rPr lang="sl-SI" altLang="en-US" sz="1800" i="1"/>
              <a:t>x</a:t>
            </a:r>
            <a:r>
              <a:rPr lang="sl-SI" altLang="en-US" sz="1800" i="1" baseline="-25000"/>
              <a:t>ij,</a:t>
            </a:r>
            <a:r>
              <a:rPr lang="sl-SI" altLang="en-US" sz="1800" baseline="-25000"/>
              <a:t>2</a:t>
            </a:r>
            <a:r>
              <a:rPr lang="sl-SI" altLang="en-US" sz="1800"/>
              <a:t>, </a:t>
            </a:r>
            <a:r>
              <a:rPr lang="sl-SI" altLang="en-US" sz="1800" i="1"/>
              <a:t>y</a:t>
            </a:r>
            <a:r>
              <a:rPr lang="sl-SI" altLang="en-US" sz="1800" i="1" baseline="-25000"/>
              <a:t>ij,</a:t>
            </a:r>
            <a:r>
              <a:rPr lang="sl-SI" altLang="en-US" sz="1800" baseline="-25000"/>
              <a:t>2</a:t>
            </a:r>
            <a:r>
              <a:rPr lang="sl-SI" altLang="en-US" sz="1800"/>
              <a:t>, 1)</a:t>
            </a:r>
            <a:r>
              <a:rPr lang="sl-SI" altLang="en-US" sz="1800" i="1" baseline="30000"/>
              <a:t>T</a:t>
            </a:r>
            <a:r>
              <a:rPr lang="sl-SI" altLang="en-US" sz="1800"/>
              <a:t>    (vektorski produkt točk na premici)</a:t>
            </a:r>
          </a:p>
          <a:p>
            <a:pPr eaLnBrk="1" hangingPunct="1">
              <a:spcBef>
                <a:spcPts val="600"/>
              </a:spcBef>
              <a:buFontTx/>
              <a:buAutoNum type="arabicPeriod" startAt="4"/>
            </a:pPr>
            <a:r>
              <a:rPr lang="sl-SI" altLang="en-US" sz="1800"/>
              <a:t>Za </a:t>
            </a:r>
            <a:r>
              <a:rPr lang="sl-SI" altLang="en-US" sz="1800" i="1"/>
              <a:t>j</a:t>
            </a:r>
            <a:r>
              <a:rPr lang="sl-SI" altLang="en-US" sz="1800"/>
              <a:t>-to sliko oz. kamero predvidimo omejitve zasuka in v teh mejah naključno tvorimo rotacijsko matriko </a:t>
            </a:r>
            <a:r>
              <a:rPr lang="sl-SI" altLang="en-US" sz="1800" b="1"/>
              <a:t>R</a:t>
            </a:r>
            <a:r>
              <a:rPr lang="sl-SI" altLang="en-US" sz="1800" i="1" baseline="-25000"/>
              <a:t>j</a:t>
            </a:r>
            <a:r>
              <a:rPr lang="sl-SI" altLang="en-US" sz="1800"/>
              <a:t>.</a:t>
            </a:r>
          </a:p>
          <a:p>
            <a:pPr eaLnBrk="1" hangingPunct="1">
              <a:spcBef>
                <a:spcPts val="600"/>
              </a:spcBef>
              <a:buFontTx/>
              <a:buAutoNum type="arabicPeriod" startAt="4"/>
            </a:pPr>
            <a:r>
              <a:rPr lang="sl-SI" altLang="en-US" sz="1800"/>
              <a:t>V nadaljnjem nelinearnem optimizacijskem postopku ločeno ocenimo matrike zasukov in vektorje premikov za kamere.</a:t>
            </a:r>
          </a:p>
        </p:txBody>
      </p:sp>
    </p:spTree>
  </p:cSld>
  <p:clrMapOvr>
    <a:masterClrMapping/>
  </p:clrMapOvr>
  <p:transition>
    <p:cove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2051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C9D2152-FB43-43B7-B5AA-74F484DE5739}" type="slidenum">
              <a:rPr lang="en-GB" altLang="en-US" sz="1400" smtClean="0"/>
              <a:pPr>
                <a:spcBef>
                  <a:spcPct val="0"/>
                </a:spcBef>
                <a:buFontTx/>
                <a:buNone/>
              </a:pPr>
              <a:t>159</a:t>
            </a:fld>
            <a:endParaRPr lang="en-GB" altLang="en-US" sz="1400"/>
          </a:p>
        </p:txBody>
      </p:sp>
      <p:sp>
        <p:nvSpPr>
          <p:cNvPr id="320516" name="Rectangle 2"/>
          <p:cNvSpPr>
            <a:spLocks noGrp="1" noChangeArrowheads="1"/>
          </p:cNvSpPr>
          <p:nvPr>
            <p:ph type="ctrTitle"/>
          </p:nvPr>
        </p:nvSpPr>
        <p:spPr>
          <a:xfrm>
            <a:off x="0" y="115888"/>
            <a:ext cx="9144000" cy="649287"/>
          </a:xfrm>
        </p:spPr>
        <p:txBody>
          <a:bodyPr/>
          <a:lstStyle/>
          <a:p>
            <a:pPr defTabSz="912813" eaLnBrk="1" hangingPunct="1">
              <a:spcBef>
                <a:spcPts val="1200"/>
              </a:spcBef>
            </a:pPr>
            <a:r>
              <a:rPr lang="sl-SI" altLang="en-US" sz="2800" b="1"/>
              <a:t>SOČASNO OPTIMIRAJE GIBANJA IN STRUKTURE</a:t>
            </a:r>
            <a:endParaRPr lang="en-GB" altLang="en-US" sz="2000"/>
          </a:p>
        </p:txBody>
      </p:sp>
      <p:sp>
        <p:nvSpPr>
          <p:cNvPr id="32051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2051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20519"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20601"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0520" name="TextBox 46"/>
          <p:cNvSpPr txBox="1">
            <a:spLocks noChangeArrowheads="1"/>
          </p:cNvSpPr>
          <p:nvPr/>
        </p:nvSpPr>
        <p:spPr bwMode="auto">
          <a:xfrm>
            <a:off x="684213" y="692150"/>
            <a:ext cx="7993062" cy="564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ts val="600"/>
              </a:spcBef>
              <a:buFontTx/>
              <a:buAutoNum type="arabicPeriod"/>
            </a:pPr>
            <a:r>
              <a:rPr lang="sl-SI" altLang="en-US" sz="1800"/>
              <a:t>Iz pogoja, ki ga določa enačba </a:t>
            </a:r>
            <a:r>
              <a:rPr lang="sl-SI" altLang="en-US" sz="1800" b="1"/>
              <a:t>n</a:t>
            </a:r>
            <a:r>
              <a:rPr lang="sl-SI" altLang="en-US" sz="1800" i="1" baseline="-25000"/>
              <a:t>ij</a:t>
            </a:r>
            <a:r>
              <a:rPr lang="sl-SI" altLang="en-US" sz="1800" i="1" baseline="30000"/>
              <a:t>T</a:t>
            </a:r>
            <a:r>
              <a:rPr lang="sl-SI" altLang="en-US" sz="1800" i="1"/>
              <a:t> </a:t>
            </a:r>
            <a:r>
              <a:rPr lang="sl-SI" altLang="en-US" sz="1800" b="1"/>
              <a:t>R</a:t>
            </a:r>
            <a:r>
              <a:rPr lang="sl-SI" altLang="en-US" sz="1800" i="1" baseline="-25000"/>
              <a:t>j</a:t>
            </a:r>
            <a:r>
              <a:rPr lang="sl-SI" altLang="en-US" sz="1800" b="1"/>
              <a:t>v</a:t>
            </a:r>
            <a:r>
              <a:rPr lang="sl-SI" altLang="en-US" sz="1800" i="1" baseline="-25000"/>
              <a:t>i </a:t>
            </a:r>
            <a:r>
              <a:rPr lang="sl-SI" altLang="en-US" sz="1800" b="1"/>
              <a:t>= </a:t>
            </a:r>
            <a:r>
              <a:rPr lang="sl-SI" altLang="en-US" sz="1800"/>
              <a:t>0, ocenimo smerne vektorje premice </a:t>
            </a:r>
            <a:r>
              <a:rPr lang="sl-SI" altLang="en-US" sz="1800" b="1"/>
              <a:t>v</a:t>
            </a:r>
            <a:r>
              <a:rPr lang="sl-SI" altLang="en-US" sz="1800" i="1" baseline="-25000"/>
              <a:t>i</a:t>
            </a:r>
            <a:r>
              <a:rPr lang="sl-SI" altLang="en-US" sz="1800"/>
              <a:t>. Za vsako oceno potrebujemo vsaj 2 sliki s korespondenčnim parom robov.</a:t>
            </a:r>
          </a:p>
          <a:p>
            <a:pPr eaLnBrk="1" hangingPunct="1">
              <a:spcBef>
                <a:spcPts val="600"/>
              </a:spcBef>
              <a:buFontTx/>
              <a:buAutoNum type="arabicPeriod"/>
            </a:pPr>
            <a:r>
              <a:rPr lang="sl-SI" altLang="en-US" sz="1800"/>
              <a:t>Nato izračunamo optimizacijski kriterij</a:t>
            </a:r>
          </a:p>
          <a:p>
            <a:pPr eaLnBrk="1" hangingPunct="1">
              <a:spcBef>
                <a:spcPts val="600"/>
              </a:spcBef>
              <a:buFontTx/>
              <a:buAutoNum type="arabicPeriod"/>
            </a:pPr>
            <a:endParaRPr lang="sl-SI" altLang="en-US" sz="1800"/>
          </a:p>
          <a:p>
            <a:pPr eaLnBrk="1" hangingPunct="1">
              <a:spcBef>
                <a:spcPts val="600"/>
              </a:spcBef>
              <a:buFontTx/>
              <a:buAutoNum type="arabicPeriod"/>
            </a:pPr>
            <a:endParaRPr lang="sl-SI" altLang="en-US" sz="1800"/>
          </a:p>
          <a:p>
            <a:pPr eaLnBrk="1" hangingPunct="1">
              <a:spcBef>
                <a:spcPts val="1200"/>
              </a:spcBef>
              <a:buFontTx/>
              <a:buAutoNum type="arabicPeriod"/>
            </a:pPr>
            <a:r>
              <a:rPr lang="sl-SI" altLang="en-US" sz="1800"/>
              <a:t>Kriterij </a:t>
            </a:r>
            <a:r>
              <a:rPr lang="sl-SI" altLang="en-US" sz="1800" i="1"/>
              <a:t>c</a:t>
            </a:r>
            <a:r>
              <a:rPr lang="sl-SI" altLang="en-US" sz="1800" baseline="-25000"/>
              <a:t>1</a:t>
            </a:r>
            <a:r>
              <a:rPr lang="sl-SI" altLang="en-US" sz="1800"/>
              <a:t> minimiziramo z gradientnim postopkom, dokler odstopanje ne pade pod izbrani prag, pri čemer iterativno posodabljamo parametre zasuka (</a:t>
            </a:r>
            <a:r>
              <a:rPr lang="sl-SI" altLang="en-US" sz="1800" b="1"/>
              <a:t>R</a:t>
            </a:r>
            <a:r>
              <a:rPr lang="sl-SI" altLang="en-US" sz="1800" i="1" baseline="-25000"/>
              <a:t>j</a:t>
            </a:r>
            <a:r>
              <a:rPr lang="sl-SI" altLang="en-US" sz="1800"/>
              <a:t>) in usmerjenosti (</a:t>
            </a:r>
            <a:r>
              <a:rPr lang="sl-SI" altLang="en-US" sz="1800" b="1"/>
              <a:t>v</a:t>
            </a:r>
            <a:r>
              <a:rPr lang="sl-SI" altLang="en-US" sz="1800" i="1" baseline="-25000"/>
              <a:t>i</a:t>
            </a:r>
            <a:r>
              <a:rPr lang="sl-SI" altLang="en-US" sz="1800"/>
              <a:t>).</a:t>
            </a:r>
          </a:p>
          <a:p>
            <a:pPr eaLnBrk="1" hangingPunct="1">
              <a:spcBef>
                <a:spcPts val="600"/>
              </a:spcBef>
              <a:buFontTx/>
              <a:buAutoNum type="arabicPeriod"/>
            </a:pPr>
            <a:r>
              <a:rPr lang="sl-SI" altLang="en-US" sz="1800"/>
              <a:t>Sledi določanje  premika </a:t>
            </a:r>
            <a:r>
              <a:rPr lang="sl-SI" altLang="en-US" sz="1800" b="1"/>
              <a:t>t</a:t>
            </a:r>
            <a:r>
              <a:rPr lang="sl-SI" altLang="en-US" sz="1800" i="1" baseline="-25000"/>
              <a:t>j</a:t>
            </a:r>
            <a:r>
              <a:rPr lang="sl-SI" altLang="en-US" sz="1800" b="1"/>
              <a:t> </a:t>
            </a:r>
            <a:r>
              <a:rPr lang="sl-SI" altLang="en-US" sz="1800"/>
              <a:t>za vsako kamero in 3D-položaja za vsako premico </a:t>
            </a:r>
            <a:r>
              <a:rPr lang="sl-SI" altLang="en-US" sz="1800" b="1"/>
              <a:t>d</a:t>
            </a:r>
            <a:r>
              <a:rPr lang="sl-SI" altLang="en-US" sz="1800" i="1" baseline="-25000"/>
              <a:t>i</a:t>
            </a:r>
            <a:r>
              <a:rPr lang="sl-SI" altLang="en-US" sz="1800"/>
              <a:t>. Izhajamo iz drugega omejitvenega pogoja, ki ga določa enačba </a:t>
            </a:r>
            <a:r>
              <a:rPr lang="sl-SI" altLang="en-US" sz="1800" b="1"/>
              <a:t>n</a:t>
            </a:r>
            <a:r>
              <a:rPr lang="sl-SI" altLang="en-US" sz="1800" i="1" baseline="-25000"/>
              <a:t>ij</a:t>
            </a:r>
            <a:r>
              <a:rPr lang="sl-SI" altLang="en-US" sz="1800" i="1" baseline="30000"/>
              <a:t>T</a:t>
            </a:r>
            <a:r>
              <a:rPr lang="sl-SI" altLang="en-US" sz="1800" i="1"/>
              <a:t> </a:t>
            </a:r>
            <a:r>
              <a:rPr lang="sl-SI" altLang="en-US" sz="1800" b="1"/>
              <a:t>R</a:t>
            </a:r>
            <a:r>
              <a:rPr lang="sl-SI" altLang="en-US" sz="1800" i="1" baseline="-25000"/>
              <a:t>j</a:t>
            </a:r>
            <a:r>
              <a:rPr lang="sl-SI" altLang="en-US" sz="1800"/>
              <a:t>(</a:t>
            </a:r>
            <a:r>
              <a:rPr lang="sl-SI" altLang="en-US" sz="1800" b="1"/>
              <a:t>d</a:t>
            </a:r>
            <a:r>
              <a:rPr lang="sl-SI" altLang="en-US" sz="1800" i="1" baseline="-25000"/>
              <a:t>i</a:t>
            </a:r>
            <a:r>
              <a:rPr lang="sl-SI" altLang="en-US" sz="1800"/>
              <a:t>-</a:t>
            </a:r>
            <a:r>
              <a:rPr lang="sl-SI" altLang="en-US" sz="1800" b="1"/>
              <a:t>t</a:t>
            </a:r>
            <a:r>
              <a:rPr lang="sl-SI" altLang="en-US" sz="1800" i="1" baseline="-25000"/>
              <a:t>j</a:t>
            </a:r>
            <a:r>
              <a:rPr lang="sl-SI" altLang="en-US" sz="1800"/>
              <a:t>)</a:t>
            </a:r>
            <a:r>
              <a:rPr lang="sl-SI" altLang="en-US" sz="1800" b="1"/>
              <a:t> = </a:t>
            </a:r>
            <a:r>
              <a:rPr lang="sl-SI" altLang="en-US" sz="1800"/>
              <a:t>0 , tako da minimiziramo odstopanje:</a:t>
            </a:r>
          </a:p>
          <a:p>
            <a:pPr eaLnBrk="1" hangingPunct="1">
              <a:spcBef>
                <a:spcPts val="1200"/>
              </a:spcBef>
              <a:buFontTx/>
              <a:buAutoNum type="arabicPeriod"/>
            </a:pPr>
            <a:endParaRPr lang="sl-SI" altLang="en-US" sz="1800"/>
          </a:p>
          <a:p>
            <a:pPr eaLnBrk="1" hangingPunct="1">
              <a:spcBef>
                <a:spcPts val="1200"/>
              </a:spcBef>
              <a:buFontTx/>
              <a:buAutoNum type="arabicPeriod"/>
            </a:pPr>
            <a:endParaRPr lang="sl-SI" altLang="en-US" sz="1800"/>
          </a:p>
          <a:p>
            <a:pPr eaLnBrk="1" hangingPunct="1">
              <a:spcBef>
                <a:spcPct val="0"/>
              </a:spcBef>
              <a:buFontTx/>
              <a:buNone/>
            </a:pPr>
            <a:r>
              <a:rPr lang="sl-SI" altLang="en-US" sz="1800"/>
              <a:t>	Potrebujemo vsaj 3 slike s po 6 korespondenčnimi robovi.</a:t>
            </a:r>
          </a:p>
          <a:p>
            <a:pPr eaLnBrk="1" hangingPunct="1">
              <a:spcBef>
                <a:spcPts val="600"/>
              </a:spcBef>
              <a:buFontTx/>
              <a:buAutoNum type="arabicPeriod" startAt="5"/>
            </a:pPr>
            <a:r>
              <a:rPr lang="sl-SI" altLang="en-US" sz="1800"/>
              <a:t>Končno izboljšavo dosežemo s popolno kriterijsko funkcijo, ko gradientno izboljšujemo vse parametre hkrati.</a:t>
            </a:r>
          </a:p>
        </p:txBody>
      </p:sp>
      <p:graphicFrame>
        <p:nvGraphicFramePr>
          <p:cNvPr id="320521" name="Object 3"/>
          <p:cNvGraphicFramePr>
            <a:graphicFrameLocks noChangeAspect="1"/>
          </p:cNvGraphicFramePr>
          <p:nvPr/>
        </p:nvGraphicFramePr>
        <p:xfrm>
          <a:off x="1301750" y="1916113"/>
          <a:ext cx="2478088" cy="863600"/>
        </p:xfrm>
        <a:graphic>
          <a:graphicData uri="http://schemas.openxmlformats.org/presentationml/2006/ole">
            <mc:AlternateContent xmlns:mc="http://schemas.openxmlformats.org/markup-compatibility/2006">
              <mc:Choice xmlns:v="urn:schemas-microsoft-com:vml" Requires="v">
                <p:oleObj spid="_x0000_s320602" name="Equation" r:id="rId6" imgW="1091726" imgH="380835" progId="Equation.3">
                  <p:embed/>
                </p:oleObj>
              </mc:Choice>
              <mc:Fallback>
                <p:oleObj name="Equation" r:id="rId6" imgW="1091726" imgH="38083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1750" y="1916113"/>
                        <a:ext cx="2478088"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0522" name="Object 4"/>
          <p:cNvGraphicFramePr>
            <a:graphicFrameLocks noChangeAspect="1"/>
          </p:cNvGraphicFramePr>
          <p:nvPr/>
        </p:nvGraphicFramePr>
        <p:xfrm>
          <a:off x="1214438" y="4508500"/>
          <a:ext cx="3141662" cy="863600"/>
        </p:xfrm>
        <a:graphic>
          <a:graphicData uri="http://schemas.openxmlformats.org/presentationml/2006/ole">
            <mc:AlternateContent xmlns:mc="http://schemas.openxmlformats.org/markup-compatibility/2006">
              <mc:Choice xmlns:v="urn:schemas-microsoft-com:vml" Requires="v">
                <p:oleObj spid="_x0000_s320603" name="Equation" r:id="rId8" imgW="1384300" imgH="381000" progId="Equation.3">
                  <p:embed/>
                </p:oleObj>
              </mc:Choice>
              <mc:Fallback>
                <p:oleObj name="Equation" r:id="rId8" imgW="1384300" imgH="3810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4438" y="4508500"/>
                        <a:ext cx="3141662"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2256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10F9B50-AD54-444B-BE9C-854A08F2F4CC}" type="slidenum">
              <a:rPr lang="en-GB" altLang="en-US" sz="1400" smtClean="0"/>
              <a:pPr>
                <a:spcBef>
                  <a:spcPct val="0"/>
                </a:spcBef>
                <a:buFontTx/>
                <a:buNone/>
              </a:pPr>
              <a:t>160</a:t>
            </a:fld>
            <a:endParaRPr lang="en-GB" altLang="en-US" sz="1400"/>
          </a:p>
        </p:txBody>
      </p:sp>
      <p:sp>
        <p:nvSpPr>
          <p:cNvPr id="322564" name="Rectangle 2"/>
          <p:cNvSpPr>
            <a:spLocks noGrp="1" noChangeArrowheads="1"/>
          </p:cNvSpPr>
          <p:nvPr>
            <p:ph type="ctrTitle"/>
          </p:nvPr>
        </p:nvSpPr>
        <p:spPr>
          <a:xfrm>
            <a:off x="0" y="115888"/>
            <a:ext cx="9144000" cy="649287"/>
          </a:xfrm>
        </p:spPr>
        <p:txBody>
          <a:bodyPr/>
          <a:lstStyle/>
          <a:p>
            <a:pPr defTabSz="912813" eaLnBrk="1" hangingPunct="1">
              <a:spcBef>
                <a:spcPts val="1200"/>
              </a:spcBef>
            </a:pPr>
            <a:r>
              <a:rPr lang="sl-SI" altLang="en-US" sz="2800" b="1"/>
              <a:t>Primer določanja strukture iz gibanja</a:t>
            </a:r>
            <a:endParaRPr lang="en-GB" altLang="en-US" sz="2000"/>
          </a:p>
        </p:txBody>
      </p:sp>
      <p:sp>
        <p:nvSpPr>
          <p:cNvPr id="32256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2256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22567"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22601"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2256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998538"/>
            <a:ext cx="17526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569"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52800" y="998538"/>
            <a:ext cx="17526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57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1200" y="998538"/>
            <a:ext cx="17526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571"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2425700"/>
            <a:ext cx="1598613"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572"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0600" y="2349500"/>
            <a:ext cx="1782763"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573"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05500" y="2501900"/>
            <a:ext cx="1503363"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574"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19400" y="4437063"/>
            <a:ext cx="25431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246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1EF738E-DF98-4A86-9EB0-7C60AC5D4D33}" type="slidenum">
              <a:rPr lang="en-GB" altLang="en-US" sz="1400" smtClean="0"/>
              <a:pPr>
                <a:spcBef>
                  <a:spcPct val="0"/>
                </a:spcBef>
                <a:buFontTx/>
                <a:buNone/>
              </a:pPr>
              <a:t>161</a:t>
            </a:fld>
            <a:endParaRPr lang="en-GB" altLang="en-US" sz="1400"/>
          </a:p>
        </p:txBody>
      </p:sp>
      <p:sp>
        <p:nvSpPr>
          <p:cNvPr id="324612" name="Rectangle 2"/>
          <p:cNvSpPr>
            <a:spLocks noGrp="1" noChangeArrowheads="1"/>
          </p:cNvSpPr>
          <p:nvPr>
            <p:ph type="ctrTitle"/>
          </p:nvPr>
        </p:nvSpPr>
        <p:spPr>
          <a:xfrm>
            <a:off x="0" y="115888"/>
            <a:ext cx="9144000" cy="649287"/>
          </a:xfrm>
        </p:spPr>
        <p:txBody>
          <a:bodyPr/>
          <a:lstStyle/>
          <a:p>
            <a:pPr defTabSz="912813" eaLnBrk="1" hangingPunct="1">
              <a:spcBef>
                <a:spcPts val="1200"/>
              </a:spcBef>
            </a:pPr>
            <a:r>
              <a:rPr lang="sl-SI" altLang="en-US" sz="2800" b="1"/>
              <a:t>Primer določanja strukture iz gibanja (2)</a:t>
            </a:r>
            <a:endParaRPr lang="en-GB" altLang="en-US" sz="2000"/>
          </a:p>
        </p:txBody>
      </p:sp>
      <p:sp>
        <p:nvSpPr>
          <p:cNvPr id="32461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sp>
        <p:nvSpPr>
          <p:cNvPr id="32461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sl-SI" altLang="en-US" sz="1800"/>
          </a:p>
        </p:txBody>
      </p:sp>
      <p:graphicFrame>
        <p:nvGraphicFramePr>
          <p:cNvPr id="324615" name="Object 2"/>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324648" name="Equation" r:id="rId4" imgW="384378" imgH="720709" progId="Equation.3">
                  <p:embed/>
                </p:oleObj>
              </mc:Choice>
              <mc:Fallback>
                <p:oleObj name="Equation" r:id="rId4" imgW="384378" imgH="72070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33750"/>
                        <a:ext cx="9144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246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6825" y="762000"/>
            <a:ext cx="17526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461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2825" y="762000"/>
            <a:ext cx="17526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4618"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38825" y="762000"/>
            <a:ext cx="18288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4619"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46250" y="2362200"/>
            <a:ext cx="22860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462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0450" y="2438400"/>
            <a:ext cx="243840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4621"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90800" y="4048125"/>
            <a:ext cx="3276600"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2665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4DC1D64-0462-4FC8-86D2-D1FB2BD5A49F}" type="slidenum">
              <a:rPr lang="en-GB" altLang="en-US" sz="1400" smtClean="0"/>
              <a:pPr>
                <a:spcBef>
                  <a:spcPct val="0"/>
                </a:spcBef>
                <a:buFontTx/>
                <a:buNone/>
              </a:pPr>
              <a:t>162</a:t>
            </a:fld>
            <a:endParaRPr lang="en-GB" altLang="en-US" sz="1400"/>
          </a:p>
        </p:txBody>
      </p:sp>
      <p:sp>
        <p:nvSpPr>
          <p:cNvPr id="326660" name="Rectangle 2"/>
          <p:cNvSpPr>
            <a:spLocks noGrp="1" noChangeArrowheads="1"/>
          </p:cNvSpPr>
          <p:nvPr>
            <p:ph type="body" idx="1"/>
          </p:nvPr>
        </p:nvSpPr>
        <p:spPr>
          <a:xfrm>
            <a:off x="468313" y="2708275"/>
            <a:ext cx="8229600" cy="1873250"/>
          </a:xfrm>
        </p:spPr>
        <p:txBody>
          <a:bodyPr/>
          <a:lstStyle/>
          <a:p>
            <a:pPr algn="ctr" defTabSz="912813" eaLnBrk="1" hangingPunct="1">
              <a:buFontTx/>
              <a:buNone/>
            </a:pPr>
            <a:r>
              <a:rPr lang="sl-SI" altLang="en-US" sz="3600"/>
              <a:t>3D-rekonstrukcija objektov</a:t>
            </a:r>
          </a:p>
        </p:txBody>
      </p:sp>
    </p:spTree>
  </p:cSld>
  <p:clrMapOvr>
    <a:masterClrMapping/>
  </p:clrMapOvr>
  <p:transition>
    <p:cove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EF41F52-B2FE-4FE0-A26E-93637E4A425A}" type="slidenum">
              <a:rPr lang="en-US" altLang="en-US" sz="1400" smtClean="0"/>
              <a:pPr>
                <a:spcBef>
                  <a:spcPct val="0"/>
                </a:spcBef>
                <a:buFontTx/>
                <a:buNone/>
              </a:pPr>
              <a:t>163</a:t>
            </a:fld>
            <a:endParaRPr lang="en-US" altLang="en-US" sz="1400"/>
          </a:p>
        </p:txBody>
      </p:sp>
      <p:sp>
        <p:nvSpPr>
          <p:cNvPr id="32870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28708" name="Rectangle 2"/>
          <p:cNvSpPr txBox="1">
            <a:spLocks noChangeArrowheads="1"/>
          </p:cNvSpPr>
          <p:nvPr/>
        </p:nvSpPr>
        <p:spPr bwMode="auto">
          <a:xfrm>
            <a:off x="0" y="258763"/>
            <a:ext cx="91440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REKONSTRUKCIJSKA VEČLIČNOST: PODOBNOST</a:t>
            </a:r>
            <a:endParaRPr lang="en-GB" altLang="en-US" sz="2000">
              <a:solidFill>
                <a:schemeClr val="tx2"/>
              </a:solidFill>
            </a:endParaRPr>
          </a:p>
        </p:txBody>
      </p:sp>
      <p:grpSp>
        <p:nvGrpSpPr>
          <p:cNvPr id="328709" name="Skupina 4"/>
          <p:cNvGrpSpPr>
            <a:grpSpLocks/>
          </p:cNvGrpSpPr>
          <p:nvPr/>
        </p:nvGrpSpPr>
        <p:grpSpPr bwMode="auto">
          <a:xfrm>
            <a:off x="2674938" y="1749425"/>
            <a:ext cx="3265487" cy="2543175"/>
            <a:chOff x="2603500" y="1335088"/>
            <a:chExt cx="3578225" cy="3048000"/>
          </a:xfrm>
        </p:grpSpPr>
        <p:pic>
          <p:nvPicPr>
            <p:cNvPr id="328720" name="Picture 3" descr="fig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500" y="1335088"/>
              <a:ext cx="357822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721" name="PoljeZBesedilom 3"/>
            <p:cNvSpPr txBox="1">
              <a:spLocks noChangeArrowheads="1"/>
            </p:cNvSpPr>
            <p:nvPr/>
          </p:nvSpPr>
          <p:spPr bwMode="auto">
            <a:xfrm>
              <a:off x="4644008" y="2745134"/>
              <a:ext cx="899605" cy="2518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podobnost</a:t>
              </a:r>
            </a:p>
          </p:txBody>
        </p:sp>
      </p:grpSp>
      <p:sp>
        <p:nvSpPr>
          <p:cNvPr id="328710" name="PoljeZBesedilom 6"/>
          <p:cNvSpPr txBox="1">
            <a:spLocks noChangeArrowheads="1"/>
          </p:cNvSpPr>
          <p:nvPr/>
        </p:nvSpPr>
        <p:spPr bwMode="auto">
          <a:xfrm>
            <a:off x="395288" y="981075"/>
            <a:ext cx="76485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Imamo točke v prostoru, </a:t>
            </a:r>
            <a:r>
              <a:rPr lang="sl-SI" altLang="en-US" sz="1800" b="1"/>
              <a:t>p</a:t>
            </a:r>
            <a:r>
              <a:rPr lang="sl-SI" altLang="en-US" sz="1800" i="1" baseline="-25000"/>
              <a:t>i</a:t>
            </a:r>
            <a:r>
              <a:rPr lang="sl-SI" altLang="en-US" sz="1800"/>
              <a:t>, in njihove projekcije na slikovno ravnino </a:t>
            </a:r>
            <a:r>
              <a:rPr lang="sl-SI" altLang="en-US" sz="1800" b="1"/>
              <a:t>p</a:t>
            </a:r>
            <a:r>
              <a:rPr lang="sl-SI" altLang="en-US" sz="1800" i="1" baseline="-25000"/>
              <a:t>s,i</a:t>
            </a:r>
            <a:r>
              <a:rPr lang="sl-SI" altLang="en-US" sz="1800"/>
              <a:t>. </a:t>
            </a:r>
          </a:p>
          <a:p>
            <a:pPr eaLnBrk="1" hangingPunct="1">
              <a:spcBef>
                <a:spcPct val="0"/>
              </a:spcBef>
              <a:buFontTx/>
              <a:buNone/>
            </a:pPr>
            <a:r>
              <a:rPr lang="sl-SI" altLang="en-US" sz="1800"/>
              <a:t>Projekcijska matrika je </a:t>
            </a:r>
            <a:r>
              <a:rPr lang="sl-SI" altLang="en-US" sz="1800" b="1"/>
              <a:t>M</a:t>
            </a:r>
            <a:r>
              <a:rPr lang="sl-SI" altLang="en-US" sz="1800"/>
              <a:t>.</a:t>
            </a:r>
          </a:p>
        </p:txBody>
      </p:sp>
      <p:sp>
        <p:nvSpPr>
          <p:cNvPr id="328711" name="PoljeZBesedilom 8"/>
          <p:cNvSpPr txBox="1">
            <a:spLocks noChangeArrowheads="1"/>
          </p:cNvSpPr>
          <p:nvPr/>
        </p:nvSpPr>
        <p:spPr bwMode="auto">
          <a:xfrm>
            <a:off x="6372225" y="4437063"/>
            <a:ext cx="2160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solidFill>
                  <a:srgbClr val="FF9933"/>
                </a:solidFill>
              </a:rPr>
              <a:t>H</a:t>
            </a:r>
            <a:r>
              <a:rPr lang="sl-SI" altLang="en-US" sz="1600" i="1" baseline="-25000">
                <a:solidFill>
                  <a:srgbClr val="FF9933"/>
                </a:solidFill>
              </a:rPr>
              <a:t>s</a:t>
            </a:r>
            <a:r>
              <a:rPr lang="sl-SI" altLang="en-US" sz="1600">
                <a:solidFill>
                  <a:srgbClr val="FF9933"/>
                </a:solidFill>
              </a:rPr>
              <a:t> – homografija, ki ohrani podobnost</a:t>
            </a:r>
          </a:p>
        </p:txBody>
      </p:sp>
      <p:pic>
        <p:nvPicPr>
          <p:cNvPr id="328712" name="Slika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57538" y="4351338"/>
            <a:ext cx="282892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713" name="Slika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795588" y="5021263"/>
            <a:ext cx="5521325"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714" name="PoljeZBesedilom 4"/>
          <p:cNvSpPr txBox="1">
            <a:spLocks noChangeArrowheads="1"/>
          </p:cNvSpPr>
          <p:nvPr/>
        </p:nvSpPr>
        <p:spPr bwMode="auto">
          <a:xfrm>
            <a:off x="2205038" y="5267325"/>
            <a:ext cx="412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1">
                <a:sym typeface="Symbol" panose="05050102010706020507" pitchFamily="18" charset="2"/>
              </a:rPr>
              <a:t></a:t>
            </a:r>
            <a:endParaRPr lang="en-US" altLang="en-US" sz="1800" b="1"/>
          </a:p>
        </p:txBody>
      </p:sp>
      <p:sp>
        <p:nvSpPr>
          <p:cNvPr id="328715" name="PoljeZBesedilom 5"/>
          <p:cNvSpPr txBox="1">
            <a:spLocks noChangeArrowheads="1"/>
          </p:cNvSpPr>
          <p:nvPr/>
        </p:nvSpPr>
        <p:spPr bwMode="auto">
          <a:xfrm>
            <a:off x="563563" y="5876925"/>
            <a:ext cx="80406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a:solidFill>
                  <a:srgbClr val="0000FF"/>
                </a:solidFill>
              </a:rPr>
              <a:t>To dokazuje, da je s kalibrirano kamero možna rekonstrukcija do podobnosti natančno.</a:t>
            </a:r>
            <a:endParaRPr lang="en-US" altLang="en-US" sz="1600">
              <a:solidFill>
                <a:srgbClr val="0000FF"/>
              </a:solidFill>
            </a:endParaRPr>
          </a:p>
        </p:txBody>
      </p:sp>
      <p:grpSp>
        <p:nvGrpSpPr>
          <p:cNvPr id="328716" name="Skupina 8"/>
          <p:cNvGrpSpPr>
            <a:grpSpLocks/>
          </p:cNvGrpSpPr>
          <p:nvPr/>
        </p:nvGrpSpPr>
        <p:grpSpPr bwMode="auto">
          <a:xfrm>
            <a:off x="646113" y="5124450"/>
            <a:ext cx="1487487" cy="573088"/>
            <a:chOff x="636427" y="5123684"/>
            <a:chExt cx="1487301" cy="573940"/>
          </a:xfrm>
        </p:grpSpPr>
        <p:pic>
          <p:nvPicPr>
            <p:cNvPr id="328717" name="Slika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36427" y="5142934"/>
              <a:ext cx="1487301" cy="554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718" name="PoljeZBesedilom 7"/>
            <p:cNvSpPr txBox="1">
              <a:spLocks noChangeArrowheads="1"/>
            </p:cNvSpPr>
            <p:nvPr/>
          </p:nvSpPr>
          <p:spPr bwMode="auto">
            <a:xfrm>
              <a:off x="1465751" y="5123684"/>
              <a:ext cx="2423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ym typeface="Symbol" panose="05050102010706020507" pitchFamily="18" charset="2"/>
                </a:rPr>
                <a:t></a:t>
              </a:r>
              <a:endParaRPr lang="en-US" altLang="en-US" sz="1800"/>
            </a:p>
          </p:txBody>
        </p:sp>
        <p:sp>
          <p:nvSpPr>
            <p:cNvPr id="328719" name="PoljeZBesedilom 19"/>
            <p:cNvSpPr txBox="1">
              <a:spLocks noChangeArrowheads="1"/>
            </p:cNvSpPr>
            <p:nvPr/>
          </p:nvSpPr>
          <p:spPr bwMode="auto">
            <a:xfrm>
              <a:off x="1801026" y="5138275"/>
              <a:ext cx="2423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ym typeface="Symbol" panose="05050102010706020507" pitchFamily="18" charset="2"/>
                </a:rPr>
                <a:t></a:t>
              </a:r>
              <a:endParaRPr lang="en-US" altLang="en-US" sz="1800"/>
            </a:p>
          </p:txBody>
        </p:sp>
      </p:grpSp>
    </p:spTree>
  </p:cSld>
  <p:clrMapOvr>
    <a:masterClrMapping/>
  </p:clrMapOvr>
  <p:transition>
    <p:cove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E5F617E-EB3F-439C-868B-9FA858E9E858}" type="slidenum">
              <a:rPr lang="en-US" altLang="en-US" sz="1400" smtClean="0"/>
              <a:pPr>
                <a:spcBef>
                  <a:spcPct val="0"/>
                </a:spcBef>
                <a:buFontTx/>
                <a:buNone/>
              </a:pPr>
              <a:t>164</a:t>
            </a:fld>
            <a:endParaRPr lang="en-US" altLang="en-US" sz="1400"/>
          </a:p>
        </p:txBody>
      </p:sp>
      <p:pic>
        <p:nvPicPr>
          <p:cNvPr id="330755" name="Picture 4" descr="fig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25" y="1341438"/>
            <a:ext cx="4325938"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075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30757" name="Rectangle 2"/>
          <p:cNvSpPr txBox="1">
            <a:spLocks noChangeArrowheads="1"/>
          </p:cNvSpPr>
          <p:nvPr/>
        </p:nvSpPr>
        <p:spPr bwMode="auto">
          <a:xfrm>
            <a:off x="0" y="258763"/>
            <a:ext cx="91440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REKONSTRUKCIJSKA VEČLIČNOST: </a:t>
            </a:r>
            <a:r>
              <a:rPr lang="sl-SI" altLang="en-US" sz="2400" b="1">
                <a:solidFill>
                  <a:schemeClr val="tx2"/>
                </a:solidFill>
              </a:rPr>
              <a:t>PROJEKCIJSKA</a:t>
            </a:r>
            <a:endParaRPr lang="en-GB" altLang="en-US" sz="1800">
              <a:solidFill>
                <a:schemeClr val="tx2"/>
              </a:solidFill>
            </a:endParaRPr>
          </a:p>
        </p:txBody>
      </p:sp>
      <p:sp>
        <p:nvSpPr>
          <p:cNvPr id="330758" name="PoljeZBesedilom 7"/>
          <p:cNvSpPr txBox="1">
            <a:spLocks noChangeArrowheads="1"/>
          </p:cNvSpPr>
          <p:nvPr/>
        </p:nvSpPr>
        <p:spPr bwMode="auto">
          <a:xfrm>
            <a:off x="4687888" y="2781300"/>
            <a:ext cx="830262"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200"/>
              <a:t>projekcija</a:t>
            </a:r>
          </a:p>
        </p:txBody>
      </p:sp>
      <p:sp>
        <p:nvSpPr>
          <p:cNvPr id="330759" name="PoljeZBesedilom 9"/>
          <p:cNvSpPr txBox="1">
            <a:spLocks noChangeArrowheads="1"/>
          </p:cNvSpPr>
          <p:nvPr/>
        </p:nvSpPr>
        <p:spPr bwMode="auto">
          <a:xfrm>
            <a:off x="6300788" y="4787900"/>
            <a:ext cx="24479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600" b="1">
                <a:solidFill>
                  <a:srgbClr val="FF9933"/>
                </a:solidFill>
              </a:rPr>
              <a:t>H</a:t>
            </a:r>
            <a:r>
              <a:rPr lang="sl-SI" altLang="en-US" sz="1600" i="1" baseline="-25000">
                <a:solidFill>
                  <a:srgbClr val="FF9933"/>
                </a:solidFill>
              </a:rPr>
              <a:t>P</a:t>
            </a:r>
            <a:r>
              <a:rPr lang="sl-SI" altLang="en-US" sz="1600">
                <a:solidFill>
                  <a:srgbClr val="FF9933"/>
                </a:solidFill>
              </a:rPr>
              <a:t> – homografija, ki ne spremeni projekcije</a:t>
            </a:r>
          </a:p>
        </p:txBody>
      </p:sp>
      <p:pic>
        <p:nvPicPr>
          <p:cNvPr id="330760" name="Slika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48013" y="4778375"/>
            <a:ext cx="2847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1B899B1-4E8F-4FDE-A671-F6680B23396E}" type="slidenum">
              <a:rPr lang="en-US" altLang="en-US" sz="1400" smtClean="0"/>
              <a:pPr>
                <a:spcBef>
                  <a:spcPct val="0"/>
                </a:spcBef>
                <a:buFontTx/>
                <a:buNone/>
              </a:pPr>
              <a:t>165</a:t>
            </a:fld>
            <a:endParaRPr lang="en-US" altLang="en-US" sz="1400"/>
          </a:p>
        </p:txBody>
      </p:sp>
      <p:sp>
        <p:nvSpPr>
          <p:cNvPr id="332803" name="Text Box 3"/>
          <p:cNvSpPr txBox="1">
            <a:spLocks noChangeArrowheads="1"/>
          </p:cNvSpPr>
          <p:nvPr/>
        </p:nvSpPr>
        <p:spPr bwMode="auto">
          <a:xfrm>
            <a:off x="250825" y="620713"/>
            <a:ext cx="8569325"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95300" indent="-4953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AutoNum type="arabicPeriod"/>
            </a:pPr>
            <a:r>
              <a:rPr lang="sl-SI" altLang="en-US" sz="1800">
                <a:solidFill>
                  <a:schemeClr val="tx2"/>
                </a:solidFill>
              </a:rPr>
              <a:t>Govorimo o rekonstrukcijah, ki so enake originalu do neke transformacije natančno.</a:t>
            </a:r>
          </a:p>
          <a:p>
            <a:pPr>
              <a:spcBef>
                <a:spcPts val="600"/>
              </a:spcBef>
              <a:buFontTx/>
              <a:buAutoNum type="arabicPeriod"/>
            </a:pPr>
            <a:r>
              <a:rPr lang="sl-SI" altLang="en-US" sz="1800">
                <a:solidFill>
                  <a:srgbClr val="0000FF"/>
                </a:solidFill>
              </a:rPr>
              <a:t>Projekcijska, afina in podobna rekonstrukcija: </a:t>
            </a:r>
          </a:p>
          <a:p>
            <a:pPr lvl="1">
              <a:spcBef>
                <a:spcPct val="0"/>
              </a:spcBef>
              <a:buFont typeface="Arial" panose="020B0604020202020204" pitchFamily="34" charset="0"/>
              <a:buChar char="•"/>
            </a:pPr>
            <a:r>
              <a:rPr lang="sl-SI" altLang="en-US" sz="1600">
                <a:solidFill>
                  <a:schemeClr val="tx2"/>
                </a:solidFill>
              </a:rPr>
              <a:t>enake so originalu do </a:t>
            </a:r>
            <a:r>
              <a:rPr lang="sl-SI" altLang="en-US" sz="1600">
                <a:solidFill>
                  <a:srgbClr val="FF9933"/>
                </a:solidFill>
              </a:rPr>
              <a:t>projekcije, afine transformacije ali podobnosti</a:t>
            </a:r>
            <a:r>
              <a:rPr lang="sl-SI" altLang="en-US" sz="1600">
                <a:solidFill>
                  <a:schemeClr val="tx2"/>
                </a:solidFill>
              </a:rPr>
              <a:t> natančno.</a:t>
            </a:r>
          </a:p>
          <a:p>
            <a:pPr>
              <a:spcBef>
                <a:spcPts val="600"/>
              </a:spcBef>
              <a:buFontTx/>
              <a:buAutoNum type="arabicPeriod"/>
            </a:pPr>
            <a:r>
              <a:rPr lang="sl-SI" altLang="en-US" sz="1800">
                <a:solidFill>
                  <a:schemeClr val="tx2"/>
                </a:solidFill>
              </a:rPr>
              <a:t>Podobna rekonstrukcija se v literaturi večkrat imenuje tudi </a:t>
            </a:r>
            <a:r>
              <a:rPr lang="sl-SI" altLang="en-US" sz="1800">
                <a:solidFill>
                  <a:srgbClr val="0000FF"/>
                </a:solidFill>
              </a:rPr>
              <a:t>metrična ali evklidska rekonstrukcija</a:t>
            </a:r>
            <a:r>
              <a:rPr lang="sl-SI" altLang="en-US" sz="1800">
                <a:solidFill>
                  <a:schemeClr val="tx2"/>
                </a:solidFill>
              </a:rPr>
              <a:t>. Razlika med njima je le ta, da metrična rekonstrukcija ohrani prave proporce (razmerja dolžin), medtem ko evklidska rekonstrukcija doda dolžinske enote in kotne mere (metre, stopinje).</a:t>
            </a:r>
          </a:p>
          <a:p>
            <a:pPr>
              <a:spcBef>
                <a:spcPts val="600"/>
              </a:spcBef>
              <a:buFontTx/>
              <a:buAutoNum type="arabicPeriod"/>
            </a:pPr>
            <a:r>
              <a:rPr lang="sl-SI" altLang="en-US" sz="1800">
                <a:solidFill>
                  <a:schemeClr val="tx2"/>
                </a:solidFill>
              </a:rPr>
              <a:t>Obstaja zveza med rekonstrukcijami:</a:t>
            </a:r>
          </a:p>
          <a:p>
            <a:pPr>
              <a:spcBef>
                <a:spcPts val="600"/>
              </a:spcBef>
              <a:buFontTx/>
              <a:buNone/>
            </a:pPr>
            <a:r>
              <a:rPr lang="sl-SI" altLang="en-US" sz="1800">
                <a:solidFill>
                  <a:schemeClr val="tx2"/>
                </a:solidFill>
              </a:rPr>
              <a:t>	projekcijska </a:t>
            </a:r>
            <a:r>
              <a:rPr lang="sl-SI" altLang="en-US" sz="1800">
                <a:solidFill>
                  <a:schemeClr val="tx2"/>
                </a:solidFill>
                <a:sym typeface="Symbol" panose="05050102010706020507" pitchFamily="18" charset="2"/>
              </a:rPr>
              <a:t> afina</a:t>
            </a:r>
            <a:r>
              <a:rPr lang="sl-SI" altLang="en-US" sz="1800">
                <a:solidFill>
                  <a:schemeClr val="tx2"/>
                </a:solidFill>
              </a:rPr>
              <a:t> </a:t>
            </a:r>
            <a:r>
              <a:rPr lang="sl-SI" altLang="en-US" sz="1800">
                <a:solidFill>
                  <a:schemeClr val="tx2"/>
                </a:solidFill>
                <a:sym typeface="Symbol" panose="05050102010706020507" pitchFamily="18" charset="2"/>
              </a:rPr>
              <a:t> metrična</a:t>
            </a:r>
            <a:r>
              <a:rPr lang="sl-SI" altLang="en-US" sz="1800">
                <a:solidFill>
                  <a:schemeClr val="tx2"/>
                </a:solidFill>
              </a:rPr>
              <a:t> </a:t>
            </a:r>
            <a:r>
              <a:rPr lang="sl-SI" altLang="en-US" sz="1800">
                <a:solidFill>
                  <a:schemeClr val="tx2"/>
                </a:solidFill>
                <a:sym typeface="Symbol" panose="05050102010706020507" pitchFamily="18" charset="2"/>
              </a:rPr>
              <a:t> evklidska </a:t>
            </a:r>
            <a:r>
              <a:rPr lang="sl-SI" altLang="en-US" sz="1800">
                <a:solidFill>
                  <a:schemeClr val="tx2"/>
                </a:solidFill>
              </a:rPr>
              <a:t> </a:t>
            </a:r>
          </a:p>
          <a:p>
            <a:pPr lvl="1">
              <a:spcBef>
                <a:spcPts val="600"/>
              </a:spcBef>
              <a:buFont typeface="Arial" panose="020B0604020202020204" pitchFamily="34" charset="0"/>
              <a:buChar char="•"/>
            </a:pPr>
            <a:r>
              <a:rPr lang="sl-SI" altLang="en-US" sz="1600">
                <a:solidFill>
                  <a:schemeClr val="tx2"/>
                </a:solidFill>
              </a:rPr>
              <a:t>projekcijska rekonstrukcija ohranja tip (točka, črta), pripadnost (točka na črti) in razmerja razdalj</a:t>
            </a:r>
          </a:p>
          <a:p>
            <a:pPr lvl="1">
              <a:spcBef>
                <a:spcPts val="600"/>
              </a:spcBef>
              <a:buFont typeface="Arial" panose="020B0604020202020204" pitchFamily="34" charset="0"/>
              <a:buChar char="•"/>
            </a:pPr>
            <a:r>
              <a:rPr lang="sl-SI" altLang="en-US" sz="1600">
                <a:solidFill>
                  <a:schemeClr val="tx2"/>
                </a:solidFill>
              </a:rPr>
              <a:t>afina rekonstrukcija dodaja paralelizem – ohranja paralelnost (</a:t>
            </a:r>
            <a:r>
              <a:rPr lang="sl-SI" altLang="en-US" sz="1600">
                <a:solidFill>
                  <a:srgbClr val="FF9933"/>
                </a:solidFill>
              </a:rPr>
              <a:t>ravnina v neskončnosti</a:t>
            </a:r>
            <a:r>
              <a:rPr lang="sl-SI" altLang="en-US" sz="1600">
                <a:solidFill>
                  <a:schemeClr val="tx2"/>
                </a:solidFill>
              </a:rPr>
              <a:t>)</a:t>
            </a:r>
          </a:p>
          <a:p>
            <a:pPr lvl="1">
              <a:spcBef>
                <a:spcPts val="600"/>
              </a:spcBef>
              <a:buFont typeface="Arial" panose="020B0604020202020204" pitchFamily="34" charset="0"/>
              <a:buChar char="•"/>
            </a:pPr>
            <a:r>
              <a:rPr lang="sl-SI" altLang="en-US" sz="1600">
                <a:solidFill>
                  <a:schemeClr val="tx2"/>
                </a:solidFill>
              </a:rPr>
              <a:t>metrična rekonstrukcija ohranja kote (</a:t>
            </a:r>
            <a:r>
              <a:rPr lang="sl-SI" altLang="en-US" sz="1600">
                <a:solidFill>
                  <a:srgbClr val="FF9933"/>
                </a:solidFill>
              </a:rPr>
              <a:t>stožnica v neskončnosti</a:t>
            </a:r>
            <a:r>
              <a:rPr lang="sl-SI" altLang="en-US" sz="1600">
                <a:solidFill>
                  <a:schemeClr val="tx2"/>
                </a:solidFill>
              </a:rPr>
              <a:t>)</a:t>
            </a:r>
          </a:p>
          <a:p>
            <a:pPr lvl="1">
              <a:spcBef>
                <a:spcPts val="600"/>
              </a:spcBef>
              <a:buFont typeface="Arial" panose="020B0604020202020204" pitchFamily="34" charset="0"/>
              <a:buChar char="•"/>
            </a:pPr>
            <a:r>
              <a:rPr lang="sl-SI" altLang="en-US" sz="1600">
                <a:solidFill>
                  <a:schemeClr val="tx2"/>
                </a:solidFill>
              </a:rPr>
              <a:t>ko se pomikamo od projekcijske proti evklidski rekonstrukciji, se manjša število možnih transformacij in veča število nespremenljivih parametrov – za evklidsko rekonstrukcijo sta možna le zasuk in premik  </a:t>
            </a:r>
          </a:p>
        </p:txBody>
      </p:sp>
      <p:sp>
        <p:nvSpPr>
          <p:cNvPr id="332804"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32805" name="Rectangle 2"/>
          <p:cNvSpPr txBox="1">
            <a:spLocks noChangeArrowheads="1"/>
          </p:cNvSpPr>
          <p:nvPr/>
        </p:nvSpPr>
        <p:spPr bwMode="auto">
          <a:xfrm>
            <a:off x="0" y="115888"/>
            <a:ext cx="91440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3D REKONSTRUKCIJA: POIMENOVANJA</a:t>
            </a:r>
            <a:endParaRPr lang="en-GB" altLang="en-US" sz="2000">
              <a:solidFill>
                <a:schemeClr val="tx2"/>
              </a:solidFill>
            </a:endParaRPr>
          </a:p>
        </p:txBody>
      </p:sp>
    </p:spTree>
  </p:cSld>
  <p:clrMapOvr>
    <a:masterClrMapping/>
  </p:clrMapOvr>
  <p:transition>
    <p:cove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008BD3-3048-4FAC-BC64-3C58B8B668B0}" type="slidenum">
              <a:rPr lang="en-US" altLang="en-US" sz="1400" smtClean="0"/>
              <a:pPr>
                <a:spcBef>
                  <a:spcPct val="0"/>
                </a:spcBef>
                <a:buFontTx/>
                <a:buNone/>
              </a:pPr>
              <a:t>166</a:t>
            </a:fld>
            <a:endParaRPr lang="en-US" altLang="en-US" sz="1400"/>
          </a:p>
        </p:txBody>
      </p:sp>
      <p:sp>
        <p:nvSpPr>
          <p:cNvPr id="334851" name="Rectangle 3"/>
          <p:cNvSpPr>
            <a:spLocks noChangeArrowheads="1"/>
          </p:cNvSpPr>
          <p:nvPr/>
        </p:nvSpPr>
        <p:spPr bwMode="auto">
          <a:xfrm>
            <a:off x="827088" y="1149350"/>
            <a:ext cx="7632700" cy="1631950"/>
          </a:xfrm>
          <a:prstGeom prst="rect">
            <a:avLst/>
          </a:prstGeom>
          <a:solidFill>
            <a:srgbClr val="FFC000"/>
          </a:solidFill>
          <a:ln w="28575" algn="ctr">
            <a:solidFill>
              <a:srgbClr val="FF0000"/>
            </a:solidFill>
            <a:miter lim="800000"/>
            <a:headEnd/>
            <a:tailEnd/>
          </a:ln>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2000">
                <a:solidFill>
                  <a:schemeClr val="tx2"/>
                </a:solidFill>
              </a:rPr>
              <a:t>Če</a:t>
            </a:r>
            <a:r>
              <a:rPr lang="de-DE" altLang="en-US" sz="2000">
                <a:solidFill>
                  <a:schemeClr val="tx2"/>
                </a:solidFill>
              </a:rPr>
              <a:t> </a:t>
            </a:r>
            <a:r>
              <a:rPr lang="sl-SI" altLang="en-US" sz="2000" u="sng">
                <a:solidFill>
                  <a:schemeClr val="tx2"/>
                </a:solidFill>
              </a:rPr>
              <a:t>množica korespondenčnih točk</a:t>
            </a:r>
            <a:r>
              <a:rPr lang="de-DE" altLang="en-US" sz="2000">
                <a:solidFill>
                  <a:schemeClr val="tx2"/>
                </a:solidFill>
              </a:rPr>
              <a:t> </a:t>
            </a:r>
            <a:r>
              <a:rPr lang="sl-SI" altLang="en-US" sz="2000">
                <a:solidFill>
                  <a:schemeClr val="tx2"/>
                </a:solidFill>
              </a:rPr>
              <a:t>na dveh slikah (pogledih) </a:t>
            </a:r>
            <a:r>
              <a:rPr lang="de-DE" altLang="en-US" sz="2000" u="sng">
                <a:solidFill>
                  <a:schemeClr val="tx2"/>
                </a:solidFill>
              </a:rPr>
              <a:t>d</a:t>
            </a:r>
            <a:r>
              <a:rPr lang="sl-SI" altLang="en-US" sz="2000" u="sng">
                <a:solidFill>
                  <a:schemeClr val="tx2"/>
                </a:solidFill>
              </a:rPr>
              <a:t>oloča eno samo temeljno matriko</a:t>
            </a:r>
            <a:r>
              <a:rPr lang="de-DE" altLang="en-US" sz="2000">
                <a:solidFill>
                  <a:schemeClr val="tx2"/>
                </a:solidFill>
              </a:rPr>
              <a:t>, </a:t>
            </a:r>
            <a:r>
              <a:rPr lang="sl-SI" altLang="en-US" sz="2000">
                <a:solidFill>
                  <a:schemeClr val="tx2"/>
                </a:solidFill>
              </a:rPr>
              <a:t>potem lahko rekonstruiramo parametre</a:t>
            </a:r>
            <a:r>
              <a:rPr lang="de-DE" altLang="en-US" sz="2000">
                <a:solidFill>
                  <a:schemeClr val="tx2"/>
                </a:solidFill>
              </a:rPr>
              <a:t> </a:t>
            </a:r>
            <a:r>
              <a:rPr lang="de-DE" altLang="en-US" sz="2000" u="sng">
                <a:solidFill>
                  <a:schemeClr val="tx2"/>
                </a:solidFill>
              </a:rPr>
              <a:t>scene </a:t>
            </a:r>
            <a:r>
              <a:rPr lang="sl-SI" altLang="en-US" sz="2000" u="sng">
                <a:solidFill>
                  <a:schemeClr val="tx2"/>
                </a:solidFill>
              </a:rPr>
              <a:t>in</a:t>
            </a:r>
            <a:r>
              <a:rPr lang="de-DE" altLang="en-US" sz="2000" u="sng">
                <a:solidFill>
                  <a:schemeClr val="tx2"/>
                </a:solidFill>
              </a:rPr>
              <a:t> </a:t>
            </a:r>
            <a:r>
              <a:rPr lang="sl-SI" altLang="en-US" sz="2000" u="sng">
                <a:solidFill>
                  <a:schemeClr val="tx2"/>
                </a:solidFill>
              </a:rPr>
              <a:t>k</a:t>
            </a:r>
            <a:r>
              <a:rPr lang="de-DE" altLang="en-US" sz="2000" u="sng">
                <a:solidFill>
                  <a:schemeClr val="tx2"/>
                </a:solidFill>
              </a:rPr>
              <a:t>amer</a:t>
            </a:r>
            <a:r>
              <a:rPr lang="sl-SI" altLang="en-US" sz="2000" u="sng">
                <a:solidFill>
                  <a:schemeClr val="tx2"/>
                </a:solidFill>
              </a:rPr>
              <a:t>e</a:t>
            </a:r>
            <a:r>
              <a:rPr lang="de-DE" altLang="en-US" sz="2000">
                <a:solidFill>
                  <a:schemeClr val="tx2"/>
                </a:solidFill>
              </a:rPr>
              <a:t> </a:t>
            </a:r>
            <a:r>
              <a:rPr lang="sl-SI" altLang="en-US" sz="2000">
                <a:solidFill>
                  <a:schemeClr val="tx2"/>
                </a:solidFill>
              </a:rPr>
              <a:t>samo na osnovi teh korespondenčnih točk</a:t>
            </a:r>
            <a:r>
              <a:rPr lang="de-DE" altLang="en-US" sz="2000">
                <a:solidFill>
                  <a:schemeClr val="tx2"/>
                </a:solidFill>
              </a:rPr>
              <a:t>, </a:t>
            </a:r>
            <a:r>
              <a:rPr lang="sl-SI" altLang="en-US" sz="2000">
                <a:solidFill>
                  <a:schemeClr val="tx2"/>
                </a:solidFill>
              </a:rPr>
              <a:t>pri tem pa sta katerikoli dve takšni rekonstrukciji </a:t>
            </a:r>
            <a:r>
              <a:rPr lang="sl-SI" altLang="en-US" sz="2000" u="sng">
                <a:solidFill>
                  <a:schemeClr val="tx2"/>
                </a:solidFill>
              </a:rPr>
              <a:t>pr</a:t>
            </a:r>
            <a:r>
              <a:rPr lang="de-DE" altLang="en-US" sz="2000" u="sng">
                <a:solidFill>
                  <a:schemeClr val="tx2"/>
                </a:solidFill>
              </a:rPr>
              <a:t>oje</a:t>
            </a:r>
            <a:r>
              <a:rPr lang="sl-SI" altLang="en-US" sz="2000" u="sng">
                <a:solidFill>
                  <a:schemeClr val="tx2"/>
                </a:solidFill>
              </a:rPr>
              <a:t>k</a:t>
            </a:r>
            <a:r>
              <a:rPr lang="de-DE" altLang="en-US" sz="2000" u="sng">
                <a:solidFill>
                  <a:schemeClr val="tx2"/>
                </a:solidFill>
              </a:rPr>
              <a:t>c</a:t>
            </a:r>
            <a:r>
              <a:rPr lang="sl-SI" altLang="en-US" sz="2000" u="sng">
                <a:solidFill>
                  <a:schemeClr val="tx2"/>
                </a:solidFill>
              </a:rPr>
              <a:t>ijsko</a:t>
            </a:r>
            <a:r>
              <a:rPr lang="de-DE" altLang="en-US" sz="2000" u="sng">
                <a:solidFill>
                  <a:schemeClr val="tx2"/>
                </a:solidFill>
              </a:rPr>
              <a:t> e</a:t>
            </a:r>
            <a:r>
              <a:rPr lang="sl-SI" altLang="en-US" sz="2000" u="sng">
                <a:solidFill>
                  <a:schemeClr val="tx2"/>
                </a:solidFill>
              </a:rPr>
              <a:t>kv</a:t>
            </a:r>
            <a:r>
              <a:rPr lang="de-DE" altLang="en-US" sz="2000" u="sng">
                <a:solidFill>
                  <a:schemeClr val="tx2"/>
                </a:solidFill>
              </a:rPr>
              <a:t>ivalent</a:t>
            </a:r>
            <a:r>
              <a:rPr lang="sl-SI" altLang="en-US" sz="2000" u="sng">
                <a:solidFill>
                  <a:schemeClr val="tx2"/>
                </a:solidFill>
              </a:rPr>
              <a:t>ni</a:t>
            </a:r>
            <a:r>
              <a:rPr lang="sl-SI" altLang="en-US" sz="2000">
                <a:solidFill>
                  <a:schemeClr val="tx2"/>
                </a:solidFill>
              </a:rPr>
              <a:t>.</a:t>
            </a:r>
            <a:endParaRPr lang="de-DE" altLang="en-US" sz="2000">
              <a:solidFill>
                <a:schemeClr val="tx2"/>
              </a:solidFill>
            </a:endParaRPr>
          </a:p>
        </p:txBody>
      </p:sp>
      <p:sp>
        <p:nvSpPr>
          <p:cNvPr id="334852" name="Rectangle 17"/>
          <p:cNvSpPr>
            <a:spLocks noChangeArrowheads="1"/>
          </p:cNvSpPr>
          <p:nvPr/>
        </p:nvSpPr>
        <p:spPr bwMode="auto">
          <a:xfrm>
            <a:off x="827088" y="3141663"/>
            <a:ext cx="6157912"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2000" b="1">
                <a:solidFill>
                  <a:schemeClr val="tx2"/>
                </a:solidFill>
              </a:rPr>
              <a:t>Ključna ugotovitev</a:t>
            </a:r>
            <a:r>
              <a:rPr lang="de-DE" altLang="en-US" sz="2000" b="1">
                <a:solidFill>
                  <a:schemeClr val="tx2"/>
                </a:solidFill>
              </a:rPr>
              <a:t>: </a:t>
            </a:r>
          </a:p>
          <a:p>
            <a:pPr eaLnBrk="1" hangingPunct="1">
              <a:spcBef>
                <a:spcPts val="600"/>
              </a:spcBef>
              <a:buFontTx/>
              <a:buNone/>
            </a:pPr>
            <a:r>
              <a:rPr lang="sl-SI" altLang="en-US" sz="2000">
                <a:solidFill>
                  <a:srgbClr val="0000FF"/>
                </a:solidFill>
              </a:rPr>
              <a:t>3D rekonstrukcija je možna iz para nekalibriranih slik</a:t>
            </a:r>
            <a:endParaRPr lang="en-US" altLang="en-US" sz="2000">
              <a:solidFill>
                <a:srgbClr val="0000FF"/>
              </a:solidFill>
            </a:endParaRPr>
          </a:p>
        </p:txBody>
      </p:sp>
      <p:sp>
        <p:nvSpPr>
          <p:cNvPr id="334853"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34854" name="Rectangle 2"/>
          <p:cNvSpPr txBox="1">
            <a:spLocks noChangeArrowheads="1"/>
          </p:cNvSpPr>
          <p:nvPr/>
        </p:nvSpPr>
        <p:spPr bwMode="auto">
          <a:xfrm>
            <a:off x="0" y="333375"/>
            <a:ext cx="91440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TEOREM PROJEKCIJSKE REKONSTRUKCIJE</a:t>
            </a:r>
            <a:endParaRPr lang="en-GB" altLang="en-US" sz="2000">
              <a:solidFill>
                <a:schemeClr val="tx2"/>
              </a:solidFill>
            </a:endParaRPr>
          </a:p>
        </p:txBody>
      </p:sp>
    </p:spTree>
  </p:cSld>
  <p:clrMapOvr>
    <a:masterClrMapping/>
  </p:clrMapOvr>
  <p:transition>
    <p:cove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A2EA7F3-54E9-4081-AF61-DCD7A366A984}" type="slidenum">
              <a:rPr lang="en-US" altLang="en-US" sz="1400" smtClean="0"/>
              <a:pPr>
                <a:spcBef>
                  <a:spcPct val="0"/>
                </a:spcBef>
                <a:buFontTx/>
                <a:buNone/>
              </a:pPr>
              <a:t>167</a:t>
            </a:fld>
            <a:endParaRPr lang="en-US" altLang="en-US" sz="1400"/>
          </a:p>
        </p:txBody>
      </p:sp>
      <p:pic>
        <p:nvPicPr>
          <p:cNvPr id="336899" name="Picture 2" descr="fig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23975" y="3935413"/>
            <a:ext cx="3679825" cy="180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6900" name="Picture 3" descr="fig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052513"/>
            <a:ext cx="3436938"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6901" name="Picture 4" descr="fig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263" y="1062038"/>
            <a:ext cx="3424237"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6902" name="Picture 5" descr="fig9"/>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13375" y="3776663"/>
            <a:ext cx="2974975"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6903"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36904" name="Rectangle 2"/>
          <p:cNvSpPr txBox="1">
            <a:spLocks noChangeArrowheads="1"/>
          </p:cNvSpPr>
          <p:nvPr/>
        </p:nvSpPr>
        <p:spPr bwMode="auto">
          <a:xfrm>
            <a:off x="0" y="115888"/>
            <a:ext cx="91440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Primer projekcijske rekonstrukcije</a:t>
            </a:r>
            <a:endParaRPr lang="en-GB" altLang="en-US" sz="2000">
              <a:solidFill>
                <a:schemeClr val="tx2"/>
              </a:solidFill>
            </a:endParaRPr>
          </a:p>
        </p:txBody>
      </p:sp>
    </p:spTree>
  </p:cSld>
  <p:clrMapOvr>
    <a:masterClrMapping/>
  </p:clrMapOvr>
  <p:transition>
    <p:cove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3"/>
          <p:cNvSpPr>
            <a:spLocks noGrp="1" noChangeArrowheads="1"/>
          </p:cNvSpPr>
          <p:nvPr>
            <p:ph type="body" idx="1"/>
          </p:nvPr>
        </p:nvSpPr>
        <p:spPr>
          <a:xfrm>
            <a:off x="1019175" y="1052513"/>
            <a:ext cx="7391400" cy="4648200"/>
          </a:xfrm>
        </p:spPr>
        <p:txBody>
          <a:bodyPr/>
          <a:lstStyle/>
          <a:p>
            <a:pPr defTabSz="912813" eaLnBrk="1" hangingPunct="1">
              <a:buFontTx/>
              <a:buNone/>
            </a:pPr>
            <a:r>
              <a:rPr lang="sl-SI" altLang="en-US" sz="2000"/>
              <a:t>L</a:t>
            </a:r>
            <a:r>
              <a:rPr lang="en-US" altLang="en-US" sz="2000"/>
              <a:t>inear</a:t>
            </a:r>
            <a:r>
              <a:rPr lang="sl-SI" altLang="en-US" sz="2000"/>
              <a:t>ne projekcije </a:t>
            </a:r>
            <a:endParaRPr lang="en-US" altLang="en-US" sz="2000"/>
          </a:p>
          <a:p>
            <a:pPr defTabSz="912813" eaLnBrk="1" hangingPunct="1">
              <a:buFontTx/>
              <a:buNone/>
            </a:pPr>
            <a:r>
              <a:rPr lang="en-US" altLang="en-US" sz="2000"/>
              <a:t>   </a:t>
            </a:r>
            <a:r>
              <a:rPr lang="sl-SI" altLang="en-US" sz="2000">
                <a:solidFill>
                  <a:srgbClr val="0000FF"/>
                </a:solidFill>
              </a:rPr>
              <a:t>Afine transformacije</a:t>
            </a:r>
            <a:r>
              <a:rPr lang="en-US" altLang="en-US" sz="2000">
                <a:solidFill>
                  <a:srgbClr val="0000FF"/>
                </a:solidFill>
              </a:rPr>
              <a:t> </a:t>
            </a:r>
            <a:r>
              <a:rPr lang="sl-SI" altLang="en-US" sz="2000">
                <a:solidFill>
                  <a:srgbClr val="0000FF"/>
                </a:solidFill>
              </a:rPr>
              <a:t>– zadnja vrstica matrike </a:t>
            </a:r>
            <a:r>
              <a:rPr lang="en-US" altLang="en-US" sz="2000">
                <a:solidFill>
                  <a:srgbClr val="0000FF"/>
                </a:solidFill>
              </a:rPr>
              <a:t>(0,0,1)</a:t>
            </a:r>
          </a:p>
          <a:p>
            <a:pPr defTabSz="912813" eaLnBrk="1" hangingPunct="1">
              <a:buFontTx/>
              <a:buNone/>
            </a:pPr>
            <a:r>
              <a:rPr lang="en-US" altLang="en-US" sz="2000"/>
              <a:t>      </a:t>
            </a:r>
            <a:r>
              <a:rPr lang="sl-SI" altLang="en-US" sz="2000">
                <a:solidFill>
                  <a:srgbClr val="00B050"/>
                </a:solidFill>
              </a:rPr>
              <a:t>Evklidske transformacije – leva zgornja matrika</a:t>
            </a:r>
            <a:r>
              <a:rPr lang="en-US" altLang="en-US" sz="2000">
                <a:solidFill>
                  <a:srgbClr val="00B050"/>
                </a:solidFill>
              </a:rPr>
              <a:t> 2</a:t>
            </a:r>
            <a:r>
              <a:rPr lang="en-US" altLang="en-US" sz="2000">
                <a:solidFill>
                  <a:srgbClr val="00B050"/>
                </a:solidFill>
                <a:sym typeface="Symbol" panose="05050102010706020507" pitchFamily="18" charset="2"/>
              </a:rPr>
              <a:t></a:t>
            </a:r>
            <a:r>
              <a:rPr lang="en-US" altLang="en-US" sz="2000">
                <a:solidFill>
                  <a:srgbClr val="00B050"/>
                </a:solidFill>
              </a:rPr>
              <a:t>2</a:t>
            </a:r>
            <a:r>
              <a:rPr lang="sl-SI" altLang="en-US" sz="2000">
                <a:solidFill>
                  <a:srgbClr val="00B050"/>
                </a:solidFill>
              </a:rPr>
              <a:t> mora 	biti </a:t>
            </a:r>
            <a:r>
              <a:rPr lang="en-US" altLang="en-US" sz="2000">
                <a:solidFill>
                  <a:srgbClr val="00B050"/>
                </a:solidFill>
              </a:rPr>
              <a:t>ortogonal</a:t>
            </a:r>
            <a:r>
              <a:rPr lang="sl-SI" altLang="en-US" sz="2000">
                <a:solidFill>
                  <a:srgbClr val="00B050"/>
                </a:solidFill>
              </a:rPr>
              <a:t>na</a:t>
            </a:r>
            <a:r>
              <a:rPr lang="en-US" altLang="en-US" sz="2000">
                <a:solidFill>
                  <a:srgbClr val="00B050"/>
                </a:solidFill>
              </a:rPr>
              <a:t>)</a:t>
            </a:r>
          </a:p>
          <a:p>
            <a:pPr defTabSz="912813" eaLnBrk="1" hangingPunct="1">
              <a:buFontTx/>
              <a:buNone/>
            </a:pPr>
            <a:r>
              <a:rPr lang="en-US" altLang="en-US" sz="2000"/>
              <a:t>          </a:t>
            </a:r>
            <a:r>
              <a:rPr lang="sl-SI" altLang="en-US" sz="2000">
                <a:solidFill>
                  <a:srgbClr val="92D050"/>
                </a:solidFill>
              </a:rPr>
              <a:t>Usmerjene evklidske transformacije</a:t>
            </a:r>
            <a:r>
              <a:rPr lang="en-US" altLang="en-US" sz="2000">
                <a:solidFill>
                  <a:srgbClr val="92D050"/>
                </a:solidFill>
              </a:rPr>
              <a:t> (</a:t>
            </a:r>
            <a:r>
              <a:rPr lang="sl-SI" altLang="en-US" sz="2000">
                <a:solidFill>
                  <a:srgbClr val="92D050"/>
                </a:solidFill>
              </a:rPr>
              <a:t>zgornja leva matrika</a:t>
            </a:r>
            <a:r>
              <a:rPr lang="en-US" altLang="en-US" sz="2000">
                <a:solidFill>
                  <a:srgbClr val="92D050"/>
                </a:solidFill>
              </a:rPr>
              <a:t> </a:t>
            </a:r>
            <a:r>
              <a:rPr lang="sl-SI" altLang="en-US" sz="2000">
                <a:solidFill>
                  <a:srgbClr val="92D050"/>
                </a:solidFill>
              </a:rPr>
              <a:t>	</a:t>
            </a:r>
            <a:r>
              <a:rPr lang="en-US" altLang="en-US" sz="2000">
                <a:solidFill>
                  <a:srgbClr val="92D050"/>
                </a:solidFill>
              </a:rPr>
              <a:t>2</a:t>
            </a:r>
            <a:r>
              <a:rPr lang="en-US" altLang="en-US" sz="2000">
                <a:solidFill>
                  <a:srgbClr val="92D050"/>
                </a:solidFill>
                <a:sym typeface="Symbol" panose="05050102010706020507" pitchFamily="18" charset="2"/>
              </a:rPr>
              <a:t>  </a:t>
            </a:r>
            <a:r>
              <a:rPr lang="en-US" altLang="en-US" sz="2000">
                <a:solidFill>
                  <a:srgbClr val="92D050"/>
                </a:solidFill>
              </a:rPr>
              <a:t>2 </a:t>
            </a:r>
            <a:r>
              <a:rPr lang="sl-SI" altLang="en-US" sz="2000">
                <a:solidFill>
                  <a:srgbClr val="92D050"/>
                </a:solidFill>
              </a:rPr>
              <a:t>ima </a:t>
            </a:r>
            <a:r>
              <a:rPr lang="en-US" altLang="en-US" sz="2000">
                <a:solidFill>
                  <a:srgbClr val="92D050"/>
                </a:solidFill>
              </a:rPr>
              <a:t>det</a:t>
            </a:r>
            <a:r>
              <a:rPr lang="sl-SI" altLang="en-US" sz="2000">
                <a:solidFill>
                  <a:srgbClr val="92D050"/>
                </a:solidFill>
              </a:rPr>
              <a:t>erminanto</a:t>
            </a:r>
            <a:r>
              <a:rPr lang="en-US" altLang="en-US" sz="2000">
                <a:solidFill>
                  <a:srgbClr val="92D050"/>
                </a:solidFill>
              </a:rPr>
              <a:t> 1)</a:t>
            </a:r>
          </a:p>
          <a:p>
            <a:pPr defTabSz="912813" eaLnBrk="1" hangingPunct="1">
              <a:buFontTx/>
              <a:buNone/>
            </a:pPr>
            <a:endParaRPr lang="en-US" altLang="en-US" sz="2000">
              <a:solidFill>
                <a:srgbClr val="92D050"/>
              </a:solidFill>
            </a:endParaRPr>
          </a:p>
        </p:txBody>
      </p:sp>
      <p:sp>
        <p:nvSpPr>
          <p:cNvPr id="33894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38948"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F6325B6-27EE-4561-B2C4-C6F2F428421A}" type="slidenum">
              <a:rPr lang="en-GB" altLang="en-US" sz="1400" smtClean="0"/>
              <a:pPr>
                <a:spcBef>
                  <a:spcPct val="0"/>
                </a:spcBef>
                <a:buFontTx/>
                <a:buNone/>
              </a:pPr>
              <a:t>168</a:t>
            </a:fld>
            <a:endParaRPr lang="en-GB" altLang="en-US" sz="1400"/>
          </a:p>
        </p:txBody>
      </p:sp>
      <p:sp>
        <p:nvSpPr>
          <p:cNvPr id="338949" name="Rectangle 2"/>
          <p:cNvSpPr txBox="1">
            <a:spLocks noChangeArrowheads="1"/>
          </p:cNvSpPr>
          <p:nvPr/>
        </p:nvSpPr>
        <p:spPr bwMode="auto">
          <a:xfrm>
            <a:off x="0" y="333375"/>
            <a:ext cx="91440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HIERARHIJA TRANSFORMACIJ</a:t>
            </a:r>
            <a:endParaRPr lang="en-GB" altLang="en-US" sz="2000">
              <a:solidFill>
                <a:schemeClr val="tx2"/>
              </a:solidFill>
            </a:endParaRPr>
          </a:p>
        </p:txBody>
      </p:sp>
    </p:spTree>
  </p:cSld>
  <p:clrMapOvr>
    <a:masterClrMapping/>
  </p:clrMapOvr>
  <p:transition>
    <p:cove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0994" name="Object 1"/>
          <p:cNvGraphicFramePr>
            <a:graphicFrameLocks noChangeAspect="1"/>
          </p:cNvGraphicFramePr>
          <p:nvPr/>
        </p:nvGraphicFramePr>
        <p:xfrm>
          <a:off x="6516688" y="1700213"/>
          <a:ext cx="754062" cy="307975"/>
        </p:xfrm>
        <a:graphic>
          <a:graphicData uri="http://schemas.openxmlformats.org/presentationml/2006/ole">
            <mc:AlternateContent xmlns:mc="http://schemas.openxmlformats.org/markup-compatibility/2006">
              <mc:Choice xmlns:v="urn:schemas-microsoft-com:vml" Requires="v">
                <p:oleObj spid="_x0000_s341086" name="Equation" r:id="rId4" imgW="431425" imgH="177646" progId="Equation.3">
                  <p:embed/>
                </p:oleObj>
              </mc:Choice>
              <mc:Fallback>
                <p:oleObj name="Equation" r:id="rId4" imgW="431425" imgH="177646"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688" y="1700213"/>
                        <a:ext cx="754062"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40995" name="Group 19"/>
          <p:cNvGrpSpPr>
            <a:grpSpLocks/>
          </p:cNvGrpSpPr>
          <p:nvPr/>
        </p:nvGrpSpPr>
        <p:grpSpPr bwMode="auto">
          <a:xfrm>
            <a:off x="2555875" y="2708275"/>
            <a:ext cx="3257550" cy="674688"/>
            <a:chOff x="1570" y="2641"/>
            <a:chExt cx="2052" cy="425"/>
          </a:xfrm>
        </p:grpSpPr>
        <p:graphicFrame>
          <p:nvGraphicFramePr>
            <p:cNvPr id="341004" name="Object 4"/>
            <p:cNvGraphicFramePr>
              <a:graphicFrameLocks noChangeAspect="1"/>
            </p:cNvGraphicFramePr>
            <p:nvPr/>
          </p:nvGraphicFramePr>
          <p:xfrm>
            <a:off x="3147" y="2678"/>
            <a:ext cx="363" cy="194"/>
          </p:xfrm>
          <a:graphic>
            <a:graphicData uri="http://schemas.openxmlformats.org/presentationml/2006/ole">
              <mc:AlternateContent xmlns:mc="http://schemas.openxmlformats.org/markup-compatibility/2006">
                <mc:Choice xmlns:v="urn:schemas-microsoft-com:vml" Requires="v">
                  <p:oleObj spid="_x0000_s341087" name="Equation" r:id="rId6" imgW="329914" imgH="177646" progId="Equation.3">
                    <p:embed/>
                  </p:oleObj>
                </mc:Choice>
                <mc:Fallback>
                  <p:oleObj name="Equation" r:id="rId6" imgW="329914" imgH="177646"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7" y="2678"/>
                          <a:ext cx="36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1005" name="Object 5"/>
            <p:cNvGraphicFramePr>
              <a:graphicFrameLocks noChangeAspect="1"/>
            </p:cNvGraphicFramePr>
            <p:nvPr/>
          </p:nvGraphicFramePr>
          <p:xfrm>
            <a:off x="3147" y="2857"/>
            <a:ext cx="475" cy="194"/>
          </p:xfrm>
          <a:graphic>
            <a:graphicData uri="http://schemas.openxmlformats.org/presentationml/2006/ole">
              <mc:AlternateContent xmlns:mc="http://schemas.openxmlformats.org/markup-compatibility/2006">
                <mc:Choice xmlns:v="urn:schemas-microsoft-com:vml" Requires="v">
                  <p:oleObj spid="_x0000_s341088" name="Equation" r:id="rId8" imgW="431425" imgH="177646" progId="Equation.3">
                    <p:embed/>
                  </p:oleObj>
                </mc:Choice>
                <mc:Fallback>
                  <p:oleObj name="Equation" r:id="rId8" imgW="431425" imgH="177646"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47" y="2857"/>
                          <a:ext cx="47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1006" name="Rectangle 13"/>
            <p:cNvSpPr>
              <a:spLocks noChangeArrowheads="1"/>
            </p:cNvSpPr>
            <p:nvPr/>
          </p:nvSpPr>
          <p:spPr bwMode="auto">
            <a:xfrm>
              <a:off x="1570" y="2641"/>
              <a:ext cx="20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t>ohranja usmerjenost</a:t>
              </a:r>
              <a:r>
                <a:rPr lang="en-US" altLang="en-US" sz="1800"/>
                <a:t>:</a:t>
              </a:r>
            </a:p>
          </p:txBody>
        </p:sp>
        <p:sp>
          <p:nvSpPr>
            <p:cNvPr id="341007" name="Rectangle 14"/>
            <p:cNvSpPr>
              <a:spLocks noChangeArrowheads="1"/>
            </p:cNvSpPr>
            <p:nvPr/>
          </p:nvSpPr>
          <p:spPr bwMode="auto">
            <a:xfrm>
              <a:off x="1570" y="2835"/>
              <a:ext cx="20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t>obrača usmerjenost</a:t>
              </a:r>
              <a:r>
                <a:rPr lang="en-US" altLang="en-US" sz="1800"/>
                <a:t>:</a:t>
              </a:r>
            </a:p>
          </p:txBody>
        </p:sp>
      </p:grpSp>
      <p:sp>
        <p:nvSpPr>
          <p:cNvPr id="340996" name="Rectangle 18"/>
          <p:cNvSpPr>
            <a:spLocks noChangeArrowheads="1"/>
          </p:cNvSpPr>
          <p:nvPr/>
        </p:nvSpPr>
        <p:spPr bwMode="auto">
          <a:xfrm>
            <a:off x="1547813" y="4581525"/>
            <a:ext cx="58324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en-US" altLang="en-US" sz="1800"/>
              <a:t>3</a:t>
            </a:r>
            <a:r>
              <a:rPr lang="sl-SI" altLang="en-US" sz="1800"/>
              <a:t> prostostne stopnje:</a:t>
            </a:r>
            <a:r>
              <a:rPr lang="en-US" altLang="en-US" sz="1800"/>
              <a:t> 1</a:t>
            </a:r>
            <a:r>
              <a:rPr lang="sl-SI" altLang="en-US" sz="1800"/>
              <a:t> za zasuk</a:t>
            </a:r>
            <a:r>
              <a:rPr lang="en-US" altLang="en-US" sz="1800"/>
              <a:t> </a:t>
            </a:r>
            <a:r>
              <a:rPr lang="sl-SI" altLang="en-US" sz="1800"/>
              <a:t>(</a:t>
            </a:r>
            <a:r>
              <a:rPr lang="en-US" altLang="en-US" sz="1800"/>
              <a:t>rotation</a:t>
            </a:r>
            <a:r>
              <a:rPr lang="sl-SI" altLang="en-US" sz="1800"/>
              <a:t>)</a:t>
            </a:r>
            <a:r>
              <a:rPr lang="en-US" altLang="en-US" sz="1800"/>
              <a:t>, 2 </a:t>
            </a:r>
            <a:r>
              <a:rPr lang="sl-SI" altLang="en-US" sz="1800"/>
              <a:t>za premik (translation)</a:t>
            </a:r>
            <a:endParaRPr lang="en-US" altLang="en-US" sz="1800"/>
          </a:p>
        </p:txBody>
      </p:sp>
      <p:sp>
        <p:nvSpPr>
          <p:cNvPr id="340997" name="Rectangle 20"/>
          <p:cNvSpPr>
            <a:spLocks noChangeArrowheads="1"/>
          </p:cNvSpPr>
          <p:nvPr/>
        </p:nvSpPr>
        <p:spPr bwMode="auto">
          <a:xfrm>
            <a:off x="1547813" y="5291138"/>
            <a:ext cx="5616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solidFill>
                  <a:srgbClr val="0000FF"/>
                </a:solidFill>
              </a:rPr>
              <a:t>Se ne spreminja (invariantno)</a:t>
            </a:r>
            <a:r>
              <a:rPr lang="en-US" altLang="en-US" sz="1800">
                <a:solidFill>
                  <a:srgbClr val="0000FF"/>
                </a:solidFill>
              </a:rPr>
              <a:t>: </a:t>
            </a:r>
            <a:r>
              <a:rPr lang="sl-SI" altLang="en-US" sz="1800">
                <a:solidFill>
                  <a:srgbClr val="0000FF"/>
                </a:solidFill>
              </a:rPr>
              <a:t>dolžine</a:t>
            </a:r>
            <a:r>
              <a:rPr lang="en-US" altLang="en-US" sz="1800">
                <a:solidFill>
                  <a:srgbClr val="0000FF"/>
                </a:solidFill>
              </a:rPr>
              <a:t>, </a:t>
            </a:r>
            <a:r>
              <a:rPr lang="sl-SI" altLang="en-US" sz="1800">
                <a:solidFill>
                  <a:srgbClr val="0000FF"/>
                </a:solidFill>
              </a:rPr>
              <a:t>koti</a:t>
            </a:r>
            <a:r>
              <a:rPr lang="en-US" altLang="en-US" sz="1800">
                <a:solidFill>
                  <a:srgbClr val="0000FF"/>
                </a:solidFill>
              </a:rPr>
              <a:t>, </a:t>
            </a:r>
            <a:r>
              <a:rPr lang="sl-SI" altLang="en-US" sz="1800">
                <a:solidFill>
                  <a:srgbClr val="0000FF"/>
                </a:solidFill>
              </a:rPr>
              <a:t>ploščina</a:t>
            </a:r>
            <a:endParaRPr lang="en-US" altLang="en-US" sz="1800">
              <a:solidFill>
                <a:srgbClr val="0000FF"/>
              </a:solidFill>
            </a:endParaRPr>
          </a:p>
        </p:txBody>
      </p:sp>
      <p:sp>
        <p:nvSpPr>
          <p:cNvPr id="340998"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40999"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D50325F-FCA2-4AE7-9678-9E141F7F1EE1}" type="slidenum">
              <a:rPr lang="en-GB" altLang="en-US" sz="1400" smtClean="0"/>
              <a:pPr>
                <a:spcBef>
                  <a:spcPct val="0"/>
                </a:spcBef>
                <a:buFontTx/>
                <a:buNone/>
              </a:pPr>
              <a:t>169</a:t>
            </a:fld>
            <a:endParaRPr lang="en-GB" altLang="en-US" sz="1400"/>
          </a:p>
        </p:txBody>
      </p:sp>
      <p:sp>
        <p:nvSpPr>
          <p:cNvPr id="341000" name="Rectangle 2"/>
          <p:cNvSpPr txBox="1">
            <a:spLocks noChangeArrowheads="1"/>
          </p:cNvSpPr>
          <p:nvPr/>
        </p:nvSpPr>
        <p:spPr bwMode="auto">
          <a:xfrm>
            <a:off x="0" y="333375"/>
            <a:ext cx="91440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IZOMETRIJE – OHRANJANJE MER (2D)</a:t>
            </a:r>
            <a:endParaRPr lang="en-GB" altLang="en-US" sz="2000">
              <a:solidFill>
                <a:schemeClr val="tx2"/>
              </a:solidFill>
            </a:endParaRPr>
          </a:p>
        </p:txBody>
      </p:sp>
      <p:pic>
        <p:nvPicPr>
          <p:cNvPr id="341001" name="Slika 2"/>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2593975" y="1296988"/>
            <a:ext cx="352425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1002" name="Slika 3"/>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2222500" y="3573463"/>
            <a:ext cx="2189163"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1003" name="Slika 4"/>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5205413" y="3813175"/>
            <a:ext cx="95091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3"/>
          <p:cNvSpPr>
            <a:spLocks noChangeArrowheads="1"/>
          </p:cNvSpPr>
          <p:nvPr/>
        </p:nvSpPr>
        <p:spPr bwMode="auto">
          <a:xfrm>
            <a:off x="1403350" y="4691063"/>
            <a:ext cx="61039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t>Ohranja oblike: </a:t>
            </a:r>
            <a:r>
              <a:rPr lang="en-US" altLang="en-US" sz="1800" i="1"/>
              <a:t>metri</a:t>
            </a:r>
            <a:r>
              <a:rPr lang="sl-SI" altLang="en-US" sz="1800" i="1"/>
              <a:t>čna</a:t>
            </a:r>
            <a:r>
              <a:rPr lang="en-US" altLang="en-US" sz="1800" i="1"/>
              <a:t> stru</a:t>
            </a:r>
            <a:r>
              <a:rPr lang="sl-SI" altLang="en-US" sz="1800" i="1"/>
              <a:t>k</a:t>
            </a:r>
            <a:r>
              <a:rPr lang="en-US" altLang="en-US" sz="1800" i="1"/>
              <a:t>tur</a:t>
            </a:r>
            <a:r>
              <a:rPr lang="sl-SI" altLang="en-US" sz="1800" i="1"/>
              <a:t>a</a:t>
            </a:r>
            <a:r>
              <a:rPr lang="en-US" altLang="en-US" sz="1800"/>
              <a:t> = </a:t>
            </a:r>
            <a:r>
              <a:rPr lang="sl-SI" altLang="en-US" sz="1800"/>
              <a:t>podobna </a:t>
            </a:r>
            <a:r>
              <a:rPr lang="en-US" altLang="en-US" sz="1800"/>
              <a:t>stru</a:t>
            </a:r>
            <a:r>
              <a:rPr lang="sl-SI" altLang="en-US" sz="1800"/>
              <a:t>k</a:t>
            </a:r>
            <a:r>
              <a:rPr lang="en-US" altLang="en-US" sz="1800"/>
              <a:t>tur</a:t>
            </a:r>
            <a:r>
              <a:rPr lang="sl-SI" altLang="en-US" sz="1800"/>
              <a:t>a</a:t>
            </a:r>
            <a:r>
              <a:rPr lang="en-US" altLang="en-US" sz="1800"/>
              <a:t> </a:t>
            </a:r>
          </a:p>
        </p:txBody>
      </p:sp>
      <p:sp>
        <p:nvSpPr>
          <p:cNvPr id="343043" name="Rectangle 14"/>
          <p:cNvSpPr>
            <a:spLocks noChangeArrowheads="1"/>
          </p:cNvSpPr>
          <p:nvPr/>
        </p:nvSpPr>
        <p:spPr bwMode="auto">
          <a:xfrm>
            <a:off x="1258888" y="4076700"/>
            <a:ext cx="6546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en-US" altLang="en-US" sz="1800"/>
              <a:t>4</a:t>
            </a:r>
            <a:r>
              <a:rPr lang="sl-SI" altLang="en-US" sz="1800"/>
              <a:t> prostostne stopnje: </a:t>
            </a:r>
            <a:r>
              <a:rPr lang="en-US" altLang="en-US" sz="1800"/>
              <a:t>1 </a:t>
            </a:r>
            <a:r>
              <a:rPr lang="sl-SI" altLang="en-US" sz="1800"/>
              <a:t>za povečavo</a:t>
            </a:r>
            <a:r>
              <a:rPr lang="en-US" altLang="en-US" sz="1800"/>
              <a:t>, 1 </a:t>
            </a:r>
            <a:r>
              <a:rPr lang="sl-SI" altLang="en-US" sz="1800"/>
              <a:t>za zasuk</a:t>
            </a:r>
            <a:r>
              <a:rPr lang="en-US" altLang="en-US" sz="1800"/>
              <a:t>, 2 </a:t>
            </a:r>
            <a:r>
              <a:rPr lang="sl-SI" altLang="en-US" sz="1800"/>
              <a:t>za premik</a:t>
            </a:r>
            <a:r>
              <a:rPr lang="en-US" altLang="en-US" sz="1800"/>
              <a:t> </a:t>
            </a:r>
          </a:p>
        </p:txBody>
      </p:sp>
      <p:sp>
        <p:nvSpPr>
          <p:cNvPr id="343044" name="Rectangle 15"/>
          <p:cNvSpPr>
            <a:spLocks noChangeArrowheads="1"/>
          </p:cNvSpPr>
          <p:nvPr/>
        </p:nvSpPr>
        <p:spPr bwMode="auto">
          <a:xfrm>
            <a:off x="1258888" y="5248275"/>
            <a:ext cx="63373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solidFill>
                  <a:srgbClr val="0000FF"/>
                </a:solidFill>
              </a:rPr>
              <a:t>Se ne spreminja (invariantno):</a:t>
            </a:r>
            <a:r>
              <a:rPr lang="en-US" altLang="en-US" sz="1800">
                <a:solidFill>
                  <a:srgbClr val="0000FF"/>
                </a:solidFill>
              </a:rPr>
              <a:t> </a:t>
            </a:r>
            <a:endParaRPr lang="sl-SI" altLang="en-US" sz="1800">
              <a:solidFill>
                <a:srgbClr val="0000FF"/>
              </a:solidFill>
            </a:endParaRPr>
          </a:p>
          <a:p>
            <a:pPr eaLnBrk="1" hangingPunct="1">
              <a:buClr>
                <a:srgbClr val="FF6600"/>
              </a:buClr>
              <a:buFontTx/>
              <a:buNone/>
            </a:pPr>
            <a:r>
              <a:rPr lang="sl-SI" altLang="en-US" sz="1800">
                <a:solidFill>
                  <a:srgbClr val="0000FF"/>
                </a:solidFill>
              </a:rPr>
              <a:t>razmerja dolžin, koti, razmerja ploščin, vzporednice</a:t>
            </a:r>
            <a:endParaRPr lang="en-US" altLang="en-US" sz="1800">
              <a:solidFill>
                <a:srgbClr val="0000FF"/>
              </a:solidFill>
            </a:endParaRPr>
          </a:p>
        </p:txBody>
      </p:sp>
      <p:sp>
        <p:nvSpPr>
          <p:cNvPr id="343045"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43046"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ACE224F-B8F8-4681-B37A-F2AC2C048CEF}" type="slidenum">
              <a:rPr lang="en-GB" altLang="en-US" sz="1400" smtClean="0"/>
              <a:pPr>
                <a:spcBef>
                  <a:spcPct val="0"/>
                </a:spcBef>
                <a:buFontTx/>
                <a:buNone/>
              </a:pPr>
              <a:t>170</a:t>
            </a:fld>
            <a:endParaRPr lang="en-GB" altLang="en-US" sz="1400"/>
          </a:p>
        </p:txBody>
      </p:sp>
      <p:sp>
        <p:nvSpPr>
          <p:cNvPr id="343047" name="Rectangle 2"/>
          <p:cNvSpPr txBox="1">
            <a:spLocks noChangeArrowheads="1"/>
          </p:cNvSpPr>
          <p:nvPr/>
        </p:nvSpPr>
        <p:spPr bwMode="auto">
          <a:xfrm>
            <a:off x="0" y="476250"/>
            <a:ext cx="91440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PODOBNOSTI (2D)</a:t>
            </a:r>
            <a:endParaRPr lang="en-GB" altLang="en-US" sz="2000">
              <a:solidFill>
                <a:schemeClr val="tx2"/>
              </a:solidFill>
            </a:endParaRPr>
          </a:p>
        </p:txBody>
      </p:sp>
      <p:pic>
        <p:nvPicPr>
          <p:cNvPr id="343048" name="Slika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341438"/>
            <a:ext cx="365760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3049" name="Slika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954338"/>
            <a:ext cx="2170112"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3050" name="Slika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24475" y="3203575"/>
            <a:ext cx="97631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p:cNvSpPr>
            <a:spLocks noChangeArrowheads="1"/>
          </p:cNvSpPr>
          <p:nvPr/>
        </p:nvSpPr>
        <p:spPr bwMode="auto">
          <a:xfrm>
            <a:off x="1331913" y="5138738"/>
            <a:ext cx="7183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solidFill>
                  <a:srgbClr val="FF9933"/>
                </a:solidFill>
              </a:rPr>
              <a:t>Povečava ni enaka v vse smeri (ni izotropna)!</a:t>
            </a:r>
            <a:endParaRPr lang="en-US" altLang="en-US" sz="1800">
              <a:solidFill>
                <a:srgbClr val="FF9933"/>
              </a:solidFill>
            </a:endParaRPr>
          </a:p>
        </p:txBody>
      </p:sp>
      <p:sp>
        <p:nvSpPr>
          <p:cNvPr id="345091" name="Rectangle 8"/>
          <p:cNvSpPr>
            <a:spLocks noChangeArrowheads="1"/>
          </p:cNvSpPr>
          <p:nvPr/>
        </p:nvSpPr>
        <p:spPr bwMode="auto">
          <a:xfrm>
            <a:off x="1258888" y="4738688"/>
            <a:ext cx="6546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en-US" altLang="en-US" sz="1800"/>
              <a:t>6</a:t>
            </a:r>
            <a:r>
              <a:rPr lang="sl-SI" altLang="en-US" sz="1800"/>
              <a:t> prostostnih stopenj:</a:t>
            </a:r>
            <a:r>
              <a:rPr lang="en-US" altLang="en-US" sz="1800"/>
              <a:t> 2 </a:t>
            </a:r>
            <a:r>
              <a:rPr lang="sl-SI" altLang="en-US" sz="1800"/>
              <a:t>za povečavo</a:t>
            </a:r>
            <a:r>
              <a:rPr lang="en-US" altLang="en-US" sz="1800"/>
              <a:t>, 2 </a:t>
            </a:r>
            <a:r>
              <a:rPr lang="sl-SI" altLang="en-US" sz="1800"/>
              <a:t>za zasuk</a:t>
            </a:r>
            <a:r>
              <a:rPr lang="en-US" altLang="en-US" sz="1800"/>
              <a:t>, 2 </a:t>
            </a:r>
            <a:r>
              <a:rPr lang="sl-SI" altLang="en-US" sz="1800"/>
              <a:t>za premik</a:t>
            </a:r>
            <a:r>
              <a:rPr lang="en-US" altLang="en-US" sz="1800"/>
              <a:t> </a:t>
            </a:r>
          </a:p>
        </p:txBody>
      </p:sp>
      <p:sp>
        <p:nvSpPr>
          <p:cNvPr id="345092" name="Rectangle 9"/>
          <p:cNvSpPr>
            <a:spLocks noChangeArrowheads="1"/>
          </p:cNvSpPr>
          <p:nvPr/>
        </p:nvSpPr>
        <p:spPr bwMode="auto">
          <a:xfrm>
            <a:off x="1258888" y="5538788"/>
            <a:ext cx="65468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solidFill>
                  <a:srgbClr val="0000FF"/>
                </a:solidFill>
              </a:rPr>
              <a:t>Se ne spreminja (invariantno):</a:t>
            </a:r>
            <a:r>
              <a:rPr lang="en-US" altLang="en-US" sz="1800">
                <a:solidFill>
                  <a:srgbClr val="0000FF"/>
                </a:solidFill>
              </a:rPr>
              <a:t> </a:t>
            </a:r>
            <a:endParaRPr lang="sl-SI" altLang="en-US" sz="1800">
              <a:solidFill>
                <a:srgbClr val="0000FF"/>
              </a:solidFill>
            </a:endParaRPr>
          </a:p>
          <a:p>
            <a:pPr eaLnBrk="1" hangingPunct="1">
              <a:spcBef>
                <a:spcPct val="0"/>
              </a:spcBef>
              <a:buClr>
                <a:srgbClr val="FF6600"/>
              </a:buClr>
              <a:buFontTx/>
              <a:buNone/>
            </a:pPr>
            <a:r>
              <a:rPr lang="sl-SI" altLang="en-US" sz="1800">
                <a:solidFill>
                  <a:srgbClr val="0000FF"/>
                </a:solidFill>
              </a:rPr>
              <a:t>vzporednice, razmerja vzporednih dolžin</a:t>
            </a:r>
            <a:r>
              <a:rPr lang="en-US" altLang="en-US" sz="1800">
                <a:solidFill>
                  <a:srgbClr val="0000FF"/>
                </a:solidFill>
              </a:rPr>
              <a:t>, </a:t>
            </a:r>
            <a:r>
              <a:rPr lang="sl-SI" altLang="en-US" sz="1800">
                <a:solidFill>
                  <a:srgbClr val="0000FF"/>
                </a:solidFill>
              </a:rPr>
              <a:t>razmerja ploščin</a:t>
            </a:r>
            <a:endParaRPr lang="en-US" altLang="en-US" sz="1800">
              <a:solidFill>
                <a:srgbClr val="0000FF"/>
              </a:solidFill>
            </a:endParaRPr>
          </a:p>
        </p:txBody>
      </p:sp>
      <p:sp>
        <p:nvSpPr>
          <p:cNvPr id="345093"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45094"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4097516-ABF1-417E-9200-F4D4DB287173}" type="slidenum">
              <a:rPr lang="en-GB" altLang="en-US" sz="1400" smtClean="0"/>
              <a:pPr>
                <a:spcBef>
                  <a:spcPct val="0"/>
                </a:spcBef>
                <a:buFontTx/>
                <a:buNone/>
              </a:pPr>
              <a:t>171</a:t>
            </a:fld>
            <a:endParaRPr lang="en-GB" altLang="en-US" sz="1400"/>
          </a:p>
        </p:txBody>
      </p:sp>
      <p:sp>
        <p:nvSpPr>
          <p:cNvPr id="345095" name="Rectangle 2"/>
          <p:cNvSpPr txBox="1">
            <a:spLocks noChangeArrowheads="1"/>
          </p:cNvSpPr>
          <p:nvPr/>
        </p:nvSpPr>
        <p:spPr bwMode="auto">
          <a:xfrm>
            <a:off x="0" y="260350"/>
            <a:ext cx="91440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AFINA TRANSFORMACIJA (2D)</a:t>
            </a:r>
            <a:endParaRPr lang="en-GB" altLang="en-US" sz="2000">
              <a:solidFill>
                <a:schemeClr val="tx2"/>
              </a:solidFill>
            </a:endParaRPr>
          </a:p>
        </p:txBody>
      </p:sp>
      <p:grpSp>
        <p:nvGrpSpPr>
          <p:cNvPr id="345096" name="Skupina 5"/>
          <p:cNvGrpSpPr>
            <a:grpSpLocks/>
          </p:cNvGrpSpPr>
          <p:nvPr/>
        </p:nvGrpSpPr>
        <p:grpSpPr bwMode="auto">
          <a:xfrm>
            <a:off x="4572000" y="2349500"/>
            <a:ext cx="3044825" cy="1360488"/>
            <a:chOff x="4572000" y="2551113"/>
            <a:chExt cx="3044825" cy="1360487"/>
          </a:xfrm>
        </p:grpSpPr>
        <p:pic>
          <p:nvPicPr>
            <p:cNvPr id="345101" name="Picture 12" descr="fig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551113"/>
              <a:ext cx="3044825" cy="136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5102" name="PoljeZBesedilom 4"/>
            <p:cNvSpPr txBox="1">
              <a:spLocks noChangeArrowheads="1"/>
            </p:cNvSpPr>
            <p:nvPr/>
          </p:nvSpPr>
          <p:spPr bwMode="auto">
            <a:xfrm>
              <a:off x="5004453" y="3645024"/>
              <a:ext cx="553357"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a:t>zasuk</a:t>
              </a:r>
            </a:p>
          </p:txBody>
        </p:sp>
        <p:sp>
          <p:nvSpPr>
            <p:cNvPr id="345103" name="PoljeZBesedilom 15"/>
            <p:cNvSpPr txBox="1">
              <a:spLocks noChangeArrowheads="1"/>
            </p:cNvSpPr>
            <p:nvPr/>
          </p:nvSpPr>
          <p:spPr bwMode="auto">
            <a:xfrm>
              <a:off x="6466279" y="3645024"/>
              <a:ext cx="914033"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100"/>
                <a:t>deformacija</a:t>
              </a:r>
            </a:p>
          </p:txBody>
        </p:sp>
      </p:grpSp>
      <p:pic>
        <p:nvPicPr>
          <p:cNvPr id="345097" name="Slika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97225" y="908050"/>
            <a:ext cx="274955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5098" name="Slika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35150" y="2565400"/>
            <a:ext cx="2170113"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5099" name="Slika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4029075"/>
            <a:ext cx="24812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5100" name="Slika 5"/>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219700" y="3860800"/>
            <a:ext cx="1354138"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6"/>
          <p:cNvSpPr>
            <a:spLocks noChangeArrowheads="1"/>
          </p:cNvSpPr>
          <p:nvPr/>
        </p:nvSpPr>
        <p:spPr bwMode="auto">
          <a:xfrm>
            <a:off x="971550" y="2701925"/>
            <a:ext cx="72009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t>8 prostostnih stopenj:</a:t>
            </a:r>
            <a:r>
              <a:rPr lang="en-US" altLang="en-US" sz="1800"/>
              <a:t> 2 </a:t>
            </a:r>
            <a:r>
              <a:rPr lang="sl-SI" altLang="en-US" sz="1800"/>
              <a:t>za povečavo</a:t>
            </a:r>
            <a:r>
              <a:rPr lang="en-US" altLang="en-US" sz="1800"/>
              <a:t>, 2 </a:t>
            </a:r>
            <a:r>
              <a:rPr lang="sl-SI" altLang="en-US" sz="1800"/>
              <a:t>za zasuk</a:t>
            </a:r>
            <a:r>
              <a:rPr lang="en-US" altLang="en-US" sz="1800"/>
              <a:t>, 2</a:t>
            </a:r>
            <a:r>
              <a:rPr lang="sl-SI" altLang="en-US" sz="1800"/>
              <a:t> za premik</a:t>
            </a:r>
            <a:r>
              <a:rPr lang="en-US" altLang="en-US" sz="1800"/>
              <a:t>, 2 </a:t>
            </a:r>
            <a:r>
              <a:rPr lang="sl-SI" altLang="en-US" sz="1800"/>
              <a:t>za premico v neskončnosti</a:t>
            </a:r>
            <a:r>
              <a:rPr lang="en-US" altLang="en-US" sz="1800"/>
              <a:t>) </a:t>
            </a:r>
          </a:p>
        </p:txBody>
      </p:sp>
      <p:sp>
        <p:nvSpPr>
          <p:cNvPr id="347139" name="Rectangle 7"/>
          <p:cNvSpPr>
            <a:spLocks noChangeArrowheads="1"/>
          </p:cNvSpPr>
          <p:nvPr/>
        </p:nvSpPr>
        <p:spPr bwMode="auto">
          <a:xfrm>
            <a:off x="993775" y="3644900"/>
            <a:ext cx="71786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solidFill>
                  <a:srgbClr val="0000FF"/>
                </a:solidFill>
              </a:rPr>
              <a:t>Se ne spreminja (i</a:t>
            </a:r>
            <a:r>
              <a:rPr lang="en-US" altLang="en-US" sz="1800">
                <a:solidFill>
                  <a:srgbClr val="0000FF"/>
                </a:solidFill>
              </a:rPr>
              <a:t>nvariant</a:t>
            </a:r>
            <a:r>
              <a:rPr lang="sl-SI" altLang="en-US" sz="1800">
                <a:solidFill>
                  <a:srgbClr val="0000FF"/>
                </a:solidFill>
              </a:rPr>
              <a:t>no)</a:t>
            </a:r>
            <a:r>
              <a:rPr lang="en-US" altLang="en-US" sz="1800">
                <a:solidFill>
                  <a:srgbClr val="0000FF"/>
                </a:solidFill>
              </a:rPr>
              <a:t>: </a:t>
            </a:r>
            <a:endParaRPr lang="sl-SI" altLang="en-US" sz="1800">
              <a:solidFill>
                <a:srgbClr val="0000FF"/>
              </a:solidFill>
            </a:endParaRPr>
          </a:p>
          <a:p>
            <a:pPr eaLnBrk="1" hangingPunct="1">
              <a:spcBef>
                <a:spcPct val="0"/>
              </a:spcBef>
              <a:buClr>
                <a:srgbClr val="FF6600"/>
              </a:buClr>
              <a:buFontTx/>
              <a:buNone/>
            </a:pPr>
            <a:r>
              <a:rPr lang="sl-SI" altLang="en-US" sz="1800">
                <a:solidFill>
                  <a:srgbClr val="0000FF"/>
                </a:solidFill>
              </a:rPr>
              <a:t>medsebojno razmerje štirih točk na premici (razmerje razmerja)</a:t>
            </a:r>
            <a:endParaRPr lang="en-US" altLang="en-US" sz="1800">
              <a:solidFill>
                <a:srgbClr val="0000FF"/>
              </a:solidFill>
            </a:endParaRPr>
          </a:p>
        </p:txBody>
      </p:sp>
      <p:sp>
        <p:nvSpPr>
          <p:cNvPr id="347140"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47141"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8D35FAA-0B27-4DC5-8109-ECCB9294D51A}" type="slidenum">
              <a:rPr lang="en-GB" altLang="en-US" sz="1400" smtClean="0"/>
              <a:pPr>
                <a:spcBef>
                  <a:spcPct val="0"/>
                </a:spcBef>
                <a:buFontTx/>
                <a:buNone/>
              </a:pPr>
              <a:t>172</a:t>
            </a:fld>
            <a:endParaRPr lang="en-GB" altLang="en-US" sz="1400"/>
          </a:p>
        </p:txBody>
      </p:sp>
      <p:sp>
        <p:nvSpPr>
          <p:cNvPr id="347142" name="Rectangle 2"/>
          <p:cNvSpPr txBox="1">
            <a:spLocks noChangeArrowheads="1"/>
          </p:cNvSpPr>
          <p:nvPr/>
        </p:nvSpPr>
        <p:spPr bwMode="auto">
          <a:xfrm>
            <a:off x="0" y="476250"/>
            <a:ext cx="91440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PROJEKCIJSKA TRANSFORMACIJA (2D)</a:t>
            </a:r>
            <a:endParaRPr lang="en-GB" altLang="en-US" sz="2000">
              <a:solidFill>
                <a:schemeClr val="tx2"/>
              </a:solidFill>
            </a:endParaRPr>
          </a:p>
        </p:txBody>
      </p:sp>
      <p:pic>
        <p:nvPicPr>
          <p:cNvPr id="347143" name="Slika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1530350"/>
            <a:ext cx="1285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7144" name="Skupina 2"/>
          <p:cNvGrpSpPr>
            <a:grpSpLocks/>
          </p:cNvGrpSpPr>
          <p:nvPr/>
        </p:nvGrpSpPr>
        <p:grpSpPr bwMode="auto">
          <a:xfrm>
            <a:off x="2373313" y="1341438"/>
            <a:ext cx="2212975" cy="839787"/>
            <a:chOff x="2373313" y="1341438"/>
            <a:chExt cx="2212975" cy="839787"/>
          </a:xfrm>
        </p:grpSpPr>
        <p:pic>
          <p:nvPicPr>
            <p:cNvPr id="347145" name="Slika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73313" y="1341438"/>
              <a:ext cx="2212975"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146" name="PoljeZBesedilom 1"/>
            <p:cNvSpPr txBox="1">
              <a:spLocks noChangeArrowheads="1"/>
            </p:cNvSpPr>
            <p:nvPr/>
          </p:nvSpPr>
          <p:spPr bwMode="auto">
            <a:xfrm>
              <a:off x="3151090" y="1556792"/>
              <a:ext cx="2022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p</a:t>
              </a:r>
              <a:endParaRPr lang="en-US" altLang="en-US" sz="1800" b="1"/>
            </a:p>
          </p:txBody>
        </p:sp>
      </p:grpSp>
    </p:spTree>
  </p:cSld>
  <p:clrMapOvr>
    <a:masterClrMapping/>
  </p:clrMapOvr>
  <p:transition>
    <p:cove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ChangeArrowheads="1"/>
          </p:cNvSpPr>
          <p:nvPr/>
        </p:nvSpPr>
        <p:spPr bwMode="auto">
          <a:xfrm>
            <a:off x="539750" y="2998788"/>
            <a:ext cx="8064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solidFill>
                  <a:srgbClr val="FF9933"/>
                </a:solidFill>
              </a:rPr>
              <a:t>Linija v neskončnosti ostane v neskončnosti, točke na njej pa se premaknejo.</a:t>
            </a:r>
            <a:endParaRPr lang="en-US" altLang="en-US" sz="1800">
              <a:solidFill>
                <a:srgbClr val="FF9933"/>
              </a:solidFill>
            </a:endParaRPr>
          </a:p>
        </p:txBody>
      </p:sp>
      <p:sp>
        <p:nvSpPr>
          <p:cNvPr id="34918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49188"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69D706B-677F-4FBA-921F-EDC009E38F91}" type="slidenum">
              <a:rPr lang="en-GB" altLang="en-US" sz="1400" smtClean="0"/>
              <a:pPr>
                <a:spcBef>
                  <a:spcPct val="0"/>
                </a:spcBef>
                <a:buFontTx/>
                <a:buNone/>
              </a:pPr>
              <a:t>173</a:t>
            </a:fld>
            <a:endParaRPr lang="en-GB" altLang="en-US" sz="1400"/>
          </a:p>
        </p:txBody>
      </p:sp>
      <p:sp>
        <p:nvSpPr>
          <p:cNvPr id="349189" name="Rectangle 2"/>
          <p:cNvSpPr txBox="1">
            <a:spLocks noChangeArrowheads="1"/>
          </p:cNvSpPr>
          <p:nvPr/>
        </p:nvSpPr>
        <p:spPr bwMode="auto">
          <a:xfrm>
            <a:off x="0" y="331788"/>
            <a:ext cx="91440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Primer vpliva afine in projekcijske transformacije (2D)</a:t>
            </a:r>
            <a:endParaRPr lang="en-GB" altLang="en-US" sz="2000">
              <a:solidFill>
                <a:schemeClr val="tx2"/>
              </a:solidFill>
            </a:endParaRPr>
          </a:p>
        </p:txBody>
      </p:sp>
      <p:sp>
        <p:nvSpPr>
          <p:cNvPr id="349190" name="Rectangle 7"/>
          <p:cNvSpPr>
            <a:spLocks noChangeArrowheads="1"/>
          </p:cNvSpPr>
          <p:nvPr/>
        </p:nvSpPr>
        <p:spPr bwMode="auto">
          <a:xfrm>
            <a:off x="539750" y="5087938"/>
            <a:ext cx="80645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800">
                <a:solidFill>
                  <a:srgbClr val="FF9933"/>
                </a:solidFill>
              </a:rPr>
              <a:t>Linija iz neskončnosti postane končna in omogoča, da določimo ponorne točke in horizont.</a:t>
            </a:r>
            <a:endParaRPr lang="en-US" altLang="en-US" sz="1800">
              <a:solidFill>
                <a:srgbClr val="FF9933"/>
              </a:solidFill>
            </a:endParaRPr>
          </a:p>
        </p:txBody>
      </p:sp>
      <p:sp>
        <p:nvSpPr>
          <p:cNvPr id="349191" name="PoljeZBesedilom 4"/>
          <p:cNvSpPr txBox="1">
            <a:spLocks noChangeArrowheads="1"/>
          </p:cNvSpPr>
          <p:nvPr/>
        </p:nvSpPr>
        <p:spPr bwMode="auto">
          <a:xfrm>
            <a:off x="3644900" y="1519238"/>
            <a:ext cx="769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2000">
                <a:solidFill>
                  <a:srgbClr val="0000FF"/>
                </a:solidFill>
              </a:rPr>
              <a:t>Afina</a:t>
            </a:r>
          </a:p>
        </p:txBody>
      </p:sp>
      <p:sp>
        <p:nvSpPr>
          <p:cNvPr id="349192" name="PoljeZBesedilom 12"/>
          <p:cNvSpPr txBox="1">
            <a:spLocks noChangeArrowheads="1"/>
          </p:cNvSpPr>
          <p:nvPr/>
        </p:nvSpPr>
        <p:spPr bwMode="auto">
          <a:xfrm>
            <a:off x="3276600" y="3608388"/>
            <a:ext cx="1554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2000">
                <a:solidFill>
                  <a:srgbClr val="0000FF"/>
                </a:solidFill>
              </a:rPr>
              <a:t>Projekcijska</a:t>
            </a:r>
          </a:p>
        </p:txBody>
      </p:sp>
      <p:pic>
        <p:nvPicPr>
          <p:cNvPr id="349193" name="Slika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1900238"/>
            <a:ext cx="2189163"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9194" name="Slika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95588" y="4005263"/>
            <a:ext cx="2571750"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8"/>
          <p:cNvSpPr>
            <a:spLocks noChangeArrowheads="1"/>
          </p:cNvSpPr>
          <p:nvPr/>
        </p:nvSpPr>
        <p:spPr bwMode="auto">
          <a:xfrm>
            <a:off x="1547813" y="2874963"/>
            <a:ext cx="6569075"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600" b="1"/>
              <a:t>K</a:t>
            </a:r>
            <a:r>
              <a:rPr lang="sl-SI" altLang="en-US" sz="1600"/>
              <a:t> je zgornje trikotna</a:t>
            </a:r>
            <a:r>
              <a:rPr lang="en-US" altLang="en-US" sz="1600"/>
              <a:t>,</a:t>
            </a:r>
            <a:r>
              <a:rPr lang="sl-SI" altLang="en-US" sz="1600"/>
              <a:t> det(K) = 1</a:t>
            </a:r>
          </a:p>
          <a:p>
            <a:pPr eaLnBrk="1" hangingPunct="1">
              <a:buClr>
                <a:srgbClr val="FF6600"/>
              </a:buClr>
              <a:buFontTx/>
              <a:buNone/>
            </a:pPr>
            <a:r>
              <a:rPr lang="sl-SI" altLang="en-US" sz="1600" b="1"/>
              <a:t>H</a:t>
            </a:r>
            <a:r>
              <a:rPr lang="sl-SI" altLang="en-US" sz="1600" baseline="30000"/>
              <a:t>~</a:t>
            </a:r>
            <a:r>
              <a:rPr lang="sl-SI" altLang="en-US" sz="1600"/>
              <a:t> pomeni, da matrika prispeva k </a:t>
            </a:r>
            <a:r>
              <a:rPr lang="sl-SI" altLang="en-US" sz="1600" b="1"/>
              <a:t>H</a:t>
            </a:r>
            <a:endParaRPr lang="en-US" altLang="en-US" sz="1600" b="1"/>
          </a:p>
        </p:txBody>
      </p:sp>
      <p:sp>
        <p:nvSpPr>
          <p:cNvPr id="351235" name="Rectangle 9"/>
          <p:cNvSpPr>
            <a:spLocks noChangeArrowheads="1"/>
          </p:cNvSpPr>
          <p:nvPr/>
        </p:nvSpPr>
        <p:spPr bwMode="auto">
          <a:xfrm>
            <a:off x="1547813" y="2565400"/>
            <a:ext cx="44354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600"/>
              <a:t>Dekompozicija je enoumna, če izberemo</a:t>
            </a:r>
            <a:r>
              <a:rPr lang="en-US" altLang="en-US" sz="1600"/>
              <a:t> s&gt;0</a:t>
            </a:r>
          </a:p>
        </p:txBody>
      </p:sp>
      <p:sp>
        <p:nvSpPr>
          <p:cNvPr id="351236" name="Rectangle 12"/>
          <p:cNvSpPr>
            <a:spLocks noChangeArrowheads="1"/>
          </p:cNvSpPr>
          <p:nvPr/>
        </p:nvSpPr>
        <p:spPr bwMode="auto">
          <a:xfrm>
            <a:off x="1547813" y="3500438"/>
            <a:ext cx="3638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FF6600"/>
              </a:buClr>
              <a:buFontTx/>
              <a:buNone/>
            </a:pPr>
            <a:r>
              <a:rPr lang="sl-SI" altLang="en-US" sz="1600">
                <a:solidFill>
                  <a:srgbClr val="FF9933"/>
                </a:solidFill>
              </a:rPr>
              <a:t>Primer</a:t>
            </a:r>
            <a:r>
              <a:rPr lang="en-US" altLang="en-US" sz="1600"/>
              <a:t>:</a:t>
            </a:r>
          </a:p>
        </p:txBody>
      </p:sp>
      <p:sp>
        <p:nvSpPr>
          <p:cNvPr id="35123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51238" name="Ograda številke diapozitiva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FC3093A-4274-4D5A-ABCD-F9E8252FE9E7}" type="slidenum">
              <a:rPr lang="en-GB" altLang="en-US" sz="1400" smtClean="0"/>
              <a:pPr>
                <a:spcBef>
                  <a:spcPct val="0"/>
                </a:spcBef>
                <a:buFontTx/>
                <a:buNone/>
              </a:pPr>
              <a:t>174</a:t>
            </a:fld>
            <a:endParaRPr lang="en-GB" altLang="en-US" sz="1400"/>
          </a:p>
        </p:txBody>
      </p:sp>
      <p:sp>
        <p:nvSpPr>
          <p:cNvPr id="351239" name="Rectangle 2"/>
          <p:cNvSpPr txBox="1">
            <a:spLocks noChangeArrowheads="1"/>
          </p:cNvSpPr>
          <p:nvPr/>
        </p:nvSpPr>
        <p:spPr bwMode="auto">
          <a:xfrm>
            <a:off x="0" y="404813"/>
            <a:ext cx="9144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DEKOMPOZICIJA PROJEKCIJSKE TRANSFORMACIJE (2D)</a:t>
            </a:r>
            <a:endParaRPr lang="en-GB" altLang="en-US" sz="2000">
              <a:solidFill>
                <a:schemeClr val="tx2"/>
              </a:solidFill>
            </a:endParaRPr>
          </a:p>
        </p:txBody>
      </p:sp>
      <p:pic>
        <p:nvPicPr>
          <p:cNvPr id="351240" name="Slika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8338" y="1484313"/>
            <a:ext cx="5199062"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1241" name="Slika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00788" y="1651000"/>
            <a:ext cx="16383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1242" name="Slika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471738" y="3863975"/>
            <a:ext cx="2157412"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1243" name="Slika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62213" y="4899025"/>
            <a:ext cx="448627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464174E-6BE2-466F-9C3F-612767ED8434}" type="slidenum">
              <a:rPr lang="en-US" altLang="en-US" sz="1400" smtClean="0"/>
              <a:pPr>
                <a:spcBef>
                  <a:spcPct val="0"/>
                </a:spcBef>
                <a:buFontTx/>
                <a:buNone/>
              </a:pPr>
              <a:t>175</a:t>
            </a:fld>
            <a:endParaRPr lang="en-US" altLang="en-US" sz="1400"/>
          </a:p>
        </p:txBody>
      </p:sp>
      <p:sp>
        <p:nvSpPr>
          <p:cNvPr id="353283" name="Text Box 3"/>
          <p:cNvSpPr txBox="1">
            <a:spLocks noChangeArrowheads="1"/>
          </p:cNvSpPr>
          <p:nvPr/>
        </p:nvSpPr>
        <p:spPr bwMode="auto">
          <a:xfrm>
            <a:off x="755650" y="1268413"/>
            <a:ext cx="7704138"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AutoNum type="arabicPeriod"/>
            </a:pPr>
            <a:r>
              <a:rPr lang="sl-SI" altLang="en-US" sz="1800">
                <a:solidFill>
                  <a:schemeClr val="tx2"/>
                </a:solidFill>
              </a:rPr>
              <a:t>Kadar rekonstruiramo 3D sceno in položaj kamere iz dveh nekalibriranih slik, dobimo lahko </a:t>
            </a:r>
            <a:r>
              <a:rPr lang="sl-SI" altLang="en-US" sz="1800">
                <a:solidFill>
                  <a:srgbClr val="FF9933"/>
                </a:solidFill>
              </a:rPr>
              <a:t>samo projekcijsko rekonstrukcijo</a:t>
            </a:r>
            <a:r>
              <a:rPr lang="sl-SI" altLang="en-US" sz="1800">
                <a:solidFill>
                  <a:schemeClr val="tx2"/>
                </a:solidFill>
              </a:rPr>
              <a:t>.</a:t>
            </a:r>
          </a:p>
          <a:p>
            <a:pPr>
              <a:spcBef>
                <a:spcPts val="600"/>
              </a:spcBef>
              <a:buFontTx/>
              <a:buAutoNum type="arabicPeriod"/>
            </a:pPr>
            <a:r>
              <a:rPr lang="sl-SI" altLang="en-US" sz="1800">
                <a:solidFill>
                  <a:schemeClr val="tx2"/>
                </a:solidFill>
              </a:rPr>
              <a:t>Prehod v metrični oz. evklidski prostor zahteva dodatne korake. Govorimo o slojeviti </a:t>
            </a:r>
            <a:r>
              <a:rPr lang="sl-SI" altLang="en-US" sz="1800">
                <a:solidFill>
                  <a:srgbClr val="0000FF"/>
                </a:solidFill>
              </a:rPr>
              <a:t>3D rekonstrukciji (</a:t>
            </a:r>
            <a:r>
              <a:rPr lang="sl-SI" altLang="en-US" sz="1800" i="1">
                <a:solidFill>
                  <a:srgbClr val="0000FF"/>
                </a:solidFill>
              </a:rPr>
              <a:t>stratified reconstruction</a:t>
            </a:r>
            <a:r>
              <a:rPr lang="sl-SI" altLang="en-US" sz="1800">
                <a:solidFill>
                  <a:srgbClr val="0000FF"/>
                </a:solidFill>
              </a:rPr>
              <a:t>)</a:t>
            </a:r>
            <a:r>
              <a:rPr lang="sl-SI" altLang="en-US" sz="1800">
                <a:solidFill>
                  <a:schemeClr val="tx2"/>
                </a:solidFill>
              </a:rPr>
              <a:t>.</a:t>
            </a:r>
          </a:p>
          <a:p>
            <a:pPr>
              <a:spcBef>
                <a:spcPts val="600"/>
              </a:spcBef>
              <a:buFontTx/>
              <a:buAutoNum type="arabicPeriod"/>
            </a:pPr>
            <a:r>
              <a:rPr lang="sl-SI" altLang="en-US" sz="1800">
                <a:solidFill>
                  <a:schemeClr val="tx2"/>
                </a:solidFill>
              </a:rPr>
              <a:t>Slojevita rekonstrukcija se začne s projekcijsko, iz nje preidemo v afino, to pa potem nadgradimo z metrično rekonstrukcijo.</a:t>
            </a:r>
          </a:p>
          <a:p>
            <a:pPr>
              <a:spcBef>
                <a:spcPts val="1800"/>
              </a:spcBef>
              <a:buFontTx/>
              <a:buNone/>
            </a:pPr>
            <a:r>
              <a:rPr lang="sl-SI" altLang="en-US" sz="1800">
                <a:solidFill>
                  <a:schemeClr val="tx2"/>
                </a:solidFill>
              </a:rPr>
              <a:t>	projekcijska		afina		metrična</a:t>
            </a:r>
            <a:endParaRPr lang="de-DE" altLang="en-US" sz="1800">
              <a:solidFill>
                <a:schemeClr val="tx2"/>
              </a:solidFill>
            </a:endParaRPr>
          </a:p>
        </p:txBody>
      </p:sp>
      <p:sp>
        <p:nvSpPr>
          <p:cNvPr id="353284"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53285" name="Rectangle 2"/>
          <p:cNvSpPr txBox="1">
            <a:spLocks noChangeArrowheads="1"/>
          </p:cNvSpPr>
          <p:nvPr/>
        </p:nvSpPr>
        <p:spPr bwMode="auto">
          <a:xfrm>
            <a:off x="0" y="404813"/>
            <a:ext cx="9144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SLOJEVIT PRISTOP K 3D REKONSTRUKCIJI</a:t>
            </a:r>
            <a:endParaRPr lang="en-GB" altLang="en-US" sz="2000">
              <a:solidFill>
                <a:schemeClr val="tx2"/>
              </a:solidFill>
            </a:endParaRPr>
          </a:p>
        </p:txBody>
      </p:sp>
      <p:pic>
        <p:nvPicPr>
          <p:cNvPr id="35328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3605213"/>
            <a:ext cx="767715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PoljeZBesedilom 1"/>
          <p:cNvSpPr txBox="1">
            <a:spLocks noChangeArrowheads="1"/>
          </p:cNvSpPr>
          <p:nvPr/>
        </p:nvSpPr>
        <p:spPr bwMode="auto">
          <a:xfrm>
            <a:off x="827088" y="1125538"/>
            <a:ext cx="7993062" cy="283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t>Afina transformacija ohranja vzporednost:</a:t>
            </a:r>
          </a:p>
          <a:p>
            <a:pPr lvl="1" eaLnBrk="1" hangingPunct="1">
              <a:spcBef>
                <a:spcPct val="0"/>
              </a:spcBef>
              <a:buFont typeface="Arial" panose="020B0604020202020204" pitchFamily="34" charset="0"/>
              <a:buChar char="•"/>
            </a:pPr>
            <a:r>
              <a:rPr lang="sl-SI" altLang="en-US" sz="1600"/>
              <a:t>dve premici, ki sta vzporedni, se sekata v točki na ravnini v neskončnosti</a:t>
            </a:r>
          </a:p>
          <a:p>
            <a:pPr lvl="1" eaLnBrk="1" hangingPunct="1">
              <a:spcBef>
                <a:spcPct val="0"/>
              </a:spcBef>
              <a:buFont typeface="Arial" panose="020B0604020202020204" pitchFamily="34" charset="0"/>
              <a:buChar char="•"/>
            </a:pPr>
            <a:r>
              <a:rPr lang="sl-SI" altLang="en-US" sz="1600"/>
              <a:t>dve vzporedni ravnini se sekata v premici na ravnini v neskončnosti</a:t>
            </a:r>
          </a:p>
          <a:p>
            <a:pPr eaLnBrk="1" hangingPunct="1">
              <a:spcBef>
                <a:spcPts val="600"/>
              </a:spcBef>
              <a:buFontTx/>
              <a:buAutoNum type="arabicPeriod"/>
            </a:pPr>
            <a:r>
              <a:rPr lang="sl-SI" altLang="en-US" sz="1800"/>
              <a:t>Za afino transformacijo moramo torej poznati ravnino v neskončnosti </a:t>
            </a:r>
            <a:r>
              <a:rPr lang="de-DE" altLang="en-US" sz="1800">
                <a:solidFill>
                  <a:schemeClr val="tx2"/>
                </a:solidFill>
                <a:latin typeface="Symbol" panose="05050102010706020507" pitchFamily="18" charset="2"/>
                <a:sym typeface="Symbol" panose="05050102010706020507" pitchFamily="18" charset="2"/>
              </a:rPr>
              <a:t></a:t>
            </a:r>
            <a:r>
              <a:rPr lang="de-DE" altLang="en-US" sz="1800" baseline="-25000">
                <a:solidFill>
                  <a:schemeClr val="tx2"/>
                </a:solidFill>
              </a:rPr>
              <a:t>∞</a:t>
            </a:r>
            <a:endParaRPr lang="sl-SI" altLang="en-US" sz="1800" baseline="-25000">
              <a:solidFill>
                <a:schemeClr val="tx2"/>
              </a:solidFill>
            </a:endParaRPr>
          </a:p>
          <a:p>
            <a:pPr eaLnBrk="1" hangingPunct="1">
              <a:spcBef>
                <a:spcPts val="600"/>
              </a:spcBef>
              <a:buFontTx/>
              <a:buAutoNum type="arabicPeriod"/>
            </a:pPr>
            <a:r>
              <a:rPr lang="sl-SI" altLang="en-US" sz="1800">
                <a:solidFill>
                  <a:schemeClr val="tx2"/>
                </a:solidFill>
              </a:rPr>
              <a:t>Za ravnino v neskončnosti velja relacija:</a:t>
            </a:r>
          </a:p>
          <a:p>
            <a:pPr eaLnBrk="1" hangingPunct="1">
              <a:spcBef>
                <a:spcPct val="0"/>
              </a:spcBef>
              <a:buFontTx/>
              <a:buAutoNum type="arabicPeriod"/>
            </a:pPr>
            <a:endParaRPr lang="sl-SI" altLang="en-US" sz="1800">
              <a:solidFill>
                <a:schemeClr val="tx2"/>
              </a:solidFill>
            </a:endParaRPr>
          </a:p>
          <a:p>
            <a:pPr eaLnBrk="1" hangingPunct="1">
              <a:spcBef>
                <a:spcPts val="600"/>
              </a:spcBef>
              <a:buFontTx/>
              <a:buAutoNum type="arabicPeriod"/>
            </a:pPr>
            <a:r>
              <a:rPr lang="sl-SI" altLang="en-US" sz="1800">
                <a:solidFill>
                  <a:schemeClr val="tx2"/>
                </a:solidFill>
              </a:rPr>
              <a:t>Ravnino v neskončnosti lahko določimo, če poznamo vsaj 3 točke na njej (</a:t>
            </a:r>
            <a:r>
              <a:rPr lang="sl-SI" altLang="en-US" sz="1800">
                <a:solidFill>
                  <a:srgbClr val="FF9933"/>
                </a:solidFill>
              </a:rPr>
              <a:t>te so neodvisne od translacije – recimo luna na nebu</a:t>
            </a:r>
            <a:r>
              <a:rPr lang="sl-SI" altLang="en-US" sz="1800">
                <a:solidFill>
                  <a:schemeClr val="tx2"/>
                </a:solidFill>
              </a:rPr>
              <a:t>).</a:t>
            </a:r>
          </a:p>
          <a:p>
            <a:pPr eaLnBrk="1" hangingPunct="1">
              <a:spcBef>
                <a:spcPts val="600"/>
              </a:spcBef>
              <a:buFontTx/>
              <a:buAutoNum type="arabicPeriod"/>
            </a:pPr>
            <a:r>
              <a:rPr lang="sl-SI" altLang="en-US" sz="1800">
                <a:solidFill>
                  <a:schemeClr val="tx2"/>
                </a:solidFill>
              </a:rPr>
              <a:t>Točke v neskončnosti so </a:t>
            </a:r>
            <a:r>
              <a:rPr lang="sl-SI" altLang="en-US" sz="1800">
                <a:solidFill>
                  <a:srgbClr val="0000FF"/>
                </a:solidFill>
              </a:rPr>
              <a:t>ponorne točke (</a:t>
            </a:r>
            <a:r>
              <a:rPr lang="sl-SI" altLang="en-US" sz="1800" i="1">
                <a:solidFill>
                  <a:srgbClr val="0000FF"/>
                </a:solidFill>
              </a:rPr>
              <a:t>vanishing points</a:t>
            </a:r>
            <a:r>
              <a:rPr lang="sl-SI" altLang="en-US" sz="1800">
                <a:solidFill>
                  <a:srgbClr val="0000FF"/>
                </a:solidFill>
              </a:rPr>
              <a:t>)</a:t>
            </a:r>
            <a:r>
              <a:rPr lang="sl-SI" altLang="en-US" sz="1800">
                <a:solidFill>
                  <a:schemeClr val="tx2"/>
                </a:solidFill>
              </a:rPr>
              <a:t>.</a:t>
            </a:r>
          </a:p>
        </p:txBody>
      </p:sp>
      <p:sp>
        <p:nvSpPr>
          <p:cNvPr id="355331"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5D2C372-D4B6-4802-96C4-E79683A38A5E}" type="slidenum">
              <a:rPr lang="en-US" altLang="en-US" sz="1400" smtClean="0"/>
              <a:pPr>
                <a:spcBef>
                  <a:spcPct val="0"/>
                </a:spcBef>
                <a:buFontTx/>
                <a:buNone/>
              </a:pPr>
              <a:t>176</a:t>
            </a:fld>
            <a:endParaRPr lang="en-US" altLang="en-US" sz="1400"/>
          </a:p>
        </p:txBody>
      </p:sp>
      <p:pic>
        <p:nvPicPr>
          <p:cNvPr id="355332" name="Picture 10" descr="img254"/>
          <p:cNvPicPr>
            <a:picLocks noChangeAspect="1" noChangeArrowheads="1"/>
          </p:cNvPicPr>
          <p:nvPr/>
        </p:nvPicPr>
        <p:blipFill>
          <a:blip r:embed="rId3">
            <a:clrChange>
              <a:clrFrom>
                <a:srgbClr val="B3B3B3"/>
              </a:clrFrom>
              <a:clrTo>
                <a:srgbClr val="B3B3B3">
                  <a:alpha val="0"/>
                </a:srgbClr>
              </a:clrTo>
            </a:clrChange>
            <a:extLst>
              <a:ext uri="{28A0092B-C50C-407E-A947-70E740481C1C}">
                <a14:useLocalDpi xmlns:a14="http://schemas.microsoft.com/office/drawing/2010/main" val="0"/>
              </a:ext>
            </a:extLst>
          </a:blip>
          <a:srcRect/>
          <a:stretch>
            <a:fillRect/>
          </a:stretch>
        </p:blipFill>
        <p:spPr bwMode="auto">
          <a:xfrm>
            <a:off x="5314950" y="3933825"/>
            <a:ext cx="2944813"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5333"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55334" name="Rectangle 2"/>
          <p:cNvSpPr txBox="1">
            <a:spLocks noChangeArrowheads="1"/>
          </p:cNvSpPr>
          <p:nvPr/>
        </p:nvSpPr>
        <p:spPr bwMode="auto">
          <a:xfrm>
            <a:off x="0" y="260350"/>
            <a:ext cx="9144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PREHOD OD PROJEKCIJSKE K AFINI REKONSTRUKCIJI</a:t>
            </a:r>
            <a:endParaRPr lang="en-GB" altLang="en-US" sz="2000">
              <a:solidFill>
                <a:schemeClr val="tx2"/>
              </a:solidFill>
            </a:endParaRPr>
          </a:p>
        </p:txBody>
      </p:sp>
      <p:sp>
        <p:nvSpPr>
          <p:cNvPr id="3" name="PoljeZBesedilom 2"/>
          <p:cNvSpPr txBox="1"/>
          <p:nvPr/>
        </p:nvSpPr>
        <p:spPr>
          <a:xfrm>
            <a:off x="827088" y="3983038"/>
            <a:ext cx="4249737" cy="1830387"/>
          </a:xfrm>
          <a:prstGeom prst="rect">
            <a:avLst/>
          </a:prstGeom>
          <a:noFill/>
        </p:spPr>
        <p:txBody>
          <a:bodyPr>
            <a:spAutoFit/>
          </a:bodyPr>
          <a:lstStyle/>
          <a:p>
            <a:pPr marL="342900" indent="-342900" eaLnBrk="1" hangingPunct="1">
              <a:buFont typeface="+mj-lt"/>
              <a:buAutoNum type="arabicPeriod" startAt="6"/>
              <a:defRPr/>
            </a:pPr>
            <a:r>
              <a:rPr lang="sl-SI" dirty="0">
                <a:latin typeface="Arial" charset="0"/>
                <a:cs typeface="Arial" charset="0"/>
              </a:rPr>
              <a:t>Za točke </a:t>
            </a:r>
            <a:r>
              <a:rPr lang="sl-SI" b="1" dirty="0">
                <a:latin typeface="Arial" charset="0"/>
                <a:cs typeface="Arial" charset="0"/>
              </a:rPr>
              <a:t>p</a:t>
            </a:r>
            <a:r>
              <a:rPr lang="sl-SI" dirty="0">
                <a:latin typeface="Arial" charset="0"/>
                <a:cs typeface="Arial" charset="0"/>
              </a:rPr>
              <a:t> = [</a:t>
            </a:r>
            <a:r>
              <a:rPr lang="sl-SI" i="1" dirty="0">
                <a:latin typeface="Arial" charset="0"/>
                <a:cs typeface="Arial" charset="0"/>
              </a:rPr>
              <a:t>x</a:t>
            </a:r>
            <a:r>
              <a:rPr lang="sl-SI" dirty="0">
                <a:latin typeface="Arial" charset="0"/>
                <a:cs typeface="Arial" charset="0"/>
              </a:rPr>
              <a:t>, </a:t>
            </a:r>
            <a:r>
              <a:rPr lang="sl-SI" i="1" dirty="0">
                <a:latin typeface="Arial" charset="0"/>
                <a:cs typeface="Arial" charset="0"/>
              </a:rPr>
              <a:t>y</a:t>
            </a:r>
            <a:r>
              <a:rPr lang="sl-SI" dirty="0">
                <a:latin typeface="Arial" charset="0"/>
                <a:cs typeface="Arial" charset="0"/>
              </a:rPr>
              <a:t>, </a:t>
            </a:r>
            <a:r>
              <a:rPr lang="sl-SI" i="1" dirty="0">
                <a:latin typeface="Arial" charset="0"/>
                <a:cs typeface="Arial" charset="0"/>
              </a:rPr>
              <a:t>z</a:t>
            </a:r>
            <a:r>
              <a:rPr lang="sl-SI" dirty="0">
                <a:latin typeface="Arial" charset="0"/>
                <a:cs typeface="Arial" charset="0"/>
              </a:rPr>
              <a:t>, 0]</a:t>
            </a:r>
            <a:r>
              <a:rPr lang="sl-SI" i="1" baseline="30000" dirty="0">
                <a:latin typeface="Arial" charset="0"/>
                <a:cs typeface="Arial" charset="0"/>
              </a:rPr>
              <a:t>T</a:t>
            </a:r>
            <a:r>
              <a:rPr lang="sl-SI" dirty="0">
                <a:latin typeface="Arial" charset="0"/>
                <a:cs typeface="Arial" charset="0"/>
              </a:rPr>
              <a:t> na ravnini </a:t>
            </a:r>
            <a:r>
              <a:rPr lang="de-DE" dirty="0">
                <a:solidFill>
                  <a:schemeClr val="tx2"/>
                </a:solidFill>
                <a:latin typeface="Symbol" pitchFamily="18" charset="2"/>
                <a:cs typeface="Arial" charset="0"/>
                <a:sym typeface="Symbol"/>
              </a:rPr>
              <a:t></a:t>
            </a:r>
            <a:r>
              <a:rPr lang="de-DE" baseline="-25000" dirty="0">
                <a:solidFill>
                  <a:schemeClr val="tx2"/>
                </a:solidFill>
                <a:latin typeface="Arial" charset="0"/>
                <a:cs typeface="Arial" charset="0"/>
              </a:rPr>
              <a:t>∞</a:t>
            </a:r>
            <a:r>
              <a:rPr lang="sl-SI" dirty="0">
                <a:latin typeface="Arial" charset="0"/>
                <a:cs typeface="Arial" charset="0"/>
              </a:rPr>
              <a:t> velja:</a:t>
            </a:r>
          </a:p>
          <a:p>
            <a:pPr eaLnBrk="1" hangingPunct="1">
              <a:defRPr/>
            </a:pPr>
            <a:r>
              <a:rPr lang="sl-SI" dirty="0">
                <a:latin typeface="Arial" charset="0"/>
                <a:cs typeface="Arial" charset="0"/>
              </a:rPr>
              <a:t>	[0, 0, 0, 1]</a:t>
            </a:r>
            <a:r>
              <a:rPr lang="sl-SI" b="1" dirty="0">
                <a:latin typeface="Arial" charset="0"/>
                <a:cs typeface="Arial" charset="0"/>
              </a:rPr>
              <a:t>p</a:t>
            </a:r>
            <a:r>
              <a:rPr lang="sl-SI" dirty="0">
                <a:latin typeface="Arial" charset="0"/>
                <a:cs typeface="Arial" charset="0"/>
              </a:rPr>
              <a:t> = 0</a:t>
            </a:r>
          </a:p>
          <a:p>
            <a:pPr marL="342900" indent="-342900" eaLnBrk="1" hangingPunct="1">
              <a:spcBef>
                <a:spcPts val="600"/>
              </a:spcBef>
              <a:buFont typeface="+mj-lt"/>
              <a:buAutoNum type="arabicPeriod" startAt="7"/>
              <a:defRPr/>
            </a:pPr>
            <a:r>
              <a:rPr lang="sl-SI" dirty="0">
                <a:latin typeface="Arial" charset="0"/>
                <a:cs typeface="Arial" charset="0"/>
              </a:rPr>
              <a:t>Potrebujemo </a:t>
            </a:r>
            <a:r>
              <a:rPr lang="sl-SI" dirty="0" err="1">
                <a:latin typeface="Arial" charset="0"/>
                <a:cs typeface="Arial" charset="0"/>
              </a:rPr>
              <a:t>homografijo</a:t>
            </a:r>
            <a:r>
              <a:rPr lang="sl-SI" dirty="0">
                <a:latin typeface="Arial" charset="0"/>
                <a:cs typeface="Arial" charset="0"/>
              </a:rPr>
              <a:t> </a:t>
            </a:r>
            <a:r>
              <a:rPr lang="sl-SI" b="1" dirty="0">
                <a:latin typeface="Arial" charset="0"/>
                <a:cs typeface="Arial" charset="0"/>
              </a:rPr>
              <a:t>H</a:t>
            </a:r>
            <a:r>
              <a:rPr lang="sl-SI" i="1" baseline="-25000" dirty="0">
                <a:latin typeface="Arial" charset="0"/>
                <a:cs typeface="Arial" charset="0"/>
              </a:rPr>
              <a:t>P</a:t>
            </a:r>
            <a:r>
              <a:rPr lang="sl-SI" dirty="0">
                <a:latin typeface="Arial" charset="0"/>
                <a:cs typeface="Arial" charset="0"/>
              </a:rPr>
              <a:t> , s katero bomo preslikali projekcijsko rekonstrukcijo v afino.</a:t>
            </a:r>
          </a:p>
        </p:txBody>
      </p:sp>
      <p:pic>
        <p:nvPicPr>
          <p:cNvPr id="355336" name="Slika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25550" y="2565400"/>
            <a:ext cx="16637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Skupina 12"/>
          <p:cNvGrpSpPr>
            <a:grpSpLocks/>
          </p:cNvGrpSpPr>
          <p:nvPr/>
        </p:nvGrpSpPr>
        <p:grpSpPr bwMode="auto">
          <a:xfrm>
            <a:off x="2771775" y="3860800"/>
            <a:ext cx="5610225" cy="2247900"/>
            <a:chOff x="2771800" y="3789040"/>
            <a:chExt cx="5610225" cy="2247900"/>
          </a:xfrm>
        </p:grpSpPr>
        <p:pic>
          <p:nvPicPr>
            <p:cNvPr id="3573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789040"/>
              <a:ext cx="561022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Ukrivljen povezovalnik 8"/>
            <p:cNvCxnSpPr/>
            <p:nvPr/>
          </p:nvCxnSpPr>
          <p:spPr>
            <a:xfrm rot="16200000" flipV="1">
              <a:off x="4175944" y="3897784"/>
              <a:ext cx="360363" cy="142875"/>
            </a:xfrm>
            <a:prstGeom prst="curvedConnector3">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Raven puščični povezovalnik 10"/>
            <p:cNvCxnSpPr/>
            <p:nvPr/>
          </p:nvCxnSpPr>
          <p:spPr>
            <a:xfrm flipH="1">
              <a:off x="7607325" y="5157465"/>
              <a:ext cx="144463" cy="28733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Raven puščični povezovalnik 18"/>
            <p:cNvCxnSpPr/>
            <p:nvPr/>
          </p:nvCxnSpPr>
          <p:spPr>
            <a:xfrm>
              <a:off x="3098825" y="5387653"/>
              <a:ext cx="71438" cy="287337"/>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 name="PoljeZBesedilom 1"/>
          <p:cNvSpPr txBox="1"/>
          <p:nvPr/>
        </p:nvSpPr>
        <p:spPr>
          <a:xfrm>
            <a:off x="827088" y="1125538"/>
            <a:ext cx="7993062" cy="5324475"/>
          </a:xfrm>
          <a:prstGeom prst="rect">
            <a:avLst/>
          </a:prstGeom>
          <a:noFill/>
        </p:spPr>
        <p:txBody>
          <a:bodyPr>
            <a:spAutoFit/>
          </a:bodyPr>
          <a:lstStyle/>
          <a:p>
            <a:pPr marL="342900" indent="-342900" eaLnBrk="1" hangingPunct="1">
              <a:buFont typeface="+mj-lt"/>
              <a:buAutoNum type="arabicPeriod"/>
              <a:defRPr/>
            </a:pPr>
            <a:r>
              <a:rPr lang="sl-SI" dirty="0" err="1">
                <a:latin typeface="Arial" charset="0"/>
                <a:cs typeface="Arial" charset="0"/>
              </a:rPr>
              <a:t>Homografija</a:t>
            </a:r>
            <a:r>
              <a:rPr lang="sl-SI" dirty="0">
                <a:latin typeface="Arial" charset="0"/>
                <a:cs typeface="Arial" charset="0"/>
              </a:rPr>
              <a:t> za prehod od projekcijske k afini rekonstrukciji ima obliko:</a:t>
            </a:r>
          </a:p>
          <a:p>
            <a:pPr marL="798513" lvl="1" indent="-342900" eaLnBrk="1" hangingPunct="1">
              <a:buFont typeface="Arial" pitchFamily="34" charset="0"/>
              <a:buChar char="•"/>
              <a:defRPr/>
            </a:pPr>
            <a:endParaRPr lang="sl-SI" sz="1600" dirty="0">
              <a:latin typeface="Arial" charset="0"/>
              <a:cs typeface="Arial" charset="0"/>
            </a:endParaRPr>
          </a:p>
          <a:p>
            <a:pPr marL="798513" lvl="1" indent="-342900" eaLnBrk="1" hangingPunct="1">
              <a:buFont typeface="Arial" pitchFamily="34" charset="0"/>
              <a:buChar char="•"/>
              <a:defRPr/>
            </a:pPr>
            <a:endParaRPr lang="sl-SI" sz="1600" dirty="0">
              <a:latin typeface="Arial" charset="0"/>
              <a:cs typeface="Arial" charset="0"/>
            </a:endParaRPr>
          </a:p>
          <a:p>
            <a:pPr marL="798513" lvl="1" indent="-342900" eaLnBrk="1" hangingPunct="1">
              <a:buFont typeface="Arial" pitchFamily="34" charset="0"/>
              <a:buChar char="•"/>
              <a:defRPr/>
            </a:pPr>
            <a:endParaRPr lang="sl-SI" sz="1600" dirty="0">
              <a:latin typeface="Arial" charset="0"/>
              <a:cs typeface="Arial" charset="0"/>
            </a:endParaRPr>
          </a:p>
          <a:p>
            <a:pPr marL="342900" indent="-342900" eaLnBrk="1" hangingPunct="1">
              <a:spcBef>
                <a:spcPts val="600"/>
              </a:spcBef>
              <a:buFont typeface="+mj-lt"/>
              <a:buAutoNum type="arabicPeriod"/>
              <a:defRPr/>
            </a:pPr>
            <a:r>
              <a:rPr lang="sl-SI" dirty="0">
                <a:latin typeface="Arial" charset="0"/>
                <a:cs typeface="Arial" charset="0"/>
              </a:rPr>
              <a:t>Zapis [</a:t>
            </a:r>
            <a:r>
              <a:rPr lang="sl-SI" b="1" dirty="0" err="1">
                <a:latin typeface="Arial" charset="0"/>
                <a:cs typeface="Arial" charset="0"/>
              </a:rPr>
              <a:t>v</a:t>
            </a:r>
            <a:r>
              <a:rPr lang="sl-SI" i="1" baseline="30000" dirty="0" err="1">
                <a:latin typeface="Arial" charset="0"/>
                <a:cs typeface="Arial" charset="0"/>
              </a:rPr>
              <a:t>T</a:t>
            </a:r>
            <a:r>
              <a:rPr lang="sl-SI" dirty="0">
                <a:latin typeface="Arial" charset="0"/>
                <a:cs typeface="Arial" charset="0"/>
              </a:rPr>
              <a:t>, </a:t>
            </a:r>
            <a:r>
              <a:rPr lang="sl-SI" i="1" dirty="0">
                <a:latin typeface="Arial" charset="0"/>
                <a:cs typeface="Arial" charset="0"/>
              </a:rPr>
              <a:t>v</a:t>
            </a:r>
            <a:r>
              <a:rPr lang="sl-SI" baseline="-25000" dirty="0">
                <a:latin typeface="Arial" charset="0"/>
                <a:cs typeface="Arial" charset="0"/>
              </a:rPr>
              <a:t>4</a:t>
            </a:r>
            <a:r>
              <a:rPr lang="sl-SI" dirty="0">
                <a:latin typeface="Arial" charset="0"/>
                <a:cs typeface="Arial" charset="0"/>
              </a:rPr>
              <a:t>]</a:t>
            </a:r>
            <a:r>
              <a:rPr lang="sl-SI" i="1" baseline="30000" dirty="0">
                <a:latin typeface="Arial" charset="0"/>
                <a:cs typeface="Arial" charset="0"/>
              </a:rPr>
              <a:t>T</a:t>
            </a:r>
            <a:r>
              <a:rPr lang="sl-SI" dirty="0">
                <a:latin typeface="Arial" charset="0"/>
                <a:cs typeface="Arial" charset="0"/>
              </a:rPr>
              <a:t> pomeni sliko ravnine v neskončnosti (</a:t>
            </a:r>
            <a:r>
              <a:rPr lang="de-DE" dirty="0">
                <a:solidFill>
                  <a:schemeClr val="tx2"/>
                </a:solidFill>
                <a:latin typeface="Symbol" pitchFamily="18" charset="2"/>
                <a:cs typeface="Arial" charset="0"/>
                <a:sym typeface="Symbol"/>
              </a:rPr>
              <a:t></a:t>
            </a:r>
            <a:r>
              <a:rPr lang="de-DE" baseline="-25000" dirty="0">
                <a:solidFill>
                  <a:schemeClr val="tx2"/>
                </a:solidFill>
                <a:latin typeface="Arial" charset="0"/>
                <a:cs typeface="Arial" charset="0"/>
              </a:rPr>
              <a:t>∞</a:t>
            </a:r>
            <a:r>
              <a:rPr lang="sl-SI" dirty="0">
                <a:solidFill>
                  <a:schemeClr val="tx2"/>
                </a:solidFill>
                <a:latin typeface="Arial" charset="0"/>
                <a:cs typeface="Arial" charset="0"/>
              </a:rPr>
              <a:t>), projicirano na slikovno ravnino kamere.</a:t>
            </a:r>
            <a:endParaRPr lang="sl-SI" baseline="-25000" dirty="0">
              <a:solidFill>
                <a:schemeClr val="tx2"/>
              </a:solidFill>
              <a:latin typeface="Arial" charset="0"/>
              <a:cs typeface="Arial" charset="0"/>
            </a:endParaRPr>
          </a:p>
          <a:p>
            <a:pPr marL="342900" indent="-342900" eaLnBrk="1" hangingPunct="1">
              <a:spcBef>
                <a:spcPts val="600"/>
              </a:spcBef>
              <a:buFont typeface="+mj-lt"/>
              <a:buAutoNum type="arabicPeriod"/>
              <a:defRPr/>
            </a:pPr>
            <a:r>
              <a:rPr lang="sl-SI" dirty="0">
                <a:solidFill>
                  <a:schemeClr val="tx2"/>
                </a:solidFill>
                <a:latin typeface="Arial" charset="0"/>
                <a:cs typeface="Arial" charset="0"/>
              </a:rPr>
              <a:t>Parametre slike za </a:t>
            </a:r>
            <a:r>
              <a:rPr lang="de-DE" dirty="0">
                <a:solidFill>
                  <a:schemeClr val="tx2"/>
                </a:solidFill>
                <a:latin typeface="Symbol" pitchFamily="18" charset="2"/>
                <a:cs typeface="Arial" charset="0"/>
                <a:sym typeface="Symbol"/>
              </a:rPr>
              <a:t></a:t>
            </a:r>
            <a:r>
              <a:rPr lang="de-DE" baseline="-25000" dirty="0">
                <a:solidFill>
                  <a:schemeClr val="tx2"/>
                </a:solidFill>
                <a:latin typeface="Arial" charset="0"/>
                <a:cs typeface="Arial" charset="0"/>
              </a:rPr>
              <a:t>∞</a:t>
            </a:r>
            <a:r>
              <a:rPr lang="sl-SI" dirty="0">
                <a:solidFill>
                  <a:schemeClr val="tx2"/>
                </a:solidFill>
                <a:latin typeface="Arial" charset="0"/>
                <a:cs typeface="Arial" charset="0"/>
              </a:rPr>
              <a:t>, </a:t>
            </a:r>
            <a:r>
              <a:rPr lang="sl-SI" b="1" dirty="0">
                <a:solidFill>
                  <a:schemeClr val="tx2"/>
                </a:solidFill>
                <a:latin typeface="Arial" charset="0"/>
                <a:cs typeface="Arial" charset="0"/>
              </a:rPr>
              <a:t>v</a:t>
            </a:r>
            <a:r>
              <a:rPr lang="sl-SI" dirty="0">
                <a:solidFill>
                  <a:schemeClr val="tx2"/>
                </a:solidFill>
                <a:latin typeface="Arial" charset="0"/>
                <a:cs typeface="Arial" charset="0"/>
              </a:rPr>
              <a:t> = (</a:t>
            </a:r>
            <a:r>
              <a:rPr lang="sl-SI" i="1" dirty="0">
                <a:solidFill>
                  <a:schemeClr val="tx2"/>
                </a:solidFill>
                <a:latin typeface="Arial" charset="0"/>
                <a:cs typeface="Arial" charset="0"/>
              </a:rPr>
              <a:t>v</a:t>
            </a:r>
            <a:r>
              <a:rPr lang="sl-SI" baseline="-25000" dirty="0">
                <a:solidFill>
                  <a:schemeClr val="tx2"/>
                </a:solidFill>
                <a:latin typeface="Arial" charset="0"/>
                <a:cs typeface="Arial" charset="0"/>
              </a:rPr>
              <a:t>1</a:t>
            </a:r>
            <a:r>
              <a:rPr lang="sl-SI" dirty="0">
                <a:solidFill>
                  <a:schemeClr val="tx2"/>
                </a:solidFill>
                <a:latin typeface="Arial" charset="0"/>
                <a:cs typeface="Arial" charset="0"/>
              </a:rPr>
              <a:t>, </a:t>
            </a:r>
            <a:r>
              <a:rPr lang="sl-SI" i="1" dirty="0">
                <a:solidFill>
                  <a:schemeClr val="tx2"/>
                </a:solidFill>
                <a:latin typeface="Arial" charset="0"/>
                <a:cs typeface="Arial" charset="0"/>
              </a:rPr>
              <a:t>v</a:t>
            </a:r>
            <a:r>
              <a:rPr lang="sl-SI" baseline="-25000" dirty="0">
                <a:solidFill>
                  <a:schemeClr val="tx2"/>
                </a:solidFill>
                <a:latin typeface="Arial" charset="0"/>
                <a:cs typeface="Arial" charset="0"/>
              </a:rPr>
              <a:t>2</a:t>
            </a:r>
            <a:r>
              <a:rPr lang="sl-SI" dirty="0">
                <a:solidFill>
                  <a:schemeClr val="tx2"/>
                </a:solidFill>
                <a:latin typeface="Arial" charset="0"/>
                <a:cs typeface="Arial" charset="0"/>
              </a:rPr>
              <a:t>, </a:t>
            </a:r>
            <a:r>
              <a:rPr lang="sl-SI" i="1" dirty="0">
                <a:solidFill>
                  <a:schemeClr val="tx2"/>
                </a:solidFill>
                <a:latin typeface="Arial" charset="0"/>
                <a:cs typeface="Arial" charset="0"/>
              </a:rPr>
              <a:t>v</a:t>
            </a:r>
            <a:r>
              <a:rPr lang="sl-SI" baseline="-25000" dirty="0">
                <a:solidFill>
                  <a:schemeClr val="tx2"/>
                </a:solidFill>
                <a:latin typeface="Arial" charset="0"/>
                <a:cs typeface="Arial" charset="0"/>
              </a:rPr>
              <a:t>3</a:t>
            </a:r>
            <a:r>
              <a:rPr lang="sl-SI" dirty="0">
                <a:solidFill>
                  <a:schemeClr val="tx2"/>
                </a:solidFill>
                <a:latin typeface="Arial" charset="0"/>
                <a:cs typeface="Arial" charset="0"/>
              </a:rPr>
              <a:t>)</a:t>
            </a:r>
            <a:r>
              <a:rPr lang="sl-SI" i="1" baseline="30000" dirty="0">
                <a:solidFill>
                  <a:schemeClr val="tx2"/>
                </a:solidFill>
                <a:latin typeface="Arial" charset="0"/>
                <a:cs typeface="Arial" charset="0"/>
              </a:rPr>
              <a:t>T</a:t>
            </a:r>
            <a:r>
              <a:rPr lang="sl-SI" dirty="0">
                <a:solidFill>
                  <a:schemeClr val="tx2"/>
                </a:solidFill>
                <a:latin typeface="Arial" charset="0"/>
                <a:cs typeface="Arial" charset="0"/>
              </a:rPr>
              <a:t> in </a:t>
            </a:r>
            <a:r>
              <a:rPr lang="sl-SI" i="1" dirty="0">
                <a:solidFill>
                  <a:schemeClr val="tx2"/>
                </a:solidFill>
                <a:latin typeface="Arial" charset="0"/>
                <a:cs typeface="Arial" charset="0"/>
              </a:rPr>
              <a:t>v</a:t>
            </a:r>
            <a:r>
              <a:rPr lang="sl-SI" baseline="-25000" dirty="0">
                <a:solidFill>
                  <a:schemeClr val="tx2"/>
                </a:solidFill>
                <a:latin typeface="Arial" charset="0"/>
                <a:cs typeface="Arial" charset="0"/>
              </a:rPr>
              <a:t>4</a:t>
            </a:r>
            <a:r>
              <a:rPr lang="sl-SI" dirty="0">
                <a:solidFill>
                  <a:schemeClr val="tx2"/>
                </a:solidFill>
                <a:latin typeface="Arial" charset="0"/>
                <a:cs typeface="Arial" charset="0"/>
              </a:rPr>
              <a:t>, določimo iz vsaj 3 ponornih točk na projekcijskih slikah (lahko samo eni sliki); </a:t>
            </a:r>
            <a:r>
              <a:rPr lang="sl-SI" b="1" dirty="0" err="1">
                <a:solidFill>
                  <a:schemeClr val="tx2"/>
                </a:solidFill>
                <a:latin typeface="Arial" charset="0"/>
                <a:cs typeface="Arial" charset="0"/>
              </a:rPr>
              <a:t>p</a:t>
            </a:r>
            <a:r>
              <a:rPr lang="sl-SI" i="1" baseline="-25000" dirty="0" err="1">
                <a:solidFill>
                  <a:schemeClr val="tx2"/>
                </a:solidFill>
                <a:latin typeface="Arial" charset="0"/>
                <a:cs typeface="Arial" charset="0"/>
              </a:rPr>
              <a:t>sP</a:t>
            </a:r>
            <a:r>
              <a:rPr lang="sl-SI" i="1" baseline="-25000" dirty="0">
                <a:solidFill>
                  <a:schemeClr val="tx2"/>
                </a:solidFill>
                <a:latin typeface="Arial" charset="0"/>
                <a:cs typeface="Arial" charset="0"/>
              </a:rPr>
              <a:t>,i</a:t>
            </a:r>
            <a:r>
              <a:rPr lang="sl-SI" dirty="0">
                <a:solidFill>
                  <a:schemeClr val="tx2"/>
                </a:solidFill>
                <a:latin typeface="Arial" charset="0"/>
                <a:cs typeface="Arial" charset="0"/>
              </a:rPr>
              <a:t>, </a:t>
            </a:r>
            <a:r>
              <a:rPr lang="sl-SI" i="1" dirty="0">
                <a:solidFill>
                  <a:schemeClr val="tx2"/>
                </a:solidFill>
                <a:latin typeface="Arial" charset="0"/>
                <a:cs typeface="Arial" charset="0"/>
              </a:rPr>
              <a:t>i</a:t>
            </a:r>
            <a:r>
              <a:rPr lang="sl-SI" dirty="0">
                <a:solidFill>
                  <a:schemeClr val="tx2"/>
                </a:solidFill>
                <a:latin typeface="Arial" charset="0"/>
                <a:cs typeface="Arial" charset="0"/>
              </a:rPr>
              <a:t> = 1, 2, 3:</a:t>
            </a:r>
          </a:p>
          <a:p>
            <a:pPr eaLnBrk="1" hangingPunct="1">
              <a:defRPr/>
            </a:pPr>
            <a:r>
              <a:rPr lang="sl-SI" dirty="0">
                <a:solidFill>
                  <a:schemeClr val="tx2"/>
                </a:solidFill>
                <a:latin typeface="Arial" charset="0"/>
                <a:cs typeface="Arial" charset="0"/>
              </a:rPr>
              <a:t>	[</a:t>
            </a:r>
            <a:r>
              <a:rPr lang="sl-SI" i="1" dirty="0">
                <a:solidFill>
                  <a:schemeClr val="tx2"/>
                </a:solidFill>
                <a:latin typeface="Arial" charset="0"/>
                <a:cs typeface="Arial" charset="0"/>
              </a:rPr>
              <a:t>v</a:t>
            </a:r>
            <a:r>
              <a:rPr lang="sl-SI" baseline="-25000" dirty="0">
                <a:solidFill>
                  <a:schemeClr val="tx2"/>
                </a:solidFill>
                <a:latin typeface="Arial" charset="0"/>
                <a:cs typeface="Arial" charset="0"/>
              </a:rPr>
              <a:t>1</a:t>
            </a:r>
            <a:r>
              <a:rPr lang="sl-SI" dirty="0">
                <a:solidFill>
                  <a:schemeClr val="tx2"/>
                </a:solidFill>
                <a:latin typeface="Arial" charset="0"/>
                <a:cs typeface="Arial" charset="0"/>
              </a:rPr>
              <a:t>, </a:t>
            </a:r>
            <a:r>
              <a:rPr lang="sl-SI" i="1" dirty="0">
                <a:solidFill>
                  <a:schemeClr val="tx2"/>
                </a:solidFill>
                <a:latin typeface="Arial" charset="0"/>
                <a:cs typeface="Arial" charset="0"/>
              </a:rPr>
              <a:t>v</a:t>
            </a:r>
            <a:r>
              <a:rPr lang="sl-SI" baseline="-25000" dirty="0">
                <a:solidFill>
                  <a:schemeClr val="tx2"/>
                </a:solidFill>
                <a:latin typeface="Arial" charset="0"/>
                <a:cs typeface="Arial" charset="0"/>
              </a:rPr>
              <a:t>2</a:t>
            </a:r>
            <a:r>
              <a:rPr lang="sl-SI" dirty="0">
                <a:solidFill>
                  <a:schemeClr val="tx2"/>
                </a:solidFill>
                <a:latin typeface="Arial" charset="0"/>
                <a:cs typeface="Arial" charset="0"/>
              </a:rPr>
              <a:t>, </a:t>
            </a:r>
            <a:r>
              <a:rPr lang="sl-SI" i="1" dirty="0">
                <a:solidFill>
                  <a:schemeClr val="tx2"/>
                </a:solidFill>
                <a:latin typeface="Arial" charset="0"/>
                <a:cs typeface="Arial" charset="0"/>
              </a:rPr>
              <a:t>v</a:t>
            </a:r>
            <a:r>
              <a:rPr lang="sl-SI" baseline="-25000" dirty="0">
                <a:solidFill>
                  <a:schemeClr val="tx2"/>
                </a:solidFill>
                <a:latin typeface="Arial" charset="0"/>
                <a:cs typeface="Arial" charset="0"/>
              </a:rPr>
              <a:t>3</a:t>
            </a:r>
            <a:r>
              <a:rPr lang="sl-SI" dirty="0">
                <a:solidFill>
                  <a:schemeClr val="tx2"/>
                </a:solidFill>
                <a:latin typeface="Arial" charset="0"/>
                <a:cs typeface="Arial" charset="0"/>
              </a:rPr>
              <a:t>, </a:t>
            </a:r>
            <a:r>
              <a:rPr lang="sl-SI" i="1" dirty="0">
                <a:solidFill>
                  <a:schemeClr val="tx2"/>
                </a:solidFill>
                <a:latin typeface="Arial" charset="0"/>
                <a:cs typeface="Arial" charset="0"/>
              </a:rPr>
              <a:t>v</a:t>
            </a:r>
            <a:r>
              <a:rPr lang="sl-SI" baseline="-25000" dirty="0">
                <a:solidFill>
                  <a:schemeClr val="tx2"/>
                </a:solidFill>
                <a:latin typeface="Arial" charset="0"/>
                <a:cs typeface="Arial" charset="0"/>
              </a:rPr>
              <a:t>4</a:t>
            </a:r>
            <a:r>
              <a:rPr lang="sl-SI" dirty="0">
                <a:solidFill>
                  <a:schemeClr val="tx2"/>
                </a:solidFill>
                <a:latin typeface="Arial" charset="0"/>
                <a:cs typeface="Arial" charset="0"/>
              </a:rPr>
              <a:t>]</a:t>
            </a:r>
            <a:r>
              <a:rPr lang="sl-SI" b="1" dirty="0">
                <a:solidFill>
                  <a:schemeClr val="tx2"/>
                </a:solidFill>
                <a:latin typeface="Arial" charset="0"/>
                <a:cs typeface="Arial" charset="0"/>
              </a:rPr>
              <a:t>∙p</a:t>
            </a:r>
            <a:r>
              <a:rPr lang="sl-SI" i="1" baseline="-25000" dirty="0">
                <a:solidFill>
                  <a:schemeClr val="tx2"/>
                </a:solidFill>
                <a:latin typeface="Arial" charset="0"/>
                <a:cs typeface="Arial" charset="0"/>
              </a:rPr>
              <a:t>sP,i</a:t>
            </a:r>
            <a:r>
              <a:rPr lang="sl-SI" dirty="0">
                <a:solidFill>
                  <a:schemeClr val="tx2"/>
                </a:solidFill>
                <a:latin typeface="Arial" charset="0"/>
                <a:cs typeface="Arial" charset="0"/>
              </a:rPr>
              <a:t> = 0</a:t>
            </a:r>
          </a:p>
          <a:p>
            <a:pPr marL="342900" indent="-342900" eaLnBrk="1" hangingPunct="1">
              <a:spcBef>
                <a:spcPts val="600"/>
              </a:spcBef>
              <a:buFont typeface="+mj-lt"/>
              <a:buAutoNum type="arabicPeriod" startAt="4"/>
              <a:defRPr/>
            </a:pPr>
            <a:r>
              <a:rPr lang="sl-SI" dirty="0">
                <a:solidFill>
                  <a:schemeClr val="tx2"/>
                </a:solidFill>
                <a:latin typeface="Arial" charset="0"/>
                <a:cs typeface="Arial" charset="0"/>
              </a:rPr>
              <a:t>Za pretvorbo projekcijske v afino rekonstrukcijo velja:</a:t>
            </a:r>
          </a:p>
          <a:p>
            <a:pPr eaLnBrk="1" hangingPunct="1">
              <a:spcBef>
                <a:spcPts val="600"/>
              </a:spcBef>
              <a:defRPr/>
            </a:pPr>
            <a:endParaRPr lang="sl-SI" dirty="0">
              <a:solidFill>
                <a:schemeClr val="tx2"/>
              </a:solidFill>
              <a:latin typeface="Arial" charset="0"/>
              <a:cs typeface="Arial" charset="0"/>
            </a:endParaRPr>
          </a:p>
          <a:p>
            <a:pPr marL="342900" indent="-342900" eaLnBrk="1" hangingPunct="1">
              <a:spcBef>
                <a:spcPts val="600"/>
              </a:spcBef>
              <a:buFont typeface="+mj-lt"/>
              <a:buAutoNum type="arabicPeriod" startAt="5"/>
              <a:defRPr/>
            </a:pPr>
            <a:r>
              <a:rPr lang="sl-SI" dirty="0">
                <a:solidFill>
                  <a:schemeClr val="tx2"/>
                </a:solidFill>
                <a:latin typeface="Arial" charset="0"/>
                <a:cs typeface="Arial" charset="0"/>
              </a:rPr>
              <a:t>Afina rekonstrukcija zadostuje pri ugotavljanju vzporednosti, središč in težišč</a:t>
            </a:r>
          </a:p>
          <a:p>
            <a:pPr marL="342900" indent="-342900" eaLnBrk="1" hangingPunct="1">
              <a:spcBef>
                <a:spcPts val="600"/>
              </a:spcBef>
              <a:buFont typeface="+mj-lt"/>
              <a:buAutoNum type="arabicPeriod" startAt="5"/>
              <a:defRPr/>
            </a:pPr>
            <a:r>
              <a:rPr lang="sl-SI" dirty="0">
                <a:solidFill>
                  <a:schemeClr val="tx2"/>
                </a:solidFill>
                <a:latin typeface="Arial" charset="0"/>
                <a:cs typeface="Arial" charset="0"/>
              </a:rPr>
              <a:t>Zaradi šumnih slik je včasih težko najti pravo globino ponornih točk (koordinata </a:t>
            </a:r>
            <a:r>
              <a:rPr lang="sl-SI" i="1" dirty="0">
                <a:solidFill>
                  <a:schemeClr val="tx2"/>
                </a:solidFill>
                <a:latin typeface="Arial" charset="0"/>
                <a:cs typeface="Arial" charset="0"/>
              </a:rPr>
              <a:t>z</a:t>
            </a:r>
            <a:r>
              <a:rPr lang="sl-SI" dirty="0">
                <a:solidFill>
                  <a:schemeClr val="tx2"/>
                </a:solidFill>
                <a:latin typeface="Arial" charset="0"/>
                <a:cs typeface="Arial" charset="0"/>
              </a:rPr>
              <a:t>). V takšnem primeru si pomagamo z dvema pogledoma, tako da pri določanju korespondence točk in nato njihove globine izkoristimo </a:t>
            </a:r>
            <a:r>
              <a:rPr lang="sl-SI" dirty="0" err="1">
                <a:solidFill>
                  <a:schemeClr val="tx2"/>
                </a:solidFill>
                <a:latin typeface="Arial" charset="0"/>
                <a:cs typeface="Arial" charset="0"/>
              </a:rPr>
              <a:t>epipolarno</a:t>
            </a:r>
            <a:r>
              <a:rPr lang="sl-SI" dirty="0">
                <a:solidFill>
                  <a:schemeClr val="tx2"/>
                </a:solidFill>
                <a:latin typeface="Arial" charset="0"/>
                <a:cs typeface="Arial" charset="0"/>
              </a:rPr>
              <a:t> omejitev.	</a:t>
            </a:r>
            <a:r>
              <a:rPr lang="sl-SI" b="1" dirty="0">
                <a:solidFill>
                  <a:schemeClr val="tx2"/>
                </a:solidFill>
                <a:latin typeface="Arial" charset="0"/>
                <a:cs typeface="Arial" charset="0"/>
              </a:rPr>
              <a:t> </a:t>
            </a:r>
            <a:endParaRPr lang="sl-SI" dirty="0">
              <a:solidFill>
                <a:schemeClr val="tx2"/>
              </a:solidFill>
              <a:latin typeface="Arial" charset="0"/>
              <a:cs typeface="Arial" charset="0"/>
            </a:endParaRPr>
          </a:p>
        </p:txBody>
      </p:sp>
      <p:sp>
        <p:nvSpPr>
          <p:cNvPr id="357380"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CC3E5FF-7D60-4F81-B626-205D0E5131A7}" type="slidenum">
              <a:rPr lang="en-US" altLang="en-US" sz="1400" smtClean="0"/>
              <a:pPr>
                <a:spcBef>
                  <a:spcPct val="0"/>
                </a:spcBef>
                <a:buFontTx/>
                <a:buNone/>
              </a:pPr>
              <a:t>177</a:t>
            </a:fld>
            <a:endParaRPr lang="en-US" altLang="en-US" sz="1400"/>
          </a:p>
        </p:txBody>
      </p:sp>
      <p:sp>
        <p:nvSpPr>
          <p:cNvPr id="357381"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57382" name="Rectangle 2"/>
          <p:cNvSpPr txBox="1">
            <a:spLocks noChangeArrowheads="1"/>
          </p:cNvSpPr>
          <p:nvPr/>
        </p:nvSpPr>
        <p:spPr bwMode="auto">
          <a:xfrm>
            <a:off x="0" y="260350"/>
            <a:ext cx="9144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PREHOD OD PROJEKCIJSKE K AFINI REKONSTRUKCIJI (2)</a:t>
            </a:r>
            <a:endParaRPr lang="en-GB" altLang="en-US" sz="2000">
              <a:solidFill>
                <a:schemeClr val="tx2"/>
              </a:solidFill>
            </a:endParaRPr>
          </a:p>
        </p:txBody>
      </p:sp>
      <p:pic>
        <p:nvPicPr>
          <p:cNvPr id="357383" name="Slika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22375" y="1474788"/>
            <a:ext cx="16764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Slika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38250" y="4011613"/>
            <a:ext cx="43275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par>
                          <p:cTn id="8" fill="hold" nodeType="afterGroup">
                            <p:stCondLst>
                              <p:cond delay="2000"/>
                            </p:stCondLst>
                            <p:childTnLst>
                              <p:par>
                                <p:cTn id="9" presetID="2" presetClass="entr" presetSubtype="8" fill="hold" nodeType="afterEffect">
                                  <p:stCondLst>
                                    <p:cond delay="500"/>
                                  </p:stCondLst>
                                  <p:childTnLst>
                                    <p:set>
                                      <p:cBhvr>
                                        <p:cTn id="10" dur="1" fill="hold">
                                          <p:stCondLst>
                                            <p:cond delay="0"/>
                                          </p:stCondLst>
                                        </p:cTn>
                                        <p:tgtEl>
                                          <p:spTgt spid="2">
                                            <p:txEl>
                                              <p:pRg st="6" end="6"/>
                                            </p:txEl>
                                          </p:spTgt>
                                        </p:tgtEl>
                                        <p:attrNameLst>
                                          <p:attrName>style.visibility</p:attrName>
                                        </p:attrNameLst>
                                      </p:cBhvr>
                                      <p:to>
                                        <p:strVal val="visible"/>
                                      </p:to>
                                    </p:set>
                                    <p:anim calcmode="lin" valueType="num">
                                      <p:cBhvr additive="base">
                                        <p:cTn id="11"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nodeType="clickEffect">
                                  <p:stCondLst>
                                    <p:cond delay="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par>
                          <p:cTn id="18" fill="hold" nodeType="afterGroup">
                            <p:stCondLst>
                              <p:cond delay="500"/>
                            </p:stCondLst>
                            <p:childTnLst>
                              <p:par>
                                <p:cTn id="19" presetID="2" presetClass="entr" presetSubtype="4" fill="hold" nodeType="afterEffect">
                                  <p:stCondLst>
                                    <p:cond delay="500"/>
                                  </p:stCondLst>
                                  <p:childTnLst>
                                    <p:set>
                                      <p:cBhvr>
                                        <p:cTn id="20" dur="1" fill="hold">
                                          <p:stCondLst>
                                            <p:cond delay="0"/>
                                          </p:stCondLst>
                                        </p:cTn>
                                        <p:tgtEl>
                                          <p:spTgt spid="2">
                                            <p:txEl>
                                              <p:pRg st="7" end="7"/>
                                            </p:txEl>
                                          </p:spTgt>
                                        </p:tgtEl>
                                        <p:attrNameLst>
                                          <p:attrName>style.visibility</p:attrName>
                                        </p:attrNameLst>
                                      </p:cBhvr>
                                      <p:to>
                                        <p:strVal val="visible"/>
                                      </p:to>
                                    </p:set>
                                    <p:anim calcmode="lin" valueType="num">
                                      <p:cBhvr additive="base">
                                        <p:cTn id="2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par>
                          <p:cTn id="23" fill="hold" nodeType="afterGroup">
                            <p:stCondLst>
                              <p:cond delay="1500"/>
                            </p:stCondLst>
                            <p:childTnLst>
                              <p:par>
                                <p:cTn id="24" presetID="2" presetClass="entr" presetSubtype="4" fill="hold" nodeType="afterEffect">
                                  <p:stCondLst>
                                    <p:cond delay="50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500"/>
                                  </p:stCondLst>
                                  <p:childTnLst>
                                    <p:set>
                                      <p:cBhvr>
                                        <p:cTn id="29" dur="1" fill="hold">
                                          <p:stCondLst>
                                            <p:cond delay="0"/>
                                          </p:stCondLst>
                                        </p:cTn>
                                        <p:tgtEl>
                                          <p:spTgt spid="2">
                                            <p:txEl>
                                              <p:pRg st="9" end="9"/>
                                            </p:txEl>
                                          </p:spTgt>
                                        </p:tgtEl>
                                        <p:attrNameLst>
                                          <p:attrName>style.visibility</p:attrName>
                                        </p:attrNameLst>
                                      </p:cBhvr>
                                      <p:to>
                                        <p:strVal val="visible"/>
                                      </p:to>
                                    </p:set>
                                    <p:anim calcmode="lin" valueType="num">
                                      <p:cBhvr additive="base">
                                        <p:cTn id="30"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
                                            <p:txEl>
                                              <p:pRg st="9" end="9"/>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500"/>
                                  </p:stCondLst>
                                  <p:childTnLst>
                                    <p:set>
                                      <p:cBhvr>
                                        <p:cTn id="33" dur="1" fill="hold">
                                          <p:stCondLst>
                                            <p:cond delay="0"/>
                                          </p:stCondLst>
                                        </p:cTn>
                                        <p:tgtEl>
                                          <p:spTgt spid="2">
                                            <p:txEl>
                                              <p:pRg st="10" end="10"/>
                                            </p:txEl>
                                          </p:spTgt>
                                        </p:tgtEl>
                                        <p:attrNameLst>
                                          <p:attrName>style.visibility</p:attrName>
                                        </p:attrNameLst>
                                      </p:cBhvr>
                                      <p:to>
                                        <p:strVal val="visible"/>
                                      </p:to>
                                    </p:set>
                                    <p:anim calcmode="lin" valueType="num">
                                      <p:cBhvr additive="base">
                                        <p:cTn id="34"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90A64B5-6E75-452A-92E9-BB09AB2A8B3F}" type="slidenum">
              <a:rPr lang="en-US" altLang="en-US" sz="1400" smtClean="0"/>
              <a:pPr>
                <a:spcBef>
                  <a:spcPct val="0"/>
                </a:spcBef>
                <a:buFontTx/>
                <a:buNone/>
              </a:pPr>
              <a:t>178</a:t>
            </a:fld>
            <a:endParaRPr lang="en-US" altLang="en-US" sz="1400"/>
          </a:p>
        </p:txBody>
      </p:sp>
      <p:sp>
        <p:nvSpPr>
          <p:cNvPr id="359427"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59428" name="Rectangle 2"/>
          <p:cNvSpPr txBox="1">
            <a:spLocks noChangeArrowheads="1"/>
          </p:cNvSpPr>
          <p:nvPr/>
        </p:nvSpPr>
        <p:spPr bwMode="auto">
          <a:xfrm>
            <a:off x="0" y="331788"/>
            <a:ext cx="91440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Primer pretvorbe v afino rekonstrukcijo</a:t>
            </a:r>
            <a:endParaRPr lang="en-GB" altLang="en-US" sz="2000">
              <a:solidFill>
                <a:schemeClr val="tx2"/>
              </a:solidFill>
            </a:endParaRPr>
          </a:p>
        </p:txBody>
      </p:sp>
      <p:pic>
        <p:nvPicPr>
          <p:cNvPr id="359429" name="Picture 3" descr="fig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6338" y="3522663"/>
            <a:ext cx="3903662"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9430" name="Picture 4" descr="fig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3775" y="1306513"/>
            <a:ext cx="21923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9431" name="Picture 5" descr="fig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0775" y="1293813"/>
            <a:ext cx="2211388" cy="165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9432" name="Picture 6" descr="fig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1050" y="1306513"/>
            <a:ext cx="2182813"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9433" name="Picture 7" descr="fig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2438" y="4670425"/>
            <a:ext cx="3497262" cy="110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ljeZBesedilom 1"/>
          <p:cNvSpPr txBox="1"/>
          <p:nvPr/>
        </p:nvSpPr>
        <p:spPr>
          <a:xfrm>
            <a:off x="684213" y="1125538"/>
            <a:ext cx="8135937" cy="4722812"/>
          </a:xfrm>
          <a:prstGeom prst="rect">
            <a:avLst/>
          </a:prstGeom>
          <a:noFill/>
        </p:spPr>
        <p:txBody>
          <a:bodyPr>
            <a:spAutoFit/>
          </a:bodyPr>
          <a:lstStyle/>
          <a:p>
            <a:pPr marL="342900" indent="-342900" eaLnBrk="1" hangingPunct="1">
              <a:buFont typeface="+mj-lt"/>
              <a:buAutoNum type="arabicPeriod"/>
              <a:defRPr/>
            </a:pPr>
            <a:r>
              <a:rPr lang="sl-SI" dirty="0">
                <a:latin typeface="Arial" charset="0"/>
                <a:cs typeface="Arial" charset="0"/>
              </a:rPr>
              <a:t>Za prehod od afine k metrični oz. evklidski rekonstrukciji se običajno uporablja pristop s t. i. </a:t>
            </a:r>
            <a:r>
              <a:rPr lang="sl-SI" dirty="0">
                <a:solidFill>
                  <a:srgbClr val="0000FF"/>
                </a:solidFill>
                <a:latin typeface="Arial" charset="0"/>
                <a:cs typeface="Arial" charset="0"/>
              </a:rPr>
              <a:t>absolutno stožnico (</a:t>
            </a:r>
            <a:r>
              <a:rPr lang="sl-SI" i="1" dirty="0">
                <a:solidFill>
                  <a:srgbClr val="0000FF"/>
                </a:solidFill>
                <a:latin typeface="Arial" charset="0"/>
                <a:cs typeface="Arial" charset="0"/>
              </a:rPr>
              <a:t>absolute </a:t>
            </a:r>
            <a:r>
              <a:rPr lang="sl-SI" i="1" dirty="0" err="1">
                <a:solidFill>
                  <a:srgbClr val="0000FF"/>
                </a:solidFill>
                <a:latin typeface="Arial" charset="0"/>
                <a:cs typeface="Arial" charset="0"/>
              </a:rPr>
              <a:t>conic</a:t>
            </a:r>
            <a:r>
              <a:rPr lang="sl-SI" dirty="0">
                <a:solidFill>
                  <a:srgbClr val="0000FF"/>
                </a:solidFill>
                <a:latin typeface="Arial" charset="0"/>
                <a:cs typeface="Arial" charset="0"/>
              </a:rPr>
              <a:t>)</a:t>
            </a:r>
            <a:r>
              <a:rPr lang="sl-SI" dirty="0">
                <a:latin typeface="Arial" charset="0"/>
                <a:cs typeface="Arial" charset="0"/>
              </a:rPr>
              <a:t>.</a:t>
            </a:r>
          </a:p>
          <a:p>
            <a:pPr marL="342900" indent="-342900" eaLnBrk="1" hangingPunct="1">
              <a:spcBef>
                <a:spcPts val="600"/>
              </a:spcBef>
              <a:buFont typeface="+mj-lt"/>
              <a:buAutoNum type="arabicPeriod"/>
              <a:defRPr/>
            </a:pPr>
            <a:r>
              <a:rPr lang="sl-SI" dirty="0">
                <a:latin typeface="Arial" charset="0"/>
                <a:cs typeface="Arial" charset="0"/>
              </a:rPr>
              <a:t>Absolutna stožnica </a:t>
            </a:r>
            <a:r>
              <a:rPr lang="de-DE" dirty="0">
                <a:solidFill>
                  <a:schemeClr val="tx2"/>
                </a:solidFill>
                <a:latin typeface="Symbol" pitchFamily="18" charset="2"/>
                <a:cs typeface="Arial" charset="0"/>
                <a:sym typeface="Symbol"/>
              </a:rPr>
              <a:t></a:t>
            </a:r>
            <a:r>
              <a:rPr lang="de-DE" baseline="-25000" dirty="0">
                <a:solidFill>
                  <a:schemeClr val="tx2"/>
                </a:solidFill>
                <a:latin typeface="Arial" charset="0"/>
                <a:cs typeface="Arial" charset="0"/>
              </a:rPr>
              <a:t>∞</a:t>
            </a:r>
            <a:r>
              <a:rPr lang="sl-SI" baseline="-25000" dirty="0">
                <a:solidFill>
                  <a:schemeClr val="tx2"/>
                </a:solidFill>
                <a:latin typeface="Arial" charset="0"/>
                <a:cs typeface="Arial" charset="0"/>
              </a:rPr>
              <a:t> </a:t>
            </a:r>
            <a:r>
              <a:rPr lang="sl-SI" dirty="0">
                <a:latin typeface="Arial" charset="0"/>
                <a:cs typeface="Arial" charset="0"/>
              </a:rPr>
              <a:t>leži na ravnini v neskončnosti, vendar je na slikah ni mogoče videti kot posebno strukturo (je le navidezen element).</a:t>
            </a:r>
          </a:p>
          <a:p>
            <a:pPr marL="342900" indent="-342900" eaLnBrk="1" hangingPunct="1">
              <a:spcBef>
                <a:spcPts val="600"/>
              </a:spcBef>
              <a:buFont typeface="+mj-lt"/>
              <a:buAutoNum type="arabicPeriod"/>
              <a:defRPr/>
            </a:pPr>
            <a:r>
              <a:rPr lang="sl-SI" dirty="0">
                <a:latin typeface="Arial" charset="0"/>
                <a:cs typeface="Arial" charset="0"/>
              </a:rPr>
              <a:t>Za točke na absolutni stožnici velja:</a:t>
            </a:r>
          </a:p>
          <a:p>
            <a:pPr eaLnBrk="1" hangingPunct="1">
              <a:spcBef>
                <a:spcPts val="600"/>
              </a:spcBef>
              <a:defRPr/>
            </a:pPr>
            <a:r>
              <a:rPr lang="sl-SI" dirty="0">
                <a:latin typeface="Arial" charset="0"/>
                <a:cs typeface="Arial" charset="0"/>
              </a:rPr>
              <a:t>	</a:t>
            </a:r>
            <a:r>
              <a:rPr lang="sl-SI" i="1" dirty="0">
                <a:latin typeface="Arial" charset="0"/>
                <a:cs typeface="Arial" charset="0"/>
              </a:rPr>
              <a:t>x</a:t>
            </a:r>
            <a:r>
              <a:rPr lang="sl-SI" baseline="30000" dirty="0">
                <a:latin typeface="Arial" charset="0"/>
                <a:cs typeface="Arial" charset="0"/>
              </a:rPr>
              <a:t>2</a:t>
            </a:r>
            <a:r>
              <a:rPr lang="sl-SI" dirty="0">
                <a:latin typeface="Arial" charset="0"/>
                <a:cs typeface="Arial" charset="0"/>
              </a:rPr>
              <a:t> + </a:t>
            </a:r>
            <a:r>
              <a:rPr lang="sl-SI" i="1" dirty="0">
                <a:latin typeface="Arial" charset="0"/>
                <a:cs typeface="Arial" charset="0"/>
              </a:rPr>
              <a:t>y</a:t>
            </a:r>
            <a:r>
              <a:rPr lang="sl-SI" baseline="30000" dirty="0">
                <a:latin typeface="Arial" charset="0"/>
                <a:cs typeface="Arial" charset="0"/>
              </a:rPr>
              <a:t>2</a:t>
            </a:r>
            <a:r>
              <a:rPr lang="sl-SI" dirty="0">
                <a:latin typeface="Arial" charset="0"/>
                <a:cs typeface="Arial" charset="0"/>
              </a:rPr>
              <a:t> + </a:t>
            </a:r>
            <a:r>
              <a:rPr lang="sl-SI" i="1" dirty="0">
                <a:latin typeface="Arial" charset="0"/>
                <a:cs typeface="Arial" charset="0"/>
              </a:rPr>
              <a:t>z</a:t>
            </a:r>
            <a:r>
              <a:rPr lang="sl-SI" baseline="30000" dirty="0">
                <a:latin typeface="Arial" charset="0"/>
                <a:cs typeface="Arial" charset="0"/>
              </a:rPr>
              <a:t>2</a:t>
            </a:r>
            <a:r>
              <a:rPr lang="sl-SI" dirty="0">
                <a:latin typeface="Arial" charset="0"/>
                <a:cs typeface="Arial" charset="0"/>
              </a:rPr>
              <a:t> = 0.</a:t>
            </a:r>
          </a:p>
          <a:p>
            <a:pPr marL="342900" indent="-342900" eaLnBrk="1" hangingPunct="1">
              <a:spcBef>
                <a:spcPts val="600"/>
              </a:spcBef>
              <a:buFont typeface="+mj-lt"/>
              <a:buAutoNum type="arabicPeriod" startAt="4"/>
              <a:defRPr/>
            </a:pPr>
            <a:r>
              <a:rPr lang="sl-SI" dirty="0">
                <a:latin typeface="Arial" charset="0"/>
                <a:cs typeface="Arial" charset="0"/>
              </a:rPr>
              <a:t>Za poljubno točko </a:t>
            </a:r>
            <a:r>
              <a:rPr lang="sl-SI" b="1" dirty="0">
                <a:latin typeface="Arial" charset="0"/>
                <a:cs typeface="Arial" charset="0"/>
              </a:rPr>
              <a:t>p</a:t>
            </a:r>
            <a:r>
              <a:rPr lang="sl-SI" dirty="0">
                <a:latin typeface="Arial" charset="0"/>
                <a:cs typeface="Arial" charset="0"/>
              </a:rPr>
              <a:t> = (</a:t>
            </a:r>
            <a:r>
              <a:rPr lang="sl-SI" i="1" dirty="0">
                <a:latin typeface="Arial" charset="0"/>
                <a:cs typeface="Arial" charset="0"/>
              </a:rPr>
              <a:t>x</a:t>
            </a:r>
            <a:r>
              <a:rPr lang="sl-SI" dirty="0">
                <a:latin typeface="Arial" charset="0"/>
                <a:cs typeface="Arial" charset="0"/>
              </a:rPr>
              <a:t>, </a:t>
            </a:r>
            <a:r>
              <a:rPr lang="sl-SI" i="1" dirty="0">
                <a:latin typeface="Arial" charset="0"/>
                <a:cs typeface="Arial" charset="0"/>
              </a:rPr>
              <a:t>y</a:t>
            </a:r>
            <a:r>
              <a:rPr lang="sl-SI" dirty="0">
                <a:latin typeface="Arial" charset="0"/>
                <a:cs typeface="Arial" charset="0"/>
              </a:rPr>
              <a:t>, </a:t>
            </a:r>
            <a:r>
              <a:rPr lang="sl-SI" i="1" dirty="0">
                <a:latin typeface="Arial" charset="0"/>
                <a:cs typeface="Arial" charset="0"/>
              </a:rPr>
              <a:t>z</a:t>
            </a:r>
            <a:r>
              <a:rPr lang="sl-SI" dirty="0">
                <a:latin typeface="Arial" charset="0"/>
                <a:cs typeface="Arial" charset="0"/>
              </a:rPr>
              <a:t>)</a:t>
            </a:r>
            <a:r>
              <a:rPr lang="sl-SI" i="1" baseline="30000" dirty="0">
                <a:latin typeface="Arial" charset="0"/>
                <a:cs typeface="Arial" charset="0"/>
              </a:rPr>
              <a:t>T</a:t>
            </a:r>
            <a:r>
              <a:rPr lang="sl-SI" dirty="0">
                <a:latin typeface="Arial" charset="0"/>
                <a:cs typeface="Arial" charset="0"/>
              </a:rPr>
              <a:t> v neskončnosti in absolutno stožnico velja tudi:</a:t>
            </a:r>
          </a:p>
          <a:p>
            <a:pPr eaLnBrk="1" hangingPunct="1">
              <a:spcBef>
                <a:spcPts val="600"/>
              </a:spcBef>
              <a:defRPr/>
            </a:pPr>
            <a:r>
              <a:rPr lang="sl-SI" dirty="0">
                <a:solidFill>
                  <a:schemeClr val="tx2"/>
                </a:solidFill>
                <a:latin typeface="Arial" charset="0"/>
                <a:cs typeface="Arial" charset="0"/>
              </a:rPr>
              <a:t>	</a:t>
            </a:r>
            <a:r>
              <a:rPr lang="sl-SI" b="1" dirty="0" err="1">
                <a:solidFill>
                  <a:schemeClr val="tx2"/>
                </a:solidFill>
                <a:latin typeface="Arial" charset="0"/>
                <a:cs typeface="Arial" charset="0"/>
              </a:rPr>
              <a:t>p</a:t>
            </a:r>
            <a:r>
              <a:rPr lang="sl-SI" i="1" baseline="30000" dirty="0" err="1">
                <a:solidFill>
                  <a:schemeClr val="tx2"/>
                </a:solidFill>
                <a:latin typeface="Arial" charset="0"/>
                <a:cs typeface="Arial" charset="0"/>
              </a:rPr>
              <a:t>T</a:t>
            </a:r>
            <a:r>
              <a:rPr lang="de-DE" dirty="0">
                <a:solidFill>
                  <a:schemeClr val="tx2"/>
                </a:solidFill>
                <a:latin typeface="Symbol" pitchFamily="18" charset="2"/>
                <a:cs typeface="Arial" charset="0"/>
                <a:sym typeface="Symbol"/>
              </a:rPr>
              <a:t></a:t>
            </a:r>
            <a:r>
              <a:rPr lang="de-DE" baseline="-25000" dirty="0">
                <a:solidFill>
                  <a:schemeClr val="tx2"/>
                </a:solidFill>
                <a:latin typeface="Arial" charset="0"/>
                <a:cs typeface="Arial" charset="0"/>
              </a:rPr>
              <a:t>∞</a:t>
            </a:r>
            <a:r>
              <a:rPr lang="sl-SI" b="1" dirty="0">
                <a:solidFill>
                  <a:schemeClr val="tx2"/>
                </a:solidFill>
                <a:latin typeface="Arial" charset="0"/>
                <a:cs typeface="Arial" charset="0"/>
              </a:rPr>
              <a:t>p</a:t>
            </a:r>
            <a:r>
              <a:rPr lang="sl-SI" dirty="0">
                <a:solidFill>
                  <a:schemeClr val="tx2"/>
                </a:solidFill>
                <a:latin typeface="Arial" charset="0"/>
                <a:cs typeface="Arial" charset="0"/>
              </a:rPr>
              <a:t> = 0,</a:t>
            </a:r>
          </a:p>
          <a:p>
            <a:pPr marL="357188" eaLnBrk="1" hangingPunct="1">
              <a:spcBef>
                <a:spcPts val="600"/>
              </a:spcBef>
              <a:defRPr/>
            </a:pPr>
            <a:r>
              <a:rPr lang="sl-SI" dirty="0">
                <a:solidFill>
                  <a:schemeClr val="tx2"/>
                </a:solidFill>
                <a:latin typeface="Arial" charset="0"/>
                <a:cs typeface="Arial" charset="0"/>
              </a:rPr>
              <a:t>iz česar sledi, da absolutno stožnico zapišemo v idealnih razmerah kot identiteto:</a:t>
            </a:r>
          </a:p>
          <a:p>
            <a:pPr marL="342900" indent="-342900" eaLnBrk="1" hangingPunct="1">
              <a:spcBef>
                <a:spcPts val="600"/>
              </a:spcBef>
              <a:buFont typeface="+mj-lt"/>
              <a:buAutoNum type="arabicPeriod" startAt="5"/>
              <a:defRPr/>
            </a:pPr>
            <a:r>
              <a:rPr lang="sl-SI" dirty="0">
                <a:solidFill>
                  <a:schemeClr val="tx2"/>
                </a:solidFill>
                <a:latin typeface="Arial" charset="0"/>
                <a:cs typeface="Arial" charset="0"/>
              </a:rPr>
              <a:t>Za absolutno stožnico velja:</a:t>
            </a:r>
          </a:p>
          <a:p>
            <a:pPr marL="798513" lvl="1" indent="-342900" eaLnBrk="1" hangingPunct="1">
              <a:spcBef>
                <a:spcPts val="0"/>
              </a:spcBef>
              <a:buFont typeface="Arial" pitchFamily="34" charset="0"/>
              <a:buChar char="•"/>
              <a:defRPr/>
            </a:pPr>
            <a:r>
              <a:rPr lang="sl-SI" sz="1600" dirty="0">
                <a:solidFill>
                  <a:schemeClr val="tx2"/>
                </a:solidFill>
                <a:latin typeface="Arial" charset="0"/>
                <a:cs typeface="Arial" charset="0"/>
              </a:rPr>
              <a:t>vse sfere sekajo ravnino v neskončnosti v obliki absolutne stožnice</a:t>
            </a:r>
          </a:p>
          <a:p>
            <a:pPr marL="798513" lvl="1" indent="-342900" eaLnBrk="1" hangingPunct="1">
              <a:spcBef>
                <a:spcPts val="0"/>
              </a:spcBef>
              <a:buFont typeface="Arial" pitchFamily="34" charset="0"/>
              <a:buChar char="•"/>
              <a:defRPr/>
            </a:pPr>
            <a:r>
              <a:rPr lang="sl-SI" sz="1600" dirty="0">
                <a:solidFill>
                  <a:schemeClr val="tx2"/>
                </a:solidFill>
                <a:latin typeface="Arial" charset="0"/>
                <a:cs typeface="Arial" charset="0"/>
              </a:rPr>
              <a:t>vsi krogi sekajo absolutno stožnico v dveh točkah na ravnini v neskončnosti </a:t>
            </a:r>
          </a:p>
          <a:p>
            <a:pPr eaLnBrk="1" hangingPunct="1">
              <a:defRPr/>
            </a:pPr>
            <a:r>
              <a:rPr lang="sl-SI" dirty="0">
                <a:solidFill>
                  <a:schemeClr val="tx2"/>
                </a:solidFill>
                <a:latin typeface="Arial" charset="0"/>
                <a:cs typeface="Arial" charset="0"/>
              </a:rPr>
              <a:t>	</a:t>
            </a:r>
          </a:p>
        </p:txBody>
      </p:sp>
      <p:sp>
        <p:nvSpPr>
          <p:cNvPr id="361475"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73A26BA-7190-400D-BFAA-D35FFC2D0A8F}" type="slidenum">
              <a:rPr lang="en-US" altLang="en-US" sz="1400" smtClean="0"/>
              <a:pPr>
                <a:spcBef>
                  <a:spcPct val="0"/>
                </a:spcBef>
                <a:buFontTx/>
                <a:buNone/>
              </a:pPr>
              <a:t>179</a:t>
            </a:fld>
            <a:endParaRPr lang="en-US" altLang="en-US" sz="1400"/>
          </a:p>
        </p:txBody>
      </p:sp>
      <p:sp>
        <p:nvSpPr>
          <p:cNvPr id="361476"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61477" name="Rectangle 2"/>
          <p:cNvSpPr txBox="1">
            <a:spLocks noChangeArrowheads="1"/>
          </p:cNvSpPr>
          <p:nvPr/>
        </p:nvSpPr>
        <p:spPr bwMode="auto">
          <a:xfrm>
            <a:off x="0" y="260350"/>
            <a:ext cx="9144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PREHOD OD AFINE K METRIČNI REKONSTRUKCIJI</a:t>
            </a:r>
            <a:endParaRPr lang="en-GB" altLang="en-US" sz="2000">
              <a:solidFill>
                <a:schemeClr val="tx2"/>
              </a:solidFill>
            </a:endParaRPr>
          </a:p>
        </p:txBody>
      </p:sp>
      <p:pic>
        <p:nvPicPr>
          <p:cNvPr id="361478" name="Slika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49475" y="4352925"/>
            <a:ext cx="8286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ljeZBesedilom 1"/>
          <p:cNvSpPr txBox="1"/>
          <p:nvPr/>
        </p:nvSpPr>
        <p:spPr>
          <a:xfrm>
            <a:off x="684213" y="1125538"/>
            <a:ext cx="8135937" cy="5092700"/>
          </a:xfrm>
          <a:prstGeom prst="rect">
            <a:avLst/>
          </a:prstGeom>
          <a:noFill/>
        </p:spPr>
        <p:txBody>
          <a:bodyPr>
            <a:spAutoFit/>
          </a:bodyPr>
          <a:lstStyle/>
          <a:p>
            <a:pPr marL="342900" indent="-342900" eaLnBrk="1" hangingPunct="1">
              <a:buFont typeface="+mj-lt"/>
              <a:buAutoNum type="arabicPeriod"/>
              <a:defRPr/>
            </a:pPr>
            <a:r>
              <a:rPr lang="sl-SI" dirty="0">
                <a:latin typeface="Arial" charset="0"/>
                <a:cs typeface="Arial" charset="0"/>
              </a:rPr>
              <a:t>Označimo projekcijo absolutne stožnice na slikovno ravnino v kameri z </a:t>
            </a:r>
            <a:r>
              <a:rPr lang="sl-SI" dirty="0">
                <a:latin typeface="Arial" charset="0"/>
                <a:cs typeface="Arial" charset="0"/>
                <a:sym typeface="Symbol"/>
              </a:rPr>
              <a:t></a:t>
            </a:r>
            <a:r>
              <a:rPr lang="sl-SI" dirty="0">
                <a:latin typeface="Arial" charset="0"/>
                <a:cs typeface="Arial" charset="0"/>
              </a:rPr>
              <a:t>.</a:t>
            </a:r>
          </a:p>
          <a:p>
            <a:pPr marL="342900" indent="-342900" eaLnBrk="1" hangingPunct="1">
              <a:spcBef>
                <a:spcPts val="600"/>
              </a:spcBef>
              <a:buFont typeface="+mj-lt"/>
              <a:buAutoNum type="arabicPeriod"/>
              <a:defRPr/>
            </a:pPr>
            <a:r>
              <a:rPr lang="sl-SI" dirty="0">
                <a:latin typeface="Arial" charset="0"/>
                <a:cs typeface="Arial" charset="0"/>
              </a:rPr>
              <a:t>Dokazano je bilo, da je slika absolutne stožnice povezana s kalibracijsko matriko kamere </a:t>
            </a:r>
            <a:r>
              <a:rPr lang="sl-SI" b="1" dirty="0">
                <a:latin typeface="Arial" charset="0"/>
                <a:cs typeface="Arial" charset="0"/>
              </a:rPr>
              <a:t>K</a:t>
            </a:r>
            <a:r>
              <a:rPr lang="sl-SI" dirty="0">
                <a:latin typeface="Arial" charset="0"/>
                <a:cs typeface="Arial" charset="0"/>
              </a:rPr>
              <a:t>:</a:t>
            </a:r>
          </a:p>
          <a:p>
            <a:pPr eaLnBrk="1" hangingPunct="1">
              <a:spcBef>
                <a:spcPts val="600"/>
              </a:spcBef>
              <a:defRPr/>
            </a:pPr>
            <a:r>
              <a:rPr lang="sl-SI" dirty="0">
                <a:latin typeface="Arial" charset="0"/>
                <a:cs typeface="Arial" charset="0"/>
              </a:rPr>
              <a:t>	</a:t>
            </a:r>
            <a:r>
              <a:rPr lang="sl-SI" dirty="0">
                <a:latin typeface="Arial" charset="0"/>
                <a:cs typeface="Arial" charset="0"/>
                <a:sym typeface="Symbol"/>
              </a:rPr>
              <a:t>  = (</a:t>
            </a:r>
            <a:r>
              <a:rPr lang="sl-SI" b="1" dirty="0">
                <a:latin typeface="Arial" charset="0"/>
                <a:cs typeface="Arial" charset="0"/>
                <a:sym typeface="Symbol"/>
              </a:rPr>
              <a:t>K</a:t>
            </a:r>
            <a:r>
              <a:rPr lang="sl-SI" dirty="0">
                <a:latin typeface="Arial" charset="0"/>
                <a:cs typeface="Arial" charset="0"/>
                <a:sym typeface="Symbol"/>
              </a:rPr>
              <a:t>∙</a:t>
            </a:r>
            <a:r>
              <a:rPr lang="sl-SI" b="1" dirty="0">
                <a:latin typeface="Arial" charset="0"/>
                <a:cs typeface="Arial" charset="0"/>
                <a:sym typeface="Symbol"/>
              </a:rPr>
              <a:t>K</a:t>
            </a:r>
            <a:r>
              <a:rPr lang="sl-SI" i="1" baseline="30000" dirty="0">
                <a:latin typeface="Arial" charset="0"/>
                <a:cs typeface="Arial" charset="0"/>
                <a:sym typeface="Symbol"/>
              </a:rPr>
              <a:t>T</a:t>
            </a:r>
            <a:r>
              <a:rPr lang="sl-SI" dirty="0">
                <a:latin typeface="Arial" charset="0"/>
                <a:cs typeface="Arial" charset="0"/>
                <a:sym typeface="Symbol"/>
              </a:rPr>
              <a:t>)</a:t>
            </a:r>
            <a:r>
              <a:rPr lang="sl-SI" baseline="30000" dirty="0">
                <a:latin typeface="Arial" charset="0"/>
                <a:cs typeface="Arial" charset="0"/>
                <a:sym typeface="Symbol"/>
              </a:rPr>
              <a:t>-1</a:t>
            </a:r>
            <a:endParaRPr lang="sl-SI" baseline="30000" dirty="0">
              <a:latin typeface="Arial" charset="0"/>
              <a:cs typeface="Arial" charset="0"/>
            </a:endParaRPr>
          </a:p>
          <a:p>
            <a:pPr marL="342900" indent="-342900" eaLnBrk="1" hangingPunct="1">
              <a:spcBef>
                <a:spcPts val="600"/>
              </a:spcBef>
              <a:buFont typeface="+mj-lt"/>
              <a:buAutoNum type="arabicPeriod" startAt="3"/>
              <a:defRPr/>
            </a:pPr>
            <a:r>
              <a:rPr lang="sl-SI" dirty="0">
                <a:latin typeface="Arial" charset="0"/>
                <a:cs typeface="Arial" charset="0"/>
              </a:rPr>
              <a:t>Za določanje absolutne stožnice potrebujemo na sceni vsaj 3 kvadrate, ki ležijo v različnih ravninah – ni nujno, da so pravokotne.</a:t>
            </a:r>
            <a:endParaRPr lang="sl-SI" dirty="0">
              <a:solidFill>
                <a:schemeClr val="tx2"/>
              </a:solidFill>
              <a:latin typeface="Arial" charset="0"/>
              <a:cs typeface="Arial" charset="0"/>
            </a:endParaRPr>
          </a:p>
          <a:p>
            <a:pPr marL="342900" indent="-342900" eaLnBrk="1" hangingPunct="1">
              <a:spcBef>
                <a:spcPts val="600"/>
              </a:spcBef>
              <a:buFont typeface="+mj-lt"/>
              <a:buAutoNum type="arabicPeriod" startAt="3"/>
              <a:defRPr/>
            </a:pPr>
            <a:endParaRPr lang="sl-SI" dirty="0">
              <a:solidFill>
                <a:schemeClr val="tx2"/>
              </a:solidFill>
              <a:latin typeface="Arial" charset="0"/>
              <a:cs typeface="Arial" charset="0"/>
            </a:endParaRPr>
          </a:p>
          <a:p>
            <a:pPr marL="342900" indent="-342900" eaLnBrk="1" hangingPunct="1">
              <a:spcBef>
                <a:spcPts val="600"/>
              </a:spcBef>
              <a:buFont typeface="+mj-lt"/>
              <a:buAutoNum type="arabicPeriod" startAt="3"/>
              <a:defRPr/>
            </a:pPr>
            <a:endParaRPr lang="sl-SI" dirty="0">
              <a:solidFill>
                <a:schemeClr val="tx2"/>
              </a:solidFill>
              <a:latin typeface="Arial" charset="0"/>
              <a:cs typeface="Arial" charset="0"/>
            </a:endParaRPr>
          </a:p>
          <a:p>
            <a:pPr marL="342900" indent="-342900" eaLnBrk="1" hangingPunct="1">
              <a:spcBef>
                <a:spcPts val="600"/>
              </a:spcBef>
              <a:buFont typeface="+mj-lt"/>
              <a:buAutoNum type="arabicPeriod" startAt="3"/>
              <a:defRPr/>
            </a:pPr>
            <a:endParaRPr lang="sl-SI" dirty="0">
              <a:solidFill>
                <a:schemeClr val="tx2"/>
              </a:solidFill>
              <a:latin typeface="Arial" charset="0"/>
              <a:cs typeface="Arial" charset="0"/>
            </a:endParaRPr>
          </a:p>
          <a:p>
            <a:pPr marL="342900" indent="-342900" eaLnBrk="1" hangingPunct="1">
              <a:spcBef>
                <a:spcPts val="600"/>
              </a:spcBef>
              <a:buFont typeface="+mj-lt"/>
              <a:buAutoNum type="arabicPeriod" startAt="3"/>
              <a:defRPr/>
            </a:pPr>
            <a:endParaRPr lang="sl-SI" dirty="0">
              <a:solidFill>
                <a:schemeClr val="tx2"/>
              </a:solidFill>
              <a:latin typeface="Arial" charset="0"/>
              <a:cs typeface="Arial" charset="0"/>
            </a:endParaRPr>
          </a:p>
          <a:p>
            <a:pPr eaLnBrk="1" hangingPunct="1">
              <a:spcBef>
                <a:spcPts val="600"/>
              </a:spcBef>
              <a:defRPr/>
            </a:pPr>
            <a:endParaRPr lang="sl-SI" dirty="0">
              <a:solidFill>
                <a:schemeClr val="tx2"/>
              </a:solidFill>
              <a:latin typeface="Arial" charset="0"/>
              <a:cs typeface="Arial" charset="0"/>
            </a:endParaRPr>
          </a:p>
          <a:p>
            <a:pPr marL="342900" indent="-342900" eaLnBrk="1" hangingPunct="1">
              <a:spcBef>
                <a:spcPts val="1200"/>
              </a:spcBef>
              <a:buFont typeface="+mj-lt"/>
              <a:buAutoNum type="arabicPeriod" startAt="4"/>
              <a:defRPr/>
            </a:pPr>
            <a:r>
              <a:rPr lang="sl-SI" dirty="0">
                <a:solidFill>
                  <a:schemeClr val="tx2"/>
                </a:solidFill>
                <a:latin typeface="Arial" charset="0"/>
                <a:cs typeface="Arial" charset="0"/>
              </a:rPr>
              <a:t>Na slikah poiščemo te tri kvadrate in izračunamo </a:t>
            </a:r>
            <a:r>
              <a:rPr lang="sl-SI" dirty="0" err="1">
                <a:solidFill>
                  <a:schemeClr val="tx2"/>
                </a:solidFill>
                <a:latin typeface="Arial" charset="0"/>
                <a:cs typeface="Arial" charset="0"/>
              </a:rPr>
              <a:t>homografijo</a:t>
            </a:r>
            <a:r>
              <a:rPr lang="sl-SI" dirty="0">
                <a:solidFill>
                  <a:schemeClr val="tx2"/>
                </a:solidFill>
                <a:latin typeface="Arial" charset="0"/>
                <a:cs typeface="Arial" charset="0"/>
              </a:rPr>
              <a:t>, ki koordinate oglišč prestavi v točke (0, 0), (0,1), (1,0) in (1,1).</a:t>
            </a:r>
          </a:p>
          <a:p>
            <a:pPr marL="342900" indent="-342900" eaLnBrk="1" hangingPunct="1">
              <a:spcBef>
                <a:spcPts val="600"/>
              </a:spcBef>
              <a:buFont typeface="+mj-lt"/>
              <a:buAutoNum type="arabicPeriod" startAt="4"/>
              <a:defRPr/>
            </a:pPr>
            <a:r>
              <a:rPr lang="sl-SI" dirty="0">
                <a:solidFill>
                  <a:schemeClr val="tx2"/>
                </a:solidFill>
                <a:latin typeface="Arial" charset="0"/>
                <a:cs typeface="Arial" charset="0"/>
              </a:rPr>
              <a:t>S tem sicer premaknemo koordinatni sistem, a ker je to operacija podobnosti, nima vpliva na sliko absolutne stožnice.</a:t>
            </a:r>
            <a:endParaRPr lang="sl-SI" dirty="0">
              <a:latin typeface="Arial" charset="0"/>
              <a:cs typeface="Arial" charset="0"/>
            </a:endParaRPr>
          </a:p>
        </p:txBody>
      </p:sp>
      <p:sp>
        <p:nvSpPr>
          <p:cNvPr id="363523"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5228F50-2B9C-4C39-9E4E-1182BF8DE841}" type="slidenum">
              <a:rPr lang="en-US" altLang="en-US" sz="1400" smtClean="0"/>
              <a:pPr>
                <a:spcBef>
                  <a:spcPct val="0"/>
                </a:spcBef>
                <a:buFontTx/>
                <a:buNone/>
              </a:pPr>
              <a:t>180</a:t>
            </a:fld>
            <a:endParaRPr lang="en-US" altLang="en-US" sz="1400"/>
          </a:p>
        </p:txBody>
      </p:sp>
      <p:sp>
        <p:nvSpPr>
          <p:cNvPr id="363524"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63525" name="Rectangle 2"/>
          <p:cNvSpPr txBox="1">
            <a:spLocks noChangeArrowheads="1"/>
          </p:cNvSpPr>
          <p:nvPr/>
        </p:nvSpPr>
        <p:spPr bwMode="auto">
          <a:xfrm>
            <a:off x="0" y="260350"/>
            <a:ext cx="9144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SLIKA ABSOLUTNE STOŽNICE IN KALIBRACIJSKA MATRIKA</a:t>
            </a:r>
            <a:endParaRPr lang="en-GB" altLang="en-US" sz="2000">
              <a:solidFill>
                <a:schemeClr val="tx2"/>
              </a:solidFill>
            </a:endParaRPr>
          </a:p>
        </p:txBody>
      </p:sp>
      <p:pic>
        <p:nvPicPr>
          <p:cNvPr id="3635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6150" y="3141663"/>
            <a:ext cx="2381250"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ljeZBesedilom 1"/>
          <p:cNvSpPr txBox="1"/>
          <p:nvPr/>
        </p:nvSpPr>
        <p:spPr>
          <a:xfrm>
            <a:off x="684213" y="1125538"/>
            <a:ext cx="8135937" cy="5138737"/>
          </a:xfrm>
          <a:prstGeom prst="rect">
            <a:avLst/>
          </a:prstGeom>
          <a:noFill/>
        </p:spPr>
        <p:txBody>
          <a:bodyPr>
            <a:spAutoFit/>
          </a:bodyPr>
          <a:lstStyle/>
          <a:p>
            <a:pPr marL="342900" indent="-342900" eaLnBrk="1" hangingPunct="1">
              <a:buFont typeface="+mj-lt"/>
              <a:buAutoNum type="arabicPeriod"/>
              <a:defRPr/>
            </a:pPr>
            <a:r>
              <a:rPr lang="sl-SI" dirty="0" err="1">
                <a:latin typeface="Arial" charset="0"/>
                <a:cs typeface="Arial" charset="0"/>
              </a:rPr>
              <a:t>Homografija</a:t>
            </a:r>
            <a:r>
              <a:rPr lang="sl-SI" dirty="0">
                <a:latin typeface="Arial" charset="0"/>
                <a:cs typeface="Arial" charset="0"/>
              </a:rPr>
              <a:t> </a:t>
            </a:r>
            <a:r>
              <a:rPr lang="sl-SI" b="1" dirty="0">
                <a:latin typeface="Arial" charset="0"/>
                <a:cs typeface="Arial" charset="0"/>
              </a:rPr>
              <a:t>H</a:t>
            </a:r>
            <a:r>
              <a:rPr lang="sl-SI" dirty="0">
                <a:latin typeface="Arial" charset="0"/>
                <a:cs typeface="Arial" charset="0"/>
              </a:rPr>
              <a:t> preslika </a:t>
            </a:r>
            <a:r>
              <a:rPr lang="sl-SI" dirty="0">
                <a:solidFill>
                  <a:schemeClr val="tx2"/>
                </a:solidFill>
                <a:latin typeface="Arial" charset="0"/>
                <a:cs typeface="Arial" charset="0"/>
              </a:rPr>
              <a:t>koordinate oglišč kvadratov v točke (0, 0), (0,1), (1,0) in (1,1).</a:t>
            </a:r>
          </a:p>
          <a:p>
            <a:pPr marL="342900" indent="-342900" eaLnBrk="1" hangingPunct="1">
              <a:buFont typeface="+mj-lt"/>
              <a:buAutoNum type="arabicPeriod"/>
              <a:defRPr/>
            </a:pPr>
            <a:r>
              <a:rPr lang="sl-SI" dirty="0" err="1">
                <a:latin typeface="Arial" charset="0"/>
                <a:cs typeface="Arial" charset="0"/>
              </a:rPr>
              <a:t>Homografijo</a:t>
            </a:r>
            <a:r>
              <a:rPr lang="sl-SI" dirty="0">
                <a:latin typeface="Arial" charset="0"/>
                <a:cs typeface="Arial" charset="0"/>
              </a:rPr>
              <a:t> zapišemo kot matriko s tremi stolpci </a:t>
            </a:r>
            <a:r>
              <a:rPr lang="sl-SI" b="1" dirty="0">
                <a:latin typeface="Arial" charset="0"/>
                <a:cs typeface="Arial" charset="0"/>
              </a:rPr>
              <a:t>h</a:t>
            </a:r>
            <a:r>
              <a:rPr lang="sl-SI" i="1" baseline="-25000" dirty="0">
                <a:latin typeface="Arial" charset="0"/>
                <a:cs typeface="Arial" charset="0"/>
              </a:rPr>
              <a:t>i</a:t>
            </a:r>
            <a:r>
              <a:rPr lang="sl-SI" dirty="0">
                <a:latin typeface="Arial" charset="0"/>
                <a:cs typeface="Arial" charset="0"/>
              </a:rPr>
              <a:t>:</a:t>
            </a:r>
          </a:p>
          <a:p>
            <a:pPr eaLnBrk="1" hangingPunct="1">
              <a:defRPr/>
            </a:pPr>
            <a:r>
              <a:rPr lang="sl-SI" dirty="0">
                <a:latin typeface="Arial" charset="0"/>
                <a:cs typeface="Arial" charset="0"/>
              </a:rPr>
              <a:t>	</a:t>
            </a:r>
            <a:r>
              <a:rPr lang="sl-SI" b="1" dirty="0">
                <a:latin typeface="Arial" charset="0"/>
                <a:cs typeface="Arial" charset="0"/>
              </a:rPr>
              <a:t>H</a:t>
            </a:r>
            <a:r>
              <a:rPr lang="sl-SI" dirty="0">
                <a:latin typeface="Arial" charset="0"/>
                <a:cs typeface="Arial" charset="0"/>
              </a:rPr>
              <a:t> = [</a:t>
            </a:r>
            <a:r>
              <a:rPr lang="sl-SI" b="1" dirty="0">
                <a:latin typeface="Arial" charset="0"/>
                <a:cs typeface="Arial" charset="0"/>
              </a:rPr>
              <a:t>h</a:t>
            </a:r>
            <a:r>
              <a:rPr lang="sl-SI" baseline="-25000" dirty="0">
                <a:latin typeface="Arial" charset="0"/>
                <a:cs typeface="Arial" charset="0"/>
              </a:rPr>
              <a:t>1</a:t>
            </a:r>
            <a:r>
              <a:rPr lang="sl-SI" dirty="0">
                <a:latin typeface="Arial" charset="0"/>
                <a:cs typeface="Arial" charset="0"/>
              </a:rPr>
              <a:t>, </a:t>
            </a:r>
            <a:r>
              <a:rPr lang="sl-SI" b="1" dirty="0">
                <a:latin typeface="Arial" charset="0"/>
                <a:cs typeface="Arial" charset="0"/>
              </a:rPr>
              <a:t>h</a:t>
            </a:r>
            <a:r>
              <a:rPr lang="sl-SI" baseline="-25000" dirty="0">
                <a:latin typeface="Arial" charset="0"/>
                <a:cs typeface="Arial" charset="0"/>
              </a:rPr>
              <a:t>2</a:t>
            </a:r>
            <a:r>
              <a:rPr lang="sl-SI" dirty="0">
                <a:latin typeface="Arial" charset="0"/>
                <a:cs typeface="Arial" charset="0"/>
              </a:rPr>
              <a:t>, </a:t>
            </a:r>
            <a:r>
              <a:rPr lang="sl-SI" b="1" dirty="0">
                <a:latin typeface="Arial" charset="0"/>
                <a:cs typeface="Arial" charset="0"/>
              </a:rPr>
              <a:t>h</a:t>
            </a:r>
            <a:r>
              <a:rPr lang="sl-SI" baseline="-25000" dirty="0">
                <a:latin typeface="Arial" charset="0"/>
                <a:cs typeface="Arial" charset="0"/>
              </a:rPr>
              <a:t>3</a:t>
            </a:r>
            <a:r>
              <a:rPr lang="sl-SI" dirty="0">
                <a:latin typeface="Arial" charset="0"/>
                <a:cs typeface="Arial" charset="0"/>
              </a:rPr>
              <a:t>]</a:t>
            </a:r>
          </a:p>
          <a:p>
            <a:pPr marL="342900" indent="-342900" eaLnBrk="1" hangingPunct="1">
              <a:buFont typeface="+mj-lt"/>
              <a:buAutoNum type="arabicPeriod" startAt="3"/>
              <a:defRPr/>
            </a:pPr>
            <a:r>
              <a:rPr lang="sl-SI" dirty="0">
                <a:latin typeface="Arial" charset="0"/>
                <a:cs typeface="Arial" charset="0"/>
              </a:rPr>
              <a:t>Za sliko absolutne stožnice </a:t>
            </a:r>
            <a:r>
              <a:rPr lang="sl-SI" dirty="0">
                <a:latin typeface="Arial" charset="0"/>
                <a:cs typeface="Arial" charset="0"/>
                <a:sym typeface="Symbol"/>
              </a:rPr>
              <a:t> velja:</a:t>
            </a:r>
          </a:p>
          <a:p>
            <a:pPr eaLnBrk="1" hangingPunct="1">
              <a:defRPr/>
            </a:pPr>
            <a:r>
              <a:rPr lang="sl-SI" dirty="0">
                <a:latin typeface="Arial" charset="0"/>
                <a:cs typeface="Arial" charset="0"/>
                <a:sym typeface="Symbol"/>
              </a:rPr>
              <a:t>	</a:t>
            </a:r>
            <a:r>
              <a:rPr lang="sl-SI" b="1" dirty="0">
                <a:latin typeface="Arial" charset="0"/>
                <a:cs typeface="Arial" charset="0"/>
                <a:sym typeface="Symbol"/>
              </a:rPr>
              <a:t>h</a:t>
            </a:r>
            <a:r>
              <a:rPr lang="sl-SI" baseline="-25000" dirty="0">
                <a:latin typeface="Arial" charset="0"/>
                <a:cs typeface="Arial" charset="0"/>
                <a:sym typeface="Symbol"/>
              </a:rPr>
              <a:t>1</a:t>
            </a:r>
            <a:r>
              <a:rPr lang="sl-SI" i="1" baseline="30000" dirty="0">
                <a:latin typeface="Arial" charset="0"/>
                <a:cs typeface="Arial" charset="0"/>
                <a:sym typeface="Symbol"/>
              </a:rPr>
              <a:t>T</a:t>
            </a:r>
            <a:r>
              <a:rPr lang="sl-SI" dirty="0">
                <a:latin typeface="Arial" charset="0"/>
                <a:cs typeface="Arial" charset="0"/>
                <a:sym typeface="Symbol"/>
              </a:rPr>
              <a:t> </a:t>
            </a:r>
            <a:r>
              <a:rPr lang="sl-SI" b="1" dirty="0">
                <a:latin typeface="Arial" charset="0"/>
                <a:cs typeface="Arial" charset="0"/>
                <a:sym typeface="Symbol"/>
              </a:rPr>
              <a:t>h</a:t>
            </a:r>
            <a:r>
              <a:rPr lang="sl-SI" baseline="-25000" dirty="0">
                <a:latin typeface="Arial" charset="0"/>
                <a:cs typeface="Arial" charset="0"/>
                <a:sym typeface="Symbol"/>
              </a:rPr>
              <a:t>2</a:t>
            </a:r>
            <a:r>
              <a:rPr lang="sl-SI" dirty="0">
                <a:latin typeface="Arial" charset="0"/>
                <a:cs typeface="Arial" charset="0"/>
                <a:sym typeface="Symbol"/>
              </a:rPr>
              <a:t>= 0  in  </a:t>
            </a:r>
            <a:r>
              <a:rPr lang="sl-SI" b="1" dirty="0">
                <a:latin typeface="Arial" charset="0"/>
                <a:cs typeface="Arial" charset="0"/>
                <a:sym typeface="Symbol"/>
              </a:rPr>
              <a:t>h</a:t>
            </a:r>
            <a:r>
              <a:rPr lang="sl-SI" baseline="-25000" dirty="0">
                <a:latin typeface="Arial" charset="0"/>
                <a:cs typeface="Arial" charset="0"/>
                <a:sym typeface="Symbol"/>
              </a:rPr>
              <a:t>1</a:t>
            </a:r>
            <a:r>
              <a:rPr lang="sl-SI" i="1" baseline="30000" dirty="0">
                <a:latin typeface="Arial" charset="0"/>
                <a:cs typeface="Arial" charset="0"/>
                <a:sym typeface="Symbol"/>
              </a:rPr>
              <a:t>T</a:t>
            </a:r>
            <a:r>
              <a:rPr lang="sl-SI" dirty="0">
                <a:latin typeface="Arial" charset="0"/>
                <a:cs typeface="Arial" charset="0"/>
                <a:sym typeface="Symbol"/>
              </a:rPr>
              <a:t> </a:t>
            </a:r>
            <a:r>
              <a:rPr lang="sl-SI" b="1" dirty="0">
                <a:latin typeface="Arial" charset="0"/>
                <a:cs typeface="Arial" charset="0"/>
                <a:sym typeface="Symbol"/>
              </a:rPr>
              <a:t>h</a:t>
            </a:r>
            <a:r>
              <a:rPr lang="sl-SI" baseline="-25000" dirty="0">
                <a:latin typeface="Arial" charset="0"/>
                <a:cs typeface="Arial" charset="0"/>
                <a:sym typeface="Symbol"/>
              </a:rPr>
              <a:t>1</a:t>
            </a:r>
            <a:r>
              <a:rPr lang="sl-SI" dirty="0">
                <a:latin typeface="Arial" charset="0"/>
                <a:cs typeface="Arial" charset="0"/>
                <a:sym typeface="Symbol"/>
              </a:rPr>
              <a:t>= </a:t>
            </a:r>
            <a:r>
              <a:rPr lang="sl-SI" b="1" dirty="0">
                <a:latin typeface="Arial" charset="0"/>
                <a:cs typeface="Arial" charset="0"/>
                <a:sym typeface="Symbol"/>
              </a:rPr>
              <a:t>h</a:t>
            </a:r>
            <a:r>
              <a:rPr lang="sl-SI" baseline="-25000" dirty="0">
                <a:latin typeface="Arial" charset="0"/>
                <a:cs typeface="Arial" charset="0"/>
                <a:sym typeface="Symbol"/>
              </a:rPr>
              <a:t>2</a:t>
            </a:r>
            <a:r>
              <a:rPr lang="sl-SI" i="1" baseline="30000" dirty="0">
                <a:latin typeface="Arial" charset="0"/>
                <a:cs typeface="Arial" charset="0"/>
                <a:sym typeface="Symbol"/>
              </a:rPr>
              <a:t>T</a:t>
            </a:r>
            <a:r>
              <a:rPr lang="sl-SI" dirty="0">
                <a:latin typeface="Arial" charset="0"/>
                <a:cs typeface="Arial" charset="0"/>
                <a:sym typeface="Symbol"/>
              </a:rPr>
              <a:t> </a:t>
            </a:r>
            <a:r>
              <a:rPr lang="sl-SI" b="1" dirty="0">
                <a:latin typeface="Arial" charset="0"/>
                <a:cs typeface="Arial" charset="0"/>
                <a:sym typeface="Symbol"/>
              </a:rPr>
              <a:t>h</a:t>
            </a:r>
            <a:r>
              <a:rPr lang="sl-SI" baseline="-25000" dirty="0">
                <a:latin typeface="Arial" charset="0"/>
                <a:cs typeface="Arial" charset="0"/>
                <a:sym typeface="Symbol"/>
              </a:rPr>
              <a:t>2</a:t>
            </a:r>
            <a:endParaRPr lang="sl-SI" baseline="30000" dirty="0">
              <a:latin typeface="Arial" charset="0"/>
              <a:cs typeface="Arial" charset="0"/>
            </a:endParaRPr>
          </a:p>
          <a:p>
            <a:pPr marL="342900" indent="-342900" eaLnBrk="1" hangingPunct="1">
              <a:spcBef>
                <a:spcPts val="600"/>
              </a:spcBef>
              <a:buFont typeface="+mj-lt"/>
              <a:buAutoNum type="arabicPeriod" startAt="4"/>
              <a:defRPr/>
            </a:pPr>
            <a:r>
              <a:rPr lang="sl-SI" dirty="0">
                <a:latin typeface="Arial" charset="0"/>
                <a:cs typeface="Arial" charset="0"/>
              </a:rPr>
              <a:t>Iz teh dveh enačb izračunamo sliko absolutne stožnice </a:t>
            </a:r>
            <a:r>
              <a:rPr lang="sl-SI" dirty="0">
                <a:latin typeface="Arial" charset="0"/>
                <a:cs typeface="Arial" charset="0"/>
                <a:sym typeface="Symbol"/>
              </a:rPr>
              <a:t> in iz nje s faktorizacijo določimo kalibracijsko matriko kamere </a:t>
            </a:r>
            <a:r>
              <a:rPr lang="sl-SI" b="1" dirty="0">
                <a:latin typeface="Arial" charset="0"/>
                <a:cs typeface="Arial" charset="0"/>
                <a:sym typeface="Symbol"/>
              </a:rPr>
              <a:t>K</a:t>
            </a:r>
            <a:r>
              <a:rPr lang="sl-SI" dirty="0">
                <a:latin typeface="Arial" charset="0"/>
                <a:cs typeface="Arial" charset="0"/>
                <a:sym typeface="Symbol"/>
              </a:rPr>
              <a:t>.</a:t>
            </a:r>
          </a:p>
          <a:p>
            <a:pPr marL="342900" indent="-342900" eaLnBrk="1" hangingPunct="1">
              <a:spcBef>
                <a:spcPts val="600"/>
              </a:spcBef>
              <a:buFont typeface="+mj-lt"/>
              <a:buAutoNum type="arabicPeriod" startAt="4"/>
              <a:defRPr/>
            </a:pPr>
            <a:r>
              <a:rPr lang="sl-SI" dirty="0">
                <a:latin typeface="Arial" charset="0"/>
                <a:cs typeface="Arial" charset="0"/>
                <a:sym typeface="Symbol"/>
              </a:rPr>
              <a:t>Kadar tak postopek ponovimo za množico slik, ki jih dobimo ob premikih kamere, govorimo o </a:t>
            </a:r>
            <a:r>
              <a:rPr lang="sl-SI" dirty="0" err="1">
                <a:latin typeface="Arial" charset="0"/>
                <a:cs typeface="Arial" charset="0"/>
                <a:sym typeface="Symbol"/>
              </a:rPr>
              <a:t>samokalibraciji</a:t>
            </a:r>
            <a:r>
              <a:rPr lang="sl-SI" dirty="0">
                <a:latin typeface="Arial" charset="0"/>
                <a:cs typeface="Arial" charset="0"/>
                <a:sym typeface="Symbol"/>
              </a:rPr>
              <a:t> kamere (</a:t>
            </a:r>
            <a:r>
              <a:rPr lang="sl-SI" i="1" dirty="0" err="1">
                <a:latin typeface="Arial" charset="0"/>
                <a:cs typeface="Arial" charset="0"/>
                <a:sym typeface="Symbol"/>
              </a:rPr>
              <a:t>self</a:t>
            </a:r>
            <a:r>
              <a:rPr lang="sl-SI" i="1" dirty="0">
                <a:latin typeface="Arial" charset="0"/>
                <a:cs typeface="Arial" charset="0"/>
                <a:sym typeface="Symbol"/>
              </a:rPr>
              <a:t>-</a:t>
            </a:r>
            <a:r>
              <a:rPr lang="sl-SI" i="1" dirty="0" err="1">
                <a:latin typeface="Arial" charset="0"/>
                <a:cs typeface="Arial" charset="0"/>
                <a:sym typeface="Symbol"/>
              </a:rPr>
              <a:t>calibration</a:t>
            </a:r>
            <a:r>
              <a:rPr lang="sl-SI" dirty="0">
                <a:latin typeface="Arial" charset="0"/>
                <a:cs typeface="Arial" charset="0"/>
                <a:sym typeface="Symbol"/>
              </a:rPr>
              <a:t>).</a:t>
            </a:r>
          </a:p>
          <a:p>
            <a:pPr marL="342900" indent="-342900" eaLnBrk="1" hangingPunct="1">
              <a:spcBef>
                <a:spcPts val="600"/>
              </a:spcBef>
              <a:buFont typeface="+mj-lt"/>
              <a:buAutoNum type="arabicPeriod" startAt="4"/>
              <a:defRPr/>
            </a:pPr>
            <a:r>
              <a:rPr lang="sl-SI" dirty="0">
                <a:latin typeface="Arial" charset="0"/>
                <a:cs typeface="Arial" charset="0"/>
              </a:rPr>
              <a:t>Ko imamo na razpolago rezultate afine rekonstrukcije, jih lahko pretvorimo v metrične, če poznamo </a:t>
            </a:r>
            <a:r>
              <a:rPr lang="sl-SI" dirty="0" err="1">
                <a:latin typeface="Arial" charset="0"/>
                <a:cs typeface="Arial" charset="0"/>
              </a:rPr>
              <a:t>homografijo</a:t>
            </a:r>
            <a:endParaRPr lang="sl-SI" dirty="0">
              <a:latin typeface="Arial" charset="0"/>
              <a:cs typeface="Arial" charset="0"/>
            </a:endParaRPr>
          </a:p>
          <a:p>
            <a:pPr marL="342900" indent="-342900" eaLnBrk="1" hangingPunct="1">
              <a:spcBef>
                <a:spcPts val="600"/>
              </a:spcBef>
              <a:buFont typeface="+mj-lt"/>
              <a:buAutoNum type="arabicPeriod" startAt="4"/>
              <a:defRPr/>
            </a:pPr>
            <a:endParaRPr lang="sl-SI" dirty="0">
              <a:latin typeface="Arial" charset="0"/>
              <a:cs typeface="Arial" charset="0"/>
            </a:endParaRPr>
          </a:p>
          <a:p>
            <a:pPr marL="342900" indent="-342900" eaLnBrk="1" hangingPunct="1">
              <a:spcBef>
                <a:spcPts val="600"/>
              </a:spcBef>
              <a:buFont typeface="+mj-lt"/>
              <a:buAutoNum type="arabicPeriod" startAt="4"/>
              <a:defRPr/>
            </a:pPr>
            <a:endParaRPr lang="sl-SI" dirty="0">
              <a:latin typeface="Arial" charset="0"/>
              <a:cs typeface="Arial" charset="0"/>
            </a:endParaRPr>
          </a:p>
          <a:p>
            <a:pPr marL="342900" indent="-342900" eaLnBrk="1" hangingPunct="1">
              <a:spcBef>
                <a:spcPts val="1200"/>
              </a:spcBef>
              <a:buFont typeface="+mj-lt"/>
              <a:buAutoNum type="arabicPeriod" startAt="4"/>
              <a:defRPr/>
            </a:pPr>
            <a:r>
              <a:rPr lang="sl-SI" dirty="0">
                <a:latin typeface="Arial" charset="0"/>
                <a:cs typeface="Arial" charset="0"/>
              </a:rPr>
              <a:t>Končni rezultat:</a:t>
            </a:r>
          </a:p>
          <a:p>
            <a:pPr eaLnBrk="1" hangingPunct="1">
              <a:spcBef>
                <a:spcPts val="600"/>
              </a:spcBef>
              <a:defRPr/>
            </a:pPr>
            <a:r>
              <a:rPr lang="sl-SI" dirty="0">
                <a:latin typeface="Arial" charset="0"/>
                <a:cs typeface="Arial" charset="0"/>
              </a:rPr>
              <a:t>	</a:t>
            </a:r>
          </a:p>
        </p:txBody>
      </p:sp>
      <p:sp>
        <p:nvSpPr>
          <p:cNvPr id="365571"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3B39664-0C7E-4CBA-A4F6-6C341277CACA}" type="slidenum">
              <a:rPr lang="en-US" altLang="en-US" sz="1400" smtClean="0"/>
              <a:pPr>
                <a:spcBef>
                  <a:spcPct val="0"/>
                </a:spcBef>
                <a:buFontTx/>
                <a:buNone/>
              </a:pPr>
              <a:t>181</a:t>
            </a:fld>
            <a:endParaRPr lang="en-US" altLang="en-US" sz="1400"/>
          </a:p>
        </p:txBody>
      </p:sp>
      <p:sp>
        <p:nvSpPr>
          <p:cNvPr id="365572"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65573" name="Rectangle 2"/>
          <p:cNvSpPr txBox="1">
            <a:spLocks noChangeArrowheads="1"/>
          </p:cNvSpPr>
          <p:nvPr/>
        </p:nvSpPr>
        <p:spPr bwMode="auto">
          <a:xfrm>
            <a:off x="0" y="260350"/>
            <a:ext cx="9144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DOLOČANJE SLIKE ABSOLUTNE STOŽNICE</a:t>
            </a:r>
            <a:endParaRPr lang="en-GB" altLang="en-US" sz="2000">
              <a:solidFill>
                <a:schemeClr val="tx2"/>
              </a:solidFill>
            </a:endParaRPr>
          </a:p>
        </p:txBody>
      </p:sp>
      <p:pic>
        <p:nvPicPr>
          <p:cNvPr id="365574" name="Slika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3788" y="4700588"/>
            <a:ext cx="145732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5575" name="Slika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90613" y="5773738"/>
            <a:ext cx="3887787"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91C67C9-825F-48D5-A129-D8B88B08CD88}" type="slidenum">
              <a:rPr lang="en-US" altLang="en-US" sz="1400" smtClean="0"/>
              <a:pPr>
                <a:spcBef>
                  <a:spcPct val="0"/>
                </a:spcBef>
                <a:buFontTx/>
                <a:buNone/>
              </a:pPr>
              <a:t>182</a:t>
            </a:fld>
            <a:endParaRPr lang="en-US" altLang="en-US" sz="1400"/>
          </a:p>
        </p:txBody>
      </p:sp>
      <p:sp>
        <p:nvSpPr>
          <p:cNvPr id="367619" name="Ograda noge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67620" name="Rectangle 2"/>
          <p:cNvSpPr txBox="1">
            <a:spLocks noChangeArrowheads="1"/>
          </p:cNvSpPr>
          <p:nvPr/>
        </p:nvSpPr>
        <p:spPr bwMode="auto">
          <a:xfrm>
            <a:off x="0" y="331788"/>
            <a:ext cx="91440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Primer pretvorbe v metrično rekonstrukcijo</a:t>
            </a:r>
            <a:endParaRPr lang="en-GB" altLang="en-US" sz="2000">
              <a:solidFill>
                <a:schemeClr val="tx2"/>
              </a:solidFill>
            </a:endParaRPr>
          </a:p>
        </p:txBody>
      </p:sp>
      <p:pic>
        <p:nvPicPr>
          <p:cNvPr id="367621" name="Picture 2" descr="fig9"/>
          <p:cNvPicPr>
            <a:picLocks noChangeAspect="1" noChangeArrowheads="1"/>
          </p:cNvPicPr>
          <p:nvPr/>
        </p:nvPicPr>
        <p:blipFill>
          <a:blip r:embed="rId3">
            <a:clrChange>
              <a:clrFrom>
                <a:srgbClr val="F8F8F8"/>
              </a:clrFrom>
              <a:clrTo>
                <a:srgbClr val="F8F8F8">
                  <a:alpha val="0"/>
                </a:srgbClr>
              </a:clrTo>
            </a:clrChange>
            <a:extLst>
              <a:ext uri="{28A0092B-C50C-407E-A947-70E740481C1C}">
                <a14:useLocalDpi xmlns:a14="http://schemas.microsoft.com/office/drawing/2010/main" val="0"/>
              </a:ext>
            </a:extLst>
          </a:blip>
          <a:srcRect/>
          <a:stretch>
            <a:fillRect/>
          </a:stretch>
        </p:blipFill>
        <p:spPr bwMode="auto">
          <a:xfrm>
            <a:off x="1042988" y="3738563"/>
            <a:ext cx="3433762" cy="234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22" name="Picture 3" descr="fig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8563" y="1208088"/>
            <a:ext cx="3094037"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23" name="Picture 4" descr="fig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8663" y="923925"/>
            <a:ext cx="336232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24" name="Picture 5" descr="fig9"/>
          <p:cNvPicPr>
            <a:picLocks noChangeAspect="1" noChangeArrowheads="1"/>
          </p:cNvPicPr>
          <p:nvPr/>
        </p:nvPicPr>
        <p:blipFill>
          <a:blip r:embed="rId6">
            <a:clrChange>
              <a:clrFrom>
                <a:srgbClr val="F8F8F8"/>
              </a:clrFrom>
              <a:clrTo>
                <a:srgbClr val="F8F8F8">
                  <a:alpha val="0"/>
                </a:srgbClr>
              </a:clrTo>
            </a:clrChange>
            <a:extLst>
              <a:ext uri="{28A0092B-C50C-407E-A947-70E740481C1C}">
                <a14:useLocalDpi xmlns:a14="http://schemas.microsoft.com/office/drawing/2010/main" val="0"/>
              </a:ext>
            </a:extLst>
          </a:blip>
          <a:srcRect/>
          <a:stretch>
            <a:fillRect/>
          </a:stretch>
        </p:blipFill>
        <p:spPr bwMode="auto">
          <a:xfrm>
            <a:off x="4422775" y="4030663"/>
            <a:ext cx="3443288" cy="235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7625" name="PoljeZBesedilom 1"/>
          <p:cNvSpPr txBox="1">
            <a:spLocks noChangeArrowheads="1"/>
          </p:cNvSpPr>
          <p:nvPr/>
        </p:nvSpPr>
        <p:spPr bwMode="auto">
          <a:xfrm>
            <a:off x="3351213" y="3402013"/>
            <a:ext cx="19415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solidFill>
                  <a:srgbClr val="FFC000"/>
                </a:solidFill>
              </a:rPr>
              <a:t>Dodane teksture</a:t>
            </a:r>
          </a:p>
        </p:txBody>
      </p:sp>
    </p:spTree>
  </p:cSld>
  <p:clrMapOvr>
    <a:masterClrMapping/>
  </p:clrMapOvr>
  <p:transition>
    <p:cove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3A38F66-11CB-4E04-A1E2-67A80E354F1D}" type="slidenum">
              <a:rPr lang="en-US" altLang="en-US" sz="1400" smtClean="0"/>
              <a:pPr>
                <a:spcBef>
                  <a:spcPct val="0"/>
                </a:spcBef>
                <a:buFontTx/>
                <a:buNone/>
              </a:pPr>
              <a:t>183</a:t>
            </a:fld>
            <a:endParaRPr lang="en-US" altLang="en-US" sz="1400"/>
          </a:p>
        </p:txBody>
      </p:sp>
      <p:sp>
        <p:nvSpPr>
          <p:cNvPr id="54276" name="Rectangle 4"/>
          <p:cNvSpPr>
            <a:spLocks noChangeArrowheads="1"/>
          </p:cNvSpPr>
          <p:nvPr/>
        </p:nvSpPr>
        <p:spPr bwMode="auto">
          <a:xfrm>
            <a:off x="755650" y="1325563"/>
            <a:ext cx="8137525" cy="3248025"/>
          </a:xfrm>
          <a:prstGeom prst="rect">
            <a:avLst/>
          </a:prstGeom>
          <a:noFill/>
          <a:ln>
            <a:noFill/>
          </a:ln>
        </p:spPr>
        <p:txBody>
          <a:bodyPr>
            <a:spAutoFit/>
          </a:bodyPr>
          <a:lstStyle/>
          <a:p>
            <a:pPr marL="342900" indent="-342900" eaLnBrk="1" hangingPunct="1">
              <a:buFont typeface="+mj-lt"/>
              <a:buAutoNum type="arabicPeriod"/>
              <a:defRPr/>
            </a:pPr>
            <a:r>
              <a:rPr lang="sl-SI" dirty="0">
                <a:solidFill>
                  <a:schemeClr val="tx2"/>
                </a:solidFill>
                <a:latin typeface="Arial" charset="0"/>
                <a:cs typeface="Arial" charset="0"/>
              </a:rPr>
              <a:t>Ko dobimo 3D rekonstrukcijo iz projekcije (točke </a:t>
            </a:r>
            <a:r>
              <a:rPr lang="sl-SI" b="1" dirty="0" err="1">
                <a:solidFill>
                  <a:schemeClr val="tx2"/>
                </a:solidFill>
                <a:latin typeface="Arial" charset="0"/>
                <a:cs typeface="Arial" charset="0"/>
              </a:rPr>
              <a:t>p</a:t>
            </a:r>
            <a:r>
              <a:rPr lang="sl-SI" i="1" baseline="-25000" dirty="0" err="1">
                <a:solidFill>
                  <a:schemeClr val="tx2"/>
                </a:solidFill>
                <a:latin typeface="Arial" charset="0"/>
                <a:cs typeface="Arial" charset="0"/>
              </a:rPr>
              <a:t>i</a:t>
            </a:r>
            <a:r>
              <a:rPr lang="sl-SI" dirty="0">
                <a:solidFill>
                  <a:schemeClr val="tx2"/>
                </a:solidFill>
                <a:latin typeface="Arial" charset="0"/>
                <a:cs typeface="Arial" charset="0"/>
              </a:rPr>
              <a:t>), jo lahko pretvorimo neposredno v metrično, če poznamo dejanske koordinate za nadzorne točke </a:t>
            </a:r>
            <a:r>
              <a:rPr lang="sl-SI" b="1" dirty="0">
                <a:solidFill>
                  <a:schemeClr val="tx2"/>
                </a:solidFill>
                <a:latin typeface="Arial" charset="0"/>
                <a:cs typeface="Arial" charset="0"/>
              </a:rPr>
              <a:t>p</a:t>
            </a:r>
            <a:r>
              <a:rPr lang="de-DE" i="1" baseline="-25000" dirty="0">
                <a:solidFill>
                  <a:schemeClr val="tx2"/>
                </a:solidFill>
                <a:latin typeface="Arial" charset="0"/>
                <a:cs typeface="Arial" charset="0"/>
              </a:rPr>
              <a:t>E</a:t>
            </a:r>
            <a:r>
              <a:rPr lang="sl-SI" i="1" baseline="-25000" dirty="0">
                <a:solidFill>
                  <a:schemeClr val="tx2"/>
                </a:solidFill>
                <a:latin typeface="Arial" charset="0"/>
                <a:cs typeface="Arial" charset="0"/>
              </a:rPr>
              <a:t>,</a:t>
            </a:r>
            <a:r>
              <a:rPr lang="de-DE" i="1" baseline="-25000" dirty="0">
                <a:solidFill>
                  <a:schemeClr val="tx2"/>
                </a:solidFill>
                <a:latin typeface="Times New Roman" pitchFamily="18" charset="0"/>
                <a:cs typeface="Arial" charset="0"/>
              </a:rPr>
              <a:t>i</a:t>
            </a:r>
            <a:r>
              <a:rPr lang="sl-SI" dirty="0">
                <a:solidFill>
                  <a:schemeClr val="tx2"/>
                </a:solidFill>
                <a:latin typeface="Times New Roman" pitchFamily="18" charset="0"/>
                <a:cs typeface="Arial" charset="0"/>
              </a:rPr>
              <a:t> </a:t>
            </a:r>
            <a:r>
              <a:rPr lang="sl-SI" dirty="0">
                <a:solidFill>
                  <a:schemeClr val="tx2"/>
                </a:solidFill>
                <a:latin typeface="Arial" charset="0"/>
                <a:cs typeface="Arial" charset="0"/>
              </a:rPr>
              <a:t>v naravi</a:t>
            </a:r>
          </a:p>
          <a:p>
            <a:pPr marL="342900" indent="-342900" eaLnBrk="1" hangingPunct="1">
              <a:spcBef>
                <a:spcPts val="600"/>
              </a:spcBef>
              <a:buFont typeface="+mj-lt"/>
              <a:buAutoNum type="arabicPeriod"/>
              <a:defRPr/>
            </a:pPr>
            <a:r>
              <a:rPr lang="sl-SI" dirty="0">
                <a:solidFill>
                  <a:schemeClr val="tx2"/>
                </a:solidFill>
                <a:latin typeface="Arial" charset="0"/>
                <a:cs typeface="Arial" charset="0"/>
                <a:sym typeface="Symbol" pitchFamily="18" charset="2"/>
              </a:rPr>
              <a:t>Potrebujemo vsaj 5 takšnih točk</a:t>
            </a:r>
          </a:p>
          <a:p>
            <a:pPr marL="342900" indent="-342900" eaLnBrk="1" hangingPunct="1">
              <a:spcBef>
                <a:spcPts val="600"/>
              </a:spcBef>
              <a:buFont typeface="+mj-lt"/>
              <a:buAutoNum type="arabicPeriod"/>
              <a:defRPr/>
            </a:pPr>
            <a:r>
              <a:rPr lang="sl-SI" dirty="0">
                <a:solidFill>
                  <a:schemeClr val="tx2"/>
                </a:solidFill>
                <a:latin typeface="Arial" charset="0"/>
                <a:cs typeface="Arial" charset="0"/>
                <a:sym typeface="Symbol" pitchFamily="18" charset="2"/>
              </a:rPr>
              <a:t>Izračunati moramo </a:t>
            </a:r>
            <a:r>
              <a:rPr lang="sl-SI" dirty="0" err="1">
                <a:solidFill>
                  <a:schemeClr val="tx2"/>
                </a:solidFill>
                <a:latin typeface="Arial" charset="0"/>
                <a:cs typeface="Arial" charset="0"/>
                <a:sym typeface="Symbol" pitchFamily="18" charset="2"/>
              </a:rPr>
              <a:t>homografijo</a:t>
            </a:r>
            <a:r>
              <a:rPr lang="sl-SI" dirty="0">
                <a:solidFill>
                  <a:schemeClr val="tx2"/>
                </a:solidFill>
                <a:latin typeface="Arial" charset="0"/>
                <a:cs typeface="Arial" charset="0"/>
                <a:sym typeface="Symbol" pitchFamily="18" charset="2"/>
              </a:rPr>
              <a:t> </a:t>
            </a:r>
            <a:r>
              <a:rPr lang="sl-SI" b="1" dirty="0">
                <a:solidFill>
                  <a:schemeClr val="tx2"/>
                </a:solidFill>
                <a:latin typeface="Arial" charset="0"/>
                <a:cs typeface="Arial" charset="0"/>
                <a:sym typeface="Symbol" pitchFamily="18" charset="2"/>
              </a:rPr>
              <a:t>H</a:t>
            </a:r>
            <a:r>
              <a:rPr lang="sl-SI" dirty="0">
                <a:solidFill>
                  <a:schemeClr val="tx2"/>
                </a:solidFill>
                <a:latin typeface="Arial" charset="0"/>
                <a:cs typeface="Arial" charset="0"/>
                <a:sym typeface="Symbol" pitchFamily="18" charset="2"/>
              </a:rPr>
              <a:t>,</a:t>
            </a:r>
          </a:p>
          <a:p>
            <a:pPr marL="357188" indent="-357188" eaLnBrk="1" hangingPunct="1">
              <a:spcBef>
                <a:spcPts val="0"/>
              </a:spcBef>
              <a:defRPr/>
            </a:pPr>
            <a:r>
              <a:rPr lang="sl-SI" dirty="0">
                <a:solidFill>
                  <a:schemeClr val="tx2"/>
                </a:solidFill>
                <a:latin typeface="Arial" charset="0"/>
                <a:cs typeface="Arial" charset="0"/>
                <a:sym typeface="Symbol" pitchFamily="18" charset="2"/>
              </a:rPr>
              <a:t>	ki ima 15 prostostnih stopenj.</a:t>
            </a:r>
          </a:p>
          <a:p>
            <a:pPr marL="357188" indent="-357188" eaLnBrk="1" hangingPunct="1">
              <a:spcBef>
                <a:spcPts val="600"/>
              </a:spcBef>
              <a:buFont typeface="+mj-lt"/>
              <a:buAutoNum type="arabicPeriod" startAt="4"/>
              <a:defRPr/>
            </a:pPr>
            <a:r>
              <a:rPr lang="sl-SI" dirty="0">
                <a:solidFill>
                  <a:schemeClr val="tx2"/>
                </a:solidFill>
                <a:latin typeface="Arial" charset="0"/>
                <a:cs typeface="Arial" charset="0"/>
                <a:sym typeface="Symbol" pitchFamily="18" charset="2"/>
              </a:rPr>
              <a:t>Za vsako rekonstruirano točko lahko</a:t>
            </a:r>
          </a:p>
          <a:p>
            <a:pPr marL="357188" indent="-357188" eaLnBrk="1" hangingPunct="1">
              <a:spcBef>
                <a:spcPts val="0"/>
              </a:spcBef>
              <a:defRPr/>
            </a:pPr>
            <a:r>
              <a:rPr lang="sl-SI" dirty="0">
                <a:solidFill>
                  <a:schemeClr val="tx2"/>
                </a:solidFill>
                <a:latin typeface="Arial" charset="0"/>
                <a:cs typeface="Arial" charset="0"/>
                <a:sym typeface="Symbol" pitchFamily="18" charset="2"/>
              </a:rPr>
              <a:t>	nastavimo 3 linearne enačbe:</a:t>
            </a:r>
          </a:p>
          <a:p>
            <a:pPr marL="357188" indent="-357188" eaLnBrk="1" hangingPunct="1">
              <a:spcBef>
                <a:spcPts val="600"/>
              </a:spcBef>
              <a:defRPr/>
            </a:pPr>
            <a:r>
              <a:rPr lang="sl-SI" dirty="0">
                <a:solidFill>
                  <a:schemeClr val="tx2"/>
                </a:solidFill>
                <a:latin typeface="Arial" charset="0"/>
                <a:cs typeface="Arial" charset="0"/>
                <a:sym typeface="Symbol" pitchFamily="18" charset="2"/>
              </a:rPr>
              <a:t>	</a:t>
            </a:r>
            <a:r>
              <a:rPr lang="sl-SI" b="1" dirty="0">
                <a:solidFill>
                  <a:schemeClr val="tx2"/>
                </a:solidFill>
                <a:latin typeface="Arial" charset="0"/>
                <a:cs typeface="Arial" charset="0"/>
              </a:rPr>
              <a:t> p</a:t>
            </a:r>
            <a:r>
              <a:rPr lang="de-DE" i="1" baseline="-25000" dirty="0">
                <a:solidFill>
                  <a:schemeClr val="tx2"/>
                </a:solidFill>
                <a:latin typeface="Arial" charset="0"/>
                <a:cs typeface="Arial" charset="0"/>
              </a:rPr>
              <a:t>E</a:t>
            </a:r>
            <a:r>
              <a:rPr lang="sl-SI" i="1" baseline="-25000" dirty="0">
                <a:solidFill>
                  <a:schemeClr val="tx2"/>
                </a:solidFill>
                <a:latin typeface="Arial" charset="0"/>
                <a:cs typeface="Arial" charset="0"/>
              </a:rPr>
              <a:t>,</a:t>
            </a:r>
            <a:r>
              <a:rPr lang="de-DE" i="1" baseline="-25000" dirty="0">
                <a:solidFill>
                  <a:schemeClr val="tx2"/>
                </a:solidFill>
                <a:latin typeface="Times New Roman" pitchFamily="18" charset="0"/>
                <a:cs typeface="Arial" charset="0"/>
              </a:rPr>
              <a:t>i</a:t>
            </a:r>
            <a:r>
              <a:rPr lang="sl-SI" dirty="0">
                <a:solidFill>
                  <a:schemeClr val="tx2"/>
                </a:solidFill>
                <a:latin typeface="Times New Roman" pitchFamily="18" charset="0"/>
                <a:cs typeface="Arial" charset="0"/>
              </a:rPr>
              <a:t> </a:t>
            </a:r>
            <a:r>
              <a:rPr lang="sl-SI" dirty="0">
                <a:solidFill>
                  <a:schemeClr val="tx2"/>
                </a:solidFill>
                <a:latin typeface="Arial" charset="0"/>
                <a:cs typeface="Arial" charset="0"/>
              </a:rPr>
              <a:t>= </a:t>
            </a:r>
            <a:r>
              <a:rPr lang="sl-SI" b="1" dirty="0" err="1">
                <a:solidFill>
                  <a:schemeClr val="tx2"/>
                </a:solidFill>
                <a:latin typeface="Arial" charset="0"/>
                <a:cs typeface="Arial" charset="0"/>
              </a:rPr>
              <a:t>Hp</a:t>
            </a:r>
            <a:r>
              <a:rPr lang="sl-SI" i="1" baseline="-25000" dirty="0" err="1">
                <a:solidFill>
                  <a:schemeClr val="tx2"/>
                </a:solidFill>
                <a:latin typeface="Arial" charset="0"/>
                <a:cs typeface="Arial" charset="0"/>
              </a:rPr>
              <a:t>i</a:t>
            </a:r>
            <a:endParaRPr lang="sl-SI" i="1" baseline="-25000" dirty="0">
              <a:solidFill>
                <a:schemeClr val="tx2"/>
              </a:solidFill>
              <a:latin typeface="Arial" charset="0"/>
              <a:cs typeface="Arial" charset="0"/>
            </a:endParaRPr>
          </a:p>
          <a:p>
            <a:pPr marL="357188" indent="-357188" eaLnBrk="1" hangingPunct="1">
              <a:spcBef>
                <a:spcPts val="600"/>
              </a:spcBef>
              <a:buFont typeface="+mj-lt"/>
              <a:buAutoNum type="arabicPeriod" startAt="5"/>
              <a:defRPr/>
            </a:pPr>
            <a:r>
              <a:rPr lang="sl-SI" dirty="0">
                <a:solidFill>
                  <a:schemeClr val="tx2"/>
                </a:solidFill>
                <a:latin typeface="Arial" charset="0"/>
                <a:cs typeface="Arial" charset="0"/>
                <a:sym typeface="Symbol" pitchFamily="18" charset="2"/>
              </a:rPr>
              <a:t>Z dobljeno matriko </a:t>
            </a:r>
            <a:r>
              <a:rPr lang="sl-SI" b="1" dirty="0">
                <a:solidFill>
                  <a:schemeClr val="tx2"/>
                </a:solidFill>
                <a:latin typeface="Arial" charset="0"/>
                <a:cs typeface="Arial" charset="0"/>
                <a:sym typeface="Symbol" pitchFamily="18" charset="2"/>
              </a:rPr>
              <a:t>H</a:t>
            </a:r>
            <a:r>
              <a:rPr lang="sl-SI" dirty="0">
                <a:solidFill>
                  <a:schemeClr val="tx2"/>
                </a:solidFill>
                <a:latin typeface="Arial" charset="0"/>
                <a:cs typeface="Arial" charset="0"/>
                <a:sym typeface="Symbol" pitchFamily="18" charset="2"/>
              </a:rPr>
              <a:t> preslikamo vse točke v metrični prostor:</a:t>
            </a:r>
          </a:p>
        </p:txBody>
      </p:sp>
      <p:pic>
        <p:nvPicPr>
          <p:cNvPr id="369668" name="Picture 5" descr="fig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2913" y="4508500"/>
            <a:ext cx="2587625"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669" name="Picture 6" descr="fig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8938" y="1989138"/>
            <a:ext cx="284797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670" name="Picture 7" descr="fig9"/>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05325" y="4649788"/>
            <a:ext cx="4000500"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671"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69672" name="Pravokotnik 3"/>
          <p:cNvSpPr>
            <a:spLocks noChangeArrowheads="1"/>
          </p:cNvSpPr>
          <p:nvPr/>
        </p:nvSpPr>
        <p:spPr bwMode="auto">
          <a:xfrm>
            <a:off x="0" y="333375"/>
            <a:ext cx="9144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MOŽNOST NEPOSREDNE METRIČNE REKONSTRUKCIJE IZ PROJEKCIJSKE</a:t>
            </a:r>
            <a:endParaRPr lang="en-GB" altLang="en-US" sz="2800">
              <a:solidFill>
                <a:schemeClr val="tx2"/>
              </a:solidFill>
            </a:endParaRPr>
          </a:p>
        </p:txBody>
      </p:sp>
      <p:sp>
        <p:nvSpPr>
          <p:cNvPr id="369673" name="PoljeZBesedilom 4"/>
          <p:cNvSpPr txBox="1">
            <a:spLocks noChangeArrowheads="1"/>
          </p:cNvSpPr>
          <p:nvPr/>
        </p:nvSpPr>
        <p:spPr bwMode="auto">
          <a:xfrm>
            <a:off x="4211638" y="5013325"/>
            <a:ext cx="487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2400">
                <a:solidFill>
                  <a:srgbClr val="FF0000"/>
                </a:solidFill>
                <a:sym typeface="Symbol" panose="05050102010706020507" pitchFamily="18" charset="2"/>
              </a:rPr>
              <a:t></a:t>
            </a:r>
            <a:endParaRPr lang="sl-SI" altLang="en-US" sz="2400">
              <a:solidFill>
                <a:srgbClr val="FF0000"/>
              </a:solidFill>
            </a:endParaRPr>
          </a:p>
        </p:txBody>
      </p:sp>
    </p:spTree>
  </p:cSld>
  <p:clrMapOvr>
    <a:masterClrMapping/>
  </p:clrMapOvr>
  <p:transition>
    <p:cove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B78A217-011C-4378-95BE-C21D2CC6E38E}" type="slidenum">
              <a:rPr lang="en-US" altLang="en-US" sz="1400" smtClean="0"/>
              <a:pPr>
                <a:spcBef>
                  <a:spcPct val="0"/>
                </a:spcBef>
                <a:buFontTx/>
                <a:buNone/>
              </a:pPr>
              <a:t>184</a:t>
            </a:fld>
            <a:endParaRPr lang="en-US" altLang="en-US" sz="1400"/>
          </a:p>
        </p:txBody>
      </p:sp>
      <p:sp>
        <p:nvSpPr>
          <p:cNvPr id="371715"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71716" name="Pravokotnik 3"/>
          <p:cNvSpPr>
            <a:spLocks noChangeArrowheads="1"/>
          </p:cNvSpPr>
          <p:nvPr/>
        </p:nvSpPr>
        <p:spPr bwMode="auto">
          <a:xfrm>
            <a:off x="0" y="333375"/>
            <a:ext cx="9144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Primer projekcijske 3D rekonstrukcije</a:t>
            </a:r>
          </a:p>
          <a:p>
            <a:pPr algn="ctr" eaLnBrk="1" hangingPunct="1">
              <a:spcBef>
                <a:spcPct val="0"/>
              </a:spcBef>
              <a:buFontTx/>
              <a:buNone/>
            </a:pPr>
            <a:r>
              <a:rPr lang="sl-SI" altLang="en-US" sz="2000">
                <a:solidFill>
                  <a:schemeClr val="tx2"/>
                </a:solidFill>
              </a:rPr>
              <a:t>(dobljeno s faktorizacijo na posnetkih breskev)</a:t>
            </a:r>
            <a:endParaRPr lang="en-GB" altLang="en-US" sz="2000">
              <a:solidFill>
                <a:schemeClr val="tx2"/>
              </a:solidFill>
            </a:endParaRPr>
          </a:p>
        </p:txBody>
      </p:sp>
      <p:pic>
        <p:nvPicPr>
          <p:cNvPr id="371717" name="Picture 4" descr="Primer20-tocke1.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341438"/>
            <a:ext cx="164465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18" name="Picture 5" descr="Primer20-tocke2.t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1341438"/>
            <a:ext cx="1654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19" name="Picture 6" descr="Primer29-RekonstruiraneTocke.t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3786188"/>
            <a:ext cx="2846387"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20" name="Picture 7" descr="List1-KorTocke.t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7425" y="1341438"/>
            <a:ext cx="1846263"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21" name="Picture 8" descr="List2-KorTocke.t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89725" y="1328738"/>
            <a:ext cx="180022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22" name="Picture 9" descr="Primer-list-Rekonstrukcija.t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8750" y="3765550"/>
            <a:ext cx="2717800" cy="225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23" name="TextBox 10"/>
          <p:cNvSpPr txBox="1">
            <a:spLocks noChangeArrowheads="1"/>
          </p:cNvSpPr>
          <p:nvPr/>
        </p:nvSpPr>
        <p:spPr bwMode="auto">
          <a:xfrm>
            <a:off x="2124075" y="3146425"/>
            <a:ext cx="4635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3600">
                <a:sym typeface="Symbol" panose="05050102010706020507" pitchFamily="18" charset="2"/>
              </a:rPr>
              <a:t></a:t>
            </a:r>
            <a:endParaRPr lang="en-GB" altLang="en-US" sz="3600"/>
          </a:p>
        </p:txBody>
      </p:sp>
      <p:sp>
        <p:nvSpPr>
          <p:cNvPr id="371724" name="TextBox 11"/>
          <p:cNvSpPr txBox="1">
            <a:spLocks noChangeArrowheads="1"/>
          </p:cNvSpPr>
          <p:nvPr/>
        </p:nvSpPr>
        <p:spPr bwMode="auto">
          <a:xfrm>
            <a:off x="6411913" y="3160713"/>
            <a:ext cx="463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GB" altLang="en-US" sz="3600">
                <a:sym typeface="Symbol" panose="05050102010706020507" pitchFamily="18" charset="2"/>
              </a:rPr>
              <a:t></a:t>
            </a:r>
            <a:endParaRPr lang="en-GB" altLang="en-US" sz="3600"/>
          </a:p>
        </p:txBody>
      </p:sp>
    </p:spTree>
  </p:cSld>
  <p:clrMapOvr>
    <a:masterClrMapping/>
  </p:clrMapOvr>
  <p:transition>
    <p:cove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A70BFA6-6458-4BB0-BD5B-342CDD5EBB65}" type="slidenum">
              <a:rPr lang="en-US" altLang="en-US" sz="1400" smtClean="0"/>
              <a:pPr>
                <a:spcBef>
                  <a:spcPct val="0"/>
                </a:spcBef>
                <a:buFontTx/>
                <a:buNone/>
              </a:pPr>
              <a:t>185</a:t>
            </a:fld>
            <a:endParaRPr lang="en-US" altLang="en-US" sz="1400"/>
          </a:p>
        </p:txBody>
      </p:sp>
      <p:sp>
        <p:nvSpPr>
          <p:cNvPr id="373763" name="Rectangle 4"/>
          <p:cNvSpPr>
            <a:spLocks noChangeArrowheads="1"/>
          </p:cNvSpPr>
          <p:nvPr/>
        </p:nvSpPr>
        <p:spPr bwMode="auto">
          <a:xfrm>
            <a:off x="539750" y="1325563"/>
            <a:ext cx="8137525"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solidFill>
                  <a:schemeClr val="tx2"/>
                </a:solidFill>
              </a:rPr>
              <a:t>3D rekonstrukcija, ki temelji na </a:t>
            </a:r>
            <a:r>
              <a:rPr lang="sl-SI" altLang="en-US" sz="1800">
                <a:solidFill>
                  <a:srgbClr val="0000FF"/>
                </a:solidFill>
              </a:rPr>
              <a:t>strukturirani svetlobi (</a:t>
            </a:r>
            <a:r>
              <a:rPr lang="sl-SI" altLang="en-US" sz="1800" i="1">
                <a:solidFill>
                  <a:srgbClr val="0000FF"/>
                </a:solidFill>
              </a:rPr>
              <a:t>structured light</a:t>
            </a:r>
            <a:r>
              <a:rPr lang="sl-SI" altLang="en-US" sz="1800">
                <a:solidFill>
                  <a:srgbClr val="0000FF"/>
                </a:solidFill>
              </a:rPr>
              <a:t>)</a:t>
            </a:r>
            <a:r>
              <a:rPr lang="sl-SI" altLang="en-US" sz="1800"/>
              <a:t>, določi le </a:t>
            </a:r>
            <a:r>
              <a:rPr lang="sl-SI" altLang="en-US" sz="1800">
                <a:solidFill>
                  <a:srgbClr val="FF9933"/>
                </a:solidFill>
              </a:rPr>
              <a:t>položaj točk na površini objektov</a:t>
            </a:r>
            <a:r>
              <a:rPr lang="sl-SI" altLang="en-US" sz="1800"/>
              <a:t>.</a:t>
            </a:r>
          </a:p>
          <a:p>
            <a:pPr eaLnBrk="1" hangingPunct="1">
              <a:spcBef>
                <a:spcPts val="600"/>
              </a:spcBef>
              <a:buFontTx/>
              <a:buAutoNum type="arabicPeriod"/>
            </a:pPr>
            <a:r>
              <a:rPr lang="sl-SI" altLang="en-US" sz="1800">
                <a:solidFill>
                  <a:schemeClr val="tx2"/>
                </a:solidFill>
                <a:sym typeface="Symbol" panose="05050102010706020507" pitchFamily="18" charset="2"/>
              </a:rPr>
              <a:t>Drugačno vrsto 3D rekonstrukcije srečamo v medicini, kjer je treba določiti tudi lego vokslov v notranjosti objektov – “presvetljevanje” tkiv z rentgenom (računalniška tomografija – CT), ultrazvokom ali magnetno resonanco (MRI).</a:t>
            </a:r>
          </a:p>
          <a:p>
            <a:pPr eaLnBrk="1" hangingPunct="1">
              <a:spcBef>
                <a:spcPts val="600"/>
              </a:spcBef>
              <a:buFontTx/>
              <a:buAutoNum type="arabicPeriod"/>
            </a:pPr>
            <a:r>
              <a:rPr lang="sl-SI" altLang="en-US" sz="1800">
                <a:solidFill>
                  <a:schemeClr val="tx2"/>
                </a:solidFill>
                <a:sym typeface="Symbol" panose="05050102010706020507" pitchFamily="18" charset="2"/>
              </a:rPr>
              <a:t>Uporaba strukturirane svetlobe omogoča samo površinsko rekonstrukcijo.</a:t>
            </a:r>
          </a:p>
          <a:p>
            <a:pPr eaLnBrk="1" hangingPunct="1">
              <a:spcBef>
                <a:spcPts val="600"/>
              </a:spcBef>
              <a:buFontTx/>
              <a:buAutoNum type="arabicPeriod"/>
            </a:pPr>
            <a:r>
              <a:rPr lang="sl-SI" altLang="en-US" sz="1800">
                <a:solidFill>
                  <a:schemeClr val="tx2"/>
                </a:solidFill>
                <a:sym typeface="Symbol" panose="05050102010706020507" pitchFamily="18" charset="2"/>
              </a:rPr>
              <a:t>Dejansko gre za </a:t>
            </a:r>
            <a:r>
              <a:rPr lang="sl-SI" altLang="en-US" sz="1800">
                <a:solidFill>
                  <a:srgbClr val="FF9933"/>
                </a:solidFill>
                <a:sym typeface="Symbol" panose="05050102010706020507" pitchFamily="18" charset="2"/>
              </a:rPr>
              <a:t>globinsko rekonstrukcijo</a:t>
            </a:r>
            <a:r>
              <a:rPr lang="sl-SI" altLang="en-US" sz="1800">
                <a:solidFill>
                  <a:schemeClr val="tx2"/>
                </a:solidFill>
                <a:sym typeface="Symbol" panose="05050102010706020507" pitchFamily="18" charset="2"/>
              </a:rPr>
              <a:t>, podobno kot pri stereo pogledu, le da tukaj eno od kamer zamenja </a:t>
            </a:r>
            <a:r>
              <a:rPr lang="sl-SI" altLang="en-US" sz="1800">
                <a:solidFill>
                  <a:srgbClr val="0000FF"/>
                </a:solidFill>
                <a:sym typeface="Symbol" panose="05050102010706020507" pitchFamily="18" charset="2"/>
              </a:rPr>
              <a:t>projektor</a:t>
            </a:r>
            <a:r>
              <a:rPr lang="sl-SI" altLang="en-US" sz="1800">
                <a:solidFill>
                  <a:schemeClr val="tx2"/>
                </a:solidFill>
                <a:sym typeface="Symbol" panose="05050102010706020507" pitchFamily="18" charset="2"/>
              </a:rPr>
              <a:t>.</a:t>
            </a:r>
          </a:p>
          <a:p>
            <a:pPr eaLnBrk="1" hangingPunct="1">
              <a:spcBef>
                <a:spcPts val="600"/>
              </a:spcBef>
              <a:buFontTx/>
              <a:buAutoNum type="arabicPeriod"/>
            </a:pPr>
            <a:r>
              <a:rPr lang="sl-SI" altLang="en-US" sz="1800">
                <a:solidFill>
                  <a:schemeClr val="tx2"/>
                </a:solidFill>
                <a:sym typeface="Symbol" panose="05050102010706020507" pitchFamily="18" charset="2"/>
              </a:rPr>
              <a:t>Projektor mora imeti čim večjo svetilnost in oddajati strukturirano svetlobo, ki na sceni naredi lahko zaznavne svetlobne vzorce.</a:t>
            </a:r>
          </a:p>
          <a:p>
            <a:pPr eaLnBrk="1" hangingPunct="1">
              <a:spcBef>
                <a:spcPts val="600"/>
              </a:spcBef>
              <a:buFontTx/>
              <a:buAutoNum type="arabicPeriod"/>
            </a:pPr>
            <a:r>
              <a:rPr lang="sl-SI" altLang="en-US" sz="1800">
                <a:solidFill>
                  <a:srgbClr val="FF9933"/>
                </a:solidFill>
                <a:sym typeface="Symbol" panose="05050102010706020507" pitchFamily="18" charset="2"/>
              </a:rPr>
              <a:t>Prednosti metode</a:t>
            </a:r>
            <a:r>
              <a:rPr lang="sl-SI" altLang="en-US" sz="1800">
                <a:solidFill>
                  <a:schemeClr val="tx2"/>
                </a:solidFill>
                <a:sym typeface="Symbol" panose="05050102010706020507" pitchFamily="18" charset="2"/>
              </a:rPr>
              <a:t>: rekonstruiramo lahko predmete, ki nimajo tekstur, saj brez strukturirane svetlobe na njih ne bi mogli najti korespondenčnih točk.</a:t>
            </a:r>
          </a:p>
          <a:p>
            <a:pPr eaLnBrk="1" hangingPunct="1">
              <a:spcBef>
                <a:spcPts val="600"/>
              </a:spcBef>
              <a:buFontTx/>
              <a:buAutoNum type="arabicPeriod"/>
            </a:pPr>
            <a:r>
              <a:rPr lang="sl-SI" altLang="en-US" sz="1800">
                <a:solidFill>
                  <a:srgbClr val="FF9933"/>
                </a:solidFill>
                <a:sym typeface="Symbol" panose="05050102010706020507" pitchFamily="18" charset="2"/>
              </a:rPr>
              <a:t>Slabosti metode</a:t>
            </a:r>
            <a:r>
              <a:rPr lang="sl-SI" altLang="en-US" sz="1800">
                <a:solidFill>
                  <a:schemeClr val="tx2"/>
                </a:solidFill>
                <a:sym typeface="Symbol" panose="05050102010706020507" pitchFamily="18" charset="2"/>
              </a:rPr>
              <a:t>: deluje le v nadzorovanem okolju in je odvisna od osvetlitvenih pogojev.</a:t>
            </a:r>
          </a:p>
        </p:txBody>
      </p:sp>
      <p:sp>
        <p:nvSpPr>
          <p:cNvPr id="373764"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73765" name="Pravokotnik 3"/>
          <p:cNvSpPr>
            <a:spLocks noChangeArrowheads="1"/>
          </p:cNvSpPr>
          <p:nvPr/>
        </p:nvSpPr>
        <p:spPr bwMode="auto">
          <a:xfrm>
            <a:off x="0" y="333375"/>
            <a:ext cx="9144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3D REKONSTRUKCIJA OBJEKTOV S POMOČJO STRUKTURIRANE SVETLOBE</a:t>
            </a:r>
            <a:endParaRPr lang="en-GB" altLang="en-US" sz="2800">
              <a:solidFill>
                <a:schemeClr val="tx2"/>
              </a:solidFill>
            </a:endParaRPr>
          </a:p>
        </p:txBody>
      </p:sp>
    </p:spTree>
  </p:cSld>
  <p:clrMapOvr>
    <a:masterClrMapping/>
  </p:clrMapOvr>
  <p:transition>
    <p:cove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99B1D9F-167B-4C83-B41D-DF28088BCE7A}" type="slidenum">
              <a:rPr lang="en-US" altLang="en-US" sz="1400" smtClean="0"/>
              <a:pPr>
                <a:spcBef>
                  <a:spcPct val="0"/>
                </a:spcBef>
                <a:buFontTx/>
                <a:buNone/>
              </a:pPr>
              <a:t>186</a:t>
            </a:fld>
            <a:endParaRPr lang="en-US" altLang="en-US" sz="1400"/>
          </a:p>
        </p:txBody>
      </p:sp>
      <p:sp>
        <p:nvSpPr>
          <p:cNvPr id="375811" name="Rectangle 4"/>
          <p:cNvSpPr>
            <a:spLocks noChangeArrowheads="1"/>
          </p:cNvSpPr>
          <p:nvPr/>
        </p:nvSpPr>
        <p:spPr bwMode="auto">
          <a:xfrm>
            <a:off x="539750" y="1325563"/>
            <a:ext cx="813752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98513" indent="-341313"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solidFill>
                  <a:schemeClr val="tx2"/>
                </a:solidFill>
              </a:rPr>
              <a:t>Sklop projektorja in kamere mora biti kalibriran:</a:t>
            </a:r>
          </a:p>
          <a:p>
            <a:pPr lvl="1" eaLnBrk="1" hangingPunct="1">
              <a:spcBef>
                <a:spcPct val="0"/>
              </a:spcBef>
              <a:buFont typeface="Arial" panose="020B0604020202020204" pitchFamily="34" charset="0"/>
              <a:buChar char="•"/>
            </a:pPr>
            <a:r>
              <a:rPr lang="sl-SI" altLang="en-US" sz="1800"/>
              <a:t>poznati moramo razdaljo med objektivoma: </a:t>
            </a:r>
            <a:r>
              <a:rPr lang="sl-SI" altLang="en-US" sz="1800" i="1"/>
              <a:t>t</a:t>
            </a:r>
          </a:p>
          <a:p>
            <a:pPr lvl="1" eaLnBrk="1" hangingPunct="1">
              <a:spcBef>
                <a:spcPct val="0"/>
              </a:spcBef>
              <a:buFont typeface="Arial" panose="020B0604020202020204" pitchFamily="34" charset="0"/>
              <a:buChar char="•"/>
            </a:pPr>
            <a:r>
              <a:rPr lang="sl-SI" altLang="en-US" sz="1800"/>
              <a:t>poznati moramo kot, pod katerim projicira projektor določeno osvetlitveno značilnost: </a:t>
            </a:r>
            <a:r>
              <a:rPr lang="sl-SI" altLang="en-US" sz="1800" i="1">
                <a:sym typeface="Symbol" panose="05050102010706020507" pitchFamily="18" charset="2"/>
              </a:rPr>
              <a:t></a:t>
            </a:r>
            <a:endParaRPr lang="sl-SI" altLang="en-US" sz="1800" i="1"/>
          </a:p>
          <a:p>
            <a:pPr eaLnBrk="1" hangingPunct="1">
              <a:spcBef>
                <a:spcPts val="600"/>
              </a:spcBef>
              <a:buFontTx/>
              <a:buAutoNum type="arabicPeriod"/>
            </a:pPr>
            <a:r>
              <a:rPr lang="sl-SI" altLang="en-US" sz="1800">
                <a:solidFill>
                  <a:schemeClr val="tx2"/>
                </a:solidFill>
                <a:sym typeface="Symbol" panose="05050102010706020507" pitchFamily="18" charset="2"/>
              </a:rPr>
              <a:t>Iz slike scene, osvetljene s strukturirano svetlobo, razberemo projicirano značilnost in določimo kot, pod katerim jo kamera vidi: </a:t>
            </a:r>
            <a:r>
              <a:rPr lang="sl-SI" altLang="en-US" sz="1800" i="1">
                <a:solidFill>
                  <a:schemeClr val="tx2"/>
                </a:solidFill>
                <a:sym typeface="Symbol" panose="05050102010706020507" pitchFamily="18" charset="2"/>
              </a:rPr>
              <a:t></a:t>
            </a:r>
          </a:p>
        </p:txBody>
      </p:sp>
      <p:sp>
        <p:nvSpPr>
          <p:cNvPr id="375812"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75813" name="Pravokotnik 3"/>
          <p:cNvSpPr>
            <a:spLocks noChangeArrowheads="1"/>
          </p:cNvSpPr>
          <p:nvPr/>
        </p:nvSpPr>
        <p:spPr bwMode="auto">
          <a:xfrm>
            <a:off x="0" y="333375"/>
            <a:ext cx="9144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DOLOČANJE GLOBINE S STRUKTURIRANO SVETLOBO</a:t>
            </a:r>
            <a:endParaRPr lang="en-GB" altLang="en-US" sz="2800">
              <a:solidFill>
                <a:schemeClr val="tx2"/>
              </a:solidFill>
            </a:endParaRPr>
          </a:p>
        </p:txBody>
      </p:sp>
      <p:grpSp>
        <p:nvGrpSpPr>
          <p:cNvPr id="375814" name="Group 20"/>
          <p:cNvGrpSpPr>
            <a:grpSpLocks/>
          </p:cNvGrpSpPr>
          <p:nvPr/>
        </p:nvGrpSpPr>
        <p:grpSpPr bwMode="auto">
          <a:xfrm>
            <a:off x="860425" y="3146425"/>
            <a:ext cx="5449888" cy="3130550"/>
            <a:chOff x="859746" y="3147099"/>
            <a:chExt cx="5449788" cy="3129969"/>
          </a:xfrm>
        </p:grpSpPr>
        <p:grpSp>
          <p:nvGrpSpPr>
            <p:cNvPr id="375817" name="Group 15"/>
            <p:cNvGrpSpPr>
              <a:grpSpLocks/>
            </p:cNvGrpSpPr>
            <p:nvPr/>
          </p:nvGrpSpPr>
          <p:grpSpPr bwMode="auto">
            <a:xfrm>
              <a:off x="859746" y="3147099"/>
              <a:ext cx="5449788" cy="3129969"/>
              <a:chOff x="1714500" y="3107343"/>
              <a:chExt cx="5449788" cy="3129969"/>
            </a:xfrm>
          </p:grpSpPr>
          <p:pic>
            <p:nvPicPr>
              <p:cNvPr id="375821" name="Picture 5" descr="http://www.opticsinfobase.org/DirectPDFAccess/D1E476CC-D77D-AFA3-1B699B0B431E4B77_211561/aop-3-2-128-g0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0" y="3107343"/>
                <a:ext cx="5449788" cy="3057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5822" name="TextBox 7"/>
              <p:cNvSpPr txBox="1">
                <a:spLocks noChangeArrowheads="1"/>
              </p:cNvSpPr>
              <p:nvPr/>
            </p:nvSpPr>
            <p:spPr bwMode="auto">
              <a:xfrm>
                <a:off x="5940152" y="3356992"/>
                <a:ext cx="118494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Kamera   </a:t>
                </a:r>
                <a:endParaRPr lang="en-GB" altLang="en-US" sz="1800"/>
              </a:p>
            </p:txBody>
          </p:sp>
          <p:sp>
            <p:nvSpPr>
              <p:cNvPr id="375823" name="TextBox 8"/>
              <p:cNvSpPr txBox="1">
                <a:spLocks noChangeArrowheads="1"/>
              </p:cNvSpPr>
              <p:nvPr/>
            </p:nvSpPr>
            <p:spPr bwMode="auto">
              <a:xfrm>
                <a:off x="2987824" y="3140968"/>
                <a:ext cx="2232248"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Projektor s struk-turirano svetlobo  </a:t>
                </a:r>
                <a:endParaRPr lang="en-GB" altLang="en-US" sz="1800"/>
              </a:p>
            </p:txBody>
          </p:sp>
          <p:sp>
            <p:nvSpPr>
              <p:cNvPr id="375824" name="TextBox 9"/>
              <p:cNvSpPr txBox="1">
                <a:spLocks noChangeArrowheads="1"/>
              </p:cNvSpPr>
              <p:nvPr/>
            </p:nvSpPr>
            <p:spPr bwMode="auto">
              <a:xfrm>
                <a:off x="4520194" y="4427820"/>
                <a:ext cx="3304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z</a:t>
                </a:r>
                <a:endParaRPr lang="en-GB" altLang="en-US" sz="1800" i="1"/>
              </a:p>
            </p:txBody>
          </p:sp>
          <p:sp>
            <p:nvSpPr>
              <p:cNvPr id="375825" name="TextBox 10"/>
              <p:cNvSpPr txBox="1">
                <a:spLocks noChangeArrowheads="1"/>
              </p:cNvSpPr>
              <p:nvPr/>
            </p:nvSpPr>
            <p:spPr bwMode="auto">
              <a:xfrm>
                <a:off x="3735610" y="3779748"/>
                <a:ext cx="24878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i="1"/>
                  <a:t>t</a:t>
                </a:r>
                <a:endParaRPr lang="en-GB" altLang="en-US" sz="1800" i="1"/>
              </a:p>
            </p:txBody>
          </p:sp>
          <p:sp>
            <p:nvSpPr>
              <p:cNvPr id="375826" name="TextBox 11"/>
              <p:cNvSpPr txBox="1">
                <a:spLocks noChangeArrowheads="1"/>
              </p:cNvSpPr>
              <p:nvPr/>
            </p:nvSpPr>
            <p:spPr bwMode="auto">
              <a:xfrm>
                <a:off x="2699792" y="5867980"/>
                <a:ext cx="333937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Scena s 3D objektom               </a:t>
                </a:r>
                <a:endParaRPr lang="en-GB" altLang="en-US" sz="1800"/>
              </a:p>
            </p:txBody>
          </p:sp>
          <p:cxnSp>
            <p:nvCxnSpPr>
              <p:cNvPr id="14" name="Straight Arrow Connector 13"/>
              <p:cNvCxnSpPr/>
              <p:nvPr/>
            </p:nvCxnSpPr>
            <p:spPr>
              <a:xfrm flipV="1">
                <a:off x="2555860" y="3664453"/>
                <a:ext cx="2808236" cy="144435"/>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375818" name="TextBox 17"/>
            <p:cNvSpPr txBox="1">
              <a:spLocks noChangeArrowheads="1"/>
            </p:cNvSpPr>
            <p:nvPr/>
          </p:nvSpPr>
          <p:spPr bwMode="auto">
            <a:xfrm>
              <a:off x="1001144" y="3923764"/>
              <a:ext cx="47451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O</a:t>
              </a:r>
              <a:r>
                <a:rPr lang="sl-SI" altLang="en-US" sz="1800" i="1" baseline="-25000"/>
                <a:t>p</a:t>
              </a:r>
              <a:endParaRPr lang="en-GB" altLang="en-US" sz="1800" i="1" baseline="-25000"/>
            </a:p>
          </p:txBody>
        </p:sp>
        <p:sp>
          <p:nvSpPr>
            <p:cNvPr id="375819" name="TextBox 18"/>
            <p:cNvSpPr txBox="1">
              <a:spLocks noChangeArrowheads="1"/>
            </p:cNvSpPr>
            <p:nvPr/>
          </p:nvSpPr>
          <p:spPr bwMode="auto">
            <a:xfrm>
              <a:off x="4644008" y="3717032"/>
              <a:ext cx="47451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O</a:t>
              </a:r>
              <a:r>
                <a:rPr lang="sl-SI" altLang="en-US" sz="1800" i="1" baseline="-25000"/>
                <a:t>k</a:t>
              </a:r>
              <a:endParaRPr lang="en-GB" altLang="en-US" sz="1800" i="1" baseline="-25000"/>
            </a:p>
          </p:txBody>
        </p:sp>
        <p:sp>
          <p:nvSpPr>
            <p:cNvPr id="375820" name="TextBox 19"/>
            <p:cNvSpPr txBox="1">
              <a:spLocks noChangeArrowheads="1"/>
            </p:cNvSpPr>
            <p:nvPr/>
          </p:nvSpPr>
          <p:spPr bwMode="auto">
            <a:xfrm>
              <a:off x="3377408" y="5607330"/>
              <a:ext cx="47451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b="1"/>
                <a:t>p</a:t>
              </a:r>
              <a:endParaRPr lang="en-GB" altLang="en-US" sz="1800" i="1" baseline="-25000"/>
            </a:p>
          </p:txBody>
        </p:sp>
      </p:grpSp>
      <p:sp>
        <p:nvSpPr>
          <p:cNvPr id="375815" name="TextBox 21"/>
          <p:cNvSpPr txBox="1">
            <a:spLocks noChangeArrowheads="1"/>
          </p:cNvSpPr>
          <p:nvPr/>
        </p:nvSpPr>
        <p:spPr bwMode="auto">
          <a:xfrm>
            <a:off x="6372225" y="3789363"/>
            <a:ext cx="2160588"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sl-SI" altLang="en-US" sz="1800"/>
              <a:t>Globina </a:t>
            </a:r>
            <a:r>
              <a:rPr lang="sl-SI" altLang="en-US" sz="1800" i="1"/>
              <a:t>z</a:t>
            </a:r>
            <a:r>
              <a:rPr lang="sl-SI" altLang="en-US" sz="1800"/>
              <a:t> točke </a:t>
            </a:r>
            <a:r>
              <a:rPr lang="sl-SI" altLang="en-US" sz="1800" b="1"/>
              <a:t>p</a:t>
            </a:r>
            <a:r>
              <a:rPr lang="sl-SI" altLang="en-US" sz="1800"/>
              <a:t>:</a:t>
            </a:r>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endParaRPr lang="sl-SI" altLang="en-US" sz="1800"/>
          </a:p>
          <a:p>
            <a:pPr eaLnBrk="1" hangingPunct="1">
              <a:spcBef>
                <a:spcPct val="0"/>
              </a:spcBef>
              <a:buFontTx/>
              <a:buNone/>
            </a:pPr>
            <a:r>
              <a:rPr lang="sl-SI" altLang="en-US" sz="1800"/>
              <a:t>(pomagamo si z višino na zveznico med </a:t>
            </a:r>
            <a:r>
              <a:rPr lang="sl-SI" altLang="en-US" sz="1800" b="1"/>
              <a:t>O</a:t>
            </a:r>
            <a:r>
              <a:rPr lang="sl-SI" altLang="en-US" sz="1800" i="1" baseline="-25000"/>
              <a:t>p</a:t>
            </a:r>
            <a:r>
              <a:rPr lang="sl-SI" altLang="en-US" sz="1800"/>
              <a:t> in </a:t>
            </a:r>
            <a:r>
              <a:rPr lang="sl-SI" altLang="en-US" sz="1800" b="1"/>
              <a:t>p</a:t>
            </a:r>
            <a:r>
              <a:rPr lang="sl-SI" altLang="en-US" sz="1800"/>
              <a:t>)</a:t>
            </a:r>
          </a:p>
        </p:txBody>
      </p:sp>
      <p:pic>
        <p:nvPicPr>
          <p:cNvPr id="375816" name="Slika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19850" y="4054475"/>
            <a:ext cx="1981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9D8CE21-1BD9-48C8-98EA-BD6CFF662BE4}" type="slidenum">
              <a:rPr lang="en-US" altLang="en-US" sz="1400" smtClean="0"/>
              <a:pPr>
                <a:spcBef>
                  <a:spcPct val="0"/>
                </a:spcBef>
                <a:buFontTx/>
                <a:buNone/>
              </a:pPr>
              <a:t>187</a:t>
            </a:fld>
            <a:endParaRPr lang="en-US" altLang="en-US" sz="1400"/>
          </a:p>
        </p:txBody>
      </p:sp>
      <p:sp>
        <p:nvSpPr>
          <p:cNvPr id="377859"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77860" name="Pravokotnik 3"/>
          <p:cNvSpPr>
            <a:spLocks noChangeArrowheads="1"/>
          </p:cNvSpPr>
          <p:nvPr/>
        </p:nvSpPr>
        <p:spPr bwMode="auto">
          <a:xfrm>
            <a:off x="395288" y="333375"/>
            <a:ext cx="835342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VRSTE STRUKTURIRANE SVETLOBE</a:t>
            </a:r>
          </a:p>
          <a:p>
            <a:pPr algn="ctr" eaLnBrk="1" hangingPunct="1">
              <a:spcBef>
                <a:spcPct val="0"/>
              </a:spcBef>
              <a:buFontTx/>
              <a:buNone/>
            </a:pPr>
            <a:r>
              <a:rPr lang="sl-SI" altLang="en-US" sz="2000"/>
              <a:t>(vzeto iz: Jason Geng, S</a:t>
            </a:r>
            <a:r>
              <a:rPr lang="en-US" altLang="en-US" sz="2000"/>
              <a:t>tructured-light 3D surface imaging: a tutorial</a:t>
            </a:r>
            <a:r>
              <a:rPr lang="sl-SI" altLang="en-US" sz="2000"/>
              <a:t>, </a:t>
            </a:r>
            <a:r>
              <a:rPr lang="en-US" altLang="en-US" sz="2000" i="1"/>
              <a:t>Advances in Optics and Photonics</a:t>
            </a:r>
            <a:r>
              <a:rPr lang="sl-SI" altLang="en-US" sz="2000"/>
              <a:t>, </a:t>
            </a:r>
            <a:r>
              <a:rPr lang="en-US" altLang="en-US" sz="2000"/>
              <a:t>Vol. 3</a:t>
            </a:r>
            <a:r>
              <a:rPr lang="sl-SI" altLang="en-US" sz="2000"/>
              <a:t>,</a:t>
            </a:r>
            <a:r>
              <a:rPr lang="en-US" altLang="en-US" sz="2000"/>
              <a:t> No. 2</a:t>
            </a:r>
            <a:r>
              <a:rPr lang="sl-SI" altLang="en-US" sz="2000"/>
              <a:t>,</a:t>
            </a:r>
            <a:r>
              <a:rPr lang="en-US" altLang="en-US" sz="2000"/>
              <a:t> </a:t>
            </a:r>
            <a:r>
              <a:rPr lang="sl-SI" altLang="en-US" sz="2000"/>
              <a:t>str.</a:t>
            </a:r>
            <a:r>
              <a:rPr lang="en-US" altLang="en-US" sz="2000"/>
              <a:t> 128</a:t>
            </a:r>
            <a:r>
              <a:rPr lang="sl-SI" altLang="en-US" sz="2000"/>
              <a:t>-160</a:t>
            </a:r>
            <a:r>
              <a:rPr lang="sl-SI" altLang="en-US" sz="2000">
                <a:solidFill>
                  <a:schemeClr val="tx2"/>
                </a:solidFill>
              </a:rPr>
              <a:t>)</a:t>
            </a:r>
            <a:endParaRPr lang="en-GB" altLang="en-US" sz="2000">
              <a:solidFill>
                <a:schemeClr val="tx2"/>
              </a:solidFill>
            </a:endParaRPr>
          </a:p>
        </p:txBody>
      </p:sp>
      <p:pic>
        <p:nvPicPr>
          <p:cNvPr id="377861" name="Picture 20" descr="http://www.opticsinfobase.org/DirectPDFAccess/D1E476CC-D77D-AFA3-1B699B0B431E4B77_211561/aop-3-2-128-g003.jpg"/>
          <p:cNvPicPr>
            <a:picLocks noChangeAspect="1" noChangeArrowheads="1"/>
          </p:cNvPicPr>
          <p:nvPr/>
        </p:nvPicPr>
        <p:blipFill>
          <a:blip r:embed="rId3">
            <a:extLst>
              <a:ext uri="{28A0092B-C50C-407E-A947-70E740481C1C}">
                <a14:useLocalDpi xmlns:a14="http://schemas.microsoft.com/office/drawing/2010/main" val="0"/>
              </a:ext>
            </a:extLst>
          </a:blip>
          <a:srcRect r="-1894" b="53069"/>
          <a:stretch>
            <a:fillRect/>
          </a:stretch>
        </p:blipFill>
        <p:spPr bwMode="auto">
          <a:xfrm>
            <a:off x="1331913" y="1557338"/>
            <a:ext cx="6696075"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E3FB9C7-9C4A-42DA-A78F-FA7C43C6AFAB}" type="slidenum">
              <a:rPr lang="en-US" altLang="en-US" sz="1400" smtClean="0"/>
              <a:pPr>
                <a:spcBef>
                  <a:spcPct val="0"/>
                </a:spcBef>
                <a:buFontTx/>
                <a:buNone/>
              </a:pPr>
              <a:t>188</a:t>
            </a:fld>
            <a:endParaRPr lang="en-US" altLang="en-US" sz="1400"/>
          </a:p>
        </p:txBody>
      </p:sp>
      <p:sp>
        <p:nvSpPr>
          <p:cNvPr id="379907"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79908" name="Pravokotnik 3"/>
          <p:cNvSpPr>
            <a:spLocks noChangeArrowheads="1"/>
          </p:cNvSpPr>
          <p:nvPr/>
        </p:nvSpPr>
        <p:spPr bwMode="auto">
          <a:xfrm>
            <a:off x="395288" y="333375"/>
            <a:ext cx="8353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VRSTE STRUKTURIRANE SVETLOBE (2)</a:t>
            </a:r>
          </a:p>
        </p:txBody>
      </p:sp>
      <p:pic>
        <p:nvPicPr>
          <p:cNvPr id="379909" name="Picture 20" descr="http://www.opticsinfobase.org/DirectPDFAccess/D1E476CC-D77D-AFA3-1B699B0B431E4B77_211561/aop-3-2-128-g003.jpg"/>
          <p:cNvPicPr>
            <a:picLocks noChangeAspect="1" noChangeArrowheads="1"/>
          </p:cNvPicPr>
          <p:nvPr/>
        </p:nvPicPr>
        <p:blipFill>
          <a:blip r:embed="rId3">
            <a:extLst>
              <a:ext uri="{28A0092B-C50C-407E-A947-70E740481C1C}">
                <a14:useLocalDpi xmlns:a14="http://schemas.microsoft.com/office/drawing/2010/main" val="0"/>
              </a:ext>
            </a:extLst>
          </a:blip>
          <a:srcRect t="46931" r="-1894" b="-337"/>
          <a:stretch>
            <a:fillRect/>
          </a:stretch>
        </p:blipFill>
        <p:spPr bwMode="auto">
          <a:xfrm>
            <a:off x="1331913" y="1125538"/>
            <a:ext cx="6696075" cy="47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4E6B2A7-DC38-440A-B67B-816D14535F04}" type="slidenum">
              <a:rPr lang="en-US" altLang="en-US" sz="1400" smtClean="0"/>
              <a:pPr>
                <a:spcBef>
                  <a:spcPct val="0"/>
                </a:spcBef>
                <a:buFontTx/>
                <a:buNone/>
              </a:pPr>
              <a:t>189</a:t>
            </a:fld>
            <a:endParaRPr lang="en-US" altLang="en-US" sz="1400"/>
          </a:p>
        </p:txBody>
      </p:sp>
      <p:sp>
        <p:nvSpPr>
          <p:cNvPr id="381955" name="Ograda noge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1400"/>
              <a:t>Predavanja iz Računalniškega vida, FERI Maribor </a:t>
            </a:r>
          </a:p>
        </p:txBody>
      </p:sp>
      <p:sp>
        <p:nvSpPr>
          <p:cNvPr id="381956" name="Pravokotnik 3"/>
          <p:cNvSpPr>
            <a:spLocks noChangeArrowheads="1"/>
          </p:cNvSpPr>
          <p:nvPr/>
        </p:nvSpPr>
        <p:spPr bwMode="auto">
          <a:xfrm>
            <a:off x="395288" y="115888"/>
            <a:ext cx="8353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ts val="1200"/>
              </a:spcBef>
              <a:buFontTx/>
              <a:buNone/>
            </a:pPr>
            <a:r>
              <a:rPr lang="sl-SI" altLang="en-US" sz="2800" b="1">
                <a:solidFill>
                  <a:schemeClr val="tx2"/>
                </a:solidFill>
              </a:rPr>
              <a:t>REŠITEV PRI MICROSOFTOVEM KINECTU</a:t>
            </a:r>
          </a:p>
        </p:txBody>
      </p:sp>
      <p:pic>
        <p:nvPicPr>
          <p:cNvPr id="6" name="Picture 5" descr="Kinect_Book_1_IMG_007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36788" y="2870200"/>
            <a:ext cx="5156200"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Kinect_Book_2_IMG_0076.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52663" y="2873375"/>
            <a:ext cx="5148262" cy="330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1959" name="TextBox 7"/>
          <p:cNvSpPr txBox="1">
            <a:spLocks noChangeArrowheads="1"/>
          </p:cNvSpPr>
          <p:nvPr/>
        </p:nvSpPr>
        <p:spPr bwMode="auto">
          <a:xfrm>
            <a:off x="900113" y="620713"/>
            <a:ext cx="7416800"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defTabSz="912813">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AutoNum type="arabicPeriod"/>
            </a:pPr>
            <a:r>
              <a:rPr lang="sl-SI" altLang="en-US" sz="1800"/>
              <a:t>Kinect projicira infrardečo (IR) svetlobo v obliki pegastega šuma.</a:t>
            </a:r>
          </a:p>
          <a:p>
            <a:pPr eaLnBrk="1" hangingPunct="1">
              <a:spcBef>
                <a:spcPts val="600"/>
              </a:spcBef>
              <a:buFontTx/>
              <a:buAutoNum type="arabicPeriod"/>
            </a:pPr>
            <a:r>
              <a:rPr lang="sl-SI" altLang="en-US" sz="1800"/>
              <a:t>Svetlobo strukturira tako, da IR laser sveti skozi plastično lečo z vgravirano mikrostrukturo (difuzer) za nastanek peg.</a:t>
            </a:r>
          </a:p>
          <a:p>
            <a:pPr eaLnBrk="1" hangingPunct="1">
              <a:spcBef>
                <a:spcPts val="600"/>
              </a:spcBef>
              <a:buFontTx/>
              <a:buAutoNum type="arabicPeriod"/>
            </a:pPr>
            <a:r>
              <a:rPr lang="sl-SI" altLang="en-US" sz="1800"/>
              <a:t>Kamera vsebuje monokromatski CMOS-senzor in zaznava globino z algoritmom, ki ga je razvilo izraelsko podjetje  PrimeSense. Sledi obrazom in gibom telesa.</a:t>
            </a:r>
          </a:p>
          <a:p>
            <a:pPr eaLnBrk="1" hangingPunct="1">
              <a:spcBef>
                <a:spcPts val="600"/>
              </a:spcBef>
              <a:buFontTx/>
              <a:buAutoNum type="arabicPeriod"/>
            </a:pPr>
            <a:r>
              <a:rPr lang="sl-SI" altLang="en-US" sz="1800"/>
              <a:t>Primer scene s knjigo in brez nje:</a:t>
            </a:r>
            <a:endParaRPr lang="en-GB" altLang="en-US" sz="1800"/>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nodeType="afterEffect">
                                  <p:stCondLst>
                                    <p:cond delay="500"/>
                                  </p:stCondLst>
                                  <p:childTnLst>
                                    <p:set>
                                      <p:cBhvr>
                                        <p:cTn id="11" dur="1" fill="hold">
                                          <p:stCondLst>
                                            <p:cond delay="0"/>
                                          </p:stCondLst>
                                        </p:cTn>
                                        <p:tgtEl>
                                          <p:spTgt spid="7"/>
                                        </p:tgtEl>
                                        <p:attrNameLst>
                                          <p:attrName>style.visibility</p:attrName>
                                        </p:attrNameLst>
                                      </p:cBhvr>
                                      <p:to>
                                        <p:strVal val="visible"/>
                                      </p:to>
                                    </p:set>
                                  </p:childTnLst>
                                </p:cTn>
                              </p:par>
                            </p:childTnLst>
                          </p:cTn>
                        </p:par>
                        <p:par>
                          <p:cTn id="12" fill="hold" nodeType="afterGroup">
                            <p:stCondLst>
                              <p:cond delay="1000"/>
                            </p:stCondLst>
                            <p:childTnLst>
                              <p:par>
                                <p:cTn id="13" presetID="11" presetClass="exit" presetSubtype="0" repeatCount="indefinite" fill="hold" nodeType="afterEffect">
                                  <p:stCondLst>
                                    <p:cond delay="500"/>
                                  </p:stCondLst>
                                  <p:endCondLst>
                                    <p:cond evt="onNext" delay="0">
                                      <p:tgtEl>
                                        <p:sldTgt/>
                                      </p:tgtEl>
                                    </p:cond>
                                  </p:endCondLst>
                                  <p:childTnLst>
                                    <p:anim calcmode="discrete" valueType="str">
                                      <p:cBhvr>
                                        <p:cTn id="14" dur="1000"/>
                                        <p:tgtEl>
                                          <p:spTgt spid="7"/>
                                        </p:tgtEl>
                                        <p:attrNameLst>
                                          <p:attrName>style.visibility</p:attrName>
                                        </p:attrNameLst>
                                      </p:cBhvr>
                                      <p:tavLst>
                                        <p:tav tm="0">
                                          <p:val>
                                            <p:strVal val="hidden"/>
                                          </p:val>
                                        </p:tav>
                                        <p:tav tm="50000">
                                          <p:val>
                                            <p:strVal val="visible"/>
                                          </p:val>
                                        </p:tav>
                                      </p:tavLst>
                                    </p:anim>
                                    <p:set>
                                      <p:cBhvr>
                                        <p:cTn id="15" dur="1" fill="hold">
                                          <p:stCondLst>
                                            <p:cond delay="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x, y,z) \rightarrow (-d\frac{x}{z},~{-d\frac{y}{z}},~{-d})&#10;\]&#10;\end{document}&#10;"/>
  <p:tag name="EXTERNALNAME" val="Edittex"/>
  <p:tag name="BLEND" val="False"/>
  <p:tag name="TRANSPARENT" val="False"/>
  <p:tag name="BITMAPFORMAT" val="bmpmono"/>
  <p:tag name="DEBUGINTERACTIVE" val="True"/>
  <p:tag name="ORIGWIDTH" val="997.25"/>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x, y,z) \rightarrow (-d\frac{x}{z},~{-d\frac{y}{z}})&#10;\]&#10;\end{document}&#10;"/>
  <p:tag name="EXTERNALNAME" val="Edittex"/>
  <p:tag name="BLEND" val="False"/>
  <p:tag name="TRANSPARENT" val="False"/>
  <p:tag name="BITMAPFORMAT" val="bmpmono"/>
  <p:tag name="DEBUGINTERACTIVE" val="True"/>
  <p:tag name="ORIGWIDTH" val="824.375"/>
</p:tagLst>
</file>

<file path=ppt/tags/tag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10;x \\ y \\ w&#10;\end{array}&#10;\right]&#10;\Rightarrow&#10;(x/w,y/w) &#10;\]&#10;\end{document}&#10;"/>
  <p:tag name="EXTERNALNAME" val="Edittex"/>
  <p:tag name="BLEND" val="False"/>
  <p:tag name="TRANSPARENT" val="False"/>
  <p:tag name="BITMAPFORMAT" val="bmpmono"/>
  <p:tag name="DEBUGINTERACTIVE" val="True"/>
  <p:tag name="ORIGWIDTH" val="693"/>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10;x \\ y \\ z \\ w&#10;\end{array}&#10;\right]&#10;\Rightarrow&#10;(x/w,y/w, z/w) &#10;\]&#10;\end{document}&#10;"/>
  <p:tag name="EXTERNALNAME" val="Edittex"/>
  <p:tag name="BLEND" val="False"/>
  <p:tag name="TRANSPARENT" val="False"/>
  <p:tag name="BITMAPFORMAT" val="bmpmono"/>
  <p:tag name="DEBUGINTERACTIVE" val="True"/>
  <p:tag name="ORIGWIDTH" val="865.75"/>
</p:tagLst>
</file>

<file path=ppt/tags/tag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x,y,z) \Rightarrow&#10;\left[&#10;\begin{array}{c}&#10;x \\ y \\ z \\ 1&#10;\end{array}&#10;\right]&#10;\]&#10;\end{document}&#10;"/>
  <p:tag name="EXTERNALNAME" val="Edittex"/>
  <p:tag name="BLEND" val="False"/>
  <p:tag name="TRANSPARENT" val="False"/>
  <p:tag name="BITMAPFORMAT" val="bmpmono"/>
  <p:tag name="DEBUGINTERACTIVE" val="True"/>
  <p:tag name="ORIGWIDTH" val="558"/>
</p:tagLst>
</file>

<file path=ppt/tags/tag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x,y) \Rightarrow&#10;\left[&#10;\begin{array}{c}&#10;x \\ y \\ 1&#10;\end{array}&#10;\right]&#10;\]&#10;\end{document}&#10;"/>
  <p:tag name="EXTERNALNAME" val="Edittex"/>
  <p:tag name="BLEND" val="False"/>
  <p:tag name="TRANSPARENT" val="False"/>
  <p:tag name="BITMAPFORMAT" val="bmpmono"/>
  <p:tag name="DEBUGINTERACTIVE" val="True"/>
  <p:tag name="ORIGWIDTH" val="486.875"/>
</p:tagLst>
</file>

<file path=ppt/tags/tag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10;\left[&#10;\begin{array}{c}&#10;x \\ y \\ z \\-z/d&#10;\end{array}&#10;\right]&#10;\]&#10;\end{document}&#10;"/>
  <p:tag name="EXTERNALNAME" val="Edittex"/>
  <p:tag name="BLEND" val="False"/>
  <p:tag name="TRANSPARENT" val="False"/>
  <p:tag name="BITMAPFORMAT" val="bmpmono"/>
  <p:tag name="DEBUGINTERACTIVE" val="True"/>
  <p:tag name="ORIGWIDTH" val="396.875"/>
</p:tagLst>
</file>

<file path=ppt/tags/tag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ccc}&#10;1 &amp; 0 &amp; 0 &amp; 0 \\&#10;0 &amp; 1 &amp; 0 &amp; 0 \\&#10;0 &amp; 0 &amp; 1 &amp; 0 \\&#10;0 &amp; 0 &amp; -1/d &amp; 0 \\ &#10;\end{array}&#10;\right]&#10;\left[&#10;\begin{array}{c}&#10;x \\ y \\ z \\ 1&#10;\end{array}&#10;\right]&#10;\]&#10;\end{document}&#10;"/>
  <p:tag name="EXTERNALNAME" val="Edittex"/>
  <p:tag name="BLEND" val="False"/>
  <p:tag name="TRANSPARENT" val="False"/>
  <p:tag name="BITMAPFORMAT" val="bmpmono"/>
  <p:tag name="DEBUGINTERACTIVE" val="True"/>
  <p:tag name="ORIGWIDTH" val="817.25"/>
</p:tagLst>
</file>

<file path=ppt/tags/tag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Rightarrow&#10;(-d\frac{x}{z} ,~ -d\frac{y}{z})&#10;\]&#10;\end{document}&#10;"/>
  <p:tag name="EXTERNALNAME" val="Edittex"/>
  <p:tag name="BLEND" val="False"/>
  <p:tag name="TRANSPARENT" val="False"/>
  <p:tag name="BITMAPFORMAT" val="bmpmono"/>
  <p:tag name="DEBUGINTERACTIVE" val="True"/>
  <p:tag name="ORIGWIDTH" val="573.25"/>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ccc}&#10;1 &amp; 0 &amp; 0 &amp; 0 \\&#10;0 &amp; 1 &amp; 0 &amp; 0 \\&#10;0 &amp; 0 &amp; -1/d &amp; 0 &#10;\end{array}&#10;\right]&#10;\left[&#10;\begin{array}{c}&#10;x \\ y \\ z \\ 1&#10;\end{array}&#10;\right]&#10;\]&#10;\end{document}&#10;"/>
  <p:tag name="EXTERNALNAME" val="Edittex"/>
  <p:tag name="BLEND" val="False"/>
  <p:tag name="TRANSPARENT" val="False"/>
  <p:tag name="BITMAPFORMAT" val="bmpmono"/>
  <p:tag name="DEBUGINTERACTIVE" val="True"/>
  <p:tag name="ORIGWIDTH" val="817.25"/>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10;\left[&#10;\begin{array}{c}&#10;x \\ y \\ -z/d&#10;\end{array}&#10;\right]&#10;\]&#10;\end{document}&#10;"/>
  <p:tag name="EXTERNALNAME" val="Edittex"/>
  <p:tag name="BLEND" val="False"/>
  <p:tag name="TRANSPARENT" val="False"/>
  <p:tag name="BITMAPFORMAT" val="bmpmono"/>
  <p:tag name="DEBUGINTERACTIVE" val="True"/>
  <p:tag name="ORIGWIDTH" val="396.875"/>
</p:tagLst>
</file>

<file path=ppt/tags/tag1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Rightarrow&#10;(-d\frac{x}{z} ,~ -d\frac{y}{z})&#10;\]&#10;\end{document}&#10;"/>
  <p:tag name="EXTERNALNAME" val="Edittex"/>
  <p:tag name="BLEND" val="False"/>
  <p:tag name="TRANSPARENT" val="False"/>
  <p:tag name="BITMAPFORMAT" val="bmpmono"/>
  <p:tag name="DEBUGINTERACTIVE" val="True"/>
  <p:tag name="ORIGWIDTH" val="573.25"/>
</p:tagLst>
</file>

<file path=ppt/tags/tag1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Rightarrow&#10;(-d\frac{x}{z} ,~ -d\frac{y}{z})&#10;\]&#10;\end{document}&#10;"/>
  <p:tag name="EXTERNALNAME" val="Edittex"/>
  <p:tag name="BLEND" val="False"/>
  <p:tag name="TRANSPARENT" val="False"/>
  <p:tag name="BITMAPFORMAT" val="bmpmono"/>
  <p:tag name="DEBUGINTERACTIVE" val="True"/>
  <p:tag name="ORIGWIDTH" val="573.25"/>
</p:tagLst>
</file>

<file path=ppt/tags/tag1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ccc}&#10;-d &amp; 0 &amp; 0 &amp; 0 \\&#10;0 &amp; -d &amp; 0 &amp; 0 \\&#10;0 &amp; 0 &amp; 1 &amp; 0 &#10;\end{array}&#10;\right]&#10;\left[&#10;\begin{array}{c}&#10;x \\ y \\ z \\ 1&#10;\end{array}&#10;\right]&#10;\]&#10;\end{document}&#10;"/>
  <p:tag name="EXTERNALNAME" val="Edittex"/>
  <p:tag name="BLEND" val="False"/>
  <p:tag name="TRANSPARENT" val="False"/>
  <p:tag name="BITMAPFORMAT" val="bmpmono"/>
  <p:tag name="DEBUGINTERACTIVE" val="True"/>
  <p:tag name="ORIGWIDTH" val="787.5"/>
</p:tagLst>
</file>

<file path=ppt/tags/tag1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10;\left[&#10;\begin{array}{c}&#10;-dx \\ -dy \\ z&#10;\end{array}&#10;\right]&#10;\]&#10;\end{document}&#10;"/>
  <p:tag name="EXTERNALNAME" val="Edittex"/>
  <p:tag name="BLEND" val="False"/>
  <p:tag name="TRANSPARENT" val="False"/>
  <p:tag name="BITMAPFORMAT" val="bmpmono"/>
  <p:tag name="DEBUGINTERACTIVE" val="True"/>
  <p:tag name="ORIGWIDTH" val="363.625"/>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Rightarrow&#10;(-d\frac{x}{z} ,~ -d\frac{y}{z})&#10;\]&#10;\end{document}&#10;"/>
  <p:tag name="EXTERNALNAME" val="Edittex"/>
  <p:tag name="BLEND" val="False"/>
  <p:tag name="TRANSPARENT" val="False"/>
  <p:tag name="BITMAPFORMAT" val="bmpmono"/>
  <p:tag name="DEBUGINTERACTIVE" val="True"/>
  <p:tag name="ORIGWIDTH" val="573.25"/>
</p:tagLst>
</file>

<file path=ppt/tags/tag1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ccc}&#10;1 &amp; 0 &amp; 0 &amp; 0 \\&#10;0 &amp; 1 &amp; 0 &amp; 0 \\&#10;0 &amp; 0 &amp; -1/d &amp; 0 &#10;\end{array}&#10;\right]&#10;\left[&#10;\begin{array}{c}&#10;x \\ y \\ z \\ 1&#10;\end{array}&#10;\right]&#10;\]&#10;\end{document}&#10;"/>
  <p:tag name="EXTERNALNAME" val="Edittex"/>
  <p:tag name="BLEND" val="False"/>
  <p:tag name="TRANSPARENT" val="False"/>
  <p:tag name="BITMAPFORMAT" val="bmpmono"/>
  <p:tag name="DEBUGINTERACTIVE" val="True"/>
  <p:tag name="ORIGWIDTH" val="817.25"/>
</p:tagLst>
</file>

<file path=ppt/tags/tag1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10;\left[&#10;\begin{array}{c}&#10;x \\ y \\ -z/d&#10;\end{array}&#10;\right]&#10;\]&#10;\end{document}&#10;"/>
  <p:tag name="EXTERNALNAME" val="Edittex"/>
  <p:tag name="BLEND" val="False"/>
  <p:tag name="TRANSPARENT" val="False"/>
  <p:tag name="BITMAPFORMAT" val="bmpmono"/>
  <p:tag name="DEBUGINTERACTIVE" val="True"/>
  <p:tag name="ORIGWIDTH" val="396.875"/>
</p:tagLst>
</file>

<file path=ppt/tags/tag1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ccc}&#10;1 &amp; 0 &amp; 0 &amp; 0 \\&#10;0 &amp; 1 &amp; 0 &amp; 0 \\&#10;0 &amp; 0 &amp; 0 &amp; 1 &#10;\end{array}&#10;\right]&#10;\left[&#10;\begin{array}{c}&#10;x \\ y \\ z \\ 1&#10;\end{array}&#10;\right]&#10;\]&#10;\end{document}&#10;"/>
  <p:tag name="EXTERNALNAME" val="Edittex"/>
  <p:tag name="BLEND" val="False"/>
  <p:tag name="TRANSPARENT" val="False"/>
  <p:tag name="BITMAPFORMAT" val="bmpmono"/>
  <p:tag name="DEBUGINTERACTIVE" val="True"/>
  <p:tag name="ORIGWIDTH" val="678.625"/>
</p:tagLst>
</file>

<file path=ppt/tags/tag2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10;\left[&#10;\begin{array}{c}&#10;x \\ y \\ 1&#10;\end{array}&#10;\right]&#10;\]&#10;\end{document}&#10;"/>
  <p:tag name="EXTERNALNAME" val="Edittex"/>
  <p:tag name="BLEND" val="False"/>
  <p:tag name="TRANSPARENT" val="False"/>
  <p:tag name="BITMAPFORMAT" val="bmpmono"/>
  <p:tag name="DEBUGINTERACTIVE" val="True"/>
  <p:tag name="ORIGWIDTH" val="261.875"/>
</p:tagLst>
</file>

<file path=ppt/tags/tag2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Rightarrow&#10;(x, y)&#10;\]&#10;\end{document}&#10;"/>
  <p:tag name="EXTERNALNAME" val="Edittex"/>
  <p:tag name="BLEND" val="False"/>
  <p:tag name="TRANSPARENT" val="False"/>
  <p:tag name="BITMAPFORMAT" val="bmpmono"/>
  <p:tag name="DEBUGINTERACTIVE" val="True"/>
  <p:tag name="ORIGWIDTH" val="284.375"/>
</p:tagLst>
</file>

<file path=ppt/tags/tag2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ccc}&#10;a &amp; b &amp; c &amp; d \\&#10;e &amp; f &amp; g &amp; h \\&#10;0 &amp; 0 &amp; 0 &amp; 1 &#10;\end{array}&#10;\right]&#10;\left[&#10;\begin{array}{c}&#10;x \\ y \\ z \\ 1&#10;\end{array}&#10;\right]&#10;\]&#10;\end{document}&#10;"/>
  <p:tag name="EXTERNALNAME" val="Edittex"/>
  <p:tag name="BLEND" val="False"/>
  <p:tag name="TRANSPARENT" val="False"/>
  <p:tag name="BITMAPFORMAT" val="bmpmono"/>
  <p:tag name="DEBUGINTERACTIVE" val="True"/>
  <p:tag name="ORIGWIDTH" val="678.625"/>
</p:tagLst>
</file>

<file path=ppt/tags/tag2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ccc}&#10;1 &amp; 0 &amp; 0 &amp; 0 \\&#10;0 &amp; 1 &amp; 0 &amp; 0 \\&#10;0 &amp; 0 &amp; 0 &amp; 1/d &#10;\end{array}&#10;\right]&#10;\left[&#10;\begin{array}{c}&#10;x \\ y \\ z \\ 1&#10;\end{array}&#10;\right]&#10;\]&#10;\end{document}&#10;"/>
  <p:tag name="EXTERNALNAME" val="Edittex"/>
  <p:tag name="BLEND" val="False"/>
  <p:tag name="TRANSPARENT" val="False"/>
  <p:tag name="BITMAPFORMAT" val="bmpmono"/>
  <p:tag name="DEBUGINTERACTIVE" val="True"/>
  <p:tag name="ORIGWIDTH" val="756.875"/>
</p:tagLst>
</file>

<file path=ppt/tags/tag2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10;\left[&#10;\begin{array}{c}&#10;x \\ y \\ 1/d&#10;\end{array}&#10;\right]&#10;\]&#10;\end{document}&#10;"/>
  <p:tag name="EXTERNALNAME" val="Edittex"/>
  <p:tag name="BLEND" val="False"/>
  <p:tag name="TRANSPARENT" val="False"/>
  <p:tag name="BITMAPFORMAT" val="bmpmono"/>
  <p:tag name="DEBUGINTERACTIVE" val="True"/>
  <p:tag name="ORIGWIDTH" val="344.75"/>
</p:tagLst>
</file>

<file path=ppt/tags/tag2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Rightarrow&#10;(dx, dy)&#10;\]&#10;\end{document}&#10;"/>
  <p:tag name="EXTERNALNAME" val="Edittex"/>
  <p:tag name="BLEND" val="False"/>
  <p:tag name="TRANSPARENT" val="False"/>
  <p:tag name="BITMAPFORMAT" val="bmpmono"/>
  <p:tag name="DEBUGINTERACTIVE" val="True"/>
  <p:tag name="ORIGWIDTH" val="363.625"/>
</p:tagLst>
</file>

<file path=ppt/theme/theme1.xml><?xml version="1.0" encoding="utf-8"?>
<a:theme xmlns:a="http://schemas.openxmlformats.org/drawingml/2006/main" name="Privzeti načrt">
  <a:themeElements>
    <a:clrScheme name="Privzeti nač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rivzeti načr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ivzeti nač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ivzeti nač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ivzeti nač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ivzeti nač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ivzeti nač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ivzeti nač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ivzeti načr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ivzeti nač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ivzeti nač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ivzeti nač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ivzeti nač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ivzeti nač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8676</TotalTime>
  <Words>16413</Words>
  <Application>Microsoft Office PowerPoint</Application>
  <PresentationFormat>Diaprojekcija na zaslonu (4:3)</PresentationFormat>
  <Paragraphs>2632</Paragraphs>
  <Slides>189</Slides>
  <Notes>183</Notes>
  <HiddenSlides>0</HiddenSlides>
  <MMClips>0</MMClips>
  <ScaleCrop>false</ScaleCrop>
  <HeadingPairs>
    <vt:vector size="8" baseType="variant">
      <vt:variant>
        <vt:lpstr>Uporabljene pisave</vt:lpstr>
      </vt:variant>
      <vt:variant>
        <vt:i4>7</vt:i4>
      </vt:variant>
      <vt:variant>
        <vt:lpstr>Tema</vt:lpstr>
      </vt:variant>
      <vt:variant>
        <vt:i4>1</vt:i4>
      </vt:variant>
      <vt:variant>
        <vt:lpstr>Vdelani OLE strežniki</vt:lpstr>
      </vt:variant>
      <vt:variant>
        <vt:i4>3</vt:i4>
      </vt:variant>
      <vt:variant>
        <vt:lpstr>Naslovi diapozitivov</vt:lpstr>
      </vt:variant>
      <vt:variant>
        <vt:i4>189</vt:i4>
      </vt:variant>
    </vt:vector>
  </HeadingPairs>
  <TitlesOfParts>
    <vt:vector size="200" baseType="lpstr">
      <vt:lpstr>Arial</vt:lpstr>
      <vt:lpstr>Helvetica</vt:lpstr>
      <vt:lpstr>Myriad Roman</vt:lpstr>
      <vt:lpstr>Symbol</vt:lpstr>
      <vt:lpstr>Times</vt:lpstr>
      <vt:lpstr>Times New Roman</vt:lpstr>
      <vt:lpstr>Verdana</vt:lpstr>
      <vt:lpstr>Privzeti načrt</vt:lpstr>
      <vt:lpstr>Equation</vt:lpstr>
      <vt:lpstr>Bitmap Image</vt:lpstr>
      <vt:lpstr>PHOTO-PAINT</vt:lpstr>
      <vt:lpstr>RAČUNALNIŠKI VID</vt:lpstr>
      <vt:lpstr>OSEBJE</vt:lpstr>
      <vt:lpstr>PREDVIDENI ŠTUDIJSKI REZULTATI</vt:lpstr>
      <vt:lpstr>OBVEZNOSTI ŠTUDENTA</vt:lpstr>
      <vt:lpstr>NAČINI OCENJEVANJA</vt:lpstr>
      <vt:lpstr>PREDVIDEN RAZPORED PREDAVANJ</vt:lpstr>
      <vt:lpstr>LITERATURA</vt:lpstr>
      <vt:lpstr>POVEZANOST PREDMETOV S PODROČJA OBDELAVE SIGNALOV IN SLIK NA PROGRAMU R-IT</vt:lpstr>
      <vt:lpstr>Kaj je računalniški vid? (po R. Szeliski, Univerza Washington, www.cs.washington.edu/education/courses/cse576/05sp/)</vt:lpstr>
      <vt:lpstr>PRESEK MED RAČUNALNIŠKIM VIDOM IN GRAFIKO</vt:lpstr>
      <vt:lpstr>Druge vede, povezane z računalniškim vidom</vt:lpstr>
      <vt:lpstr>Področja uporabe računalniškega vida</vt:lpstr>
      <vt:lpstr>RAČUNALNIŠKI VID Učna snov</vt:lpstr>
      <vt:lpstr>Kazalo</vt:lpstr>
      <vt:lpstr>PowerPointova predstavitev</vt:lpstr>
      <vt:lpstr>NASTANEK SLIKE</vt:lpstr>
      <vt:lpstr>NASTANEK SLIKE (2)</vt:lpstr>
      <vt:lpstr>CAMERA OBSCURA</vt:lpstr>
      <vt:lpstr>CAMERA OBSCURA – VPLIV ZASLONKE</vt:lpstr>
      <vt:lpstr>DODANA LEČA</vt:lpstr>
      <vt:lpstr>OBRAVNAVA LEČE</vt:lpstr>
      <vt:lpstr>GLOBINSKA OSTRINA</vt:lpstr>
      <vt:lpstr>PROJEKCIJSKI MODEL</vt:lpstr>
      <vt:lpstr>PROJEKCIJSKI MODEL (2)</vt:lpstr>
      <vt:lpstr>HOMOGENE KOORDINATE</vt:lpstr>
      <vt:lpstr>PERSPEKTIVNA PROJEKCIJA</vt:lpstr>
      <vt:lpstr>PERSPEKTIVNA PROJEKCIJA (2)</vt:lpstr>
      <vt:lpstr>ORTOGRAFSKA PROJEKCIJA</vt:lpstr>
      <vt:lpstr>DRUGE VRSTE PROJEKCIJ</vt:lpstr>
      <vt:lpstr>2D TRANSFORMACIJE</vt:lpstr>
      <vt:lpstr>3D TRANSFORMACIJE</vt:lpstr>
      <vt:lpstr>PowerPointova predstavitev</vt:lpstr>
      <vt:lpstr>LASTNOSTI CCD-KAMER</vt:lpstr>
      <vt:lpstr>GEOMETRIJSKI MODEL KAMERE (notranji parametri)</vt:lpstr>
      <vt:lpstr>GEOMETRIJSKI MODEL KAMERE (zunanji parametri)</vt:lpstr>
      <vt:lpstr>GEOMETRIJSKI MODEL KAMERE (toga transformacija koordinatnih sistemov)</vt:lpstr>
      <vt:lpstr>GEOMETRIJSKI MODEL KAMERE (rotacijska matrika – zasuk okoli vseh osi)</vt:lpstr>
      <vt:lpstr>DOLOČANJE PARAMETROV KAMERE (kalibracija)</vt:lpstr>
      <vt:lpstr>DOLOČANJE PARAMETROV KAMERE (posnetek znanih točk – šahovnica)</vt:lpstr>
      <vt:lpstr>SISTEM ENAČB ZA KALIBRACIJO KAMERE</vt:lpstr>
      <vt:lpstr>RAZCEP MATRIKE KAMERE</vt:lpstr>
      <vt:lpstr>RAZCEP MATRIKE KAMERE (notranji parametri)</vt:lpstr>
      <vt:lpstr>RAZCEP MATRIKE KAMERE (zunanji parametri)</vt:lpstr>
      <vt:lpstr>KALIBRACIJA KAMERE – PROBLEM RADIALNIH POPAČENJ</vt:lpstr>
      <vt:lpstr>RAZLIČNE METODE ZA KALIBRACIJO KAMER</vt:lpstr>
      <vt:lpstr>PowerPointova predstavitev</vt:lpstr>
      <vt:lpstr>DVA POGLEDA NA ISTO SCENO</vt:lpstr>
      <vt:lpstr>EPIPOLARNE RAVNINE</vt:lpstr>
      <vt:lpstr>POMEN EPIPOLARNE GEOMETRIJE</vt:lpstr>
      <vt:lpstr>Primer dveh konvergentnih kamer</vt:lpstr>
      <vt:lpstr>Primer kamer, premaknjenih vzporedno s slikovno ravnino</vt:lpstr>
      <vt:lpstr>Primer s premikanjem kamere naprej</vt:lpstr>
      <vt:lpstr>EPIPOLARNA OMEJITEV </vt:lpstr>
      <vt:lpstr>OSNOVNA MATRIKA </vt:lpstr>
      <vt:lpstr>TEMELJNA MATRIKA </vt:lpstr>
      <vt:lpstr>RAČUNANJE TEMELJNE MATRIKE </vt:lpstr>
      <vt:lpstr>Algoritem 8 točk </vt:lpstr>
      <vt:lpstr>PowerPointova predstavitev</vt:lpstr>
      <vt:lpstr>IZHODIŠČA</vt:lpstr>
      <vt:lpstr>UPORABNOST PORAVNAVE SLIK</vt:lpstr>
      <vt:lpstr>Zgled za poravnavo slik</vt:lpstr>
      <vt:lpstr>PARAMETRIČNA PORAVNAVA SLIK</vt:lpstr>
      <vt:lpstr>PARAMETRIČNI MODEL ZA PORAVNAVO</vt:lpstr>
      <vt:lpstr>BILINEARNA INTERPOLACIJA</vt:lpstr>
      <vt:lpstr>PORAVNAVA SLIK Z NADZORNIMI TOČKAMI</vt:lpstr>
      <vt:lpstr>NADZORNE TOČKE – OGLIŠČA</vt:lpstr>
      <vt:lpstr>ZASNOVA HARRISOVEGA DETEKTORJA</vt:lpstr>
      <vt:lpstr>ZASNOVA HARRISOVEGA DETEKTORJA (2)</vt:lpstr>
      <vt:lpstr>ZASNOVA HARRISOVEGA DETEKTORJA (3)</vt:lpstr>
      <vt:lpstr>HARRISOV DETEKTOR – MERA ZA OGLIŠČA</vt:lpstr>
      <vt:lpstr>HARRISOV DETEKTOR – ALGORITEM IN LASTNOSTI</vt:lpstr>
      <vt:lpstr>PRIMER DELOVANJA HARRISOVEGA DETEKTORJA</vt:lpstr>
      <vt:lpstr>RANSAC</vt:lpstr>
      <vt:lpstr>RANSAC – ALGORITEM</vt:lpstr>
      <vt:lpstr>RANSAC – DOLOČANJE VHODNIH PARAMETROV</vt:lpstr>
      <vt:lpstr>Primer iskanja premice z RANSAC</vt:lpstr>
      <vt:lpstr>Primer iskanja premice z RANSAC (2)</vt:lpstr>
      <vt:lpstr>UPORABA ALGORITMA RANSAC</vt:lpstr>
      <vt:lpstr>PowerPointova predstavitev</vt:lpstr>
      <vt:lpstr>TOGA PORAVNAVA SLIK</vt:lpstr>
      <vt:lpstr>AFINA PORAVNAVA SLIK</vt:lpstr>
      <vt:lpstr>AFINA PORAVNAVA SLIK (2)</vt:lpstr>
      <vt:lpstr>Primer za togo in afino poravnavo slik</vt:lpstr>
      <vt:lpstr>AFINA PORAVNAVA S SPREMEMBAMI INTENZIVNOSTI PIKSLOV</vt:lpstr>
      <vt:lpstr>NETOGA, ELASTIČNA PORAVNAVA SLIK</vt:lpstr>
      <vt:lpstr>TOGA PORAVNAVA SLIK S POMOČJO FREKVENČNEGA PROSTORA</vt:lpstr>
      <vt:lpstr>TOGA PORAVNAVA SLIK S POMOČJO FREKVENČNEGA PROSTORA (2)</vt:lpstr>
      <vt:lpstr>TOGA PORAVNAVA SLIK S POMOČJO FREKVENČNEGA PROSTORA – ZASUK</vt:lpstr>
      <vt:lpstr>TOGA PORAVNAVA SLIK S POMOČJO FREKVENČNEGA PROSTORA – PREMIK</vt:lpstr>
      <vt:lpstr>Primer poravnave slik s pomočjo frekvenčnega prostora</vt:lpstr>
      <vt:lpstr>PowerPointova predstavitev</vt:lpstr>
      <vt:lpstr>IZHODIŠČA</vt:lpstr>
      <vt:lpstr>DVA POGLEDA NA ISTO SCENO</vt:lpstr>
      <vt:lpstr>DVA POGLEDA NA ISTO SCENO – PROJEKCIJSKA GEOMETRIJA</vt:lpstr>
      <vt:lpstr>DVA POGLEDA NA ISTO SCENO – STEREO POGLED</vt:lpstr>
      <vt:lpstr>STEREO POGLED – GLOBINSKA SLIKA</vt:lpstr>
      <vt:lpstr>STEREO POGLED – EPIPOLARNA GEOMETRIJA</vt:lpstr>
      <vt:lpstr>STEREO POGLED – ALGORITEM ZA DOLOČANJE GLOBINSKE SLIKE</vt:lpstr>
      <vt:lpstr>DOLOČANJE GLOBINSKE SLIKE – IZRAVNAVA SLIK</vt:lpstr>
      <vt:lpstr>DOLOČANJE GLOBINSKE SLIKE – IZRAVNAVA SLIK (2)</vt:lpstr>
      <vt:lpstr>DOLOČANJE GLOBINSKE SLIKE – IZRAVNAVA (3)</vt:lpstr>
      <vt:lpstr>DOLOČANJE GLOBINSKE SLIKE – IZRAVNAVA SLIK (4)</vt:lpstr>
      <vt:lpstr>DOLOČANJE GLOBINSKE SLIKE – IZRAVNAVA (5)</vt:lpstr>
      <vt:lpstr>DOLOČANJE GLOBINSKE SLIKE – IZRAVNAVA (6)</vt:lpstr>
      <vt:lpstr>Primer za izravnavo stereo slik</vt:lpstr>
      <vt:lpstr>DOLOČANJE GLOBINSKE SLIKE – ISKANJE KORESPONDENCE</vt:lpstr>
      <vt:lpstr>DOLOČANJE GLOBINSKE SLIKE – ISKANJE KORESPONDENCE S KORELACIJO</vt:lpstr>
      <vt:lpstr>DOLOČANJE GLOBINSKE SLIKE – ISKANJE KORESPONDENCE S KORELACIJO (2)</vt:lpstr>
      <vt:lpstr>DOLOČANJE GLOBINSKE SLIKE – ISKANJE KORESPONDENCE S KORELACIJO (3)</vt:lpstr>
      <vt:lpstr>DOLOČANJE GLOBINSKE SLIKE – ISKANJE KORESPONDENCE S PODOBNOSTJO ZNAČILNIC</vt:lpstr>
      <vt:lpstr>PRIMERJAVA MED ISKANJI KORESPONDENCE S KORELACIJO IN Z ZNAČILNICAMI</vt:lpstr>
      <vt:lpstr>Primer globinske slike pri iskanju korespondence s prečno korelacijo</vt:lpstr>
      <vt:lpstr>UPORABA STEREO VIDA</vt:lpstr>
      <vt:lpstr>PowerPointova predstavitev</vt:lpstr>
      <vt:lpstr>OPTIČNI TOK - IZHODIŠČA</vt:lpstr>
      <vt:lpstr>OMEJENO GIBANJE V 1D</vt:lpstr>
      <vt:lpstr>ENAČBA OMEJENEGA GIBANJA V 1D</vt:lpstr>
      <vt:lpstr>OPTIČNI TOK OZ. HITROST GIBANJA V 1D</vt:lpstr>
      <vt:lpstr>PRIKAZ ZA IZRAČUN HITROSTI GIBANJA V 1D</vt:lpstr>
      <vt:lpstr>ITERATIVNI POPRAVKI ZA IZRAČUN HITROSTI GIBANJA V 1D</vt:lpstr>
      <vt:lpstr>OMEJENO GIBANJE V 2D</vt:lpstr>
      <vt:lpstr>ENAČBA OMEJENEGA GIBANJA V 2D</vt:lpstr>
      <vt:lpstr>ENAČBA OMEJENEGA GIBANJA V 2D (2)</vt:lpstr>
      <vt:lpstr>PROBLEM ZASLONKE (OKNA)</vt:lpstr>
      <vt:lpstr>Primer za problem zaslonke</vt:lpstr>
      <vt:lpstr>REŠITEV PROBLEMA ZASLONKE</vt:lpstr>
      <vt:lpstr>POGOJI ZA LUCAS-KANADEJEVO REŠITEV</vt:lpstr>
      <vt:lpstr>Primer za izračun optičnega toka – rob</vt:lpstr>
      <vt:lpstr>Primer za izračun optičnega toka – homogeno območje (ozadje)</vt:lpstr>
      <vt:lpstr>Primer za izračun optičnega toka – območje z izrazito teksturo</vt:lpstr>
      <vt:lpstr>ZAHTEVA PO MAJHNIH PREMIKIH – SPREMEMBAH</vt:lpstr>
      <vt:lpstr>ZNIŽANJE LOČLJIVOSTI SLIK</vt:lpstr>
      <vt:lpstr>OCENA OPTIČNEGA TOKA V VEČLOČLJIVOSTNI SHEMI</vt:lpstr>
      <vt:lpstr>ALGORITEM ZA VEČLOČLJIVOSTNO RAČUNANJE OPTIČNEGA TOKA PO LUCAS-KANADEJU</vt:lpstr>
      <vt:lpstr>Primer optičnega toka</vt:lpstr>
      <vt:lpstr>Primer optičnega toka (2)</vt:lpstr>
      <vt:lpstr>PowerPointova predstavitev</vt:lpstr>
      <vt:lpstr>STRUKTURA 3D SCENE IZ DVEH ALI VEČ POGLEDOV – IZHODIŠČA</vt:lpstr>
      <vt:lpstr>RAVNINSKA SCENA – 3D OPREDELITEV NI MOŽNA</vt:lpstr>
      <vt:lpstr>ZASUK KAMERE OKOLI GORIŠČA – 3D OPREDELITEV NI MOŽNA</vt:lpstr>
      <vt:lpstr>STRUKTURA 3D SCENE IZ DVEH ALI VEČ POGLEDOV – TRIANGULACIJA</vt:lpstr>
      <vt:lpstr>IZVEDBA TRIANGULACIJE S PROJEKCIJSKIMI MATRIKAMI</vt:lpstr>
      <vt:lpstr>Primer ocene strukture s triangulacijo</vt:lpstr>
      <vt:lpstr>SOČASNO DOLOČANJE STRUKTURE IN GIBANJA</vt:lpstr>
      <vt:lpstr>STRUKTURA IZ GIBANJA – PROBLEM FAKTORIZACIJE</vt:lpstr>
      <vt:lpstr>STRUKTURA IZ GIBANJA – FAKTORIZACIJA PO TOMASI-KANADEJU</vt:lpstr>
      <vt:lpstr>STRUKTURA IZ GIBANJA – FAKTORIZACIJA PO TOMASI-KANADEJU (2)</vt:lpstr>
      <vt:lpstr>STRUKTURA IZ GIBANJA – FAKTORIZACIJA PO TOMASI-KANADEJU (3)</vt:lpstr>
      <vt:lpstr>STRUKTURA IZ GIBANJA – FAKTORIZACIJA PO TOMASI-KANADEJU (4)</vt:lpstr>
      <vt:lpstr>STRUKTURA IZ GIBANJA – FAKTORIZACIJA PO TOMASI-KANADEJU (5)</vt:lpstr>
      <vt:lpstr>Primer ocene strukture po metodi Tomasi-Kanade </vt:lpstr>
      <vt:lpstr>STRUKTURA IN GIBANJE, DOLOČENA IZ LINIJSKIH SEGMENTOV (povzeto po C.J. Taylor, D. J. Kriegman: Structure and Motion from Line Segments in Multiple Images) </vt:lpstr>
      <vt:lpstr>POSTOPEK OPTIMIZACIJE IN KRITERIJSKA FUNKCIJA</vt:lpstr>
      <vt:lpstr>PREDSTAVITEV PREMICE V 3D – SVETOVNE KOORDINATE</vt:lpstr>
      <vt:lpstr>PREDSTAVITEV PREMICE V 3D – KOORDINATE KAMERE</vt:lpstr>
      <vt:lpstr>PREDSTAVITEV PREMICE V 3D – KOORDINATE KAMERE (2)</vt:lpstr>
      <vt:lpstr>NEZNANI PARAMETRI IN KRITERIJSKA FUNKCIJA</vt:lpstr>
      <vt:lpstr>SOČASNO DOLOČANJE GIBANJA IN STRUKTURE</vt:lpstr>
      <vt:lpstr>SOČASNO OPTIMIRAJE GIBANJA IN STRUKTURE</vt:lpstr>
      <vt:lpstr>Primer določanja strukture iz gibanja</vt:lpstr>
      <vt:lpstr>Primer določanja strukture iz gibanja (2)</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vector>
  </TitlesOfParts>
  <Company>UM FERI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Diapozitiv 1</dc:title>
  <dc:creator>Damjan Zazula</dc:creator>
  <cp:lastModifiedBy>Božidar Potočnik</cp:lastModifiedBy>
  <cp:revision>779</cp:revision>
  <cp:lastPrinted>2017-02-01T11:17:03Z</cp:lastPrinted>
  <dcterms:created xsi:type="dcterms:W3CDTF">2007-10-02T11:42:33Z</dcterms:created>
  <dcterms:modified xsi:type="dcterms:W3CDTF">2025-09-26T10:23:43Z</dcterms:modified>
</cp:coreProperties>
</file>